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80" r:id="rId2"/>
    <p:sldId id="419" r:id="rId3"/>
    <p:sldId id="417" r:id="rId4"/>
    <p:sldId id="382" r:id="rId5"/>
    <p:sldId id="383" r:id="rId6"/>
    <p:sldId id="384" r:id="rId7"/>
    <p:sldId id="426" r:id="rId8"/>
    <p:sldId id="425" r:id="rId9"/>
    <p:sldId id="385" r:id="rId10"/>
    <p:sldId id="433" r:id="rId11"/>
    <p:sldId id="390" r:id="rId12"/>
    <p:sldId id="391" r:id="rId13"/>
    <p:sldId id="429" r:id="rId14"/>
    <p:sldId id="427" r:id="rId15"/>
    <p:sldId id="395" r:id="rId16"/>
    <p:sldId id="396" r:id="rId17"/>
    <p:sldId id="431" r:id="rId18"/>
    <p:sldId id="430" r:id="rId19"/>
    <p:sldId id="413" r:id="rId20"/>
    <p:sldId id="432" r:id="rId21"/>
    <p:sldId id="420" r:id="rId2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AEAEA"/>
    <a:srgbClr val="000000"/>
    <a:srgbClr val="DDDDDD"/>
    <a:srgbClr val="C0C0C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83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DFF46EA7-1CBD-48E8-854F-FA4D69FC1584}"/>
    <pc:docChg chg="undo custSel modSld">
      <pc:chgData name="Camilo Daleles Rennó" userId="eac9aab033b2f962" providerId="LiveId" clId="{DFF46EA7-1CBD-48E8-854F-FA4D69FC1584}" dt="2025-05-19T15:54:08.820" v="95" actId="6549"/>
      <pc:docMkLst>
        <pc:docMk/>
      </pc:docMkLst>
      <pc:sldChg chg="addSp delSp modSp mod">
        <pc:chgData name="Camilo Daleles Rennó" userId="eac9aab033b2f962" providerId="LiveId" clId="{DFF46EA7-1CBD-48E8-854F-FA4D69FC1584}" dt="2025-05-19T15:48:03.866" v="3"/>
        <pc:sldMkLst>
          <pc:docMk/>
          <pc:sldMk cId="0" sldId="380"/>
        </pc:sldMkLst>
        <pc:spChg chg="add mod">
          <ac:chgData name="Camilo Daleles Rennó" userId="eac9aab033b2f962" providerId="LiveId" clId="{DFF46EA7-1CBD-48E8-854F-FA4D69FC1584}" dt="2025-05-19T15:48:03.866" v="3"/>
          <ac:spMkLst>
            <pc:docMk/>
            <pc:sldMk cId="0" sldId="380"/>
            <ac:spMk id="2" creationId="{C549E47A-5CD4-1816-7834-9F7A2BD082BA}"/>
          </ac:spMkLst>
        </pc:spChg>
        <pc:spChg chg="mod">
          <ac:chgData name="Camilo Daleles Rennó" userId="eac9aab033b2f962" providerId="LiveId" clId="{DFF46EA7-1CBD-48E8-854F-FA4D69FC1584}" dt="2025-05-07T16:20:16.991" v="1" actId="20577"/>
          <ac:spMkLst>
            <pc:docMk/>
            <pc:sldMk cId="0" sldId="380"/>
            <ac:spMk id="3074" creationId="{00000000-0000-0000-0000-000000000000}"/>
          </ac:spMkLst>
        </pc:spChg>
      </pc:sldChg>
      <pc:sldChg chg="modSp mod">
        <pc:chgData name="Camilo Daleles Rennó" userId="eac9aab033b2f962" providerId="LiveId" clId="{DFF46EA7-1CBD-48E8-854F-FA4D69FC1584}" dt="2025-05-19T15:49:16.773" v="12" actId="20577"/>
        <pc:sldMkLst>
          <pc:docMk/>
          <pc:sldMk cId="0" sldId="382"/>
        </pc:sldMkLst>
        <pc:spChg chg="mod">
          <ac:chgData name="Camilo Daleles Rennó" userId="eac9aab033b2f962" providerId="LiveId" clId="{DFF46EA7-1CBD-48E8-854F-FA4D69FC1584}" dt="2025-05-19T15:49:16.773" v="12" actId="20577"/>
          <ac:spMkLst>
            <pc:docMk/>
            <pc:sldMk cId="0" sldId="382"/>
            <ac:spMk id="6157" creationId="{00000000-0000-0000-0000-000000000000}"/>
          </ac:spMkLst>
        </pc:spChg>
      </pc:sldChg>
      <pc:sldChg chg="addSp delSp modSp mod">
        <pc:chgData name="Camilo Daleles Rennó" userId="eac9aab033b2f962" providerId="LiveId" clId="{DFF46EA7-1CBD-48E8-854F-FA4D69FC1584}" dt="2025-05-19T15:50:45.119" v="35" actId="478"/>
        <pc:sldMkLst>
          <pc:docMk/>
          <pc:sldMk cId="0" sldId="384"/>
        </pc:sldMkLst>
        <pc:spChg chg="mod topLvl">
          <ac:chgData name="Camilo Daleles Rennó" userId="eac9aab033b2f962" providerId="LiveId" clId="{DFF46EA7-1CBD-48E8-854F-FA4D69FC1584}" dt="2025-05-19T15:50:45.119" v="35" actId="478"/>
          <ac:spMkLst>
            <pc:docMk/>
            <pc:sldMk cId="0" sldId="384"/>
            <ac:spMk id="8226" creationId="{00000000-0000-0000-0000-000000000000}"/>
          </ac:spMkLst>
        </pc:spChg>
      </pc:sldChg>
      <pc:sldChg chg="delSp modSp mod delAnim modAnim">
        <pc:chgData name="Camilo Daleles Rennó" userId="eac9aab033b2f962" providerId="LiveId" clId="{DFF46EA7-1CBD-48E8-854F-FA4D69FC1584}" dt="2025-05-19T15:51:47.100" v="60"/>
        <pc:sldMkLst>
          <pc:docMk/>
          <pc:sldMk cId="0" sldId="385"/>
        </pc:sldMkLst>
        <pc:spChg chg="mod topLvl">
          <ac:chgData name="Camilo Daleles Rennó" userId="eac9aab033b2f962" providerId="LiveId" clId="{DFF46EA7-1CBD-48E8-854F-FA4D69FC1584}" dt="2025-05-19T15:51:32.649" v="49" actId="6549"/>
          <ac:spMkLst>
            <pc:docMk/>
            <pc:sldMk cId="0" sldId="385"/>
            <ac:spMk id="9232" creationId="{00000000-0000-0000-0000-000000000000}"/>
          </ac:spMkLst>
        </pc:spChg>
      </pc:sldChg>
      <pc:sldChg chg="delSp modSp mod">
        <pc:chgData name="Camilo Daleles Rennó" userId="eac9aab033b2f962" providerId="LiveId" clId="{DFF46EA7-1CBD-48E8-854F-FA4D69FC1584}" dt="2025-05-19T15:54:08.820" v="95" actId="6549"/>
        <pc:sldMkLst>
          <pc:docMk/>
          <pc:sldMk cId="0" sldId="396"/>
        </pc:sldMkLst>
        <pc:spChg chg="mod topLvl">
          <ac:chgData name="Camilo Daleles Rennó" userId="eac9aab033b2f962" providerId="LiveId" clId="{DFF46EA7-1CBD-48E8-854F-FA4D69FC1584}" dt="2025-05-19T15:54:08.820" v="95" actId="6549"/>
          <ac:spMkLst>
            <pc:docMk/>
            <pc:sldMk cId="0" sldId="396"/>
            <ac:spMk id="24608" creationId="{00000000-0000-0000-0000-000000000000}"/>
          </ac:spMkLst>
        </pc:spChg>
      </pc:sldChg>
      <pc:sldChg chg="delSp modSp mod delAnim modAnim">
        <pc:chgData name="Camilo Daleles Rennó" userId="eac9aab033b2f962" providerId="LiveId" clId="{DFF46EA7-1CBD-48E8-854F-FA4D69FC1584}" dt="2025-05-19T15:48:52.474" v="11"/>
        <pc:sldMkLst>
          <pc:docMk/>
          <pc:sldMk cId="0" sldId="419"/>
        </pc:sldMkLst>
        <pc:spChg chg="mod topLvl">
          <ac:chgData name="Camilo Daleles Rennó" userId="eac9aab033b2f962" providerId="LiveId" clId="{DFF46EA7-1CBD-48E8-854F-FA4D69FC1584}" dt="2025-05-19T15:48:42.816" v="8" actId="20577"/>
          <ac:spMkLst>
            <pc:docMk/>
            <pc:sldMk cId="0" sldId="419"/>
            <ac:spMk id="4112" creationId="{00000000-0000-0000-0000-000000000000}"/>
          </ac:spMkLst>
        </pc:spChg>
      </pc:sldChg>
      <pc:sldChg chg="delSp modSp mod">
        <pc:chgData name="Camilo Daleles Rennó" userId="eac9aab033b2f962" providerId="LiveId" clId="{DFF46EA7-1CBD-48E8-854F-FA4D69FC1584}" dt="2025-05-19T15:51:11.489" v="37"/>
        <pc:sldMkLst>
          <pc:docMk/>
          <pc:sldMk cId="4086697480" sldId="425"/>
        </pc:sldMkLst>
        <pc:spChg chg="mod topLvl">
          <ac:chgData name="Camilo Daleles Rennó" userId="eac9aab033b2f962" providerId="LiveId" clId="{DFF46EA7-1CBD-48E8-854F-FA4D69FC1584}" dt="2025-05-19T15:51:11.489" v="37"/>
          <ac:spMkLst>
            <pc:docMk/>
            <pc:sldMk cId="4086697480" sldId="425"/>
            <ac:spMk id="8226" creationId="{00000000-0000-0000-0000-000000000000}"/>
          </ac:spMkLst>
        </pc:spChg>
      </pc:sldChg>
      <pc:sldChg chg="modSp">
        <pc:chgData name="Camilo Daleles Rennó" userId="eac9aab033b2f962" providerId="LiveId" clId="{DFF46EA7-1CBD-48E8-854F-FA4D69FC1584}" dt="2025-05-19T15:53:32.377" v="80" actId="14100"/>
        <pc:sldMkLst>
          <pc:docMk/>
          <pc:sldMk cId="1033035566" sldId="433"/>
        </pc:sldMkLst>
        <pc:spChg chg="mod">
          <ac:chgData name="Camilo Daleles Rennó" userId="eac9aab033b2f962" providerId="LiveId" clId="{DFF46EA7-1CBD-48E8-854F-FA4D69FC1584}" dt="2025-05-19T15:53:15.137" v="78" actId="14100"/>
          <ac:spMkLst>
            <pc:docMk/>
            <pc:sldMk cId="1033035566" sldId="433"/>
            <ac:spMk id="115745" creationId="{00000000-0000-0000-0000-000000000000}"/>
          </ac:spMkLst>
        </pc:spChg>
        <pc:spChg chg="mod">
          <ac:chgData name="Camilo Daleles Rennó" userId="eac9aab033b2f962" providerId="LiveId" clId="{DFF46EA7-1CBD-48E8-854F-FA4D69FC1584}" dt="2025-05-19T15:53:32.377" v="80" actId="14100"/>
          <ac:spMkLst>
            <pc:docMk/>
            <pc:sldMk cId="1033035566" sldId="433"/>
            <ac:spMk id="115746" creationId="{00000000-0000-0000-0000-000000000000}"/>
          </ac:spMkLst>
        </pc:spChg>
      </pc:sldChg>
    </pc:docChg>
  </pc:docChgLst>
  <pc:docChgLst>
    <pc:chgData name="Camilo Daleles Rennó" userId="eac9aab033b2f962" providerId="LiveId" clId="{B2B89DF4-BE69-4BF0-B50C-3BE310492B50}"/>
    <pc:docChg chg="modSld">
      <pc:chgData name="Camilo Daleles Rennó" userId="eac9aab033b2f962" providerId="LiveId" clId="{B2B89DF4-BE69-4BF0-B50C-3BE310492B50}" dt="2025-06-09T13:10:39.266" v="11" actId="20577"/>
      <pc:docMkLst>
        <pc:docMk/>
      </pc:docMkLst>
      <pc:sldChg chg="modSp mod">
        <pc:chgData name="Camilo Daleles Rennó" userId="eac9aab033b2f962" providerId="LiveId" clId="{B2B89DF4-BE69-4BF0-B50C-3BE310492B50}" dt="2025-06-09T13:10:39.266" v="11" actId="20577"/>
        <pc:sldMkLst>
          <pc:docMk/>
          <pc:sldMk cId="0" sldId="380"/>
        </pc:sldMkLst>
        <pc:spChg chg="mod">
          <ac:chgData name="Camilo Daleles Rennó" userId="eac9aab033b2f962" providerId="LiveId" clId="{B2B89DF4-BE69-4BF0-B50C-3BE310492B50}" dt="2025-06-09T13:10:39.266" v="11" actId="20577"/>
          <ac:spMkLst>
            <pc:docMk/>
            <pc:sldMk cId="0" sldId="380"/>
            <ac:spMk id="30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B60298C-4596-4721-8F4E-09CD20BFD729}" type="datetimeFigureOut">
              <a:rPr lang="pt-BR" smtClean="0"/>
              <a:pPr>
                <a:defRPr/>
              </a:pPr>
              <a:t>09/06/2025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64FCE6B-093D-46DB-A494-46072AB3A605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2861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EB76C-BF2B-423A-9B42-CCB56C85B50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849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53288" y="6421438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0EED40C-8B4E-4C00-B8CB-4937C31D0848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99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A8440-2EA2-4F2C-8CFB-47FDF5FDFF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72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A9421-FE76-4AC5-8A7E-0E1083427A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52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A8F59-6EC6-4010-B865-86BC4E4DE89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5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38060-A968-420A-8B39-8F2F11C8DEC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8937F-466D-4295-A218-B90DA703D7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37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2AAF1-AACE-43BA-9B7D-FFE0BD59299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60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ECBF6-0F4D-40B8-805C-8DFD1C08E7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23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40038-A29A-4474-BE2B-B60CA30437A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74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3B546-DD68-407A-8294-C0FBA9181E4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87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D37BF9DD-2BC7-4427-9774-DA4A3873602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0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image" Target="../media/image8.wmf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1.wmf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" Type="http://schemas.openxmlformats.org/officeDocument/2006/relationships/image" Target="../media/image8.wmf"/><Relationship Id="rId21" Type="http://schemas.openxmlformats.org/officeDocument/2006/relationships/image" Target="../media/image20.wmf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26.bin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19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1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10.wmf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26.w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29.wmf"/><Relationship Id="rId3" Type="http://schemas.openxmlformats.org/officeDocument/2006/relationships/oleObject" Target="../embeddings/oleObject28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34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28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33.bin"/><Relationship Id="rId4" Type="http://schemas.openxmlformats.org/officeDocument/2006/relationships/image" Target="../media/image23.wmf"/><Relationship Id="rId9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3.wmf"/><Relationship Id="rId7" Type="http://schemas.openxmlformats.org/officeDocument/2006/relationships/oleObject" Target="../embeddings/oleObject36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7.bin"/><Relationship Id="rId4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6.bin"/><Relationship Id="rId3" Type="http://schemas.openxmlformats.org/officeDocument/2006/relationships/oleObject" Target="../embeddings/oleObject38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19.wmf"/><Relationship Id="rId2" Type="http://schemas.openxmlformats.org/officeDocument/2006/relationships/image" Target="../media/image37.png"/><Relationship Id="rId16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2.wmf"/><Relationship Id="rId4" Type="http://schemas.openxmlformats.org/officeDocument/2006/relationships/image" Target="../media/image35.wmf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16.wmf"/><Relationship Id="rId21" Type="http://schemas.openxmlformats.org/officeDocument/2006/relationships/image" Target="../media/image42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8.wmf"/><Relationship Id="rId5" Type="http://schemas.openxmlformats.org/officeDocument/2006/relationships/image" Target="../media/image17.wmf"/><Relationship Id="rId15" Type="http://schemas.openxmlformats.org/officeDocument/2006/relationships/image" Target="../media/image18.wmf"/><Relationship Id="rId23" Type="http://schemas.openxmlformats.org/officeDocument/2006/relationships/image" Target="../media/image43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6.bin"/><Relationship Id="rId3" Type="http://schemas.openxmlformats.org/officeDocument/2006/relationships/image" Target="../media/image44.wmf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48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oleObject" Target="../embeddings/oleObject55.bin"/><Relationship Id="rId5" Type="http://schemas.openxmlformats.org/officeDocument/2006/relationships/image" Target="../media/image45.wmf"/><Relationship Id="rId10" Type="http://schemas.openxmlformats.org/officeDocument/2006/relationships/image" Target="../media/image47.wmf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4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microsoft.com/office/2007/relationships/hdphoto" Target="../media/hdphoto1.wdp"/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57.wmf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6.bin"/><Relationship Id="rId2" Type="http://schemas.openxmlformats.org/officeDocument/2006/relationships/oleObject" Target="../embeddings/oleObject50.bin"/><Relationship Id="rId16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56.wmf"/><Relationship Id="rId15" Type="http://schemas.openxmlformats.org/officeDocument/2006/relationships/oleObject" Target="../embeddings/oleObject55.bin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45.wmf"/><Relationship Id="rId14" Type="http://schemas.openxmlformats.org/officeDocument/2006/relationships/image" Target="../media/image4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63.bin"/><Relationship Id="rId21" Type="http://schemas.openxmlformats.org/officeDocument/2006/relationships/oleObject" Target="../embeddings/oleObject72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70.bin"/><Relationship Id="rId2" Type="http://schemas.openxmlformats.org/officeDocument/2006/relationships/image" Target="../media/image10.wmf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65.wmf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71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18.wmf"/><Relationship Id="rId22" Type="http://schemas.openxmlformats.org/officeDocument/2006/relationships/image" Target="../media/image6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7" Type="http://schemas.openxmlformats.org/officeDocument/2006/relationships/image" Target="../media/image67.wmf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10.wmf"/><Relationship Id="rId4" Type="http://schemas.openxmlformats.org/officeDocument/2006/relationships/image" Target="../media/image6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oleObject" Target="../embeddings/oleObject76.bin"/><Relationship Id="rId7" Type="http://schemas.openxmlformats.org/officeDocument/2006/relationships/image" Target="../media/image70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microsoft.com/office/2007/relationships/hdphoto" Target="../media/hdphoto2.wdp"/><Relationship Id="rId5" Type="http://schemas.openxmlformats.org/officeDocument/2006/relationships/image" Target="../media/image69.wmf"/><Relationship Id="rId10" Type="http://schemas.openxmlformats.org/officeDocument/2006/relationships/image" Target="../media/image72.png"/><Relationship Id="rId4" Type="http://schemas.openxmlformats.org/officeDocument/2006/relationships/image" Target="../media/image68.wmf"/><Relationship Id="rId9" Type="http://schemas.openxmlformats.org/officeDocument/2006/relationships/image" Target="../media/image7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82.bin"/><Relationship Id="rId3" Type="http://schemas.openxmlformats.org/officeDocument/2006/relationships/image" Target="../media/image73.wmf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5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81.bin"/><Relationship Id="rId5" Type="http://schemas.openxmlformats.org/officeDocument/2006/relationships/image" Target="../media/image66.wmf"/><Relationship Id="rId10" Type="http://schemas.openxmlformats.org/officeDocument/2006/relationships/image" Target="../media/image74.wmf"/><Relationship Id="rId4" Type="http://schemas.openxmlformats.org/officeDocument/2006/relationships/oleObject" Target="../embeddings/oleObject74.bin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7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91.bin"/><Relationship Id="rId3" Type="http://schemas.openxmlformats.org/officeDocument/2006/relationships/image" Target="../media/image77.wmf"/><Relationship Id="rId21" Type="http://schemas.openxmlformats.org/officeDocument/2006/relationships/image" Target="../media/image82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20" Type="http://schemas.openxmlformats.org/officeDocument/2006/relationships/oleObject" Target="../embeddings/oleObject9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oleObject" Target="../embeddings/oleObject87.bin"/><Relationship Id="rId5" Type="http://schemas.openxmlformats.org/officeDocument/2006/relationships/image" Target="../media/image78.wmf"/><Relationship Id="rId15" Type="http://schemas.openxmlformats.org/officeDocument/2006/relationships/image" Target="../media/image17.wmf"/><Relationship Id="rId23" Type="http://schemas.openxmlformats.org/officeDocument/2006/relationships/image" Target="../media/image83.wmf"/><Relationship Id="rId10" Type="http://schemas.openxmlformats.org/officeDocument/2006/relationships/image" Target="../media/image10.wmf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89.bin"/><Relationship Id="rId22" Type="http://schemas.openxmlformats.org/officeDocument/2006/relationships/oleObject" Target="../embeddings/oleObject9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95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Intervalo de Confiança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549E47A-5CD4-1816-7834-9F7A2BD08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Intervalo de Confiança</a:t>
            </a:r>
            <a:endParaRPr lang="pt-BR" i="1" dirty="0"/>
          </a:p>
        </p:txBody>
      </p:sp>
      <p:sp>
        <p:nvSpPr>
          <p:cNvPr id="4099" name="Text Box 41"/>
          <p:cNvSpPr txBox="1">
            <a:spLocks noChangeArrowheads="1"/>
          </p:cNvSpPr>
          <p:nvPr/>
        </p:nvSpPr>
        <p:spPr bwMode="auto">
          <a:xfrm>
            <a:off x="755650" y="1412875"/>
            <a:ext cx="8064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Um parâmetro pode ser estimado através de um único valor (estimador pontual)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755650" y="3890963"/>
            <a:ext cx="7848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Uma alternativa é definir um intervalo de estimativas mais prováveis de acordo com a distribuição teórica da estatística (estimador), que é uma </a:t>
            </a:r>
            <a:r>
              <a:rPr lang="pt-BR" altLang="pt-BR" sz="1600" dirty="0" err="1">
                <a:latin typeface="Tahoma" panose="020B0604030504040204" pitchFamily="34" charset="0"/>
                <a:sym typeface="Symbol" pitchFamily="18" charset="2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Para isso, é necessário conhecer esta distribuição</a:t>
            </a:r>
          </a:p>
        </p:txBody>
      </p:sp>
      <p:sp>
        <p:nvSpPr>
          <p:cNvPr id="12" name="Seta para a direita 11"/>
          <p:cNvSpPr/>
          <p:nvPr/>
        </p:nvSpPr>
        <p:spPr bwMode="auto">
          <a:xfrm>
            <a:off x="2771775" y="2559050"/>
            <a:ext cx="981075" cy="384175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dirty="0">
                <a:solidFill>
                  <a:schemeClr val="tx1"/>
                </a:solidFill>
                <a:latin typeface="Tahoma" panose="020B0604030504040204" pitchFamily="34" charset="0"/>
              </a:rPr>
              <a:t>amostra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620838" y="2447925"/>
            <a:ext cx="3864008" cy="1135063"/>
            <a:chOff x="1620838" y="2448606"/>
            <a:chExt cx="3864007" cy="1134382"/>
          </a:xfrm>
        </p:grpSpPr>
        <p:grpSp>
          <p:nvGrpSpPr>
            <p:cNvPr id="4129" name="Grupo 114690"/>
            <p:cNvGrpSpPr>
              <a:grpSpLocks/>
            </p:cNvGrpSpPr>
            <p:nvPr/>
          </p:nvGrpSpPr>
          <p:grpSpPr bwMode="auto">
            <a:xfrm>
              <a:off x="4103248" y="2448606"/>
              <a:ext cx="1381597" cy="880896"/>
              <a:chOff x="4103688" y="2448465"/>
              <a:chExt cx="1381669" cy="880753"/>
            </a:xfrm>
          </p:grpSpPr>
          <p:sp>
            <p:nvSpPr>
              <p:cNvPr id="4131" name="Retângulo 5"/>
              <p:cNvSpPr>
                <a:spLocks noChangeArrowheads="1"/>
              </p:cNvSpPr>
              <p:nvPr/>
            </p:nvSpPr>
            <p:spPr bwMode="auto">
              <a:xfrm>
                <a:off x="4103688" y="2448465"/>
                <a:ext cx="1381669" cy="338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baseline="-25000" dirty="0">
                    <a:latin typeface="Times New Roman" charset="0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</a:t>
                </a: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baseline="-25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..., </a:t>
                </a:r>
                <a:r>
                  <a:rPr lang="pt-BR" altLang="pt-BR" sz="1600" i="1" dirty="0" err="1">
                    <a:latin typeface="Times New Roman" charset="0"/>
                  </a:rPr>
                  <a:t>X</a:t>
                </a:r>
                <a:r>
                  <a:rPr lang="pt-BR" altLang="pt-BR" sz="1600" i="1" baseline="-25000" dirty="0" err="1">
                    <a:latin typeface="Times New Roman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10" name="Chave esquerda 9"/>
              <p:cNvSpPr/>
              <p:nvPr/>
            </p:nvSpPr>
            <p:spPr>
              <a:xfrm rot="16200000">
                <a:off x="4633672" y="2282200"/>
                <a:ext cx="215735" cy="122402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4133" name="Objeto 10"/>
              <p:cNvGraphicFramePr>
                <a:graphicFrameLocks noChangeAspect="1"/>
              </p:cNvGraphicFramePr>
              <p:nvPr/>
            </p:nvGraphicFramePr>
            <p:xfrm>
              <a:off x="4614151" y="3057755"/>
              <a:ext cx="254000" cy="271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646" imgH="190335" progId="Equation.DSMT4">
                      <p:embed/>
                    </p:oleObj>
                  </mc:Choice>
                  <mc:Fallback>
                    <p:oleObj name="Equation" r:id="rId2" imgW="177646" imgH="190335" progId="Equation.DSMT4">
                      <p:embed/>
                      <p:pic>
                        <p:nvPicPr>
                          <p:cNvPr id="4133" name="Objeto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4151" y="3057755"/>
                            <a:ext cx="254000" cy="271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" name="Forma livre 27"/>
            <p:cNvSpPr/>
            <p:nvPr/>
          </p:nvSpPr>
          <p:spPr bwMode="auto">
            <a:xfrm>
              <a:off x="1620838" y="3340246"/>
              <a:ext cx="3111499" cy="242742"/>
            </a:xfrm>
            <a:custGeom>
              <a:avLst/>
              <a:gdLst>
                <a:gd name="connsiteX0" fmla="*/ 2937933 w 2937933"/>
                <a:gd name="connsiteY0" fmla="*/ 0 h 482600"/>
                <a:gd name="connsiteX1" fmla="*/ 0 w 2937933"/>
                <a:gd name="connsiteY1" fmla="*/ 482600 h 482600"/>
                <a:gd name="connsiteX2" fmla="*/ 0 w 2937933"/>
                <a:gd name="connsiteY2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46395"/>
                <a:gd name="connsiteY0" fmla="*/ 0 h 482600"/>
                <a:gd name="connsiteX1" fmla="*/ 1634066 w 2946395"/>
                <a:gd name="connsiteY1" fmla="*/ 448733 h 482600"/>
                <a:gd name="connsiteX2" fmla="*/ 0 w 2946395"/>
                <a:gd name="connsiteY2" fmla="*/ 482600 h 482600"/>
                <a:gd name="connsiteX3" fmla="*/ 0 w 2946395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7933" h="482600">
                  <a:moveTo>
                    <a:pt x="2937933" y="0"/>
                  </a:moveTo>
                  <a:cubicBezTo>
                    <a:pt x="2932289" y="81844"/>
                    <a:pt x="2979350" y="374393"/>
                    <a:pt x="1634066" y="448733"/>
                  </a:cubicBezTo>
                  <a:lnTo>
                    <a:pt x="0" y="482600"/>
                  </a:lnTo>
                  <a:lnTo>
                    <a:pt x="0" y="482600"/>
                  </a:lnTo>
                </a:path>
              </a:pathLst>
            </a:custGeom>
            <a:noFill/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2546" name="Grupo 114689"/>
          <p:cNvGrpSpPr>
            <a:grpSpLocks/>
          </p:cNvGrpSpPr>
          <p:nvPr/>
        </p:nvGrpSpPr>
        <p:grpSpPr bwMode="auto">
          <a:xfrm>
            <a:off x="395288" y="1874838"/>
            <a:ext cx="2293937" cy="1851025"/>
            <a:chOff x="395536" y="1874788"/>
            <a:chExt cx="2294075" cy="1850722"/>
          </a:xfrm>
        </p:grpSpPr>
        <p:grpSp>
          <p:nvGrpSpPr>
            <p:cNvPr id="4120" name="Grupo 16"/>
            <p:cNvGrpSpPr>
              <a:grpSpLocks/>
            </p:cNvGrpSpPr>
            <p:nvPr/>
          </p:nvGrpSpPr>
          <p:grpSpPr bwMode="auto">
            <a:xfrm>
              <a:off x="395536" y="1874788"/>
              <a:ext cx="2294075" cy="1710099"/>
              <a:chOff x="4419600" y="3625850"/>
              <a:chExt cx="2294075" cy="1710099"/>
            </a:xfrm>
          </p:grpSpPr>
          <p:sp>
            <p:nvSpPr>
              <p:cNvPr id="4124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25" name="Text Box 32"/>
              <p:cNvSpPr txBox="1">
                <a:spLocks noChangeArrowheads="1"/>
              </p:cNvSpPr>
              <p:nvPr/>
            </p:nvSpPr>
            <p:spPr bwMode="auto">
              <a:xfrm>
                <a:off x="6403975" y="4997450"/>
                <a:ext cx="309700" cy="3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X</a:t>
                </a:r>
              </a:p>
            </p:txBody>
          </p:sp>
          <p:sp>
            <p:nvSpPr>
              <p:cNvPr id="4126" name="Text Box 33"/>
              <p:cNvSpPr txBox="1">
                <a:spLocks noChangeArrowheads="1"/>
              </p:cNvSpPr>
              <p:nvPr/>
            </p:nvSpPr>
            <p:spPr bwMode="auto">
              <a:xfrm>
                <a:off x="4419600" y="3625850"/>
                <a:ext cx="46831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</a:t>
                </a:r>
                <a:r>
                  <a:rPr lang="pt-BR" altLang="pt-BR" sz="1600" i="1">
                    <a:latin typeface="Times New Roman" charset="0"/>
                  </a:rPr>
                  <a:t>x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  <p:sp>
            <p:nvSpPr>
              <p:cNvPr id="24" name="Forma livre 23"/>
              <p:cNvSpPr/>
              <p:nvPr/>
            </p:nvSpPr>
            <p:spPr bwMode="auto">
              <a:xfrm>
                <a:off x="4943507" y="3905204"/>
                <a:ext cx="1457413" cy="1111068"/>
              </a:xfrm>
              <a:custGeom>
                <a:avLst/>
                <a:gdLst>
                  <a:gd name="connsiteX0" fmla="*/ 0 w 1850279"/>
                  <a:gd name="connsiteY0" fmla="*/ 1051969 h 1064243"/>
                  <a:gd name="connsiteX1" fmla="*/ 171834 w 1850279"/>
                  <a:gd name="connsiteY1" fmla="*/ 806493 h 1064243"/>
                  <a:gd name="connsiteX2" fmla="*/ 331394 w 1850279"/>
                  <a:gd name="connsiteY2" fmla="*/ 321677 h 1064243"/>
                  <a:gd name="connsiteX3" fmla="*/ 460269 w 1850279"/>
                  <a:gd name="connsiteY3" fmla="*/ 8694 h 1064243"/>
                  <a:gd name="connsiteX4" fmla="*/ 751772 w 1850279"/>
                  <a:gd name="connsiteY4" fmla="*/ 373840 h 1064243"/>
                  <a:gd name="connsiteX5" fmla="*/ 1098508 w 1850279"/>
                  <a:gd name="connsiteY5" fmla="*/ 757397 h 1064243"/>
                  <a:gd name="connsiteX6" fmla="*/ 1423764 w 1850279"/>
                  <a:gd name="connsiteY6" fmla="*/ 972189 h 1064243"/>
                  <a:gd name="connsiteX7" fmla="*/ 1850279 w 1850279"/>
                  <a:gd name="connsiteY7" fmla="*/ 1064243 h 1064243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77815"/>
                  <a:gd name="connsiteY0" fmla="*/ 1115384 h 1115384"/>
                  <a:gd name="connsiteX1" fmla="*/ 171834 w 1877815"/>
                  <a:gd name="connsiteY1" fmla="*/ 869908 h 1115384"/>
                  <a:gd name="connsiteX2" fmla="*/ 460269 w 1877815"/>
                  <a:gd name="connsiteY2" fmla="*/ 72109 h 1115384"/>
                  <a:gd name="connsiteX3" fmla="*/ 751772 w 1877815"/>
                  <a:gd name="connsiteY3" fmla="*/ 437255 h 1115384"/>
                  <a:gd name="connsiteX4" fmla="*/ 1098508 w 1877815"/>
                  <a:gd name="connsiteY4" fmla="*/ 820812 h 1115384"/>
                  <a:gd name="connsiteX5" fmla="*/ 1423764 w 1877815"/>
                  <a:gd name="connsiteY5" fmla="*/ 1035604 h 1115384"/>
                  <a:gd name="connsiteX6" fmla="*/ 1877815 w 1877815"/>
                  <a:gd name="connsiteY6" fmla="*/ 1113264 h 1115384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7815" h="1111885">
                    <a:moveTo>
                      <a:pt x="0" y="1111885"/>
                    </a:moveTo>
                    <a:cubicBezTo>
                      <a:pt x="58301" y="1050004"/>
                      <a:pt x="95123" y="1040288"/>
                      <a:pt x="171834" y="866409"/>
                    </a:cubicBezTo>
                    <a:cubicBezTo>
                      <a:pt x="248545" y="692530"/>
                      <a:pt x="358775" y="137220"/>
                      <a:pt x="460269" y="68610"/>
                    </a:cubicBezTo>
                    <a:cubicBezTo>
                      <a:pt x="561763" y="0"/>
                      <a:pt x="698146" y="323828"/>
                      <a:pt x="780797" y="454749"/>
                    </a:cubicBezTo>
                    <a:cubicBezTo>
                      <a:pt x="902985" y="607149"/>
                      <a:pt x="991347" y="721087"/>
                      <a:pt x="1098508" y="817313"/>
                    </a:cubicBezTo>
                    <a:cubicBezTo>
                      <a:pt x="1205669" y="913539"/>
                      <a:pt x="1293879" y="983363"/>
                      <a:pt x="1423764" y="1032105"/>
                    </a:cubicBezTo>
                    <a:cubicBezTo>
                      <a:pt x="1553649" y="1080847"/>
                      <a:pt x="1727205" y="1089308"/>
                      <a:pt x="1877815" y="1109765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28" name="Retângulo 6"/>
              <p:cNvSpPr>
                <a:spLocks noChangeArrowheads="1"/>
              </p:cNvSpPr>
              <p:nvPr/>
            </p:nvSpPr>
            <p:spPr bwMode="auto">
              <a:xfrm>
                <a:off x="4709773" y="4891417"/>
                <a:ext cx="24237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900" dirty="0">
                    <a:latin typeface="Times New Roman" charset="0"/>
                  </a:rPr>
                  <a:t>0</a:t>
                </a:r>
                <a:endParaRPr lang="pt-BR" altLang="pt-BR" sz="9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121" name="Text Box 32"/>
            <p:cNvSpPr txBox="1">
              <a:spLocks noChangeArrowheads="1"/>
            </p:cNvSpPr>
            <p:nvPr/>
          </p:nvSpPr>
          <p:spPr bwMode="auto">
            <a:xfrm>
              <a:off x="1290983" y="3386956"/>
              <a:ext cx="3032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sym typeface="Symbol" pitchFamily="18" charset="2"/>
                </a:rPr>
                <a:t></a:t>
              </a:r>
              <a:endParaRPr lang="pt-BR" altLang="pt-BR" sz="1600" i="1">
                <a:latin typeface="Times New Roman" charset="0"/>
              </a:endParaRPr>
            </a:p>
          </p:txBody>
        </p:sp>
        <p:cxnSp>
          <p:nvCxnSpPr>
            <p:cNvPr id="5" name="Conector de seta reta 4"/>
            <p:cNvCxnSpPr/>
            <p:nvPr/>
          </p:nvCxnSpPr>
          <p:spPr>
            <a:xfrm flipV="1">
              <a:off x="1443349" y="3257274"/>
              <a:ext cx="0" cy="17935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3" name="CaixaDeTexto 114688"/>
            <p:cNvSpPr txBox="1">
              <a:spLocks noChangeArrowheads="1"/>
            </p:cNvSpPr>
            <p:nvPr/>
          </p:nvSpPr>
          <p:spPr bwMode="auto">
            <a:xfrm>
              <a:off x="1255596" y="2730406"/>
              <a:ext cx="2920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CE912-8B4E-40BB-80AB-5EFBB7C8DA0D}" type="slidenum">
              <a:rPr lang="pt-BR"/>
              <a:pPr>
                <a:defRPr/>
              </a:pPr>
              <a:t>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2" name="Retângulo 54"/>
              <p:cNvSpPr>
                <a:spLocks noChangeArrowheads="1"/>
              </p:cNvSpPr>
              <p:nvPr/>
            </p:nvSpPr>
            <p:spPr bwMode="auto">
              <a:xfrm>
                <a:off x="5651500" y="2290763"/>
                <a:ext cx="2952133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8775" indent="-358775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Qual a probabilidade de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b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</a:b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tenha exatamente o valor de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 </a:t>
                </a:r>
                <a:r>
                  <a:rPr lang="pt-BR" altLang="pt-BR" sz="1600" dirty="0">
                    <a:latin typeface="Tahoma" panose="020B0604030504040204" pitchFamily="34" charset="0"/>
                    <a:sym typeface="SymbolProp BT" pitchFamily="18" charset="2"/>
                  </a:rPr>
                  <a:t>?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12" name="Retângulo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500" y="2290763"/>
                <a:ext cx="2952133" cy="830997"/>
              </a:xfrm>
              <a:prstGeom prst="rect">
                <a:avLst/>
              </a:prstGeom>
              <a:blipFill>
                <a:blip r:embed="rId4"/>
                <a:stretch>
                  <a:fillRect l="-1033" t="-2206" r="-5785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018213" y="3230563"/>
            <a:ext cx="2457450" cy="333375"/>
            <a:chOff x="6018442" y="3231120"/>
            <a:chExt cx="2457124" cy="333454"/>
          </a:xfrm>
        </p:grpSpPr>
        <p:graphicFrame>
          <p:nvGraphicFramePr>
            <p:cNvPr id="4110" name="Objeto 10"/>
            <p:cNvGraphicFramePr>
              <a:graphicFrameLocks noChangeAspect="1"/>
            </p:cNvGraphicFramePr>
            <p:nvPr/>
          </p:nvGraphicFramePr>
          <p:xfrm>
            <a:off x="6018442" y="3231120"/>
            <a:ext cx="1233488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63225" imgH="228501" progId="Equation.DSMT4">
                    <p:embed/>
                  </p:oleObj>
                </mc:Choice>
                <mc:Fallback>
                  <p:oleObj name="Equation" r:id="rId5" imgW="863225" imgH="228501" progId="Equation.DSMT4">
                    <p:embed/>
                    <p:pic>
                      <p:nvPicPr>
                        <p:cNvPr id="4110" name="Objeto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442" y="3231120"/>
                          <a:ext cx="1233488" cy="32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1" name="Retângulo 6"/>
            <p:cNvSpPr>
              <a:spLocks noChangeArrowheads="1"/>
            </p:cNvSpPr>
            <p:nvPr/>
          </p:nvSpPr>
          <p:spPr bwMode="auto">
            <a:xfrm>
              <a:off x="7281008" y="3256797"/>
              <a:ext cx="119455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  <a:sym typeface="Symbol" pitchFamily="18" charset="2"/>
                </a:rPr>
                <a:t>(improvável)</a:t>
              </a:r>
              <a:endParaRPr lang="pt-BR" altLang="pt-BR" sz="14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2" grpId="0" animBg="1"/>
      <p:bldP spid="41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p:graphicFrame>
        <p:nvGraphicFramePr>
          <p:cNvPr id="512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52841"/>
              </p:ext>
            </p:extLst>
          </p:nvPr>
        </p:nvGraphicFramePr>
        <p:xfrm>
          <a:off x="811213" y="1939594"/>
          <a:ext cx="12350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25" imgH="241195" progId="Equation.DSMT4">
                  <p:embed/>
                </p:oleObj>
              </mc:Choice>
              <mc:Fallback>
                <p:oleObj name="Equation" r:id="rId2" imgW="863225" imgH="241195" progId="Equation.DSMT4">
                  <p:embed/>
                  <p:pic>
                    <p:nvPicPr>
                      <p:cNvPr id="512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939594"/>
                        <a:ext cx="12350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41"/>
          <p:cNvSpPr txBox="1">
            <a:spLocks noChangeArrowheads="1"/>
          </p:cNvSpPr>
          <p:nvPr/>
        </p:nvSpPr>
        <p:spPr bwMode="auto">
          <a:xfrm>
            <a:off x="2368550" y="1944128"/>
            <a:ext cx="5964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desconhecida,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desconhecido, mas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conhecido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229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37340"/>
              </p:ext>
            </p:extLst>
          </p:nvPr>
        </p:nvGraphicFramePr>
        <p:xfrm>
          <a:off x="811213" y="2376488"/>
          <a:ext cx="20383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393480" progId="Equation.DSMT4">
                  <p:embed/>
                </p:oleObj>
              </mc:Choice>
              <mc:Fallback>
                <p:oleObj name="Equation" r:id="rId4" imgW="1422360" imgH="393480" progId="Equation.DSMT4">
                  <p:embed/>
                  <p:pic>
                    <p:nvPicPr>
                      <p:cNvPr id="1229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376488"/>
                        <a:ext cx="2038350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32"/>
          <p:cNvGrpSpPr>
            <a:grpSpLocks/>
          </p:cNvGrpSpPr>
          <p:nvPr/>
        </p:nvGrpSpPr>
        <p:grpSpPr bwMode="auto">
          <a:xfrm>
            <a:off x="771525" y="3025771"/>
            <a:ext cx="6460423" cy="345494"/>
            <a:chOff x="838200" y="2941038"/>
            <a:chExt cx="6462723" cy="345921"/>
          </a:xfrm>
        </p:grpSpPr>
        <p:sp>
          <p:nvSpPr>
            <p:cNvPr id="5138" name="Text Box 41"/>
            <p:cNvSpPr txBox="1">
              <a:spLocks noChangeArrowheads="1"/>
            </p:cNvSpPr>
            <p:nvPr/>
          </p:nvSpPr>
          <p:spPr bwMode="auto">
            <a:xfrm>
              <a:off x="838200" y="2947987"/>
              <a:ext cx="6462723" cy="33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Se                       ou se </a:t>
              </a:r>
              <a:r>
                <a:rPr lang="pt-BR" altLang="pt-BR" sz="1600" i="1" dirty="0">
                  <a:latin typeface="Times New Roman" charset="0"/>
                  <a:cs typeface="Times New Roman" charset="0"/>
                  <a:sym typeface="Symbol" pitchFamily="18" charset="2"/>
                </a:rPr>
                <a:t>n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for grande (ou seja, adotando-se o TLC):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39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789697"/>
                </p:ext>
              </p:extLst>
            </p:nvPr>
          </p:nvGraphicFramePr>
          <p:xfrm>
            <a:off x="1214572" y="2941038"/>
            <a:ext cx="1324446" cy="344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27000" imgH="241200" progId="Equation.DSMT4">
                    <p:embed/>
                  </p:oleObj>
                </mc:Choice>
                <mc:Fallback>
                  <p:oleObj name="Equation" r:id="rId6" imgW="927000" imgH="241200" progId="Equation.DSMT4">
                    <p:embed/>
                    <p:pic>
                      <p:nvPicPr>
                        <p:cNvPr id="513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572" y="2941038"/>
                          <a:ext cx="1324446" cy="344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653987"/>
              </p:ext>
            </p:extLst>
          </p:nvPr>
        </p:nvGraphicFramePr>
        <p:xfrm>
          <a:off x="803275" y="3598332"/>
          <a:ext cx="10525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228600" progId="Equation.DSMT4">
                  <p:embed/>
                </p:oleObj>
              </mc:Choice>
              <mc:Fallback>
                <p:oleObj name="Equation" r:id="rId8" imgW="736600" imgH="228600" progId="Equation.DSMT4">
                  <p:embed/>
                  <p:pic>
                    <p:nvPicPr>
                      <p:cNvPr id="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3598332"/>
                        <a:ext cx="105251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01562"/>
              </p:ext>
            </p:extLst>
          </p:nvPr>
        </p:nvGraphicFramePr>
        <p:xfrm>
          <a:off x="2568575" y="3480172"/>
          <a:ext cx="24320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800" imgH="419100" progId="Equation.DSMT4">
                  <p:embed/>
                </p:oleObj>
              </mc:Choice>
              <mc:Fallback>
                <p:oleObj name="Equation" r:id="rId10" imgW="1701800" imgH="419100" progId="Equation.DSMT4">
                  <p:embed/>
                  <p:pic>
                    <p:nvPicPr>
                      <p:cNvPr id="3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480172"/>
                        <a:ext cx="24320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227504"/>
              </p:ext>
            </p:extLst>
          </p:nvPr>
        </p:nvGraphicFramePr>
        <p:xfrm>
          <a:off x="803275" y="3462600"/>
          <a:ext cx="132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100" imgH="419100" progId="Equation.DSMT4">
                  <p:embed/>
                </p:oleObj>
              </mc:Choice>
              <mc:Fallback>
                <p:oleObj name="Equation" r:id="rId12" imgW="927100" imgH="419100" progId="Equation.DSMT4">
                  <p:embed/>
                  <p:pic>
                    <p:nvPicPr>
                      <p:cNvPr id="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3462600"/>
                        <a:ext cx="1323975" cy="596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3</a:t>
            </a:fld>
            <a:endParaRPr lang="pt-BR"/>
          </a:p>
        </p:txBody>
      </p:sp>
      <p:graphicFrame>
        <p:nvGraphicFramePr>
          <p:cNvPr id="5136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145738"/>
              </p:ext>
            </p:extLst>
          </p:nvPr>
        </p:nvGraphicFramePr>
        <p:xfrm>
          <a:off x="811213" y="1484313"/>
          <a:ext cx="18557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400" imgH="254000" progId="Equation.DSMT4">
                  <p:embed/>
                </p:oleObj>
              </mc:Choice>
              <mc:Fallback>
                <p:oleObj name="Equation" r:id="rId14" imgW="1295400" imgH="254000" progId="Equation.DSMT4">
                  <p:embed/>
                  <p:pic>
                    <p:nvPicPr>
                      <p:cNvPr id="5136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484313"/>
                        <a:ext cx="1855787" cy="363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CaixaDeTexto 4"/>
          <p:cNvSpPr txBox="1">
            <a:spLocks noChangeArrowheads="1"/>
          </p:cNvSpPr>
          <p:nvPr/>
        </p:nvSpPr>
        <p:spPr bwMode="auto">
          <a:xfrm>
            <a:off x="2955925" y="1497013"/>
            <a:ext cx="17568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amostra aleatória</a:t>
            </a:r>
          </a:p>
        </p:txBody>
      </p:sp>
      <p:grpSp>
        <p:nvGrpSpPr>
          <p:cNvPr id="20" name="Grupo 19"/>
          <p:cNvGrpSpPr>
            <a:grpSpLocks/>
          </p:cNvGrpSpPr>
          <p:nvPr/>
        </p:nvGrpSpPr>
        <p:grpSpPr bwMode="auto">
          <a:xfrm>
            <a:off x="5733429" y="4237508"/>
            <a:ext cx="2222500" cy="1668463"/>
            <a:chOff x="5517810" y="4597364"/>
            <a:chExt cx="2222542" cy="1668326"/>
          </a:xfrm>
        </p:grpSpPr>
        <p:grpSp>
          <p:nvGrpSpPr>
            <p:cNvPr id="21" name="Grupo 51"/>
            <p:cNvGrpSpPr>
              <a:grpSpLocks/>
            </p:cNvGrpSpPr>
            <p:nvPr/>
          </p:nvGrpSpPr>
          <p:grpSpPr bwMode="auto">
            <a:xfrm>
              <a:off x="5517810" y="4597364"/>
              <a:ext cx="2222542" cy="1496399"/>
              <a:chOff x="4330658" y="3625850"/>
              <a:chExt cx="2222542" cy="1496399"/>
            </a:xfrm>
          </p:grpSpPr>
          <p:sp>
            <p:nvSpPr>
              <p:cNvPr id="25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Text Box 33"/>
              <p:cNvSpPr txBox="1">
                <a:spLocks noChangeArrowheads="1"/>
              </p:cNvSpPr>
              <p:nvPr/>
            </p:nvSpPr>
            <p:spPr bwMode="auto">
              <a:xfrm>
                <a:off x="4330658" y="3625850"/>
                <a:ext cx="5854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  </a:t>
                </a:r>
                <a:r>
                  <a:rPr lang="pt-BR" altLang="pt-BR" sz="1600" i="1">
                    <a:latin typeface="Times New Roman" charset="0"/>
                  </a:rPr>
                  <a:t>  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  <p:sp>
            <p:nvSpPr>
              <p:cNvPr id="27" name="Retângulo 6"/>
              <p:cNvSpPr>
                <a:spLocks noChangeArrowheads="1"/>
              </p:cNvSpPr>
              <p:nvPr/>
            </p:nvSpPr>
            <p:spPr bwMode="auto">
              <a:xfrm>
                <a:off x="4709773" y="4891417"/>
                <a:ext cx="24237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900" dirty="0">
                    <a:latin typeface="Times New Roman" charset="0"/>
                  </a:rPr>
                  <a:t>0</a:t>
                </a:r>
                <a:endParaRPr lang="pt-BR" altLang="pt-BR" sz="9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22" name="Objeto 64"/>
            <p:cNvGraphicFramePr>
              <a:graphicFrameLocks noChangeAspect="1"/>
            </p:cNvGraphicFramePr>
            <p:nvPr/>
          </p:nvGraphicFramePr>
          <p:xfrm>
            <a:off x="5721164" y="4613975"/>
            <a:ext cx="2540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646" imgH="190335" progId="Equation.DSMT4">
                    <p:embed/>
                  </p:oleObj>
                </mc:Choice>
                <mc:Fallback>
                  <p:oleObj name="Equation" r:id="rId16" imgW="177646" imgH="190335" progId="Equation.DSMT4">
                    <p:embed/>
                    <p:pic>
                      <p:nvPicPr>
                        <p:cNvPr id="22" name="Objeto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1164" y="4613975"/>
                          <a:ext cx="254000" cy="271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to 65"/>
            <p:cNvGraphicFramePr>
              <a:graphicFrameLocks noChangeAspect="1"/>
            </p:cNvGraphicFramePr>
            <p:nvPr/>
          </p:nvGraphicFramePr>
          <p:xfrm>
            <a:off x="7486352" y="5994227"/>
            <a:ext cx="2540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646" imgH="190335" progId="Equation.DSMT4">
                    <p:embed/>
                  </p:oleObj>
                </mc:Choice>
                <mc:Fallback>
                  <p:oleObj name="Equation" r:id="rId16" imgW="177646" imgH="190335" progId="Equation.DSMT4">
                    <p:embed/>
                    <p:pic>
                      <p:nvPicPr>
                        <p:cNvPr id="23" name="Objeto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6352" y="5994227"/>
                          <a:ext cx="254000" cy="271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Forma livre 23"/>
            <p:cNvSpPr/>
            <p:nvPr/>
          </p:nvSpPr>
          <p:spPr>
            <a:xfrm>
              <a:off x="6227436" y="4994206"/>
              <a:ext cx="1298600" cy="993693"/>
            </a:xfrm>
            <a:custGeom>
              <a:avLst/>
              <a:gdLst>
                <a:gd name="connsiteX0" fmla="*/ 0 w 1298575"/>
                <a:gd name="connsiteY0" fmla="*/ 990600 h 993775"/>
                <a:gd name="connsiteX1" fmla="*/ 123825 w 1298575"/>
                <a:gd name="connsiteY1" fmla="*/ 908050 h 993775"/>
                <a:gd name="connsiteX2" fmla="*/ 212725 w 1298575"/>
                <a:gd name="connsiteY2" fmla="*/ 796925 h 993775"/>
                <a:gd name="connsiteX3" fmla="*/ 295275 w 1298575"/>
                <a:gd name="connsiteY3" fmla="*/ 638175 h 993775"/>
                <a:gd name="connsiteX4" fmla="*/ 365125 w 1298575"/>
                <a:gd name="connsiteY4" fmla="*/ 466725 h 993775"/>
                <a:gd name="connsiteX5" fmla="*/ 428625 w 1298575"/>
                <a:gd name="connsiteY5" fmla="*/ 317500 h 993775"/>
                <a:gd name="connsiteX6" fmla="*/ 498475 w 1298575"/>
                <a:gd name="connsiteY6" fmla="*/ 168275 h 993775"/>
                <a:gd name="connsiteX7" fmla="*/ 565150 w 1298575"/>
                <a:gd name="connsiteY7" fmla="*/ 44450 h 993775"/>
                <a:gd name="connsiteX8" fmla="*/ 609600 w 1298575"/>
                <a:gd name="connsiteY8" fmla="*/ 6350 h 993775"/>
                <a:gd name="connsiteX9" fmla="*/ 644525 w 1298575"/>
                <a:gd name="connsiteY9" fmla="*/ 0 h 993775"/>
                <a:gd name="connsiteX10" fmla="*/ 692150 w 1298575"/>
                <a:gd name="connsiteY10" fmla="*/ 12700 h 993775"/>
                <a:gd name="connsiteX11" fmla="*/ 717550 w 1298575"/>
                <a:gd name="connsiteY11" fmla="*/ 41275 h 993775"/>
                <a:gd name="connsiteX12" fmla="*/ 762000 w 1298575"/>
                <a:gd name="connsiteY12" fmla="*/ 95250 h 993775"/>
                <a:gd name="connsiteX13" fmla="*/ 809625 w 1298575"/>
                <a:gd name="connsiteY13" fmla="*/ 206375 h 993775"/>
                <a:gd name="connsiteX14" fmla="*/ 866775 w 1298575"/>
                <a:gd name="connsiteY14" fmla="*/ 330200 h 993775"/>
                <a:gd name="connsiteX15" fmla="*/ 911225 w 1298575"/>
                <a:gd name="connsiteY15" fmla="*/ 431800 h 993775"/>
                <a:gd name="connsiteX16" fmla="*/ 962025 w 1298575"/>
                <a:gd name="connsiteY16" fmla="*/ 571500 h 993775"/>
                <a:gd name="connsiteX17" fmla="*/ 1016000 w 1298575"/>
                <a:gd name="connsiteY17" fmla="*/ 676275 h 993775"/>
                <a:gd name="connsiteX18" fmla="*/ 1066800 w 1298575"/>
                <a:gd name="connsiteY18" fmla="*/ 777875 h 993775"/>
                <a:gd name="connsiteX19" fmla="*/ 1117600 w 1298575"/>
                <a:gd name="connsiteY19" fmla="*/ 860425 h 993775"/>
                <a:gd name="connsiteX20" fmla="*/ 1181100 w 1298575"/>
                <a:gd name="connsiteY20" fmla="*/ 930275 h 993775"/>
                <a:gd name="connsiteX21" fmla="*/ 1241425 w 1298575"/>
                <a:gd name="connsiteY21" fmla="*/ 974725 h 993775"/>
                <a:gd name="connsiteX22" fmla="*/ 1298575 w 1298575"/>
                <a:gd name="connsiteY22" fmla="*/ 993775 h 99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8575" h="993775">
                  <a:moveTo>
                    <a:pt x="0" y="990600"/>
                  </a:moveTo>
                  <a:lnTo>
                    <a:pt x="123825" y="908050"/>
                  </a:lnTo>
                  <a:lnTo>
                    <a:pt x="212725" y="796925"/>
                  </a:lnTo>
                  <a:lnTo>
                    <a:pt x="295275" y="638175"/>
                  </a:lnTo>
                  <a:lnTo>
                    <a:pt x="365125" y="466725"/>
                  </a:lnTo>
                  <a:lnTo>
                    <a:pt x="428625" y="317500"/>
                  </a:lnTo>
                  <a:lnTo>
                    <a:pt x="498475" y="168275"/>
                  </a:lnTo>
                  <a:lnTo>
                    <a:pt x="565150" y="44450"/>
                  </a:lnTo>
                  <a:lnTo>
                    <a:pt x="609600" y="6350"/>
                  </a:lnTo>
                  <a:lnTo>
                    <a:pt x="644525" y="0"/>
                  </a:lnTo>
                  <a:lnTo>
                    <a:pt x="692150" y="12700"/>
                  </a:lnTo>
                  <a:lnTo>
                    <a:pt x="717550" y="41275"/>
                  </a:lnTo>
                  <a:lnTo>
                    <a:pt x="762000" y="95250"/>
                  </a:lnTo>
                  <a:lnTo>
                    <a:pt x="809625" y="206375"/>
                  </a:lnTo>
                  <a:lnTo>
                    <a:pt x="866775" y="330200"/>
                  </a:lnTo>
                  <a:lnTo>
                    <a:pt x="911225" y="431800"/>
                  </a:lnTo>
                  <a:lnTo>
                    <a:pt x="962025" y="571500"/>
                  </a:lnTo>
                  <a:lnTo>
                    <a:pt x="1016000" y="676275"/>
                  </a:lnTo>
                  <a:lnTo>
                    <a:pt x="1066800" y="777875"/>
                  </a:lnTo>
                  <a:lnTo>
                    <a:pt x="1117600" y="860425"/>
                  </a:lnTo>
                  <a:lnTo>
                    <a:pt x="1181100" y="930275"/>
                  </a:lnTo>
                  <a:lnTo>
                    <a:pt x="1241425" y="974725"/>
                  </a:lnTo>
                  <a:lnTo>
                    <a:pt x="1298575" y="993775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8" name="Grupo 27"/>
          <p:cNvGrpSpPr>
            <a:grpSpLocks/>
          </p:cNvGrpSpPr>
          <p:nvPr/>
        </p:nvGrpSpPr>
        <p:grpSpPr bwMode="auto">
          <a:xfrm>
            <a:off x="610567" y="4242271"/>
            <a:ext cx="5089559" cy="1851025"/>
            <a:chOff x="395536" y="4602614"/>
            <a:chExt cx="5089809" cy="1850722"/>
          </a:xfrm>
        </p:grpSpPr>
        <p:grpSp>
          <p:nvGrpSpPr>
            <p:cNvPr id="29" name="Grupo 86"/>
            <p:cNvGrpSpPr>
              <a:grpSpLocks/>
            </p:cNvGrpSpPr>
            <p:nvPr/>
          </p:nvGrpSpPr>
          <p:grpSpPr bwMode="auto">
            <a:xfrm>
              <a:off x="395536" y="4602614"/>
              <a:ext cx="2332564" cy="1850722"/>
              <a:chOff x="395536" y="1874788"/>
              <a:chExt cx="2332564" cy="1850722"/>
            </a:xfrm>
          </p:grpSpPr>
          <p:grpSp>
            <p:nvGrpSpPr>
              <p:cNvPr id="39" name="Grupo 87"/>
              <p:cNvGrpSpPr>
                <a:grpSpLocks/>
              </p:cNvGrpSpPr>
              <p:nvPr/>
            </p:nvGrpSpPr>
            <p:grpSpPr bwMode="auto">
              <a:xfrm>
                <a:off x="395536" y="1874788"/>
                <a:ext cx="2332564" cy="1710099"/>
                <a:chOff x="4419600" y="3625850"/>
                <a:chExt cx="2332564" cy="1710099"/>
              </a:xfrm>
            </p:grpSpPr>
            <p:sp>
              <p:nvSpPr>
                <p:cNvPr id="43" name="Freeform 31"/>
                <p:cNvSpPr>
                  <a:spLocks/>
                </p:cNvSpPr>
                <p:nvPr/>
              </p:nvSpPr>
              <p:spPr bwMode="auto">
                <a:xfrm>
                  <a:off x="4876800" y="3721100"/>
                  <a:ext cx="1676400" cy="1295400"/>
                </a:xfrm>
                <a:custGeom>
                  <a:avLst/>
                  <a:gdLst>
                    <a:gd name="T0" fmla="*/ 0 w 1056"/>
                    <a:gd name="T1" fmla="*/ 0 h 816"/>
                    <a:gd name="T2" fmla="*/ 0 w 1056"/>
                    <a:gd name="T3" fmla="*/ 2147483647 h 816"/>
                    <a:gd name="T4" fmla="*/ 2147483647 w 1056"/>
                    <a:gd name="T5" fmla="*/ 2147483647 h 816"/>
                    <a:gd name="T6" fmla="*/ 0 60000 65536"/>
                    <a:gd name="T7" fmla="*/ 0 60000 65536"/>
                    <a:gd name="T8" fmla="*/ 0 60000 65536"/>
                    <a:gd name="T9" fmla="*/ 0 w 1056"/>
                    <a:gd name="T10" fmla="*/ 0 h 816"/>
                    <a:gd name="T11" fmla="*/ 1056 w 1056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56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056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6403975" y="4997450"/>
                  <a:ext cx="348189" cy="338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r>
                    <a:rPr lang="pt-BR" altLang="pt-BR" sz="1600" i="1" baseline="-25000" dirty="0">
                      <a:latin typeface="Times New Roman" charset="0"/>
                    </a:rPr>
                    <a:t>i</a:t>
                  </a:r>
                </a:p>
              </p:txBody>
            </p:sp>
            <p:sp>
              <p:nvSpPr>
                <p:cNvPr id="4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19600" y="3625850"/>
                  <a:ext cx="468313" cy="336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charset="0"/>
                    </a:rPr>
                    <a:t>f</a:t>
                  </a:r>
                  <a:r>
                    <a:rPr lang="pt-BR" altLang="pt-BR" sz="1600">
                      <a:latin typeface="Times New Roman" charset="0"/>
                    </a:rPr>
                    <a:t>(</a:t>
                  </a:r>
                  <a:r>
                    <a:rPr lang="pt-BR" altLang="pt-BR" sz="1600" i="1">
                      <a:latin typeface="Times New Roman" charset="0"/>
                    </a:rPr>
                    <a:t>x</a:t>
                  </a:r>
                  <a:r>
                    <a:rPr lang="pt-BR" altLang="pt-BR" sz="1600">
                      <a:latin typeface="Times New Roman" charset="0"/>
                    </a:rPr>
                    <a:t>)</a:t>
                  </a:r>
                </a:p>
              </p:txBody>
            </p:sp>
            <p:sp>
              <p:nvSpPr>
                <p:cNvPr id="46" name="Forma livre 45"/>
                <p:cNvSpPr/>
                <p:nvPr/>
              </p:nvSpPr>
              <p:spPr bwMode="auto">
                <a:xfrm>
                  <a:off x="4943501" y="3905204"/>
                  <a:ext cx="1457397" cy="1111068"/>
                </a:xfrm>
                <a:custGeom>
                  <a:avLst/>
                  <a:gdLst>
                    <a:gd name="connsiteX0" fmla="*/ 0 w 1850279"/>
                    <a:gd name="connsiteY0" fmla="*/ 1051969 h 1064243"/>
                    <a:gd name="connsiteX1" fmla="*/ 171834 w 1850279"/>
                    <a:gd name="connsiteY1" fmla="*/ 806493 h 1064243"/>
                    <a:gd name="connsiteX2" fmla="*/ 331394 w 1850279"/>
                    <a:gd name="connsiteY2" fmla="*/ 321677 h 1064243"/>
                    <a:gd name="connsiteX3" fmla="*/ 460269 w 1850279"/>
                    <a:gd name="connsiteY3" fmla="*/ 8694 h 1064243"/>
                    <a:gd name="connsiteX4" fmla="*/ 751772 w 1850279"/>
                    <a:gd name="connsiteY4" fmla="*/ 373840 h 1064243"/>
                    <a:gd name="connsiteX5" fmla="*/ 1098508 w 1850279"/>
                    <a:gd name="connsiteY5" fmla="*/ 757397 h 1064243"/>
                    <a:gd name="connsiteX6" fmla="*/ 1423764 w 1850279"/>
                    <a:gd name="connsiteY6" fmla="*/ 972189 h 1064243"/>
                    <a:gd name="connsiteX7" fmla="*/ 1850279 w 1850279"/>
                    <a:gd name="connsiteY7" fmla="*/ 1064243 h 1064243"/>
                    <a:gd name="connsiteX0" fmla="*/ 0 w 1850279"/>
                    <a:gd name="connsiteY0" fmla="*/ 1115384 h 1127658"/>
                    <a:gd name="connsiteX1" fmla="*/ 171834 w 1850279"/>
                    <a:gd name="connsiteY1" fmla="*/ 869908 h 1127658"/>
                    <a:gd name="connsiteX2" fmla="*/ 460269 w 1850279"/>
                    <a:gd name="connsiteY2" fmla="*/ 72109 h 1127658"/>
                    <a:gd name="connsiteX3" fmla="*/ 751772 w 1850279"/>
                    <a:gd name="connsiteY3" fmla="*/ 437255 h 1127658"/>
                    <a:gd name="connsiteX4" fmla="*/ 1098508 w 1850279"/>
                    <a:gd name="connsiteY4" fmla="*/ 820812 h 1127658"/>
                    <a:gd name="connsiteX5" fmla="*/ 1423764 w 1850279"/>
                    <a:gd name="connsiteY5" fmla="*/ 1035604 h 1127658"/>
                    <a:gd name="connsiteX6" fmla="*/ 1850279 w 1850279"/>
                    <a:gd name="connsiteY6" fmla="*/ 1127658 h 1127658"/>
                    <a:gd name="connsiteX0" fmla="*/ 0 w 1850279"/>
                    <a:gd name="connsiteY0" fmla="*/ 1115384 h 1127658"/>
                    <a:gd name="connsiteX1" fmla="*/ 171834 w 1850279"/>
                    <a:gd name="connsiteY1" fmla="*/ 869908 h 1127658"/>
                    <a:gd name="connsiteX2" fmla="*/ 460269 w 1850279"/>
                    <a:gd name="connsiteY2" fmla="*/ 72109 h 1127658"/>
                    <a:gd name="connsiteX3" fmla="*/ 751772 w 1850279"/>
                    <a:gd name="connsiteY3" fmla="*/ 437255 h 1127658"/>
                    <a:gd name="connsiteX4" fmla="*/ 1098508 w 1850279"/>
                    <a:gd name="connsiteY4" fmla="*/ 820812 h 1127658"/>
                    <a:gd name="connsiteX5" fmla="*/ 1423764 w 1850279"/>
                    <a:gd name="connsiteY5" fmla="*/ 1035604 h 1127658"/>
                    <a:gd name="connsiteX6" fmla="*/ 1850279 w 1850279"/>
                    <a:gd name="connsiteY6" fmla="*/ 1127658 h 1127658"/>
                    <a:gd name="connsiteX0" fmla="*/ 0 w 1877815"/>
                    <a:gd name="connsiteY0" fmla="*/ 1115384 h 1115384"/>
                    <a:gd name="connsiteX1" fmla="*/ 171834 w 1877815"/>
                    <a:gd name="connsiteY1" fmla="*/ 869908 h 1115384"/>
                    <a:gd name="connsiteX2" fmla="*/ 460269 w 1877815"/>
                    <a:gd name="connsiteY2" fmla="*/ 72109 h 1115384"/>
                    <a:gd name="connsiteX3" fmla="*/ 751772 w 1877815"/>
                    <a:gd name="connsiteY3" fmla="*/ 437255 h 1115384"/>
                    <a:gd name="connsiteX4" fmla="*/ 1098508 w 1877815"/>
                    <a:gd name="connsiteY4" fmla="*/ 820812 h 1115384"/>
                    <a:gd name="connsiteX5" fmla="*/ 1423764 w 1877815"/>
                    <a:gd name="connsiteY5" fmla="*/ 1035604 h 1115384"/>
                    <a:gd name="connsiteX6" fmla="*/ 1877815 w 1877815"/>
                    <a:gd name="connsiteY6" fmla="*/ 1113264 h 1115384"/>
                    <a:gd name="connsiteX0" fmla="*/ 0 w 1877815"/>
                    <a:gd name="connsiteY0" fmla="*/ 1111885 h 1111885"/>
                    <a:gd name="connsiteX1" fmla="*/ 171834 w 1877815"/>
                    <a:gd name="connsiteY1" fmla="*/ 866409 h 1111885"/>
                    <a:gd name="connsiteX2" fmla="*/ 460269 w 1877815"/>
                    <a:gd name="connsiteY2" fmla="*/ 68610 h 1111885"/>
                    <a:gd name="connsiteX3" fmla="*/ 780797 w 1877815"/>
                    <a:gd name="connsiteY3" fmla="*/ 454749 h 1111885"/>
                    <a:gd name="connsiteX4" fmla="*/ 1098508 w 1877815"/>
                    <a:gd name="connsiteY4" fmla="*/ 817313 h 1111885"/>
                    <a:gd name="connsiteX5" fmla="*/ 1423764 w 1877815"/>
                    <a:gd name="connsiteY5" fmla="*/ 1032105 h 1111885"/>
                    <a:gd name="connsiteX6" fmla="*/ 1877815 w 1877815"/>
                    <a:gd name="connsiteY6" fmla="*/ 1109765 h 1111885"/>
                    <a:gd name="connsiteX0" fmla="*/ 0 w 1877815"/>
                    <a:gd name="connsiteY0" fmla="*/ 1111885 h 1111885"/>
                    <a:gd name="connsiteX1" fmla="*/ 171834 w 1877815"/>
                    <a:gd name="connsiteY1" fmla="*/ 866409 h 1111885"/>
                    <a:gd name="connsiteX2" fmla="*/ 460269 w 1877815"/>
                    <a:gd name="connsiteY2" fmla="*/ 68610 h 1111885"/>
                    <a:gd name="connsiteX3" fmla="*/ 780797 w 1877815"/>
                    <a:gd name="connsiteY3" fmla="*/ 454749 h 1111885"/>
                    <a:gd name="connsiteX4" fmla="*/ 1098508 w 1877815"/>
                    <a:gd name="connsiteY4" fmla="*/ 817313 h 1111885"/>
                    <a:gd name="connsiteX5" fmla="*/ 1423764 w 1877815"/>
                    <a:gd name="connsiteY5" fmla="*/ 1032105 h 1111885"/>
                    <a:gd name="connsiteX6" fmla="*/ 1877815 w 1877815"/>
                    <a:gd name="connsiteY6" fmla="*/ 1109765 h 1111885"/>
                    <a:gd name="connsiteX0" fmla="*/ 0 w 1877815"/>
                    <a:gd name="connsiteY0" fmla="*/ 1111885 h 1111885"/>
                    <a:gd name="connsiteX1" fmla="*/ 171834 w 1877815"/>
                    <a:gd name="connsiteY1" fmla="*/ 866409 h 1111885"/>
                    <a:gd name="connsiteX2" fmla="*/ 460269 w 1877815"/>
                    <a:gd name="connsiteY2" fmla="*/ 68610 h 1111885"/>
                    <a:gd name="connsiteX3" fmla="*/ 780797 w 1877815"/>
                    <a:gd name="connsiteY3" fmla="*/ 454749 h 1111885"/>
                    <a:gd name="connsiteX4" fmla="*/ 1098508 w 1877815"/>
                    <a:gd name="connsiteY4" fmla="*/ 817313 h 1111885"/>
                    <a:gd name="connsiteX5" fmla="*/ 1423764 w 1877815"/>
                    <a:gd name="connsiteY5" fmla="*/ 1032105 h 1111885"/>
                    <a:gd name="connsiteX6" fmla="*/ 1877815 w 1877815"/>
                    <a:gd name="connsiteY6" fmla="*/ 1109765 h 1111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77815" h="1111885">
                      <a:moveTo>
                        <a:pt x="0" y="1111885"/>
                      </a:moveTo>
                      <a:cubicBezTo>
                        <a:pt x="58301" y="1050004"/>
                        <a:pt x="95123" y="1040288"/>
                        <a:pt x="171834" y="866409"/>
                      </a:cubicBezTo>
                      <a:cubicBezTo>
                        <a:pt x="248545" y="692530"/>
                        <a:pt x="358775" y="137220"/>
                        <a:pt x="460269" y="68610"/>
                      </a:cubicBezTo>
                      <a:cubicBezTo>
                        <a:pt x="561763" y="0"/>
                        <a:pt x="698146" y="323828"/>
                        <a:pt x="780797" y="454749"/>
                      </a:cubicBezTo>
                      <a:cubicBezTo>
                        <a:pt x="902985" y="607149"/>
                        <a:pt x="991347" y="721087"/>
                        <a:pt x="1098508" y="817313"/>
                      </a:cubicBezTo>
                      <a:cubicBezTo>
                        <a:pt x="1205669" y="913539"/>
                        <a:pt x="1293879" y="983363"/>
                        <a:pt x="1423764" y="1032105"/>
                      </a:cubicBezTo>
                      <a:cubicBezTo>
                        <a:pt x="1553649" y="1080847"/>
                        <a:pt x="1727205" y="1089308"/>
                        <a:pt x="1877815" y="1109765"/>
                      </a:cubicBezTo>
                    </a:path>
                  </a:pathLst>
                </a:cu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Retângulo 6"/>
                <p:cNvSpPr>
                  <a:spLocks noChangeArrowheads="1"/>
                </p:cNvSpPr>
                <p:nvPr/>
              </p:nvSpPr>
              <p:spPr bwMode="auto">
                <a:xfrm>
                  <a:off x="4709773" y="4891417"/>
                  <a:ext cx="242374" cy="2308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900" dirty="0">
                      <a:latin typeface="Times New Roman" charset="0"/>
                    </a:rPr>
                    <a:t>0</a:t>
                  </a:r>
                  <a:endParaRPr lang="pt-BR" altLang="pt-BR" sz="9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40" name="Text Box 32"/>
              <p:cNvSpPr txBox="1">
                <a:spLocks noChangeArrowheads="1"/>
              </p:cNvSpPr>
              <p:nvPr/>
            </p:nvSpPr>
            <p:spPr bwMode="auto">
              <a:xfrm>
                <a:off x="1290983" y="3386956"/>
                <a:ext cx="30328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  <a:sym typeface="Symbol" pitchFamily="18" charset="2"/>
                  </a:rPr>
                  <a:t></a:t>
                </a:r>
                <a:endParaRPr lang="pt-BR" altLang="pt-BR" sz="1600" i="1">
                  <a:latin typeface="Times New Roman" charset="0"/>
                </a:endParaRPr>
              </a:p>
            </p:txBody>
          </p:sp>
          <p:cxnSp>
            <p:nvCxnSpPr>
              <p:cNvPr id="41" name="Conector de seta reta 40"/>
              <p:cNvCxnSpPr/>
              <p:nvPr/>
            </p:nvCxnSpPr>
            <p:spPr>
              <a:xfrm flipV="1">
                <a:off x="1443338" y="3257274"/>
                <a:ext cx="0" cy="1793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CaixaDeTexto 90"/>
              <p:cNvSpPr txBox="1">
                <a:spLocks noChangeArrowheads="1"/>
              </p:cNvSpPr>
              <p:nvPr/>
            </p:nvSpPr>
            <p:spPr bwMode="auto">
              <a:xfrm>
                <a:off x="1255596" y="2730406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</p:grp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1290983" y="6114782"/>
              <a:ext cx="3032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sym typeface="Symbol" pitchFamily="18" charset="2"/>
                </a:rPr>
                <a:t></a:t>
              </a:r>
              <a:endParaRPr lang="pt-BR" altLang="pt-BR" sz="1600" i="1">
                <a:latin typeface="Times New Roman" charset="0"/>
              </a:endParaRPr>
            </a:p>
          </p:txBody>
        </p:sp>
        <p:cxnSp>
          <p:nvCxnSpPr>
            <p:cNvPr id="32" name="Conector de seta reta 31"/>
            <p:cNvCxnSpPr/>
            <p:nvPr/>
          </p:nvCxnSpPr>
          <p:spPr>
            <a:xfrm flipV="1">
              <a:off x="1443338" y="5985100"/>
              <a:ext cx="0" cy="17935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tângulo 77"/>
            <p:cNvSpPr>
              <a:spLocks noChangeArrowheads="1"/>
            </p:cNvSpPr>
            <p:nvPr/>
          </p:nvSpPr>
          <p:spPr bwMode="auto">
            <a:xfrm>
              <a:off x="4103680" y="5176287"/>
              <a:ext cx="1381665" cy="3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baseline="-25000" dirty="0">
                  <a:latin typeface="Times New Roman" charset="0"/>
                </a:rPr>
                <a:t>1</a:t>
              </a:r>
              <a:r>
                <a:rPr lang="pt-BR" altLang="pt-BR" sz="1600" dirty="0">
                  <a:latin typeface="Tahoma" panose="020B0604030504040204" pitchFamily="34" charset="0"/>
                </a:rPr>
                <a:t>,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baseline="-25000" dirty="0">
                  <a:latin typeface="Times New Roman" charset="0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</a:rPr>
                <a:t>, ..., </a:t>
              </a:r>
              <a:r>
                <a:rPr lang="pt-BR" altLang="pt-BR" sz="1600" i="1" dirty="0" err="1">
                  <a:latin typeface="Times New Roman" charset="0"/>
                </a:rPr>
                <a:t>X</a:t>
              </a:r>
              <a:r>
                <a:rPr lang="pt-BR" altLang="pt-BR" sz="1600" i="1" baseline="-25000" dirty="0" err="1">
                  <a:latin typeface="Times New Roman" charset="0"/>
                </a:rPr>
                <a:t>n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35" name="Chave esquerda 34"/>
            <p:cNvSpPr/>
            <p:nvPr/>
          </p:nvSpPr>
          <p:spPr>
            <a:xfrm rot="16200000">
              <a:off x="4633598" y="5011198"/>
              <a:ext cx="215865" cy="122402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6" name="Objeto 79"/>
            <p:cNvGraphicFramePr>
              <a:graphicFrameLocks noChangeAspect="1"/>
            </p:cNvGraphicFramePr>
            <p:nvPr/>
          </p:nvGraphicFramePr>
          <p:xfrm>
            <a:off x="4614151" y="5785581"/>
            <a:ext cx="2540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646" imgH="190335" progId="Equation.DSMT4">
                    <p:embed/>
                  </p:oleObj>
                </mc:Choice>
                <mc:Fallback>
                  <p:oleObj name="Equation" r:id="rId16" imgW="177646" imgH="190335" progId="Equation.DSMT4">
                    <p:embed/>
                    <p:pic>
                      <p:nvPicPr>
                        <p:cNvPr id="36" name="Objeto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4151" y="5785581"/>
                          <a:ext cx="254000" cy="271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Seta para a direita 37"/>
            <p:cNvSpPr/>
            <p:nvPr/>
          </p:nvSpPr>
          <p:spPr>
            <a:xfrm>
              <a:off x="2772140" y="5286714"/>
              <a:ext cx="981123" cy="384112"/>
            </a:xfrm>
            <a:prstGeom prst="right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400" dirty="0">
                  <a:solidFill>
                    <a:schemeClr val="tx1"/>
                  </a:solidFill>
                  <a:latin typeface="Tahoma" panose="020B0604030504040204" pitchFamily="34" charset="0"/>
                </a:rPr>
                <a:t>amostra</a:t>
              </a:r>
            </a:p>
          </p:txBody>
        </p:sp>
      </p:grpSp>
      <p:sp>
        <p:nvSpPr>
          <p:cNvPr id="53" name="Chave esquerda 52"/>
          <p:cNvSpPr/>
          <p:nvPr/>
        </p:nvSpPr>
        <p:spPr bwMode="auto">
          <a:xfrm rot="16200000">
            <a:off x="7036770" y="5344010"/>
            <a:ext cx="109538" cy="6746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0" name="Grupo 2"/>
          <p:cNvGrpSpPr>
            <a:grpSpLocks/>
          </p:cNvGrpSpPr>
          <p:nvPr/>
        </p:nvGrpSpPr>
        <p:grpSpPr bwMode="auto">
          <a:xfrm>
            <a:off x="7092041" y="4958233"/>
            <a:ext cx="1008351" cy="1082675"/>
            <a:chOff x="6876256" y="5318683"/>
            <a:chExt cx="1008112" cy="1081681"/>
          </a:xfrm>
        </p:grpSpPr>
        <p:sp>
          <p:nvSpPr>
            <p:cNvPr id="51" name="Text Box 32"/>
            <p:cNvSpPr txBox="1">
              <a:spLocks noChangeArrowheads="1"/>
            </p:cNvSpPr>
            <p:nvPr/>
          </p:nvSpPr>
          <p:spPr bwMode="auto">
            <a:xfrm>
              <a:off x="7298501" y="5318683"/>
              <a:ext cx="303273" cy="3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sym typeface="Symbol" pitchFamily="18" charset="2"/>
                </a:rPr>
                <a:t></a:t>
              </a:r>
              <a:endParaRPr lang="pt-BR" altLang="pt-BR" sz="1600" i="1">
                <a:latin typeface="Times New Roman" charset="0"/>
              </a:endParaRPr>
            </a:p>
          </p:txBody>
        </p:sp>
        <p:sp>
          <p:nvSpPr>
            <p:cNvPr id="52" name="Arco 51"/>
            <p:cNvSpPr/>
            <p:nvPr/>
          </p:nvSpPr>
          <p:spPr>
            <a:xfrm>
              <a:off x="6876544" y="5509008"/>
              <a:ext cx="1007824" cy="891356"/>
            </a:xfrm>
            <a:prstGeom prst="arc">
              <a:avLst>
                <a:gd name="adj1" fmla="val 11086426"/>
                <a:gd name="adj2" fmla="val 16050368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743450" y="2895600"/>
            <a:ext cx="4000500" cy="2643188"/>
            <a:chOff x="2988" y="1824"/>
            <a:chExt cx="2520" cy="1665"/>
          </a:xfrm>
        </p:grpSpPr>
        <p:grpSp>
          <p:nvGrpSpPr>
            <p:cNvPr id="6160" name="Group 3"/>
            <p:cNvGrpSpPr>
              <a:grpSpLocks/>
            </p:cNvGrpSpPr>
            <p:nvPr/>
          </p:nvGrpSpPr>
          <p:grpSpPr bwMode="auto">
            <a:xfrm>
              <a:off x="2988" y="1872"/>
              <a:ext cx="2520" cy="1617"/>
              <a:chOff x="2988" y="1872"/>
              <a:chExt cx="2520" cy="1617"/>
            </a:xfrm>
          </p:grpSpPr>
          <p:pic>
            <p:nvPicPr>
              <p:cNvPr id="616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64" name="Text Box 5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-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6165" name="Text Box 6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+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6166" name="Text Box 7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6167" name="Line 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161" name="Line 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6162" name="Object 1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57002" imgH="203112" progId="Equation.DSMT4">
                    <p:embed/>
                  </p:oleObj>
                </mc:Choice>
                <mc:Fallback>
                  <p:oleObj name="Equation" r:id="rId3" imgW="457002" imgH="203112" progId="Equation.DSMT4">
                    <p:embed/>
                    <p:pic>
                      <p:nvPicPr>
                        <p:cNvPr id="616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p:graphicFrame>
        <p:nvGraphicFramePr>
          <p:cNvPr id="114701" name="Object 13"/>
          <p:cNvGraphicFramePr>
            <a:graphicFrameLocks noChangeAspect="1"/>
          </p:cNvGraphicFramePr>
          <p:nvPr/>
        </p:nvGraphicFramePr>
        <p:xfrm>
          <a:off x="900113" y="2824163"/>
          <a:ext cx="9445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113" imgH="622030" progId="Equation.DSMT4">
                  <p:embed/>
                </p:oleObj>
              </mc:Choice>
              <mc:Fallback>
                <p:oleObj name="Equation" r:id="rId5" imgW="660113" imgH="622030" progId="Equation.DSMT4">
                  <p:embed/>
                  <p:pic>
                    <p:nvPicPr>
                      <p:cNvPr id="1147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24163"/>
                        <a:ext cx="9445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1704975" y="2955925"/>
            <a:ext cx="2400300" cy="336550"/>
            <a:chOff x="1104" y="1517"/>
            <a:chExt cx="1512" cy="212"/>
          </a:xfrm>
        </p:grpSpPr>
        <p:graphicFrame>
          <p:nvGraphicFramePr>
            <p:cNvPr id="6158" name="Object 15"/>
            <p:cNvGraphicFramePr>
              <a:graphicFrameLocks noChangeAspect="1"/>
            </p:cNvGraphicFramePr>
            <p:nvPr/>
          </p:nvGraphicFramePr>
          <p:xfrm>
            <a:off x="1104" y="1536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57002" imgH="203112" progId="Equation.DSMT4">
                    <p:embed/>
                  </p:oleObj>
                </mc:Choice>
                <mc:Fallback>
                  <p:oleObj name="Equation" r:id="rId7" imgW="457002" imgH="203112" progId="Equation.DSMT4">
                    <p:embed/>
                    <p:pic>
                      <p:nvPicPr>
                        <p:cNvPr id="615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536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9" name="Text Box 16"/>
            <p:cNvSpPr txBox="1">
              <a:spLocks noChangeArrowheads="1"/>
            </p:cNvSpPr>
            <p:nvPr/>
          </p:nvSpPr>
          <p:spPr bwMode="auto">
            <a:xfrm>
              <a:off x="1534" y="1517"/>
              <a:ext cx="10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(Normal Padrão)</a:t>
              </a:r>
            </a:p>
          </p:txBody>
        </p:sp>
      </p:grpSp>
      <p:graphicFrame>
        <p:nvGraphicFramePr>
          <p:cNvPr id="6150" name="Object 39"/>
          <p:cNvGraphicFramePr>
            <a:graphicFrameLocks noChangeAspect="1"/>
          </p:cNvGraphicFramePr>
          <p:nvPr/>
        </p:nvGraphicFramePr>
        <p:xfrm>
          <a:off x="838200" y="1506538"/>
          <a:ext cx="11795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28600" progId="Equation.DSMT4">
                  <p:embed/>
                </p:oleObj>
              </mc:Choice>
              <mc:Fallback>
                <p:oleObj name="Equation" r:id="rId8" imgW="825500" imgH="228600" progId="Equation.DSMT4">
                  <p:embed/>
                  <p:pic>
                    <p:nvPicPr>
                      <p:cNvPr id="615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06538"/>
                        <a:ext cx="117951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41"/>
          <p:cNvSpPr txBox="1">
            <a:spLocks noChangeArrowheads="1"/>
          </p:cNvSpPr>
          <p:nvPr/>
        </p:nvSpPr>
        <p:spPr bwMode="auto">
          <a:xfrm>
            <a:off x="2368550" y="1501775"/>
            <a:ext cx="59642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desconhecida,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desconhecido, mas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conhecido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6152" name="Object 42"/>
          <p:cNvGraphicFramePr>
            <a:graphicFrameLocks noChangeAspect="1"/>
          </p:cNvGraphicFramePr>
          <p:nvPr/>
        </p:nvGraphicFramePr>
        <p:xfrm>
          <a:off x="838200" y="2085975"/>
          <a:ext cx="132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100" imgH="419100" progId="Equation.DSMT4">
                  <p:embed/>
                </p:oleObj>
              </mc:Choice>
              <mc:Fallback>
                <p:oleObj name="Equation" r:id="rId10" imgW="927100" imgH="419100" progId="Equation.DSMT4">
                  <p:embed/>
                  <p:pic>
                    <p:nvPicPr>
                      <p:cNvPr id="615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85975"/>
                        <a:ext cx="1323975" cy="596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45"/>
          <p:cNvGrpSpPr>
            <a:grpSpLocks/>
          </p:cNvGrpSpPr>
          <p:nvPr/>
        </p:nvGrpSpPr>
        <p:grpSpPr bwMode="auto">
          <a:xfrm>
            <a:off x="5532439" y="5540379"/>
            <a:ext cx="2328907" cy="513137"/>
            <a:chOff x="5543226" y="5540241"/>
            <a:chExt cx="2329240" cy="513703"/>
          </a:xfrm>
        </p:grpSpPr>
        <p:sp>
          <p:nvSpPr>
            <p:cNvPr id="44" name="Chave esquerda 43"/>
            <p:cNvSpPr/>
            <p:nvPr/>
          </p:nvSpPr>
          <p:spPr>
            <a:xfrm rot="16200000">
              <a:off x="6677573" y="5291846"/>
              <a:ext cx="174818" cy="671608"/>
            </a:xfrm>
            <a:prstGeom prst="lef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57" name="CaixaDeTexto 44"/>
            <p:cNvSpPr txBox="1">
              <a:spLocks noChangeArrowheads="1"/>
            </p:cNvSpPr>
            <p:nvPr/>
          </p:nvSpPr>
          <p:spPr bwMode="auto">
            <a:xfrm>
              <a:off x="5543226" y="5715016"/>
              <a:ext cx="2329240" cy="3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valores mais frequentes</a:t>
              </a:r>
            </a:p>
          </p:txBody>
        </p:sp>
      </p:grpSp>
      <p:sp>
        <p:nvSpPr>
          <p:cNvPr id="6154" name="Text Box 41"/>
          <p:cNvSpPr txBox="1">
            <a:spLocks noChangeArrowheads="1"/>
          </p:cNvSpPr>
          <p:nvPr/>
        </p:nvSpPr>
        <p:spPr bwMode="auto">
          <a:xfrm>
            <a:off x="2357438" y="2214563"/>
            <a:ext cx="48472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tiver distribuição normal ou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for grande (TLC)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63EDFD-9ECD-4AE7-B8DE-3807E5FA2F4F}" type="slidenum">
              <a:rPr lang="pt-BR"/>
              <a:pPr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42"/>
          <p:cNvGraphicFramePr>
            <a:graphicFrameLocks noChangeAspect="1"/>
          </p:cNvGraphicFramePr>
          <p:nvPr/>
        </p:nvGraphicFramePr>
        <p:xfrm>
          <a:off x="838200" y="2085975"/>
          <a:ext cx="132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419100" progId="Equation.DSMT4">
                  <p:embed/>
                </p:oleObj>
              </mc:Choice>
              <mc:Fallback>
                <p:oleObj name="Equation" r:id="rId2" imgW="927100" imgH="419100" progId="Equation.DSMT4">
                  <p:embed/>
                  <p:pic>
                    <p:nvPicPr>
                      <p:cNvPr id="717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85975"/>
                        <a:ext cx="1323975" cy="596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1" name="Group 2"/>
          <p:cNvGrpSpPr>
            <a:grpSpLocks/>
          </p:cNvGrpSpPr>
          <p:nvPr/>
        </p:nvGrpSpPr>
        <p:grpSpPr bwMode="auto">
          <a:xfrm>
            <a:off x="4743450" y="2895600"/>
            <a:ext cx="4000500" cy="2643188"/>
            <a:chOff x="2988" y="1824"/>
            <a:chExt cx="2520" cy="1665"/>
          </a:xfrm>
        </p:grpSpPr>
        <p:grpSp>
          <p:nvGrpSpPr>
            <p:cNvPr id="7205" name="Group 3"/>
            <p:cNvGrpSpPr>
              <a:grpSpLocks/>
            </p:cNvGrpSpPr>
            <p:nvPr/>
          </p:nvGrpSpPr>
          <p:grpSpPr bwMode="auto">
            <a:xfrm>
              <a:off x="2988" y="1872"/>
              <a:ext cx="2520" cy="1617"/>
              <a:chOff x="2988" y="1872"/>
              <a:chExt cx="2520" cy="1617"/>
            </a:xfrm>
          </p:grpSpPr>
          <p:pic>
            <p:nvPicPr>
              <p:cNvPr id="7208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09" name="Text Box 5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-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7210" name="Text Box 6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+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7211" name="Text Box 7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7212" name="Line 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7206" name="Line 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7207" name="Object 1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57002" imgH="203112" progId="Equation.DSMT4">
                    <p:embed/>
                  </p:oleObj>
                </mc:Choice>
                <mc:Fallback>
                  <p:oleObj name="Equation" r:id="rId5" imgW="457002" imgH="203112" progId="Equation.DSMT4">
                    <p:embed/>
                    <p:pic>
                      <p:nvPicPr>
                        <p:cNvPr id="720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p:graphicFrame>
        <p:nvGraphicFramePr>
          <p:cNvPr id="7173" name="Object 13"/>
          <p:cNvGraphicFramePr>
            <a:graphicFrameLocks noChangeAspect="1"/>
          </p:cNvGraphicFramePr>
          <p:nvPr/>
        </p:nvGraphicFramePr>
        <p:xfrm>
          <a:off x="900113" y="2824163"/>
          <a:ext cx="9445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113" imgH="622030" progId="Equation.DSMT4">
                  <p:embed/>
                </p:oleObj>
              </mc:Choice>
              <mc:Fallback>
                <p:oleObj name="Equation" r:id="rId7" imgW="660113" imgH="622030" progId="Equation.DSMT4">
                  <p:embed/>
                  <p:pic>
                    <p:nvPicPr>
                      <p:cNvPr id="71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24163"/>
                        <a:ext cx="9445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4" name="Group 14"/>
          <p:cNvGrpSpPr>
            <a:grpSpLocks/>
          </p:cNvGrpSpPr>
          <p:nvPr/>
        </p:nvGrpSpPr>
        <p:grpSpPr bwMode="auto">
          <a:xfrm>
            <a:off x="1704975" y="2930525"/>
            <a:ext cx="2400300" cy="344488"/>
            <a:chOff x="1104" y="1501"/>
            <a:chExt cx="1512" cy="217"/>
          </a:xfrm>
        </p:grpSpPr>
        <p:graphicFrame>
          <p:nvGraphicFramePr>
            <p:cNvPr id="7203" name="Object 15"/>
            <p:cNvGraphicFramePr>
              <a:graphicFrameLocks noChangeAspect="1"/>
            </p:cNvGraphicFramePr>
            <p:nvPr/>
          </p:nvGraphicFramePr>
          <p:xfrm>
            <a:off x="1104" y="1536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57002" imgH="203112" progId="Equation.DSMT4">
                    <p:embed/>
                  </p:oleObj>
                </mc:Choice>
                <mc:Fallback>
                  <p:oleObj name="Equation" r:id="rId9" imgW="457002" imgH="203112" progId="Equation.DSMT4">
                    <p:embed/>
                    <p:pic>
                      <p:nvPicPr>
                        <p:cNvPr id="720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536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4" name="Text Box 16"/>
            <p:cNvSpPr txBox="1">
              <a:spLocks noChangeArrowheads="1"/>
            </p:cNvSpPr>
            <p:nvPr/>
          </p:nvSpPr>
          <p:spPr bwMode="auto">
            <a:xfrm>
              <a:off x="1534" y="1501"/>
              <a:ext cx="10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(Normal Padrão)</a:t>
              </a:r>
            </a:p>
          </p:txBody>
        </p:sp>
      </p:grpSp>
      <p:sp>
        <p:nvSpPr>
          <p:cNvPr id="7175" name="Freeform 17"/>
          <p:cNvSpPr>
            <a:spLocks/>
          </p:cNvSpPr>
          <p:nvPr/>
        </p:nvSpPr>
        <p:spPr bwMode="auto">
          <a:xfrm>
            <a:off x="6169025" y="3041650"/>
            <a:ext cx="1184275" cy="2073275"/>
          </a:xfrm>
          <a:custGeom>
            <a:avLst/>
            <a:gdLst>
              <a:gd name="T0" fmla="*/ 0 w 440"/>
              <a:gd name="T1" fmla="*/ 2147483647 h 771"/>
              <a:gd name="T2" fmla="*/ 2147483647 w 440"/>
              <a:gd name="T3" fmla="*/ 2147483647 h 771"/>
              <a:gd name="T4" fmla="*/ 2147483647 w 440"/>
              <a:gd name="T5" fmla="*/ 2147483647 h 771"/>
              <a:gd name="T6" fmla="*/ 2147483647 w 440"/>
              <a:gd name="T7" fmla="*/ 2147483647 h 771"/>
              <a:gd name="T8" fmla="*/ 2147483647 w 440"/>
              <a:gd name="T9" fmla="*/ 2147483647 h 771"/>
              <a:gd name="T10" fmla="*/ 2147483647 w 440"/>
              <a:gd name="T11" fmla="*/ 2147483647 h 771"/>
              <a:gd name="T12" fmla="*/ 2147483647 w 440"/>
              <a:gd name="T13" fmla="*/ 2147483647 h 771"/>
              <a:gd name="T14" fmla="*/ 2147483647 w 440"/>
              <a:gd name="T15" fmla="*/ 2147483647 h 771"/>
              <a:gd name="T16" fmla="*/ 2147483647 w 440"/>
              <a:gd name="T17" fmla="*/ 2147483647 h 771"/>
              <a:gd name="T18" fmla="*/ 2147483647 w 440"/>
              <a:gd name="T19" fmla="*/ 2147483647 h 771"/>
              <a:gd name="T20" fmla="*/ 2147483647 w 440"/>
              <a:gd name="T21" fmla="*/ 0 h 771"/>
              <a:gd name="T22" fmla="*/ 2147483647 w 440"/>
              <a:gd name="T23" fmla="*/ 0 h 771"/>
              <a:gd name="T24" fmla="*/ 2147483647 w 440"/>
              <a:gd name="T25" fmla="*/ 2147483647 h 771"/>
              <a:gd name="T26" fmla="*/ 2147483647 w 440"/>
              <a:gd name="T27" fmla="*/ 2147483647 h 771"/>
              <a:gd name="T28" fmla="*/ 2147483647 w 440"/>
              <a:gd name="T29" fmla="*/ 2147483647 h 771"/>
              <a:gd name="T30" fmla="*/ 2147483647 w 440"/>
              <a:gd name="T31" fmla="*/ 2147483647 h 771"/>
              <a:gd name="T32" fmla="*/ 2147483647 w 440"/>
              <a:gd name="T33" fmla="*/ 2147483647 h 771"/>
              <a:gd name="T34" fmla="*/ 2147483647 w 440"/>
              <a:gd name="T35" fmla="*/ 2147483647 h 771"/>
              <a:gd name="T36" fmla="*/ 2147483647 w 440"/>
              <a:gd name="T37" fmla="*/ 2147483647 h 771"/>
              <a:gd name="T38" fmla="*/ 2147483647 w 440"/>
              <a:gd name="T39" fmla="*/ 2147483647 h 771"/>
              <a:gd name="T40" fmla="*/ 2147483647 w 440"/>
              <a:gd name="T41" fmla="*/ 2147483647 h 771"/>
              <a:gd name="T42" fmla="*/ 2147483647 w 440"/>
              <a:gd name="T43" fmla="*/ 2147483647 h 771"/>
              <a:gd name="T44" fmla="*/ 2147483647 w 440"/>
              <a:gd name="T45" fmla="*/ 2147483647 h 771"/>
              <a:gd name="T46" fmla="*/ 0 w 440"/>
              <a:gd name="T47" fmla="*/ 2147483647 h 771"/>
              <a:gd name="T48" fmla="*/ 0 w 440"/>
              <a:gd name="T49" fmla="*/ 2147483647 h 77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440"/>
              <a:gd name="T76" fmla="*/ 0 h 771"/>
              <a:gd name="T77" fmla="*/ 440 w 440"/>
              <a:gd name="T78" fmla="*/ 771 h 771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440" h="771">
                <a:moveTo>
                  <a:pt x="0" y="406"/>
                </a:moveTo>
                <a:lnTo>
                  <a:pt x="22" y="353"/>
                </a:lnTo>
                <a:lnTo>
                  <a:pt x="41" y="298"/>
                </a:lnTo>
                <a:lnTo>
                  <a:pt x="63" y="240"/>
                </a:lnTo>
                <a:lnTo>
                  <a:pt x="89" y="180"/>
                </a:lnTo>
                <a:lnTo>
                  <a:pt x="111" y="130"/>
                </a:lnTo>
                <a:lnTo>
                  <a:pt x="132" y="82"/>
                </a:lnTo>
                <a:lnTo>
                  <a:pt x="156" y="44"/>
                </a:lnTo>
                <a:lnTo>
                  <a:pt x="176" y="20"/>
                </a:lnTo>
                <a:lnTo>
                  <a:pt x="200" y="3"/>
                </a:lnTo>
                <a:lnTo>
                  <a:pt x="216" y="0"/>
                </a:lnTo>
                <a:lnTo>
                  <a:pt x="236" y="0"/>
                </a:lnTo>
                <a:lnTo>
                  <a:pt x="252" y="12"/>
                </a:lnTo>
                <a:lnTo>
                  <a:pt x="276" y="34"/>
                </a:lnTo>
                <a:lnTo>
                  <a:pt x="303" y="72"/>
                </a:lnTo>
                <a:lnTo>
                  <a:pt x="324" y="123"/>
                </a:lnTo>
                <a:lnTo>
                  <a:pt x="346" y="173"/>
                </a:lnTo>
                <a:lnTo>
                  <a:pt x="375" y="243"/>
                </a:lnTo>
                <a:lnTo>
                  <a:pt x="396" y="298"/>
                </a:lnTo>
                <a:lnTo>
                  <a:pt x="420" y="348"/>
                </a:lnTo>
                <a:lnTo>
                  <a:pt x="432" y="382"/>
                </a:lnTo>
                <a:lnTo>
                  <a:pt x="440" y="404"/>
                </a:lnTo>
                <a:lnTo>
                  <a:pt x="440" y="771"/>
                </a:lnTo>
                <a:lnTo>
                  <a:pt x="0" y="771"/>
                </a:lnTo>
                <a:lnTo>
                  <a:pt x="0" y="406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4706" name="Text Box 18"/>
          <p:cNvSpPr txBox="1">
            <a:spLocks noChangeArrowheads="1"/>
          </p:cNvSpPr>
          <p:nvPr/>
        </p:nvSpPr>
        <p:spPr bwMode="auto">
          <a:xfrm>
            <a:off x="7189788" y="5037138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z</a:t>
            </a:r>
          </a:p>
        </p:txBody>
      </p:sp>
      <p:sp>
        <p:nvSpPr>
          <p:cNvPr id="114707" name="Text Box 19"/>
          <p:cNvSpPr txBox="1">
            <a:spLocks noChangeArrowheads="1"/>
          </p:cNvSpPr>
          <p:nvPr/>
        </p:nvSpPr>
        <p:spPr bwMode="auto">
          <a:xfrm>
            <a:off x="5962650" y="5037138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-z</a:t>
            </a:r>
          </a:p>
        </p:txBody>
      </p:sp>
      <p:graphicFrame>
        <p:nvGraphicFramePr>
          <p:cNvPr id="114708" name="Object 20"/>
          <p:cNvGraphicFramePr>
            <a:graphicFrameLocks noChangeAspect="1"/>
          </p:cNvGraphicFramePr>
          <p:nvPr/>
        </p:nvGraphicFramePr>
        <p:xfrm>
          <a:off x="5334000" y="5715000"/>
          <a:ext cx="13065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03200" progId="Equation.DSMT4">
                  <p:embed/>
                </p:oleObj>
              </mc:Choice>
              <mc:Fallback>
                <p:oleObj name="Equation" r:id="rId10" imgW="914400" imgH="203200" progId="Equation.DSMT4">
                  <p:embed/>
                  <p:pic>
                    <p:nvPicPr>
                      <p:cNvPr id="11470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15000"/>
                        <a:ext cx="1306513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620000" y="4130675"/>
            <a:ext cx="611188" cy="746125"/>
            <a:chOff x="4800" y="2602"/>
            <a:chExt cx="385" cy="470"/>
          </a:xfrm>
        </p:grpSpPr>
        <p:sp>
          <p:nvSpPr>
            <p:cNvPr id="7201" name="Line 22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7202" name="Object 23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646" imgH="393359" progId="Equation.DSMT4">
                    <p:embed/>
                  </p:oleObj>
                </mc:Choice>
                <mc:Fallback>
                  <p:oleObj name="Equation" r:id="rId12" imgW="177646" imgH="393359" progId="Equation.DSMT4">
                    <p:embed/>
                    <p:pic>
                      <p:nvPicPr>
                        <p:cNvPr id="720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386388" y="4114800"/>
            <a:ext cx="557212" cy="746125"/>
            <a:chOff x="2769" y="2544"/>
            <a:chExt cx="351" cy="470"/>
          </a:xfrm>
        </p:grpSpPr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7200" name="Object 26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646" imgH="393359" progId="Equation.DSMT4">
                    <p:embed/>
                  </p:oleObj>
                </mc:Choice>
                <mc:Fallback>
                  <p:oleObj name="Equation" r:id="rId14" imgW="177646" imgH="393359" progId="Equation.DSMT4">
                    <p:embed/>
                    <p:pic>
                      <p:nvPicPr>
                        <p:cNvPr id="720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15" name="Object 27"/>
          <p:cNvGraphicFramePr>
            <a:graphicFrameLocks noChangeAspect="1"/>
          </p:cNvGraphicFramePr>
          <p:nvPr/>
        </p:nvGraphicFramePr>
        <p:xfrm>
          <a:off x="6526213" y="4264025"/>
          <a:ext cx="4905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603" imgH="177646" progId="Equation.DSMT4">
                  <p:embed/>
                </p:oleObj>
              </mc:Choice>
              <mc:Fallback>
                <p:oleObj name="Equation" r:id="rId16" imgW="342603" imgH="177646" progId="Equation.DSMT4">
                  <p:embed/>
                  <p:pic>
                    <p:nvPicPr>
                      <p:cNvPr id="1147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4264025"/>
                        <a:ext cx="49053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6" name="Object 28"/>
          <p:cNvGraphicFramePr>
            <a:graphicFrameLocks noChangeAspect="1"/>
          </p:cNvGraphicFramePr>
          <p:nvPr/>
        </p:nvGraphicFramePr>
        <p:xfrm>
          <a:off x="5334000" y="6096000"/>
          <a:ext cx="19256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46200" imgH="203200" progId="Equation.DSMT4">
                  <p:embed/>
                </p:oleObj>
              </mc:Choice>
              <mc:Fallback>
                <p:oleObj name="Equation" r:id="rId18" imgW="1346200" imgH="203200" progId="Equation.DSMT4">
                  <p:embed/>
                  <p:pic>
                    <p:nvPicPr>
                      <p:cNvPr id="11471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6096000"/>
                        <a:ext cx="192563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7" name="Object 29"/>
          <p:cNvGraphicFramePr>
            <a:graphicFrameLocks noChangeAspect="1"/>
          </p:cNvGraphicFramePr>
          <p:nvPr/>
        </p:nvGraphicFramePr>
        <p:xfrm>
          <a:off x="838200" y="3824288"/>
          <a:ext cx="23590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51000" imgH="609600" progId="Equation.DSMT4">
                  <p:embed/>
                </p:oleObj>
              </mc:Choice>
              <mc:Fallback>
                <p:oleObj name="Equation" r:id="rId20" imgW="1651000" imgH="609600" progId="Equation.DSMT4">
                  <p:embed/>
                  <p:pic>
                    <p:nvPicPr>
                      <p:cNvPr id="11471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24288"/>
                        <a:ext cx="23590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8" name="Object 30"/>
          <p:cNvGraphicFramePr>
            <a:graphicFrameLocks noChangeAspect="1"/>
          </p:cNvGraphicFramePr>
          <p:nvPr/>
        </p:nvGraphicFramePr>
        <p:xfrm>
          <a:off x="855663" y="4738688"/>
          <a:ext cx="295751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70100" imgH="419100" progId="Equation.DSMT4">
                  <p:embed/>
                </p:oleObj>
              </mc:Choice>
              <mc:Fallback>
                <p:oleObj name="Equation" r:id="rId22" imgW="2070100" imgH="419100" progId="Equation.DSMT4">
                  <p:embed/>
                  <p:pic>
                    <p:nvPicPr>
                      <p:cNvPr id="11471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4738688"/>
                        <a:ext cx="2957512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9" name="Object 31"/>
          <p:cNvGraphicFramePr>
            <a:graphicFrameLocks noChangeAspect="1"/>
          </p:cNvGraphicFramePr>
          <p:nvPr/>
        </p:nvGraphicFramePr>
        <p:xfrm>
          <a:off x="865188" y="5424488"/>
          <a:ext cx="321151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47900" imgH="419100" progId="Equation.DSMT4">
                  <p:embed/>
                </p:oleObj>
              </mc:Choice>
              <mc:Fallback>
                <p:oleObj name="Equation" r:id="rId24" imgW="2247900" imgH="419100" progId="Equation.DSMT4">
                  <p:embed/>
                  <p:pic>
                    <p:nvPicPr>
                      <p:cNvPr id="11471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5424488"/>
                        <a:ext cx="3211512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20" name="Rectangle 32"/>
          <p:cNvSpPr>
            <a:spLocks noChangeArrowheads="1"/>
          </p:cNvSpPr>
          <p:nvPr/>
        </p:nvSpPr>
        <p:spPr bwMode="auto">
          <a:xfrm>
            <a:off x="685800" y="5348288"/>
            <a:ext cx="3657600" cy="762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14721" name="Text Box 33"/>
          <p:cNvSpPr txBox="1">
            <a:spLocks noChangeArrowheads="1"/>
          </p:cNvSpPr>
          <p:nvPr/>
        </p:nvSpPr>
        <p:spPr bwMode="auto">
          <a:xfrm>
            <a:off x="1752600" y="6186488"/>
            <a:ext cx="1182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IC para </a:t>
            </a:r>
            <a:r>
              <a:rPr lang="pt-BR" altLang="pt-BR" sz="1800" i="1" dirty="0">
                <a:solidFill>
                  <a:srgbClr val="FF3300"/>
                </a:solidFill>
                <a:latin typeface="Symbol" pitchFamily="18" charset="2"/>
              </a:rPr>
              <a:t>m</a:t>
            </a:r>
          </a:p>
        </p:txBody>
      </p:sp>
      <p:sp>
        <p:nvSpPr>
          <p:cNvPr id="114725" name="Text Box 37"/>
          <p:cNvSpPr txBox="1">
            <a:spLocks noChangeArrowheads="1"/>
          </p:cNvSpPr>
          <p:nvPr/>
        </p:nvSpPr>
        <p:spPr bwMode="auto">
          <a:xfrm>
            <a:off x="6629400" y="5683250"/>
            <a:ext cx="20381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nível de significância</a:t>
            </a:r>
          </a:p>
        </p:txBody>
      </p:sp>
      <p:sp>
        <p:nvSpPr>
          <p:cNvPr id="114726" name="Text Box 38"/>
          <p:cNvSpPr txBox="1">
            <a:spLocks noChangeArrowheads="1"/>
          </p:cNvSpPr>
          <p:nvPr/>
        </p:nvSpPr>
        <p:spPr bwMode="auto">
          <a:xfrm>
            <a:off x="7237413" y="6056313"/>
            <a:ext cx="1862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nível de confiança</a:t>
            </a:r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517525" y="2633663"/>
            <a:ext cx="5745163" cy="3486150"/>
            <a:chOff x="326" y="1659"/>
            <a:chExt cx="3619" cy="2196"/>
          </a:xfrm>
        </p:grpSpPr>
        <p:grpSp>
          <p:nvGrpSpPr>
            <p:cNvPr id="7195" name="Group 34"/>
            <p:cNvGrpSpPr>
              <a:grpSpLocks/>
            </p:cNvGrpSpPr>
            <p:nvPr/>
          </p:nvGrpSpPr>
          <p:grpSpPr bwMode="auto">
            <a:xfrm>
              <a:off x="326" y="1659"/>
              <a:ext cx="710" cy="761"/>
              <a:chOff x="326" y="1314"/>
              <a:chExt cx="710" cy="761"/>
            </a:xfrm>
          </p:grpSpPr>
          <p:sp>
            <p:nvSpPr>
              <p:cNvPr id="7197" name="Oval 35"/>
              <p:cNvSpPr>
                <a:spLocks noChangeArrowheads="1"/>
              </p:cNvSpPr>
              <p:nvPr/>
            </p:nvSpPr>
            <p:spPr bwMode="auto">
              <a:xfrm>
                <a:off x="460" y="1314"/>
                <a:ext cx="576" cy="720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198" name="Text Box 36"/>
              <p:cNvSpPr txBox="1">
                <a:spLocks noChangeArrowheads="1"/>
              </p:cNvSpPr>
              <p:nvPr/>
            </p:nvSpPr>
            <p:spPr bwMode="auto">
              <a:xfrm>
                <a:off x="326" y="186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solidFill>
                      <a:srgbClr val="FF3300"/>
                    </a:solidFill>
                    <a:latin typeface="Times New Roman" charset="0"/>
                  </a:rPr>
                  <a:t>Z</a:t>
                </a:r>
              </a:p>
            </p:txBody>
          </p:sp>
        </p:grpSp>
        <p:sp>
          <p:nvSpPr>
            <p:cNvPr id="7196" name="Freeform 45"/>
            <p:cNvSpPr>
              <a:spLocks/>
            </p:cNvSpPr>
            <p:nvPr/>
          </p:nvSpPr>
          <p:spPr bwMode="auto">
            <a:xfrm>
              <a:off x="1020" y="2296"/>
              <a:ext cx="2925" cy="1559"/>
            </a:xfrm>
            <a:custGeom>
              <a:avLst/>
              <a:gdLst>
                <a:gd name="T0" fmla="*/ 0 w 2925"/>
                <a:gd name="T1" fmla="*/ 0 h 1559"/>
                <a:gd name="T2" fmla="*/ 954 w 2925"/>
                <a:gd name="T3" fmla="*/ 415 h 1559"/>
                <a:gd name="T4" fmla="*/ 2613 w 2925"/>
                <a:gd name="T5" fmla="*/ 753 h 1559"/>
                <a:gd name="T6" fmla="*/ 2828 w 2925"/>
                <a:gd name="T7" fmla="*/ 1398 h 1559"/>
                <a:gd name="T8" fmla="*/ 2820 w 2925"/>
                <a:gd name="T9" fmla="*/ 1559 h 15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25"/>
                <a:gd name="T16" fmla="*/ 0 h 1559"/>
                <a:gd name="T17" fmla="*/ 2925 w 2925"/>
                <a:gd name="T18" fmla="*/ 1559 h 15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25" h="1559">
                  <a:moveTo>
                    <a:pt x="0" y="0"/>
                  </a:moveTo>
                  <a:cubicBezTo>
                    <a:pt x="159" y="69"/>
                    <a:pt x="518" y="290"/>
                    <a:pt x="954" y="415"/>
                  </a:cubicBezTo>
                  <a:cubicBezTo>
                    <a:pt x="1390" y="540"/>
                    <a:pt x="2301" y="589"/>
                    <a:pt x="2613" y="753"/>
                  </a:cubicBezTo>
                  <a:cubicBezTo>
                    <a:pt x="2925" y="917"/>
                    <a:pt x="2793" y="1264"/>
                    <a:pt x="2828" y="1398"/>
                  </a:cubicBezTo>
                  <a:lnTo>
                    <a:pt x="2820" y="1559"/>
                  </a:lnTo>
                </a:path>
              </a:pathLst>
            </a:cu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191" name="Object 39"/>
          <p:cNvGraphicFramePr>
            <a:graphicFrameLocks noChangeAspect="1"/>
          </p:cNvGraphicFramePr>
          <p:nvPr/>
        </p:nvGraphicFramePr>
        <p:xfrm>
          <a:off x="838200" y="1506538"/>
          <a:ext cx="11795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25500" imgH="228600" progId="Equation.DSMT4">
                  <p:embed/>
                </p:oleObj>
              </mc:Choice>
              <mc:Fallback>
                <p:oleObj name="Equation" r:id="rId26" imgW="825500" imgH="228600" progId="Equation.DSMT4">
                  <p:embed/>
                  <p:pic>
                    <p:nvPicPr>
                      <p:cNvPr id="719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06538"/>
                        <a:ext cx="117951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Text Box 41"/>
          <p:cNvSpPr txBox="1">
            <a:spLocks noChangeArrowheads="1"/>
          </p:cNvSpPr>
          <p:nvPr/>
        </p:nvSpPr>
        <p:spPr bwMode="auto">
          <a:xfrm>
            <a:off x="2368550" y="1501775"/>
            <a:ext cx="59642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desconhecida,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desconhecido, mas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conhecido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7193" name="Text Box 41"/>
          <p:cNvSpPr txBox="1">
            <a:spLocks noChangeArrowheads="1"/>
          </p:cNvSpPr>
          <p:nvPr/>
        </p:nvSpPr>
        <p:spPr bwMode="auto">
          <a:xfrm>
            <a:off x="2357438" y="2214563"/>
            <a:ext cx="48472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tiver distribuição normal ou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for grande (TLC)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C0B3E6-6FE8-4236-83B0-7EA6FC8D3FE0}" type="slidenum">
              <a:rPr lang="pt-BR"/>
              <a:pPr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6" grpId="0" autoUpdateAnimBg="0"/>
      <p:bldP spid="114707" grpId="0" autoUpdateAnimBg="0"/>
      <p:bldP spid="114720" grpId="0" animBg="1"/>
      <p:bldP spid="114721" grpId="0" autoUpdateAnimBg="0"/>
      <p:bldP spid="114725" grpId="0" autoUpdateAnimBg="0"/>
      <p:bldP spid="11472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26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664575" cy="825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Exemplo: 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qualquer tem uma distribuição desconhecida com média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também desconhecida e variância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Retira-se uma amostra de </a:t>
                </a:r>
                <a:r>
                  <a:rPr lang="pt-BR" altLang="pt-BR" sz="1600" dirty="0">
                    <a:latin typeface="Times New Roman" charset="0"/>
                  </a:rPr>
                  <a:t>36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valores e calcula-se a média amostral. Construa um IC de </a:t>
                </a:r>
                <a:r>
                  <a:rPr lang="pt-BR" altLang="pt-BR" sz="1600" dirty="0">
                    <a:latin typeface="Times New Roman" charset="0"/>
                  </a:rPr>
                  <a:t>95%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para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supondo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12,7</a:t>
                </a:r>
              </a:p>
            </p:txBody>
          </p:sp>
        </mc:Choice>
        <mc:Fallback xmlns="">
          <p:sp>
            <p:nvSpPr>
              <p:cNvPr id="822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664575" cy="825500"/>
              </a:xfrm>
              <a:prstGeom prst="rect">
                <a:avLst/>
              </a:prstGeom>
              <a:blipFill>
                <a:blip r:embed="rId2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828675" y="2438400"/>
          <a:ext cx="3213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900" imgH="419100" progId="Equation.DSMT4">
                  <p:embed/>
                </p:oleObj>
              </mc:Choice>
              <mc:Fallback>
                <p:oleObj name="Equation" r:id="rId3" imgW="2247900" imgH="419100" progId="Equation.DSMT4">
                  <p:embed/>
                  <p:pic>
                    <p:nvPicPr>
                      <p:cNvPr id="1157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438400"/>
                        <a:ext cx="32131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876800" y="2438400"/>
            <a:ext cx="4000500" cy="2643188"/>
            <a:chOff x="2988" y="1824"/>
            <a:chExt cx="2520" cy="1665"/>
          </a:xfrm>
        </p:grpSpPr>
        <p:grpSp>
          <p:nvGrpSpPr>
            <p:cNvPr id="8209" name="Group 8"/>
            <p:cNvGrpSpPr>
              <a:grpSpLocks/>
            </p:cNvGrpSpPr>
            <p:nvPr/>
          </p:nvGrpSpPr>
          <p:grpSpPr bwMode="auto">
            <a:xfrm>
              <a:off x="2988" y="1824"/>
              <a:ext cx="2520" cy="1665"/>
              <a:chOff x="2988" y="1824"/>
              <a:chExt cx="2520" cy="1665"/>
            </a:xfrm>
          </p:grpSpPr>
          <p:grpSp>
            <p:nvGrpSpPr>
              <p:cNvPr id="8218" name="Group 9"/>
              <p:cNvGrpSpPr>
                <a:grpSpLocks/>
              </p:cNvGrpSpPr>
              <p:nvPr/>
            </p:nvGrpSpPr>
            <p:grpSpPr bwMode="auto">
              <a:xfrm>
                <a:off x="2988" y="1872"/>
                <a:ext cx="2520" cy="1617"/>
                <a:chOff x="2988" y="1872"/>
                <a:chExt cx="2520" cy="1617"/>
              </a:xfrm>
            </p:grpSpPr>
            <p:pic>
              <p:nvPicPr>
                <p:cNvPr id="8221" name="Picture 10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2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822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822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8225" name="Line 14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8219" name="Line 15"/>
              <p:cNvSpPr>
                <a:spLocks noChangeShapeType="1"/>
              </p:cNvSpPr>
              <p:nvPr/>
            </p:nvSpPr>
            <p:spPr bwMode="auto">
              <a:xfrm flipH="1">
                <a:off x="4512" y="19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8220" name="Object 16"/>
              <p:cNvGraphicFramePr>
                <a:graphicFrameLocks noChangeAspect="1"/>
              </p:cNvGraphicFramePr>
              <p:nvPr/>
            </p:nvGraphicFramePr>
            <p:xfrm>
              <a:off x="4656" y="1824"/>
              <a:ext cx="411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57002" imgH="203112" progId="Equation.DSMT4">
                      <p:embed/>
                    </p:oleObj>
                  </mc:Choice>
                  <mc:Fallback>
                    <p:oleObj name="Equation" r:id="rId6" imgW="457002" imgH="203112" progId="Equation.DSMT4">
                      <p:embed/>
                      <p:pic>
                        <p:nvPicPr>
                          <p:cNvPr id="822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824"/>
                            <a:ext cx="411" cy="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10" name="Freeform 17"/>
            <p:cNvSpPr>
              <a:spLocks/>
            </p:cNvSpPr>
            <p:nvPr/>
          </p:nvSpPr>
          <p:spPr bwMode="auto">
            <a:xfrm>
              <a:off x="3886" y="1916"/>
              <a:ext cx="746" cy="1306"/>
            </a:xfrm>
            <a:custGeom>
              <a:avLst/>
              <a:gdLst>
                <a:gd name="T0" fmla="*/ 0 w 440"/>
                <a:gd name="T1" fmla="*/ 614384451 h 771"/>
                <a:gd name="T2" fmla="*/ 34014962 w 440"/>
                <a:gd name="T3" fmla="*/ 534417666 h 771"/>
                <a:gd name="T4" fmla="*/ 64206596 w 440"/>
                <a:gd name="T5" fmla="*/ 450946936 h 771"/>
                <a:gd name="T6" fmla="*/ 97778257 w 440"/>
                <a:gd name="T7" fmla="*/ 363478463 h 771"/>
                <a:gd name="T8" fmla="*/ 138208417 w 440"/>
                <a:gd name="T9" fmla="*/ 272823781 h 771"/>
                <a:gd name="T10" fmla="*/ 172156422 w 440"/>
                <a:gd name="T11" fmla="*/ 196874523 h 771"/>
                <a:gd name="T12" fmla="*/ 204949340 w 440"/>
                <a:gd name="T13" fmla="*/ 123904385 h 771"/>
                <a:gd name="T14" fmla="*/ 242008356 w 440"/>
                <a:gd name="T15" fmla="*/ 66943553 h 771"/>
                <a:gd name="T16" fmla="*/ 272436889 w 440"/>
                <a:gd name="T17" fmla="*/ 30475183 h 771"/>
                <a:gd name="T18" fmla="*/ 310376438 w 440"/>
                <a:gd name="T19" fmla="*/ 4409615 h 771"/>
                <a:gd name="T20" fmla="*/ 335072899 w 440"/>
                <a:gd name="T21" fmla="*/ 0 h 771"/>
                <a:gd name="T22" fmla="*/ 366089560 w 440"/>
                <a:gd name="T23" fmla="*/ 0 h 771"/>
                <a:gd name="T24" fmla="*/ 390908742 w 440"/>
                <a:gd name="T25" fmla="*/ 17991092 h 771"/>
                <a:gd name="T26" fmla="*/ 427871813 w 440"/>
                <a:gd name="T27" fmla="*/ 51622035 h 771"/>
                <a:gd name="T28" fmla="*/ 470072341 w 440"/>
                <a:gd name="T29" fmla="*/ 109350076 h 771"/>
                <a:gd name="T30" fmla="*/ 502194218 w 440"/>
                <a:gd name="T31" fmla="*/ 185678760 h 771"/>
                <a:gd name="T32" fmla="*/ 536925781 w 440"/>
                <a:gd name="T33" fmla="*/ 261554499 h 771"/>
                <a:gd name="T34" fmla="*/ 581806456 w 440"/>
                <a:gd name="T35" fmla="*/ 368040550 h 771"/>
                <a:gd name="T36" fmla="*/ 614132696 w 440"/>
                <a:gd name="T37" fmla="*/ 450946936 h 771"/>
                <a:gd name="T38" fmla="*/ 651378526 w 440"/>
                <a:gd name="T39" fmla="*/ 526467313 h 771"/>
                <a:gd name="T40" fmla="*/ 669724531 w 440"/>
                <a:gd name="T41" fmla="*/ 578367986 h 771"/>
                <a:gd name="T42" fmla="*/ 682772273 w 440"/>
                <a:gd name="T43" fmla="*/ 611233847 h 771"/>
                <a:gd name="T44" fmla="*/ 682772273 w 440"/>
                <a:gd name="T45" fmla="*/ 1166826532 h 771"/>
                <a:gd name="T46" fmla="*/ 0 w 440"/>
                <a:gd name="T47" fmla="*/ 1166826532 h 771"/>
                <a:gd name="T48" fmla="*/ 0 w 440"/>
                <a:gd name="T49" fmla="*/ 614384451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1" name="Text Box 18"/>
            <p:cNvSpPr txBox="1">
              <a:spLocks noChangeArrowheads="1"/>
            </p:cNvSpPr>
            <p:nvPr/>
          </p:nvSpPr>
          <p:spPr bwMode="auto">
            <a:xfrm>
              <a:off x="4080" y="2640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95%</a:t>
              </a:r>
            </a:p>
          </p:txBody>
        </p:sp>
        <p:sp>
          <p:nvSpPr>
            <p:cNvPr id="8212" name="Text Box 19"/>
            <p:cNvSpPr txBox="1">
              <a:spLocks noChangeArrowheads="1"/>
            </p:cNvSpPr>
            <p:nvPr/>
          </p:nvSpPr>
          <p:spPr bwMode="auto">
            <a:xfrm>
              <a:off x="4529" y="3173"/>
              <a:ext cx="1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z</a:t>
              </a:r>
            </a:p>
          </p:txBody>
        </p:sp>
        <p:sp>
          <p:nvSpPr>
            <p:cNvPr id="8213" name="Text Box 20"/>
            <p:cNvSpPr txBox="1">
              <a:spLocks noChangeArrowheads="1"/>
            </p:cNvSpPr>
            <p:nvPr/>
          </p:nvSpPr>
          <p:spPr bwMode="auto">
            <a:xfrm>
              <a:off x="3756" y="3173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-z</a:t>
              </a:r>
            </a:p>
          </p:txBody>
        </p:sp>
        <p:sp>
          <p:nvSpPr>
            <p:cNvPr id="8214" name="Line 21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5" name="Line 22"/>
            <p:cNvSpPr>
              <a:spLocks noChangeShapeType="1"/>
            </p:cNvSpPr>
            <p:nvPr/>
          </p:nvSpPr>
          <p:spPr bwMode="auto">
            <a:xfrm flipH="1" flipV="1">
              <a:off x="3552" y="282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6" name="Text Box 23"/>
            <p:cNvSpPr txBox="1">
              <a:spLocks noChangeArrowheads="1"/>
            </p:cNvSpPr>
            <p:nvPr/>
          </p:nvSpPr>
          <p:spPr bwMode="auto">
            <a:xfrm>
              <a:off x="4896" y="261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  <p:sp>
          <p:nvSpPr>
            <p:cNvPr id="8217" name="Text Box 24"/>
            <p:cNvSpPr txBox="1">
              <a:spLocks noChangeArrowheads="1"/>
            </p:cNvSpPr>
            <p:nvPr/>
          </p:nvSpPr>
          <p:spPr bwMode="auto">
            <a:xfrm>
              <a:off x="3324" y="261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327900" y="4953000"/>
            <a:ext cx="290513" cy="706438"/>
            <a:chOff x="4616" y="3120"/>
            <a:chExt cx="183" cy="445"/>
          </a:xfrm>
        </p:grpSpPr>
        <p:sp>
          <p:nvSpPr>
            <p:cNvPr id="8207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08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5D6D2-ACDC-42F9-93B5-C5EDAEAF3315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5D6D2-ACDC-42F9-93B5-C5EDAEAF3315}" type="slidenum">
              <a:rPr lang="pt-BR"/>
              <a:pPr>
                <a:defRPr/>
              </a:pPr>
              <a:t>7</a:t>
            </a:fld>
            <a:endParaRPr lang="pt-BR"/>
          </a:p>
        </p:txBody>
      </p:sp>
      <p:pic>
        <p:nvPicPr>
          <p:cNvPr id="29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1989138"/>
            <a:ext cx="4879975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AutoShape 13"/>
          <p:cNvSpPr>
            <a:spLocks noChangeArrowheads="1"/>
          </p:cNvSpPr>
          <p:nvPr/>
        </p:nvSpPr>
        <p:spPr bwMode="auto">
          <a:xfrm>
            <a:off x="3444875" y="482969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3" name="AutoShape 14"/>
          <p:cNvSpPr>
            <a:spLocks noChangeArrowheads="1"/>
          </p:cNvSpPr>
          <p:nvPr/>
        </p:nvSpPr>
        <p:spPr bwMode="auto">
          <a:xfrm rot="5400000">
            <a:off x="6901780" y="15065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6993378" y="4855713"/>
            <a:ext cx="411163" cy="179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35" name="Grupo 2"/>
          <p:cNvGrpSpPr>
            <a:grpSpLocks/>
          </p:cNvGrpSpPr>
          <p:nvPr/>
        </p:nvGrpSpPr>
        <p:grpSpPr bwMode="auto">
          <a:xfrm>
            <a:off x="684213" y="1600200"/>
            <a:ext cx="2698750" cy="1289050"/>
            <a:chOff x="684213" y="1600200"/>
            <a:chExt cx="2698751" cy="1289467"/>
          </a:xfrm>
        </p:grpSpPr>
        <p:pic>
          <p:nvPicPr>
            <p:cNvPr id="36" name="Picture 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771526" y="1600200"/>
              <a:ext cx="2506663" cy="1058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684213" y="2551113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2940051" y="255111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39" name="Text Box 25"/>
            <p:cNvSpPr txBox="1">
              <a:spLocks noChangeArrowheads="1"/>
            </p:cNvSpPr>
            <p:nvPr/>
          </p:nvSpPr>
          <p:spPr bwMode="auto">
            <a:xfrm>
              <a:off x="1900238" y="2551113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0" name="Text Box 26"/>
            <p:cNvSpPr txBox="1">
              <a:spLocks noChangeArrowheads="1"/>
            </p:cNvSpPr>
            <p:nvPr/>
          </p:nvSpPr>
          <p:spPr bwMode="auto">
            <a:xfrm>
              <a:off x="2385369" y="2551113"/>
              <a:ext cx="2648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z</a:t>
              </a:r>
              <a:endParaRPr lang="pt-BR" altLang="pt-BR" sz="1600" i="1" baseline="-25000">
                <a:latin typeface="Times New Roman" pitchFamily="18" charset="0"/>
              </a:endParaRPr>
            </a:p>
          </p:txBody>
        </p:sp>
        <p:sp>
          <p:nvSpPr>
            <p:cNvPr id="41" name="Freeform 16" descr="Diagonal para cima clara"/>
            <p:cNvSpPr>
              <a:spLocks/>
            </p:cNvSpPr>
            <p:nvPr/>
          </p:nvSpPr>
          <p:spPr bwMode="auto">
            <a:xfrm>
              <a:off x="2517775" y="2304854"/>
              <a:ext cx="657225" cy="325224"/>
            </a:xfrm>
            <a:custGeom>
              <a:avLst/>
              <a:gdLst>
                <a:gd name="T0" fmla="*/ 2147483647 w 414"/>
                <a:gd name="T1" fmla="*/ 2147483647 h 368"/>
                <a:gd name="T2" fmla="*/ 0 w 414"/>
                <a:gd name="T3" fmla="*/ 0 h 368"/>
                <a:gd name="T4" fmla="*/ 2147483647 w 414"/>
                <a:gd name="T5" fmla="*/ 2147483647 h 368"/>
                <a:gd name="T6" fmla="*/ 2147483647 w 414"/>
                <a:gd name="T7" fmla="*/ 2147483647 h 368"/>
                <a:gd name="T8" fmla="*/ 2147483647 w 414"/>
                <a:gd name="T9" fmla="*/ 2147483647 h 368"/>
                <a:gd name="T10" fmla="*/ 2147483647 w 414"/>
                <a:gd name="T11" fmla="*/ 2147483647 h 368"/>
                <a:gd name="T12" fmla="*/ 2147483647 w 414"/>
                <a:gd name="T13" fmla="*/ 2147483647 h 368"/>
                <a:gd name="T14" fmla="*/ 2147483647 w 414"/>
                <a:gd name="T15" fmla="*/ 2147483647 h 368"/>
                <a:gd name="T16" fmla="*/ 2147483647 w 414"/>
                <a:gd name="T17" fmla="*/ 2147483647 h 368"/>
                <a:gd name="T18" fmla="*/ 2147483647 w 414"/>
                <a:gd name="T19" fmla="*/ 2147483647 h 368"/>
                <a:gd name="T20" fmla="*/ 2147483647 w 414"/>
                <a:gd name="T21" fmla="*/ 2147483647 h 368"/>
                <a:gd name="T22" fmla="*/ 2147483647 w 414"/>
                <a:gd name="T23" fmla="*/ 2147483647 h 368"/>
                <a:gd name="T24" fmla="*/ 2147483647 w 414"/>
                <a:gd name="T25" fmla="*/ 2147483647 h 368"/>
                <a:gd name="T26" fmla="*/ 2147483647 w 414"/>
                <a:gd name="T27" fmla="*/ 2147483647 h 368"/>
                <a:gd name="T28" fmla="*/ 2147483647 w 414"/>
                <a:gd name="T29" fmla="*/ 2147483647 h 368"/>
                <a:gd name="T30" fmla="*/ 2147483647 w 414"/>
                <a:gd name="T31" fmla="*/ 2147483647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684105"/>
              </p:ext>
            </p:extLst>
          </p:nvPr>
        </p:nvGraphicFramePr>
        <p:xfrm>
          <a:off x="1868340" y="3474114"/>
          <a:ext cx="15636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03040" progId="Equation.DSMT4">
                  <p:embed/>
                </p:oleObj>
              </mc:Choice>
              <mc:Fallback>
                <p:oleObj name="Equation" r:id="rId4" imgW="1091880" imgH="203040" progId="Equation.DSMT4">
                  <p:embed/>
                  <p:pic>
                    <p:nvPicPr>
                      <p:cNvPr id="4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340" y="3474114"/>
                        <a:ext cx="15636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Line 9"/>
          <p:cNvSpPr>
            <a:spLocks noChangeShapeType="1"/>
          </p:cNvSpPr>
          <p:nvPr/>
        </p:nvSpPr>
        <p:spPr bwMode="auto">
          <a:xfrm flipH="1">
            <a:off x="2651650" y="2551113"/>
            <a:ext cx="0" cy="8778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4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599069"/>
              </p:ext>
            </p:extLst>
          </p:nvPr>
        </p:nvGraphicFramePr>
        <p:xfrm>
          <a:off x="1741340" y="3474114"/>
          <a:ext cx="18176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03040" progId="Equation.DSMT4">
                  <p:embed/>
                </p:oleObj>
              </mc:Choice>
              <mc:Fallback>
                <p:oleObj name="Equation" r:id="rId6" imgW="1269720" imgH="203040" progId="Equation.DSMT4">
                  <p:embed/>
                  <p:pic>
                    <p:nvPicPr>
                      <p:cNvPr id="4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340" y="3474114"/>
                        <a:ext cx="1817688" cy="292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00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26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664575" cy="825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Exemplo: 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qualquer tem uma distribuição desconhecida com média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também desconhecida e variância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Retira-se uma amostra de </a:t>
                </a:r>
                <a:r>
                  <a:rPr lang="pt-BR" altLang="pt-BR" sz="1600" dirty="0">
                    <a:latin typeface="Times New Roman" charset="0"/>
                  </a:rPr>
                  <a:t>36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valores e calcula-se a média amostral. Construa um IC de </a:t>
                </a:r>
                <a:r>
                  <a:rPr lang="pt-BR" altLang="pt-BR" sz="1600" dirty="0">
                    <a:latin typeface="Times New Roman" charset="0"/>
                  </a:rPr>
                  <a:t>95%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para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supondo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12,7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22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664575" cy="825500"/>
              </a:xfrm>
              <a:prstGeom prst="rect">
                <a:avLst/>
              </a:prstGeom>
              <a:blipFill>
                <a:blip r:embed="rId2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828675" y="2438400"/>
          <a:ext cx="3213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900" imgH="419100" progId="Equation.DSMT4">
                  <p:embed/>
                </p:oleObj>
              </mc:Choice>
              <mc:Fallback>
                <p:oleObj name="Equation" r:id="rId3" imgW="2247900" imgH="419100" progId="Equation.DSMT4">
                  <p:embed/>
                  <p:pic>
                    <p:nvPicPr>
                      <p:cNvPr id="1157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438400"/>
                        <a:ext cx="32131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876800" y="2438400"/>
            <a:ext cx="4000500" cy="2643188"/>
            <a:chOff x="2988" y="1824"/>
            <a:chExt cx="2520" cy="1665"/>
          </a:xfrm>
        </p:grpSpPr>
        <p:grpSp>
          <p:nvGrpSpPr>
            <p:cNvPr id="8209" name="Group 8"/>
            <p:cNvGrpSpPr>
              <a:grpSpLocks/>
            </p:cNvGrpSpPr>
            <p:nvPr/>
          </p:nvGrpSpPr>
          <p:grpSpPr bwMode="auto">
            <a:xfrm>
              <a:off x="2988" y="1824"/>
              <a:ext cx="2520" cy="1665"/>
              <a:chOff x="2988" y="1824"/>
              <a:chExt cx="2520" cy="1665"/>
            </a:xfrm>
          </p:grpSpPr>
          <p:grpSp>
            <p:nvGrpSpPr>
              <p:cNvPr id="8218" name="Group 9"/>
              <p:cNvGrpSpPr>
                <a:grpSpLocks/>
              </p:cNvGrpSpPr>
              <p:nvPr/>
            </p:nvGrpSpPr>
            <p:grpSpPr bwMode="auto">
              <a:xfrm>
                <a:off x="2988" y="1872"/>
                <a:ext cx="2520" cy="1617"/>
                <a:chOff x="2988" y="1872"/>
                <a:chExt cx="2520" cy="1617"/>
              </a:xfrm>
            </p:grpSpPr>
            <p:pic>
              <p:nvPicPr>
                <p:cNvPr id="8221" name="Picture 10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2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822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822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8225" name="Line 14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8219" name="Line 15"/>
              <p:cNvSpPr>
                <a:spLocks noChangeShapeType="1"/>
              </p:cNvSpPr>
              <p:nvPr/>
            </p:nvSpPr>
            <p:spPr bwMode="auto">
              <a:xfrm flipH="1">
                <a:off x="4512" y="19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8220" name="Object 16"/>
              <p:cNvGraphicFramePr>
                <a:graphicFrameLocks noChangeAspect="1"/>
              </p:cNvGraphicFramePr>
              <p:nvPr/>
            </p:nvGraphicFramePr>
            <p:xfrm>
              <a:off x="4656" y="1824"/>
              <a:ext cx="411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57002" imgH="203112" progId="Equation.DSMT4">
                      <p:embed/>
                    </p:oleObj>
                  </mc:Choice>
                  <mc:Fallback>
                    <p:oleObj name="Equation" r:id="rId6" imgW="457002" imgH="203112" progId="Equation.DSMT4">
                      <p:embed/>
                      <p:pic>
                        <p:nvPicPr>
                          <p:cNvPr id="822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824"/>
                            <a:ext cx="411" cy="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10" name="Freeform 17"/>
            <p:cNvSpPr>
              <a:spLocks/>
            </p:cNvSpPr>
            <p:nvPr/>
          </p:nvSpPr>
          <p:spPr bwMode="auto">
            <a:xfrm>
              <a:off x="3886" y="1916"/>
              <a:ext cx="746" cy="1306"/>
            </a:xfrm>
            <a:custGeom>
              <a:avLst/>
              <a:gdLst>
                <a:gd name="T0" fmla="*/ 0 w 440"/>
                <a:gd name="T1" fmla="*/ 614384451 h 771"/>
                <a:gd name="T2" fmla="*/ 34014962 w 440"/>
                <a:gd name="T3" fmla="*/ 534417666 h 771"/>
                <a:gd name="T4" fmla="*/ 64206596 w 440"/>
                <a:gd name="T5" fmla="*/ 450946936 h 771"/>
                <a:gd name="T6" fmla="*/ 97778257 w 440"/>
                <a:gd name="T7" fmla="*/ 363478463 h 771"/>
                <a:gd name="T8" fmla="*/ 138208417 w 440"/>
                <a:gd name="T9" fmla="*/ 272823781 h 771"/>
                <a:gd name="T10" fmla="*/ 172156422 w 440"/>
                <a:gd name="T11" fmla="*/ 196874523 h 771"/>
                <a:gd name="T12" fmla="*/ 204949340 w 440"/>
                <a:gd name="T13" fmla="*/ 123904385 h 771"/>
                <a:gd name="T14" fmla="*/ 242008356 w 440"/>
                <a:gd name="T15" fmla="*/ 66943553 h 771"/>
                <a:gd name="T16" fmla="*/ 272436889 w 440"/>
                <a:gd name="T17" fmla="*/ 30475183 h 771"/>
                <a:gd name="T18" fmla="*/ 310376438 w 440"/>
                <a:gd name="T19" fmla="*/ 4409615 h 771"/>
                <a:gd name="T20" fmla="*/ 335072899 w 440"/>
                <a:gd name="T21" fmla="*/ 0 h 771"/>
                <a:gd name="T22" fmla="*/ 366089560 w 440"/>
                <a:gd name="T23" fmla="*/ 0 h 771"/>
                <a:gd name="T24" fmla="*/ 390908742 w 440"/>
                <a:gd name="T25" fmla="*/ 17991092 h 771"/>
                <a:gd name="T26" fmla="*/ 427871813 w 440"/>
                <a:gd name="T27" fmla="*/ 51622035 h 771"/>
                <a:gd name="T28" fmla="*/ 470072341 w 440"/>
                <a:gd name="T29" fmla="*/ 109350076 h 771"/>
                <a:gd name="T30" fmla="*/ 502194218 w 440"/>
                <a:gd name="T31" fmla="*/ 185678760 h 771"/>
                <a:gd name="T32" fmla="*/ 536925781 w 440"/>
                <a:gd name="T33" fmla="*/ 261554499 h 771"/>
                <a:gd name="T34" fmla="*/ 581806456 w 440"/>
                <a:gd name="T35" fmla="*/ 368040550 h 771"/>
                <a:gd name="T36" fmla="*/ 614132696 w 440"/>
                <a:gd name="T37" fmla="*/ 450946936 h 771"/>
                <a:gd name="T38" fmla="*/ 651378526 w 440"/>
                <a:gd name="T39" fmla="*/ 526467313 h 771"/>
                <a:gd name="T40" fmla="*/ 669724531 w 440"/>
                <a:gd name="T41" fmla="*/ 578367986 h 771"/>
                <a:gd name="T42" fmla="*/ 682772273 w 440"/>
                <a:gd name="T43" fmla="*/ 611233847 h 771"/>
                <a:gd name="T44" fmla="*/ 682772273 w 440"/>
                <a:gd name="T45" fmla="*/ 1166826532 h 771"/>
                <a:gd name="T46" fmla="*/ 0 w 440"/>
                <a:gd name="T47" fmla="*/ 1166826532 h 771"/>
                <a:gd name="T48" fmla="*/ 0 w 440"/>
                <a:gd name="T49" fmla="*/ 614384451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1" name="Text Box 18"/>
            <p:cNvSpPr txBox="1">
              <a:spLocks noChangeArrowheads="1"/>
            </p:cNvSpPr>
            <p:nvPr/>
          </p:nvSpPr>
          <p:spPr bwMode="auto">
            <a:xfrm>
              <a:off x="4080" y="2640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95%</a:t>
              </a:r>
            </a:p>
          </p:txBody>
        </p:sp>
        <p:sp>
          <p:nvSpPr>
            <p:cNvPr id="8212" name="Text Box 19"/>
            <p:cNvSpPr txBox="1">
              <a:spLocks noChangeArrowheads="1"/>
            </p:cNvSpPr>
            <p:nvPr/>
          </p:nvSpPr>
          <p:spPr bwMode="auto">
            <a:xfrm>
              <a:off x="4529" y="3173"/>
              <a:ext cx="1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z</a:t>
              </a:r>
            </a:p>
          </p:txBody>
        </p:sp>
        <p:sp>
          <p:nvSpPr>
            <p:cNvPr id="8213" name="Text Box 20"/>
            <p:cNvSpPr txBox="1">
              <a:spLocks noChangeArrowheads="1"/>
            </p:cNvSpPr>
            <p:nvPr/>
          </p:nvSpPr>
          <p:spPr bwMode="auto">
            <a:xfrm>
              <a:off x="3756" y="3173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-z</a:t>
              </a:r>
            </a:p>
          </p:txBody>
        </p:sp>
        <p:sp>
          <p:nvSpPr>
            <p:cNvPr id="8214" name="Line 21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5" name="Line 22"/>
            <p:cNvSpPr>
              <a:spLocks noChangeShapeType="1"/>
            </p:cNvSpPr>
            <p:nvPr/>
          </p:nvSpPr>
          <p:spPr bwMode="auto">
            <a:xfrm flipH="1" flipV="1">
              <a:off x="3552" y="282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16" name="Text Box 23"/>
            <p:cNvSpPr txBox="1">
              <a:spLocks noChangeArrowheads="1"/>
            </p:cNvSpPr>
            <p:nvPr/>
          </p:nvSpPr>
          <p:spPr bwMode="auto">
            <a:xfrm>
              <a:off x="4896" y="261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  <p:sp>
          <p:nvSpPr>
            <p:cNvPr id="8217" name="Text Box 24"/>
            <p:cNvSpPr txBox="1">
              <a:spLocks noChangeArrowheads="1"/>
            </p:cNvSpPr>
            <p:nvPr/>
          </p:nvSpPr>
          <p:spPr bwMode="auto">
            <a:xfrm>
              <a:off x="3324" y="261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327900" y="4953000"/>
            <a:ext cx="290513" cy="706438"/>
            <a:chOff x="4616" y="3120"/>
            <a:chExt cx="183" cy="445"/>
          </a:xfrm>
        </p:grpSpPr>
        <p:sp>
          <p:nvSpPr>
            <p:cNvPr id="8207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208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15740" name="Text Box 28"/>
          <p:cNvSpPr txBox="1">
            <a:spLocks noChangeArrowheads="1"/>
          </p:cNvSpPr>
          <p:nvPr/>
        </p:nvSpPr>
        <p:spPr bwMode="auto">
          <a:xfrm>
            <a:off x="7207250" y="5394325"/>
            <a:ext cx="5397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imes New Roman" charset="0"/>
              </a:rPr>
              <a:t>1,96</a:t>
            </a:r>
          </a:p>
        </p:txBody>
      </p:sp>
      <p:graphicFrame>
        <p:nvGraphicFramePr>
          <p:cNvPr id="1157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574435"/>
              </p:ext>
            </p:extLst>
          </p:nvPr>
        </p:nvGraphicFramePr>
        <p:xfrm>
          <a:off x="828675" y="3144838"/>
          <a:ext cx="43021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419040" progId="Equation.DSMT4">
                  <p:embed/>
                </p:oleObj>
              </mc:Choice>
              <mc:Fallback>
                <p:oleObj name="Equation" r:id="rId8" imgW="3009600" imgH="419040" progId="Equation.DSMT4">
                  <p:embed/>
                  <p:pic>
                    <p:nvPicPr>
                      <p:cNvPr id="11574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3144838"/>
                        <a:ext cx="43021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12551"/>
              </p:ext>
            </p:extLst>
          </p:nvPr>
        </p:nvGraphicFramePr>
        <p:xfrm>
          <a:off x="828675" y="3883025"/>
          <a:ext cx="36306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9800" imgH="203040" progId="Equation.DSMT4">
                  <p:embed/>
                </p:oleObj>
              </mc:Choice>
              <mc:Fallback>
                <p:oleObj name="Equation" r:id="rId10" imgW="2539800" imgH="203040" progId="Equation.DSMT4">
                  <p:embed/>
                  <p:pic>
                    <p:nvPicPr>
                      <p:cNvPr id="1157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3883025"/>
                        <a:ext cx="363061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583919"/>
              </p:ext>
            </p:extLst>
          </p:nvPr>
        </p:nvGraphicFramePr>
        <p:xfrm>
          <a:off x="820738" y="4437063"/>
          <a:ext cx="27225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760" imgH="203040" progId="Equation.DSMT4">
                  <p:embed/>
                </p:oleObj>
              </mc:Choice>
              <mc:Fallback>
                <p:oleObj name="Equation" r:id="rId12" imgW="1904760" imgH="203040" progId="Equation.DSMT4">
                  <p:embed/>
                  <p:pic>
                    <p:nvPicPr>
                      <p:cNvPr id="11574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4437063"/>
                        <a:ext cx="2722562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44" name="Rectangle 32"/>
          <p:cNvSpPr>
            <a:spLocks noChangeArrowheads="1"/>
          </p:cNvSpPr>
          <p:nvPr/>
        </p:nvSpPr>
        <p:spPr bwMode="auto">
          <a:xfrm>
            <a:off x="628650" y="4298950"/>
            <a:ext cx="3105150" cy="5334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15745" name="Text Box 33"/>
          <p:cNvSpPr txBox="1">
            <a:spLocks noChangeArrowheads="1"/>
          </p:cNvSpPr>
          <p:nvPr/>
        </p:nvSpPr>
        <p:spPr bwMode="auto">
          <a:xfrm>
            <a:off x="593725" y="5013176"/>
            <a:ext cx="36785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o que significa realmente este IC?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5D6D2-ACDC-42F9-93B5-C5EDAEAF3315}" type="slidenum">
              <a:rPr lang="pt-BR"/>
              <a:pPr>
                <a:defRPr/>
              </a:pPr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69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4" grpId="0" animBg="1"/>
      <p:bldP spid="11574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780617"/>
              </p:ext>
            </p:extLst>
          </p:nvPr>
        </p:nvGraphicFramePr>
        <p:xfrm>
          <a:off x="1052648" y="2234630"/>
          <a:ext cx="3213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419100" progId="Equation.DSMT4">
                  <p:embed/>
                </p:oleObj>
              </mc:Choice>
              <mc:Fallback>
                <p:oleObj name="Equation" r:id="rId2" imgW="2247900" imgH="419100" progId="Equation.DSMT4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648" y="2234630"/>
                        <a:ext cx="32131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Como Interpretar o IC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>
                <a:sym typeface="Symbol" pitchFamily="18" charset="2"/>
              </a:rPr>
              <a:t>?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2" name="Text Box 43"/>
              <p:cNvSpPr txBox="1">
                <a:spLocks noChangeArrowheads="1"/>
              </p:cNvSpPr>
              <p:nvPr/>
            </p:nvSpPr>
            <p:spPr bwMode="auto">
              <a:xfrm>
                <a:off x="619125" y="1671638"/>
                <a:ext cx="8001000" cy="581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Sorteia-se 50 valores aleatoriamente e calcula-se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. Em seguida determina-se o IC para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com 95% de confiança, ou seja</a:t>
                </a:r>
              </a:p>
            </p:txBody>
          </p:sp>
        </mc:Choice>
        <mc:Fallback xmlns="">
          <p:sp>
            <p:nvSpPr>
              <p:cNvPr id="9232" name="Text 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125" y="1671638"/>
                <a:ext cx="8001000" cy="581025"/>
              </a:xfrm>
              <a:prstGeom prst="rect">
                <a:avLst/>
              </a:prstGeom>
              <a:blipFill>
                <a:blip r:embed="rId4"/>
                <a:stretch>
                  <a:fillRect l="-457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521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32564"/>
              </p:ext>
            </p:extLst>
          </p:nvPr>
        </p:nvGraphicFramePr>
        <p:xfrm>
          <a:off x="1054100" y="2224088"/>
          <a:ext cx="390048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30240" imgH="419040" progId="Equation.DSMT4">
                  <p:embed/>
                </p:oleObj>
              </mc:Choice>
              <mc:Fallback>
                <p:oleObj name="Equation" r:id="rId5" imgW="2730240" imgH="419040" progId="Equation.DSMT4">
                  <p:embed/>
                  <p:pic>
                    <p:nvPicPr>
                      <p:cNvPr id="13521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224088"/>
                        <a:ext cx="3900488" cy="5953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16" name="Text Box 48"/>
          <p:cNvSpPr txBox="1">
            <a:spLocks noChangeArrowheads="1"/>
          </p:cNvSpPr>
          <p:nvPr/>
        </p:nvSpPr>
        <p:spPr bwMode="auto">
          <a:xfrm>
            <a:off x="619125" y="6160343"/>
            <a:ext cx="76644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Interpretação: 95% dos possíveis IC obtidos a partir de uma amostra de tamanho 50, conterão de fato a verdadeira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graphicFrame>
        <p:nvGraphicFramePr>
          <p:cNvPr id="135210" name="Object 42"/>
          <p:cNvGraphicFramePr>
            <a:graphicFrameLocks noChangeAspect="1"/>
          </p:cNvGraphicFramePr>
          <p:nvPr/>
        </p:nvGraphicFramePr>
        <p:xfrm>
          <a:off x="6804025" y="1431925"/>
          <a:ext cx="15779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900" imgH="203200" progId="Equation.DSMT4">
                  <p:embed/>
                </p:oleObj>
              </mc:Choice>
              <mc:Fallback>
                <p:oleObj name="Equation" r:id="rId7" imgW="1104900" imgH="203200" progId="Equation.DSMT4">
                  <p:embed/>
                  <p:pic>
                    <p:nvPicPr>
                      <p:cNvPr id="13521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431925"/>
                        <a:ext cx="157797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49"/>
          <p:cNvSpPr txBox="1">
            <a:spLocks noChangeArrowheads="1"/>
          </p:cNvSpPr>
          <p:nvPr/>
        </p:nvSpPr>
        <p:spPr bwMode="auto">
          <a:xfrm>
            <a:off x="619125" y="1390650"/>
            <a:ext cx="61590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normalmente distribuída com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</a:rPr>
              <a:t> = 10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4</a:t>
            </a:r>
          </a:p>
        </p:txBody>
      </p: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1200150" y="3717032"/>
            <a:ext cx="6680200" cy="2116336"/>
            <a:chOff x="756" y="2412"/>
            <a:chExt cx="4208" cy="1696"/>
          </a:xfrm>
        </p:grpSpPr>
        <p:pic>
          <p:nvPicPr>
            <p:cNvPr id="9230" name="Picture 41" descr="IC_exemplo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2412"/>
              <a:ext cx="4052" cy="1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54"/>
            <p:cNvSpPr txBox="1">
              <a:spLocks noChangeArrowheads="1"/>
            </p:cNvSpPr>
            <p:nvPr/>
          </p:nvSpPr>
          <p:spPr bwMode="auto">
            <a:xfrm>
              <a:off x="756" y="3155"/>
              <a:ext cx="19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</p:grpSp>
      <p:sp>
        <p:nvSpPr>
          <p:cNvPr id="135215" name="AutoShape 47"/>
          <p:cNvSpPr>
            <a:spLocks noChangeArrowheads="1"/>
          </p:cNvSpPr>
          <p:nvPr/>
        </p:nvSpPr>
        <p:spPr bwMode="auto">
          <a:xfrm>
            <a:off x="5596577" y="5589288"/>
            <a:ext cx="228600" cy="432000"/>
          </a:xfrm>
          <a:prstGeom prst="upArrow">
            <a:avLst>
              <a:gd name="adj1" fmla="val 50000"/>
              <a:gd name="adj2" fmla="val 5833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3522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567891"/>
              </p:ext>
            </p:extLst>
          </p:nvPr>
        </p:nvGraphicFramePr>
        <p:xfrm>
          <a:off x="1044575" y="2859088"/>
          <a:ext cx="35385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76440" imgH="228600" progId="Equation.DSMT4">
                  <p:embed/>
                </p:oleObj>
              </mc:Choice>
              <mc:Fallback>
                <p:oleObj name="Equation" r:id="rId10" imgW="2476440" imgH="228600" progId="Equation.DSMT4">
                  <p:embed/>
                  <p:pic>
                    <p:nvPicPr>
                      <p:cNvPr id="135224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2859088"/>
                        <a:ext cx="353853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4664075" y="2836863"/>
            <a:ext cx="3429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(O IC varia para cada amostra!!!)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308304" y="6519863"/>
            <a:ext cx="1350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(ver IC.xls)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631BCB-C618-45C9-A080-F045CF843DC4}" type="slidenum">
              <a:rPr lang="pt-BR"/>
              <a:pPr>
                <a:defRPr/>
              </a:pPr>
              <a:t>9</a:t>
            </a:fld>
            <a:endParaRPr lang="pt-BR"/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619125" y="3356992"/>
            <a:ext cx="76644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Através de simulações, foram gerados inúmeros IC, um para cada amostra...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5729641" y="5808558"/>
            <a:ext cx="1714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não contém </a:t>
            </a:r>
            <a:r>
              <a:rPr lang="pt-BR" altLang="pt-BR" sz="14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 </a:t>
            </a: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2" grpId="0"/>
      <p:bldP spid="135216" grpId="0" autoUpdateAnimBg="0"/>
      <p:bldP spid="135215" grpId="0" animBg="1"/>
      <p:bldP spid="15" grpId="0" autoUpdateAnimBg="0"/>
      <p:bldP spid="16" grpId="0"/>
      <p:bldP spid="19" grpId="0" autoUpdateAnimBg="0"/>
      <p:bldP spid="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</a:t>
            </a:r>
            <a:endParaRPr lang="pt-BR" i="1"/>
          </a:p>
        </p:txBody>
      </p:sp>
      <p:sp>
        <p:nvSpPr>
          <p:cNvPr id="115745" name="Text Box 33"/>
          <p:cNvSpPr txBox="1">
            <a:spLocks noChangeArrowheads="1"/>
          </p:cNvSpPr>
          <p:nvPr/>
        </p:nvSpPr>
        <p:spPr bwMode="auto">
          <a:xfrm>
            <a:off x="346844" y="2746026"/>
            <a:ext cx="44823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poderíamos obter intervalos de confiança mais estreitos, ou seja, com limites mais próximos da média verdadeira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46" name="Text Box 34"/>
              <p:cNvSpPr txBox="1">
                <a:spLocks noChangeArrowheads="1"/>
              </p:cNvSpPr>
              <p:nvPr/>
            </p:nvSpPr>
            <p:spPr bwMode="auto">
              <a:xfrm>
                <a:off x="606555" y="3937384"/>
                <a:ext cx="4222605" cy="2062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Char char="-"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 diminuindo-se o nível de confiança</a:t>
                </a:r>
              </a:p>
              <a:p>
                <a:pPr marL="531813" indent="-176213" eaLnBrk="1" hangingPunct="1">
                  <a:spcBef>
                    <a:spcPct val="0"/>
                  </a:spcBef>
                  <a:buNone/>
                  <a:tabLst>
                    <a:tab pos="531813" algn="l"/>
                  </a:tabLst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quanto menor </a:t>
                </a:r>
                <a14:m>
                  <m:oMath xmlns:m="http://schemas.openxmlformats.org/officeDocument/2006/math">
                    <m:r>
                      <a:rPr lang="pt-BR" altLang="pt-BR" sz="1600" i="1" dirty="0" smtClean="0">
                        <a:latin typeface="Cambria Math"/>
                      </a:rPr>
                      <m:t>1−</m:t>
                    </m:r>
                    <m:r>
                      <a:rPr lang="pt-BR" altLang="pt-BR" sz="1600" i="1" dirty="0" smtClean="0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, menor será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  <a:p>
                <a:pPr marL="531813" indent="-176213" eaLnBrk="1" hangingPunct="1">
                  <a:spcBef>
                    <a:spcPct val="0"/>
                  </a:spcBef>
                  <a:buNone/>
                  <a:tabLst>
                    <a:tab pos="531813" algn="l"/>
                  </a:tabLst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mas maior será a probabilidade do IC não conter a verdadeira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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!</a:t>
                </a:r>
              </a:p>
              <a:p>
                <a:pPr marL="531813" indent="-176213" eaLnBrk="1" hangingPunct="1">
                  <a:spcBef>
                    <a:spcPct val="0"/>
                  </a:spcBef>
                  <a:buNone/>
                  <a:tabLst>
                    <a:tab pos="531813" algn="l"/>
                  </a:tabLst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Char char="-"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 aumentando-se o tamanho da amostra</a:t>
                </a:r>
              </a:p>
              <a:p>
                <a:pPr marL="531813" indent="-176213" eaLnBrk="1" hangingPunct="1">
                  <a:spcBef>
                    <a:spcPct val="0"/>
                  </a:spcBef>
                  <a:buNone/>
                  <a:tabLst>
                    <a:tab pos="531813" algn="l"/>
                  </a:tabLst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quanto maior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menor será a variância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endParaRPr lang="pt-BR" altLang="pt-BR" sz="1600" dirty="0">
                  <a:latin typeface="Tahoma" panose="020B0604030504040204" pitchFamily="34" charset="0"/>
                  <a:sym typeface="Symbol"/>
                </a:endParaRPr>
              </a:p>
            </p:txBody>
          </p:sp>
        </mc:Choice>
        <mc:Fallback xmlns="">
          <p:sp>
            <p:nvSpPr>
              <p:cNvPr id="115746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555" y="3937384"/>
                <a:ext cx="4222605" cy="2062103"/>
              </a:xfrm>
              <a:prstGeom prst="rect">
                <a:avLst/>
              </a:prstGeom>
              <a:blipFill>
                <a:blip r:embed="rId2"/>
                <a:stretch>
                  <a:fillRect l="-867" t="-888" b="-29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5D6D2-ACDC-42F9-93B5-C5EDAEAF3315}" type="slidenum">
              <a:rPr lang="pt-BR"/>
              <a:pPr>
                <a:defRPr/>
              </a:pPr>
              <a:t>10</a:t>
            </a:fld>
            <a:endParaRPr lang="pt-BR"/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4467075" y="5139368"/>
            <a:ext cx="16962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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melhor opção</a:t>
            </a:r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346844" y="6186790"/>
            <a:ext cx="44823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possível obter </a:t>
            </a:r>
            <a:r>
              <a:rPr lang="pt-BR" altLang="pt-BR" sz="1600" dirty="0" err="1">
                <a:latin typeface="Tahoma" panose="020B0604030504040204" pitchFamily="34" charset="0"/>
              </a:rPr>
              <a:t>ICs</a:t>
            </a:r>
            <a:r>
              <a:rPr lang="pt-BR" altLang="pt-BR" sz="1600" dirty="0">
                <a:latin typeface="Tahoma" panose="020B0604030504040204" pitchFamily="34" charset="0"/>
              </a:rPr>
              <a:t> com 100% de confiança?</a:t>
            </a:r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4860032" y="6186790"/>
            <a:ext cx="5613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Não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154022"/>
              </p:ext>
            </p:extLst>
          </p:nvPr>
        </p:nvGraphicFramePr>
        <p:xfrm>
          <a:off x="5565420" y="6212334"/>
          <a:ext cx="17764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203040" progId="Equation.DSMT4">
                  <p:embed/>
                </p:oleObj>
              </mc:Choice>
              <mc:Fallback>
                <p:oleObj name="Equation" r:id="rId3" imgW="1244520" imgH="203040" progId="Equation.DSMT4">
                  <p:embed/>
                  <p:pic>
                    <p:nvPicPr>
                      <p:cNvPr id="3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420" y="6212334"/>
                        <a:ext cx="1776413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oup 2"/>
          <p:cNvGrpSpPr>
            <a:grpSpLocks/>
          </p:cNvGrpSpPr>
          <p:nvPr/>
        </p:nvGrpSpPr>
        <p:grpSpPr bwMode="auto">
          <a:xfrm>
            <a:off x="4716016" y="1349026"/>
            <a:ext cx="4000500" cy="2643188"/>
            <a:chOff x="2988" y="1824"/>
            <a:chExt cx="2520" cy="1665"/>
          </a:xfrm>
        </p:grpSpPr>
        <p:grpSp>
          <p:nvGrpSpPr>
            <p:cNvPr id="41" name="Group 3"/>
            <p:cNvGrpSpPr>
              <a:grpSpLocks/>
            </p:cNvGrpSpPr>
            <p:nvPr/>
          </p:nvGrpSpPr>
          <p:grpSpPr bwMode="auto">
            <a:xfrm>
              <a:off x="2988" y="1872"/>
              <a:ext cx="2520" cy="1617"/>
              <a:chOff x="2988" y="1872"/>
              <a:chExt cx="2520" cy="1617"/>
            </a:xfrm>
          </p:grpSpPr>
          <p:pic>
            <p:nvPicPr>
              <p:cNvPr id="44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Text Box 5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-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46" name="Text Box 6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+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47" name="Text Box 7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2" name="Line 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3" name="Object 1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002" imgH="203112" progId="Equation.DSMT4">
                    <p:embed/>
                  </p:oleObj>
                </mc:Choice>
                <mc:Fallback>
                  <p:oleObj name="Equation" r:id="rId6" imgW="457002" imgH="203112" progId="Equation.DSMT4">
                    <p:embed/>
                    <p:pic>
                      <p:nvPicPr>
                        <p:cNvPr id="4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Freeform 17"/>
          <p:cNvSpPr>
            <a:spLocks/>
          </p:cNvSpPr>
          <p:nvPr/>
        </p:nvSpPr>
        <p:spPr bwMode="auto">
          <a:xfrm>
            <a:off x="6141591" y="1495076"/>
            <a:ext cx="1184275" cy="2073275"/>
          </a:xfrm>
          <a:custGeom>
            <a:avLst/>
            <a:gdLst>
              <a:gd name="T0" fmla="*/ 0 w 440"/>
              <a:gd name="T1" fmla="*/ 2147483647 h 771"/>
              <a:gd name="T2" fmla="*/ 2147483647 w 440"/>
              <a:gd name="T3" fmla="*/ 2147483647 h 771"/>
              <a:gd name="T4" fmla="*/ 2147483647 w 440"/>
              <a:gd name="T5" fmla="*/ 2147483647 h 771"/>
              <a:gd name="T6" fmla="*/ 2147483647 w 440"/>
              <a:gd name="T7" fmla="*/ 2147483647 h 771"/>
              <a:gd name="T8" fmla="*/ 2147483647 w 440"/>
              <a:gd name="T9" fmla="*/ 2147483647 h 771"/>
              <a:gd name="T10" fmla="*/ 2147483647 w 440"/>
              <a:gd name="T11" fmla="*/ 2147483647 h 771"/>
              <a:gd name="T12" fmla="*/ 2147483647 w 440"/>
              <a:gd name="T13" fmla="*/ 2147483647 h 771"/>
              <a:gd name="T14" fmla="*/ 2147483647 w 440"/>
              <a:gd name="T15" fmla="*/ 2147483647 h 771"/>
              <a:gd name="T16" fmla="*/ 2147483647 w 440"/>
              <a:gd name="T17" fmla="*/ 2147483647 h 771"/>
              <a:gd name="T18" fmla="*/ 2147483647 w 440"/>
              <a:gd name="T19" fmla="*/ 2147483647 h 771"/>
              <a:gd name="T20" fmla="*/ 2147483647 w 440"/>
              <a:gd name="T21" fmla="*/ 0 h 771"/>
              <a:gd name="T22" fmla="*/ 2147483647 w 440"/>
              <a:gd name="T23" fmla="*/ 0 h 771"/>
              <a:gd name="T24" fmla="*/ 2147483647 w 440"/>
              <a:gd name="T25" fmla="*/ 2147483647 h 771"/>
              <a:gd name="T26" fmla="*/ 2147483647 w 440"/>
              <a:gd name="T27" fmla="*/ 2147483647 h 771"/>
              <a:gd name="T28" fmla="*/ 2147483647 w 440"/>
              <a:gd name="T29" fmla="*/ 2147483647 h 771"/>
              <a:gd name="T30" fmla="*/ 2147483647 w 440"/>
              <a:gd name="T31" fmla="*/ 2147483647 h 771"/>
              <a:gd name="T32" fmla="*/ 2147483647 w 440"/>
              <a:gd name="T33" fmla="*/ 2147483647 h 771"/>
              <a:gd name="T34" fmla="*/ 2147483647 w 440"/>
              <a:gd name="T35" fmla="*/ 2147483647 h 771"/>
              <a:gd name="T36" fmla="*/ 2147483647 w 440"/>
              <a:gd name="T37" fmla="*/ 2147483647 h 771"/>
              <a:gd name="T38" fmla="*/ 2147483647 w 440"/>
              <a:gd name="T39" fmla="*/ 2147483647 h 771"/>
              <a:gd name="T40" fmla="*/ 2147483647 w 440"/>
              <a:gd name="T41" fmla="*/ 2147483647 h 771"/>
              <a:gd name="T42" fmla="*/ 2147483647 w 440"/>
              <a:gd name="T43" fmla="*/ 2147483647 h 771"/>
              <a:gd name="T44" fmla="*/ 2147483647 w 440"/>
              <a:gd name="T45" fmla="*/ 2147483647 h 771"/>
              <a:gd name="T46" fmla="*/ 0 w 440"/>
              <a:gd name="T47" fmla="*/ 2147483647 h 771"/>
              <a:gd name="T48" fmla="*/ 0 w 440"/>
              <a:gd name="T49" fmla="*/ 2147483647 h 77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440"/>
              <a:gd name="T76" fmla="*/ 0 h 771"/>
              <a:gd name="T77" fmla="*/ 440 w 440"/>
              <a:gd name="T78" fmla="*/ 771 h 771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440" h="771">
                <a:moveTo>
                  <a:pt x="0" y="406"/>
                </a:moveTo>
                <a:lnTo>
                  <a:pt x="22" y="353"/>
                </a:lnTo>
                <a:lnTo>
                  <a:pt x="41" y="298"/>
                </a:lnTo>
                <a:lnTo>
                  <a:pt x="63" y="240"/>
                </a:lnTo>
                <a:lnTo>
                  <a:pt x="89" y="180"/>
                </a:lnTo>
                <a:lnTo>
                  <a:pt x="111" y="130"/>
                </a:lnTo>
                <a:lnTo>
                  <a:pt x="132" y="82"/>
                </a:lnTo>
                <a:lnTo>
                  <a:pt x="156" y="44"/>
                </a:lnTo>
                <a:lnTo>
                  <a:pt x="176" y="20"/>
                </a:lnTo>
                <a:lnTo>
                  <a:pt x="200" y="3"/>
                </a:lnTo>
                <a:lnTo>
                  <a:pt x="216" y="0"/>
                </a:lnTo>
                <a:lnTo>
                  <a:pt x="236" y="0"/>
                </a:lnTo>
                <a:lnTo>
                  <a:pt x="252" y="12"/>
                </a:lnTo>
                <a:lnTo>
                  <a:pt x="276" y="34"/>
                </a:lnTo>
                <a:lnTo>
                  <a:pt x="303" y="72"/>
                </a:lnTo>
                <a:lnTo>
                  <a:pt x="324" y="123"/>
                </a:lnTo>
                <a:lnTo>
                  <a:pt x="346" y="173"/>
                </a:lnTo>
                <a:lnTo>
                  <a:pt x="375" y="243"/>
                </a:lnTo>
                <a:lnTo>
                  <a:pt x="396" y="298"/>
                </a:lnTo>
                <a:lnTo>
                  <a:pt x="420" y="348"/>
                </a:lnTo>
                <a:lnTo>
                  <a:pt x="432" y="382"/>
                </a:lnTo>
                <a:lnTo>
                  <a:pt x="440" y="404"/>
                </a:lnTo>
                <a:lnTo>
                  <a:pt x="440" y="771"/>
                </a:lnTo>
                <a:lnTo>
                  <a:pt x="0" y="771"/>
                </a:lnTo>
                <a:lnTo>
                  <a:pt x="0" y="406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7162354" y="3490564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z</a:t>
            </a:r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auto">
          <a:xfrm>
            <a:off x="5935216" y="3490564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-z</a:t>
            </a:r>
          </a:p>
        </p:txBody>
      </p:sp>
      <p:graphicFrame>
        <p:nvGraphicFramePr>
          <p:cNvPr id="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072890"/>
              </p:ext>
            </p:extLst>
          </p:nvPr>
        </p:nvGraphicFramePr>
        <p:xfrm>
          <a:off x="5306566" y="4168426"/>
          <a:ext cx="13065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03200" progId="Equation.DSMT4">
                  <p:embed/>
                </p:oleObj>
              </mc:Choice>
              <mc:Fallback>
                <p:oleObj name="Equation" r:id="rId8" imgW="914400" imgH="203200" progId="Equation.DSMT4">
                  <p:embed/>
                  <p:pic>
                    <p:nvPicPr>
                      <p:cNvPr id="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566" y="4168426"/>
                        <a:ext cx="1306513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21"/>
          <p:cNvGrpSpPr>
            <a:grpSpLocks/>
          </p:cNvGrpSpPr>
          <p:nvPr/>
        </p:nvGrpSpPr>
        <p:grpSpPr bwMode="auto">
          <a:xfrm>
            <a:off x="7592566" y="2584101"/>
            <a:ext cx="611188" cy="746125"/>
            <a:chOff x="4800" y="2602"/>
            <a:chExt cx="385" cy="470"/>
          </a:xfrm>
        </p:grpSpPr>
        <p:sp>
          <p:nvSpPr>
            <p:cNvPr id="54" name="Line 22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5" name="Object 23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646" imgH="393359" progId="Equation.DSMT4">
                    <p:embed/>
                  </p:oleObj>
                </mc:Choice>
                <mc:Fallback>
                  <p:oleObj name="Equation" r:id="rId10" imgW="177646" imgH="393359" progId="Equation.DSMT4">
                    <p:embed/>
                    <p:pic>
                      <p:nvPicPr>
                        <p:cNvPr id="5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Group 24"/>
          <p:cNvGrpSpPr>
            <a:grpSpLocks/>
          </p:cNvGrpSpPr>
          <p:nvPr/>
        </p:nvGrpSpPr>
        <p:grpSpPr bwMode="auto">
          <a:xfrm>
            <a:off x="5358954" y="2568226"/>
            <a:ext cx="557212" cy="746125"/>
            <a:chOff x="2769" y="2544"/>
            <a:chExt cx="351" cy="470"/>
          </a:xfrm>
        </p:grpSpPr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8" name="Object 26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646" imgH="393359" progId="Equation.DSMT4">
                    <p:embed/>
                  </p:oleObj>
                </mc:Choice>
                <mc:Fallback>
                  <p:oleObj name="Equation" r:id="rId12" imgW="177646" imgH="393359" progId="Equation.DSMT4">
                    <p:embed/>
                    <p:pic>
                      <p:nvPicPr>
                        <p:cNvPr id="5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690640"/>
              </p:ext>
            </p:extLst>
          </p:nvPr>
        </p:nvGraphicFramePr>
        <p:xfrm>
          <a:off x="6498779" y="2717451"/>
          <a:ext cx="4905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603" imgH="177646" progId="Equation.DSMT4">
                  <p:embed/>
                </p:oleObj>
              </mc:Choice>
              <mc:Fallback>
                <p:oleObj name="Equation" r:id="rId14" imgW="342603" imgH="177646" progId="Equation.DSMT4">
                  <p:embed/>
                  <p:pic>
                    <p:nvPicPr>
                      <p:cNvPr id="5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779" y="2717451"/>
                        <a:ext cx="49053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245533"/>
              </p:ext>
            </p:extLst>
          </p:nvPr>
        </p:nvGraphicFramePr>
        <p:xfrm>
          <a:off x="5306566" y="4549426"/>
          <a:ext cx="19256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46200" imgH="203200" progId="Equation.DSMT4">
                  <p:embed/>
                </p:oleObj>
              </mc:Choice>
              <mc:Fallback>
                <p:oleObj name="Equation" r:id="rId16" imgW="1346200" imgH="203200" progId="Equation.DSMT4">
                  <p:embed/>
                  <p:pic>
                    <p:nvPicPr>
                      <p:cNvPr id="6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566" y="4549426"/>
                        <a:ext cx="192563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53686"/>
              </p:ext>
            </p:extLst>
          </p:nvPr>
        </p:nvGraphicFramePr>
        <p:xfrm>
          <a:off x="988863" y="1655136"/>
          <a:ext cx="321151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47900" imgH="419100" progId="Equation.DSMT4">
                  <p:embed/>
                </p:oleObj>
              </mc:Choice>
              <mc:Fallback>
                <p:oleObj name="Equation" r:id="rId18" imgW="2247900" imgH="419100" progId="Equation.DSMT4">
                  <p:embed/>
                  <p:pic>
                    <p:nvPicPr>
                      <p:cNvPr id="6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63" y="1655136"/>
                        <a:ext cx="3211512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32"/>
          <p:cNvSpPr>
            <a:spLocks noChangeArrowheads="1"/>
          </p:cNvSpPr>
          <p:nvPr/>
        </p:nvSpPr>
        <p:spPr bwMode="auto">
          <a:xfrm>
            <a:off x="809475" y="1578936"/>
            <a:ext cx="3657600" cy="762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63" name="Text Box 37"/>
          <p:cNvSpPr txBox="1">
            <a:spLocks noChangeArrowheads="1"/>
          </p:cNvSpPr>
          <p:nvPr/>
        </p:nvSpPr>
        <p:spPr bwMode="auto">
          <a:xfrm>
            <a:off x="6601966" y="4136676"/>
            <a:ext cx="20381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nível de significância</a:t>
            </a:r>
          </a:p>
        </p:txBody>
      </p:sp>
      <p:sp>
        <p:nvSpPr>
          <p:cNvPr id="64" name="Text Box 38"/>
          <p:cNvSpPr txBox="1">
            <a:spLocks noChangeArrowheads="1"/>
          </p:cNvSpPr>
          <p:nvPr/>
        </p:nvSpPr>
        <p:spPr bwMode="auto">
          <a:xfrm>
            <a:off x="7209979" y="4509739"/>
            <a:ext cx="1862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nível de confiança</a:t>
            </a:r>
          </a:p>
        </p:txBody>
      </p:sp>
    </p:spTree>
    <p:extLst>
      <p:ext uri="{BB962C8B-B14F-4D97-AF65-F5344CB8AC3E}">
        <p14:creationId xmlns:p14="http://schemas.microsoft.com/office/powerpoint/2010/main" val="103303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5" grpId="0" autoUpdateAnimBg="0"/>
      <p:bldP spid="115746" grpId="0" build="p" autoUpdateAnimBg="0"/>
      <p:bldP spid="36" grpId="0" build="p" autoUpdateAnimBg="0"/>
      <p:bldP spid="37" grpId="0" autoUpdateAnimBg="0"/>
      <p:bldP spid="3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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  <a:endParaRPr lang="pt-BR" baseline="30000">
              <a:latin typeface="Times New Roman" pitchFamily="18" charset="0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629400" y="2819400"/>
            <a:ext cx="611188" cy="746125"/>
            <a:chOff x="4800" y="2602"/>
            <a:chExt cx="385" cy="470"/>
          </a:xfrm>
        </p:grpSpPr>
        <p:sp>
          <p:nvSpPr>
            <p:cNvPr id="15390" name="Line 22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5391" name="Object 23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646" imgH="393359" progId="Equation.DSMT4">
                    <p:embed/>
                  </p:oleObj>
                </mc:Choice>
                <mc:Fallback>
                  <p:oleObj name="Equation" r:id="rId2" imgW="177646" imgH="393359" progId="Equation.DSMT4">
                    <p:embed/>
                    <p:pic>
                      <p:nvPicPr>
                        <p:cNvPr id="15391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4381500" y="2819400"/>
            <a:ext cx="557213" cy="746125"/>
            <a:chOff x="2769" y="2544"/>
            <a:chExt cx="351" cy="470"/>
          </a:xfrm>
        </p:grpSpPr>
        <p:sp>
          <p:nvSpPr>
            <p:cNvPr id="15388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5389" name="Object 26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646" imgH="393359" progId="Equation.DSMT4">
                    <p:embed/>
                  </p:oleObj>
                </mc:Choice>
                <mc:Fallback>
                  <p:oleObj name="Equation" r:id="rId4" imgW="177646" imgH="393359" progId="Equation.DSMT4">
                    <p:embed/>
                    <p:pic>
                      <p:nvPicPr>
                        <p:cNvPr id="15389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9296" name="Rectangle 32"/>
          <p:cNvSpPr>
            <a:spLocks noChangeArrowheads="1"/>
          </p:cNvSpPr>
          <p:nvPr/>
        </p:nvSpPr>
        <p:spPr bwMode="auto">
          <a:xfrm>
            <a:off x="685800" y="5281613"/>
            <a:ext cx="3657600" cy="82867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9297" name="Text Box 33"/>
          <p:cNvSpPr txBox="1">
            <a:spLocks noChangeArrowheads="1"/>
          </p:cNvSpPr>
          <p:nvPr/>
        </p:nvSpPr>
        <p:spPr bwMode="auto">
          <a:xfrm>
            <a:off x="1752600" y="6189663"/>
            <a:ext cx="12210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IC para </a:t>
            </a:r>
            <a:r>
              <a:rPr lang="pt-BR" altLang="pt-BR" sz="1800" i="1" dirty="0">
                <a:solidFill>
                  <a:srgbClr val="FF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pt-BR" altLang="pt-BR" sz="1800" baseline="30000" dirty="0">
                <a:solidFill>
                  <a:srgbClr val="FF3300"/>
                </a:solidFill>
                <a:latin typeface="Times New Roman" charset="0"/>
                <a:sym typeface="SymbolMono BT" pitchFamily="18" charset="2"/>
              </a:rPr>
              <a:t>2</a:t>
            </a:r>
            <a:endParaRPr lang="pt-BR" altLang="pt-BR" sz="1800" i="1" dirty="0">
              <a:solidFill>
                <a:srgbClr val="FF3300"/>
              </a:solidFill>
              <a:latin typeface="Symbol" pitchFamily="18" charset="2"/>
            </a:endParaRPr>
          </a:p>
        </p:txBody>
      </p:sp>
      <p:graphicFrame>
        <p:nvGraphicFramePr>
          <p:cNvPr id="15367" name="Object 42"/>
          <p:cNvGraphicFramePr>
            <a:graphicFrameLocks noChangeAspect="1"/>
          </p:cNvGraphicFramePr>
          <p:nvPr/>
        </p:nvGraphicFramePr>
        <p:xfrm>
          <a:off x="954088" y="1676400"/>
          <a:ext cx="14049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419100" progId="Equation.DSMT4">
                  <p:embed/>
                </p:oleObj>
              </mc:Choice>
              <mc:Fallback>
                <p:oleObj name="Equation" r:id="rId6" imgW="977900" imgH="419100" progId="Equation.DSMT4">
                  <p:embed/>
                  <p:pic>
                    <p:nvPicPr>
                      <p:cNvPr id="1536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1676400"/>
                        <a:ext cx="14049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314" name="Freeform 50"/>
          <p:cNvSpPr>
            <a:spLocks/>
          </p:cNvSpPr>
          <p:nvPr/>
        </p:nvSpPr>
        <p:spPr bwMode="auto">
          <a:xfrm>
            <a:off x="5032375" y="2222500"/>
            <a:ext cx="1433513" cy="1517650"/>
          </a:xfrm>
          <a:custGeom>
            <a:avLst/>
            <a:gdLst>
              <a:gd name="T0" fmla="*/ 0 w 581"/>
              <a:gd name="T1" fmla="*/ 2147483647 h 608"/>
              <a:gd name="T2" fmla="*/ 0 w 581"/>
              <a:gd name="T3" fmla="*/ 2147483647 h 608"/>
              <a:gd name="T4" fmla="*/ 2147483647 w 581"/>
              <a:gd name="T5" fmla="*/ 2147483647 h 608"/>
              <a:gd name="T6" fmla="*/ 2147483647 w 581"/>
              <a:gd name="T7" fmla="*/ 2147483647 h 608"/>
              <a:gd name="T8" fmla="*/ 2147483647 w 581"/>
              <a:gd name="T9" fmla="*/ 2147483647 h 608"/>
              <a:gd name="T10" fmla="*/ 2147483647 w 581"/>
              <a:gd name="T11" fmla="*/ 2147483647 h 608"/>
              <a:gd name="T12" fmla="*/ 2147483647 w 581"/>
              <a:gd name="T13" fmla="*/ 2147483647 h 608"/>
              <a:gd name="T14" fmla="*/ 2147483647 w 581"/>
              <a:gd name="T15" fmla="*/ 2147483647 h 608"/>
              <a:gd name="T16" fmla="*/ 2147483647 w 581"/>
              <a:gd name="T17" fmla="*/ 0 h 608"/>
              <a:gd name="T18" fmla="*/ 2147483647 w 581"/>
              <a:gd name="T19" fmla="*/ 2147483647 h 608"/>
              <a:gd name="T20" fmla="*/ 2147483647 w 581"/>
              <a:gd name="T21" fmla="*/ 2147483647 h 608"/>
              <a:gd name="T22" fmla="*/ 2147483647 w 581"/>
              <a:gd name="T23" fmla="*/ 2147483647 h 608"/>
              <a:gd name="T24" fmla="*/ 2147483647 w 581"/>
              <a:gd name="T25" fmla="*/ 2147483647 h 608"/>
              <a:gd name="T26" fmla="*/ 2147483647 w 581"/>
              <a:gd name="T27" fmla="*/ 2147483647 h 608"/>
              <a:gd name="T28" fmla="*/ 2147483647 w 581"/>
              <a:gd name="T29" fmla="*/ 2147483647 h 608"/>
              <a:gd name="T30" fmla="*/ 2147483647 w 581"/>
              <a:gd name="T31" fmla="*/ 2147483647 h 608"/>
              <a:gd name="T32" fmla="*/ 2147483647 w 581"/>
              <a:gd name="T33" fmla="*/ 2147483647 h 608"/>
              <a:gd name="T34" fmla="*/ 2147483647 w 581"/>
              <a:gd name="T35" fmla="*/ 2147483647 h 608"/>
              <a:gd name="T36" fmla="*/ 2147483647 w 581"/>
              <a:gd name="T37" fmla="*/ 2147483647 h 608"/>
              <a:gd name="T38" fmla="*/ 0 w 581"/>
              <a:gd name="T39" fmla="*/ 2147483647 h 60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81"/>
              <a:gd name="T61" fmla="*/ 0 h 608"/>
              <a:gd name="T62" fmla="*/ 581 w 581"/>
              <a:gd name="T63" fmla="*/ 608 h 60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81" h="608">
                <a:moveTo>
                  <a:pt x="0" y="608"/>
                </a:moveTo>
                <a:lnTo>
                  <a:pt x="0" y="305"/>
                </a:lnTo>
                <a:lnTo>
                  <a:pt x="24" y="238"/>
                </a:lnTo>
                <a:lnTo>
                  <a:pt x="50" y="171"/>
                </a:lnTo>
                <a:lnTo>
                  <a:pt x="70" y="118"/>
                </a:lnTo>
                <a:lnTo>
                  <a:pt x="103" y="68"/>
                </a:lnTo>
                <a:lnTo>
                  <a:pt x="127" y="32"/>
                </a:lnTo>
                <a:lnTo>
                  <a:pt x="166" y="5"/>
                </a:lnTo>
                <a:lnTo>
                  <a:pt x="199" y="0"/>
                </a:lnTo>
                <a:lnTo>
                  <a:pt x="233" y="20"/>
                </a:lnTo>
                <a:lnTo>
                  <a:pt x="269" y="46"/>
                </a:lnTo>
                <a:lnTo>
                  <a:pt x="310" y="80"/>
                </a:lnTo>
                <a:lnTo>
                  <a:pt x="355" y="135"/>
                </a:lnTo>
                <a:lnTo>
                  <a:pt x="401" y="188"/>
                </a:lnTo>
                <a:lnTo>
                  <a:pt x="444" y="248"/>
                </a:lnTo>
                <a:lnTo>
                  <a:pt x="499" y="320"/>
                </a:lnTo>
                <a:lnTo>
                  <a:pt x="557" y="394"/>
                </a:lnTo>
                <a:lnTo>
                  <a:pt x="581" y="430"/>
                </a:lnTo>
                <a:lnTo>
                  <a:pt x="581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4667250" y="1828800"/>
            <a:ext cx="2867025" cy="2286000"/>
            <a:chOff x="2940" y="1152"/>
            <a:chExt cx="1806" cy="1440"/>
          </a:xfrm>
        </p:grpSpPr>
        <p:grpSp>
          <p:nvGrpSpPr>
            <p:cNvPr id="15381" name="Group 52"/>
            <p:cNvGrpSpPr>
              <a:grpSpLocks/>
            </p:cNvGrpSpPr>
            <p:nvPr/>
          </p:nvGrpSpPr>
          <p:grpSpPr bwMode="auto">
            <a:xfrm>
              <a:off x="3842" y="1183"/>
              <a:ext cx="425" cy="309"/>
              <a:chOff x="3842" y="1039"/>
              <a:chExt cx="425" cy="309"/>
            </a:xfrm>
          </p:grpSpPr>
          <p:sp>
            <p:nvSpPr>
              <p:cNvPr id="15386" name="Line 9"/>
              <p:cNvSpPr>
                <a:spLocks noChangeShapeType="1"/>
              </p:cNvSpPr>
              <p:nvPr/>
            </p:nvSpPr>
            <p:spPr bwMode="auto">
              <a:xfrm flipH="1">
                <a:off x="3842" y="120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5387" name="Object 10"/>
              <p:cNvGraphicFramePr>
                <a:graphicFrameLocks noChangeAspect="1"/>
              </p:cNvGraphicFramePr>
              <p:nvPr/>
            </p:nvGraphicFramePr>
            <p:xfrm>
              <a:off x="4016" y="1039"/>
              <a:ext cx="251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79279" imgH="241195" progId="Equation.DSMT4">
                      <p:embed/>
                    </p:oleObj>
                  </mc:Choice>
                  <mc:Fallback>
                    <p:oleObj name="Equation" r:id="rId8" imgW="279279" imgH="241195" progId="Equation.DSMT4">
                      <p:embed/>
                      <p:pic>
                        <p:nvPicPr>
                          <p:cNvPr id="15387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6" y="1039"/>
                            <a:ext cx="251" cy="21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382" name="Freeform 45"/>
            <p:cNvSpPr>
              <a:spLocks/>
            </p:cNvSpPr>
            <p:nvPr/>
          </p:nvSpPr>
          <p:spPr bwMode="auto">
            <a:xfrm>
              <a:off x="3030" y="1152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153700292 h 768"/>
                <a:gd name="T4" fmla="*/ 163958880 w 1104"/>
                <a:gd name="T5" fmla="*/ 153700292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383" name="Freeform 46"/>
            <p:cNvSpPr>
              <a:spLocks/>
            </p:cNvSpPr>
            <p:nvPr/>
          </p:nvSpPr>
          <p:spPr bwMode="auto">
            <a:xfrm>
              <a:off x="3024" y="1386"/>
              <a:ext cx="1607" cy="1014"/>
            </a:xfrm>
            <a:custGeom>
              <a:avLst/>
              <a:gdLst>
                <a:gd name="T0" fmla="*/ 0 w 1034"/>
                <a:gd name="T1" fmla="*/ 124490005 h 645"/>
                <a:gd name="T2" fmla="*/ 40569871 w 1034"/>
                <a:gd name="T3" fmla="*/ 2431614 h 645"/>
                <a:gd name="T4" fmla="*/ 114429682 w 1034"/>
                <a:gd name="T5" fmla="*/ 110009555 h 645"/>
                <a:gd name="T6" fmla="*/ 153080549 w 1034"/>
                <a:gd name="T7" fmla="*/ 123863746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384" name="Text Box 47"/>
            <p:cNvSpPr txBox="1">
              <a:spLocks noChangeArrowheads="1"/>
            </p:cNvSpPr>
            <p:nvPr/>
          </p:nvSpPr>
          <p:spPr bwMode="auto">
            <a:xfrm>
              <a:off x="2940" y="2380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5385" name="Text Box 48"/>
            <p:cNvSpPr txBox="1">
              <a:spLocks noChangeArrowheads="1"/>
            </p:cNvSpPr>
            <p:nvPr/>
          </p:nvSpPr>
          <p:spPr bwMode="auto">
            <a:xfrm>
              <a:off x="4416" y="2337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</p:grpSp>
      <p:graphicFrame>
        <p:nvGraphicFramePr>
          <p:cNvPr id="139313" name="Object 49"/>
          <p:cNvGraphicFramePr>
            <a:graphicFrameLocks noChangeAspect="1"/>
          </p:cNvGraphicFramePr>
          <p:nvPr/>
        </p:nvGraphicFramePr>
        <p:xfrm>
          <a:off x="4913313" y="3743325"/>
          <a:ext cx="2365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28" imgH="228501" progId="Equation.DSMT4">
                  <p:embed/>
                </p:oleObj>
              </mc:Choice>
              <mc:Fallback>
                <p:oleObj name="Equation" r:id="rId10" imgW="165028" imgH="228501" progId="Equation.DSMT4">
                  <p:embed/>
                  <p:pic>
                    <p:nvPicPr>
                      <p:cNvPr id="13931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313" y="3743325"/>
                        <a:ext cx="2365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17" name="Object 53"/>
          <p:cNvGraphicFramePr>
            <a:graphicFrameLocks noChangeAspect="1"/>
          </p:cNvGraphicFramePr>
          <p:nvPr/>
        </p:nvGraphicFramePr>
        <p:xfrm>
          <a:off x="6353175" y="3743325"/>
          <a:ext cx="2349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28" imgH="228501" progId="Equation.DSMT4">
                  <p:embed/>
                </p:oleObj>
              </mc:Choice>
              <mc:Fallback>
                <p:oleObj name="Equation" r:id="rId12" imgW="165028" imgH="228501" progId="Equation.DSMT4">
                  <p:embed/>
                  <p:pic>
                    <p:nvPicPr>
                      <p:cNvPr id="13931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3743325"/>
                        <a:ext cx="2349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91" name="Object 27"/>
          <p:cNvGraphicFramePr>
            <a:graphicFrameLocks noChangeAspect="1"/>
          </p:cNvGraphicFramePr>
          <p:nvPr/>
        </p:nvGraphicFramePr>
        <p:xfrm>
          <a:off x="5410200" y="3048000"/>
          <a:ext cx="49053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603" imgH="177646" progId="Equation.DSMT4">
                  <p:embed/>
                </p:oleObj>
              </mc:Choice>
              <mc:Fallback>
                <p:oleObj name="Equation" r:id="rId14" imgW="342603" imgH="177646" progId="Equation.DSMT4">
                  <p:embed/>
                  <p:pic>
                    <p:nvPicPr>
                      <p:cNvPr id="1392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048000"/>
                        <a:ext cx="49053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19" name="Object 55"/>
          <p:cNvGraphicFramePr>
            <a:graphicFrameLocks noChangeAspect="1"/>
          </p:cNvGraphicFramePr>
          <p:nvPr/>
        </p:nvGraphicFramePr>
        <p:xfrm>
          <a:off x="5245100" y="4572000"/>
          <a:ext cx="2155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300" imgH="241300" progId="Equation.DSMT4">
                  <p:embed/>
                </p:oleObj>
              </mc:Choice>
              <mc:Fallback>
                <p:oleObj name="Equation" r:id="rId16" imgW="1511300" imgH="241300" progId="Equation.DSMT4">
                  <p:embed/>
                  <p:pic>
                    <p:nvPicPr>
                      <p:cNvPr id="139319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4572000"/>
                        <a:ext cx="2155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21" name="Object 57"/>
          <p:cNvGraphicFramePr>
            <a:graphicFrameLocks noChangeAspect="1"/>
          </p:cNvGraphicFramePr>
          <p:nvPr/>
        </p:nvGraphicFramePr>
        <p:xfrm>
          <a:off x="758825" y="2743200"/>
          <a:ext cx="25574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700" imgH="419100" progId="Equation.DSMT4">
                  <p:embed/>
                </p:oleObj>
              </mc:Choice>
              <mc:Fallback>
                <p:oleObj name="Equation" r:id="rId18" imgW="1790700" imgH="419100" progId="Equation.DSMT4">
                  <p:embed/>
                  <p:pic>
                    <p:nvPicPr>
                      <p:cNvPr id="139321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743200"/>
                        <a:ext cx="25574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22" name="Object 58"/>
          <p:cNvGraphicFramePr>
            <a:graphicFrameLocks noChangeAspect="1"/>
          </p:cNvGraphicFramePr>
          <p:nvPr/>
        </p:nvGraphicFramePr>
        <p:xfrm>
          <a:off x="749300" y="3657600"/>
          <a:ext cx="27209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5000" imgH="482600" progId="Equation.DSMT4">
                  <p:embed/>
                </p:oleObj>
              </mc:Choice>
              <mc:Fallback>
                <p:oleObj name="Equation" r:id="rId20" imgW="1905000" imgH="482600" progId="Equation.DSMT4">
                  <p:embed/>
                  <p:pic>
                    <p:nvPicPr>
                      <p:cNvPr id="139322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3657600"/>
                        <a:ext cx="27209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23" name="Object 59"/>
          <p:cNvGraphicFramePr>
            <a:graphicFrameLocks noChangeAspect="1"/>
          </p:cNvGraphicFramePr>
          <p:nvPr/>
        </p:nvGraphicFramePr>
        <p:xfrm>
          <a:off x="877888" y="5334000"/>
          <a:ext cx="32448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73300" imgH="482600" progId="Equation.DSMT4">
                  <p:embed/>
                </p:oleObj>
              </mc:Choice>
              <mc:Fallback>
                <p:oleObj name="Equation" r:id="rId22" imgW="2273300" imgH="482600" progId="Equation.DSMT4">
                  <p:embed/>
                  <p:pic>
                    <p:nvPicPr>
                      <p:cNvPr id="139323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5334000"/>
                        <a:ext cx="32448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714375" y="1357313"/>
            <a:ext cx="1127125" cy="1209675"/>
            <a:chOff x="326" y="1314"/>
            <a:chExt cx="710" cy="762"/>
          </a:xfrm>
        </p:grpSpPr>
        <p:sp>
          <p:nvSpPr>
            <p:cNvPr id="15379" name="Oval 40"/>
            <p:cNvSpPr>
              <a:spLocks noChangeArrowheads="1"/>
            </p:cNvSpPr>
            <p:nvPr/>
          </p:nvSpPr>
          <p:spPr bwMode="auto">
            <a:xfrm>
              <a:off x="460" y="1314"/>
              <a:ext cx="576" cy="72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80" name="Text Box 41"/>
            <p:cNvSpPr txBox="1">
              <a:spLocks noChangeArrowheads="1"/>
            </p:cNvSpPr>
            <p:nvPr/>
          </p:nvSpPr>
          <p:spPr bwMode="auto">
            <a:xfrm>
              <a:off x="326" y="1863"/>
              <a:ext cx="23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charset="0"/>
                  <a:sym typeface="Symbol" pitchFamily="18" charset="2"/>
                </a:rPr>
                <a:t></a:t>
              </a:r>
              <a:r>
                <a:rPr lang="pt-BR" altLang="pt-BR" sz="1600" baseline="30000">
                  <a:solidFill>
                    <a:srgbClr val="FF3300"/>
                  </a:solidFill>
                  <a:latin typeface="Times New Roman" charset="0"/>
                  <a:sym typeface="Symbol" pitchFamily="18" charset="2"/>
                </a:rPr>
                <a:t>2</a:t>
              </a:r>
              <a:endParaRPr lang="pt-BR" altLang="pt-BR" sz="1600" baseline="30000">
                <a:solidFill>
                  <a:srgbClr val="FF3300"/>
                </a:solidFill>
                <a:latin typeface="Times New Roman" charset="0"/>
              </a:endParaRPr>
            </a:p>
          </p:txBody>
        </p:sp>
      </p:grp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C862E6-A69B-47C9-8D54-AEED225ABB06}" type="slidenum">
              <a:rPr lang="pt-BR"/>
              <a:pPr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6" grpId="0" animBg="1"/>
      <p:bldP spid="139297" grpId="0" autoUpdateAnimBg="0"/>
      <p:bldP spid="1393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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tem uma distribuição normal com média </a:t>
            </a:r>
            <a:r>
              <a:rPr lang="pt-BR" altLang="pt-BR" sz="1600" i="1" dirty="0">
                <a:latin typeface="Symbol" pitchFamily="18" charset="2"/>
              </a:rPr>
              <a:t>m</a:t>
            </a:r>
            <a:r>
              <a:rPr lang="pt-BR" altLang="pt-BR" sz="1600" dirty="0">
                <a:latin typeface="Tahoma" panose="020B0604030504040204" pitchFamily="34" charset="0"/>
              </a:rPr>
              <a:t> e variância </a:t>
            </a:r>
            <a:r>
              <a:rPr lang="pt-BR" altLang="pt-BR" sz="1600" i="1" dirty="0">
                <a:latin typeface="Symbol" pitchFamily="18" charset="2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desconhecidas. Retira-se uma amostra de </a:t>
            </a:r>
            <a:r>
              <a:rPr lang="pt-BR" altLang="pt-BR" sz="1600" dirty="0">
                <a:latin typeface="Times New Roman" charset="0"/>
              </a:rPr>
              <a:t>25</a:t>
            </a:r>
            <a:r>
              <a:rPr lang="pt-BR" altLang="pt-BR" sz="1600" dirty="0">
                <a:latin typeface="Tahoma" panose="020B0604030504040204" pitchFamily="34" charset="0"/>
              </a:rPr>
              <a:t> valores e calcula-se a variância amostral. Construa um IC de </a:t>
            </a:r>
            <a:r>
              <a:rPr lang="pt-BR" altLang="pt-BR" sz="1600" dirty="0">
                <a:latin typeface="Times New Roman" charset="0"/>
              </a:rPr>
              <a:t>95%</a:t>
            </a:r>
            <a:r>
              <a:rPr lang="pt-BR" altLang="pt-BR" sz="1600" dirty="0">
                <a:latin typeface="Tahoma" panose="020B0604030504040204" pitchFamily="34" charset="0"/>
              </a:rPr>
              <a:t> para </a:t>
            </a:r>
            <a:r>
              <a:rPr lang="pt-BR" altLang="pt-BR" sz="1600" i="1" dirty="0">
                <a:latin typeface="Symbol" pitchFamily="18" charset="2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supondo que </a:t>
            </a:r>
            <a:r>
              <a:rPr lang="pt-BR" altLang="pt-BR" sz="1600" i="1" dirty="0">
                <a:latin typeface="Times New Roman" charset="0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imes New Roman" charset="0"/>
              </a:rPr>
              <a:t> = 2,34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/>
        </p:nvGraphicFramePr>
        <p:xfrm>
          <a:off x="820738" y="2895600"/>
          <a:ext cx="32321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600" imgH="482600" progId="Equation.DSMT4">
                  <p:embed/>
                </p:oleObj>
              </mc:Choice>
              <mc:Fallback>
                <p:oleObj name="Equation" r:id="rId2" imgW="2260600" imgH="482600" progId="Equation.DSMT4">
                  <p:embed/>
                  <p:pic>
                    <p:nvPicPr>
                      <p:cNvPr id="141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2895600"/>
                        <a:ext cx="32321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172200" y="4816475"/>
            <a:ext cx="290513" cy="706438"/>
            <a:chOff x="4616" y="3120"/>
            <a:chExt cx="183" cy="445"/>
          </a:xfrm>
        </p:grpSpPr>
        <p:sp>
          <p:nvSpPr>
            <p:cNvPr id="16420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421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7921625" y="3713163"/>
            <a:ext cx="757238" cy="601662"/>
            <a:chOff x="4990" y="2339"/>
            <a:chExt cx="477" cy="379"/>
          </a:xfrm>
        </p:grpSpPr>
        <p:sp>
          <p:nvSpPr>
            <p:cNvPr id="16418" name="Line 36"/>
            <p:cNvSpPr>
              <a:spLocks noChangeShapeType="1"/>
            </p:cNvSpPr>
            <p:nvPr/>
          </p:nvSpPr>
          <p:spPr bwMode="auto">
            <a:xfrm flipV="1">
              <a:off x="4990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6419" name="Object 37"/>
            <p:cNvGraphicFramePr>
              <a:graphicFrameLocks noChangeAspect="1"/>
            </p:cNvGraphicFramePr>
            <p:nvPr/>
          </p:nvGraphicFramePr>
          <p:xfrm>
            <a:off x="5124" y="2339"/>
            <a:ext cx="343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35" imgH="190417" progId="Equation.DSMT4">
                    <p:embed/>
                  </p:oleObj>
                </mc:Choice>
                <mc:Fallback>
                  <p:oleObj name="Equation" r:id="rId4" imgW="380835" imgH="190417" progId="Equation.DSMT4">
                    <p:embed/>
                    <p:pic>
                      <p:nvPicPr>
                        <p:cNvPr id="1641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4" y="2339"/>
                          <a:ext cx="343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5529263" y="3713163"/>
            <a:ext cx="701675" cy="601662"/>
            <a:chOff x="3483" y="2339"/>
            <a:chExt cx="442" cy="379"/>
          </a:xfrm>
        </p:grpSpPr>
        <p:sp>
          <p:nvSpPr>
            <p:cNvPr id="16416" name="Line 39"/>
            <p:cNvSpPr>
              <a:spLocks noChangeShapeType="1"/>
            </p:cNvSpPr>
            <p:nvPr/>
          </p:nvSpPr>
          <p:spPr bwMode="auto">
            <a:xfrm flipH="1" flipV="1">
              <a:off x="3733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6417" name="Object 40"/>
            <p:cNvGraphicFramePr>
              <a:graphicFrameLocks noChangeAspect="1"/>
            </p:cNvGraphicFramePr>
            <p:nvPr/>
          </p:nvGraphicFramePr>
          <p:xfrm>
            <a:off x="3483" y="2339"/>
            <a:ext cx="342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35" imgH="190417" progId="Equation.DSMT4">
                    <p:embed/>
                  </p:oleObj>
                </mc:Choice>
                <mc:Fallback>
                  <p:oleObj name="Equation" r:id="rId6" imgW="380835" imgH="190417" progId="Equation.DSMT4">
                    <p:embed/>
                    <p:pic>
                      <p:nvPicPr>
                        <p:cNvPr id="16417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2339"/>
                          <a:ext cx="342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53" name="Freeform 41"/>
          <p:cNvSpPr>
            <a:spLocks/>
          </p:cNvSpPr>
          <p:nvPr/>
        </p:nvSpPr>
        <p:spPr bwMode="auto">
          <a:xfrm>
            <a:off x="6324600" y="2971800"/>
            <a:ext cx="1433513" cy="1517650"/>
          </a:xfrm>
          <a:custGeom>
            <a:avLst/>
            <a:gdLst>
              <a:gd name="T0" fmla="*/ 0 w 581"/>
              <a:gd name="T1" fmla="*/ 2147483647 h 608"/>
              <a:gd name="T2" fmla="*/ 0 w 581"/>
              <a:gd name="T3" fmla="*/ 2147483647 h 608"/>
              <a:gd name="T4" fmla="*/ 2147483647 w 581"/>
              <a:gd name="T5" fmla="*/ 2147483647 h 608"/>
              <a:gd name="T6" fmla="*/ 2147483647 w 581"/>
              <a:gd name="T7" fmla="*/ 2147483647 h 608"/>
              <a:gd name="T8" fmla="*/ 2147483647 w 581"/>
              <a:gd name="T9" fmla="*/ 2147483647 h 608"/>
              <a:gd name="T10" fmla="*/ 2147483647 w 581"/>
              <a:gd name="T11" fmla="*/ 2147483647 h 608"/>
              <a:gd name="T12" fmla="*/ 2147483647 w 581"/>
              <a:gd name="T13" fmla="*/ 2147483647 h 608"/>
              <a:gd name="T14" fmla="*/ 2147483647 w 581"/>
              <a:gd name="T15" fmla="*/ 2147483647 h 608"/>
              <a:gd name="T16" fmla="*/ 2147483647 w 581"/>
              <a:gd name="T17" fmla="*/ 0 h 608"/>
              <a:gd name="T18" fmla="*/ 2147483647 w 581"/>
              <a:gd name="T19" fmla="*/ 2147483647 h 608"/>
              <a:gd name="T20" fmla="*/ 2147483647 w 581"/>
              <a:gd name="T21" fmla="*/ 2147483647 h 608"/>
              <a:gd name="T22" fmla="*/ 2147483647 w 581"/>
              <a:gd name="T23" fmla="*/ 2147483647 h 608"/>
              <a:gd name="T24" fmla="*/ 2147483647 w 581"/>
              <a:gd name="T25" fmla="*/ 2147483647 h 608"/>
              <a:gd name="T26" fmla="*/ 2147483647 w 581"/>
              <a:gd name="T27" fmla="*/ 2147483647 h 608"/>
              <a:gd name="T28" fmla="*/ 2147483647 w 581"/>
              <a:gd name="T29" fmla="*/ 2147483647 h 608"/>
              <a:gd name="T30" fmla="*/ 2147483647 w 581"/>
              <a:gd name="T31" fmla="*/ 2147483647 h 608"/>
              <a:gd name="T32" fmla="*/ 2147483647 w 581"/>
              <a:gd name="T33" fmla="*/ 2147483647 h 608"/>
              <a:gd name="T34" fmla="*/ 2147483647 w 581"/>
              <a:gd name="T35" fmla="*/ 2147483647 h 608"/>
              <a:gd name="T36" fmla="*/ 2147483647 w 581"/>
              <a:gd name="T37" fmla="*/ 2147483647 h 608"/>
              <a:gd name="T38" fmla="*/ 0 w 581"/>
              <a:gd name="T39" fmla="*/ 2147483647 h 60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81"/>
              <a:gd name="T61" fmla="*/ 0 h 608"/>
              <a:gd name="T62" fmla="*/ 581 w 581"/>
              <a:gd name="T63" fmla="*/ 608 h 60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81" h="608">
                <a:moveTo>
                  <a:pt x="0" y="608"/>
                </a:moveTo>
                <a:lnTo>
                  <a:pt x="0" y="305"/>
                </a:lnTo>
                <a:lnTo>
                  <a:pt x="24" y="238"/>
                </a:lnTo>
                <a:lnTo>
                  <a:pt x="50" y="171"/>
                </a:lnTo>
                <a:lnTo>
                  <a:pt x="70" y="118"/>
                </a:lnTo>
                <a:lnTo>
                  <a:pt x="103" y="68"/>
                </a:lnTo>
                <a:lnTo>
                  <a:pt x="127" y="32"/>
                </a:lnTo>
                <a:lnTo>
                  <a:pt x="166" y="5"/>
                </a:lnTo>
                <a:lnTo>
                  <a:pt x="199" y="0"/>
                </a:lnTo>
                <a:lnTo>
                  <a:pt x="233" y="20"/>
                </a:lnTo>
                <a:lnTo>
                  <a:pt x="269" y="46"/>
                </a:lnTo>
                <a:lnTo>
                  <a:pt x="310" y="80"/>
                </a:lnTo>
                <a:lnTo>
                  <a:pt x="355" y="135"/>
                </a:lnTo>
                <a:lnTo>
                  <a:pt x="401" y="188"/>
                </a:lnTo>
                <a:lnTo>
                  <a:pt x="444" y="248"/>
                </a:lnTo>
                <a:lnTo>
                  <a:pt x="499" y="320"/>
                </a:lnTo>
                <a:lnTo>
                  <a:pt x="557" y="394"/>
                </a:lnTo>
                <a:lnTo>
                  <a:pt x="581" y="430"/>
                </a:lnTo>
                <a:lnTo>
                  <a:pt x="581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5959475" y="2578100"/>
            <a:ext cx="2867025" cy="2286000"/>
            <a:chOff x="3754" y="1624"/>
            <a:chExt cx="1806" cy="1440"/>
          </a:xfrm>
        </p:grpSpPr>
        <p:grpSp>
          <p:nvGrpSpPr>
            <p:cNvPr id="16406" name="Group 56"/>
            <p:cNvGrpSpPr>
              <a:grpSpLocks/>
            </p:cNvGrpSpPr>
            <p:nvPr/>
          </p:nvGrpSpPr>
          <p:grpSpPr bwMode="auto">
            <a:xfrm>
              <a:off x="3754" y="1624"/>
              <a:ext cx="1806" cy="1440"/>
              <a:chOff x="3754" y="1624"/>
              <a:chExt cx="1806" cy="1440"/>
            </a:xfrm>
          </p:grpSpPr>
          <p:grpSp>
            <p:nvGrpSpPr>
              <p:cNvPr id="16409" name="Group 55"/>
              <p:cNvGrpSpPr>
                <a:grpSpLocks/>
              </p:cNvGrpSpPr>
              <p:nvPr/>
            </p:nvGrpSpPr>
            <p:grpSpPr bwMode="auto">
              <a:xfrm>
                <a:off x="4656" y="1655"/>
                <a:ext cx="408" cy="309"/>
                <a:chOff x="4656" y="1655"/>
                <a:chExt cx="408" cy="309"/>
              </a:xfrm>
            </p:grpSpPr>
            <p:sp>
              <p:nvSpPr>
                <p:cNvPr id="16414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4656" y="182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16415" name="Object 45"/>
                <p:cNvGraphicFramePr>
                  <a:graphicFrameLocks noChangeAspect="1"/>
                </p:cNvGraphicFramePr>
                <p:nvPr/>
              </p:nvGraphicFramePr>
              <p:xfrm>
                <a:off x="4847" y="1655"/>
                <a:ext cx="217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241195" imgH="241195" progId="Equation.DSMT4">
                        <p:embed/>
                      </p:oleObj>
                    </mc:Choice>
                    <mc:Fallback>
                      <p:oleObj name="Equation" r:id="rId7" imgW="241195" imgH="241195" progId="Equation.DSMT4">
                        <p:embed/>
                        <p:pic>
                          <p:nvPicPr>
                            <p:cNvPr id="16415" name="Object 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7" y="1655"/>
                              <a:ext cx="217" cy="216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0" name="Freeform 46"/>
              <p:cNvSpPr>
                <a:spLocks/>
              </p:cNvSpPr>
              <p:nvPr/>
            </p:nvSpPr>
            <p:spPr bwMode="auto">
              <a:xfrm>
                <a:off x="3844" y="1624"/>
                <a:ext cx="1716" cy="1207"/>
              </a:xfrm>
              <a:custGeom>
                <a:avLst/>
                <a:gdLst>
                  <a:gd name="T0" fmla="*/ 0 w 1104"/>
                  <a:gd name="T1" fmla="*/ 0 h 768"/>
                  <a:gd name="T2" fmla="*/ 0 w 1104"/>
                  <a:gd name="T3" fmla="*/ 153700292 h 768"/>
                  <a:gd name="T4" fmla="*/ 163958880 w 1104"/>
                  <a:gd name="T5" fmla="*/ 153700292 h 768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768"/>
                  <a:gd name="T11" fmla="*/ 1104 w 110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768">
                    <a:moveTo>
                      <a:pt x="0" y="0"/>
                    </a:moveTo>
                    <a:lnTo>
                      <a:pt x="0" y="768"/>
                    </a:lnTo>
                    <a:lnTo>
                      <a:pt x="1104" y="76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411" name="Freeform 47"/>
              <p:cNvSpPr>
                <a:spLocks/>
              </p:cNvSpPr>
              <p:nvPr/>
            </p:nvSpPr>
            <p:spPr bwMode="auto">
              <a:xfrm>
                <a:off x="3838" y="1858"/>
                <a:ext cx="1607" cy="1014"/>
              </a:xfrm>
              <a:custGeom>
                <a:avLst/>
                <a:gdLst>
                  <a:gd name="T0" fmla="*/ 0 w 1034"/>
                  <a:gd name="T1" fmla="*/ 124490005 h 645"/>
                  <a:gd name="T2" fmla="*/ 40569871 w 1034"/>
                  <a:gd name="T3" fmla="*/ 2431614 h 645"/>
                  <a:gd name="T4" fmla="*/ 114429682 w 1034"/>
                  <a:gd name="T5" fmla="*/ 110009555 h 645"/>
                  <a:gd name="T6" fmla="*/ 153080549 w 1034"/>
                  <a:gd name="T7" fmla="*/ 123863746 h 6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4"/>
                  <a:gd name="T13" fmla="*/ 0 h 645"/>
                  <a:gd name="T14" fmla="*/ 1034 w 1034"/>
                  <a:gd name="T15" fmla="*/ 645 h 6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4" h="645">
                    <a:moveTo>
                      <a:pt x="0" y="617"/>
                    </a:moveTo>
                    <a:cubicBezTo>
                      <a:pt x="46" y="516"/>
                      <a:pt x="145" y="24"/>
                      <a:pt x="274" y="12"/>
                    </a:cubicBezTo>
                    <a:cubicBezTo>
                      <a:pt x="403" y="0"/>
                      <a:pt x="646" y="445"/>
                      <a:pt x="773" y="545"/>
                    </a:cubicBezTo>
                    <a:cubicBezTo>
                      <a:pt x="900" y="645"/>
                      <a:pt x="980" y="600"/>
                      <a:pt x="1034" y="61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412" name="Text Box 48"/>
              <p:cNvSpPr txBox="1">
                <a:spLocks noChangeArrowheads="1"/>
              </p:cNvSpPr>
              <p:nvPr/>
            </p:nvSpPr>
            <p:spPr bwMode="auto">
              <a:xfrm>
                <a:off x="3754" y="28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6413" name="Text Box 49"/>
              <p:cNvSpPr txBox="1">
                <a:spLocks noChangeArrowheads="1"/>
              </p:cNvSpPr>
              <p:nvPr/>
            </p:nvSpPr>
            <p:spPr bwMode="auto">
              <a:xfrm>
                <a:off x="5230" y="2809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</p:grpSp>
        <p:graphicFrame>
          <p:nvGraphicFramePr>
            <p:cNvPr id="16407" name="Object 50"/>
            <p:cNvGraphicFramePr>
              <a:graphicFrameLocks noChangeAspect="1"/>
            </p:cNvGraphicFramePr>
            <p:nvPr/>
          </p:nvGraphicFramePr>
          <p:xfrm>
            <a:off x="3909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5028" imgH="228501" progId="Equation.DSMT4">
                    <p:embed/>
                  </p:oleObj>
                </mc:Choice>
                <mc:Fallback>
                  <p:oleObj name="Equation" r:id="rId9" imgW="165028" imgH="228501" progId="Equation.DSMT4">
                    <p:embed/>
                    <p:pic>
                      <p:nvPicPr>
                        <p:cNvPr id="16407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9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51"/>
            <p:cNvGraphicFramePr>
              <a:graphicFrameLocks noChangeAspect="1"/>
            </p:cNvGraphicFramePr>
            <p:nvPr/>
          </p:nvGraphicFramePr>
          <p:xfrm>
            <a:off x="4815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5028" imgH="228501" progId="Equation.DSMT4">
                    <p:embed/>
                  </p:oleObj>
                </mc:Choice>
                <mc:Fallback>
                  <p:oleObj name="Equation" r:id="rId11" imgW="165028" imgH="228501" progId="Equation.DSMT4">
                    <p:embed/>
                    <p:pic>
                      <p:nvPicPr>
                        <p:cNvPr id="16408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5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1364" name="Object 52"/>
          <p:cNvGraphicFramePr>
            <a:graphicFrameLocks noChangeAspect="1"/>
          </p:cNvGraphicFramePr>
          <p:nvPr/>
        </p:nvGraphicFramePr>
        <p:xfrm>
          <a:off x="6711950" y="3797300"/>
          <a:ext cx="4714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9914" imgH="177646" progId="Equation.DSMT4">
                  <p:embed/>
                </p:oleObj>
              </mc:Choice>
              <mc:Fallback>
                <p:oleObj name="Equation" r:id="rId13" imgW="329914" imgH="177646" progId="Equation.DSMT4">
                  <p:embed/>
                  <p:pic>
                    <p:nvPicPr>
                      <p:cNvPr id="14136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3797300"/>
                        <a:ext cx="4714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7588250" y="4816475"/>
            <a:ext cx="290513" cy="706438"/>
            <a:chOff x="4616" y="3120"/>
            <a:chExt cx="183" cy="445"/>
          </a:xfrm>
        </p:grpSpPr>
        <p:sp>
          <p:nvSpPr>
            <p:cNvPr id="16404" name="Line 59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405" name="Text Box 60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98F3-4082-4A87-80C7-198491D67647}" type="slidenum">
              <a:rPr lang="pt-BR"/>
              <a:pPr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6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89088"/>
            <a:ext cx="4549775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>
                <a:sym typeface="Symbol" pitchFamily="18" charset="2"/>
              </a:rPr>
              <a:t>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  <a:endParaRPr lang="pt-BR" i="1"/>
          </a:p>
        </p:txBody>
      </p:sp>
      <p:grpSp>
        <p:nvGrpSpPr>
          <p:cNvPr id="13316" name="Group 46"/>
          <p:cNvGrpSpPr>
            <a:grpSpLocks/>
          </p:cNvGrpSpPr>
          <p:nvPr/>
        </p:nvGrpSpPr>
        <p:grpSpPr bwMode="auto">
          <a:xfrm>
            <a:off x="838200" y="1600200"/>
            <a:ext cx="2049463" cy="1565275"/>
            <a:chOff x="528" y="1008"/>
            <a:chExt cx="1291" cy="986"/>
          </a:xfrm>
        </p:grpSpPr>
        <p:sp>
          <p:nvSpPr>
            <p:cNvPr id="13329" name="Freeform 29" descr="Diagonal para cima clara"/>
            <p:cNvSpPr>
              <a:spLocks/>
            </p:cNvSpPr>
            <p:nvPr/>
          </p:nvSpPr>
          <p:spPr bwMode="auto">
            <a:xfrm>
              <a:off x="1152" y="1409"/>
              <a:ext cx="432" cy="367"/>
            </a:xfrm>
            <a:custGeom>
              <a:avLst/>
              <a:gdLst>
                <a:gd name="T0" fmla="*/ 0 w 432"/>
                <a:gd name="T1" fmla="*/ 0 h 367"/>
                <a:gd name="T2" fmla="*/ 0 w 432"/>
                <a:gd name="T3" fmla="*/ 367 h 367"/>
                <a:gd name="T4" fmla="*/ 432 w 432"/>
                <a:gd name="T5" fmla="*/ 367 h 367"/>
                <a:gd name="T6" fmla="*/ 360 w 432"/>
                <a:gd name="T7" fmla="*/ 355 h 367"/>
                <a:gd name="T8" fmla="*/ 310 w 432"/>
                <a:gd name="T9" fmla="*/ 338 h 367"/>
                <a:gd name="T10" fmla="*/ 250 w 432"/>
                <a:gd name="T11" fmla="*/ 305 h 367"/>
                <a:gd name="T12" fmla="*/ 202 w 432"/>
                <a:gd name="T13" fmla="*/ 261 h 367"/>
                <a:gd name="T14" fmla="*/ 154 w 432"/>
                <a:gd name="T15" fmla="*/ 204 h 367"/>
                <a:gd name="T16" fmla="*/ 103 w 432"/>
                <a:gd name="T17" fmla="*/ 141 h 367"/>
                <a:gd name="T18" fmla="*/ 58 w 432"/>
                <a:gd name="T19" fmla="*/ 79 h 367"/>
                <a:gd name="T20" fmla="*/ 14 w 432"/>
                <a:gd name="T21" fmla="*/ 21 h 367"/>
                <a:gd name="T22" fmla="*/ 0 w 432"/>
                <a:gd name="T23" fmla="*/ 0 h 367"/>
                <a:gd name="T24" fmla="*/ 0 w 432"/>
                <a:gd name="T25" fmla="*/ 0 h 3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32"/>
                <a:gd name="T40" fmla="*/ 0 h 367"/>
                <a:gd name="T41" fmla="*/ 432 w 432"/>
                <a:gd name="T42" fmla="*/ 367 h 3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32" h="367">
                  <a:moveTo>
                    <a:pt x="0" y="0"/>
                  </a:moveTo>
                  <a:lnTo>
                    <a:pt x="0" y="367"/>
                  </a:lnTo>
                  <a:lnTo>
                    <a:pt x="432" y="367"/>
                  </a:lnTo>
                  <a:lnTo>
                    <a:pt x="360" y="355"/>
                  </a:lnTo>
                  <a:lnTo>
                    <a:pt x="310" y="338"/>
                  </a:lnTo>
                  <a:lnTo>
                    <a:pt x="250" y="305"/>
                  </a:lnTo>
                  <a:lnTo>
                    <a:pt x="202" y="261"/>
                  </a:lnTo>
                  <a:lnTo>
                    <a:pt x="154" y="204"/>
                  </a:lnTo>
                  <a:lnTo>
                    <a:pt x="103" y="141"/>
                  </a:lnTo>
                  <a:lnTo>
                    <a:pt x="58" y="79"/>
                  </a:lnTo>
                  <a:lnTo>
                    <a:pt x="14" y="21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0" name="Freeform 24"/>
            <p:cNvSpPr>
              <a:spLocks/>
            </p:cNvSpPr>
            <p:nvPr/>
          </p:nvSpPr>
          <p:spPr bwMode="auto">
            <a:xfrm>
              <a:off x="618" y="1008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1" name="Freeform 25"/>
            <p:cNvSpPr>
              <a:spLocks/>
            </p:cNvSpPr>
            <p:nvPr/>
          </p:nvSpPr>
          <p:spPr bwMode="auto">
            <a:xfrm>
              <a:off x="614" y="1157"/>
              <a:ext cx="1034" cy="645"/>
            </a:xfrm>
            <a:custGeom>
              <a:avLst/>
              <a:gdLst>
                <a:gd name="T0" fmla="*/ 0 w 1034"/>
                <a:gd name="T1" fmla="*/ 617 h 645"/>
                <a:gd name="T2" fmla="*/ 274 w 1034"/>
                <a:gd name="T3" fmla="*/ 12 h 645"/>
                <a:gd name="T4" fmla="*/ 773 w 1034"/>
                <a:gd name="T5" fmla="*/ 545 h 645"/>
                <a:gd name="T6" fmla="*/ 1034 w 1034"/>
                <a:gd name="T7" fmla="*/ 614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2" name="Text Box 26"/>
            <p:cNvSpPr txBox="1">
              <a:spLocks noChangeArrowheads="1"/>
            </p:cNvSpPr>
            <p:nvPr/>
          </p:nvSpPr>
          <p:spPr bwMode="auto">
            <a:xfrm>
              <a:off x="528" y="1767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3333" name="Text Box 27"/>
            <p:cNvSpPr txBox="1">
              <a:spLocks noChangeArrowheads="1"/>
            </p:cNvSpPr>
            <p:nvPr/>
          </p:nvSpPr>
          <p:spPr bwMode="auto">
            <a:xfrm>
              <a:off x="1519" y="175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graphicFrame>
          <p:nvGraphicFramePr>
            <p:cNvPr id="13334" name="Object 33"/>
            <p:cNvGraphicFramePr>
              <a:graphicFrameLocks noChangeAspect="1"/>
            </p:cNvGraphicFramePr>
            <p:nvPr/>
          </p:nvGraphicFramePr>
          <p:xfrm>
            <a:off x="1056" y="1776"/>
            <a:ext cx="18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112" imgH="241195" progId="Equation.DSMT4">
                    <p:embed/>
                  </p:oleObj>
                </mc:Choice>
                <mc:Fallback>
                  <p:oleObj name="Equation" r:id="rId3" imgW="203112" imgH="241195" progId="Equation.DSMT4">
                    <p:embed/>
                    <p:pic>
                      <p:nvPicPr>
                        <p:cNvPr id="1333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6"/>
                          <a:ext cx="18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56"/>
          <p:cNvGrpSpPr>
            <a:grpSpLocks/>
          </p:cNvGrpSpPr>
          <p:nvPr/>
        </p:nvGrpSpPr>
        <p:grpSpPr bwMode="auto">
          <a:xfrm>
            <a:off x="1995488" y="2667000"/>
            <a:ext cx="1284287" cy="1277938"/>
            <a:chOff x="1257" y="1680"/>
            <a:chExt cx="809" cy="805"/>
          </a:xfrm>
        </p:grpSpPr>
        <p:graphicFrame>
          <p:nvGraphicFramePr>
            <p:cNvPr id="13327" name="Object 34"/>
            <p:cNvGraphicFramePr>
              <a:graphicFrameLocks noChangeAspect="1"/>
            </p:cNvGraphicFramePr>
            <p:nvPr/>
          </p:nvGraphicFramePr>
          <p:xfrm>
            <a:off x="1392" y="2256"/>
            <a:ext cx="67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48975" imgH="253890" progId="Equation.DSMT4">
                    <p:embed/>
                  </p:oleObj>
                </mc:Choice>
                <mc:Fallback>
                  <p:oleObj name="Equation" r:id="rId5" imgW="748975" imgH="253890" progId="Equation.DSMT4">
                    <p:embed/>
                    <p:pic>
                      <p:nvPicPr>
                        <p:cNvPr id="13327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256"/>
                          <a:ext cx="674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35"/>
            <p:cNvSpPr>
              <a:spLocks noChangeShapeType="1"/>
            </p:cNvSpPr>
            <p:nvPr/>
          </p:nvSpPr>
          <p:spPr bwMode="auto">
            <a:xfrm>
              <a:off x="1257" y="1680"/>
              <a:ext cx="279" cy="5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331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308429"/>
              </p:ext>
            </p:extLst>
          </p:nvPr>
        </p:nvGraphicFramePr>
        <p:xfrm>
          <a:off x="750888" y="5540970"/>
          <a:ext cx="179546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120" imgH="241200" progId="Equation.DSMT4">
                  <p:embed/>
                </p:oleObj>
              </mc:Choice>
              <mc:Fallback>
                <p:oleObj name="Equation" r:id="rId7" imgW="1257120" imgH="241200" progId="Equation.DSMT4">
                  <p:embed/>
                  <p:pic>
                    <p:nvPicPr>
                      <p:cNvPr id="1331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5540970"/>
                        <a:ext cx="1795462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74" name="AutoShape 58"/>
          <p:cNvSpPr>
            <a:spLocks noChangeArrowheads="1"/>
          </p:cNvSpPr>
          <p:nvPr/>
        </p:nvSpPr>
        <p:spPr bwMode="auto">
          <a:xfrm>
            <a:off x="3781425" y="4685272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5" name="Rectangle 59"/>
          <p:cNvSpPr>
            <a:spLocks noChangeArrowheads="1"/>
          </p:cNvSpPr>
          <p:nvPr/>
        </p:nvSpPr>
        <p:spPr bwMode="auto">
          <a:xfrm>
            <a:off x="5580112" y="4725144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6" name="AutoShape 60"/>
          <p:cNvSpPr>
            <a:spLocks noChangeArrowheads="1"/>
          </p:cNvSpPr>
          <p:nvPr/>
        </p:nvSpPr>
        <p:spPr bwMode="auto">
          <a:xfrm rot="5400000" flipV="1">
            <a:off x="5403260" y="25844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7" name="Rectangle 61"/>
          <p:cNvSpPr>
            <a:spLocks noChangeArrowheads="1"/>
          </p:cNvSpPr>
          <p:nvPr/>
        </p:nvSpPr>
        <p:spPr bwMode="auto">
          <a:xfrm>
            <a:off x="5580112" y="1600200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61237-D022-413B-B8C3-A7D36136AC52}" type="slidenum">
              <a:rPr lang="pt-BR"/>
              <a:pPr>
                <a:defRPr/>
              </a:pPr>
              <a:t>13</a:t>
            </a:fld>
            <a:endParaRPr lang="pt-BR"/>
          </a:p>
        </p:txBody>
      </p:sp>
      <p:graphicFrame>
        <p:nvGraphicFramePr>
          <p:cNvPr id="2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270896"/>
              </p:ext>
            </p:extLst>
          </p:nvPr>
        </p:nvGraphicFramePr>
        <p:xfrm>
          <a:off x="757238" y="5961657"/>
          <a:ext cx="17780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520" imgH="241200" progId="Equation.DSMT4">
                  <p:embed/>
                </p:oleObj>
              </mc:Choice>
              <mc:Fallback>
                <p:oleObj name="Equation" r:id="rId9" imgW="1244520" imgH="241200" progId="Equation.DSMT4">
                  <p:embed/>
                  <p:pic>
                    <p:nvPicPr>
                      <p:cNvPr id="2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5961657"/>
                        <a:ext cx="17780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35" y="4185245"/>
            <a:ext cx="1756798" cy="1257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Rectangle 61"/>
          <p:cNvSpPr>
            <a:spLocks noChangeArrowheads="1"/>
          </p:cNvSpPr>
          <p:nvPr/>
        </p:nvSpPr>
        <p:spPr bwMode="auto">
          <a:xfrm>
            <a:off x="7770569" y="1600200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" name="AutoShape 60"/>
          <p:cNvSpPr>
            <a:spLocks noChangeArrowheads="1"/>
          </p:cNvSpPr>
          <p:nvPr/>
        </p:nvSpPr>
        <p:spPr bwMode="auto">
          <a:xfrm rot="5400000" flipV="1">
            <a:off x="7622932" y="25844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7" name="Rectangle 59"/>
          <p:cNvSpPr>
            <a:spLocks noChangeArrowheads="1"/>
          </p:cNvSpPr>
          <p:nvPr/>
        </p:nvSpPr>
        <p:spPr bwMode="auto">
          <a:xfrm>
            <a:off x="7756921" y="4725144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739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74" grpId="0" animBg="1"/>
      <p:bldP spid="137275" grpId="0" animBg="1"/>
      <p:bldP spid="137276" grpId="0" animBg="1"/>
      <p:bldP spid="137277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 i="1">
                <a:sym typeface="Symbol" pitchFamily="18" charset="2"/>
              </a:rPr>
              <a:t>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tem uma distribuição normal com média </a:t>
            </a:r>
            <a:r>
              <a:rPr lang="pt-BR" altLang="pt-BR" sz="1600" i="1" dirty="0">
                <a:latin typeface="Symbol" pitchFamily="18" charset="2"/>
              </a:rPr>
              <a:t>m</a:t>
            </a:r>
            <a:r>
              <a:rPr lang="pt-BR" altLang="pt-BR" sz="1600" dirty="0">
                <a:latin typeface="Tahoma" panose="020B0604030504040204" pitchFamily="34" charset="0"/>
              </a:rPr>
              <a:t> e variância </a:t>
            </a:r>
            <a:r>
              <a:rPr lang="pt-BR" altLang="pt-BR" sz="1600" i="1" dirty="0">
                <a:latin typeface="Symbol" pitchFamily="18" charset="2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desconhecidas. Retira-se uma amostra de </a:t>
            </a:r>
            <a:r>
              <a:rPr lang="pt-BR" altLang="pt-BR" sz="1600" dirty="0">
                <a:latin typeface="Times New Roman" charset="0"/>
              </a:rPr>
              <a:t>25</a:t>
            </a:r>
            <a:r>
              <a:rPr lang="pt-BR" altLang="pt-BR" sz="1600" dirty="0">
                <a:latin typeface="Tahoma" panose="020B0604030504040204" pitchFamily="34" charset="0"/>
              </a:rPr>
              <a:t> valores e calcula-se a variância amostral. Construa um IC de </a:t>
            </a:r>
            <a:r>
              <a:rPr lang="pt-BR" altLang="pt-BR" sz="1600" dirty="0">
                <a:latin typeface="Times New Roman" charset="0"/>
              </a:rPr>
              <a:t>95%</a:t>
            </a:r>
            <a:r>
              <a:rPr lang="pt-BR" altLang="pt-BR" sz="1600" dirty="0">
                <a:latin typeface="Tahoma" panose="020B0604030504040204" pitchFamily="34" charset="0"/>
              </a:rPr>
              <a:t> para </a:t>
            </a:r>
            <a:r>
              <a:rPr lang="pt-BR" altLang="pt-BR" sz="1600" i="1" dirty="0">
                <a:latin typeface="Symbol" pitchFamily="18" charset="2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supondo que </a:t>
            </a:r>
            <a:r>
              <a:rPr lang="pt-BR" altLang="pt-BR" sz="1600" i="1" dirty="0">
                <a:latin typeface="Times New Roman" charset="0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imes New Roman" charset="0"/>
              </a:rPr>
              <a:t> = 2,34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/>
        </p:nvGraphicFramePr>
        <p:xfrm>
          <a:off x="820738" y="2895600"/>
          <a:ext cx="32321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600" imgH="482600" progId="Equation.DSMT4">
                  <p:embed/>
                </p:oleObj>
              </mc:Choice>
              <mc:Fallback>
                <p:oleObj name="Equation" r:id="rId2" imgW="2260600" imgH="482600" progId="Equation.DSMT4">
                  <p:embed/>
                  <p:pic>
                    <p:nvPicPr>
                      <p:cNvPr id="141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2895600"/>
                        <a:ext cx="32321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172200" y="4816475"/>
            <a:ext cx="290513" cy="706438"/>
            <a:chOff x="4616" y="3120"/>
            <a:chExt cx="183" cy="445"/>
          </a:xfrm>
        </p:grpSpPr>
        <p:sp>
          <p:nvSpPr>
            <p:cNvPr id="16420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421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41340" name="Text Box 28"/>
          <p:cNvSpPr txBox="1">
            <a:spLocks noChangeArrowheads="1"/>
          </p:cNvSpPr>
          <p:nvPr/>
        </p:nvSpPr>
        <p:spPr bwMode="auto">
          <a:xfrm>
            <a:off x="6000750" y="5257800"/>
            <a:ext cx="6413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imes New Roman" charset="0"/>
              </a:rPr>
              <a:t>12,40</a:t>
            </a:r>
          </a:p>
        </p:txBody>
      </p:sp>
      <p:graphicFrame>
        <p:nvGraphicFramePr>
          <p:cNvPr id="141341" name="Object 29"/>
          <p:cNvGraphicFramePr>
            <a:graphicFrameLocks noChangeAspect="1"/>
          </p:cNvGraphicFramePr>
          <p:nvPr/>
        </p:nvGraphicFramePr>
        <p:xfrm>
          <a:off x="820738" y="3814763"/>
          <a:ext cx="32496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300" imgH="457200" progId="Equation.DSMT4">
                  <p:embed/>
                </p:oleObj>
              </mc:Choice>
              <mc:Fallback>
                <p:oleObj name="Equation" r:id="rId4" imgW="2273300" imgH="457200" progId="Equation.DSMT4">
                  <p:embed/>
                  <p:pic>
                    <p:nvPicPr>
                      <p:cNvPr id="14134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3814763"/>
                        <a:ext cx="324961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43" name="Object 31"/>
          <p:cNvGraphicFramePr>
            <a:graphicFrameLocks noChangeAspect="1"/>
          </p:cNvGraphicFramePr>
          <p:nvPr/>
        </p:nvGraphicFramePr>
        <p:xfrm>
          <a:off x="803275" y="4884738"/>
          <a:ext cx="24320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800" imgH="279400" progId="Equation.DSMT4">
                  <p:embed/>
                </p:oleObj>
              </mc:Choice>
              <mc:Fallback>
                <p:oleObj name="Equation" r:id="rId6" imgW="1701800" imgH="279400" progId="Equation.DSMT4">
                  <p:embed/>
                  <p:pic>
                    <p:nvPicPr>
                      <p:cNvPr id="14134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884738"/>
                        <a:ext cx="24320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44" name="Rectangle 32"/>
          <p:cNvSpPr>
            <a:spLocks noChangeArrowheads="1"/>
          </p:cNvSpPr>
          <p:nvPr/>
        </p:nvSpPr>
        <p:spPr bwMode="auto">
          <a:xfrm>
            <a:off x="762000" y="4800600"/>
            <a:ext cx="2514600" cy="5334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7921625" y="3713163"/>
            <a:ext cx="757238" cy="601662"/>
            <a:chOff x="4990" y="2339"/>
            <a:chExt cx="477" cy="379"/>
          </a:xfrm>
        </p:grpSpPr>
        <p:sp>
          <p:nvSpPr>
            <p:cNvPr id="16418" name="Line 36"/>
            <p:cNvSpPr>
              <a:spLocks noChangeShapeType="1"/>
            </p:cNvSpPr>
            <p:nvPr/>
          </p:nvSpPr>
          <p:spPr bwMode="auto">
            <a:xfrm flipV="1">
              <a:off x="4990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6419" name="Object 37"/>
            <p:cNvGraphicFramePr>
              <a:graphicFrameLocks noChangeAspect="1"/>
            </p:cNvGraphicFramePr>
            <p:nvPr/>
          </p:nvGraphicFramePr>
          <p:xfrm>
            <a:off x="5124" y="2339"/>
            <a:ext cx="343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35" imgH="190417" progId="Equation.DSMT4">
                    <p:embed/>
                  </p:oleObj>
                </mc:Choice>
                <mc:Fallback>
                  <p:oleObj name="Equation" r:id="rId8" imgW="380835" imgH="190417" progId="Equation.DSMT4">
                    <p:embed/>
                    <p:pic>
                      <p:nvPicPr>
                        <p:cNvPr id="1641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4" y="2339"/>
                          <a:ext cx="343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5529263" y="3713163"/>
            <a:ext cx="701675" cy="601662"/>
            <a:chOff x="3483" y="2339"/>
            <a:chExt cx="442" cy="379"/>
          </a:xfrm>
        </p:grpSpPr>
        <p:sp>
          <p:nvSpPr>
            <p:cNvPr id="16416" name="Line 39"/>
            <p:cNvSpPr>
              <a:spLocks noChangeShapeType="1"/>
            </p:cNvSpPr>
            <p:nvPr/>
          </p:nvSpPr>
          <p:spPr bwMode="auto">
            <a:xfrm flipH="1" flipV="1">
              <a:off x="3733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6417" name="Object 40"/>
            <p:cNvGraphicFramePr>
              <a:graphicFrameLocks noChangeAspect="1"/>
            </p:cNvGraphicFramePr>
            <p:nvPr/>
          </p:nvGraphicFramePr>
          <p:xfrm>
            <a:off x="3483" y="2339"/>
            <a:ext cx="342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0835" imgH="190417" progId="Equation.DSMT4">
                    <p:embed/>
                  </p:oleObj>
                </mc:Choice>
                <mc:Fallback>
                  <p:oleObj name="Equation" r:id="rId10" imgW="380835" imgH="190417" progId="Equation.DSMT4">
                    <p:embed/>
                    <p:pic>
                      <p:nvPicPr>
                        <p:cNvPr id="16417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2339"/>
                          <a:ext cx="342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53" name="Freeform 41"/>
          <p:cNvSpPr>
            <a:spLocks/>
          </p:cNvSpPr>
          <p:nvPr/>
        </p:nvSpPr>
        <p:spPr bwMode="auto">
          <a:xfrm>
            <a:off x="6324600" y="2971800"/>
            <a:ext cx="1433513" cy="1517650"/>
          </a:xfrm>
          <a:custGeom>
            <a:avLst/>
            <a:gdLst>
              <a:gd name="T0" fmla="*/ 0 w 581"/>
              <a:gd name="T1" fmla="*/ 2147483647 h 608"/>
              <a:gd name="T2" fmla="*/ 0 w 581"/>
              <a:gd name="T3" fmla="*/ 2147483647 h 608"/>
              <a:gd name="T4" fmla="*/ 2147483647 w 581"/>
              <a:gd name="T5" fmla="*/ 2147483647 h 608"/>
              <a:gd name="T6" fmla="*/ 2147483647 w 581"/>
              <a:gd name="T7" fmla="*/ 2147483647 h 608"/>
              <a:gd name="T8" fmla="*/ 2147483647 w 581"/>
              <a:gd name="T9" fmla="*/ 2147483647 h 608"/>
              <a:gd name="T10" fmla="*/ 2147483647 w 581"/>
              <a:gd name="T11" fmla="*/ 2147483647 h 608"/>
              <a:gd name="T12" fmla="*/ 2147483647 w 581"/>
              <a:gd name="T13" fmla="*/ 2147483647 h 608"/>
              <a:gd name="T14" fmla="*/ 2147483647 w 581"/>
              <a:gd name="T15" fmla="*/ 2147483647 h 608"/>
              <a:gd name="T16" fmla="*/ 2147483647 w 581"/>
              <a:gd name="T17" fmla="*/ 0 h 608"/>
              <a:gd name="T18" fmla="*/ 2147483647 w 581"/>
              <a:gd name="T19" fmla="*/ 2147483647 h 608"/>
              <a:gd name="T20" fmla="*/ 2147483647 w 581"/>
              <a:gd name="T21" fmla="*/ 2147483647 h 608"/>
              <a:gd name="T22" fmla="*/ 2147483647 w 581"/>
              <a:gd name="T23" fmla="*/ 2147483647 h 608"/>
              <a:gd name="T24" fmla="*/ 2147483647 w 581"/>
              <a:gd name="T25" fmla="*/ 2147483647 h 608"/>
              <a:gd name="T26" fmla="*/ 2147483647 w 581"/>
              <a:gd name="T27" fmla="*/ 2147483647 h 608"/>
              <a:gd name="T28" fmla="*/ 2147483647 w 581"/>
              <a:gd name="T29" fmla="*/ 2147483647 h 608"/>
              <a:gd name="T30" fmla="*/ 2147483647 w 581"/>
              <a:gd name="T31" fmla="*/ 2147483647 h 608"/>
              <a:gd name="T32" fmla="*/ 2147483647 w 581"/>
              <a:gd name="T33" fmla="*/ 2147483647 h 608"/>
              <a:gd name="T34" fmla="*/ 2147483647 w 581"/>
              <a:gd name="T35" fmla="*/ 2147483647 h 608"/>
              <a:gd name="T36" fmla="*/ 2147483647 w 581"/>
              <a:gd name="T37" fmla="*/ 2147483647 h 608"/>
              <a:gd name="T38" fmla="*/ 0 w 581"/>
              <a:gd name="T39" fmla="*/ 2147483647 h 60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81"/>
              <a:gd name="T61" fmla="*/ 0 h 608"/>
              <a:gd name="T62" fmla="*/ 581 w 581"/>
              <a:gd name="T63" fmla="*/ 608 h 60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81" h="608">
                <a:moveTo>
                  <a:pt x="0" y="608"/>
                </a:moveTo>
                <a:lnTo>
                  <a:pt x="0" y="305"/>
                </a:lnTo>
                <a:lnTo>
                  <a:pt x="24" y="238"/>
                </a:lnTo>
                <a:lnTo>
                  <a:pt x="50" y="171"/>
                </a:lnTo>
                <a:lnTo>
                  <a:pt x="70" y="118"/>
                </a:lnTo>
                <a:lnTo>
                  <a:pt x="103" y="68"/>
                </a:lnTo>
                <a:lnTo>
                  <a:pt x="127" y="32"/>
                </a:lnTo>
                <a:lnTo>
                  <a:pt x="166" y="5"/>
                </a:lnTo>
                <a:lnTo>
                  <a:pt x="199" y="0"/>
                </a:lnTo>
                <a:lnTo>
                  <a:pt x="233" y="20"/>
                </a:lnTo>
                <a:lnTo>
                  <a:pt x="269" y="46"/>
                </a:lnTo>
                <a:lnTo>
                  <a:pt x="310" y="80"/>
                </a:lnTo>
                <a:lnTo>
                  <a:pt x="355" y="135"/>
                </a:lnTo>
                <a:lnTo>
                  <a:pt x="401" y="188"/>
                </a:lnTo>
                <a:lnTo>
                  <a:pt x="444" y="248"/>
                </a:lnTo>
                <a:lnTo>
                  <a:pt x="499" y="320"/>
                </a:lnTo>
                <a:lnTo>
                  <a:pt x="557" y="394"/>
                </a:lnTo>
                <a:lnTo>
                  <a:pt x="581" y="430"/>
                </a:lnTo>
                <a:lnTo>
                  <a:pt x="581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5959475" y="2578100"/>
            <a:ext cx="2867025" cy="2286000"/>
            <a:chOff x="3754" y="1624"/>
            <a:chExt cx="1806" cy="1440"/>
          </a:xfrm>
        </p:grpSpPr>
        <p:grpSp>
          <p:nvGrpSpPr>
            <p:cNvPr id="16406" name="Group 56"/>
            <p:cNvGrpSpPr>
              <a:grpSpLocks/>
            </p:cNvGrpSpPr>
            <p:nvPr/>
          </p:nvGrpSpPr>
          <p:grpSpPr bwMode="auto">
            <a:xfrm>
              <a:off x="3754" y="1624"/>
              <a:ext cx="1806" cy="1440"/>
              <a:chOff x="3754" y="1624"/>
              <a:chExt cx="1806" cy="1440"/>
            </a:xfrm>
          </p:grpSpPr>
          <p:grpSp>
            <p:nvGrpSpPr>
              <p:cNvPr id="16409" name="Group 55"/>
              <p:cNvGrpSpPr>
                <a:grpSpLocks/>
              </p:cNvGrpSpPr>
              <p:nvPr/>
            </p:nvGrpSpPr>
            <p:grpSpPr bwMode="auto">
              <a:xfrm>
                <a:off x="4656" y="1655"/>
                <a:ext cx="408" cy="309"/>
                <a:chOff x="4656" y="1655"/>
                <a:chExt cx="408" cy="309"/>
              </a:xfrm>
            </p:grpSpPr>
            <p:sp>
              <p:nvSpPr>
                <p:cNvPr id="16414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4656" y="182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16415" name="Object 45"/>
                <p:cNvGraphicFramePr>
                  <a:graphicFrameLocks noChangeAspect="1"/>
                </p:cNvGraphicFramePr>
                <p:nvPr/>
              </p:nvGraphicFramePr>
              <p:xfrm>
                <a:off x="4847" y="1655"/>
                <a:ext cx="217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1" imgW="241195" imgH="241195" progId="Equation.DSMT4">
                        <p:embed/>
                      </p:oleObj>
                    </mc:Choice>
                    <mc:Fallback>
                      <p:oleObj name="Equation" r:id="rId11" imgW="241195" imgH="241195" progId="Equation.DSMT4">
                        <p:embed/>
                        <p:pic>
                          <p:nvPicPr>
                            <p:cNvPr id="16415" name="Object 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7" y="1655"/>
                              <a:ext cx="217" cy="216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0" name="Freeform 46"/>
              <p:cNvSpPr>
                <a:spLocks/>
              </p:cNvSpPr>
              <p:nvPr/>
            </p:nvSpPr>
            <p:spPr bwMode="auto">
              <a:xfrm>
                <a:off x="3844" y="1624"/>
                <a:ext cx="1716" cy="1207"/>
              </a:xfrm>
              <a:custGeom>
                <a:avLst/>
                <a:gdLst>
                  <a:gd name="T0" fmla="*/ 0 w 1104"/>
                  <a:gd name="T1" fmla="*/ 0 h 768"/>
                  <a:gd name="T2" fmla="*/ 0 w 1104"/>
                  <a:gd name="T3" fmla="*/ 153700292 h 768"/>
                  <a:gd name="T4" fmla="*/ 163958880 w 1104"/>
                  <a:gd name="T5" fmla="*/ 153700292 h 768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768"/>
                  <a:gd name="T11" fmla="*/ 1104 w 110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768">
                    <a:moveTo>
                      <a:pt x="0" y="0"/>
                    </a:moveTo>
                    <a:lnTo>
                      <a:pt x="0" y="768"/>
                    </a:lnTo>
                    <a:lnTo>
                      <a:pt x="1104" y="76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411" name="Freeform 47"/>
              <p:cNvSpPr>
                <a:spLocks/>
              </p:cNvSpPr>
              <p:nvPr/>
            </p:nvSpPr>
            <p:spPr bwMode="auto">
              <a:xfrm>
                <a:off x="3838" y="1858"/>
                <a:ext cx="1607" cy="1014"/>
              </a:xfrm>
              <a:custGeom>
                <a:avLst/>
                <a:gdLst>
                  <a:gd name="T0" fmla="*/ 0 w 1034"/>
                  <a:gd name="T1" fmla="*/ 124490005 h 645"/>
                  <a:gd name="T2" fmla="*/ 40569871 w 1034"/>
                  <a:gd name="T3" fmla="*/ 2431614 h 645"/>
                  <a:gd name="T4" fmla="*/ 114429682 w 1034"/>
                  <a:gd name="T5" fmla="*/ 110009555 h 645"/>
                  <a:gd name="T6" fmla="*/ 153080549 w 1034"/>
                  <a:gd name="T7" fmla="*/ 123863746 h 6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4"/>
                  <a:gd name="T13" fmla="*/ 0 h 645"/>
                  <a:gd name="T14" fmla="*/ 1034 w 1034"/>
                  <a:gd name="T15" fmla="*/ 645 h 6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4" h="645">
                    <a:moveTo>
                      <a:pt x="0" y="617"/>
                    </a:moveTo>
                    <a:cubicBezTo>
                      <a:pt x="46" y="516"/>
                      <a:pt x="145" y="24"/>
                      <a:pt x="274" y="12"/>
                    </a:cubicBezTo>
                    <a:cubicBezTo>
                      <a:pt x="403" y="0"/>
                      <a:pt x="646" y="445"/>
                      <a:pt x="773" y="545"/>
                    </a:cubicBezTo>
                    <a:cubicBezTo>
                      <a:pt x="900" y="645"/>
                      <a:pt x="980" y="600"/>
                      <a:pt x="1034" y="61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412" name="Text Box 48"/>
              <p:cNvSpPr txBox="1">
                <a:spLocks noChangeArrowheads="1"/>
              </p:cNvSpPr>
              <p:nvPr/>
            </p:nvSpPr>
            <p:spPr bwMode="auto">
              <a:xfrm>
                <a:off x="3754" y="28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6413" name="Text Box 49"/>
              <p:cNvSpPr txBox="1">
                <a:spLocks noChangeArrowheads="1"/>
              </p:cNvSpPr>
              <p:nvPr/>
            </p:nvSpPr>
            <p:spPr bwMode="auto">
              <a:xfrm>
                <a:off x="5230" y="2809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</p:grpSp>
        <p:graphicFrame>
          <p:nvGraphicFramePr>
            <p:cNvPr id="16407" name="Object 50"/>
            <p:cNvGraphicFramePr>
              <a:graphicFrameLocks noChangeAspect="1"/>
            </p:cNvGraphicFramePr>
            <p:nvPr/>
          </p:nvGraphicFramePr>
          <p:xfrm>
            <a:off x="3909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5028" imgH="228501" progId="Equation.DSMT4">
                    <p:embed/>
                  </p:oleObj>
                </mc:Choice>
                <mc:Fallback>
                  <p:oleObj name="Equation" r:id="rId13" imgW="165028" imgH="228501" progId="Equation.DSMT4">
                    <p:embed/>
                    <p:pic>
                      <p:nvPicPr>
                        <p:cNvPr id="16407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9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51"/>
            <p:cNvGraphicFramePr>
              <a:graphicFrameLocks noChangeAspect="1"/>
            </p:cNvGraphicFramePr>
            <p:nvPr/>
          </p:nvGraphicFramePr>
          <p:xfrm>
            <a:off x="4815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5028" imgH="228501" progId="Equation.DSMT4">
                    <p:embed/>
                  </p:oleObj>
                </mc:Choice>
                <mc:Fallback>
                  <p:oleObj name="Equation" r:id="rId15" imgW="165028" imgH="228501" progId="Equation.DSMT4">
                    <p:embed/>
                    <p:pic>
                      <p:nvPicPr>
                        <p:cNvPr id="16408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5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1364" name="Object 52"/>
          <p:cNvGraphicFramePr>
            <a:graphicFrameLocks noChangeAspect="1"/>
          </p:cNvGraphicFramePr>
          <p:nvPr/>
        </p:nvGraphicFramePr>
        <p:xfrm>
          <a:off x="6711950" y="3797300"/>
          <a:ext cx="4714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29914" imgH="177646" progId="Equation.DSMT4">
                  <p:embed/>
                </p:oleObj>
              </mc:Choice>
              <mc:Fallback>
                <p:oleObj name="Equation" r:id="rId17" imgW="329914" imgH="177646" progId="Equation.DSMT4">
                  <p:embed/>
                  <p:pic>
                    <p:nvPicPr>
                      <p:cNvPr id="14136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3797300"/>
                        <a:ext cx="4714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7588250" y="4816475"/>
            <a:ext cx="290513" cy="706438"/>
            <a:chOff x="4616" y="3120"/>
            <a:chExt cx="183" cy="445"/>
          </a:xfrm>
        </p:grpSpPr>
        <p:sp>
          <p:nvSpPr>
            <p:cNvPr id="16404" name="Line 59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405" name="Text Box 60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41373" name="Text Box 61"/>
          <p:cNvSpPr txBox="1">
            <a:spLocks noChangeArrowheads="1"/>
          </p:cNvSpPr>
          <p:nvPr/>
        </p:nvSpPr>
        <p:spPr bwMode="auto">
          <a:xfrm>
            <a:off x="7416800" y="5257800"/>
            <a:ext cx="6413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imes New Roman" charset="0"/>
              </a:rPr>
              <a:t>39,36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98F3-4082-4A87-80C7-198491D67647}" type="slidenum">
              <a:rPr lang="pt-BR"/>
              <a:pPr>
                <a:defRPr/>
              </a:pPr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344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4743450" y="2878138"/>
            <a:ext cx="4000500" cy="2660650"/>
            <a:chOff x="2988" y="1813"/>
            <a:chExt cx="2520" cy="1676"/>
          </a:xfrm>
        </p:grpSpPr>
        <p:grpSp>
          <p:nvGrpSpPr>
            <p:cNvPr id="23580" name="Group 3"/>
            <p:cNvGrpSpPr>
              <a:grpSpLocks/>
            </p:cNvGrpSpPr>
            <p:nvPr/>
          </p:nvGrpSpPr>
          <p:grpSpPr bwMode="auto">
            <a:xfrm>
              <a:off x="2988" y="1872"/>
              <a:ext cx="2520" cy="1617"/>
              <a:chOff x="2988" y="1872"/>
              <a:chExt cx="2520" cy="1617"/>
            </a:xfrm>
          </p:grpSpPr>
          <p:pic>
            <p:nvPicPr>
              <p:cNvPr id="2358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84" name="Text Box 5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-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23585" name="Text Box 6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+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23586" name="Text Box 7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3587" name="Line 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3581" name="Line 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3582" name="Object 10"/>
            <p:cNvGraphicFramePr>
              <a:graphicFrameLocks noChangeAspect="1"/>
            </p:cNvGraphicFramePr>
            <p:nvPr/>
          </p:nvGraphicFramePr>
          <p:xfrm>
            <a:off x="4690" y="1813"/>
            <a:ext cx="20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28600" imgH="228600" progId="Equation.DSMT4">
                    <p:embed/>
                  </p:oleObj>
                </mc:Choice>
                <mc:Fallback>
                  <p:oleObj name="Equation" r:id="rId3" imgW="228600" imgH="228600" progId="Equation.DSMT4">
                    <p:embed/>
                    <p:pic>
                      <p:nvPicPr>
                        <p:cNvPr id="2358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0" y="1813"/>
                          <a:ext cx="206" cy="20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5421" name="Object 13"/>
          <p:cNvGraphicFramePr>
            <a:graphicFrameLocks noChangeAspect="1"/>
          </p:cNvGraphicFramePr>
          <p:nvPr/>
        </p:nvGraphicFramePr>
        <p:xfrm>
          <a:off x="892175" y="2562225"/>
          <a:ext cx="9620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08" imgH="609336" progId="Equation.DSMT4">
                  <p:embed/>
                </p:oleObj>
              </mc:Choice>
              <mc:Fallback>
                <p:oleObj name="Equation" r:id="rId5" imgW="672808" imgH="609336" progId="Equation.DSMT4">
                  <p:embed/>
                  <p:pic>
                    <p:nvPicPr>
                      <p:cNvPr id="1454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562225"/>
                        <a:ext cx="9620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3" name="Object 15"/>
          <p:cNvGraphicFramePr>
            <a:graphicFrameLocks noChangeAspect="1"/>
          </p:cNvGraphicFramePr>
          <p:nvPr/>
        </p:nvGraphicFramePr>
        <p:xfrm>
          <a:off x="1692275" y="2697163"/>
          <a:ext cx="32702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28600" progId="Equation.DSMT4">
                  <p:embed/>
                </p:oleObj>
              </mc:Choice>
              <mc:Fallback>
                <p:oleObj name="Equation" r:id="rId7" imgW="228600" imgH="228600" progId="Equation.DSMT4">
                  <p:embed/>
                  <p:pic>
                    <p:nvPicPr>
                      <p:cNvPr id="145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97163"/>
                        <a:ext cx="327025" cy="325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5" name="Freeform 17"/>
          <p:cNvSpPr>
            <a:spLocks/>
          </p:cNvSpPr>
          <p:nvPr/>
        </p:nvSpPr>
        <p:spPr bwMode="auto">
          <a:xfrm>
            <a:off x="6169025" y="3041650"/>
            <a:ext cx="1184275" cy="2073275"/>
          </a:xfrm>
          <a:custGeom>
            <a:avLst/>
            <a:gdLst>
              <a:gd name="T0" fmla="*/ 0 w 440"/>
              <a:gd name="T1" fmla="*/ 2147483647 h 771"/>
              <a:gd name="T2" fmla="*/ 2147483647 w 440"/>
              <a:gd name="T3" fmla="*/ 2147483647 h 771"/>
              <a:gd name="T4" fmla="*/ 2147483647 w 440"/>
              <a:gd name="T5" fmla="*/ 2147483647 h 771"/>
              <a:gd name="T6" fmla="*/ 2147483647 w 440"/>
              <a:gd name="T7" fmla="*/ 2147483647 h 771"/>
              <a:gd name="T8" fmla="*/ 2147483647 w 440"/>
              <a:gd name="T9" fmla="*/ 2147483647 h 771"/>
              <a:gd name="T10" fmla="*/ 2147483647 w 440"/>
              <a:gd name="T11" fmla="*/ 2147483647 h 771"/>
              <a:gd name="T12" fmla="*/ 2147483647 w 440"/>
              <a:gd name="T13" fmla="*/ 2147483647 h 771"/>
              <a:gd name="T14" fmla="*/ 2147483647 w 440"/>
              <a:gd name="T15" fmla="*/ 2147483647 h 771"/>
              <a:gd name="T16" fmla="*/ 2147483647 w 440"/>
              <a:gd name="T17" fmla="*/ 2147483647 h 771"/>
              <a:gd name="T18" fmla="*/ 2147483647 w 440"/>
              <a:gd name="T19" fmla="*/ 2147483647 h 771"/>
              <a:gd name="T20" fmla="*/ 2147483647 w 440"/>
              <a:gd name="T21" fmla="*/ 0 h 771"/>
              <a:gd name="T22" fmla="*/ 2147483647 w 440"/>
              <a:gd name="T23" fmla="*/ 0 h 771"/>
              <a:gd name="T24" fmla="*/ 2147483647 w 440"/>
              <a:gd name="T25" fmla="*/ 2147483647 h 771"/>
              <a:gd name="T26" fmla="*/ 2147483647 w 440"/>
              <a:gd name="T27" fmla="*/ 2147483647 h 771"/>
              <a:gd name="T28" fmla="*/ 2147483647 w 440"/>
              <a:gd name="T29" fmla="*/ 2147483647 h 771"/>
              <a:gd name="T30" fmla="*/ 2147483647 w 440"/>
              <a:gd name="T31" fmla="*/ 2147483647 h 771"/>
              <a:gd name="T32" fmla="*/ 2147483647 w 440"/>
              <a:gd name="T33" fmla="*/ 2147483647 h 771"/>
              <a:gd name="T34" fmla="*/ 2147483647 w 440"/>
              <a:gd name="T35" fmla="*/ 2147483647 h 771"/>
              <a:gd name="T36" fmla="*/ 2147483647 w 440"/>
              <a:gd name="T37" fmla="*/ 2147483647 h 771"/>
              <a:gd name="T38" fmla="*/ 2147483647 w 440"/>
              <a:gd name="T39" fmla="*/ 2147483647 h 771"/>
              <a:gd name="T40" fmla="*/ 2147483647 w 440"/>
              <a:gd name="T41" fmla="*/ 2147483647 h 771"/>
              <a:gd name="T42" fmla="*/ 2147483647 w 440"/>
              <a:gd name="T43" fmla="*/ 2147483647 h 771"/>
              <a:gd name="T44" fmla="*/ 2147483647 w 440"/>
              <a:gd name="T45" fmla="*/ 2147483647 h 771"/>
              <a:gd name="T46" fmla="*/ 0 w 440"/>
              <a:gd name="T47" fmla="*/ 2147483647 h 771"/>
              <a:gd name="T48" fmla="*/ 0 w 440"/>
              <a:gd name="T49" fmla="*/ 2147483647 h 77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440"/>
              <a:gd name="T76" fmla="*/ 0 h 771"/>
              <a:gd name="T77" fmla="*/ 440 w 440"/>
              <a:gd name="T78" fmla="*/ 771 h 771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440" h="771">
                <a:moveTo>
                  <a:pt x="0" y="406"/>
                </a:moveTo>
                <a:lnTo>
                  <a:pt x="22" y="353"/>
                </a:lnTo>
                <a:lnTo>
                  <a:pt x="41" y="298"/>
                </a:lnTo>
                <a:lnTo>
                  <a:pt x="63" y="240"/>
                </a:lnTo>
                <a:lnTo>
                  <a:pt x="89" y="180"/>
                </a:lnTo>
                <a:lnTo>
                  <a:pt x="111" y="130"/>
                </a:lnTo>
                <a:lnTo>
                  <a:pt x="132" y="82"/>
                </a:lnTo>
                <a:lnTo>
                  <a:pt x="156" y="44"/>
                </a:lnTo>
                <a:lnTo>
                  <a:pt x="176" y="20"/>
                </a:lnTo>
                <a:lnTo>
                  <a:pt x="200" y="3"/>
                </a:lnTo>
                <a:lnTo>
                  <a:pt x="216" y="0"/>
                </a:lnTo>
                <a:lnTo>
                  <a:pt x="236" y="0"/>
                </a:lnTo>
                <a:lnTo>
                  <a:pt x="252" y="12"/>
                </a:lnTo>
                <a:lnTo>
                  <a:pt x="276" y="34"/>
                </a:lnTo>
                <a:lnTo>
                  <a:pt x="303" y="72"/>
                </a:lnTo>
                <a:lnTo>
                  <a:pt x="324" y="123"/>
                </a:lnTo>
                <a:lnTo>
                  <a:pt x="346" y="173"/>
                </a:lnTo>
                <a:lnTo>
                  <a:pt x="375" y="243"/>
                </a:lnTo>
                <a:lnTo>
                  <a:pt x="396" y="298"/>
                </a:lnTo>
                <a:lnTo>
                  <a:pt x="420" y="348"/>
                </a:lnTo>
                <a:lnTo>
                  <a:pt x="432" y="382"/>
                </a:lnTo>
                <a:lnTo>
                  <a:pt x="440" y="404"/>
                </a:lnTo>
                <a:lnTo>
                  <a:pt x="440" y="771"/>
                </a:lnTo>
                <a:lnTo>
                  <a:pt x="0" y="771"/>
                </a:lnTo>
                <a:lnTo>
                  <a:pt x="0" y="406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45426" name="Text Box 18"/>
          <p:cNvSpPr txBox="1">
            <a:spLocks noChangeArrowheads="1"/>
          </p:cNvSpPr>
          <p:nvPr/>
        </p:nvSpPr>
        <p:spPr bwMode="auto">
          <a:xfrm>
            <a:off x="7189788" y="50371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 dirty="0">
                <a:latin typeface="Times New Roman" charset="0"/>
              </a:rPr>
              <a:t>t</a:t>
            </a:r>
          </a:p>
        </p:txBody>
      </p:sp>
      <p:sp>
        <p:nvSpPr>
          <p:cNvPr id="145427" name="Text Box 19"/>
          <p:cNvSpPr txBox="1">
            <a:spLocks noChangeArrowheads="1"/>
          </p:cNvSpPr>
          <p:nvPr/>
        </p:nvSpPr>
        <p:spPr bwMode="auto">
          <a:xfrm>
            <a:off x="5962650" y="5037138"/>
            <a:ext cx="338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-t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7620000" y="4130675"/>
            <a:ext cx="611188" cy="746125"/>
            <a:chOff x="4800" y="2602"/>
            <a:chExt cx="385" cy="470"/>
          </a:xfrm>
        </p:grpSpPr>
        <p:sp>
          <p:nvSpPr>
            <p:cNvPr id="23578" name="Line 22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3579" name="Object 23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646" imgH="393359" progId="Equation.DSMT4">
                    <p:embed/>
                  </p:oleObj>
                </mc:Choice>
                <mc:Fallback>
                  <p:oleObj name="Equation" r:id="rId9" imgW="177646" imgH="393359" progId="Equation.DSMT4">
                    <p:embed/>
                    <p:pic>
                      <p:nvPicPr>
                        <p:cNvPr id="2357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386388" y="4114800"/>
            <a:ext cx="557212" cy="746125"/>
            <a:chOff x="2769" y="2544"/>
            <a:chExt cx="351" cy="470"/>
          </a:xfrm>
        </p:grpSpPr>
        <p:sp>
          <p:nvSpPr>
            <p:cNvPr id="23576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3577" name="Object 26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646" imgH="393359" progId="Equation.DSMT4">
                    <p:embed/>
                  </p:oleObj>
                </mc:Choice>
                <mc:Fallback>
                  <p:oleObj name="Equation" r:id="rId11" imgW="177646" imgH="393359" progId="Equation.DSMT4">
                    <p:embed/>
                    <p:pic>
                      <p:nvPicPr>
                        <p:cNvPr id="23577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5435" name="Object 27"/>
          <p:cNvGraphicFramePr>
            <a:graphicFrameLocks noChangeAspect="1"/>
          </p:cNvGraphicFramePr>
          <p:nvPr/>
        </p:nvGraphicFramePr>
        <p:xfrm>
          <a:off x="6526213" y="4264025"/>
          <a:ext cx="4905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2603" imgH="177646" progId="Equation.DSMT4">
                  <p:embed/>
                </p:oleObj>
              </mc:Choice>
              <mc:Fallback>
                <p:oleObj name="Equation" r:id="rId13" imgW="342603" imgH="177646" progId="Equation.DSMT4">
                  <p:embed/>
                  <p:pic>
                    <p:nvPicPr>
                      <p:cNvPr id="14543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4264025"/>
                        <a:ext cx="49053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37" name="Object 29"/>
          <p:cNvGraphicFramePr>
            <a:graphicFrameLocks noChangeAspect="1"/>
          </p:cNvGraphicFramePr>
          <p:nvPr/>
        </p:nvGraphicFramePr>
        <p:xfrm>
          <a:off x="874713" y="3657600"/>
          <a:ext cx="2286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00200" imgH="609600" progId="Equation.DSMT4">
                  <p:embed/>
                </p:oleObj>
              </mc:Choice>
              <mc:Fallback>
                <p:oleObj name="Equation" r:id="rId15" imgW="1600200" imgH="609600" progId="Equation.DSMT4">
                  <p:embed/>
                  <p:pic>
                    <p:nvPicPr>
                      <p:cNvPr id="14543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3657600"/>
                        <a:ext cx="2286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38" name="Object 30"/>
          <p:cNvGraphicFramePr>
            <a:graphicFrameLocks noChangeAspect="1"/>
          </p:cNvGraphicFramePr>
          <p:nvPr/>
        </p:nvGraphicFramePr>
        <p:xfrm>
          <a:off x="874713" y="4510088"/>
          <a:ext cx="29210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44700" imgH="419100" progId="Equation.DSMT4">
                  <p:embed/>
                </p:oleObj>
              </mc:Choice>
              <mc:Fallback>
                <p:oleObj name="Equation" r:id="rId17" imgW="2044700" imgH="419100" progId="Equation.DSMT4">
                  <p:embed/>
                  <p:pic>
                    <p:nvPicPr>
                      <p:cNvPr id="14543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4510088"/>
                        <a:ext cx="29210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39" name="Object 31"/>
          <p:cNvGraphicFramePr>
            <a:graphicFrameLocks noChangeAspect="1"/>
          </p:cNvGraphicFramePr>
          <p:nvPr/>
        </p:nvGraphicFramePr>
        <p:xfrm>
          <a:off x="873125" y="5424488"/>
          <a:ext cx="31940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35200" imgH="419100" progId="Equation.DSMT4">
                  <p:embed/>
                </p:oleObj>
              </mc:Choice>
              <mc:Fallback>
                <p:oleObj name="Equation" r:id="rId19" imgW="2235200" imgH="419100" progId="Equation.DSMT4">
                  <p:embed/>
                  <p:pic>
                    <p:nvPicPr>
                      <p:cNvPr id="14543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5424488"/>
                        <a:ext cx="31940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40" name="Rectangle 32"/>
          <p:cNvSpPr>
            <a:spLocks noChangeArrowheads="1"/>
          </p:cNvSpPr>
          <p:nvPr/>
        </p:nvSpPr>
        <p:spPr bwMode="auto">
          <a:xfrm>
            <a:off x="685800" y="5348288"/>
            <a:ext cx="3657600" cy="762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5441" name="Text Box 33"/>
          <p:cNvSpPr txBox="1">
            <a:spLocks noChangeArrowheads="1"/>
          </p:cNvSpPr>
          <p:nvPr/>
        </p:nvSpPr>
        <p:spPr bwMode="auto">
          <a:xfrm>
            <a:off x="1752600" y="6186488"/>
            <a:ext cx="1182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IC para </a:t>
            </a:r>
            <a:r>
              <a:rPr lang="pt-BR" altLang="pt-BR" sz="1800" i="1" dirty="0">
                <a:solidFill>
                  <a:srgbClr val="FF3300"/>
                </a:solidFill>
                <a:latin typeface="Symbol" pitchFamily="18" charset="2"/>
              </a:rPr>
              <a:t>m</a:t>
            </a:r>
          </a:p>
        </p:txBody>
      </p:sp>
      <p:graphicFrame>
        <p:nvGraphicFramePr>
          <p:cNvPr id="23568" name="Object 36"/>
          <p:cNvGraphicFramePr>
            <a:graphicFrameLocks noChangeAspect="1"/>
          </p:cNvGraphicFramePr>
          <p:nvPr/>
        </p:nvGraphicFramePr>
        <p:xfrm>
          <a:off x="838200" y="1681163"/>
          <a:ext cx="128746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01309" imgH="228501" progId="Equation.DSMT4">
                  <p:embed/>
                </p:oleObj>
              </mc:Choice>
              <mc:Fallback>
                <p:oleObj name="Equation" r:id="rId21" imgW="901309" imgH="228501" progId="Equation.DSMT4">
                  <p:embed/>
                  <p:pic>
                    <p:nvPicPr>
                      <p:cNvPr id="2356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81163"/>
                        <a:ext cx="128746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45" name="Text Box 37"/>
          <p:cNvSpPr txBox="1">
            <a:spLocks noChangeArrowheads="1"/>
          </p:cNvSpPr>
          <p:nvPr/>
        </p:nvSpPr>
        <p:spPr bwMode="auto">
          <a:xfrm>
            <a:off x="2368550" y="1676400"/>
            <a:ext cx="214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desconhecidos</a:t>
            </a:r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517525" y="2362200"/>
            <a:ext cx="1127125" cy="1208088"/>
            <a:chOff x="326" y="1314"/>
            <a:chExt cx="710" cy="761"/>
          </a:xfrm>
        </p:grpSpPr>
        <p:sp>
          <p:nvSpPr>
            <p:cNvPr id="23574" name="Oval 40"/>
            <p:cNvSpPr>
              <a:spLocks noChangeArrowheads="1"/>
            </p:cNvSpPr>
            <p:nvPr/>
          </p:nvSpPr>
          <p:spPr bwMode="auto">
            <a:xfrm>
              <a:off x="460" y="1314"/>
              <a:ext cx="576" cy="72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75" name="Text Box 41"/>
            <p:cNvSpPr txBox="1">
              <a:spLocks noChangeArrowheads="1"/>
            </p:cNvSpPr>
            <p:nvPr/>
          </p:nvSpPr>
          <p:spPr bwMode="auto">
            <a:xfrm>
              <a:off x="326" y="186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charset="0"/>
                </a:rPr>
                <a:t>T</a:t>
              </a:r>
            </a:p>
          </p:txBody>
        </p:sp>
      </p:grpSp>
      <p:graphicFrame>
        <p:nvGraphicFramePr>
          <p:cNvPr id="145452" name="Object 44"/>
          <p:cNvGraphicFramePr>
            <a:graphicFrameLocks noChangeAspect="1"/>
          </p:cNvGraphicFramePr>
          <p:nvPr/>
        </p:nvGraphicFramePr>
        <p:xfrm>
          <a:off x="6832600" y="5715000"/>
          <a:ext cx="18542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95400" imgH="203200" progId="Equation.DSMT4">
                  <p:embed/>
                </p:oleObj>
              </mc:Choice>
              <mc:Fallback>
                <p:oleObj name="Equation" r:id="rId23" imgW="1295400" imgH="203200" progId="Equation.DSMT4">
                  <p:embed/>
                  <p:pic>
                    <p:nvPicPr>
                      <p:cNvPr id="14545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715000"/>
                        <a:ext cx="18542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0F285-DC8A-453D-90ED-B2005B5FA02C}" type="slidenum">
              <a:rPr lang="pt-BR"/>
              <a:pPr>
                <a:defRPr/>
              </a:pPr>
              <a:t>15</a:t>
            </a:fld>
            <a:endParaRPr lang="pt-BR"/>
          </a:p>
        </p:txBody>
      </p:sp>
      <p:sp>
        <p:nvSpPr>
          <p:cNvPr id="39" name="Rectangle 11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dirty="0"/>
              <a:t>Intervalo de Confiança para </a:t>
            </a:r>
            <a:r>
              <a:rPr lang="pt-BR" sz="2800" i="1" dirty="0">
                <a:sym typeface="Symbol" pitchFamily="18" charset="2"/>
              </a:rPr>
              <a:t></a:t>
            </a:r>
            <a:r>
              <a:rPr lang="pt-BR" sz="2800" dirty="0"/>
              <a:t> com </a:t>
            </a:r>
            <a:r>
              <a:rPr lang="pt-BR" sz="2800" i="1" dirty="0">
                <a:sym typeface="Symbol" pitchFamily="18" charset="2"/>
              </a:rPr>
              <a:t></a:t>
            </a:r>
            <a:r>
              <a:rPr lang="pt-BR" sz="28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sz="2800" dirty="0"/>
              <a:t> desconhecida</a:t>
            </a:r>
            <a:endParaRPr lang="pt-BR" sz="2800" baseline="30000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5" grpId="0" animBg="1"/>
      <p:bldP spid="145426" grpId="0" autoUpdateAnimBg="0"/>
      <p:bldP spid="145427" grpId="0" autoUpdateAnimBg="0"/>
      <p:bldP spid="145440" grpId="0" animBg="1"/>
      <p:bldP spid="145441" grpId="0" autoUpdateAnimBg="0"/>
      <p:bldP spid="14544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9"/>
                <a:ext cx="8664575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Exemplo: 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qualquer tem uma distribuição normal com média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variância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desconhecidas. Retira-se uma amostra de </a:t>
                </a:r>
                <a:r>
                  <a:rPr lang="pt-BR" altLang="pt-BR" sz="1600" dirty="0">
                    <a:latin typeface="Times New Roman" charset="0"/>
                  </a:rPr>
                  <a:t>25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valores e calcula-se a média amostral e a variância amostral. Construa um IC de </a:t>
                </a:r>
                <a:r>
                  <a:rPr lang="pt-BR" altLang="pt-BR" sz="1600" dirty="0">
                    <a:latin typeface="Times New Roman" charset="0"/>
                  </a:rPr>
                  <a:t>95%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para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supondo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12,7</a:t>
                </a:r>
                <a:r>
                  <a:rPr lang="pt-BR" altLang="pt-BR" sz="1600">
                    <a:latin typeface="Tahoma" panose="020B0604030504040204" pitchFamily="34" charset="0"/>
                  </a:rPr>
                  <a:t>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e </a:t>
                </a:r>
                <a:r>
                  <a:rPr lang="pt-BR" altLang="pt-BR" sz="1600" i="1" dirty="0">
                    <a:latin typeface="Times New Roman" charset="0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imes New Roman" charset="0"/>
                  </a:rPr>
                  <a:t> = 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60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9"/>
                <a:ext cx="8664575" cy="830997"/>
              </a:xfrm>
              <a:prstGeom prst="rect">
                <a:avLst/>
              </a:prstGeom>
              <a:blipFill>
                <a:blip r:embed="rId2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6438" name="Object 6"/>
          <p:cNvGraphicFramePr>
            <a:graphicFrameLocks noChangeAspect="1"/>
          </p:cNvGraphicFramePr>
          <p:nvPr/>
        </p:nvGraphicFramePr>
        <p:xfrm>
          <a:off x="609600" y="2895600"/>
          <a:ext cx="31591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800" imgH="419100" progId="Equation.DSMT4">
                  <p:embed/>
                </p:oleObj>
              </mc:Choice>
              <mc:Fallback>
                <p:oleObj name="Equation" r:id="rId3" imgW="2209800" imgH="419100" progId="Equation.DSMT4">
                  <p:embed/>
                  <p:pic>
                    <p:nvPicPr>
                      <p:cNvPr id="146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31591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876800" y="2420938"/>
            <a:ext cx="4000500" cy="2660650"/>
            <a:chOff x="3072" y="1525"/>
            <a:chExt cx="2520" cy="1676"/>
          </a:xfrm>
        </p:grpSpPr>
        <p:grpSp>
          <p:nvGrpSpPr>
            <p:cNvPr id="24591" name="Group 36"/>
            <p:cNvGrpSpPr>
              <a:grpSpLocks/>
            </p:cNvGrpSpPr>
            <p:nvPr/>
          </p:nvGrpSpPr>
          <p:grpSpPr bwMode="auto">
            <a:xfrm>
              <a:off x="3072" y="1525"/>
              <a:ext cx="2520" cy="1676"/>
              <a:chOff x="3072" y="1525"/>
              <a:chExt cx="2520" cy="1676"/>
            </a:xfrm>
          </p:grpSpPr>
          <p:grpSp>
            <p:nvGrpSpPr>
              <p:cNvPr id="24600" name="Group 9"/>
              <p:cNvGrpSpPr>
                <a:grpSpLocks/>
              </p:cNvGrpSpPr>
              <p:nvPr/>
            </p:nvGrpSpPr>
            <p:grpSpPr bwMode="auto">
              <a:xfrm>
                <a:off x="3072" y="1584"/>
                <a:ext cx="2520" cy="1617"/>
                <a:chOff x="2988" y="1872"/>
                <a:chExt cx="2520" cy="1617"/>
              </a:xfrm>
            </p:grpSpPr>
            <p:pic>
              <p:nvPicPr>
                <p:cNvPr id="24603" name="Picture 10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60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46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460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24607" name="Line 14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4601" name="Line 15"/>
              <p:cNvSpPr>
                <a:spLocks noChangeShapeType="1"/>
              </p:cNvSpPr>
              <p:nvPr/>
            </p:nvSpPr>
            <p:spPr bwMode="auto">
              <a:xfrm flipH="1">
                <a:off x="4596" y="16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4602" name="Object 16"/>
              <p:cNvGraphicFramePr>
                <a:graphicFrameLocks noChangeAspect="1"/>
              </p:cNvGraphicFramePr>
              <p:nvPr/>
            </p:nvGraphicFramePr>
            <p:xfrm>
              <a:off x="4790" y="1525"/>
              <a:ext cx="160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77646" imgH="228402" progId="Equation.DSMT4">
                      <p:embed/>
                    </p:oleObj>
                  </mc:Choice>
                  <mc:Fallback>
                    <p:oleObj name="Equation" r:id="rId6" imgW="177646" imgH="228402" progId="Equation.DSMT4">
                      <p:embed/>
                      <p:pic>
                        <p:nvPicPr>
                          <p:cNvPr id="24602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0" y="1525"/>
                            <a:ext cx="160" cy="2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592" name="Freeform 17"/>
            <p:cNvSpPr>
              <a:spLocks/>
            </p:cNvSpPr>
            <p:nvPr/>
          </p:nvSpPr>
          <p:spPr bwMode="auto">
            <a:xfrm>
              <a:off x="3970" y="1628"/>
              <a:ext cx="746" cy="1306"/>
            </a:xfrm>
            <a:custGeom>
              <a:avLst/>
              <a:gdLst>
                <a:gd name="T0" fmla="*/ 0 w 440"/>
                <a:gd name="T1" fmla="*/ 614384451 h 771"/>
                <a:gd name="T2" fmla="*/ 34014962 w 440"/>
                <a:gd name="T3" fmla="*/ 534417666 h 771"/>
                <a:gd name="T4" fmla="*/ 64206596 w 440"/>
                <a:gd name="T5" fmla="*/ 450946936 h 771"/>
                <a:gd name="T6" fmla="*/ 97778257 w 440"/>
                <a:gd name="T7" fmla="*/ 363478463 h 771"/>
                <a:gd name="T8" fmla="*/ 138208417 w 440"/>
                <a:gd name="T9" fmla="*/ 272823781 h 771"/>
                <a:gd name="T10" fmla="*/ 172156422 w 440"/>
                <a:gd name="T11" fmla="*/ 196874523 h 771"/>
                <a:gd name="T12" fmla="*/ 204949340 w 440"/>
                <a:gd name="T13" fmla="*/ 123904385 h 771"/>
                <a:gd name="T14" fmla="*/ 242008356 w 440"/>
                <a:gd name="T15" fmla="*/ 66943553 h 771"/>
                <a:gd name="T16" fmla="*/ 272436889 w 440"/>
                <a:gd name="T17" fmla="*/ 30475183 h 771"/>
                <a:gd name="T18" fmla="*/ 310376438 w 440"/>
                <a:gd name="T19" fmla="*/ 4409615 h 771"/>
                <a:gd name="T20" fmla="*/ 335072899 w 440"/>
                <a:gd name="T21" fmla="*/ 0 h 771"/>
                <a:gd name="T22" fmla="*/ 366089560 w 440"/>
                <a:gd name="T23" fmla="*/ 0 h 771"/>
                <a:gd name="T24" fmla="*/ 390908742 w 440"/>
                <a:gd name="T25" fmla="*/ 17991092 h 771"/>
                <a:gd name="T26" fmla="*/ 427871813 w 440"/>
                <a:gd name="T27" fmla="*/ 51622035 h 771"/>
                <a:gd name="T28" fmla="*/ 470072341 w 440"/>
                <a:gd name="T29" fmla="*/ 109350076 h 771"/>
                <a:gd name="T30" fmla="*/ 502194218 w 440"/>
                <a:gd name="T31" fmla="*/ 185678760 h 771"/>
                <a:gd name="T32" fmla="*/ 536925781 w 440"/>
                <a:gd name="T33" fmla="*/ 261554499 h 771"/>
                <a:gd name="T34" fmla="*/ 581806456 w 440"/>
                <a:gd name="T35" fmla="*/ 368040550 h 771"/>
                <a:gd name="T36" fmla="*/ 614132696 w 440"/>
                <a:gd name="T37" fmla="*/ 450946936 h 771"/>
                <a:gd name="T38" fmla="*/ 651378526 w 440"/>
                <a:gd name="T39" fmla="*/ 526467313 h 771"/>
                <a:gd name="T40" fmla="*/ 669724531 w 440"/>
                <a:gd name="T41" fmla="*/ 578367986 h 771"/>
                <a:gd name="T42" fmla="*/ 682772273 w 440"/>
                <a:gd name="T43" fmla="*/ 611233847 h 771"/>
                <a:gd name="T44" fmla="*/ 682772273 w 440"/>
                <a:gd name="T45" fmla="*/ 1166826532 h 771"/>
                <a:gd name="T46" fmla="*/ 0 w 440"/>
                <a:gd name="T47" fmla="*/ 1166826532 h 771"/>
                <a:gd name="T48" fmla="*/ 0 w 440"/>
                <a:gd name="T49" fmla="*/ 614384451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3" name="Text Box 18"/>
            <p:cNvSpPr txBox="1">
              <a:spLocks noChangeArrowheads="1"/>
            </p:cNvSpPr>
            <p:nvPr/>
          </p:nvSpPr>
          <p:spPr bwMode="auto">
            <a:xfrm>
              <a:off x="4164" y="2352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95%</a:t>
              </a:r>
            </a:p>
          </p:txBody>
        </p:sp>
        <p:sp>
          <p:nvSpPr>
            <p:cNvPr id="24594" name="Text Box 19"/>
            <p:cNvSpPr txBox="1">
              <a:spLocks noChangeArrowheads="1"/>
            </p:cNvSpPr>
            <p:nvPr/>
          </p:nvSpPr>
          <p:spPr bwMode="auto">
            <a:xfrm>
              <a:off x="4613" y="2885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t</a:t>
              </a:r>
            </a:p>
          </p:txBody>
        </p:sp>
        <p:sp>
          <p:nvSpPr>
            <p:cNvPr id="24595" name="Text Box 20"/>
            <p:cNvSpPr txBox="1">
              <a:spLocks noChangeArrowheads="1"/>
            </p:cNvSpPr>
            <p:nvPr/>
          </p:nvSpPr>
          <p:spPr bwMode="auto">
            <a:xfrm>
              <a:off x="3840" y="2885"/>
              <a:ext cx="2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-t</a:t>
              </a:r>
            </a:p>
          </p:txBody>
        </p:sp>
        <p:sp>
          <p:nvSpPr>
            <p:cNvPr id="24596" name="Line 21"/>
            <p:cNvSpPr>
              <a:spLocks noChangeShapeType="1"/>
            </p:cNvSpPr>
            <p:nvPr/>
          </p:nvSpPr>
          <p:spPr bwMode="auto">
            <a:xfrm flipV="1">
              <a:off x="4884" y="254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7" name="Line 22"/>
            <p:cNvSpPr>
              <a:spLocks noChangeShapeType="1"/>
            </p:cNvSpPr>
            <p:nvPr/>
          </p:nvSpPr>
          <p:spPr bwMode="auto">
            <a:xfrm flipH="1" flipV="1">
              <a:off x="3636" y="253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8" name="Text Box 23"/>
            <p:cNvSpPr txBox="1">
              <a:spLocks noChangeArrowheads="1"/>
            </p:cNvSpPr>
            <p:nvPr/>
          </p:nvSpPr>
          <p:spPr bwMode="auto">
            <a:xfrm>
              <a:off x="4980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  <p:sp>
          <p:nvSpPr>
            <p:cNvPr id="24599" name="Text Box 24"/>
            <p:cNvSpPr txBox="1">
              <a:spLocks noChangeArrowheads="1"/>
            </p:cNvSpPr>
            <p:nvPr/>
          </p:nvSpPr>
          <p:spPr bwMode="auto">
            <a:xfrm>
              <a:off x="3408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327900" y="4953000"/>
            <a:ext cx="290513" cy="706438"/>
            <a:chOff x="4616" y="3120"/>
            <a:chExt cx="183" cy="445"/>
          </a:xfrm>
        </p:grpSpPr>
        <p:sp>
          <p:nvSpPr>
            <p:cNvPr id="24589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0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098E50-C440-4B3E-82BF-206630FAD803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38" name="Rectangle 11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dirty="0"/>
              <a:t>Intervalo de Confiança para </a:t>
            </a:r>
            <a:r>
              <a:rPr lang="pt-BR" sz="2800" i="1" dirty="0">
                <a:sym typeface="Symbol" pitchFamily="18" charset="2"/>
              </a:rPr>
              <a:t></a:t>
            </a:r>
            <a:r>
              <a:rPr lang="pt-BR" sz="2800" dirty="0"/>
              <a:t> com </a:t>
            </a:r>
            <a:r>
              <a:rPr lang="pt-BR" sz="2800" i="1" dirty="0">
                <a:sym typeface="Symbol" pitchFamily="18" charset="2"/>
              </a:rPr>
              <a:t></a:t>
            </a:r>
            <a:r>
              <a:rPr lang="pt-BR" sz="28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sz="2800" dirty="0"/>
              <a:t> desconhecida</a:t>
            </a:r>
            <a:endParaRPr lang="pt-BR" sz="2800" baseline="30000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sz="40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 de </a:t>
            </a:r>
            <a:r>
              <a:rPr lang="pt-BR" i="1" dirty="0" err="1">
                <a:latin typeface="Times New Roman" pitchFamily="18" charset="0"/>
                <a:sym typeface="Symbol" pitchFamily="18" charset="2"/>
              </a:rPr>
              <a:t>Student</a:t>
            </a:r>
            <a:endParaRPr lang="pt-BR" i="1" dirty="0">
              <a:latin typeface="Times New Roman" pitchFamily="18" charset="0"/>
              <a:sym typeface="Symbol" pitchFamily="18" charset="2"/>
            </a:endParaRPr>
          </a:p>
        </p:txBody>
      </p:sp>
      <p:pic>
        <p:nvPicPr>
          <p:cNvPr id="21507" name="Picture 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6" t="9618" r="18376" b="11877"/>
          <a:stretch>
            <a:fillRect/>
          </a:stretch>
        </p:blipFill>
        <p:spPr bwMode="auto">
          <a:xfrm>
            <a:off x="1306513" y="1600200"/>
            <a:ext cx="2506662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Freeform 43" descr="Diagonal para cima clara"/>
          <p:cNvSpPr>
            <a:spLocks/>
          </p:cNvSpPr>
          <p:nvPr/>
        </p:nvSpPr>
        <p:spPr bwMode="auto">
          <a:xfrm>
            <a:off x="3067050" y="2327275"/>
            <a:ext cx="525463" cy="301625"/>
          </a:xfrm>
          <a:custGeom>
            <a:avLst/>
            <a:gdLst>
              <a:gd name="T0" fmla="*/ 0 w 331"/>
              <a:gd name="T1" fmla="*/ 2147483647 h 190"/>
              <a:gd name="T2" fmla="*/ 0 w 331"/>
              <a:gd name="T3" fmla="*/ 0 h 190"/>
              <a:gd name="T4" fmla="*/ 2147483647 w 331"/>
              <a:gd name="T5" fmla="*/ 2147483647 h 190"/>
              <a:gd name="T6" fmla="*/ 2147483647 w 331"/>
              <a:gd name="T7" fmla="*/ 2147483647 h 190"/>
              <a:gd name="T8" fmla="*/ 2147483647 w 331"/>
              <a:gd name="T9" fmla="*/ 2147483647 h 190"/>
              <a:gd name="T10" fmla="*/ 2147483647 w 331"/>
              <a:gd name="T11" fmla="*/ 2147483647 h 190"/>
              <a:gd name="T12" fmla="*/ 2147483647 w 331"/>
              <a:gd name="T13" fmla="*/ 2147483647 h 190"/>
              <a:gd name="T14" fmla="*/ 2147483647 w 331"/>
              <a:gd name="T15" fmla="*/ 2147483647 h 190"/>
              <a:gd name="T16" fmla="*/ 2147483647 w 331"/>
              <a:gd name="T17" fmla="*/ 2147483647 h 190"/>
              <a:gd name="T18" fmla="*/ 2147483647 w 331"/>
              <a:gd name="T19" fmla="*/ 2147483647 h 190"/>
              <a:gd name="T20" fmla="*/ 2147483647 w 331"/>
              <a:gd name="T21" fmla="*/ 2147483647 h 190"/>
              <a:gd name="T22" fmla="*/ 0 w 331"/>
              <a:gd name="T23" fmla="*/ 2147483647 h 19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31"/>
              <a:gd name="T37" fmla="*/ 0 h 190"/>
              <a:gd name="T38" fmla="*/ 331 w 331"/>
              <a:gd name="T39" fmla="*/ 190 h 19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31" h="190">
                <a:moveTo>
                  <a:pt x="0" y="190"/>
                </a:moveTo>
                <a:lnTo>
                  <a:pt x="0" y="0"/>
                </a:lnTo>
                <a:lnTo>
                  <a:pt x="24" y="36"/>
                </a:lnTo>
                <a:lnTo>
                  <a:pt x="53" y="77"/>
                </a:lnTo>
                <a:lnTo>
                  <a:pt x="77" y="104"/>
                </a:lnTo>
                <a:lnTo>
                  <a:pt x="108" y="123"/>
                </a:lnTo>
                <a:lnTo>
                  <a:pt x="137" y="144"/>
                </a:lnTo>
                <a:lnTo>
                  <a:pt x="173" y="159"/>
                </a:lnTo>
                <a:lnTo>
                  <a:pt x="221" y="176"/>
                </a:lnTo>
                <a:lnTo>
                  <a:pt x="269" y="183"/>
                </a:lnTo>
                <a:lnTo>
                  <a:pt x="331" y="190"/>
                </a:lnTo>
                <a:lnTo>
                  <a:pt x="0" y="190"/>
                </a:lnTo>
                <a:close/>
              </a:path>
            </a:pathLst>
          </a:custGeom>
          <a:pattFill prst="lt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1509" name="Text Box 44"/>
          <p:cNvSpPr txBox="1">
            <a:spLocks noChangeArrowheads="1"/>
          </p:cNvSpPr>
          <p:nvPr/>
        </p:nvSpPr>
        <p:spPr bwMode="auto">
          <a:xfrm>
            <a:off x="1219200" y="2551113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-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</a:t>
            </a:r>
            <a:endParaRPr lang="pt-BR" altLang="pt-BR" sz="1600">
              <a:latin typeface="Times New Roman" charset="0"/>
            </a:endParaRPr>
          </a:p>
        </p:txBody>
      </p:sp>
      <p:sp>
        <p:nvSpPr>
          <p:cNvPr id="21510" name="Text Box 45"/>
          <p:cNvSpPr txBox="1">
            <a:spLocks noChangeArrowheads="1"/>
          </p:cNvSpPr>
          <p:nvPr/>
        </p:nvSpPr>
        <p:spPr bwMode="auto">
          <a:xfrm>
            <a:off x="3475038" y="2551113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+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</a:t>
            </a:r>
            <a:endParaRPr lang="pt-BR" altLang="pt-BR" sz="1600">
              <a:latin typeface="Times New Roman" charset="0"/>
            </a:endParaRPr>
          </a:p>
        </p:txBody>
      </p:sp>
      <p:sp>
        <p:nvSpPr>
          <p:cNvPr id="21511" name="Text Box 46"/>
          <p:cNvSpPr txBox="1">
            <a:spLocks noChangeArrowheads="1"/>
          </p:cNvSpPr>
          <p:nvPr/>
        </p:nvSpPr>
        <p:spPr bwMode="auto">
          <a:xfrm>
            <a:off x="2435225" y="2551113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0</a:t>
            </a:r>
          </a:p>
        </p:txBody>
      </p:sp>
      <p:sp>
        <p:nvSpPr>
          <p:cNvPr id="21512" name="Text Box 47"/>
          <p:cNvSpPr txBox="1">
            <a:spLocks noChangeArrowheads="1"/>
          </p:cNvSpPr>
          <p:nvPr/>
        </p:nvSpPr>
        <p:spPr bwMode="auto">
          <a:xfrm>
            <a:off x="2932113" y="2551113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t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2725739" y="2574925"/>
            <a:ext cx="852488" cy="998538"/>
            <a:chOff x="1717" y="1622"/>
            <a:chExt cx="537" cy="629"/>
          </a:xfrm>
        </p:grpSpPr>
        <p:graphicFrame>
          <p:nvGraphicFramePr>
            <p:cNvPr id="21534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040950"/>
                </p:ext>
              </p:extLst>
            </p:nvPr>
          </p:nvGraphicFramePr>
          <p:xfrm>
            <a:off x="1717" y="2032"/>
            <a:ext cx="53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900" imgH="241300" progId="Equation.DSMT4">
                    <p:embed/>
                  </p:oleObj>
                </mc:Choice>
                <mc:Fallback>
                  <p:oleObj name="Equation" r:id="rId3" imgW="596900" imgH="241300" progId="Equation.DSMT4">
                    <p:embed/>
                    <p:pic>
                      <p:nvPicPr>
                        <p:cNvPr id="21534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7" y="2032"/>
                          <a:ext cx="537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5" name="Line 52"/>
            <p:cNvSpPr>
              <a:spLocks noChangeShapeType="1"/>
            </p:cNvSpPr>
            <p:nvPr/>
          </p:nvSpPr>
          <p:spPr bwMode="auto">
            <a:xfrm flipH="1">
              <a:off x="1978" y="1622"/>
              <a:ext cx="16" cy="36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pic>
        <p:nvPicPr>
          <p:cNvPr id="21514" name="Picture 5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2" r="28639"/>
          <a:stretch>
            <a:fillRect/>
          </a:stretch>
        </p:blipFill>
        <p:spPr bwMode="auto">
          <a:xfrm>
            <a:off x="5105400" y="1371600"/>
            <a:ext cx="2362200" cy="548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343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666096"/>
              </p:ext>
            </p:extLst>
          </p:nvPr>
        </p:nvGraphicFramePr>
        <p:xfrm>
          <a:off x="762497" y="5480645"/>
          <a:ext cx="161448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28600" progId="Equation.DSMT4">
                  <p:embed/>
                </p:oleObj>
              </mc:Choice>
              <mc:Fallback>
                <p:oleObj name="Equation" r:id="rId6" imgW="1130040" imgH="228600" progId="Equation.DSMT4">
                  <p:embed/>
                  <p:pic>
                    <p:nvPicPr>
                      <p:cNvPr id="143435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97" y="5480645"/>
                        <a:ext cx="161448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6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188059"/>
              </p:ext>
            </p:extLst>
          </p:nvPr>
        </p:nvGraphicFramePr>
        <p:xfrm>
          <a:off x="762497" y="5979120"/>
          <a:ext cx="20685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228600" progId="Equation.DSMT4">
                  <p:embed/>
                </p:oleObj>
              </mc:Choice>
              <mc:Fallback>
                <p:oleObj name="Equation" r:id="rId8" imgW="1447560" imgH="228600" progId="Equation.DSMT4">
                  <p:embed/>
                  <p:pic>
                    <p:nvPicPr>
                      <p:cNvPr id="143436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97" y="5979120"/>
                        <a:ext cx="20685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7" name="AutoShape 77"/>
          <p:cNvSpPr>
            <a:spLocks noChangeArrowheads="1"/>
          </p:cNvSpPr>
          <p:nvPr/>
        </p:nvSpPr>
        <p:spPr bwMode="auto">
          <a:xfrm>
            <a:off x="4635500" y="4870232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38" name="Rectangle 78"/>
          <p:cNvSpPr>
            <a:spLocks noChangeArrowheads="1"/>
          </p:cNvSpPr>
          <p:nvPr/>
        </p:nvSpPr>
        <p:spPr bwMode="auto">
          <a:xfrm>
            <a:off x="6200888" y="4917548"/>
            <a:ext cx="347663" cy="1539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39" name="AutoShape 79"/>
          <p:cNvSpPr>
            <a:spLocks noChangeArrowheads="1"/>
          </p:cNvSpPr>
          <p:nvPr/>
        </p:nvSpPr>
        <p:spPr bwMode="auto">
          <a:xfrm rot="5400000" flipV="1">
            <a:off x="6051332" y="21145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40" name="Rectangle 80"/>
          <p:cNvSpPr>
            <a:spLocks noChangeArrowheads="1"/>
          </p:cNvSpPr>
          <p:nvPr/>
        </p:nvSpPr>
        <p:spPr bwMode="auto">
          <a:xfrm>
            <a:off x="6169823" y="1377950"/>
            <a:ext cx="324000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2BBF69-1A08-4462-9DC2-528202869134}" type="slidenum">
              <a:rPr lang="pt-BR"/>
              <a:pPr>
                <a:defRPr/>
              </a:pPr>
              <a:t>17</a:t>
            </a:fld>
            <a:endParaRPr lang="pt-BR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74" y="4005064"/>
            <a:ext cx="2127250" cy="1426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54354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7" grpId="0" animBg="1"/>
      <p:bldP spid="143438" grpId="0" animBg="1"/>
      <p:bldP spid="143439" grpId="0" animBg="1"/>
      <p:bldP spid="1434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8"/>
          <p:cNvGrpSpPr>
            <a:grpSpLocks/>
          </p:cNvGrpSpPr>
          <p:nvPr/>
        </p:nvGrpSpPr>
        <p:grpSpPr bwMode="auto">
          <a:xfrm>
            <a:off x="250825" y="1512889"/>
            <a:ext cx="8664575" cy="830263"/>
            <a:chOff x="158" y="953"/>
            <a:chExt cx="5458" cy="523"/>
          </a:xfrm>
        </p:grpSpPr>
        <p:sp>
          <p:nvSpPr>
            <p:cNvPr id="24608" name="Text Box 4"/>
            <p:cNvSpPr txBox="1">
              <a:spLocks noChangeArrowheads="1"/>
            </p:cNvSpPr>
            <p:nvPr/>
          </p:nvSpPr>
          <p:spPr bwMode="auto">
            <a:xfrm>
              <a:off x="158" y="953"/>
              <a:ext cx="545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Exemplo: uma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qualquer tem uma distribuição normal com média </a:t>
              </a:r>
              <a:r>
                <a:rPr lang="pt-BR" altLang="pt-BR" sz="1600" i="1" dirty="0">
                  <a:latin typeface="Symbol" pitchFamily="18" charset="2"/>
                </a:rPr>
                <a:t>m</a:t>
              </a:r>
              <a:r>
                <a:rPr lang="pt-BR" altLang="pt-BR" sz="1600" dirty="0">
                  <a:latin typeface="Tahoma" panose="020B0604030504040204" pitchFamily="34" charset="0"/>
                </a:rPr>
                <a:t> e variância </a:t>
              </a:r>
              <a:r>
                <a:rPr lang="pt-BR" altLang="pt-BR" sz="1600" i="1" dirty="0">
                  <a:latin typeface="Symbol" pitchFamily="18" charset="2"/>
                </a:rPr>
                <a:t>s</a:t>
              </a:r>
              <a:r>
                <a:rPr lang="pt-BR" altLang="pt-BR" sz="1600" baseline="30000" dirty="0">
                  <a:latin typeface="Times New Roman" charset="0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</a:rPr>
                <a:t> desconhecidas. Retira-se uma amostra de </a:t>
              </a:r>
              <a:r>
                <a:rPr lang="pt-BR" altLang="pt-BR" sz="1600" dirty="0">
                  <a:latin typeface="Times New Roman" charset="0"/>
                </a:rPr>
                <a:t>25</a:t>
              </a:r>
              <a:r>
                <a:rPr lang="pt-BR" altLang="pt-BR" sz="1600" dirty="0">
                  <a:latin typeface="Tahoma" panose="020B0604030504040204" pitchFamily="34" charset="0"/>
                </a:rPr>
                <a:t> valores e calcula-se a média amostral e a variância amostral. Construa um IC de </a:t>
              </a:r>
              <a:r>
                <a:rPr lang="pt-BR" altLang="pt-BR" sz="1600" dirty="0">
                  <a:latin typeface="Times New Roman" charset="0"/>
                </a:rPr>
                <a:t>95%</a:t>
              </a:r>
              <a:r>
                <a:rPr lang="pt-BR" altLang="pt-BR" sz="1600" dirty="0">
                  <a:latin typeface="Tahoma" panose="020B0604030504040204" pitchFamily="34" charset="0"/>
                </a:rPr>
                <a:t> para </a:t>
              </a:r>
              <a:r>
                <a:rPr lang="pt-BR" altLang="pt-BR" sz="1600" i="1" dirty="0">
                  <a:latin typeface="Symbol" pitchFamily="18" charset="2"/>
                </a:rPr>
                <a:t>m</a:t>
              </a:r>
              <a:r>
                <a:rPr lang="pt-BR" altLang="pt-BR" sz="1600" dirty="0">
                  <a:latin typeface="Tahoma" panose="020B0604030504040204" pitchFamily="34" charset="0"/>
                </a:rPr>
                <a:t> supondo que                e </a:t>
              </a:r>
              <a:r>
                <a:rPr lang="pt-BR" altLang="pt-BR" sz="1600" i="1" dirty="0">
                  <a:latin typeface="Times New Roman" charset="0"/>
                </a:rPr>
                <a:t>s</a:t>
              </a:r>
              <a:r>
                <a:rPr lang="pt-BR" altLang="pt-BR" sz="1600" baseline="30000" dirty="0">
                  <a:latin typeface="Times New Roman" charset="0"/>
                </a:rPr>
                <a:t>2</a:t>
              </a:r>
              <a:r>
                <a:rPr lang="pt-BR" altLang="pt-BR" sz="1600" dirty="0">
                  <a:latin typeface="Times New Roman" charset="0"/>
                </a:rPr>
                <a:t> = 16</a:t>
              </a:r>
              <a:r>
                <a:rPr lang="pt-BR" altLang="pt-BR" sz="1600" dirty="0">
                  <a:latin typeface="Tahoma" panose="020B0604030504040204" pitchFamily="34" charset="0"/>
                </a:rPr>
                <a:t>.</a:t>
              </a:r>
            </a:p>
          </p:txBody>
        </p:sp>
        <p:graphicFrame>
          <p:nvGraphicFramePr>
            <p:cNvPr id="2460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8978771"/>
                </p:ext>
              </p:extLst>
            </p:nvPr>
          </p:nvGraphicFramePr>
          <p:xfrm>
            <a:off x="4177" y="1263"/>
            <a:ext cx="53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96641" imgH="215806" progId="Equation.DSMT4">
                    <p:embed/>
                  </p:oleObj>
                </mc:Choice>
                <mc:Fallback>
                  <p:oleObj name="Equation" r:id="rId2" imgW="596641" imgH="215806" progId="Equation.DSMT4">
                    <p:embed/>
                    <p:pic>
                      <p:nvPicPr>
                        <p:cNvPr id="2460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1263"/>
                          <a:ext cx="537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38" name="Object 6"/>
          <p:cNvGraphicFramePr>
            <a:graphicFrameLocks noChangeAspect="1"/>
          </p:cNvGraphicFramePr>
          <p:nvPr/>
        </p:nvGraphicFramePr>
        <p:xfrm>
          <a:off x="609600" y="2895600"/>
          <a:ext cx="31591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800" imgH="419100" progId="Equation.DSMT4">
                  <p:embed/>
                </p:oleObj>
              </mc:Choice>
              <mc:Fallback>
                <p:oleObj name="Equation" r:id="rId4" imgW="2209800" imgH="419100" progId="Equation.DSMT4">
                  <p:embed/>
                  <p:pic>
                    <p:nvPicPr>
                      <p:cNvPr id="146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31591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876800" y="2420938"/>
            <a:ext cx="4000500" cy="2660650"/>
            <a:chOff x="3072" y="1525"/>
            <a:chExt cx="2520" cy="1676"/>
          </a:xfrm>
        </p:grpSpPr>
        <p:grpSp>
          <p:nvGrpSpPr>
            <p:cNvPr id="24591" name="Group 36"/>
            <p:cNvGrpSpPr>
              <a:grpSpLocks/>
            </p:cNvGrpSpPr>
            <p:nvPr/>
          </p:nvGrpSpPr>
          <p:grpSpPr bwMode="auto">
            <a:xfrm>
              <a:off x="3072" y="1525"/>
              <a:ext cx="2520" cy="1676"/>
              <a:chOff x="3072" y="1525"/>
              <a:chExt cx="2520" cy="1676"/>
            </a:xfrm>
          </p:grpSpPr>
          <p:grpSp>
            <p:nvGrpSpPr>
              <p:cNvPr id="24600" name="Group 9"/>
              <p:cNvGrpSpPr>
                <a:grpSpLocks/>
              </p:cNvGrpSpPr>
              <p:nvPr/>
            </p:nvGrpSpPr>
            <p:grpSpPr bwMode="auto">
              <a:xfrm>
                <a:off x="3072" y="1584"/>
                <a:ext cx="2520" cy="1617"/>
                <a:chOff x="2988" y="1872"/>
                <a:chExt cx="2520" cy="1617"/>
              </a:xfrm>
            </p:grpSpPr>
            <p:pic>
              <p:nvPicPr>
                <p:cNvPr id="24603" name="Picture 10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60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46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460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24607" name="Line 14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4601" name="Line 15"/>
              <p:cNvSpPr>
                <a:spLocks noChangeShapeType="1"/>
              </p:cNvSpPr>
              <p:nvPr/>
            </p:nvSpPr>
            <p:spPr bwMode="auto">
              <a:xfrm flipH="1">
                <a:off x="4596" y="16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4602" name="Object 16"/>
              <p:cNvGraphicFramePr>
                <a:graphicFrameLocks noChangeAspect="1"/>
              </p:cNvGraphicFramePr>
              <p:nvPr/>
            </p:nvGraphicFramePr>
            <p:xfrm>
              <a:off x="4790" y="1525"/>
              <a:ext cx="160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77646" imgH="228402" progId="Equation.DSMT4">
                      <p:embed/>
                    </p:oleObj>
                  </mc:Choice>
                  <mc:Fallback>
                    <p:oleObj name="Equation" r:id="rId7" imgW="177646" imgH="228402" progId="Equation.DSMT4">
                      <p:embed/>
                      <p:pic>
                        <p:nvPicPr>
                          <p:cNvPr id="24602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0" y="1525"/>
                            <a:ext cx="160" cy="2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592" name="Freeform 17"/>
            <p:cNvSpPr>
              <a:spLocks/>
            </p:cNvSpPr>
            <p:nvPr/>
          </p:nvSpPr>
          <p:spPr bwMode="auto">
            <a:xfrm>
              <a:off x="3970" y="1628"/>
              <a:ext cx="746" cy="1306"/>
            </a:xfrm>
            <a:custGeom>
              <a:avLst/>
              <a:gdLst>
                <a:gd name="T0" fmla="*/ 0 w 440"/>
                <a:gd name="T1" fmla="*/ 614384451 h 771"/>
                <a:gd name="T2" fmla="*/ 34014962 w 440"/>
                <a:gd name="T3" fmla="*/ 534417666 h 771"/>
                <a:gd name="T4" fmla="*/ 64206596 w 440"/>
                <a:gd name="T5" fmla="*/ 450946936 h 771"/>
                <a:gd name="T6" fmla="*/ 97778257 w 440"/>
                <a:gd name="T7" fmla="*/ 363478463 h 771"/>
                <a:gd name="T8" fmla="*/ 138208417 w 440"/>
                <a:gd name="T9" fmla="*/ 272823781 h 771"/>
                <a:gd name="T10" fmla="*/ 172156422 w 440"/>
                <a:gd name="T11" fmla="*/ 196874523 h 771"/>
                <a:gd name="T12" fmla="*/ 204949340 w 440"/>
                <a:gd name="T13" fmla="*/ 123904385 h 771"/>
                <a:gd name="T14" fmla="*/ 242008356 w 440"/>
                <a:gd name="T15" fmla="*/ 66943553 h 771"/>
                <a:gd name="T16" fmla="*/ 272436889 w 440"/>
                <a:gd name="T17" fmla="*/ 30475183 h 771"/>
                <a:gd name="T18" fmla="*/ 310376438 w 440"/>
                <a:gd name="T19" fmla="*/ 4409615 h 771"/>
                <a:gd name="T20" fmla="*/ 335072899 w 440"/>
                <a:gd name="T21" fmla="*/ 0 h 771"/>
                <a:gd name="T22" fmla="*/ 366089560 w 440"/>
                <a:gd name="T23" fmla="*/ 0 h 771"/>
                <a:gd name="T24" fmla="*/ 390908742 w 440"/>
                <a:gd name="T25" fmla="*/ 17991092 h 771"/>
                <a:gd name="T26" fmla="*/ 427871813 w 440"/>
                <a:gd name="T27" fmla="*/ 51622035 h 771"/>
                <a:gd name="T28" fmla="*/ 470072341 w 440"/>
                <a:gd name="T29" fmla="*/ 109350076 h 771"/>
                <a:gd name="T30" fmla="*/ 502194218 w 440"/>
                <a:gd name="T31" fmla="*/ 185678760 h 771"/>
                <a:gd name="T32" fmla="*/ 536925781 w 440"/>
                <a:gd name="T33" fmla="*/ 261554499 h 771"/>
                <a:gd name="T34" fmla="*/ 581806456 w 440"/>
                <a:gd name="T35" fmla="*/ 368040550 h 771"/>
                <a:gd name="T36" fmla="*/ 614132696 w 440"/>
                <a:gd name="T37" fmla="*/ 450946936 h 771"/>
                <a:gd name="T38" fmla="*/ 651378526 w 440"/>
                <a:gd name="T39" fmla="*/ 526467313 h 771"/>
                <a:gd name="T40" fmla="*/ 669724531 w 440"/>
                <a:gd name="T41" fmla="*/ 578367986 h 771"/>
                <a:gd name="T42" fmla="*/ 682772273 w 440"/>
                <a:gd name="T43" fmla="*/ 611233847 h 771"/>
                <a:gd name="T44" fmla="*/ 682772273 w 440"/>
                <a:gd name="T45" fmla="*/ 1166826532 h 771"/>
                <a:gd name="T46" fmla="*/ 0 w 440"/>
                <a:gd name="T47" fmla="*/ 1166826532 h 771"/>
                <a:gd name="T48" fmla="*/ 0 w 440"/>
                <a:gd name="T49" fmla="*/ 614384451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3" name="Text Box 18"/>
            <p:cNvSpPr txBox="1">
              <a:spLocks noChangeArrowheads="1"/>
            </p:cNvSpPr>
            <p:nvPr/>
          </p:nvSpPr>
          <p:spPr bwMode="auto">
            <a:xfrm>
              <a:off x="4164" y="2352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95%</a:t>
              </a:r>
            </a:p>
          </p:txBody>
        </p:sp>
        <p:sp>
          <p:nvSpPr>
            <p:cNvPr id="24594" name="Text Box 19"/>
            <p:cNvSpPr txBox="1">
              <a:spLocks noChangeArrowheads="1"/>
            </p:cNvSpPr>
            <p:nvPr/>
          </p:nvSpPr>
          <p:spPr bwMode="auto">
            <a:xfrm>
              <a:off x="4613" y="2885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t</a:t>
              </a:r>
            </a:p>
          </p:txBody>
        </p:sp>
        <p:sp>
          <p:nvSpPr>
            <p:cNvPr id="24595" name="Text Box 20"/>
            <p:cNvSpPr txBox="1">
              <a:spLocks noChangeArrowheads="1"/>
            </p:cNvSpPr>
            <p:nvPr/>
          </p:nvSpPr>
          <p:spPr bwMode="auto">
            <a:xfrm>
              <a:off x="3840" y="2885"/>
              <a:ext cx="2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-t</a:t>
              </a:r>
            </a:p>
          </p:txBody>
        </p:sp>
        <p:sp>
          <p:nvSpPr>
            <p:cNvPr id="24596" name="Line 21"/>
            <p:cNvSpPr>
              <a:spLocks noChangeShapeType="1"/>
            </p:cNvSpPr>
            <p:nvPr/>
          </p:nvSpPr>
          <p:spPr bwMode="auto">
            <a:xfrm flipV="1">
              <a:off x="4884" y="254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7" name="Line 22"/>
            <p:cNvSpPr>
              <a:spLocks noChangeShapeType="1"/>
            </p:cNvSpPr>
            <p:nvPr/>
          </p:nvSpPr>
          <p:spPr bwMode="auto">
            <a:xfrm flipH="1" flipV="1">
              <a:off x="3636" y="253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8" name="Text Box 23"/>
            <p:cNvSpPr txBox="1">
              <a:spLocks noChangeArrowheads="1"/>
            </p:cNvSpPr>
            <p:nvPr/>
          </p:nvSpPr>
          <p:spPr bwMode="auto">
            <a:xfrm>
              <a:off x="4980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  <p:sp>
          <p:nvSpPr>
            <p:cNvPr id="24599" name="Text Box 24"/>
            <p:cNvSpPr txBox="1">
              <a:spLocks noChangeArrowheads="1"/>
            </p:cNvSpPr>
            <p:nvPr/>
          </p:nvSpPr>
          <p:spPr bwMode="auto">
            <a:xfrm>
              <a:off x="3408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327900" y="4953000"/>
            <a:ext cx="290513" cy="706438"/>
            <a:chOff x="4616" y="3120"/>
            <a:chExt cx="183" cy="445"/>
          </a:xfrm>
        </p:grpSpPr>
        <p:sp>
          <p:nvSpPr>
            <p:cNvPr id="24589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0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46460" name="Text Box 28"/>
          <p:cNvSpPr txBox="1">
            <a:spLocks noChangeArrowheads="1"/>
          </p:cNvSpPr>
          <p:nvPr/>
        </p:nvSpPr>
        <p:spPr bwMode="auto">
          <a:xfrm>
            <a:off x="7156450" y="5394325"/>
            <a:ext cx="6413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imes New Roman" charset="0"/>
              </a:rPr>
              <a:t>2,064</a:t>
            </a:r>
          </a:p>
        </p:txBody>
      </p:sp>
      <p:graphicFrame>
        <p:nvGraphicFramePr>
          <p:cNvPr id="146461" name="Object 29"/>
          <p:cNvGraphicFramePr>
            <a:graphicFrameLocks noChangeAspect="1"/>
          </p:cNvGraphicFramePr>
          <p:nvPr/>
        </p:nvGraphicFramePr>
        <p:xfrm>
          <a:off x="609600" y="3602038"/>
          <a:ext cx="46291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38500" imgH="419100" progId="Equation.DSMT4">
                  <p:embed/>
                </p:oleObj>
              </mc:Choice>
              <mc:Fallback>
                <p:oleObj name="Equation" r:id="rId9" imgW="3238500" imgH="419100" progId="Equation.DSMT4">
                  <p:embed/>
                  <p:pic>
                    <p:nvPicPr>
                      <p:cNvPr id="14646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02038"/>
                        <a:ext cx="46291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2" name="Object 30"/>
          <p:cNvGraphicFramePr>
            <a:graphicFrameLocks noChangeAspect="1"/>
          </p:cNvGraphicFramePr>
          <p:nvPr/>
        </p:nvGraphicFramePr>
        <p:xfrm>
          <a:off x="609600" y="4441825"/>
          <a:ext cx="39036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30500" imgH="203200" progId="Equation.DSMT4">
                  <p:embed/>
                </p:oleObj>
              </mc:Choice>
              <mc:Fallback>
                <p:oleObj name="Equation" r:id="rId11" imgW="2730500" imgH="203200" progId="Equation.DSMT4">
                  <p:embed/>
                  <p:pic>
                    <p:nvPicPr>
                      <p:cNvPr id="1464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41825"/>
                        <a:ext cx="39036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3" name="Object 31"/>
          <p:cNvGraphicFramePr>
            <a:graphicFrameLocks noChangeAspect="1"/>
          </p:cNvGraphicFramePr>
          <p:nvPr/>
        </p:nvGraphicFramePr>
        <p:xfrm>
          <a:off x="609600" y="5167313"/>
          <a:ext cx="29575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70100" imgH="203200" progId="Equation.DSMT4">
                  <p:embed/>
                </p:oleObj>
              </mc:Choice>
              <mc:Fallback>
                <p:oleObj name="Equation" r:id="rId13" imgW="2070100" imgH="203200" progId="Equation.DSMT4">
                  <p:embed/>
                  <p:pic>
                    <p:nvPicPr>
                      <p:cNvPr id="14646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67313"/>
                        <a:ext cx="2957513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64" name="Rectangle 32"/>
          <p:cNvSpPr>
            <a:spLocks noChangeArrowheads="1"/>
          </p:cNvSpPr>
          <p:nvPr/>
        </p:nvSpPr>
        <p:spPr bwMode="auto">
          <a:xfrm>
            <a:off x="533400" y="5029200"/>
            <a:ext cx="3105150" cy="5334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098E50-C440-4B3E-82BF-206630FAD803}" type="slidenum">
              <a:rPr lang="pt-BR"/>
              <a:pPr>
                <a:defRPr/>
              </a:pPr>
              <a:t>18</a:t>
            </a:fld>
            <a:endParaRPr lang="pt-BR"/>
          </a:p>
        </p:txBody>
      </p:sp>
      <p:sp>
        <p:nvSpPr>
          <p:cNvPr id="38" name="Rectangle 11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dirty="0"/>
              <a:t>Intervalo de Confiança para </a:t>
            </a:r>
            <a:r>
              <a:rPr lang="pt-BR" sz="2800" i="1" dirty="0">
                <a:sym typeface="Symbol" pitchFamily="18" charset="2"/>
              </a:rPr>
              <a:t></a:t>
            </a:r>
            <a:r>
              <a:rPr lang="pt-BR" sz="2800" dirty="0"/>
              <a:t> com </a:t>
            </a:r>
            <a:r>
              <a:rPr lang="pt-BR" sz="2800" i="1" dirty="0">
                <a:sym typeface="Symbol" pitchFamily="18" charset="2"/>
              </a:rPr>
              <a:t></a:t>
            </a:r>
            <a:r>
              <a:rPr lang="pt-BR" sz="28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sz="2800" dirty="0"/>
              <a:t> desconhecida</a:t>
            </a:r>
            <a:endParaRPr lang="pt-BR" sz="2800" baseline="30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657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6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35"/>
          <p:cNvGraphicFramePr>
            <a:graphicFrameLocks noChangeAspect="1"/>
          </p:cNvGraphicFramePr>
          <p:nvPr/>
        </p:nvGraphicFramePr>
        <p:xfrm>
          <a:off x="885825" y="1570038"/>
          <a:ext cx="12731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614" imgH="393529" progId="Equation.DSMT4">
                  <p:embed/>
                </p:oleObj>
              </mc:Choice>
              <mc:Fallback>
                <p:oleObj name="Equation" r:id="rId2" imgW="888614" imgH="393529" progId="Equation.DSMT4">
                  <p:embed/>
                  <p:pic>
                    <p:nvPicPr>
                      <p:cNvPr id="26626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570038"/>
                        <a:ext cx="12731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 de Confiança para </a:t>
            </a:r>
            <a:r>
              <a:rPr lang="pt-BR">
                <a:sym typeface="Symbol" pitchFamily="18" charset="2"/>
              </a:rPr>
              <a:t>proporção</a:t>
            </a:r>
            <a:r>
              <a:rPr lang="pt-BR" i="1">
                <a:sym typeface="Symbol" pitchFamily="18" charset="2"/>
              </a:rPr>
              <a:t> </a:t>
            </a:r>
            <a:r>
              <a:rPr lang="pt-BR" i="1">
                <a:latin typeface="Times New Roman" pitchFamily="18" charset="0"/>
                <a:sym typeface="Symbol" pitchFamily="18" charset="2"/>
              </a:rPr>
              <a:t>p</a:t>
            </a:r>
          </a:p>
        </p:txBody>
      </p:sp>
      <p:graphicFrame>
        <p:nvGraphicFramePr>
          <p:cNvPr id="1659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58093"/>
              </p:ext>
            </p:extLst>
          </p:nvPr>
        </p:nvGraphicFramePr>
        <p:xfrm>
          <a:off x="919163" y="2396952"/>
          <a:ext cx="9080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622030" progId="Equation.DSMT4">
                  <p:embed/>
                </p:oleObj>
              </mc:Choice>
              <mc:Fallback>
                <p:oleObj name="Equation" r:id="rId4" imgW="634725" imgH="622030" progId="Equation.DSMT4">
                  <p:embed/>
                  <p:pic>
                    <p:nvPicPr>
                      <p:cNvPr id="1659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2396952"/>
                        <a:ext cx="9080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411989"/>
              </p:ext>
            </p:extLst>
          </p:nvPr>
        </p:nvGraphicFramePr>
        <p:xfrm>
          <a:off x="1692275" y="2557289"/>
          <a:ext cx="6540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203112" progId="Equation.DSMT4">
                  <p:embed/>
                </p:oleObj>
              </mc:Choice>
              <mc:Fallback>
                <p:oleObj name="Equation" r:id="rId6" imgW="457002" imgH="203112" progId="Equation.DSMT4">
                  <p:embed/>
                  <p:pic>
                    <p:nvPicPr>
                      <p:cNvPr id="1659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557289"/>
                        <a:ext cx="654050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2" name="Object 24"/>
          <p:cNvGraphicFramePr>
            <a:graphicFrameLocks noChangeAspect="1"/>
          </p:cNvGraphicFramePr>
          <p:nvPr/>
        </p:nvGraphicFramePr>
        <p:xfrm>
          <a:off x="865188" y="3505200"/>
          <a:ext cx="23050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900" imgH="622300" progId="Equation.DSMT4">
                  <p:embed/>
                </p:oleObj>
              </mc:Choice>
              <mc:Fallback>
                <p:oleObj name="Equation" r:id="rId8" imgW="1612900" imgH="622300" progId="Equation.DSMT4">
                  <p:embed/>
                  <p:pic>
                    <p:nvPicPr>
                      <p:cNvPr id="1659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3505200"/>
                        <a:ext cx="23050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15" name="Rectangle 27"/>
          <p:cNvSpPr>
            <a:spLocks noChangeArrowheads="1"/>
          </p:cNvSpPr>
          <p:nvPr/>
        </p:nvSpPr>
        <p:spPr bwMode="auto">
          <a:xfrm>
            <a:off x="685800" y="5348288"/>
            <a:ext cx="3657600" cy="762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5916" name="Text Box 28"/>
          <p:cNvSpPr txBox="1">
            <a:spLocks noChangeArrowheads="1"/>
          </p:cNvSpPr>
          <p:nvPr/>
        </p:nvSpPr>
        <p:spPr bwMode="auto">
          <a:xfrm>
            <a:off x="1752600" y="6186488"/>
            <a:ext cx="112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IC para </a:t>
            </a:r>
            <a:r>
              <a:rPr lang="pt-BR" altLang="pt-BR" sz="1800" i="1" dirty="0">
                <a:solidFill>
                  <a:srgbClr val="FF3300"/>
                </a:solidFill>
                <a:latin typeface="Times New Roman" charset="0"/>
              </a:rPr>
              <a:t>p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17525" y="2204864"/>
            <a:ext cx="1127125" cy="1208088"/>
            <a:chOff x="326" y="1314"/>
            <a:chExt cx="710" cy="761"/>
          </a:xfrm>
        </p:grpSpPr>
        <p:sp>
          <p:nvSpPr>
            <p:cNvPr id="26658" name="Oval 32"/>
            <p:cNvSpPr>
              <a:spLocks noChangeArrowheads="1"/>
            </p:cNvSpPr>
            <p:nvPr/>
          </p:nvSpPr>
          <p:spPr bwMode="auto">
            <a:xfrm>
              <a:off x="460" y="1314"/>
              <a:ext cx="576" cy="72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9" name="Text Box 33"/>
            <p:cNvSpPr txBox="1">
              <a:spLocks noChangeArrowheads="1"/>
            </p:cNvSpPr>
            <p:nvPr/>
          </p:nvSpPr>
          <p:spPr bwMode="auto">
            <a:xfrm>
              <a:off x="326" y="186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charset="0"/>
                </a:rPr>
                <a:t>Z</a:t>
              </a: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743450" y="2895600"/>
            <a:ext cx="4000500" cy="3108325"/>
            <a:chOff x="2988" y="1824"/>
            <a:chExt cx="2520" cy="1958"/>
          </a:xfrm>
        </p:grpSpPr>
        <p:grpSp>
          <p:nvGrpSpPr>
            <p:cNvPr id="26638" name="Group 36"/>
            <p:cNvGrpSpPr>
              <a:grpSpLocks/>
            </p:cNvGrpSpPr>
            <p:nvPr/>
          </p:nvGrpSpPr>
          <p:grpSpPr bwMode="auto">
            <a:xfrm>
              <a:off x="2988" y="1824"/>
              <a:ext cx="2520" cy="1665"/>
              <a:chOff x="2988" y="1824"/>
              <a:chExt cx="2520" cy="1665"/>
            </a:xfrm>
          </p:grpSpPr>
          <p:grpSp>
            <p:nvGrpSpPr>
              <p:cNvPr id="26650" name="Group 3"/>
              <p:cNvGrpSpPr>
                <a:grpSpLocks/>
              </p:cNvGrpSpPr>
              <p:nvPr/>
            </p:nvGrpSpPr>
            <p:grpSpPr bwMode="auto">
              <a:xfrm>
                <a:off x="2988" y="1872"/>
                <a:ext cx="2520" cy="1617"/>
                <a:chOff x="2988" y="1872"/>
                <a:chExt cx="2520" cy="1617"/>
              </a:xfrm>
            </p:grpSpPr>
            <p:pic>
              <p:nvPicPr>
                <p:cNvPr id="26653" name="Picture 4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654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665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2665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26657" name="Line 8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6651" name="Line 9"/>
              <p:cNvSpPr>
                <a:spLocks noChangeShapeType="1"/>
              </p:cNvSpPr>
              <p:nvPr/>
            </p:nvSpPr>
            <p:spPr bwMode="auto">
              <a:xfrm flipH="1">
                <a:off x="4512" y="19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52" name="Object 10"/>
              <p:cNvGraphicFramePr>
                <a:graphicFrameLocks noChangeAspect="1"/>
              </p:cNvGraphicFramePr>
              <p:nvPr/>
            </p:nvGraphicFramePr>
            <p:xfrm>
              <a:off x="4587" y="1824"/>
              <a:ext cx="412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57002" imgH="203112" progId="Equation.DSMT4">
                      <p:embed/>
                    </p:oleObj>
                  </mc:Choice>
                  <mc:Fallback>
                    <p:oleObj name="Equation" r:id="rId11" imgW="457002" imgH="203112" progId="Equation.DSMT4">
                      <p:embed/>
                      <p:pic>
                        <p:nvPicPr>
                          <p:cNvPr id="26652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7" y="1824"/>
                            <a:ext cx="412" cy="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39" name="Freeform 14"/>
            <p:cNvSpPr>
              <a:spLocks/>
            </p:cNvSpPr>
            <p:nvPr/>
          </p:nvSpPr>
          <p:spPr bwMode="auto">
            <a:xfrm>
              <a:off x="3886" y="1916"/>
              <a:ext cx="746" cy="1306"/>
            </a:xfrm>
            <a:custGeom>
              <a:avLst/>
              <a:gdLst>
                <a:gd name="T0" fmla="*/ 0 w 440"/>
                <a:gd name="T1" fmla="*/ 614384451 h 771"/>
                <a:gd name="T2" fmla="*/ 34014962 w 440"/>
                <a:gd name="T3" fmla="*/ 534417666 h 771"/>
                <a:gd name="T4" fmla="*/ 64206596 w 440"/>
                <a:gd name="T5" fmla="*/ 450946936 h 771"/>
                <a:gd name="T6" fmla="*/ 97778257 w 440"/>
                <a:gd name="T7" fmla="*/ 363478463 h 771"/>
                <a:gd name="T8" fmla="*/ 138208417 w 440"/>
                <a:gd name="T9" fmla="*/ 272823781 h 771"/>
                <a:gd name="T10" fmla="*/ 172156422 w 440"/>
                <a:gd name="T11" fmla="*/ 196874523 h 771"/>
                <a:gd name="T12" fmla="*/ 204949340 w 440"/>
                <a:gd name="T13" fmla="*/ 123904385 h 771"/>
                <a:gd name="T14" fmla="*/ 242008356 w 440"/>
                <a:gd name="T15" fmla="*/ 66943553 h 771"/>
                <a:gd name="T16" fmla="*/ 272436889 w 440"/>
                <a:gd name="T17" fmla="*/ 30475183 h 771"/>
                <a:gd name="T18" fmla="*/ 310376438 w 440"/>
                <a:gd name="T19" fmla="*/ 4409615 h 771"/>
                <a:gd name="T20" fmla="*/ 335072899 w 440"/>
                <a:gd name="T21" fmla="*/ 0 h 771"/>
                <a:gd name="T22" fmla="*/ 366089560 w 440"/>
                <a:gd name="T23" fmla="*/ 0 h 771"/>
                <a:gd name="T24" fmla="*/ 390908742 w 440"/>
                <a:gd name="T25" fmla="*/ 17991092 h 771"/>
                <a:gd name="T26" fmla="*/ 427871813 w 440"/>
                <a:gd name="T27" fmla="*/ 51622035 h 771"/>
                <a:gd name="T28" fmla="*/ 470072341 w 440"/>
                <a:gd name="T29" fmla="*/ 109350076 h 771"/>
                <a:gd name="T30" fmla="*/ 502194218 w 440"/>
                <a:gd name="T31" fmla="*/ 185678760 h 771"/>
                <a:gd name="T32" fmla="*/ 536925781 w 440"/>
                <a:gd name="T33" fmla="*/ 261554499 h 771"/>
                <a:gd name="T34" fmla="*/ 581806456 w 440"/>
                <a:gd name="T35" fmla="*/ 368040550 h 771"/>
                <a:gd name="T36" fmla="*/ 614132696 w 440"/>
                <a:gd name="T37" fmla="*/ 450946936 h 771"/>
                <a:gd name="T38" fmla="*/ 651378526 w 440"/>
                <a:gd name="T39" fmla="*/ 526467313 h 771"/>
                <a:gd name="T40" fmla="*/ 669724531 w 440"/>
                <a:gd name="T41" fmla="*/ 578367986 h 771"/>
                <a:gd name="T42" fmla="*/ 682772273 w 440"/>
                <a:gd name="T43" fmla="*/ 611233847 h 771"/>
                <a:gd name="T44" fmla="*/ 682772273 w 440"/>
                <a:gd name="T45" fmla="*/ 1166826532 h 771"/>
                <a:gd name="T46" fmla="*/ 0 w 440"/>
                <a:gd name="T47" fmla="*/ 1166826532 h 771"/>
                <a:gd name="T48" fmla="*/ 0 w 440"/>
                <a:gd name="T49" fmla="*/ 614384451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6640" name="Text Box 15"/>
            <p:cNvSpPr txBox="1">
              <a:spLocks noChangeArrowheads="1"/>
            </p:cNvSpPr>
            <p:nvPr/>
          </p:nvSpPr>
          <p:spPr bwMode="auto">
            <a:xfrm>
              <a:off x="4529" y="3173"/>
              <a:ext cx="1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z</a:t>
              </a:r>
            </a:p>
          </p:txBody>
        </p:sp>
        <p:sp>
          <p:nvSpPr>
            <p:cNvPr id="26641" name="Text Box 16"/>
            <p:cNvSpPr txBox="1">
              <a:spLocks noChangeArrowheads="1"/>
            </p:cNvSpPr>
            <p:nvPr/>
          </p:nvSpPr>
          <p:spPr bwMode="auto">
            <a:xfrm>
              <a:off x="3756" y="3173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-z</a:t>
              </a:r>
            </a:p>
          </p:txBody>
        </p:sp>
        <p:grpSp>
          <p:nvGrpSpPr>
            <p:cNvPr id="26642" name="Group 17"/>
            <p:cNvGrpSpPr>
              <a:grpSpLocks/>
            </p:cNvGrpSpPr>
            <p:nvPr/>
          </p:nvGrpSpPr>
          <p:grpSpPr bwMode="auto">
            <a:xfrm>
              <a:off x="4800" y="2602"/>
              <a:ext cx="385" cy="470"/>
              <a:chOff x="4800" y="2602"/>
              <a:chExt cx="385" cy="470"/>
            </a:xfrm>
          </p:grpSpPr>
          <p:sp>
            <p:nvSpPr>
              <p:cNvPr id="26648" name="Line 18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49" name="Object 19"/>
              <p:cNvGraphicFramePr>
                <a:graphicFrameLocks noChangeAspect="1"/>
              </p:cNvGraphicFramePr>
              <p:nvPr/>
            </p:nvGraphicFramePr>
            <p:xfrm>
              <a:off x="5025" y="2602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77646" imgH="393359" progId="Equation.DSMT4">
                      <p:embed/>
                    </p:oleObj>
                  </mc:Choice>
                  <mc:Fallback>
                    <p:oleObj name="Equation" r:id="rId12" imgW="177646" imgH="393359" progId="Equation.DSMT4">
                      <p:embed/>
                      <p:pic>
                        <p:nvPicPr>
                          <p:cNvPr id="2664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602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43" name="Group 20"/>
            <p:cNvGrpSpPr>
              <a:grpSpLocks/>
            </p:cNvGrpSpPr>
            <p:nvPr/>
          </p:nvGrpSpPr>
          <p:grpSpPr bwMode="auto">
            <a:xfrm>
              <a:off x="3393" y="2592"/>
              <a:ext cx="351" cy="470"/>
              <a:chOff x="2769" y="2544"/>
              <a:chExt cx="351" cy="470"/>
            </a:xfrm>
          </p:grpSpPr>
          <p:sp>
            <p:nvSpPr>
              <p:cNvPr id="26646" name="Line 21"/>
              <p:cNvSpPr>
                <a:spLocks noChangeShapeType="1"/>
              </p:cNvSpPr>
              <p:nvPr/>
            </p:nvSpPr>
            <p:spPr bwMode="auto">
              <a:xfrm flipH="1" flipV="1">
                <a:off x="2928" y="277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47" name="Object 22"/>
              <p:cNvGraphicFramePr>
                <a:graphicFrameLocks noChangeAspect="1"/>
              </p:cNvGraphicFramePr>
              <p:nvPr/>
            </p:nvGraphicFramePr>
            <p:xfrm>
              <a:off x="2769" y="2544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77646" imgH="393359" progId="Equation.DSMT4">
                      <p:embed/>
                    </p:oleObj>
                  </mc:Choice>
                  <mc:Fallback>
                    <p:oleObj name="Equation" r:id="rId14" imgW="177646" imgH="393359" progId="Equation.DSMT4">
                      <p:embed/>
                      <p:pic>
                        <p:nvPicPr>
                          <p:cNvPr id="26647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544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644" name="Object 23"/>
            <p:cNvGraphicFramePr>
              <a:graphicFrameLocks noChangeAspect="1"/>
            </p:cNvGraphicFramePr>
            <p:nvPr/>
          </p:nvGraphicFramePr>
          <p:xfrm>
            <a:off x="4111" y="2686"/>
            <a:ext cx="30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42603" imgH="177646" progId="Equation.DSMT4">
                    <p:embed/>
                  </p:oleObj>
                </mc:Choice>
                <mc:Fallback>
                  <p:oleObj name="Equation" r:id="rId16" imgW="342603" imgH="177646" progId="Equation.DSMT4">
                    <p:embed/>
                    <p:pic>
                      <p:nvPicPr>
                        <p:cNvPr id="2664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1" y="2686"/>
                          <a:ext cx="30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5" name="Object 34"/>
            <p:cNvGraphicFramePr>
              <a:graphicFrameLocks noChangeAspect="1"/>
            </p:cNvGraphicFramePr>
            <p:nvPr/>
          </p:nvGraphicFramePr>
          <p:xfrm>
            <a:off x="4281" y="3600"/>
            <a:ext cx="121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46200" imgH="203200" progId="Equation.DSMT4">
                    <p:embed/>
                  </p:oleObj>
                </mc:Choice>
                <mc:Fallback>
                  <p:oleObj name="Equation" r:id="rId18" imgW="1346200" imgH="203200" progId="Equation.DSMT4">
                    <p:embed/>
                    <p:pic>
                      <p:nvPicPr>
                        <p:cNvPr id="2664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" y="3600"/>
                          <a:ext cx="121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27" name="Object 39"/>
          <p:cNvGraphicFramePr>
            <a:graphicFrameLocks noChangeAspect="1"/>
          </p:cNvGraphicFramePr>
          <p:nvPr/>
        </p:nvGraphicFramePr>
        <p:xfrm>
          <a:off x="865188" y="4478338"/>
          <a:ext cx="33940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74900" imgH="444500" progId="Equation.DSMT4">
                  <p:embed/>
                </p:oleObj>
              </mc:Choice>
              <mc:Fallback>
                <p:oleObj name="Equation" r:id="rId20" imgW="2374900" imgH="444500" progId="Equation.DSMT4">
                  <p:embed/>
                  <p:pic>
                    <p:nvPicPr>
                      <p:cNvPr id="16592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4478338"/>
                        <a:ext cx="339407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28" name="Object 40"/>
          <p:cNvGraphicFramePr>
            <a:graphicFrameLocks noChangeAspect="1"/>
          </p:cNvGraphicFramePr>
          <p:nvPr/>
        </p:nvGraphicFramePr>
        <p:xfrm>
          <a:off x="838200" y="5410200"/>
          <a:ext cx="33940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74900" imgH="444500" progId="Equation.DSMT4">
                  <p:embed/>
                </p:oleObj>
              </mc:Choice>
              <mc:Fallback>
                <p:oleObj name="Equation" r:id="rId22" imgW="2374900" imgH="444500" progId="Equation.DSMT4">
                  <p:embed/>
                  <p:pic>
                    <p:nvPicPr>
                      <p:cNvPr id="1659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410200"/>
                        <a:ext cx="33940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25067-B5B8-4B7A-A647-247F196518D8}" type="slidenum">
              <a:rPr lang="pt-BR"/>
              <a:pPr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15" grpId="0" animBg="1"/>
      <p:bldP spid="16591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Intervalos de Confiança (Resumo)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331913" y="1552575"/>
            <a:ext cx="4002087" cy="890588"/>
            <a:chOff x="839" y="978"/>
            <a:chExt cx="2521" cy="561"/>
          </a:xfrm>
        </p:grpSpPr>
        <p:sp>
          <p:nvSpPr>
            <p:cNvPr id="19496" name="Text Box 33"/>
            <p:cNvSpPr txBox="1">
              <a:spLocks noChangeArrowheads="1"/>
            </p:cNvSpPr>
            <p:nvPr/>
          </p:nvSpPr>
          <p:spPr bwMode="auto">
            <a:xfrm>
              <a:off x="839" y="1167"/>
              <a:ext cx="4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grpSp>
          <p:nvGrpSpPr>
            <p:cNvPr id="19497" name="Group 37"/>
            <p:cNvGrpSpPr>
              <a:grpSpLocks/>
            </p:cNvGrpSpPr>
            <p:nvPr/>
          </p:nvGrpSpPr>
          <p:grpSpPr bwMode="auto">
            <a:xfrm>
              <a:off x="1473" y="1008"/>
              <a:ext cx="413" cy="531"/>
              <a:chOff x="1056" y="1008"/>
              <a:chExt cx="413" cy="531"/>
            </a:xfrm>
          </p:grpSpPr>
          <p:graphicFrame>
            <p:nvGraphicFramePr>
              <p:cNvPr id="19501" name="Object 35"/>
              <p:cNvGraphicFramePr>
                <a:graphicFrameLocks noChangeAspect="1"/>
              </p:cNvGraphicFramePr>
              <p:nvPr/>
            </p:nvGraphicFramePr>
            <p:xfrm>
              <a:off x="1056" y="1008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57002" imgH="203112" progId="Equation.DSMT4">
                      <p:embed/>
                    </p:oleObj>
                  </mc:Choice>
                  <mc:Fallback>
                    <p:oleObj name="Equation" r:id="rId2" imgW="457002" imgH="203112" progId="Equation.DSMT4">
                      <p:embed/>
                      <p:pic>
                        <p:nvPicPr>
                          <p:cNvPr id="19501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008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02" name="Object 36"/>
              <p:cNvGraphicFramePr>
                <a:graphicFrameLocks noChangeAspect="1"/>
              </p:cNvGraphicFramePr>
              <p:nvPr/>
            </p:nvGraphicFramePr>
            <p:xfrm>
              <a:off x="1056" y="1333"/>
              <a:ext cx="207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" imgH="228600" progId="Equation.DSMT4">
                      <p:embed/>
                    </p:oleObj>
                  </mc:Choice>
                  <mc:Fallback>
                    <p:oleObj name="Equation" r:id="rId4" imgW="228600" imgH="228600" progId="Equation.DSMT4">
                      <p:embed/>
                      <p:pic>
                        <p:nvPicPr>
                          <p:cNvPr id="1950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333"/>
                            <a:ext cx="207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498" name="Text Box 38"/>
            <p:cNvSpPr txBox="1">
              <a:spLocks noChangeArrowheads="1"/>
            </p:cNvSpPr>
            <p:nvPr/>
          </p:nvSpPr>
          <p:spPr bwMode="auto">
            <a:xfrm>
              <a:off x="2013" y="978"/>
              <a:ext cx="11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99" name="Text Box 39"/>
            <p:cNvSpPr txBox="1">
              <a:spLocks noChangeArrowheads="1"/>
            </p:cNvSpPr>
            <p:nvPr/>
          </p:nvSpPr>
          <p:spPr bwMode="auto">
            <a:xfrm>
              <a:off x="2013" y="1319"/>
              <a:ext cx="13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desconhecida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500" name="AutoShape 40"/>
            <p:cNvSpPr>
              <a:spLocks/>
            </p:cNvSpPr>
            <p:nvPr/>
          </p:nvSpPr>
          <p:spPr bwMode="auto">
            <a:xfrm>
              <a:off x="1337" y="1008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1331913" y="2636838"/>
            <a:ext cx="1419225" cy="457200"/>
            <a:chOff x="839" y="1824"/>
            <a:chExt cx="894" cy="288"/>
          </a:xfrm>
        </p:grpSpPr>
        <p:sp>
          <p:nvSpPr>
            <p:cNvPr id="19493" name="Text Box 43"/>
            <p:cNvSpPr txBox="1">
              <a:spLocks noChangeArrowheads="1"/>
            </p:cNvSpPr>
            <p:nvPr/>
          </p:nvSpPr>
          <p:spPr bwMode="auto">
            <a:xfrm>
              <a:off x="839" y="1869"/>
              <a:ext cx="5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19494" name="Object 45"/>
            <p:cNvGraphicFramePr>
              <a:graphicFrameLocks noChangeAspect="1"/>
            </p:cNvGraphicFramePr>
            <p:nvPr/>
          </p:nvGraphicFramePr>
          <p:xfrm>
            <a:off x="1480" y="1854"/>
            <a:ext cx="25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279" imgH="241195" progId="Equation.DSMT4">
                    <p:embed/>
                  </p:oleObj>
                </mc:Choice>
                <mc:Fallback>
                  <p:oleObj name="Equation" r:id="rId6" imgW="279279" imgH="241195" progId="Equation.DSMT4">
                    <p:embed/>
                    <p:pic>
                      <p:nvPicPr>
                        <p:cNvPr id="1949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54"/>
                          <a:ext cx="25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5" name="AutoShape 65"/>
            <p:cNvSpPr>
              <a:spLocks/>
            </p:cNvSpPr>
            <p:nvPr/>
          </p:nvSpPr>
          <p:spPr bwMode="auto">
            <a:xfrm>
              <a:off x="1379" y="1824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88"/>
          <p:cNvGrpSpPr>
            <a:grpSpLocks/>
          </p:cNvGrpSpPr>
          <p:nvPr/>
        </p:nvGrpSpPr>
        <p:grpSpPr bwMode="auto">
          <a:xfrm>
            <a:off x="1331913" y="3356992"/>
            <a:ext cx="1676400" cy="457200"/>
            <a:chOff x="839" y="3360"/>
            <a:chExt cx="1056" cy="288"/>
          </a:xfrm>
        </p:grpSpPr>
        <p:sp>
          <p:nvSpPr>
            <p:cNvPr id="19486" name="Text Box 76"/>
            <p:cNvSpPr txBox="1">
              <a:spLocks noChangeArrowheads="1"/>
            </p:cNvSpPr>
            <p:nvPr/>
          </p:nvSpPr>
          <p:spPr bwMode="auto">
            <a:xfrm>
              <a:off x="839" y="3398"/>
              <a:ext cx="5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19487" name="Object 77"/>
            <p:cNvGraphicFramePr>
              <a:graphicFrameLocks noChangeAspect="1"/>
            </p:cNvGraphicFramePr>
            <p:nvPr/>
          </p:nvGraphicFramePr>
          <p:xfrm>
            <a:off x="1481" y="3412"/>
            <a:ext cx="414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002" imgH="203112" progId="Equation.DSMT4">
                    <p:embed/>
                  </p:oleObj>
                </mc:Choice>
                <mc:Fallback>
                  <p:oleObj name="Equation" r:id="rId8" imgW="457002" imgH="203112" progId="Equation.DSMT4">
                    <p:embed/>
                    <p:pic>
                      <p:nvPicPr>
                        <p:cNvPr id="19487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1" y="3412"/>
                          <a:ext cx="414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8" name="AutoShape 78"/>
            <p:cNvSpPr>
              <a:spLocks/>
            </p:cNvSpPr>
            <p:nvPr/>
          </p:nvSpPr>
          <p:spPr bwMode="auto">
            <a:xfrm>
              <a:off x="1379" y="3360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948F2C-2B6E-4A78-AD22-346810D7EAD2}" type="slidenum">
              <a:rPr lang="pt-BR"/>
              <a:pPr>
                <a:defRPr/>
              </a:pPr>
              <a:t>20</a:t>
            </a:fld>
            <a:endParaRPr lang="pt-BR"/>
          </a:p>
        </p:txBody>
      </p:sp>
      <p:sp>
        <p:nvSpPr>
          <p:cNvPr id="47" name="Text Box 51"/>
          <p:cNvSpPr txBox="1">
            <a:spLocks noChangeArrowheads="1"/>
          </p:cNvSpPr>
          <p:nvPr/>
        </p:nvSpPr>
        <p:spPr bwMode="auto">
          <a:xfrm>
            <a:off x="762000" y="3961507"/>
            <a:ext cx="8001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possível também construir IC de modo a comparar parâmetros de 2 populações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(ver o material extra desse tema)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No entanto, esse propósito será melhor abordado em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Testes de Hipótese</a:t>
            </a:r>
          </a:p>
        </p:txBody>
      </p:sp>
    </p:spTree>
    <p:extLst>
      <p:ext uri="{BB962C8B-B14F-4D97-AF65-F5344CB8AC3E}">
        <p14:creationId xmlns:p14="http://schemas.microsoft.com/office/powerpoint/2010/main" val="2071490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Intervalos de Confiança (Resumo)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9" name="Text Box 51"/>
          <p:cNvSpPr txBox="1">
            <a:spLocks noChangeArrowheads="1"/>
          </p:cNvSpPr>
          <p:nvPr/>
        </p:nvSpPr>
        <p:spPr bwMode="auto">
          <a:xfrm>
            <a:off x="762000" y="1360488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Observações importantes: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Os </a:t>
            </a:r>
            <a:r>
              <a:rPr lang="pt-BR" altLang="pt-BR" sz="1600" dirty="0" err="1">
                <a:latin typeface="Tahoma" panose="020B0604030504040204" pitchFamily="34" charset="0"/>
              </a:rPr>
              <a:t>ICs</a:t>
            </a:r>
            <a:r>
              <a:rPr lang="pt-BR" altLang="pt-BR" sz="1600" dirty="0">
                <a:latin typeface="Tahoma" panose="020B0604030504040204" pitchFamily="34" charset="0"/>
              </a:rPr>
              <a:t> são construídos a partir de uma distribuição que relaciona o estimador pontual ao seu parâmetro;</a:t>
            </a:r>
          </a:p>
          <a:p>
            <a:pPr eaLnBrk="1" hangingPunct="1">
              <a:spcBef>
                <a:spcPct val="0"/>
              </a:spcBef>
            </a:pPr>
            <a:endParaRPr lang="pt-BR" altLang="pt-BR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Para se conseguir </a:t>
            </a:r>
            <a:r>
              <a:rPr lang="pt-BR" altLang="pt-BR" sz="1600" dirty="0" err="1">
                <a:latin typeface="Tahoma" panose="020B0604030504040204" pitchFamily="34" charset="0"/>
              </a:rPr>
              <a:t>ICs</a:t>
            </a:r>
            <a:r>
              <a:rPr lang="pt-BR" altLang="pt-BR" sz="1600" dirty="0">
                <a:latin typeface="Tahoma" panose="020B0604030504040204" pitchFamily="34" charset="0"/>
              </a:rPr>
              <a:t> mais estreitos, conservando-se o mesmo nível de confiança, deve-se aumentar o tamanho da amostra;</a:t>
            </a:r>
          </a:p>
          <a:p>
            <a:pPr eaLnBrk="1" hangingPunct="1">
              <a:spcBef>
                <a:spcPct val="0"/>
              </a:spcBef>
            </a:pPr>
            <a:endParaRPr lang="pt-BR" altLang="pt-BR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Caso o IC seja utilizado para verificar se o parâmetro para o qual o IC foi construído tem um determinado valor, deve-se aceitar qualquer valor presente dentro do intervalo, considerando o nível de confiança adotado;</a:t>
            </a:r>
          </a:p>
          <a:p>
            <a:pPr eaLnBrk="1" hangingPunct="1">
              <a:spcBef>
                <a:spcPct val="0"/>
              </a:spcBef>
            </a:pPr>
            <a:endParaRPr lang="pt-BR" altLang="pt-BR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se o IC para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for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P(20,3 &lt;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&lt; 43,8) = 0,95</a:t>
            </a:r>
          </a:p>
        </p:txBody>
      </p:sp>
      <p:sp>
        <p:nvSpPr>
          <p:cNvPr id="3" name="Retângulo 2"/>
          <p:cNvSpPr>
            <a:spLocks noChangeArrowheads="1"/>
          </p:cNvSpPr>
          <p:nvPr/>
        </p:nvSpPr>
        <p:spPr bwMode="auto">
          <a:xfrm>
            <a:off x="1115616" y="4426173"/>
            <a:ext cx="1537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pode ser 30?</a:t>
            </a:r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115616" y="4873848"/>
            <a:ext cx="1571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pode ser 21?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115616" y="5321523"/>
            <a:ext cx="1537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pode ser 45?</a:t>
            </a:r>
          </a:p>
        </p:txBody>
      </p:sp>
      <p:sp>
        <p:nvSpPr>
          <p:cNvPr id="24" name="Retângulo 23"/>
          <p:cNvSpPr>
            <a:spLocks noChangeArrowheads="1"/>
          </p:cNvSpPr>
          <p:nvPr/>
        </p:nvSpPr>
        <p:spPr bwMode="auto">
          <a:xfrm>
            <a:off x="2718991" y="4426173"/>
            <a:ext cx="5341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SIM</a:t>
            </a:r>
          </a:p>
        </p:txBody>
      </p:sp>
      <p:sp>
        <p:nvSpPr>
          <p:cNvPr id="25" name="Retângulo 24"/>
          <p:cNvSpPr>
            <a:spLocks noChangeArrowheads="1"/>
          </p:cNvSpPr>
          <p:nvPr/>
        </p:nvSpPr>
        <p:spPr bwMode="auto">
          <a:xfrm>
            <a:off x="2718991" y="4873848"/>
            <a:ext cx="5341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SIM</a:t>
            </a:r>
          </a:p>
        </p:txBody>
      </p:sp>
      <p:sp>
        <p:nvSpPr>
          <p:cNvPr id="26" name="Retângulo 25"/>
          <p:cNvSpPr>
            <a:spLocks noChangeArrowheads="1"/>
          </p:cNvSpPr>
          <p:nvPr/>
        </p:nvSpPr>
        <p:spPr bwMode="auto">
          <a:xfrm>
            <a:off x="2718991" y="5321523"/>
            <a:ext cx="5902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NÃO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3646091" y="4426173"/>
            <a:ext cx="3336925" cy="1235075"/>
            <a:chOff x="3347864" y="4836342"/>
            <a:chExt cx="3337519" cy="1235468"/>
          </a:xfrm>
        </p:grpSpPr>
        <p:sp>
          <p:nvSpPr>
            <p:cNvPr id="28685" name="AutoShape 78"/>
            <p:cNvSpPr>
              <a:spLocks/>
            </p:cNvSpPr>
            <p:nvPr/>
          </p:nvSpPr>
          <p:spPr bwMode="auto">
            <a:xfrm flipH="1">
              <a:off x="3347864" y="4836342"/>
              <a:ext cx="152400" cy="1235468"/>
            </a:xfrm>
            <a:prstGeom prst="leftBrace">
              <a:avLst>
                <a:gd name="adj1" fmla="val 2499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86" name="Retângulo 27"/>
            <p:cNvSpPr>
              <a:spLocks noChangeArrowheads="1"/>
            </p:cNvSpPr>
            <p:nvPr/>
          </p:nvSpPr>
          <p:spPr bwMode="auto">
            <a:xfrm>
              <a:off x="3491880" y="5284799"/>
              <a:ext cx="31935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considerando 95% de confiança</a:t>
              </a:r>
            </a:p>
          </p:txBody>
        </p:sp>
      </p:grpSp>
      <p:sp>
        <p:nvSpPr>
          <p:cNvPr id="30" name="Retângulo 29"/>
          <p:cNvSpPr>
            <a:spLocks noChangeArrowheads="1"/>
          </p:cNvSpPr>
          <p:nvPr/>
        </p:nvSpPr>
        <p:spPr bwMode="auto">
          <a:xfrm>
            <a:off x="3709591" y="4412183"/>
            <a:ext cx="5303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1778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1778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177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1778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1450" indent="-171450" eaLnBrk="1" hangingPunct="1">
              <a:spcBef>
                <a:spcPct val="0"/>
              </a:spcBef>
              <a:buFont typeface="Arial" charset="0"/>
              <a:buChar char="•"/>
            </a:pPr>
            <a:r>
              <a:rPr lang="pt-BR" altLang="pt-BR" sz="1200" dirty="0">
                <a:latin typeface="Tahoma" panose="020B0604030504040204" pitchFamily="34" charset="0"/>
              </a:rPr>
              <a:t>“não se pode negar que ela seja 30” ou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	“não há razões para discordar que a verdadeira média </a:t>
            </a:r>
            <a:r>
              <a:rPr lang="pt-BR" altLang="pt-BR" sz="12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200" dirty="0">
                <a:latin typeface="Tahoma" panose="020B0604030504040204" pitchFamily="34" charset="0"/>
              </a:rPr>
              <a:t> seja de fato 30”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1F63F5-CCAE-4482-8CB9-552AD40C3F6A}" type="slidenum">
              <a:rPr lang="pt-BR"/>
              <a:pPr>
                <a:defRPr/>
              </a:pPr>
              <a:t>21</a:t>
            </a:fld>
            <a:endParaRPr lang="pt-BR" dirty="0"/>
          </a:p>
        </p:txBody>
      </p:sp>
      <p:sp>
        <p:nvSpPr>
          <p:cNvPr id="4" name="Text Box 51">
            <a:extLst>
              <a:ext uri="{FF2B5EF4-FFF2-40B4-BE49-F238E27FC236}">
                <a16:creationId xmlns:a16="http://schemas.microsoft.com/office/drawing/2014/main" id="{5282AACC-0B5C-627C-D7A4-B44239557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787261"/>
            <a:ext cx="8001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Intervalo de Confiança (estimação de parâmetro)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2400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	   </a:t>
            </a:r>
            <a:endParaRPr lang="pt-BR" altLang="pt-BR" sz="16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marL="385763" indent="0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Intervalo de Credibilidade (ocorrência de valores simulados)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F17962-FF42-933E-6623-A6365AE81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258" y="5222591"/>
            <a:ext cx="43733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1778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1778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177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1778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177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(se mudar o nível de confiança, pode-se mudar a conclusão)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3" grpId="0"/>
      <p:bldP spid="21" grpId="0"/>
      <p:bldP spid="22" grpId="0"/>
      <p:bldP spid="24" grpId="0"/>
      <p:bldP spid="25" grpId="0"/>
      <p:bldP spid="26" grpId="0"/>
      <p:bldP spid="30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6104</TotalTime>
  <Words>1230</Words>
  <Application>Microsoft Office PowerPoint</Application>
  <PresentationFormat>Apresentação na tela (4:3)</PresentationFormat>
  <Paragraphs>230</Paragraphs>
  <Slides>21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1" baseType="lpstr">
      <vt:lpstr>Arial Unicode MS</vt:lpstr>
      <vt:lpstr>Arial</vt:lpstr>
      <vt:lpstr>Calibri</vt:lpstr>
      <vt:lpstr>Cambria Math</vt:lpstr>
      <vt:lpstr>Comic Sans MS</vt:lpstr>
      <vt:lpstr>Symbol</vt:lpstr>
      <vt:lpstr>Tahoma</vt:lpstr>
      <vt:lpstr>Times New Roman</vt:lpstr>
      <vt:lpstr>Estrutura padrão</vt:lpstr>
      <vt:lpstr>Equation</vt:lpstr>
      <vt:lpstr>Estatística: Aplicação ao Sensoriamento Remoto  SER 204  Intervalo de Confiança</vt:lpstr>
      <vt:lpstr>Intervalo de Confiança</vt:lpstr>
      <vt:lpstr>Intervalo de Confiança para </vt:lpstr>
      <vt:lpstr>Intervalo de Confiança para </vt:lpstr>
      <vt:lpstr>Intervalo de Confiança para </vt:lpstr>
      <vt:lpstr>Intervalo de Confiança para </vt:lpstr>
      <vt:lpstr>Intervalo de Confiança para </vt:lpstr>
      <vt:lpstr>Intervalo de Confiança para </vt:lpstr>
      <vt:lpstr>Como Interpretar o IC para ?</vt:lpstr>
      <vt:lpstr>Intervalo de Confiança para </vt:lpstr>
      <vt:lpstr>Intervalo de Confiança para 2</vt:lpstr>
      <vt:lpstr>Intervalo de Confiança para 2</vt:lpstr>
      <vt:lpstr>Distribuição 2</vt:lpstr>
      <vt:lpstr>Intervalo de Confiança para 2</vt:lpstr>
      <vt:lpstr>Intervalo de Confiança para  com 2 desconhecida</vt:lpstr>
      <vt:lpstr>Intervalo de Confiança para  com 2 desconhecida</vt:lpstr>
      <vt:lpstr>Distribuição t de Student</vt:lpstr>
      <vt:lpstr>Intervalo de Confiança para  com 2 desconhecida</vt:lpstr>
      <vt:lpstr>Intervalo de Confiança para proporção p</vt:lpstr>
      <vt:lpstr>Intervalos de Confiança (Resumo)</vt:lpstr>
      <vt:lpstr>Intervalos de Confiança (Resumo)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Intervalo de Confiança</dc:title>
  <dc:creator>Camilo Daleles Rennó, DPI/INPE</dc:creator>
  <cp:lastModifiedBy>Camilo Daleles Rennó</cp:lastModifiedBy>
  <cp:revision>454</cp:revision>
  <dcterms:created xsi:type="dcterms:W3CDTF">2003-03-18T00:57:51Z</dcterms:created>
  <dcterms:modified xsi:type="dcterms:W3CDTF">2025-06-09T13:10:41Z</dcterms:modified>
</cp:coreProperties>
</file>