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79"/>
  </p:notesMasterIdLst>
  <p:sldIdLst>
    <p:sldId id="458" r:id="rId2"/>
    <p:sldId id="420" r:id="rId3"/>
    <p:sldId id="421" r:id="rId4"/>
    <p:sldId id="394" r:id="rId5"/>
    <p:sldId id="395" r:id="rId6"/>
    <p:sldId id="396" r:id="rId7"/>
    <p:sldId id="423" r:id="rId8"/>
    <p:sldId id="424" r:id="rId9"/>
    <p:sldId id="425" r:id="rId10"/>
    <p:sldId id="426" r:id="rId11"/>
    <p:sldId id="427" r:id="rId12"/>
    <p:sldId id="398" r:id="rId13"/>
    <p:sldId id="399" r:id="rId14"/>
    <p:sldId id="400" r:id="rId15"/>
    <p:sldId id="401" r:id="rId16"/>
    <p:sldId id="402" r:id="rId17"/>
    <p:sldId id="403" r:id="rId18"/>
    <p:sldId id="404" r:id="rId19"/>
    <p:sldId id="405" r:id="rId20"/>
    <p:sldId id="428" r:id="rId21"/>
    <p:sldId id="406" r:id="rId22"/>
    <p:sldId id="407" r:id="rId23"/>
    <p:sldId id="429" r:id="rId24"/>
    <p:sldId id="430" r:id="rId25"/>
    <p:sldId id="300" r:id="rId26"/>
    <p:sldId id="301" r:id="rId27"/>
    <p:sldId id="302" r:id="rId28"/>
    <p:sldId id="303" r:id="rId29"/>
    <p:sldId id="304" r:id="rId30"/>
    <p:sldId id="305" r:id="rId31"/>
    <p:sldId id="431" r:id="rId32"/>
    <p:sldId id="432" r:id="rId33"/>
    <p:sldId id="333" r:id="rId34"/>
    <p:sldId id="334" r:id="rId35"/>
    <p:sldId id="335" r:id="rId36"/>
    <p:sldId id="336" r:id="rId37"/>
    <p:sldId id="433" r:id="rId38"/>
    <p:sldId id="337" r:id="rId39"/>
    <p:sldId id="338" r:id="rId40"/>
    <p:sldId id="339" r:id="rId41"/>
    <p:sldId id="434" r:id="rId42"/>
    <p:sldId id="454" r:id="rId43"/>
    <p:sldId id="455" r:id="rId44"/>
    <p:sldId id="456" r:id="rId45"/>
    <p:sldId id="344" r:id="rId46"/>
    <p:sldId id="410" r:id="rId47"/>
    <p:sldId id="390" r:id="rId48"/>
    <p:sldId id="391" r:id="rId49"/>
    <p:sldId id="392" r:id="rId50"/>
    <p:sldId id="411" r:id="rId51"/>
    <p:sldId id="412" r:id="rId52"/>
    <p:sldId id="418" r:id="rId53"/>
    <p:sldId id="413" r:id="rId54"/>
    <p:sldId id="414" r:id="rId55"/>
    <p:sldId id="415" r:id="rId56"/>
    <p:sldId id="416" r:id="rId57"/>
    <p:sldId id="417" r:id="rId58"/>
    <p:sldId id="435" r:id="rId59"/>
    <p:sldId id="436" r:id="rId60"/>
    <p:sldId id="441" r:id="rId61"/>
    <p:sldId id="437" r:id="rId62"/>
    <p:sldId id="438" r:id="rId63"/>
    <p:sldId id="439" r:id="rId64"/>
    <p:sldId id="440" r:id="rId65"/>
    <p:sldId id="442" r:id="rId66"/>
    <p:sldId id="443" r:id="rId67"/>
    <p:sldId id="444" r:id="rId68"/>
    <p:sldId id="445" r:id="rId69"/>
    <p:sldId id="446" r:id="rId70"/>
    <p:sldId id="447" r:id="rId71"/>
    <p:sldId id="448" r:id="rId72"/>
    <p:sldId id="449" r:id="rId73"/>
    <p:sldId id="450" r:id="rId74"/>
    <p:sldId id="451" r:id="rId75"/>
    <p:sldId id="452" r:id="rId76"/>
    <p:sldId id="453" r:id="rId77"/>
    <p:sldId id="457" r:id="rId78"/>
  </p:sldIdLst>
  <p:sldSz cx="9144000" cy="6858000" type="screen4x3"/>
  <p:notesSz cx="6858000" cy="9144000"/>
  <p:defaultTextStyle>
    <a:defPPr>
      <a:defRPr lang="pt-BR"/>
    </a:defPPr>
    <a:lvl1pPr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Comic Sans MS" pitchFamily="66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Comic Sans MS" pitchFamily="66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Comic Sans MS" pitchFamily="66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Comic Sans MS" pitchFamily="66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Comic Sans MS" pitchFamily="66" charset="0"/>
        <a:ea typeface="+mn-ea"/>
        <a:cs typeface="Arial" charset="0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Comic Sans MS" pitchFamily="66" charset="0"/>
        <a:ea typeface="+mn-ea"/>
        <a:cs typeface="Arial" charset="0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Comic Sans MS" pitchFamily="66" charset="0"/>
        <a:ea typeface="+mn-ea"/>
        <a:cs typeface="Arial" charset="0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Comic Sans MS" pitchFamily="66" charset="0"/>
        <a:ea typeface="+mn-ea"/>
        <a:cs typeface="Arial" charset="0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Comic Sans MS" pitchFamily="66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EAEAEA"/>
    <a:srgbClr val="000000"/>
    <a:srgbClr val="FFFF00"/>
    <a:srgbClr val="DDDDDD"/>
    <a:srgbClr val="C0C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7E4C65-4B8C-41C8-9EFC-8C24EB90A243}" v="1" dt="2025-06-17T14:51:39.341"/>
    <p1510:client id="{D915B38D-7313-4561-85BA-BAE49393DE26}" v="7" dt="2025-06-17T14:48:08.0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>
      <p:cViewPr varScale="1">
        <p:scale>
          <a:sx n="55" d="100"/>
          <a:sy n="55" d="100"/>
        </p:scale>
        <p:origin x="1600" y="2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microsoft.com/office/2016/11/relationships/changesInfo" Target="changesInfos/changesInfo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presProps" Target="presProps.xml"/><Relationship Id="rId85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theme" Target="theme/theme1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milo Daleles Rennó" userId="eac9aab033b2f962" providerId="LiveId" clId="{D915B38D-7313-4561-85BA-BAE49393DE26}"/>
    <pc:docChg chg="undo custSel modSld">
      <pc:chgData name="Camilo Daleles Rennó" userId="eac9aab033b2f962" providerId="LiveId" clId="{D915B38D-7313-4561-85BA-BAE49393DE26}" dt="2025-06-17T14:48:08.067" v="8" actId="20577"/>
      <pc:docMkLst>
        <pc:docMk/>
      </pc:docMkLst>
      <pc:sldChg chg="addSp delSp mod modAnim">
        <pc:chgData name="Camilo Daleles Rennó" userId="eac9aab033b2f962" providerId="LiveId" clId="{D915B38D-7313-4561-85BA-BAE49393DE26}" dt="2025-06-17T14:13:22.963" v="5"/>
        <pc:sldMkLst>
          <pc:docMk/>
          <pc:sldMk cId="360436200" sldId="421"/>
        </pc:sldMkLst>
        <pc:grpChg chg="add del">
          <ac:chgData name="Camilo Daleles Rennó" userId="eac9aab033b2f962" providerId="LiveId" clId="{D915B38D-7313-4561-85BA-BAE49393DE26}" dt="2025-06-17T14:12:52.443" v="4" actId="478"/>
          <ac:grpSpMkLst>
            <pc:docMk/>
            <pc:sldMk cId="360436200" sldId="421"/>
            <ac:grpSpMk id="10" creationId="{00000000-0000-0000-0000-000000000000}"/>
          </ac:grpSpMkLst>
        </pc:grpChg>
      </pc:sldChg>
      <pc:sldChg chg="modSp">
        <pc:chgData name="Camilo Daleles Rennó" userId="eac9aab033b2f962" providerId="LiveId" clId="{D915B38D-7313-4561-85BA-BAE49393DE26}" dt="2025-06-16T23:49:24.339" v="1" actId="20577"/>
        <pc:sldMkLst>
          <pc:docMk/>
          <pc:sldMk cId="3858635779" sldId="424"/>
        </pc:sldMkLst>
        <pc:spChg chg="mod">
          <ac:chgData name="Camilo Daleles Rennó" userId="eac9aab033b2f962" providerId="LiveId" clId="{D915B38D-7313-4561-85BA-BAE49393DE26}" dt="2025-06-16T23:49:24.339" v="1" actId="20577"/>
          <ac:spMkLst>
            <pc:docMk/>
            <pc:sldMk cId="3858635779" sldId="424"/>
            <ac:spMk id="33" creationId="{00000000-0000-0000-0000-000000000000}"/>
          </ac:spMkLst>
        </pc:spChg>
      </pc:sldChg>
      <pc:sldChg chg="modSp">
        <pc:chgData name="Camilo Daleles Rennó" userId="eac9aab033b2f962" providerId="LiveId" clId="{D915B38D-7313-4561-85BA-BAE49393DE26}" dt="2025-06-17T14:47:04.782" v="7"/>
        <pc:sldMkLst>
          <pc:docMk/>
          <pc:sldMk cId="377210117" sldId="451"/>
        </pc:sldMkLst>
        <pc:spChg chg="mod">
          <ac:chgData name="Camilo Daleles Rennó" userId="eac9aab033b2f962" providerId="LiveId" clId="{D915B38D-7313-4561-85BA-BAE49393DE26}" dt="2025-06-17T14:46:58.412" v="6"/>
          <ac:spMkLst>
            <pc:docMk/>
            <pc:sldMk cId="377210117" sldId="451"/>
            <ac:spMk id="8" creationId="{975EF850-B58E-8CF5-65D3-3E1FE941B875}"/>
          </ac:spMkLst>
        </pc:spChg>
        <pc:spChg chg="mod">
          <ac:chgData name="Camilo Daleles Rennó" userId="eac9aab033b2f962" providerId="LiveId" clId="{D915B38D-7313-4561-85BA-BAE49393DE26}" dt="2025-06-17T14:47:04.782" v="7"/>
          <ac:spMkLst>
            <pc:docMk/>
            <pc:sldMk cId="377210117" sldId="451"/>
            <ac:spMk id="18" creationId="{AD4E72B1-B31B-824B-EA7C-54A5761B2EE1}"/>
          </ac:spMkLst>
        </pc:spChg>
      </pc:sldChg>
      <pc:sldChg chg="modSp">
        <pc:chgData name="Camilo Daleles Rennó" userId="eac9aab033b2f962" providerId="LiveId" clId="{D915B38D-7313-4561-85BA-BAE49393DE26}" dt="2025-06-17T14:48:08.067" v="8" actId="20577"/>
        <pc:sldMkLst>
          <pc:docMk/>
          <pc:sldMk cId="3419558432" sldId="452"/>
        </pc:sldMkLst>
        <pc:spChg chg="mod">
          <ac:chgData name="Camilo Daleles Rennó" userId="eac9aab033b2f962" providerId="LiveId" clId="{D915B38D-7313-4561-85BA-BAE49393DE26}" dt="2025-06-17T14:48:08.067" v="8" actId="20577"/>
          <ac:spMkLst>
            <pc:docMk/>
            <pc:sldMk cId="3419558432" sldId="452"/>
            <ac:spMk id="2" creationId="{24C658BB-0476-36AB-3552-A857CBC5DC4E}"/>
          </ac:spMkLst>
        </pc:spChg>
      </pc:sldChg>
    </pc:docChg>
  </pc:docChgLst>
  <pc:docChgLst>
    <pc:chgData name="Camilo Daleles Rennó" userId="eac9aab033b2f962" providerId="LiveId" clId="{697E4C65-4B8C-41C8-9EFC-8C24EB90A243}"/>
    <pc:docChg chg="addSld delSld modSld">
      <pc:chgData name="Camilo Daleles Rennó" userId="eac9aab033b2f962" providerId="LiveId" clId="{697E4C65-4B8C-41C8-9EFC-8C24EB90A243}" dt="2025-06-17T14:51:42.230" v="1" actId="47"/>
      <pc:docMkLst>
        <pc:docMk/>
      </pc:docMkLst>
      <pc:sldChg chg="del">
        <pc:chgData name="Camilo Daleles Rennó" userId="eac9aab033b2f962" providerId="LiveId" clId="{697E4C65-4B8C-41C8-9EFC-8C24EB90A243}" dt="2025-06-17T14:51:42.230" v="1" actId="47"/>
        <pc:sldMkLst>
          <pc:docMk/>
          <pc:sldMk cId="0" sldId="380"/>
        </pc:sldMkLst>
      </pc:sldChg>
      <pc:sldChg chg="add">
        <pc:chgData name="Camilo Daleles Rennó" userId="eac9aab033b2f962" providerId="LiveId" clId="{697E4C65-4B8C-41C8-9EFC-8C24EB90A243}" dt="2025-06-17T14:51:39.341" v="0"/>
        <pc:sldMkLst>
          <pc:docMk/>
          <pc:sldMk cId="0" sldId="45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7891CD54-6FD1-428E-8C76-46C66BF5EA27}" type="datetimeFigureOut">
              <a:rPr lang="pt-BR" smtClean="0"/>
              <a:pPr>
                <a:defRPr/>
              </a:pPr>
              <a:t>17/06/2025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pt-BR" noProof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noProof="0"/>
              <a:t>Clique para editar o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F96469A6-B6C1-49EC-8DD4-A5104F0B752C}" type="slidenum">
              <a:rPr lang="pt-BR" smtClean="0"/>
              <a:pPr>
                <a:defRPr/>
              </a:pPr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6293449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96469A6-B6C1-49EC-8DD4-A5104F0B752C}" type="slidenum">
              <a:rPr lang="pt-BR" smtClean="0"/>
              <a:pPr>
                <a:defRPr/>
              </a:pPr>
              <a:t>65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856358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73D994-E584-45AC-924B-1AC15BDC439E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900288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239000" y="6400800"/>
            <a:ext cx="1905000" cy="457200"/>
          </a:xfrm>
        </p:spPr>
        <p:txBody>
          <a:bodyPr anchor="b"/>
          <a:lstStyle>
            <a:lvl1pPr>
              <a:defRPr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78825A6F-001B-4467-AB54-04FB17A5D7A7}" type="slidenum">
              <a:rPr lang="pt-BR" smtClean="0"/>
              <a:pPr>
                <a:defRPr/>
              </a:pPr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504304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03C06E-FE5A-456A-823D-6A0772808EB8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9741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4478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28B8E4-13FE-4E22-8FED-AB16FB115EB1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17088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7F3295-8293-462E-A52D-362E903442D5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2736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682102-AC78-4E2F-BD4E-6BFCC046AC57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16502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C4E0BA-B7DF-4213-9E6F-65FE1AAE23BF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46650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B7C2EB-E38F-4AB1-BA39-C44D4385561E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3608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469196-0446-4DE2-BF2A-444CCB62ACBA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2274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51AE68-C23C-4FC4-8851-47A5B39B8586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436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48450" y="609600"/>
            <a:ext cx="2114550" cy="5486400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304800" y="609600"/>
            <a:ext cx="6191250" cy="5486400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580F4F-D3E5-4B94-90EA-DE8F33B2F005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2259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609600"/>
            <a:ext cx="84582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dirty="0"/>
              <a:t>Clique para editar o estilo do título mestre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447800"/>
            <a:ext cx="77724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 dirty="0"/>
              <a:t>Clique para editar os estilos do texto mestre</a:t>
            </a:r>
          </a:p>
          <a:p>
            <a:pPr lvl="1"/>
            <a:r>
              <a:rPr lang="pt-BR" altLang="pt-BR" dirty="0"/>
              <a:t>Segundo nível</a:t>
            </a:r>
          </a:p>
          <a:p>
            <a:pPr lvl="2"/>
            <a:r>
              <a:rPr lang="pt-BR" altLang="pt-BR" dirty="0"/>
              <a:t>Terceiro nível</a:t>
            </a:r>
          </a:p>
          <a:p>
            <a:pPr lvl="3"/>
            <a:r>
              <a:rPr lang="pt-BR" altLang="pt-BR" dirty="0"/>
              <a:t>Quarto nível</a:t>
            </a:r>
          </a:p>
          <a:p>
            <a:pPr lvl="4"/>
            <a:r>
              <a:rPr lang="pt-BR" altLang="pt-BR" dirty="0"/>
              <a:t>Quinto nível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fld id="{6F03E110-64F6-49A2-B347-A7BA0B0084A6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  <p:sp>
        <p:nvSpPr>
          <p:cNvPr id="1031" name="Rectangle 7"/>
          <p:cNvSpPr>
            <a:spLocks noChangeArrowheads="1"/>
          </p:cNvSpPr>
          <p:nvPr userDrawn="1"/>
        </p:nvSpPr>
        <p:spPr bwMode="auto">
          <a:xfrm>
            <a:off x="762000" y="1219200"/>
            <a:ext cx="7620000" cy="76200"/>
          </a:xfrm>
          <a:prstGeom prst="rect">
            <a:avLst/>
          </a:prstGeom>
          <a:gradFill rotWithShape="0">
            <a:gsLst>
              <a:gs pos="0">
                <a:schemeClr val="accent2">
                  <a:gamma/>
                  <a:tint val="20392"/>
                  <a:invGamma/>
                </a:schemeClr>
              </a:gs>
              <a:gs pos="50000">
                <a:schemeClr val="accent2"/>
              </a:gs>
              <a:gs pos="100000">
                <a:schemeClr val="accent2">
                  <a:gamma/>
                  <a:tint val="20392"/>
                  <a:invGamma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pt-BR" dirty="0">
              <a:latin typeface="Tahoma" panose="020B0604030504040204" pitchFamily="34" charset="0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9" r:id="rId2"/>
    <p:sldLayoutId id="2147483770" r:id="rId3"/>
    <p:sldLayoutId id="2147483771" r:id="rId4"/>
    <p:sldLayoutId id="2147483772" r:id="rId5"/>
    <p:sldLayoutId id="2147483773" r:id="rId6"/>
    <p:sldLayoutId id="2147483774" r:id="rId7"/>
    <p:sldLayoutId id="2147483775" r:id="rId8"/>
    <p:sldLayoutId id="2147483776" r:id="rId9"/>
    <p:sldLayoutId id="2147483777" r:id="rId10"/>
    <p:sldLayoutId id="2147483778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effectLst>
            <a:outerShdw blurRad="38100" dist="38100" dir="2700000" algn="tl">
              <a:srgbClr val="C0C0C0"/>
            </a:outerShdw>
          </a:effectLst>
          <a:latin typeface="Comic Sans MS" pitchFamily="66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effectLst>
            <a:outerShdw blurRad="38100" dist="38100" dir="2700000" algn="tl">
              <a:srgbClr val="C0C0C0"/>
            </a:outerShdw>
          </a:effectLst>
          <a:latin typeface="Comic Sans MS" pitchFamily="66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effectLst>
            <a:outerShdw blurRad="38100" dist="38100" dir="2700000" algn="tl">
              <a:srgbClr val="C0C0C0"/>
            </a:outerShdw>
          </a:effectLst>
          <a:latin typeface="Comic Sans MS" pitchFamily="66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effectLst>
            <a:outerShdw blurRad="38100" dist="38100" dir="2700000" algn="tl">
              <a:srgbClr val="C0C0C0"/>
            </a:outerShdw>
          </a:effectLst>
          <a:latin typeface="Comic Sans MS" pitchFamily="66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200">
          <a:solidFill>
            <a:srgbClr val="FF3300"/>
          </a:solidFill>
          <a:effectLst>
            <a:outerShdw blurRad="38100" dist="38100" dir="2700000" algn="tl">
              <a:srgbClr val="C0C0C0"/>
            </a:outerShdw>
          </a:effectLst>
          <a:latin typeface="Comic Sans MS" pitchFamily="66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>
          <a:solidFill>
            <a:srgbClr val="FF3300"/>
          </a:solidFill>
          <a:effectLst>
            <a:outerShdw blurRad="38100" dist="38100" dir="2700000" algn="tl">
              <a:srgbClr val="C0C0C0"/>
            </a:outerShdw>
          </a:effectLst>
          <a:latin typeface="Comic Sans MS" pitchFamily="66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>
          <a:solidFill>
            <a:srgbClr val="FF3300"/>
          </a:solidFill>
          <a:effectLst>
            <a:outerShdw blurRad="38100" dist="38100" dir="2700000" algn="tl">
              <a:srgbClr val="C0C0C0"/>
            </a:outerShdw>
          </a:effectLst>
          <a:latin typeface="Comic Sans MS" pitchFamily="66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>
          <a:solidFill>
            <a:srgbClr val="FF3300"/>
          </a:solidFill>
          <a:effectLst>
            <a:outerShdw blurRad="38100" dist="38100" dir="2700000" algn="tl">
              <a:srgbClr val="C0C0C0"/>
            </a:outerShdw>
          </a:effectLst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Tahoma" panose="020B0604030504040204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Tahoma" panose="020B060403050404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Tahoma" panose="020B060403050404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ahoma" panose="020B060403050404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ahoma" panose="020B0604030504040204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cdrenno.github.io/Estatistica/" TargetMode="External"/><Relationship Id="rId2" Type="http://schemas.openxmlformats.org/officeDocument/2006/relationships/hyperlink" Target="http://urlib.net/8JMKD2USNRW34T/4D6DMD2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9.wmf"/><Relationship Id="rId18" Type="http://schemas.openxmlformats.org/officeDocument/2006/relationships/oleObject" Target="../embeddings/oleObject9.bin"/><Relationship Id="rId3" Type="http://schemas.openxmlformats.org/officeDocument/2006/relationships/image" Target="../media/image4.wmf"/><Relationship Id="rId7" Type="http://schemas.openxmlformats.org/officeDocument/2006/relationships/image" Target="../media/image6.wmf"/><Relationship Id="rId12" Type="http://schemas.openxmlformats.org/officeDocument/2006/relationships/oleObject" Target="../embeddings/oleObject6.bin"/><Relationship Id="rId17" Type="http://schemas.openxmlformats.org/officeDocument/2006/relationships/image" Target="../media/image11.wmf"/><Relationship Id="rId2" Type="http://schemas.openxmlformats.org/officeDocument/2006/relationships/oleObject" Target="../embeddings/oleObject1.bin"/><Relationship Id="rId16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8.wmf"/><Relationship Id="rId5" Type="http://schemas.openxmlformats.org/officeDocument/2006/relationships/image" Target="../media/image5.wmf"/><Relationship Id="rId15" Type="http://schemas.openxmlformats.org/officeDocument/2006/relationships/image" Target="../media/image10.wmf"/><Relationship Id="rId10" Type="http://schemas.openxmlformats.org/officeDocument/2006/relationships/oleObject" Target="../embeddings/oleObject5.bin"/><Relationship Id="rId19" Type="http://schemas.openxmlformats.org/officeDocument/2006/relationships/image" Target="../media/image12.w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7.wmf"/><Relationship Id="rId14" Type="http://schemas.openxmlformats.org/officeDocument/2006/relationships/oleObject" Target="../embeddings/oleObject7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13" Type="http://schemas.openxmlformats.org/officeDocument/2006/relationships/image" Target="../media/image16.wmf"/><Relationship Id="rId18" Type="http://schemas.openxmlformats.org/officeDocument/2006/relationships/oleObject" Target="../embeddings/oleObject18.bin"/><Relationship Id="rId3" Type="http://schemas.openxmlformats.org/officeDocument/2006/relationships/image" Target="../media/image5.wmf"/><Relationship Id="rId7" Type="http://schemas.openxmlformats.org/officeDocument/2006/relationships/image" Target="../media/image14.wmf"/><Relationship Id="rId12" Type="http://schemas.openxmlformats.org/officeDocument/2006/relationships/oleObject" Target="../embeddings/oleObject15.bin"/><Relationship Id="rId17" Type="http://schemas.openxmlformats.org/officeDocument/2006/relationships/image" Target="../media/image18.wmf"/><Relationship Id="rId2" Type="http://schemas.openxmlformats.org/officeDocument/2006/relationships/oleObject" Target="../embeddings/oleObject10.bin"/><Relationship Id="rId16" Type="http://schemas.openxmlformats.org/officeDocument/2006/relationships/oleObject" Target="../embeddings/oleObject1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2.bin"/><Relationship Id="rId11" Type="http://schemas.openxmlformats.org/officeDocument/2006/relationships/image" Target="../media/image15.wmf"/><Relationship Id="rId5" Type="http://schemas.openxmlformats.org/officeDocument/2006/relationships/image" Target="../media/image13.wmf"/><Relationship Id="rId15" Type="http://schemas.openxmlformats.org/officeDocument/2006/relationships/image" Target="../media/image17.wmf"/><Relationship Id="rId10" Type="http://schemas.openxmlformats.org/officeDocument/2006/relationships/oleObject" Target="../embeddings/oleObject14.bin"/><Relationship Id="rId19" Type="http://schemas.openxmlformats.org/officeDocument/2006/relationships/image" Target="../media/image12.wmf"/><Relationship Id="rId4" Type="http://schemas.openxmlformats.org/officeDocument/2006/relationships/oleObject" Target="../embeddings/oleObject11.bin"/><Relationship Id="rId9" Type="http://schemas.openxmlformats.org/officeDocument/2006/relationships/image" Target="../media/image8.wmf"/><Relationship Id="rId14" Type="http://schemas.openxmlformats.org/officeDocument/2006/relationships/oleObject" Target="../embeddings/oleObject16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.bin"/><Relationship Id="rId13" Type="http://schemas.openxmlformats.org/officeDocument/2006/relationships/image" Target="../media/image22.wmf"/><Relationship Id="rId3" Type="http://schemas.openxmlformats.org/officeDocument/2006/relationships/image" Target="../media/image5.wmf"/><Relationship Id="rId7" Type="http://schemas.openxmlformats.org/officeDocument/2006/relationships/image" Target="../media/image19.wmf"/><Relationship Id="rId12" Type="http://schemas.openxmlformats.org/officeDocument/2006/relationships/oleObject" Target="../embeddings/oleObject24.bin"/><Relationship Id="rId17" Type="http://schemas.openxmlformats.org/officeDocument/2006/relationships/image" Target="../media/image12.wmf"/><Relationship Id="rId2" Type="http://schemas.openxmlformats.org/officeDocument/2006/relationships/oleObject" Target="../embeddings/oleObject19.bin"/><Relationship Id="rId16" Type="http://schemas.openxmlformats.org/officeDocument/2006/relationships/oleObject" Target="../embeddings/oleObject2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1.bin"/><Relationship Id="rId11" Type="http://schemas.openxmlformats.org/officeDocument/2006/relationships/image" Target="../media/image21.wmf"/><Relationship Id="rId5" Type="http://schemas.openxmlformats.org/officeDocument/2006/relationships/image" Target="../media/image13.wmf"/><Relationship Id="rId15" Type="http://schemas.openxmlformats.org/officeDocument/2006/relationships/image" Target="../media/image23.wmf"/><Relationship Id="rId10" Type="http://schemas.openxmlformats.org/officeDocument/2006/relationships/oleObject" Target="../embeddings/oleObject23.bin"/><Relationship Id="rId4" Type="http://schemas.openxmlformats.org/officeDocument/2006/relationships/oleObject" Target="../embeddings/oleObject20.bin"/><Relationship Id="rId9" Type="http://schemas.openxmlformats.org/officeDocument/2006/relationships/image" Target="../media/image20.wmf"/><Relationship Id="rId14" Type="http://schemas.openxmlformats.org/officeDocument/2006/relationships/oleObject" Target="../embeddings/oleObject25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4.wmf"/><Relationship Id="rId7" Type="http://schemas.openxmlformats.org/officeDocument/2006/relationships/image" Target="../media/image26.wmf"/><Relationship Id="rId2" Type="http://schemas.openxmlformats.org/officeDocument/2006/relationships/oleObject" Target="../embeddings/oleObject2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9.bin"/><Relationship Id="rId11" Type="http://schemas.openxmlformats.org/officeDocument/2006/relationships/image" Target="../media/image30.png"/><Relationship Id="rId5" Type="http://schemas.openxmlformats.org/officeDocument/2006/relationships/image" Target="../media/image25.wmf"/><Relationship Id="rId10" Type="http://schemas.openxmlformats.org/officeDocument/2006/relationships/image" Target="../media/image29.png"/><Relationship Id="rId4" Type="http://schemas.openxmlformats.org/officeDocument/2006/relationships/oleObject" Target="../embeddings/oleObject28.bin"/><Relationship Id="rId9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12" Type="http://schemas.openxmlformats.org/officeDocument/2006/relationships/image" Target="../media/image37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3.bin"/><Relationship Id="rId3" Type="http://schemas.openxmlformats.org/officeDocument/2006/relationships/image" Target="../media/image41.wmf"/><Relationship Id="rId7" Type="http://schemas.openxmlformats.org/officeDocument/2006/relationships/image" Target="../media/image43.wmf"/><Relationship Id="rId2" Type="http://schemas.openxmlformats.org/officeDocument/2006/relationships/oleObject" Target="../embeddings/oleObject3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2.bin"/><Relationship Id="rId5" Type="http://schemas.openxmlformats.org/officeDocument/2006/relationships/image" Target="../media/image42.wmf"/><Relationship Id="rId4" Type="http://schemas.openxmlformats.org/officeDocument/2006/relationships/oleObject" Target="../embeddings/oleObject31.bin"/><Relationship Id="rId9" Type="http://schemas.openxmlformats.org/officeDocument/2006/relationships/image" Target="../media/image44.w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0.wmf"/><Relationship Id="rId18" Type="http://schemas.openxmlformats.org/officeDocument/2006/relationships/image" Target="../media/image52.wmf"/><Relationship Id="rId26" Type="http://schemas.openxmlformats.org/officeDocument/2006/relationships/oleObject" Target="../embeddings/oleObject47.bin"/><Relationship Id="rId39" Type="http://schemas.openxmlformats.org/officeDocument/2006/relationships/oleObject" Target="../embeddings/oleObject54.bin"/><Relationship Id="rId21" Type="http://schemas.openxmlformats.org/officeDocument/2006/relationships/oleObject" Target="../embeddings/oleObject44.bin"/><Relationship Id="rId34" Type="http://schemas.openxmlformats.org/officeDocument/2006/relationships/image" Target="../media/image59.wmf"/><Relationship Id="rId7" Type="http://schemas.openxmlformats.org/officeDocument/2006/relationships/image" Target="../media/image47.wmf"/><Relationship Id="rId12" Type="http://schemas.openxmlformats.org/officeDocument/2006/relationships/oleObject" Target="../embeddings/oleObject39.bin"/><Relationship Id="rId17" Type="http://schemas.openxmlformats.org/officeDocument/2006/relationships/oleObject" Target="../embeddings/oleObject42.bin"/><Relationship Id="rId25" Type="http://schemas.openxmlformats.org/officeDocument/2006/relationships/image" Target="../media/image55.wmf"/><Relationship Id="rId33" Type="http://schemas.openxmlformats.org/officeDocument/2006/relationships/oleObject" Target="../embeddings/oleObject51.bin"/><Relationship Id="rId38" Type="http://schemas.openxmlformats.org/officeDocument/2006/relationships/image" Target="../media/image61.wmf"/><Relationship Id="rId2" Type="http://schemas.openxmlformats.org/officeDocument/2006/relationships/oleObject" Target="../embeddings/oleObject34.bin"/><Relationship Id="rId16" Type="http://schemas.openxmlformats.org/officeDocument/2006/relationships/image" Target="../media/image51.wmf"/><Relationship Id="rId20" Type="http://schemas.openxmlformats.org/officeDocument/2006/relationships/image" Target="../media/image53.wmf"/><Relationship Id="rId29" Type="http://schemas.openxmlformats.org/officeDocument/2006/relationships/image" Target="../media/image57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6.bin"/><Relationship Id="rId11" Type="http://schemas.openxmlformats.org/officeDocument/2006/relationships/image" Target="../media/image49.wmf"/><Relationship Id="rId24" Type="http://schemas.openxmlformats.org/officeDocument/2006/relationships/oleObject" Target="../embeddings/oleObject46.bin"/><Relationship Id="rId32" Type="http://schemas.openxmlformats.org/officeDocument/2006/relationships/oleObject" Target="../embeddings/oleObject50.bin"/><Relationship Id="rId37" Type="http://schemas.openxmlformats.org/officeDocument/2006/relationships/oleObject" Target="../embeddings/oleObject53.bin"/><Relationship Id="rId40" Type="http://schemas.openxmlformats.org/officeDocument/2006/relationships/image" Target="../media/image62.wmf"/><Relationship Id="rId5" Type="http://schemas.openxmlformats.org/officeDocument/2006/relationships/image" Target="../media/image46.wmf"/><Relationship Id="rId15" Type="http://schemas.openxmlformats.org/officeDocument/2006/relationships/oleObject" Target="../embeddings/oleObject41.bin"/><Relationship Id="rId23" Type="http://schemas.openxmlformats.org/officeDocument/2006/relationships/oleObject" Target="../embeddings/oleObject45.bin"/><Relationship Id="rId28" Type="http://schemas.openxmlformats.org/officeDocument/2006/relationships/oleObject" Target="../embeddings/oleObject48.bin"/><Relationship Id="rId36" Type="http://schemas.openxmlformats.org/officeDocument/2006/relationships/image" Target="../media/image60.wmf"/><Relationship Id="rId10" Type="http://schemas.openxmlformats.org/officeDocument/2006/relationships/oleObject" Target="../embeddings/oleObject38.bin"/><Relationship Id="rId19" Type="http://schemas.openxmlformats.org/officeDocument/2006/relationships/oleObject" Target="../embeddings/oleObject43.bin"/><Relationship Id="rId31" Type="http://schemas.openxmlformats.org/officeDocument/2006/relationships/image" Target="../media/image58.wmf"/><Relationship Id="rId4" Type="http://schemas.openxmlformats.org/officeDocument/2006/relationships/oleObject" Target="../embeddings/oleObject35.bin"/><Relationship Id="rId9" Type="http://schemas.openxmlformats.org/officeDocument/2006/relationships/image" Target="../media/image48.wmf"/><Relationship Id="rId14" Type="http://schemas.openxmlformats.org/officeDocument/2006/relationships/oleObject" Target="../embeddings/oleObject40.bin"/><Relationship Id="rId22" Type="http://schemas.openxmlformats.org/officeDocument/2006/relationships/image" Target="../media/image54.wmf"/><Relationship Id="rId27" Type="http://schemas.openxmlformats.org/officeDocument/2006/relationships/image" Target="../media/image56.wmf"/><Relationship Id="rId30" Type="http://schemas.openxmlformats.org/officeDocument/2006/relationships/oleObject" Target="../embeddings/oleObject49.bin"/><Relationship Id="rId35" Type="http://schemas.openxmlformats.org/officeDocument/2006/relationships/oleObject" Target="../embeddings/oleObject52.bin"/><Relationship Id="rId8" Type="http://schemas.openxmlformats.org/officeDocument/2006/relationships/oleObject" Target="../embeddings/oleObject37.bin"/><Relationship Id="rId3" Type="http://schemas.openxmlformats.org/officeDocument/2006/relationships/image" Target="../media/image45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wmf"/><Relationship Id="rId2" Type="http://schemas.openxmlformats.org/officeDocument/2006/relationships/oleObject" Target="../embeddings/oleObject55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wmf"/><Relationship Id="rId4" Type="http://schemas.openxmlformats.org/officeDocument/2006/relationships/oleObject" Target="../embeddings/oleObject56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wmf"/><Relationship Id="rId7" Type="http://schemas.openxmlformats.org/officeDocument/2006/relationships/image" Target="../media/image6.wmf"/><Relationship Id="rId2" Type="http://schemas.openxmlformats.org/officeDocument/2006/relationships/oleObject" Target="../embeddings/oleObject5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9.bin"/><Relationship Id="rId5" Type="http://schemas.openxmlformats.org/officeDocument/2006/relationships/image" Target="../media/image65.wmf"/><Relationship Id="rId4" Type="http://schemas.openxmlformats.org/officeDocument/2006/relationships/oleObject" Target="../embeddings/oleObject58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3.bin"/><Relationship Id="rId3" Type="http://schemas.openxmlformats.org/officeDocument/2006/relationships/image" Target="../media/image65.wmf"/><Relationship Id="rId7" Type="http://schemas.openxmlformats.org/officeDocument/2006/relationships/image" Target="../media/image67.wmf"/><Relationship Id="rId2" Type="http://schemas.openxmlformats.org/officeDocument/2006/relationships/oleObject" Target="../embeddings/oleObject6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2.bin"/><Relationship Id="rId5" Type="http://schemas.openxmlformats.org/officeDocument/2006/relationships/image" Target="../media/image66.wmf"/><Relationship Id="rId4" Type="http://schemas.openxmlformats.org/officeDocument/2006/relationships/oleObject" Target="../embeddings/oleObject61.bin"/><Relationship Id="rId9" Type="http://schemas.openxmlformats.org/officeDocument/2006/relationships/image" Target="../media/image68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7.bin"/><Relationship Id="rId13" Type="http://schemas.openxmlformats.org/officeDocument/2006/relationships/image" Target="../media/image68.wmf"/><Relationship Id="rId3" Type="http://schemas.openxmlformats.org/officeDocument/2006/relationships/image" Target="../media/image65.wmf"/><Relationship Id="rId7" Type="http://schemas.openxmlformats.org/officeDocument/2006/relationships/image" Target="../media/image69.wmf"/><Relationship Id="rId12" Type="http://schemas.openxmlformats.org/officeDocument/2006/relationships/oleObject" Target="../embeddings/oleObject69.bin"/><Relationship Id="rId2" Type="http://schemas.openxmlformats.org/officeDocument/2006/relationships/oleObject" Target="../embeddings/oleObject6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6.bin"/><Relationship Id="rId11" Type="http://schemas.openxmlformats.org/officeDocument/2006/relationships/image" Target="../media/image71.wmf"/><Relationship Id="rId5" Type="http://schemas.openxmlformats.org/officeDocument/2006/relationships/image" Target="../media/image13.wmf"/><Relationship Id="rId10" Type="http://schemas.openxmlformats.org/officeDocument/2006/relationships/oleObject" Target="../embeddings/oleObject68.bin"/><Relationship Id="rId4" Type="http://schemas.openxmlformats.org/officeDocument/2006/relationships/oleObject" Target="../embeddings/oleObject65.bin"/><Relationship Id="rId9" Type="http://schemas.openxmlformats.org/officeDocument/2006/relationships/image" Target="../media/image70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3.bin"/><Relationship Id="rId13" Type="http://schemas.openxmlformats.org/officeDocument/2006/relationships/image" Target="../media/image68.wmf"/><Relationship Id="rId3" Type="http://schemas.openxmlformats.org/officeDocument/2006/relationships/image" Target="../media/image65.wmf"/><Relationship Id="rId7" Type="http://schemas.openxmlformats.org/officeDocument/2006/relationships/image" Target="../media/image72.wmf"/><Relationship Id="rId12" Type="http://schemas.openxmlformats.org/officeDocument/2006/relationships/oleObject" Target="../embeddings/oleObject75.bin"/><Relationship Id="rId2" Type="http://schemas.openxmlformats.org/officeDocument/2006/relationships/oleObject" Target="../embeddings/oleObject7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2.bin"/><Relationship Id="rId11" Type="http://schemas.openxmlformats.org/officeDocument/2006/relationships/image" Target="../media/image74.wmf"/><Relationship Id="rId5" Type="http://schemas.openxmlformats.org/officeDocument/2006/relationships/image" Target="../media/image13.wmf"/><Relationship Id="rId10" Type="http://schemas.openxmlformats.org/officeDocument/2006/relationships/oleObject" Target="../embeddings/oleObject74.bin"/><Relationship Id="rId4" Type="http://schemas.openxmlformats.org/officeDocument/2006/relationships/oleObject" Target="../embeddings/oleObject71.bin"/><Relationship Id="rId9" Type="http://schemas.openxmlformats.org/officeDocument/2006/relationships/image" Target="../media/image73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9.bin"/><Relationship Id="rId13" Type="http://schemas.openxmlformats.org/officeDocument/2006/relationships/image" Target="../media/image80.wmf"/><Relationship Id="rId3" Type="http://schemas.openxmlformats.org/officeDocument/2006/relationships/image" Target="../media/image75.wmf"/><Relationship Id="rId7" Type="http://schemas.openxmlformats.org/officeDocument/2006/relationships/image" Target="../media/image77.wmf"/><Relationship Id="rId12" Type="http://schemas.openxmlformats.org/officeDocument/2006/relationships/oleObject" Target="../embeddings/oleObject81.bin"/><Relationship Id="rId2" Type="http://schemas.openxmlformats.org/officeDocument/2006/relationships/oleObject" Target="../embeddings/oleObject7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8.bin"/><Relationship Id="rId11" Type="http://schemas.openxmlformats.org/officeDocument/2006/relationships/image" Target="../media/image79.wmf"/><Relationship Id="rId5" Type="http://schemas.openxmlformats.org/officeDocument/2006/relationships/image" Target="../media/image76.wmf"/><Relationship Id="rId10" Type="http://schemas.openxmlformats.org/officeDocument/2006/relationships/oleObject" Target="../embeddings/oleObject80.bin"/><Relationship Id="rId4" Type="http://schemas.openxmlformats.org/officeDocument/2006/relationships/oleObject" Target="../embeddings/oleObject77.bin"/><Relationship Id="rId9" Type="http://schemas.openxmlformats.org/officeDocument/2006/relationships/image" Target="../media/image78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wmf"/><Relationship Id="rId3" Type="http://schemas.openxmlformats.org/officeDocument/2006/relationships/image" Target="../media/image82.png"/><Relationship Id="rId7" Type="http://schemas.openxmlformats.org/officeDocument/2006/relationships/oleObject" Target="../embeddings/oleObject83.bin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4.wmf"/><Relationship Id="rId5" Type="http://schemas.openxmlformats.org/officeDocument/2006/relationships/oleObject" Target="../embeddings/oleObject82.bin"/><Relationship Id="rId4" Type="http://schemas.openxmlformats.org/officeDocument/2006/relationships/image" Target="../media/image83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7.bin"/><Relationship Id="rId13" Type="http://schemas.openxmlformats.org/officeDocument/2006/relationships/image" Target="../media/image89.wmf"/><Relationship Id="rId18" Type="http://schemas.openxmlformats.org/officeDocument/2006/relationships/oleObject" Target="../embeddings/oleObject92.bin"/><Relationship Id="rId3" Type="http://schemas.openxmlformats.org/officeDocument/2006/relationships/image" Target="../media/image63.wmf"/><Relationship Id="rId21" Type="http://schemas.openxmlformats.org/officeDocument/2006/relationships/image" Target="../media/image93.wmf"/><Relationship Id="rId7" Type="http://schemas.openxmlformats.org/officeDocument/2006/relationships/image" Target="../media/image86.wmf"/><Relationship Id="rId12" Type="http://schemas.openxmlformats.org/officeDocument/2006/relationships/oleObject" Target="../embeddings/oleObject89.bin"/><Relationship Id="rId17" Type="http://schemas.openxmlformats.org/officeDocument/2006/relationships/image" Target="../media/image91.wmf"/><Relationship Id="rId2" Type="http://schemas.openxmlformats.org/officeDocument/2006/relationships/oleObject" Target="../embeddings/oleObject84.bin"/><Relationship Id="rId16" Type="http://schemas.openxmlformats.org/officeDocument/2006/relationships/oleObject" Target="../embeddings/oleObject91.bin"/><Relationship Id="rId20" Type="http://schemas.openxmlformats.org/officeDocument/2006/relationships/oleObject" Target="../embeddings/oleObject9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86.bin"/><Relationship Id="rId11" Type="http://schemas.openxmlformats.org/officeDocument/2006/relationships/image" Target="../media/image88.wmf"/><Relationship Id="rId5" Type="http://schemas.openxmlformats.org/officeDocument/2006/relationships/image" Target="../media/image6.wmf"/><Relationship Id="rId15" Type="http://schemas.openxmlformats.org/officeDocument/2006/relationships/image" Target="../media/image90.wmf"/><Relationship Id="rId23" Type="http://schemas.openxmlformats.org/officeDocument/2006/relationships/image" Target="../media/image94.wmf"/><Relationship Id="rId10" Type="http://schemas.openxmlformats.org/officeDocument/2006/relationships/oleObject" Target="../embeddings/oleObject88.bin"/><Relationship Id="rId19" Type="http://schemas.openxmlformats.org/officeDocument/2006/relationships/image" Target="../media/image92.wmf"/><Relationship Id="rId4" Type="http://schemas.openxmlformats.org/officeDocument/2006/relationships/oleObject" Target="../embeddings/oleObject85.bin"/><Relationship Id="rId9" Type="http://schemas.openxmlformats.org/officeDocument/2006/relationships/image" Target="../media/image87.wmf"/><Relationship Id="rId14" Type="http://schemas.openxmlformats.org/officeDocument/2006/relationships/oleObject" Target="../embeddings/oleObject90.bin"/><Relationship Id="rId22" Type="http://schemas.openxmlformats.org/officeDocument/2006/relationships/oleObject" Target="../embeddings/oleObject94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8.bin"/><Relationship Id="rId13" Type="http://schemas.openxmlformats.org/officeDocument/2006/relationships/image" Target="../media/image100.wmf"/><Relationship Id="rId3" Type="http://schemas.openxmlformats.org/officeDocument/2006/relationships/image" Target="../media/image95.wmf"/><Relationship Id="rId7" Type="http://schemas.openxmlformats.org/officeDocument/2006/relationships/image" Target="../media/image97.wmf"/><Relationship Id="rId12" Type="http://schemas.openxmlformats.org/officeDocument/2006/relationships/oleObject" Target="../embeddings/oleObject100.bin"/><Relationship Id="rId2" Type="http://schemas.openxmlformats.org/officeDocument/2006/relationships/oleObject" Target="../embeddings/oleObject9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97.bin"/><Relationship Id="rId11" Type="http://schemas.openxmlformats.org/officeDocument/2006/relationships/image" Target="../media/image99.wmf"/><Relationship Id="rId5" Type="http://schemas.openxmlformats.org/officeDocument/2006/relationships/image" Target="../media/image96.wmf"/><Relationship Id="rId10" Type="http://schemas.openxmlformats.org/officeDocument/2006/relationships/oleObject" Target="../embeddings/oleObject99.bin"/><Relationship Id="rId4" Type="http://schemas.openxmlformats.org/officeDocument/2006/relationships/oleObject" Target="../embeddings/oleObject96.bin"/><Relationship Id="rId9" Type="http://schemas.openxmlformats.org/officeDocument/2006/relationships/image" Target="../media/image98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png"/><Relationship Id="rId3" Type="http://schemas.openxmlformats.org/officeDocument/2006/relationships/image" Target="../media/image95.wmf"/><Relationship Id="rId7" Type="http://schemas.openxmlformats.org/officeDocument/2006/relationships/image" Target="../media/image102.png"/><Relationship Id="rId2" Type="http://schemas.openxmlformats.org/officeDocument/2006/relationships/oleObject" Target="../embeddings/oleObject95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1.png"/><Relationship Id="rId5" Type="http://schemas.openxmlformats.org/officeDocument/2006/relationships/image" Target="../media/image96.wmf"/><Relationship Id="rId4" Type="http://schemas.openxmlformats.org/officeDocument/2006/relationships/oleObject" Target="../embeddings/oleObject96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4.bin"/><Relationship Id="rId13" Type="http://schemas.openxmlformats.org/officeDocument/2006/relationships/image" Target="../media/image109.wmf"/><Relationship Id="rId3" Type="http://schemas.openxmlformats.org/officeDocument/2006/relationships/image" Target="../media/image104.wmf"/><Relationship Id="rId7" Type="http://schemas.openxmlformats.org/officeDocument/2006/relationships/image" Target="../media/image106.wmf"/><Relationship Id="rId12" Type="http://schemas.openxmlformats.org/officeDocument/2006/relationships/oleObject" Target="../embeddings/oleObject106.bin"/><Relationship Id="rId2" Type="http://schemas.openxmlformats.org/officeDocument/2006/relationships/oleObject" Target="../embeddings/oleObject10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03.bin"/><Relationship Id="rId11" Type="http://schemas.openxmlformats.org/officeDocument/2006/relationships/image" Target="../media/image108.wmf"/><Relationship Id="rId5" Type="http://schemas.openxmlformats.org/officeDocument/2006/relationships/image" Target="../media/image105.wmf"/><Relationship Id="rId10" Type="http://schemas.openxmlformats.org/officeDocument/2006/relationships/oleObject" Target="../embeddings/oleObject105.bin"/><Relationship Id="rId4" Type="http://schemas.openxmlformats.org/officeDocument/2006/relationships/oleObject" Target="../embeddings/oleObject102.bin"/><Relationship Id="rId9" Type="http://schemas.openxmlformats.org/officeDocument/2006/relationships/image" Target="../media/image107.wmf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5.wmf"/><Relationship Id="rId18" Type="http://schemas.openxmlformats.org/officeDocument/2006/relationships/oleObject" Target="../embeddings/oleObject115.bin"/><Relationship Id="rId26" Type="http://schemas.openxmlformats.org/officeDocument/2006/relationships/oleObject" Target="../embeddings/oleObject119.bin"/><Relationship Id="rId3" Type="http://schemas.openxmlformats.org/officeDocument/2006/relationships/image" Target="../media/image110.wmf"/><Relationship Id="rId21" Type="http://schemas.openxmlformats.org/officeDocument/2006/relationships/image" Target="../media/image53.wmf"/><Relationship Id="rId7" Type="http://schemas.openxmlformats.org/officeDocument/2006/relationships/image" Target="../media/image112.wmf"/><Relationship Id="rId12" Type="http://schemas.openxmlformats.org/officeDocument/2006/relationships/oleObject" Target="../embeddings/oleObject112.bin"/><Relationship Id="rId17" Type="http://schemas.openxmlformats.org/officeDocument/2006/relationships/image" Target="../media/image114.wmf"/><Relationship Id="rId25" Type="http://schemas.openxmlformats.org/officeDocument/2006/relationships/image" Target="../media/image117.wmf"/><Relationship Id="rId33" Type="http://schemas.openxmlformats.org/officeDocument/2006/relationships/image" Target="../media/image121.wmf"/><Relationship Id="rId2" Type="http://schemas.openxmlformats.org/officeDocument/2006/relationships/oleObject" Target="../embeddings/oleObject107.bin"/><Relationship Id="rId16" Type="http://schemas.openxmlformats.org/officeDocument/2006/relationships/oleObject" Target="../embeddings/oleObject114.bin"/><Relationship Id="rId20" Type="http://schemas.openxmlformats.org/officeDocument/2006/relationships/oleObject" Target="../embeddings/oleObject116.bin"/><Relationship Id="rId29" Type="http://schemas.openxmlformats.org/officeDocument/2006/relationships/image" Target="../media/image119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09.bin"/><Relationship Id="rId11" Type="http://schemas.openxmlformats.org/officeDocument/2006/relationships/image" Target="../media/image113.wmf"/><Relationship Id="rId24" Type="http://schemas.openxmlformats.org/officeDocument/2006/relationships/oleObject" Target="../embeddings/oleObject118.bin"/><Relationship Id="rId32" Type="http://schemas.openxmlformats.org/officeDocument/2006/relationships/oleObject" Target="../embeddings/oleObject122.bin"/><Relationship Id="rId5" Type="http://schemas.openxmlformats.org/officeDocument/2006/relationships/image" Target="../media/image111.wmf"/><Relationship Id="rId15" Type="http://schemas.openxmlformats.org/officeDocument/2006/relationships/image" Target="../media/image49.wmf"/><Relationship Id="rId23" Type="http://schemas.openxmlformats.org/officeDocument/2006/relationships/image" Target="../media/image116.wmf"/><Relationship Id="rId28" Type="http://schemas.openxmlformats.org/officeDocument/2006/relationships/oleObject" Target="../embeddings/oleObject120.bin"/><Relationship Id="rId10" Type="http://schemas.openxmlformats.org/officeDocument/2006/relationships/oleObject" Target="../embeddings/oleObject111.bin"/><Relationship Id="rId19" Type="http://schemas.openxmlformats.org/officeDocument/2006/relationships/image" Target="../media/image115.wmf"/><Relationship Id="rId31" Type="http://schemas.openxmlformats.org/officeDocument/2006/relationships/image" Target="../media/image120.wmf"/><Relationship Id="rId4" Type="http://schemas.openxmlformats.org/officeDocument/2006/relationships/oleObject" Target="../embeddings/oleObject108.bin"/><Relationship Id="rId9" Type="http://schemas.openxmlformats.org/officeDocument/2006/relationships/image" Target="../media/image47.wmf"/><Relationship Id="rId14" Type="http://schemas.openxmlformats.org/officeDocument/2006/relationships/oleObject" Target="../embeddings/oleObject113.bin"/><Relationship Id="rId22" Type="http://schemas.openxmlformats.org/officeDocument/2006/relationships/oleObject" Target="../embeddings/oleObject117.bin"/><Relationship Id="rId27" Type="http://schemas.openxmlformats.org/officeDocument/2006/relationships/image" Target="../media/image118.wmf"/><Relationship Id="rId30" Type="http://schemas.openxmlformats.org/officeDocument/2006/relationships/oleObject" Target="../embeddings/oleObject121.bin"/><Relationship Id="rId8" Type="http://schemas.openxmlformats.org/officeDocument/2006/relationships/oleObject" Target="../embeddings/oleObject110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6.bin"/><Relationship Id="rId13" Type="http://schemas.openxmlformats.org/officeDocument/2006/relationships/image" Target="../media/image126.wmf"/><Relationship Id="rId18" Type="http://schemas.openxmlformats.org/officeDocument/2006/relationships/oleObject" Target="../embeddings/oleObject131.bin"/><Relationship Id="rId26" Type="http://schemas.openxmlformats.org/officeDocument/2006/relationships/oleObject" Target="../embeddings/oleObject135.bin"/><Relationship Id="rId3" Type="http://schemas.openxmlformats.org/officeDocument/2006/relationships/image" Target="../media/image122.wmf"/><Relationship Id="rId21" Type="http://schemas.openxmlformats.org/officeDocument/2006/relationships/image" Target="../media/image130.wmf"/><Relationship Id="rId7" Type="http://schemas.openxmlformats.org/officeDocument/2006/relationships/image" Target="../media/image123.wmf"/><Relationship Id="rId12" Type="http://schemas.openxmlformats.org/officeDocument/2006/relationships/oleObject" Target="../embeddings/oleObject128.bin"/><Relationship Id="rId17" Type="http://schemas.openxmlformats.org/officeDocument/2006/relationships/image" Target="../media/image128.wmf"/><Relationship Id="rId25" Type="http://schemas.openxmlformats.org/officeDocument/2006/relationships/image" Target="../media/image132.wmf"/><Relationship Id="rId2" Type="http://schemas.openxmlformats.org/officeDocument/2006/relationships/oleObject" Target="../embeddings/oleObject123.bin"/><Relationship Id="rId16" Type="http://schemas.openxmlformats.org/officeDocument/2006/relationships/oleObject" Target="../embeddings/oleObject130.bin"/><Relationship Id="rId20" Type="http://schemas.openxmlformats.org/officeDocument/2006/relationships/oleObject" Target="../embeddings/oleObject13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25.bin"/><Relationship Id="rId11" Type="http://schemas.openxmlformats.org/officeDocument/2006/relationships/image" Target="../media/image125.wmf"/><Relationship Id="rId24" Type="http://schemas.openxmlformats.org/officeDocument/2006/relationships/oleObject" Target="../embeddings/oleObject134.bin"/><Relationship Id="rId5" Type="http://schemas.openxmlformats.org/officeDocument/2006/relationships/image" Target="../media/image6.wmf"/><Relationship Id="rId15" Type="http://schemas.openxmlformats.org/officeDocument/2006/relationships/image" Target="../media/image127.wmf"/><Relationship Id="rId23" Type="http://schemas.openxmlformats.org/officeDocument/2006/relationships/image" Target="../media/image131.wmf"/><Relationship Id="rId10" Type="http://schemas.openxmlformats.org/officeDocument/2006/relationships/oleObject" Target="../embeddings/oleObject127.bin"/><Relationship Id="rId19" Type="http://schemas.openxmlformats.org/officeDocument/2006/relationships/image" Target="../media/image129.wmf"/><Relationship Id="rId4" Type="http://schemas.openxmlformats.org/officeDocument/2006/relationships/oleObject" Target="../embeddings/oleObject124.bin"/><Relationship Id="rId9" Type="http://schemas.openxmlformats.org/officeDocument/2006/relationships/image" Target="../media/image124.wmf"/><Relationship Id="rId14" Type="http://schemas.openxmlformats.org/officeDocument/2006/relationships/oleObject" Target="../embeddings/oleObject129.bin"/><Relationship Id="rId22" Type="http://schemas.openxmlformats.org/officeDocument/2006/relationships/oleObject" Target="../embeddings/oleObject133.bin"/><Relationship Id="rId27" Type="http://schemas.openxmlformats.org/officeDocument/2006/relationships/image" Target="../media/image133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9.bin"/><Relationship Id="rId13" Type="http://schemas.openxmlformats.org/officeDocument/2006/relationships/image" Target="../media/image136.wmf"/><Relationship Id="rId3" Type="http://schemas.openxmlformats.org/officeDocument/2006/relationships/image" Target="../media/image122.wmf"/><Relationship Id="rId7" Type="http://schemas.openxmlformats.org/officeDocument/2006/relationships/image" Target="../media/image13.wmf"/><Relationship Id="rId12" Type="http://schemas.openxmlformats.org/officeDocument/2006/relationships/oleObject" Target="../embeddings/oleObject141.bin"/><Relationship Id="rId2" Type="http://schemas.openxmlformats.org/officeDocument/2006/relationships/oleObject" Target="../embeddings/oleObject13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38.bin"/><Relationship Id="rId11" Type="http://schemas.openxmlformats.org/officeDocument/2006/relationships/image" Target="../media/image135.wmf"/><Relationship Id="rId5" Type="http://schemas.openxmlformats.org/officeDocument/2006/relationships/image" Target="../media/image133.wmf"/><Relationship Id="rId10" Type="http://schemas.openxmlformats.org/officeDocument/2006/relationships/oleObject" Target="../embeddings/oleObject140.bin"/><Relationship Id="rId4" Type="http://schemas.openxmlformats.org/officeDocument/2006/relationships/oleObject" Target="../embeddings/oleObject137.bin"/><Relationship Id="rId9" Type="http://schemas.openxmlformats.org/officeDocument/2006/relationships/image" Target="../media/image134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5.bin"/><Relationship Id="rId3" Type="http://schemas.openxmlformats.org/officeDocument/2006/relationships/image" Target="../media/image122.wmf"/><Relationship Id="rId7" Type="http://schemas.openxmlformats.org/officeDocument/2006/relationships/image" Target="../media/image13.wmf"/><Relationship Id="rId2" Type="http://schemas.openxmlformats.org/officeDocument/2006/relationships/oleObject" Target="../embeddings/oleObject14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44.bin"/><Relationship Id="rId11" Type="http://schemas.openxmlformats.org/officeDocument/2006/relationships/image" Target="../media/image138.wmf"/><Relationship Id="rId5" Type="http://schemas.openxmlformats.org/officeDocument/2006/relationships/image" Target="../media/image133.wmf"/><Relationship Id="rId10" Type="http://schemas.openxmlformats.org/officeDocument/2006/relationships/oleObject" Target="../embeddings/oleObject146.bin"/><Relationship Id="rId4" Type="http://schemas.openxmlformats.org/officeDocument/2006/relationships/oleObject" Target="../embeddings/oleObject143.bin"/><Relationship Id="rId9" Type="http://schemas.openxmlformats.org/officeDocument/2006/relationships/image" Target="../media/image137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0.bin"/><Relationship Id="rId13" Type="http://schemas.openxmlformats.org/officeDocument/2006/relationships/image" Target="../media/image141.wmf"/><Relationship Id="rId18" Type="http://schemas.openxmlformats.org/officeDocument/2006/relationships/oleObject" Target="../embeddings/oleObject155.bin"/><Relationship Id="rId3" Type="http://schemas.openxmlformats.org/officeDocument/2006/relationships/image" Target="../media/image122.wmf"/><Relationship Id="rId7" Type="http://schemas.openxmlformats.org/officeDocument/2006/relationships/image" Target="../media/image138.wmf"/><Relationship Id="rId12" Type="http://schemas.openxmlformats.org/officeDocument/2006/relationships/oleObject" Target="../embeddings/oleObject152.bin"/><Relationship Id="rId17" Type="http://schemas.openxmlformats.org/officeDocument/2006/relationships/image" Target="../media/image143.wmf"/><Relationship Id="rId2" Type="http://schemas.openxmlformats.org/officeDocument/2006/relationships/oleObject" Target="../embeddings/oleObject147.bin"/><Relationship Id="rId16" Type="http://schemas.openxmlformats.org/officeDocument/2006/relationships/oleObject" Target="../embeddings/oleObject15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49.bin"/><Relationship Id="rId11" Type="http://schemas.openxmlformats.org/officeDocument/2006/relationships/image" Target="../media/image140.wmf"/><Relationship Id="rId5" Type="http://schemas.openxmlformats.org/officeDocument/2006/relationships/image" Target="../media/image133.wmf"/><Relationship Id="rId15" Type="http://schemas.openxmlformats.org/officeDocument/2006/relationships/image" Target="../media/image142.wmf"/><Relationship Id="rId10" Type="http://schemas.openxmlformats.org/officeDocument/2006/relationships/oleObject" Target="../embeddings/oleObject151.bin"/><Relationship Id="rId19" Type="http://schemas.openxmlformats.org/officeDocument/2006/relationships/image" Target="../media/image144.wmf"/><Relationship Id="rId4" Type="http://schemas.openxmlformats.org/officeDocument/2006/relationships/oleObject" Target="../embeddings/oleObject148.bin"/><Relationship Id="rId9" Type="http://schemas.openxmlformats.org/officeDocument/2006/relationships/image" Target="../media/image139.wmf"/><Relationship Id="rId14" Type="http://schemas.openxmlformats.org/officeDocument/2006/relationships/oleObject" Target="../embeddings/oleObject153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9.png"/><Relationship Id="rId3" Type="http://schemas.openxmlformats.org/officeDocument/2006/relationships/image" Target="../media/image145.wmf"/><Relationship Id="rId7" Type="http://schemas.openxmlformats.org/officeDocument/2006/relationships/image" Target="../media/image148.png"/><Relationship Id="rId2" Type="http://schemas.openxmlformats.org/officeDocument/2006/relationships/oleObject" Target="../embeddings/oleObject156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7.png"/><Relationship Id="rId5" Type="http://schemas.openxmlformats.org/officeDocument/2006/relationships/image" Target="../media/image146.wmf"/><Relationship Id="rId4" Type="http://schemas.openxmlformats.org/officeDocument/2006/relationships/oleObject" Target="../embeddings/oleObject157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1.bin"/><Relationship Id="rId3" Type="http://schemas.openxmlformats.org/officeDocument/2006/relationships/image" Target="../media/image150.wmf"/><Relationship Id="rId7" Type="http://schemas.openxmlformats.org/officeDocument/2006/relationships/image" Target="../media/image152.wmf"/><Relationship Id="rId2" Type="http://schemas.openxmlformats.org/officeDocument/2006/relationships/oleObject" Target="../embeddings/oleObject15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60.bin"/><Relationship Id="rId5" Type="http://schemas.openxmlformats.org/officeDocument/2006/relationships/image" Target="../media/image151.wmf"/><Relationship Id="rId4" Type="http://schemas.openxmlformats.org/officeDocument/2006/relationships/oleObject" Target="../embeddings/oleObject159.bin"/><Relationship Id="rId9" Type="http://schemas.openxmlformats.org/officeDocument/2006/relationships/image" Target="../media/image153.wmf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3.wmf"/><Relationship Id="rId18" Type="http://schemas.openxmlformats.org/officeDocument/2006/relationships/oleObject" Target="../embeddings/oleObject170.bin"/><Relationship Id="rId26" Type="http://schemas.openxmlformats.org/officeDocument/2006/relationships/oleObject" Target="../embeddings/oleObject174.bin"/><Relationship Id="rId3" Type="http://schemas.openxmlformats.org/officeDocument/2006/relationships/image" Target="../media/image154.wmf"/><Relationship Id="rId21" Type="http://schemas.openxmlformats.org/officeDocument/2006/relationships/image" Target="../media/image158.wmf"/><Relationship Id="rId34" Type="http://schemas.openxmlformats.org/officeDocument/2006/relationships/oleObject" Target="../embeddings/oleObject178.bin"/><Relationship Id="rId7" Type="http://schemas.openxmlformats.org/officeDocument/2006/relationships/image" Target="../media/image47.wmf"/><Relationship Id="rId12" Type="http://schemas.openxmlformats.org/officeDocument/2006/relationships/oleObject" Target="../embeddings/oleObject167.bin"/><Relationship Id="rId17" Type="http://schemas.openxmlformats.org/officeDocument/2006/relationships/image" Target="../media/image157.wmf"/><Relationship Id="rId25" Type="http://schemas.openxmlformats.org/officeDocument/2006/relationships/image" Target="../media/image160.wmf"/><Relationship Id="rId33" Type="http://schemas.openxmlformats.org/officeDocument/2006/relationships/image" Target="../media/image164.wmf"/><Relationship Id="rId2" Type="http://schemas.openxmlformats.org/officeDocument/2006/relationships/oleObject" Target="../embeddings/oleObject162.bin"/><Relationship Id="rId16" Type="http://schemas.openxmlformats.org/officeDocument/2006/relationships/oleObject" Target="../embeddings/oleObject169.bin"/><Relationship Id="rId20" Type="http://schemas.openxmlformats.org/officeDocument/2006/relationships/oleObject" Target="../embeddings/oleObject171.bin"/><Relationship Id="rId29" Type="http://schemas.openxmlformats.org/officeDocument/2006/relationships/image" Target="../media/image162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64.bin"/><Relationship Id="rId11" Type="http://schemas.openxmlformats.org/officeDocument/2006/relationships/image" Target="../media/image49.wmf"/><Relationship Id="rId24" Type="http://schemas.openxmlformats.org/officeDocument/2006/relationships/oleObject" Target="../embeddings/oleObject173.bin"/><Relationship Id="rId32" Type="http://schemas.openxmlformats.org/officeDocument/2006/relationships/oleObject" Target="../embeddings/oleObject177.bin"/><Relationship Id="rId5" Type="http://schemas.openxmlformats.org/officeDocument/2006/relationships/image" Target="../media/image155.wmf"/><Relationship Id="rId15" Type="http://schemas.openxmlformats.org/officeDocument/2006/relationships/image" Target="../media/image156.wmf"/><Relationship Id="rId23" Type="http://schemas.openxmlformats.org/officeDocument/2006/relationships/image" Target="../media/image159.wmf"/><Relationship Id="rId28" Type="http://schemas.openxmlformats.org/officeDocument/2006/relationships/oleObject" Target="../embeddings/oleObject175.bin"/><Relationship Id="rId10" Type="http://schemas.openxmlformats.org/officeDocument/2006/relationships/oleObject" Target="../embeddings/oleObject166.bin"/><Relationship Id="rId19" Type="http://schemas.openxmlformats.org/officeDocument/2006/relationships/image" Target="../media/image51.wmf"/><Relationship Id="rId31" Type="http://schemas.openxmlformats.org/officeDocument/2006/relationships/image" Target="../media/image163.wmf"/><Relationship Id="rId4" Type="http://schemas.openxmlformats.org/officeDocument/2006/relationships/oleObject" Target="../embeddings/oleObject163.bin"/><Relationship Id="rId9" Type="http://schemas.openxmlformats.org/officeDocument/2006/relationships/image" Target="../media/image45.wmf"/><Relationship Id="rId14" Type="http://schemas.openxmlformats.org/officeDocument/2006/relationships/oleObject" Target="../embeddings/oleObject168.bin"/><Relationship Id="rId22" Type="http://schemas.openxmlformats.org/officeDocument/2006/relationships/oleObject" Target="../embeddings/oleObject172.bin"/><Relationship Id="rId27" Type="http://schemas.openxmlformats.org/officeDocument/2006/relationships/image" Target="../media/image161.wmf"/><Relationship Id="rId30" Type="http://schemas.openxmlformats.org/officeDocument/2006/relationships/oleObject" Target="../embeddings/oleObject176.bin"/><Relationship Id="rId35" Type="http://schemas.openxmlformats.org/officeDocument/2006/relationships/image" Target="../media/image165.wmf"/><Relationship Id="rId8" Type="http://schemas.openxmlformats.org/officeDocument/2006/relationships/oleObject" Target="../embeddings/oleObject165.bin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2.bin"/><Relationship Id="rId13" Type="http://schemas.openxmlformats.org/officeDocument/2006/relationships/image" Target="../media/image170.wmf"/><Relationship Id="rId18" Type="http://schemas.openxmlformats.org/officeDocument/2006/relationships/oleObject" Target="../embeddings/oleObject187.bin"/><Relationship Id="rId3" Type="http://schemas.openxmlformats.org/officeDocument/2006/relationships/image" Target="../media/image166.wmf"/><Relationship Id="rId21" Type="http://schemas.openxmlformats.org/officeDocument/2006/relationships/image" Target="../media/image174.wmf"/><Relationship Id="rId7" Type="http://schemas.openxmlformats.org/officeDocument/2006/relationships/image" Target="../media/image167.wmf"/><Relationship Id="rId12" Type="http://schemas.openxmlformats.org/officeDocument/2006/relationships/oleObject" Target="../embeddings/oleObject184.bin"/><Relationship Id="rId17" Type="http://schemas.openxmlformats.org/officeDocument/2006/relationships/image" Target="../media/image172.wmf"/><Relationship Id="rId2" Type="http://schemas.openxmlformats.org/officeDocument/2006/relationships/oleObject" Target="../embeddings/oleObject179.bin"/><Relationship Id="rId16" Type="http://schemas.openxmlformats.org/officeDocument/2006/relationships/oleObject" Target="../embeddings/oleObject186.bin"/><Relationship Id="rId20" Type="http://schemas.openxmlformats.org/officeDocument/2006/relationships/oleObject" Target="../embeddings/oleObject18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81.bin"/><Relationship Id="rId11" Type="http://schemas.openxmlformats.org/officeDocument/2006/relationships/image" Target="../media/image169.wmf"/><Relationship Id="rId5" Type="http://schemas.openxmlformats.org/officeDocument/2006/relationships/image" Target="../media/image6.wmf"/><Relationship Id="rId15" Type="http://schemas.openxmlformats.org/officeDocument/2006/relationships/image" Target="../media/image171.wmf"/><Relationship Id="rId23" Type="http://schemas.openxmlformats.org/officeDocument/2006/relationships/image" Target="../media/image175.wmf"/><Relationship Id="rId10" Type="http://schemas.openxmlformats.org/officeDocument/2006/relationships/oleObject" Target="../embeddings/oleObject183.bin"/><Relationship Id="rId19" Type="http://schemas.openxmlformats.org/officeDocument/2006/relationships/image" Target="../media/image173.wmf"/><Relationship Id="rId4" Type="http://schemas.openxmlformats.org/officeDocument/2006/relationships/oleObject" Target="../embeddings/oleObject180.bin"/><Relationship Id="rId9" Type="http://schemas.openxmlformats.org/officeDocument/2006/relationships/image" Target="../media/image168.wmf"/><Relationship Id="rId14" Type="http://schemas.openxmlformats.org/officeDocument/2006/relationships/oleObject" Target="../embeddings/oleObject185.bin"/><Relationship Id="rId22" Type="http://schemas.openxmlformats.org/officeDocument/2006/relationships/oleObject" Target="../embeddings/oleObject189.bin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2.bin"/><Relationship Id="rId13" Type="http://schemas.openxmlformats.org/officeDocument/2006/relationships/image" Target="../media/image181.wmf"/><Relationship Id="rId18" Type="http://schemas.openxmlformats.org/officeDocument/2006/relationships/oleObject" Target="../embeddings/oleObject197.bin"/><Relationship Id="rId3" Type="http://schemas.openxmlformats.org/officeDocument/2006/relationships/image" Target="../media/image176.wmf"/><Relationship Id="rId7" Type="http://schemas.openxmlformats.org/officeDocument/2006/relationships/image" Target="../media/image178.wmf"/><Relationship Id="rId12" Type="http://schemas.openxmlformats.org/officeDocument/2006/relationships/oleObject" Target="../embeddings/oleObject194.bin"/><Relationship Id="rId17" Type="http://schemas.openxmlformats.org/officeDocument/2006/relationships/image" Target="../media/image183.wmf"/><Relationship Id="rId2" Type="http://schemas.openxmlformats.org/officeDocument/2006/relationships/oleObject" Target="../embeddings/oleObject190.bin"/><Relationship Id="rId16" Type="http://schemas.openxmlformats.org/officeDocument/2006/relationships/oleObject" Target="../embeddings/oleObject19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92.bin"/><Relationship Id="rId11" Type="http://schemas.openxmlformats.org/officeDocument/2006/relationships/image" Target="../media/image180.wmf"/><Relationship Id="rId5" Type="http://schemas.openxmlformats.org/officeDocument/2006/relationships/image" Target="../media/image177.wmf"/><Relationship Id="rId15" Type="http://schemas.openxmlformats.org/officeDocument/2006/relationships/image" Target="../media/image182.wmf"/><Relationship Id="rId10" Type="http://schemas.openxmlformats.org/officeDocument/2006/relationships/oleObject" Target="../embeddings/oleObject193.bin"/><Relationship Id="rId19" Type="http://schemas.openxmlformats.org/officeDocument/2006/relationships/image" Target="../media/image184.wmf"/><Relationship Id="rId4" Type="http://schemas.openxmlformats.org/officeDocument/2006/relationships/oleObject" Target="../embeddings/oleObject191.bin"/><Relationship Id="rId9" Type="http://schemas.openxmlformats.org/officeDocument/2006/relationships/image" Target="../media/image179.wmf"/><Relationship Id="rId14" Type="http://schemas.openxmlformats.org/officeDocument/2006/relationships/oleObject" Target="../embeddings/oleObject195.bin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9.png"/><Relationship Id="rId3" Type="http://schemas.openxmlformats.org/officeDocument/2006/relationships/image" Target="../media/image185.wmf"/><Relationship Id="rId7" Type="http://schemas.openxmlformats.org/officeDocument/2006/relationships/image" Target="../media/image188.png"/><Relationship Id="rId2" Type="http://schemas.openxmlformats.org/officeDocument/2006/relationships/oleObject" Target="../embeddings/oleObject198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7.png"/><Relationship Id="rId5" Type="http://schemas.openxmlformats.org/officeDocument/2006/relationships/image" Target="../media/image186.wmf"/><Relationship Id="rId4" Type="http://schemas.openxmlformats.org/officeDocument/2006/relationships/oleObject" Target="../embeddings/oleObject199.bin"/></Relationships>
</file>

<file path=ppt/slides/_rels/slide3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92.wmf"/><Relationship Id="rId18" Type="http://schemas.openxmlformats.org/officeDocument/2006/relationships/image" Target="../media/image193.wmf"/><Relationship Id="rId26" Type="http://schemas.openxmlformats.org/officeDocument/2006/relationships/oleObject" Target="../embeddings/oleObject213.bin"/><Relationship Id="rId39" Type="http://schemas.openxmlformats.org/officeDocument/2006/relationships/oleObject" Target="../embeddings/oleObject220.bin"/><Relationship Id="rId21" Type="http://schemas.openxmlformats.org/officeDocument/2006/relationships/oleObject" Target="../embeddings/oleObject210.bin"/><Relationship Id="rId34" Type="http://schemas.openxmlformats.org/officeDocument/2006/relationships/image" Target="../media/image197.wmf"/><Relationship Id="rId7" Type="http://schemas.openxmlformats.org/officeDocument/2006/relationships/image" Target="../media/image47.wmf"/><Relationship Id="rId12" Type="http://schemas.openxmlformats.org/officeDocument/2006/relationships/oleObject" Target="../embeddings/oleObject205.bin"/><Relationship Id="rId17" Type="http://schemas.openxmlformats.org/officeDocument/2006/relationships/oleObject" Target="../embeddings/oleObject208.bin"/><Relationship Id="rId25" Type="http://schemas.openxmlformats.org/officeDocument/2006/relationships/image" Target="../media/image55.wmf"/><Relationship Id="rId33" Type="http://schemas.openxmlformats.org/officeDocument/2006/relationships/oleObject" Target="../embeddings/oleObject217.bin"/><Relationship Id="rId38" Type="http://schemas.openxmlformats.org/officeDocument/2006/relationships/image" Target="../media/image199.wmf"/><Relationship Id="rId2" Type="http://schemas.openxmlformats.org/officeDocument/2006/relationships/oleObject" Target="../embeddings/oleObject200.bin"/><Relationship Id="rId16" Type="http://schemas.openxmlformats.org/officeDocument/2006/relationships/image" Target="../media/image51.wmf"/><Relationship Id="rId20" Type="http://schemas.openxmlformats.org/officeDocument/2006/relationships/image" Target="../media/image53.wmf"/><Relationship Id="rId29" Type="http://schemas.openxmlformats.org/officeDocument/2006/relationships/image" Target="../media/image57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02.bin"/><Relationship Id="rId11" Type="http://schemas.openxmlformats.org/officeDocument/2006/relationships/image" Target="../media/image49.wmf"/><Relationship Id="rId24" Type="http://schemas.openxmlformats.org/officeDocument/2006/relationships/oleObject" Target="../embeddings/oleObject212.bin"/><Relationship Id="rId32" Type="http://schemas.openxmlformats.org/officeDocument/2006/relationships/oleObject" Target="../embeddings/oleObject216.bin"/><Relationship Id="rId37" Type="http://schemas.openxmlformats.org/officeDocument/2006/relationships/oleObject" Target="../embeddings/oleObject219.bin"/><Relationship Id="rId40" Type="http://schemas.openxmlformats.org/officeDocument/2006/relationships/image" Target="../media/image200.wmf"/><Relationship Id="rId5" Type="http://schemas.openxmlformats.org/officeDocument/2006/relationships/image" Target="../media/image190.wmf"/><Relationship Id="rId15" Type="http://schemas.openxmlformats.org/officeDocument/2006/relationships/oleObject" Target="../embeddings/oleObject207.bin"/><Relationship Id="rId23" Type="http://schemas.openxmlformats.org/officeDocument/2006/relationships/oleObject" Target="../embeddings/oleObject211.bin"/><Relationship Id="rId28" Type="http://schemas.openxmlformats.org/officeDocument/2006/relationships/oleObject" Target="../embeddings/oleObject214.bin"/><Relationship Id="rId36" Type="http://schemas.openxmlformats.org/officeDocument/2006/relationships/image" Target="../media/image198.wmf"/><Relationship Id="rId10" Type="http://schemas.openxmlformats.org/officeDocument/2006/relationships/oleObject" Target="../embeddings/oleObject204.bin"/><Relationship Id="rId19" Type="http://schemas.openxmlformats.org/officeDocument/2006/relationships/oleObject" Target="../embeddings/oleObject209.bin"/><Relationship Id="rId31" Type="http://schemas.openxmlformats.org/officeDocument/2006/relationships/image" Target="../media/image196.wmf"/><Relationship Id="rId4" Type="http://schemas.openxmlformats.org/officeDocument/2006/relationships/oleObject" Target="../embeddings/oleObject201.bin"/><Relationship Id="rId9" Type="http://schemas.openxmlformats.org/officeDocument/2006/relationships/image" Target="../media/image191.wmf"/><Relationship Id="rId14" Type="http://schemas.openxmlformats.org/officeDocument/2006/relationships/oleObject" Target="../embeddings/oleObject206.bin"/><Relationship Id="rId22" Type="http://schemas.openxmlformats.org/officeDocument/2006/relationships/image" Target="../media/image194.wmf"/><Relationship Id="rId27" Type="http://schemas.openxmlformats.org/officeDocument/2006/relationships/image" Target="../media/image195.wmf"/><Relationship Id="rId30" Type="http://schemas.openxmlformats.org/officeDocument/2006/relationships/oleObject" Target="../embeddings/oleObject215.bin"/><Relationship Id="rId35" Type="http://schemas.openxmlformats.org/officeDocument/2006/relationships/oleObject" Target="../embeddings/oleObject218.bin"/><Relationship Id="rId8" Type="http://schemas.openxmlformats.org/officeDocument/2006/relationships/oleObject" Target="../embeddings/oleObject203.bin"/><Relationship Id="rId3" Type="http://schemas.openxmlformats.org/officeDocument/2006/relationships/image" Target="../media/image45.w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4.bin"/><Relationship Id="rId13" Type="http://schemas.openxmlformats.org/officeDocument/2006/relationships/image" Target="../media/image205.wmf"/><Relationship Id="rId3" Type="http://schemas.openxmlformats.org/officeDocument/2006/relationships/image" Target="../media/image201.wmf"/><Relationship Id="rId7" Type="http://schemas.openxmlformats.org/officeDocument/2006/relationships/image" Target="../media/image202.wmf"/><Relationship Id="rId12" Type="http://schemas.openxmlformats.org/officeDocument/2006/relationships/oleObject" Target="../embeddings/oleObject226.bin"/><Relationship Id="rId17" Type="http://schemas.openxmlformats.org/officeDocument/2006/relationships/image" Target="../media/image207.wmf"/><Relationship Id="rId2" Type="http://schemas.openxmlformats.org/officeDocument/2006/relationships/oleObject" Target="../embeddings/oleObject221.bin"/><Relationship Id="rId16" Type="http://schemas.openxmlformats.org/officeDocument/2006/relationships/oleObject" Target="../embeddings/oleObject22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23.bin"/><Relationship Id="rId11" Type="http://schemas.openxmlformats.org/officeDocument/2006/relationships/image" Target="../media/image204.wmf"/><Relationship Id="rId5" Type="http://schemas.openxmlformats.org/officeDocument/2006/relationships/image" Target="../media/image6.wmf"/><Relationship Id="rId15" Type="http://schemas.openxmlformats.org/officeDocument/2006/relationships/image" Target="../media/image206.wmf"/><Relationship Id="rId10" Type="http://schemas.openxmlformats.org/officeDocument/2006/relationships/oleObject" Target="../embeddings/oleObject225.bin"/><Relationship Id="rId4" Type="http://schemas.openxmlformats.org/officeDocument/2006/relationships/oleObject" Target="../embeddings/oleObject222.bin"/><Relationship Id="rId9" Type="http://schemas.openxmlformats.org/officeDocument/2006/relationships/image" Target="../media/image203.wmf"/><Relationship Id="rId14" Type="http://schemas.openxmlformats.org/officeDocument/2006/relationships/oleObject" Target="../embeddings/oleObject227.bin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4.bin"/><Relationship Id="rId13" Type="http://schemas.openxmlformats.org/officeDocument/2006/relationships/image" Target="../media/image213.wmf"/><Relationship Id="rId3" Type="http://schemas.openxmlformats.org/officeDocument/2006/relationships/image" Target="../media/image208.wmf"/><Relationship Id="rId7" Type="http://schemas.openxmlformats.org/officeDocument/2006/relationships/image" Target="../media/image210.wmf"/><Relationship Id="rId12" Type="http://schemas.openxmlformats.org/officeDocument/2006/relationships/oleObject" Target="../embeddings/oleObject233.bin"/><Relationship Id="rId2" Type="http://schemas.openxmlformats.org/officeDocument/2006/relationships/oleObject" Target="../embeddings/oleObject22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31.bin"/><Relationship Id="rId11" Type="http://schemas.openxmlformats.org/officeDocument/2006/relationships/image" Target="../media/image212.wmf"/><Relationship Id="rId5" Type="http://schemas.openxmlformats.org/officeDocument/2006/relationships/image" Target="../media/image209.wmf"/><Relationship Id="rId15" Type="http://schemas.openxmlformats.org/officeDocument/2006/relationships/image" Target="../media/image214.wmf"/><Relationship Id="rId10" Type="http://schemas.openxmlformats.org/officeDocument/2006/relationships/oleObject" Target="../embeddings/oleObject232.bin"/><Relationship Id="rId4" Type="http://schemas.openxmlformats.org/officeDocument/2006/relationships/oleObject" Target="../embeddings/oleObject230.bin"/><Relationship Id="rId9" Type="http://schemas.openxmlformats.org/officeDocument/2006/relationships/image" Target="../media/image211.wmf"/><Relationship Id="rId14" Type="http://schemas.openxmlformats.org/officeDocument/2006/relationships/oleObject" Target="../embeddings/oleObject234.bin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0.wmf"/><Relationship Id="rId3" Type="http://schemas.openxmlformats.org/officeDocument/2006/relationships/image" Target="../media/image216.png"/><Relationship Id="rId7" Type="http://schemas.openxmlformats.org/officeDocument/2006/relationships/oleObject" Target="../embeddings/oleObject231.bin"/><Relationship Id="rId2" Type="http://schemas.openxmlformats.org/officeDocument/2006/relationships/image" Target="../media/image2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9.wmf"/><Relationship Id="rId5" Type="http://schemas.openxmlformats.org/officeDocument/2006/relationships/oleObject" Target="../embeddings/oleObject230.bin"/><Relationship Id="rId4" Type="http://schemas.openxmlformats.org/officeDocument/2006/relationships/image" Target="../media/image217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9.png"/><Relationship Id="rId2" Type="http://schemas.openxmlformats.org/officeDocument/2006/relationships/image" Target="../media/image2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2.png"/><Relationship Id="rId2" Type="http://schemas.openxmlformats.org/officeDocument/2006/relationships/image" Target="../media/image2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3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9.wmf"/><Relationship Id="rId3" Type="http://schemas.openxmlformats.org/officeDocument/2006/relationships/image" Target="../media/image225.png"/><Relationship Id="rId7" Type="http://schemas.openxmlformats.org/officeDocument/2006/relationships/oleObject" Target="../embeddings/oleObject236.bin"/><Relationship Id="rId2" Type="http://schemas.openxmlformats.org/officeDocument/2006/relationships/image" Target="../media/image2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8.wmf"/><Relationship Id="rId5" Type="http://schemas.openxmlformats.org/officeDocument/2006/relationships/oleObject" Target="../embeddings/oleObject235.bin"/><Relationship Id="rId4" Type="http://schemas.openxmlformats.org/officeDocument/2006/relationships/image" Target="../media/image226.png"/><Relationship Id="rId9" Type="http://schemas.openxmlformats.org/officeDocument/2006/relationships/image" Target="../media/image229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0.bin"/><Relationship Id="rId3" Type="http://schemas.openxmlformats.org/officeDocument/2006/relationships/image" Target="../media/image228.wmf"/><Relationship Id="rId7" Type="http://schemas.openxmlformats.org/officeDocument/2006/relationships/image" Target="../media/image230.wmf"/><Relationship Id="rId2" Type="http://schemas.openxmlformats.org/officeDocument/2006/relationships/oleObject" Target="../embeddings/oleObject23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39.bin"/><Relationship Id="rId11" Type="http://schemas.openxmlformats.org/officeDocument/2006/relationships/image" Target="../media/image232.wmf"/><Relationship Id="rId5" Type="http://schemas.openxmlformats.org/officeDocument/2006/relationships/image" Target="../media/image229.wmf"/><Relationship Id="rId10" Type="http://schemas.openxmlformats.org/officeDocument/2006/relationships/oleObject" Target="../embeddings/oleObject241.bin"/><Relationship Id="rId4" Type="http://schemas.openxmlformats.org/officeDocument/2006/relationships/oleObject" Target="../embeddings/oleObject238.bin"/><Relationship Id="rId9" Type="http://schemas.openxmlformats.org/officeDocument/2006/relationships/image" Target="../media/image231.wmf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5.bin"/><Relationship Id="rId13" Type="http://schemas.openxmlformats.org/officeDocument/2006/relationships/image" Target="../media/image238.wmf"/><Relationship Id="rId3" Type="http://schemas.openxmlformats.org/officeDocument/2006/relationships/image" Target="../media/image233.wmf"/><Relationship Id="rId7" Type="http://schemas.openxmlformats.org/officeDocument/2006/relationships/image" Target="../media/image235.wmf"/><Relationship Id="rId12" Type="http://schemas.openxmlformats.org/officeDocument/2006/relationships/oleObject" Target="../embeddings/oleObject247.bin"/><Relationship Id="rId2" Type="http://schemas.openxmlformats.org/officeDocument/2006/relationships/oleObject" Target="../embeddings/oleObject24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44.bin"/><Relationship Id="rId11" Type="http://schemas.openxmlformats.org/officeDocument/2006/relationships/image" Target="../media/image237.wmf"/><Relationship Id="rId5" Type="http://schemas.openxmlformats.org/officeDocument/2006/relationships/image" Target="../media/image234.wmf"/><Relationship Id="rId15" Type="http://schemas.openxmlformats.org/officeDocument/2006/relationships/image" Target="../media/image239.wmf"/><Relationship Id="rId10" Type="http://schemas.openxmlformats.org/officeDocument/2006/relationships/oleObject" Target="../embeddings/oleObject246.bin"/><Relationship Id="rId4" Type="http://schemas.openxmlformats.org/officeDocument/2006/relationships/oleObject" Target="../embeddings/oleObject243.bin"/><Relationship Id="rId9" Type="http://schemas.openxmlformats.org/officeDocument/2006/relationships/image" Target="../media/image236.wmf"/><Relationship Id="rId14" Type="http://schemas.openxmlformats.org/officeDocument/2006/relationships/oleObject" Target="../embeddings/oleObject248.bin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2.bin"/><Relationship Id="rId13" Type="http://schemas.openxmlformats.org/officeDocument/2006/relationships/image" Target="../media/image244.wmf"/><Relationship Id="rId3" Type="http://schemas.openxmlformats.org/officeDocument/2006/relationships/image" Target="../media/image233.wmf"/><Relationship Id="rId7" Type="http://schemas.openxmlformats.org/officeDocument/2006/relationships/image" Target="../media/image241.wmf"/><Relationship Id="rId12" Type="http://schemas.openxmlformats.org/officeDocument/2006/relationships/oleObject" Target="../embeddings/oleObject254.bin"/><Relationship Id="rId17" Type="http://schemas.openxmlformats.org/officeDocument/2006/relationships/image" Target="../media/image230.wmf"/><Relationship Id="rId2" Type="http://schemas.openxmlformats.org/officeDocument/2006/relationships/oleObject" Target="../embeddings/oleObject249.bin"/><Relationship Id="rId16" Type="http://schemas.openxmlformats.org/officeDocument/2006/relationships/oleObject" Target="../embeddings/oleObject23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51.bin"/><Relationship Id="rId11" Type="http://schemas.openxmlformats.org/officeDocument/2006/relationships/image" Target="../media/image243.wmf"/><Relationship Id="rId5" Type="http://schemas.openxmlformats.org/officeDocument/2006/relationships/image" Target="../media/image240.wmf"/><Relationship Id="rId15" Type="http://schemas.openxmlformats.org/officeDocument/2006/relationships/image" Target="../media/image13.wmf"/><Relationship Id="rId10" Type="http://schemas.openxmlformats.org/officeDocument/2006/relationships/oleObject" Target="../embeddings/oleObject253.bin"/><Relationship Id="rId4" Type="http://schemas.openxmlformats.org/officeDocument/2006/relationships/oleObject" Target="../embeddings/oleObject250.bin"/><Relationship Id="rId9" Type="http://schemas.openxmlformats.org/officeDocument/2006/relationships/image" Target="../media/image242.wmf"/><Relationship Id="rId14" Type="http://schemas.openxmlformats.org/officeDocument/2006/relationships/oleObject" Target="../embeddings/oleObject255.bin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9.bin"/><Relationship Id="rId13" Type="http://schemas.openxmlformats.org/officeDocument/2006/relationships/image" Target="../media/image247.wmf"/><Relationship Id="rId18" Type="http://schemas.openxmlformats.org/officeDocument/2006/relationships/oleObject" Target="../embeddings/oleObject264.bin"/><Relationship Id="rId3" Type="http://schemas.openxmlformats.org/officeDocument/2006/relationships/image" Target="../media/image233.wmf"/><Relationship Id="rId21" Type="http://schemas.openxmlformats.org/officeDocument/2006/relationships/image" Target="../media/image230.wmf"/><Relationship Id="rId7" Type="http://schemas.openxmlformats.org/officeDocument/2006/relationships/image" Target="../media/image244.wmf"/><Relationship Id="rId12" Type="http://schemas.openxmlformats.org/officeDocument/2006/relationships/oleObject" Target="../embeddings/oleObject261.bin"/><Relationship Id="rId17" Type="http://schemas.openxmlformats.org/officeDocument/2006/relationships/image" Target="../media/image249.wmf"/><Relationship Id="rId2" Type="http://schemas.openxmlformats.org/officeDocument/2006/relationships/oleObject" Target="../embeddings/oleObject256.bin"/><Relationship Id="rId16" Type="http://schemas.openxmlformats.org/officeDocument/2006/relationships/oleObject" Target="../embeddings/oleObject263.bin"/><Relationship Id="rId20" Type="http://schemas.openxmlformats.org/officeDocument/2006/relationships/oleObject" Target="../embeddings/oleObject23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58.bin"/><Relationship Id="rId11" Type="http://schemas.openxmlformats.org/officeDocument/2006/relationships/image" Target="../media/image246.wmf"/><Relationship Id="rId5" Type="http://schemas.openxmlformats.org/officeDocument/2006/relationships/image" Target="../media/image245.wmf"/><Relationship Id="rId15" Type="http://schemas.openxmlformats.org/officeDocument/2006/relationships/image" Target="../media/image248.wmf"/><Relationship Id="rId10" Type="http://schemas.openxmlformats.org/officeDocument/2006/relationships/oleObject" Target="../embeddings/oleObject260.bin"/><Relationship Id="rId19" Type="http://schemas.openxmlformats.org/officeDocument/2006/relationships/image" Target="../media/image250.wmf"/><Relationship Id="rId4" Type="http://schemas.openxmlformats.org/officeDocument/2006/relationships/oleObject" Target="../embeddings/oleObject257.bin"/><Relationship Id="rId9" Type="http://schemas.openxmlformats.org/officeDocument/2006/relationships/image" Target="../media/image13.wmf"/><Relationship Id="rId14" Type="http://schemas.openxmlformats.org/officeDocument/2006/relationships/oleObject" Target="../embeddings/oleObject262.bin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0.bin"/><Relationship Id="rId13" Type="http://schemas.openxmlformats.org/officeDocument/2006/relationships/image" Target="../media/image253.wmf"/><Relationship Id="rId18" Type="http://schemas.openxmlformats.org/officeDocument/2006/relationships/oleObject" Target="../embeddings/oleObject271.bin"/><Relationship Id="rId3" Type="http://schemas.openxmlformats.org/officeDocument/2006/relationships/image" Target="../media/image228.wmf"/><Relationship Id="rId21" Type="http://schemas.openxmlformats.org/officeDocument/2006/relationships/image" Target="../media/image232.wmf"/><Relationship Id="rId7" Type="http://schemas.openxmlformats.org/officeDocument/2006/relationships/image" Target="../media/image251.wmf"/><Relationship Id="rId12" Type="http://schemas.openxmlformats.org/officeDocument/2006/relationships/oleObject" Target="../embeddings/oleObject268.bin"/><Relationship Id="rId17" Type="http://schemas.openxmlformats.org/officeDocument/2006/relationships/image" Target="../media/image255.wmf"/><Relationship Id="rId25" Type="http://schemas.openxmlformats.org/officeDocument/2006/relationships/image" Target="../media/image258.wmf"/><Relationship Id="rId2" Type="http://schemas.openxmlformats.org/officeDocument/2006/relationships/oleObject" Target="../embeddings/oleObject237.bin"/><Relationship Id="rId16" Type="http://schemas.openxmlformats.org/officeDocument/2006/relationships/oleObject" Target="../embeddings/oleObject270.bin"/><Relationship Id="rId20" Type="http://schemas.openxmlformats.org/officeDocument/2006/relationships/oleObject" Target="../embeddings/oleObject24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66.bin"/><Relationship Id="rId11" Type="http://schemas.openxmlformats.org/officeDocument/2006/relationships/image" Target="../media/image252.wmf"/><Relationship Id="rId24" Type="http://schemas.openxmlformats.org/officeDocument/2006/relationships/oleObject" Target="../embeddings/oleObject273.bin"/><Relationship Id="rId5" Type="http://schemas.openxmlformats.org/officeDocument/2006/relationships/image" Target="../media/image244.wmf"/><Relationship Id="rId15" Type="http://schemas.openxmlformats.org/officeDocument/2006/relationships/image" Target="../media/image254.wmf"/><Relationship Id="rId23" Type="http://schemas.openxmlformats.org/officeDocument/2006/relationships/image" Target="../media/image257.wmf"/><Relationship Id="rId10" Type="http://schemas.openxmlformats.org/officeDocument/2006/relationships/oleObject" Target="../embeddings/oleObject267.bin"/><Relationship Id="rId19" Type="http://schemas.openxmlformats.org/officeDocument/2006/relationships/image" Target="../media/image256.wmf"/><Relationship Id="rId4" Type="http://schemas.openxmlformats.org/officeDocument/2006/relationships/oleObject" Target="../embeddings/oleObject265.bin"/><Relationship Id="rId9" Type="http://schemas.openxmlformats.org/officeDocument/2006/relationships/image" Target="../media/image231.wmf"/><Relationship Id="rId14" Type="http://schemas.openxmlformats.org/officeDocument/2006/relationships/oleObject" Target="../embeddings/oleObject269.bin"/><Relationship Id="rId22" Type="http://schemas.openxmlformats.org/officeDocument/2006/relationships/oleObject" Target="../embeddings/oleObject272.bin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7.bin"/><Relationship Id="rId13" Type="http://schemas.openxmlformats.org/officeDocument/2006/relationships/image" Target="../media/image264.wmf"/><Relationship Id="rId18" Type="http://schemas.openxmlformats.org/officeDocument/2006/relationships/image" Target="../media/image267.wmf"/><Relationship Id="rId3" Type="http://schemas.openxmlformats.org/officeDocument/2006/relationships/image" Target="../media/image259.wmf"/><Relationship Id="rId7" Type="http://schemas.openxmlformats.org/officeDocument/2006/relationships/image" Target="../media/image261.wmf"/><Relationship Id="rId12" Type="http://schemas.openxmlformats.org/officeDocument/2006/relationships/oleObject" Target="../embeddings/oleObject279.bin"/><Relationship Id="rId17" Type="http://schemas.openxmlformats.org/officeDocument/2006/relationships/oleObject" Target="../embeddings/oleObject281.bin"/><Relationship Id="rId2" Type="http://schemas.openxmlformats.org/officeDocument/2006/relationships/oleObject" Target="../embeddings/oleObject274.bin"/><Relationship Id="rId16" Type="http://schemas.openxmlformats.org/officeDocument/2006/relationships/image" Target="../media/image266.wmf"/><Relationship Id="rId20" Type="http://schemas.openxmlformats.org/officeDocument/2006/relationships/image" Target="../media/image268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76.bin"/><Relationship Id="rId11" Type="http://schemas.openxmlformats.org/officeDocument/2006/relationships/image" Target="../media/image263.wmf"/><Relationship Id="rId5" Type="http://schemas.openxmlformats.org/officeDocument/2006/relationships/image" Target="../media/image260.wmf"/><Relationship Id="rId15" Type="http://schemas.openxmlformats.org/officeDocument/2006/relationships/image" Target="../media/image265.wmf"/><Relationship Id="rId10" Type="http://schemas.openxmlformats.org/officeDocument/2006/relationships/oleObject" Target="../embeddings/oleObject278.bin"/><Relationship Id="rId19" Type="http://schemas.openxmlformats.org/officeDocument/2006/relationships/oleObject" Target="../embeddings/oleObject282.bin"/><Relationship Id="rId4" Type="http://schemas.openxmlformats.org/officeDocument/2006/relationships/oleObject" Target="../embeddings/oleObject275.bin"/><Relationship Id="rId9" Type="http://schemas.openxmlformats.org/officeDocument/2006/relationships/image" Target="../media/image262.wmf"/><Relationship Id="rId14" Type="http://schemas.openxmlformats.org/officeDocument/2006/relationships/oleObject" Target="../embeddings/oleObject280.bin"/></Relationships>
</file>

<file path=ppt/slides/_rels/slide5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74.wmf"/><Relationship Id="rId18" Type="http://schemas.openxmlformats.org/officeDocument/2006/relationships/oleObject" Target="../embeddings/oleObject291.bin"/><Relationship Id="rId26" Type="http://schemas.openxmlformats.org/officeDocument/2006/relationships/oleObject" Target="../embeddings/oleObject295.bin"/><Relationship Id="rId3" Type="http://schemas.openxmlformats.org/officeDocument/2006/relationships/image" Target="../media/image269.wmf"/><Relationship Id="rId21" Type="http://schemas.openxmlformats.org/officeDocument/2006/relationships/image" Target="../media/image278.wmf"/><Relationship Id="rId7" Type="http://schemas.openxmlformats.org/officeDocument/2006/relationships/image" Target="../media/image271.wmf"/><Relationship Id="rId12" Type="http://schemas.openxmlformats.org/officeDocument/2006/relationships/oleObject" Target="../embeddings/oleObject288.bin"/><Relationship Id="rId17" Type="http://schemas.openxmlformats.org/officeDocument/2006/relationships/image" Target="../media/image276.wmf"/><Relationship Id="rId25" Type="http://schemas.openxmlformats.org/officeDocument/2006/relationships/image" Target="../media/image280.wmf"/><Relationship Id="rId33" Type="http://schemas.openxmlformats.org/officeDocument/2006/relationships/image" Target="../media/image284.wmf"/><Relationship Id="rId2" Type="http://schemas.openxmlformats.org/officeDocument/2006/relationships/oleObject" Target="../embeddings/oleObject283.bin"/><Relationship Id="rId16" Type="http://schemas.openxmlformats.org/officeDocument/2006/relationships/oleObject" Target="../embeddings/oleObject290.bin"/><Relationship Id="rId20" Type="http://schemas.openxmlformats.org/officeDocument/2006/relationships/oleObject" Target="../embeddings/oleObject292.bin"/><Relationship Id="rId29" Type="http://schemas.openxmlformats.org/officeDocument/2006/relationships/image" Target="../media/image282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85.bin"/><Relationship Id="rId11" Type="http://schemas.openxmlformats.org/officeDocument/2006/relationships/image" Target="../media/image273.wmf"/><Relationship Id="rId24" Type="http://schemas.openxmlformats.org/officeDocument/2006/relationships/oleObject" Target="../embeddings/oleObject294.bin"/><Relationship Id="rId32" Type="http://schemas.openxmlformats.org/officeDocument/2006/relationships/oleObject" Target="../embeddings/oleObject298.bin"/><Relationship Id="rId5" Type="http://schemas.openxmlformats.org/officeDocument/2006/relationships/image" Target="../media/image270.wmf"/><Relationship Id="rId15" Type="http://schemas.openxmlformats.org/officeDocument/2006/relationships/image" Target="../media/image275.wmf"/><Relationship Id="rId23" Type="http://schemas.openxmlformats.org/officeDocument/2006/relationships/image" Target="../media/image279.wmf"/><Relationship Id="rId28" Type="http://schemas.openxmlformats.org/officeDocument/2006/relationships/oleObject" Target="../embeddings/oleObject296.bin"/><Relationship Id="rId10" Type="http://schemas.openxmlformats.org/officeDocument/2006/relationships/oleObject" Target="../embeddings/oleObject287.bin"/><Relationship Id="rId19" Type="http://schemas.openxmlformats.org/officeDocument/2006/relationships/image" Target="../media/image277.wmf"/><Relationship Id="rId31" Type="http://schemas.openxmlformats.org/officeDocument/2006/relationships/image" Target="../media/image283.wmf"/><Relationship Id="rId4" Type="http://schemas.openxmlformats.org/officeDocument/2006/relationships/oleObject" Target="../embeddings/oleObject284.bin"/><Relationship Id="rId9" Type="http://schemas.openxmlformats.org/officeDocument/2006/relationships/image" Target="../media/image272.wmf"/><Relationship Id="rId14" Type="http://schemas.openxmlformats.org/officeDocument/2006/relationships/oleObject" Target="../embeddings/oleObject289.bin"/><Relationship Id="rId22" Type="http://schemas.openxmlformats.org/officeDocument/2006/relationships/oleObject" Target="../embeddings/oleObject293.bin"/><Relationship Id="rId27" Type="http://schemas.openxmlformats.org/officeDocument/2006/relationships/image" Target="../media/image281.wmf"/><Relationship Id="rId30" Type="http://schemas.openxmlformats.org/officeDocument/2006/relationships/oleObject" Target="../embeddings/oleObject297.bin"/><Relationship Id="rId8" Type="http://schemas.openxmlformats.org/officeDocument/2006/relationships/oleObject" Target="../embeddings/oleObject286.bin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01.bin"/><Relationship Id="rId3" Type="http://schemas.openxmlformats.org/officeDocument/2006/relationships/oleObject" Target="../embeddings/oleObject299.bin"/><Relationship Id="rId7" Type="http://schemas.openxmlformats.org/officeDocument/2006/relationships/image" Target="../media/image266.wmf"/><Relationship Id="rId2" Type="http://schemas.openxmlformats.org/officeDocument/2006/relationships/image" Target="../media/image285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7.wmf"/><Relationship Id="rId5" Type="http://schemas.openxmlformats.org/officeDocument/2006/relationships/oleObject" Target="../embeddings/oleObject300.bin"/><Relationship Id="rId4" Type="http://schemas.openxmlformats.org/officeDocument/2006/relationships/image" Target="../media/image286.wmf"/><Relationship Id="rId9" Type="http://schemas.openxmlformats.org/officeDocument/2006/relationships/image" Target="../media/image288.wmf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2.bin"/><Relationship Id="rId2" Type="http://schemas.openxmlformats.org/officeDocument/2006/relationships/image" Target="../media/image266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0.wmf"/><Relationship Id="rId5" Type="http://schemas.openxmlformats.org/officeDocument/2006/relationships/oleObject" Target="../embeddings/oleObject303.bin"/><Relationship Id="rId4" Type="http://schemas.openxmlformats.org/officeDocument/2006/relationships/image" Target="../media/image289.wmf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4.bin"/><Relationship Id="rId2" Type="http://schemas.openxmlformats.org/officeDocument/2006/relationships/image" Target="../media/image266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2.wmf"/><Relationship Id="rId5" Type="http://schemas.openxmlformats.org/officeDocument/2006/relationships/oleObject" Target="../embeddings/oleObject305.bin"/><Relationship Id="rId4" Type="http://schemas.openxmlformats.org/officeDocument/2006/relationships/image" Target="../media/image291.wmf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3.wmf"/><Relationship Id="rId2" Type="http://schemas.openxmlformats.org/officeDocument/2006/relationships/oleObject" Target="../embeddings/oleObject306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6.wmf"/><Relationship Id="rId5" Type="http://schemas.openxmlformats.org/officeDocument/2006/relationships/image" Target="../media/image294.wmf"/><Relationship Id="rId4" Type="http://schemas.openxmlformats.org/officeDocument/2006/relationships/oleObject" Target="../embeddings/oleObject307.bin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1.bin"/><Relationship Id="rId13" Type="http://schemas.openxmlformats.org/officeDocument/2006/relationships/image" Target="../media/image300.wmf"/><Relationship Id="rId3" Type="http://schemas.openxmlformats.org/officeDocument/2006/relationships/image" Target="../media/image295.wmf"/><Relationship Id="rId7" Type="http://schemas.openxmlformats.org/officeDocument/2006/relationships/image" Target="../media/image297.wmf"/><Relationship Id="rId12" Type="http://schemas.openxmlformats.org/officeDocument/2006/relationships/oleObject" Target="../embeddings/oleObject313.bin"/><Relationship Id="rId2" Type="http://schemas.openxmlformats.org/officeDocument/2006/relationships/oleObject" Target="../embeddings/oleObject308.bin"/><Relationship Id="rId16" Type="http://schemas.openxmlformats.org/officeDocument/2006/relationships/image" Target="../media/image266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10.bin"/><Relationship Id="rId11" Type="http://schemas.openxmlformats.org/officeDocument/2006/relationships/image" Target="../media/image299.wmf"/><Relationship Id="rId5" Type="http://schemas.openxmlformats.org/officeDocument/2006/relationships/image" Target="../media/image296.wmf"/><Relationship Id="rId15" Type="http://schemas.openxmlformats.org/officeDocument/2006/relationships/image" Target="../media/image301.wmf"/><Relationship Id="rId10" Type="http://schemas.openxmlformats.org/officeDocument/2006/relationships/oleObject" Target="../embeddings/oleObject312.bin"/><Relationship Id="rId4" Type="http://schemas.openxmlformats.org/officeDocument/2006/relationships/oleObject" Target="../embeddings/oleObject309.bin"/><Relationship Id="rId9" Type="http://schemas.openxmlformats.org/officeDocument/2006/relationships/image" Target="../media/image298.wmf"/><Relationship Id="rId14" Type="http://schemas.openxmlformats.org/officeDocument/2006/relationships/oleObject" Target="../embeddings/oleObject314.bin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8.bin"/><Relationship Id="rId13" Type="http://schemas.openxmlformats.org/officeDocument/2006/relationships/image" Target="../media/image307.wmf"/><Relationship Id="rId3" Type="http://schemas.openxmlformats.org/officeDocument/2006/relationships/image" Target="../media/image302.wmf"/><Relationship Id="rId7" Type="http://schemas.openxmlformats.org/officeDocument/2006/relationships/image" Target="../media/image304.wmf"/><Relationship Id="rId12" Type="http://schemas.openxmlformats.org/officeDocument/2006/relationships/oleObject" Target="../embeddings/oleObject320.bin"/><Relationship Id="rId17" Type="http://schemas.openxmlformats.org/officeDocument/2006/relationships/image" Target="../media/image309.wmf"/><Relationship Id="rId2" Type="http://schemas.openxmlformats.org/officeDocument/2006/relationships/oleObject" Target="../embeddings/oleObject315.bin"/><Relationship Id="rId16" Type="http://schemas.openxmlformats.org/officeDocument/2006/relationships/oleObject" Target="../embeddings/oleObject32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17.bin"/><Relationship Id="rId11" Type="http://schemas.openxmlformats.org/officeDocument/2006/relationships/image" Target="../media/image306.wmf"/><Relationship Id="rId5" Type="http://schemas.openxmlformats.org/officeDocument/2006/relationships/image" Target="../media/image303.wmf"/><Relationship Id="rId15" Type="http://schemas.openxmlformats.org/officeDocument/2006/relationships/image" Target="../media/image308.wmf"/><Relationship Id="rId10" Type="http://schemas.openxmlformats.org/officeDocument/2006/relationships/oleObject" Target="../embeddings/oleObject319.bin"/><Relationship Id="rId4" Type="http://schemas.openxmlformats.org/officeDocument/2006/relationships/oleObject" Target="../embeddings/oleObject316.bin"/><Relationship Id="rId9" Type="http://schemas.openxmlformats.org/officeDocument/2006/relationships/image" Target="../media/image305.wmf"/><Relationship Id="rId14" Type="http://schemas.openxmlformats.org/officeDocument/2006/relationships/oleObject" Target="../embeddings/oleObject321.bin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wmf"/><Relationship Id="rId2" Type="http://schemas.openxmlformats.org/officeDocument/2006/relationships/oleObject" Target="../embeddings/oleObject323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1.wmf"/><Relationship Id="rId4" Type="http://schemas.openxmlformats.org/officeDocument/2006/relationships/oleObject" Target="../embeddings/oleObject324.bin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4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6.bin"/><Relationship Id="rId13" Type="http://schemas.openxmlformats.org/officeDocument/2006/relationships/image" Target="../media/image318.wmf"/><Relationship Id="rId18" Type="http://schemas.openxmlformats.org/officeDocument/2006/relationships/oleObject" Target="../embeddings/oleObject330.bin"/><Relationship Id="rId26" Type="http://schemas.openxmlformats.org/officeDocument/2006/relationships/oleObject" Target="../embeddings/oleObject334.bin"/><Relationship Id="rId3" Type="http://schemas.openxmlformats.org/officeDocument/2006/relationships/image" Target="../media/image313.wmf"/><Relationship Id="rId21" Type="http://schemas.openxmlformats.org/officeDocument/2006/relationships/image" Target="../media/image323.wmf"/><Relationship Id="rId7" Type="http://schemas.openxmlformats.org/officeDocument/2006/relationships/image" Target="../media/image316.wmf"/><Relationship Id="rId12" Type="http://schemas.openxmlformats.org/officeDocument/2006/relationships/oleObject" Target="../embeddings/oleObject328.bin"/><Relationship Id="rId17" Type="http://schemas.openxmlformats.org/officeDocument/2006/relationships/image" Target="../media/image321.wmf"/><Relationship Id="rId25" Type="http://schemas.openxmlformats.org/officeDocument/2006/relationships/image" Target="../media/image325.wmf"/><Relationship Id="rId2" Type="http://schemas.openxmlformats.org/officeDocument/2006/relationships/image" Target="../media/image312.wmf"/><Relationship Id="rId16" Type="http://schemas.openxmlformats.org/officeDocument/2006/relationships/image" Target="../media/image320.wmf"/><Relationship Id="rId20" Type="http://schemas.openxmlformats.org/officeDocument/2006/relationships/oleObject" Target="../embeddings/oleObject331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5.wmf"/><Relationship Id="rId11" Type="http://schemas.openxmlformats.org/officeDocument/2006/relationships/image" Target="../media/image305.wmf"/><Relationship Id="rId24" Type="http://schemas.openxmlformats.org/officeDocument/2006/relationships/oleObject" Target="../embeddings/oleObject333.bin"/><Relationship Id="rId5" Type="http://schemas.openxmlformats.org/officeDocument/2006/relationships/image" Target="../media/image314.wmf"/><Relationship Id="rId15" Type="http://schemas.openxmlformats.org/officeDocument/2006/relationships/image" Target="../media/image319.wmf"/><Relationship Id="rId23" Type="http://schemas.openxmlformats.org/officeDocument/2006/relationships/image" Target="../media/image324.wmf"/><Relationship Id="rId10" Type="http://schemas.openxmlformats.org/officeDocument/2006/relationships/oleObject" Target="../embeddings/oleObject327.bin"/><Relationship Id="rId19" Type="http://schemas.openxmlformats.org/officeDocument/2006/relationships/image" Target="../media/image322.wmf"/><Relationship Id="rId4" Type="http://schemas.openxmlformats.org/officeDocument/2006/relationships/oleObject" Target="../embeddings/oleObject325.bin"/><Relationship Id="rId9" Type="http://schemas.openxmlformats.org/officeDocument/2006/relationships/image" Target="../media/image317.wmf"/><Relationship Id="rId14" Type="http://schemas.openxmlformats.org/officeDocument/2006/relationships/oleObject" Target="../embeddings/oleObject329.bin"/><Relationship Id="rId22" Type="http://schemas.openxmlformats.org/officeDocument/2006/relationships/oleObject" Target="../embeddings/oleObject332.bin"/><Relationship Id="rId27" Type="http://schemas.openxmlformats.org/officeDocument/2006/relationships/image" Target="../media/image326.wmf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38.bin"/><Relationship Id="rId3" Type="http://schemas.openxmlformats.org/officeDocument/2006/relationships/image" Target="../media/image327.wmf"/><Relationship Id="rId7" Type="http://schemas.openxmlformats.org/officeDocument/2006/relationships/image" Target="../media/image328.wmf"/><Relationship Id="rId2" Type="http://schemas.openxmlformats.org/officeDocument/2006/relationships/oleObject" Target="../embeddings/oleObject33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37.bin"/><Relationship Id="rId5" Type="http://schemas.openxmlformats.org/officeDocument/2006/relationships/image" Target="../media/image63.wmf"/><Relationship Id="rId10" Type="http://schemas.openxmlformats.org/officeDocument/2006/relationships/image" Target="../media/image320.wmf"/><Relationship Id="rId4" Type="http://schemas.openxmlformats.org/officeDocument/2006/relationships/oleObject" Target="../embeddings/oleObject336.bin"/><Relationship Id="rId9" Type="http://schemas.openxmlformats.org/officeDocument/2006/relationships/image" Target="../media/image329.wmf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2.png"/><Relationship Id="rId13" Type="http://schemas.openxmlformats.org/officeDocument/2006/relationships/oleObject" Target="../embeddings/oleObject343.bin"/><Relationship Id="rId3" Type="http://schemas.openxmlformats.org/officeDocument/2006/relationships/image" Target="../media/image330.wmf"/><Relationship Id="rId7" Type="http://schemas.openxmlformats.org/officeDocument/2006/relationships/image" Target="../media/image321.wmf"/><Relationship Id="rId12" Type="http://schemas.openxmlformats.org/officeDocument/2006/relationships/image" Target="../media/image334.wmf"/><Relationship Id="rId2" Type="http://schemas.openxmlformats.org/officeDocument/2006/relationships/oleObject" Target="../embeddings/oleObject339.bin"/><Relationship Id="rId16" Type="http://schemas.openxmlformats.org/officeDocument/2006/relationships/image" Target="../media/image336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0.wmf"/><Relationship Id="rId11" Type="http://schemas.openxmlformats.org/officeDocument/2006/relationships/oleObject" Target="../embeddings/oleObject342.bin"/><Relationship Id="rId5" Type="http://schemas.openxmlformats.org/officeDocument/2006/relationships/image" Target="../media/image331.wmf"/><Relationship Id="rId15" Type="http://schemas.openxmlformats.org/officeDocument/2006/relationships/oleObject" Target="../embeddings/oleObject344.bin"/><Relationship Id="rId10" Type="http://schemas.openxmlformats.org/officeDocument/2006/relationships/image" Target="../media/image333.wmf"/><Relationship Id="rId4" Type="http://schemas.openxmlformats.org/officeDocument/2006/relationships/oleObject" Target="../embeddings/oleObject340.bin"/><Relationship Id="rId9" Type="http://schemas.openxmlformats.org/officeDocument/2006/relationships/oleObject" Target="../embeddings/oleObject341.bin"/><Relationship Id="rId14" Type="http://schemas.openxmlformats.org/officeDocument/2006/relationships/image" Target="../media/image335.wmf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7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9.wmf"/><Relationship Id="rId13" Type="http://schemas.openxmlformats.org/officeDocument/2006/relationships/oleObject" Target="../embeddings/oleObject350.bin"/><Relationship Id="rId18" Type="http://schemas.openxmlformats.org/officeDocument/2006/relationships/image" Target="../media/image344.wmf"/><Relationship Id="rId3" Type="http://schemas.openxmlformats.org/officeDocument/2006/relationships/oleObject" Target="../embeddings/oleObject345.bin"/><Relationship Id="rId7" Type="http://schemas.openxmlformats.org/officeDocument/2006/relationships/oleObject" Target="../embeddings/oleObject347.bin"/><Relationship Id="rId12" Type="http://schemas.openxmlformats.org/officeDocument/2006/relationships/image" Target="../media/image341.wmf"/><Relationship Id="rId17" Type="http://schemas.openxmlformats.org/officeDocument/2006/relationships/oleObject" Target="../embeddings/oleObject352.bin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343.wmf"/><Relationship Id="rId20" Type="http://schemas.openxmlformats.org/officeDocument/2006/relationships/image" Target="../media/image345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8.wmf"/><Relationship Id="rId11" Type="http://schemas.openxmlformats.org/officeDocument/2006/relationships/oleObject" Target="../embeddings/oleObject349.bin"/><Relationship Id="rId5" Type="http://schemas.openxmlformats.org/officeDocument/2006/relationships/oleObject" Target="../embeddings/oleObject346.bin"/><Relationship Id="rId15" Type="http://schemas.openxmlformats.org/officeDocument/2006/relationships/oleObject" Target="../embeddings/oleObject351.bin"/><Relationship Id="rId10" Type="http://schemas.openxmlformats.org/officeDocument/2006/relationships/image" Target="../media/image340.wmf"/><Relationship Id="rId19" Type="http://schemas.openxmlformats.org/officeDocument/2006/relationships/oleObject" Target="../embeddings/oleObject353.bin"/><Relationship Id="rId4" Type="http://schemas.openxmlformats.org/officeDocument/2006/relationships/image" Target="../media/image337.wmf"/><Relationship Id="rId9" Type="http://schemas.openxmlformats.org/officeDocument/2006/relationships/oleObject" Target="../embeddings/oleObject348.bin"/><Relationship Id="rId14" Type="http://schemas.openxmlformats.org/officeDocument/2006/relationships/image" Target="../media/image342.wmf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9.wmf"/><Relationship Id="rId3" Type="http://schemas.openxmlformats.org/officeDocument/2006/relationships/oleObject" Target="../embeddings/oleObject354.bin"/><Relationship Id="rId7" Type="http://schemas.openxmlformats.org/officeDocument/2006/relationships/oleObject" Target="../embeddings/oleObject356.bin"/><Relationship Id="rId2" Type="http://schemas.openxmlformats.org/officeDocument/2006/relationships/image" Target="../media/image346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8.wmf"/><Relationship Id="rId5" Type="http://schemas.openxmlformats.org/officeDocument/2006/relationships/oleObject" Target="../embeddings/oleObject355.bin"/><Relationship Id="rId10" Type="http://schemas.openxmlformats.org/officeDocument/2006/relationships/image" Target="../media/image350.wmf"/><Relationship Id="rId4" Type="http://schemas.openxmlformats.org/officeDocument/2006/relationships/image" Target="../media/image347.wmf"/><Relationship Id="rId9" Type="http://schemas.openxmlformats.org/officeDocument/2006/relationships/oleObject" Target="../embeddings/oleObject357.bin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1.wmf"/><Relationship Id="rId13" Type="http://schemas.openxmlformats.org/officeDocument/2006/relationships/oleObject" Target="../embeddings/oleObject363.bin"/><Relationship Id="rId3" Type="http://schemas.openxmlformats.org/officeDocument/2006/relationships/oleObject" Target="../embeddings/oleObject358.bin"/><Relationship Id="rId7" Type="http://schemas.openxmlformats.org/officeDocument/2006/relationships/oleObject" Target="../embeddings/oleObject360.bin"/><Relationship Id="rId12" Type="http://schemas.openxmlformats.org/officeDocument/2006/relationships/image" Target="../media/image353.wmf"/><Relationship Id="rId2" Type="http://schemas.openxmlformats.org/officeDocument/2006/relationships/image" Target="../media/image346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8.wmf"/><Relationship Id="rId11" Type="http://schemas.openxmlformats.org/officeDocument/2006/relationships/oleObject" Target="../embeddings/oleObject362.bin"/><Relationship Id="rId5" Type="http://schemas.openxmlformats.org/officeDocument/2006/relationships/oleObject" Target="../embeddings/oleObject359.bin"/><Relationship Id="rId10" Type="http://schemas.openxmlformats.org/officeDocument/2006/relationships/image" Target="../media/image352.wmf"/><Relationship Id="rId4" Type="http://schemas.openxmlformats.org/officeDocument/2006/relationships/image" Target="../media/image347.wmf"/><Relationship Id="rId9" Type="http://schemas.openxmlformats.org/officeDocument/2006/relationships/oleObject" Target="../embeddings/oleObject361.bin"/><Relationship Id="rId14" Type="http://schemas.openxmlformats.org/officeDocument/2006/relationships/image" Target="../media/image354.wmf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67.bin"/><Relationship Id="rId13" Type="http://schemas.openxmlformats.org/officeDocument/2006/relationships/image" Target="../media/image342.wmf"/><Relationship Id="rId18" Type="http://schemas.openxmlformats.org/officeDocument/2006/relationships/oleObject" Target="../embeddings/oleObject372.bin"/><Relationship Id="rId3" Type="http://schemas.openxmlformats.org/officeDocument/2006/relationships/image" Target="../media/image355.wmf"/><Relationship Id="rId21" Type="http://schemas.openxmlformats.org/officeDocument/2006/relationships/image" Target="../media/image363.wmf"/><Relationship Id="rId7" Type="http://schemas.openxmlformats.org/officeDocument/2006/relationships/image" Target="../media/image357.wmf"/><Relationship Id="rId12" Type="http://schemas.openxmlformats.org/officeDocument/2006/relationships/oleObject" Target="../embeddings/oleObject369.bin"/><Relationship Id="rId17" Type="http://schemas.openxmlformats.org/officeDocument/2006/relationships/image" Target="../media/image361.wmf"/><Relationship Id="rId2" Type="http://schemas.openxmlformats.org/officeDocument/2006/relationships/oleObject" Target="../embeddings/oleObject364.bin"/><Relationship Id="rId16" Type="http://schemas.openxmlformats.org/officeDocument/2006/relationships/oleObject" Target="../embeddings/oleObject371.bin"/><Relationship Id="rId20" Type="http://schemas.openxmlformats.org/officeDocument/2006/relationships/oleObject" Target="../embeddings/oleObject37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66.bin"/><Relationship Id="rId11" Type="http://schemas.openxmlformats.org/officeDocument/2006/relationships/image" Target="../media/image359.wmf"/><Relationship Id="rId5" Type="http://schemas.openxmlformats.org/officeDocument/2006/relationships/image" Target="../media/image356.wmf"/><Relationship Id="rId15" Type="http://schemas.openxmlformats.org/officeDocument/2006/relationships/image" Target="../media/image360.wmf"/><Relationship Id="rId10" Type="http://schemas.openxmlformats.org/officeDocument/2006/relationships/oleObject" Target="../embeddings/oleObject368.bin"/><Relationship Id="rId19" Type="http://schemas.openxmlformats.org/officeDocument/2006/relationships/image" Target="../media/image362.wmf"/><Relationship Id="rId4" Type="http://schemas.openxmlformats.org/officeDocument/2006/relationships/oleObject" Target="../embeddings/oleObject365.bin"/><Relationship Id="rId9" Type="http://schemas.openxmlformats.org/officeDocument/2006/relationships/image" Target="../media/image358.wmf"/><Relationship Id="rId14" Type="http://schemas.openxmlformats.org/officeDocument/2006/relationships/oleObject" Target="../embeddings/oleObject370.bin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76.bin"/><Relationship Id="rId3" Type="http://schemas.openxmlformats.org/officeDocument/2006/relationships/oleObject" Target="../embeddings/oleObject374.bin"/><Relationship Id="rId7" Type="http://schemas.openxmlformats.org/officeDocument/2006/relationships/image" Target="../media/image366.wmf"/><Relationship Id="rId2" Type="http://schemas.openxmlformats.org/officeDocument/2006/relationships/image" Target="../media/image266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75.bin"/><Relationship Id="rId5" Type="http://schemas.openxmlformats.org/officeDocument/2006/relationships/image" Target="../media/image365.wmf"/><Relationship Id="rId4" Type="http://schemas.openxmlformats.org/officeDocument/2006/relationships/image" Target="../media/image364.wmf"/><Relationship Id="rId9" Type="http://schemas.openxmlformats.org/officeDocument/2006/relationships/image" Target="../media/image367.wmf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80.bin"/><Relationship Id="rId13" Type="http://schemas.openxmlformats.org/officeDocument/2006/relationships/image" Target="../media/image373.wmf"/><Relationship Id="rId18" Type="http://schemas.openxmlformats.org/officeDocument/2006/relationships/image" Target="../media/image375.wmf"/><Relationship Id="rId26" Type="http://schemas.openxmlformats.org/officeDocument/2006/relationships/image" Target="../media/image379.wmf"/><Relationship Id="rId3" Type="http://schemas.openxmlformats.org/officeDocument/2006/relationships/image" Target="../media/image368.wmf"/><Relationship Id="rId21" Type="http://schemas.openxmlformats.org/officeDocument/2006/relationships/oleObject" Target="../embeddings/oleObject387.bin"/><Relationship Id="rId7" Type="http://schemas.openxmlformats.org/officeDocument/2006/relationships/image" Target="../media/image370.wmf"/><Relationship Id="rId12" Type="http://schemas.openxmlformats.org/officeDocument/2006/relationships/oleObject" Target="../embeddings/oleObject382.bin"/><Relationship Id="rId17" Type="http://schemas.openxmlformats.org/officeDocument/2006/relationships/oleObject" Target="../embeddings/oleObject385.bin"/><Relationship Id="rId25" Type="http://schemas.openxmlformats.org/officeDocument/2006/relationships/oleObject" Target="../embeddings/oleObject389.bin"/><Relationship Id="rId2" Type="http://schemas.openxmlformats.org/officeDocument/2006/relationships/oleObject" Target="../embeddings/oleObject377.bin"/><Relationship Id="rId16" Type="http://schemas.openxmlformats.org/officeDocument/2006/relationships/image" Target="../media/image374.wmf"/><Relationship Id="rId20" Type="http://schemas.openxmlformats.org/officeDocument/2006/relationships/image" Target="../media/image376.wmf"/><Relationship Id="rId29" Type="http://schemas.openxmlformats.org/officeDocument/2006/relationships/oleObject" Target="../embeddings/oleObject39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79.bin"/><Relationship Id="rId11" Type="http://schemas.openxmlformats.org/officeDocument/2006/relationships/image" Target="../media/image372.wmf"/><Relationship Id="rId24" Type="http://schemas.openxmlformats.org/officeDocument/2006/relationships/image" Target="../media/image378.wmf"/><Relationship Id="rId32" Type="http://schemas.openxmlformats.org/officeDocument/2006/relationships/image" Target="../media/image382.wmf"/><Relationship Id="rId5" Type="http://schemas.openxmlformats.org/officeDocument/2006/relationships/image" Target="../media/image369.wmf"/><Relationship Id="rId15" Type="http://schemas.openxmlformats.org/officeDocument/2006/relationships/oleObject" Target="../embeddings/oleObject384.bin"/><Relationship Id="rId23" Type="http://schemas.openxmlformats.org/officeDocument/2006/relationships/oleObject" Target="../embeddings/oleObject388.bin"/><Relationship Id="rId28" Type="http://schemas.openxmlformats.org/officeDocument/2006/relationships/image" Target="../media/image380.wmf"/><Relationship Id="rId10" Type="http://schemas.openxmlformats.org/officeDocument/2006/relationships/oleObject" Target="../embeddings/oleObject381.bin"/><Relationship Id="rId19" Type="http://schemas.openxmlformats.org/officeDocument/2006/relationships/oleObject" Target="../embeddings/oleObject386.bin"/><Relationship Id="rId31" Type="http://schemas.openxmlformats.org/officeDocument/2006/relationships/oleObject" Target="../embeddings/oleObject392.bin"/><Relationship Id="rId4" Type="http://schemas.openxmlformats.org/officeDocument/2006/relationships/oleObject" Target="../embeddings/oleObject378.bin"/><Relationship Id="rId9" Type="http://schemas.openxmlformats.org/officeDocument/2006/relationships/image" Target="../media/image371.wmf"/><Relationship Id="rId14" Type="http://schemas.openxmlformats.org/officeDocument/2006/relationships/oleObject" Target="../embeddings/oleObject383.bin"/><Relationship Id="rId22" Type="http://schemas.openxmlformats.org/officeDocument/2006/relationships/image" Target="../media/image377.wmf"/><Relationship Id="rId27" Type="http://schemas.openxmlformats.org/officeDocument/2006/relationships/oleObject" Target="../embeddings/oleObject390.bin"/><Relationship Id="rId30" Type="http://schemas.openxmlformats.org/officeDocument/2006/relationships/image" Target="../media/image381.wmf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6.wmf"/><Relationship Id="rId3" Type="http://schemas.openxmlformats.org/officeDocument/2006/relationships/oleObject" Target="../embeddings/oleObject393.bin"/><Relationship Id="rId7" Type="http://schemas.openxmlformats.org/officeDocument/2006/relationships/oleObject" Target="../embeddings/oleObject395.bin"/><Relationship Id="rId2" Type="http://schemas.openxmlformats.org/officeDocument/2006/relationships/image" Target="../media/image38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5.wmf"/><Relationship Id="rId5" Type="http://schemas.openxmlformats.org/officeDocument/2006/relationships/oleObject" Target="../embeddings/oleObject394.bin"/><Relationship Id="rId4" Type="http://schemas.openxmlformats.org/officeDocument/2006/relationships/image" Target="../media/image384.wmf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8.wmf"/><Relationship Id="rId3" Type="http://schemas.openxmlformats.org/officeDocument/2006/relationships/oleObject" Target="../embeddings/oleObject396.bin"/><Relationship Id="rId7" Type="http://schemas.openxmlformats.org/officeDocument/2006/relationships/oleObject" Target="../embeddings/oleObject398.bin"/><Relationship Id="rId2" Type="http://schemas.openxmlformats.org/officeDocument/2006/relationships/image" Target="../media/image38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7.wmf"/><Relationship Id="rId5" Type="http://schemas.openxmlformats.org/officeDocument/2006/relationships/oleObject" Target="../embeddings/oleObject397.bin"/><Relationship Id="rId4" Type="http://schemas.openxmlformats.org/officeDocument/2006/relationships/image" Target="../media/image384.wmf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9.wmf"/><Relationship Id="rId13" Type="http://schemas.openxmlformats.org/officeDocument/2006/relationships/oleObject" Target="../embeddings/oleObject404.bin"/><Relationship Id="rId3" Type="http://schemas.openxmlformats.org/officeDocument/2006/relationships/oleObject" Target="../embeddings/oleObject399.bin"/><Relationship Id="rId7" Type="http://schemas.openxmlformats.org/officeDocument/2006/relationships/oleObject" Target="../embeddings/oleObject401.bin"/><Relationship Id="rId12" Type="http://schemas.openxmlformats.org/officeDocument/2006/relationships/image" Target="../media/image390.wmf"/><Relationship Id="rId2" Type="http://schemas.openxmlformats.org/officeDocument/2006/relationships/image" Target="../media/image38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7.wmf"/><Relationship Id="rId11" Type="http://schemas.openxmlformats.org/officeDocument/2006/relationships/oleObject" Target="../embeddings/oleObject403.bin"/><Relationship Id="rId5" Type="http://schemas.openxmlformats.org/officeDocument/2006/relationships/oleObject" Target="../embeddings/oleObject400.bin"/><Relationship Id="rId10" Type="http://schemas.openxmlformats.org/officeDocument/2006/relationships/image" Target="../media/image388.wmf"/><Relationship Id="rId4" Type="http://schemas.openxmlformats.org/officeDocument/2006/relationships/image" Target="../media/image384.wmf"/><Relationship Id="rId9" Type="http://schemas.openxmlformats.org/officeDocument/2006/relationships/oleObject" Target="../embeddings/oleObject402.bin"/><Relationship Id="rId14" Type="http://schemas.openxmlformats.org/officeDocument/2006/relationships/image" Target="../media/image391.wmf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4.png"/><Relationship Id="rId3" Type="http://schemas.openxmlformats.org/officeDocument/2006/relationships/image" Target="../media/image407.png"/><Relationship Id="rId7" Type="http://schemas.openxmlformats.org/officeDocument/2006/relationships/image" Target="../media/image411.png"/><Relationship Id="rId12" Type="http://schemas.openxmlformats.org/officeDocument/2006/relationships/image" Target="../media/image3940.png"/><Relationship Id="rId2" Type="http://schemas.openxmlformats.org/officeDocument/2006/relationships/image" Target="../media/image40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0.png"/><Relationship Id="rId11" Type="http://schemas.openxmlformats.org/officeDocument/2006/relationships/image" Target="../media/image415.png"/><Relationship Id="rId5" Type="http://schemas.openxmlformats.org/officeDocument/2006/relationships/image" Target="../media/image393.png"/><Relationship Id="rId10" Type="http://schemas.openxmlformats.org/officeDocument/2006/relationships/image" Target="../media/image414.png"/><Relationship Id="rId4" Type="http://schemas.openxmlformats.org/officeDocument/2006/relationships/image" Target="../media/image392.png"/><Relationship Id="rId9" Type="http://schemas.openxmlformats.org/officeDocument/2006/relationships/image" Target="../media/image413.png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5.png"/><Relationship Id="rId13" Type="http://schemas.openxmlformats.org/officeDocument/2006/relationships/image" Target="../media/image399.png"/><Relationship Id="rId3" Type="http://schemas.openxmlformats.org/officeDocument/2006/relationships/image" Target="../media/image418.png"/><Relationship Id="rId7" Type="http://schemas.openxmlformats.org/officeDocument/2006/relationships/image" Target="../media/image422.png"/><Relationship Id="rId12" Type="http://schemas.openxmlformats.org/officeDocument/2006/relationships/image" Target="../media/image396.png"/><Relationship Id="rId2" Type="http://schemas.openxmlformats.org/officeDocument/2006/relationships/image" Target="../media/image4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1.png"/><Relationship Id="rId11" Type="http://schemas.openxmlformats.org/officeDocument/2006/relationships/image" Target="../media/image426.png"/><Relationship Id="rId5" Type="http://schemas.openxmlformats.org/officeDocument/2006/relationships/image" Target="../media/image420.png"/><Relationship Id="rId10" Type="http://schemas.openxmlformats.org/officeDocument/2006/relationships/image" Target="../media/image425.png"/><Relationship Id="rId4" Type="http://schemas.openxmlformats.org/officeDocument/2006/relationships/image" Target="../media/image419.png"/><Relationship Id="rId9" Type="http://schemas.openxmlformats.org/officeDocument/2006/relationships/image" Target="../media/image424.png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7.png"/><Relationship Id="rId13" Type="http://schemas.openxmlformats.org/officeDocument/2006/relationships/image" Target="../media/image440.png"/><Relationship Id="rId3" Type="http://schemas.openxmlformats.org/officeDocument/2006/relationships/image" Target="../media/image430.png"/><Relationship Id="rId7" Type="http://schemas.openxmlformats.org/officeDocument/2006/relationships/image" Target="../media/image434.png"/><Relationship Id="rId12" Type="http://schemas.openxmlformats.org/officeDocument/2006/relationships/image" Target="../media/image401.png"/><Relationship Id="rId2" Type="http://schemas.openxmlformats.org/officeDocument/2006/relationships/image" Target="../media/image4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3.png"/><Relationship Id="rId11" Type="http://schemas.openxmlformats.org/officeDocument/2006/relationships/image" Target="../media/image438.png"/><Relationship Id="rId5" Type="http://schemas.openxmlformats.org/officeDocument/2006/relationships/image" Target="../media/image432.png"/><Relationship Id="rId15" Type="http://schemas.openxmlformats.org/officeDocument/2006/relationships/image" Target="../media/image442.png"/><Relationship Id="rId10" Type="http://schemas.openxmlformats.org/officeDocument/2006/relationships/image" Target="../media/image437.png"/><Relationship Id="rId4" Type="http://schemas.openxmlformats.org/officeDocument/2006/relationships/image" Target="../media/image431.png"/><Relationship Id="rId9" Type="http://schemas.openxmlformats.org/officeDocument/2006/relationships/image" Target="../media/image436.png"/><Relationship Id="rId14" Type="http://schemas.openxmlformats.org/officeDocument/2006/relationships/image" Target="../media/image441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3.png"/><Relationship Id="rId2" Type="http://schemas.openxmlformats.org/officeDocument/2006/relationships/image" Target="../media/image4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8.emf"/><Relationship Id="rId5" Type="http://schemas.openxmlformats.org/officeDocument/2006/relationships/image" Target="../media/image405.png"/><Relationship Id="rId4" Type="http://schemas.openxmlformats.org/officeDocument/2006/relationships/image" Target="../media/image40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895600"/>
            <a:ext cx="8458200" cy="685800"/>
          </a:xfrm>
        </p:spPr>
        <p:txBody>
          <a:bodyPr/>
          <a:lstStyle/>
          <a:p>
            <a:pPr eaLnBrk="1" hangingPunct="1">
              <a:defRPr/>
            </a:pPr>
            <a:r>
              <a:rPr lang="pt-BR" sz="2400" dirty="0"/>
              <a:t>Estatística: Aplicação ao Sensoriamento Remoto</a:t>
            </a:r>
            <a:br>
              <a:rPr lang="pt-BR" sz="2400" dirty="0"/>
            </a:br>
            <a:br>
              <a:rPr lang="pt-BR" sz="2400" dirty="0"/>
            </a:br>
            <a:r>
              <a:rPr lang="pt-BR" sz="2400"/>
              <a:t>SER 204</a:t>
            </a:r>
            <a:br>
              <a:rPr lang="pt-BR" sz="2400" dirty="0"/>
            </a:br>
            <a:br>
              <a:rPr lang="pt-BR" sz="2400" dirty="0"/>
            </a:br>
            <a:r>
              <a:rPr lang="pt-BR" sz="2400" dirty="0"/>
              <a:t>Distribuições de Probabilidade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35509BE4-1053-15BF-FC42-E92D757233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7984" y="5903913"/>
            <a:ext cx="4487416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pt-BR" sz="1800" kern="0" dirty="0">
                <a:latin typeface="Tahoma" panose="020B0604030504040204" pitchFamily="34" charset="0"/>
                <a:cs typeface="+mn-cs"/>
              </a:rPr>
              <a:t>Camilo </a:t>
            </a:r>
            <a:r>
              <a:rPr lang="pt-BR" sz="1800" kern="0" dirty="0" err="1">
                <a:latin typeface="Tahoma" panose="020B0604030504040204" pitchFamily="34" charset="0"/>
                <a:cs typeface="+mn-cs"/>
              </a:rPr>
              <a:t>Daleles</a:t>
            </a:r>
            <a:r>
              <a:rPr lang="pt-BR" sz="1800" kern="0" dirty="0">
                <a:latin typeface="Tahoma" panose="020B0604030504040204" pitchFamily="34" charset="0"/>
                <a:cs typeface="+mn-cs"/>
              </a:rPr>
              <a:t> </a:t>
            </a:r>
            <a:r>
              <a:rPr lang="pt-BR" sz="1800" kern="0" dirty="0" err="1">
                <a:latin typeface="Tahoma" panose="020B0604030504040204" pitchFamily="34" charset="0"/>
                <a:cs typeface="+mn-cs"/>
              </a:rPr>
              <a:t>Rennó</a:t>
            </a:r>
            <a:endParaRPr lang="pt-BR" sz="1800" kern="0" dirty="0">
              <a:latin typeface="Tahoma" panose="020B0604030504040204" pitchFamily="34" charset="0"/>
              <a:cs typeface="+mn-cs"/>
            </a:endParaRP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pt-BR" sz="1200" kern="0" dirty="0">
                <a:latin typeface="Arial Unicode MS" pitchFamily="34" charset="-128"/>
              </a:rPr>
              <a:t>camilo.renno@inpe.br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pt-BR" sz="1200" kern="0" dirty="0">
                <a:latin typeface="Arial Unicode MS" pitchFamily="34" charset="-128"/>
              </a:rPr>
              <a:t>acesso do conteúdo do curso em </a:t>
            </a:r>
            <a:r>
              <a:rPr lang="pt-BR" sz="1200" kern="0" dirty="0" err="1">
                <a:solidFill>
                  <a:schemeClr val="accent2"/>
                </a:solidFill>
                <a:latin typeface="Arial Unicode MS" pitchFamily="34" charset="-128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Bibdigital</a:t>
            </a:r>
            <a:r>
              <a:rPr lang="pt-BR" sz="1200" kern="0" dirty="0">
                <a:solidFill>
                  <a:schemeClr val="accent2"/>
                </a:solidFill>
                <a:latin typeface="Arial Unicode MS" pitchFamily="34" charset="-128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do INPE</a:t>
            </a:r>
            <a:r>
              <a:rPr lang="pt-BR" sz="1200" kern="0" dirty="0">
                <a:latin typeface="Arial Unicode MS" pitchFamily="34" charset="-128"/>
              </a:rPr>
              <a:t> ou </a:t>
            </a:r>
            <a:r>
              <a:rPr lang="pt-BR" sz="1200" kern="0" dirty="0">
                <a:solidFill>
                  <a:schemeClr val="accent2"/>
                </a:solidFill>
                <a:latin typeface="Arial Unicode MS" pitchFamily="34" charset="-128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endParaRPr lang="pt-BR" sz="1200" kern="0" dirty="0">
              <a:solidFill>
                <a:schemeClr val="accent2"/>
              </a:solidFill>
              <a:latin typeface="Arial Unicode MS" pitchFamily="34" charset="-12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Distribuições de Probabilidade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DD6368-627F-4D7B-9BB5-3C2B96B92F06}" type="slidenum">
              <a:rPr lang="pt-BR"/>
              <a:pPr>
                <a:defRPr/>
              </a:pPr>
              <a:t>2</a:t>
            </a:fld>
            <a:endParaRPr lang="pt-BR"/>
          </a:p>
        </p:txBody>
      </p:sp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1981200" y="1852613"/>
            <a:ext cx="6858000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Retiram-se 3 bolas da urna (com reposição). Define-se uma v.a. </a:t>
            </a:r>
            <a:r>
              <a:rPr lang="pt-BR" altLang="pt-BR" sz="1600" i="1" dirty="0">
                <a:latin typeface="Times New Roman" pitchFamily="18" charset="0"/>
              </a:rPr>
              <a:t>X</a:t>
            </a:r>
            <a:r>
              <a:rPr lang="pt-BR" altLang="pt-BR" sz="1600" dirty="0">
                <a:latin typeface="Tahoma" panose="020B0604030504040204" pitchFamily="34" charset="0"/>
              </a:rPr>
              <a:t> cujos valores representam o número total de bolas vermelhas dentre as 3 escolhidas.</a:t>
            </a:r>
          </a:p>
        </p:txBody>
      </p:sp>
      <p:grpSp>
        <p:nvGrpSpPr>
          <p:cNvPr id="15" name="Group 4"/>
          <p:cNvGrpSpPr>
            <a:grpSpLocks/>
          </p:cNvGrpSpPr>
          <p:nvPr/>
        </p:nvGrpSpPr>
        <p:grpSpPr bwMode="auto">
          <a:xfrm>
            <a:off x="1109663" y="1773238"/>
            <a:ext cx="725487" cy="1028700"/>
            <a:chOff x="2688" y="3264"/>
            <a:chExt cx="576" cy="816"/>
          </a:xfrm>
        </p:grpSpPr>
        <p:sp>
          <p:nvSpPr>
            <p:cNvPr id="4107" name="Freeform 5"/>
            <p:cNvSpPr>
              <a:spLocks/>
            </p:cNvSpPr>
            <p:nvPr/>
          </p:nvSpPr>
          <p:spPr bwMode="auto">
            <a:xfrm>
              <a:off x="2688" y="3264"/>
              <a:ext cx="576" cy="816"/>
            </a:xfrm>
            <a:custGeom>
              <a:avLst/>
              <a:gdLst>
                <a:gd name="T0" fmla="*/ 0 w 576"/>
                <a:gd name="T1" fmla="*/ 0 h 816"/>
                <a:gd name="T2" fmla="*/ 0 w 576"/>
                <a:gd name="T3" fmla="*/ 816 h 816"/>
                <a:gd name="T4" fmla="*/ 576 w 576"/>
                <a:gd name="T5" fmla="*/ 816 h 816"/>
                <a:gd name="T6" fmla="*/ 576 w 576"/>
                <a:gd name="T7" fmla="*/ 0 h 8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"/>
                <a:gd name="T13" fmla="*/ 0 h 816"/>
                <a:gd name="T14" fmla="*/ 576 w 576"/>
                <a:gd name="T15" fmla="*/ 816 h 8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" h="816">
                  <a:moveTo>
                    <a:pt x="0" y="0"/>
                  </a:moveTo>
                  <a:lnTo>
                    <a:pt x="0" y="816"/>
                  </a:lnTo>
                  <a:lnTo>
                    <a:pt x="576" y="816"/>
                  </a:lnTo>
                  <a:lnTo>
                    <a:pt x="576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4108" name="Oval 6"/>
            <p:cNvSpPr>
              <a:spLocks noChangeArrowheads="1"/>
            </p:cNvSpPr>
            <p:nvPr/>
          </p:nvSpPr>
          <p:spPr bwMode="auto">
            <a:xfrm>
              <a:off x="2784" y="336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4109" name="Oval 7"/>
            <p:cNvSpPr>
              <a:spLocks noChangeArrowheads="1"/>
            </p:cNvSpPr>
            <p:nvPr/>
          </p:nvSpPr>
          <p:spPr bwMode="auto">
            <a:xfrm>
              <a:off x="3024" y="348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4110" name="Oval 8"/>
            <p:cNvSpPr>
              <a:spLocks noChangeArrowheads="1"/>
            </p:cNvSpPr>
            <p:nvPr/>
          </p:nvSpPr>
          <p:spPr bwMode="auto">
            <a:xfrm>
              <a:off x="2784" y="384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4111" name="Oval 9"/>
            <p:cNvSpPr>
              <a:spLocks noChangeArrowheads="1"/>
            </p:cNvSpPr>
            <p:nvPr/>
          </p:nvSpPr>
          <p:spPr bwMode="auto">
            <a:xfrm>
              <a:off x="2784" y="3600"/>
              <a:ext cx="144" cy="14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4112" name="Oval 10"/>
            <p:cNvSpPr>
              <a:spLocks noChangeArrowheads="1"/>
            </p:cNvSpPr>
            <p:nvPr/>
          </p:nvSpPr>
          <p:spPr bwMode="auto">
            <a:xfrm>
              <a:off x="3024" y="3696"/>
              <a:ext cx="144" cy="14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4113" name="Oval 11"/>
            <p:cNvSpPr>
              <a:spLocks noChangeArrowheads="1"/>
            </p:cNvSpPr>
            <p:nvPr/>
          </p:nvSpPr>
          <p:spPr bwMode="auto">
            <a:xfrm>
              <a:off x="3024" y="3264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4114" name="Oval 12"/>
            <p:cNvSpPr>
              <a:spLocks noChangeArrowheads="1"/>
            </p:cNvSpPr>
            <p:nvPr/>
          </p:nvSpPr>
          <p:spPr bwMode="auto">
            <a:xfrm>
              <a:off x="3024" y="3912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sp>
        <p:nvSpPr>
          <p:cNvPr id="4102" name="Text Box 3"/>
          <p:cNvSpPr txBox="1">
            <a:spLocks noChangeArrowheads="1"/>
          </p:cNvSpPr>
          <p:nvPr/>
        </p:nvSpPr>
        <p:spPr bwMode="auto">
          <a:xfrm>
            <a:off x="755650" y="1338263"/>
            <a:ext cx="685800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Considere os seguintes experimentos:</a:t>
            </a:r>
          </a:p>
        </p:txBody>
      </p:sp>
      <p:pic>
        <p:nvPicPr>
          <p:cNvPr id="27" name="Picture 2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3" y="3141663"/>
            <a:ext cx="1163637" cy="116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" name="Text Box 3"/>
          <p:cNvSpPr txBox="1">
            <a:spLocks noChangeArrowheads="1"/>
          </p:cNvSpPr>
          <p:nvPr/>
        </p:nvSpPr>
        <p:spPr bwMode="auto">
          <a:xfrm>
            <a:off x="2232025" y="3246438"/>
            <a:ext cx="65532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A partir de um mapa, 10 pontos são sorteados aleatoriamente (com reposição). Define-se uma v.a. </a:t>
            </a:r>
            <a:r>
              <a:rPr lang="pt-BR" altLang="pt-BR" sz="1600" i="1" dirty="0">
                <a:latin typeface="Times New Roman" pitchFamily="18" charset="0"/>
              </a:rPr>
              <a:t>Y</a:t>
            </a:r>
            <a:r>
              <a:rPr lang="pt-BR" altLang="pt-BR" sz="1600" dirty="0">
                <a:latin typeface="Tahoma" panose="020B0604030504040204" pitchFamily="34" charset="0"/>
              </a:rPr>
              <a:t> cujos valores representam o número total de pontos pertencentes à classe floresta dentre os 10 escolhidos.</a:t>
            </a:r>
          </a:p>
        </p:txBody>
      </p:sp>
      <p:sp>
        <p:nvSpPr>
          <p:cNvPr id="48" name="Text Box 3"/>
          <p:cNvSpPr txBox="1">
            <a:spLocks noChangeArrowheads="1"/>
          </p:cNvSpPr>
          <p:nvPr/>
        </p:nvSpPr>
        <p:spPr bwMode="auto">
          <a:xfrm>
            <a:off x="865188" y="4508500"/>
            <a:ext cx="8171308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pt-BR" altLang="pt-BR" sz="1600" dirty="0">
                <a:latin typeface="Tahoma" panose="020B0604030504040204" pitchFamily="34" charset="0"/>
              </a:rPr>
              <a:t>O que esses dois experimentos têm em comum?</a:t>
            </a:r>
          </a:p>
          <a:p>
            <a:pPr marL="450850" indent="-111125" eaLnBrk="1" hangingPunct="1">
              <a:spcBef>
                <a:spcPct val="0"/>
              </a:spcBef>
              <a:defRPr/>
            </a:pPr>
            <a:r>
              <a:rPr lang="pt-BR" altLang="pt-BR" sz="1600" dirty="0">
                <a:latin typeface="Tahoma" panose="020B0604030504040204" pitchFamily="34" charset="0"/>
              </a:rPr>
              <a:t>Um número fixo de elementos são escolhidos</a:t>
            </a:r>
          </a:p>
          <a:p>
            <a:pPr marL="450850" indent="-111125" eaLnBrk="1" hangingPunct="1">
              <a:spcBef>
                <a:spcPct val="0"/>
              </a:spcBef>
              <a:defRPr/>
            </a:pPr>
            <a:r>
              <a:rPr lang="pt-BR" altLang="pt-BR" sz="1600" dirty="0">
                <a:latin typeface="Tahoma" panose="020B0604030504040204" pitchFamily="34" charset="0"/>
              </a:rPr>
              <a:t>A escolha de um elemento não influencia a escolha do próximo (eventos independentes)</a:t>
            </a:r>
          </a:p>
          <a:p>
            <a:pPr marL="450850" indent="-111125" eaLnBrk="1" hangingPunct="1">
              <a:spcBef>
                <a:spcPct val="0"/>
              </a:spcBef>
              <a:defRPr/>
            </a:pPr>
            <a:r>
              <a:rPr lang="pt-BR" altLang="pt-BR" sz="1600" dirty="0">
                <a:latin typeface="Tahoma" panose="020B0604030504040204" pitchFamily="34" charset="0"/>
              </a:rPr>
              <a:t>Cada elemento escolhido pertence ou não ao atributo (cor/classe) de interesse</a:t>
            </a:r>
          </a:p>
        </p:txBody>
      </p:sp>
      <p:sp>
        <p:nvSpPr>
          <p:cNvPr id="49" name="Text Box 3"/>
          <p:cNvSpPr txBox="1">
            <a:spLocks noChangeArrowheads="1"/>
          </p:cNvSpPr>
          <p:nvPr/>
        </p:nvSpPr>
        <p:spPr bwMode="auto">
          <a:xfrm>
            <a:off x="900113" y="5835650"/>
            <a:ext cx="788511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55600" indent="-35560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Dessa forma, pode-se dizer que </a:t>
            </a:r>
            <a:r>
              <a:rPr lang="pt-BR" altLang="pt-BR" sz="1600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pt-BR" altLang="pt-BR" sz="1600" dirty="0">
                <a:latin typeface="Tahoma" panose="020B0604030504040204" pitchFamily="34" charset="0"/>
              </a:rPr>
              <a:t> e </a:t>
            </a:r>
            <a:r>
              <a:rPr lang="pt-BR" altLang="pt-BR" sz="1600" i="1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pt-BR" altLang="pt-BR" sz="1600" dirty="0">
                <a:latin typeface="Tahoma" panose="020B0604030504040204" pitchFamily="34" charset="0"/>
              </a:rPr>
              <a:t> têm propriedades semelhantes, ou seja, seguem a mesma distribuição de probabilidade.</a:t>
            </a:r>
          </a:p>
        </p:txBody>
      </p:sp>
    </p:spTree>
    <p:extLst>
      <p:ext uri="{BB962C8B-B14F-4D97-AF65-F5344CB8AC3E}">
        <p14:creationId xmlns:p14="http://schemas.microsoft.com/office/powerpoint/2010/main" val="285637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30" grpId="0"/>
      <p:bldP spid="48" grpId="0" build="p"/>
      <p:bldP spid="4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Box 3"/>
          <p:cNvSpPr txBox="1">
            <a:spLocks noChangeArrowheads="1"/>
          </p:cNvSpPr>
          <p:nvPr/>
        </p:nvSpPr>
        <p:spPr bwMode="auto">
          <a:xfrm>
            <a:off x="4973152" y="5467527"/>
            <a:ext cx="417671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55600" indent="-35560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marL="273050" indent="-111125" eaLnBrk="1" hangingPunct="1">
              <a:spcBef>
                <a:spcPct val="0"/>
              </a:spcBef>
              <a:defRPr/>
            </a:pPr>
            <a:r>
              <a:rPr lang="pt-BR" altLang="pt-BR" sz="1600" dirty="0">
                <a:latin typeface="Tahoma" panose="020B0604030504040204" pitchFamily="34" charset="0"/>
              </a:rPr>
              <a:t>Os parâmetros das distribuições</a:t>
            </a:r>
          </a:p>
        </p:txBody>
      </p:sp>
      <p:sp>
        <p:nvSpPr>
          <p:cNvPr id="54" name="Text Box 3"/>
          <p:cNvSpPr txBox="1">
            <a:spLocks noChangeArrowheads="1"/>
          </p:cNvSpPr>
          <p:nvPr/>
        </p:nvSpPr>
        <p:spPr bwMode="auto">
          <a:xfrm>
            <a:off x="4973152" y="5725120"/>
            <a:ext cx="417671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73050" indent="-111125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pt-BR" altLang="pt-BR" sz="1600" dirty="0">
                <a:latin typeface="Tahoma" panose="020B0604030504040204" pitchFamily="34" charset="0"/>
              </a:rPr>
              <a:t>A média (medida de tendência central)</a:t>
            </a:r>
          </a:p>
          <a:p>
            <a:pPr eaLnBrk="1" hangingPunct="1">
              <a:spcBef>
                <a:spcPct val="0"/>
              </a:spcBef>
            </a:pPr>
            <a:r>
              <a:rPr lang="pt-BR" altLang="pt-BR" sz="1600" dirty="0">
                <a:latin typeface="Tahoma" panose="020B0604030504040204" pitchFamily="34" charset="0"/>
              </a:rPr>
              <a:t>A variância (medida de dispersão)</a:t>
            </a:r>
          </a:p>
        </p:txBody>
      </p:sp>
      <p:grpSp>
        <p:nvGrpSpPr>
          <p:cNvPr id="66560" name="Grupo 66559"/>
          <p:cNvGrpSpPr>
            <a:grpSpLocks/>
          </p:cNvGrpSpPr>
          <p:nvPr/>
        </p:nvGrpSpPr>
        <p:grpSpPr bwMode="auto">
          <a:xfrm>
            <a:off x="26986" y="1341438"/>
            <a:ext cx="4813302" cy="5446712"/>
            <a:chOff x="27294" y="1340768"/>
            <a:chExt cx="4813352" cy="5446800"/>
          </a:xfrm>
        </p:grpSpPr>
        <p:pic>
          <p:nvPicPr>
            <p:cNvPr id="5166" name="Imagem 4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3369" y="1340768"/>
              <a:ext cx="4617277" cy="5446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167" name="CaixaDeTexto 2"/>
            <p:cNvSpPr txBox="1">
              <a:spLocks noChangeArrowheads="1"/>
            </p:cNvSpPr>
            <p:nvPr/>
          </p:nvSpPr>
          <p:spPr bwMode="auto">
            <a:xfrm rot="16200000">
              <a:off x="-1029904" y="5357856"/>
              <a:ext cx="2376009" cy="2616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100" dirty="0">
                  <a:latin typeface="Tahoma" panose="020B0604030504040204" pitchFamily="34" charset="0"/>
                </a:rPr>
                <a:t>Fonte: </a:t>
              </a:r>
              <a:r>
                <a:rPr lang="pt-BR" altLang="pt-BR" sz="1100" dirty="0" err="1">
                  <a:latin typeface="Tahoma" panose="020B0604030504040204" pitchFamily="34" charset="0"/>
                </a:rPr>
                <a:t>Leemis</a:t>
              </a:r>
              <a:r>
                <a:rPr lang="pt-BR" altLang="pt-BR" sz="1100" dirty="0">
                  <a:latin typeface="Tahoma" panose="020B0604030504040204" pitchFamily="34" charset="0"/>
                </a:rPr>
                <a:t> e </a:t>
              </a:r>
              <a:r>
                <a:rPr lang="pt-BR" altLang="pt-BR" sz="1100" dirty="0" err="1">
                  <a:latin typeface="Tahoma" panose="020B0604030504040204" pitchFamily="34" charset="0"/>
                </a:rPr>
                <a:t>McQueston</a:t>
              </a:r>
              <a:r>
                <a:rPr lang="pt-BR" altLang="pt-BR" sz="1100" dirty="0">
                  <a:latin typeface="Tahoma" panose="020B0604030504040204" pitchFamily="34" charset="0"/>
                </a:rPr>
                <a:t> (2008)</a:t>
              </a:r>
            </a:p>
          </p:txBody>
        </p:sp>
      </p:grpSp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Distribuições de Probabilidade</a:t>
            </a:r>
          </a:p>
        </p:txBody>
      </p:sp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838" y="1341438"/>
            <a:ext cx="4616450" cy="544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091C740-09BA-41E9-93A9-D40CC78C0159}" type="slidenum">
              <a:rPr lang="pt-BR"/>
              <a:pPr>
                <a:defRPr/>
              </a:pPr>
              <a:t>3</a:t>
            </a:fld>
            <a:endParaRPr lang="pt-BR"/>
          </a:p>
        </p:txBody>
      </p:sp>
      <p:sp>
        <p:nvSpPr>
          <p:cNvPr id="4" name="Retângulo 3"/>
          <p:cNvSpPr/>
          <p:nvPr/>
        </p:nvSpPr>
        <p:spPr>
          <a:xfrm>
            <a:off x="5224463" y="2103438"/>
            <a:ext cx="1260475" cy="36036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r>
              <a:rPr lang="pt-BR" sz="1400" dirty="0">
                <a:solidFill>
                  <a:schemeClr val="tx1"/>
                </a:solidFill>
                <a:latin typeface="Tahoma" panose="020B0604030504040204" pitchFamily="34" charset="0"/>
              </a:rPr>
              <a:t>V.A. Discreta</a:t>
            </a:r>
          </a:p>
        </p:txBody>
      </p:sp>
      <p:sp>
        <p:nvSpPr>
          <p:cNvPr id="6" name="Retângulo de cantos arredondados 5"/>
          <p:cNvSpPr/>
          <p:nvPr/>
        </p:nvSpPr>
        <p:spPr>
          <a:xfrm>
            <a:off x="7127875" y="2101850"/>
            <a:ext cx="1260475" cy="360363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r>
              <a:rPr lang="pt-BR" sz="1400" dirty="0">
                <a:solidFill>
                  <a:schemeClr val="tx1"/>
                </a:solidFill>
                <a:latin typeface="Tahoma" panose="020B0604030504040204" pitchFamily="34" charset="0"/>
              </a:rPr>
              <a:t>V.A. Contínua</a:t>
            </a:r>
          </a:p>
        </p:txBody>
      </p:sp>
      <p:sp>
        <p:nvSpPr>
          <p:cNvPr id="5128" name="Text Box 3"/>
          <p:cNvSpPr txBox="1">
            <a:spLocks noChangeArrowheads="1"/>
          </p:cNvSpPr>
          <p:nvPr/>
        </p:nvSpPr>
        <p:spPr bwMode="auto">
          <a:xfrm>
            <a:off x="5148263" y="1406525"/>
            <a:ext cx="388823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55600" indent="-35560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Quantas funções que descrevem distribuições de </a:t>
            </a:r>
            <a:r>
              <a:rPr lang="pt-BR" altLang="pt-BR" sz="1600" dirty="0" err="1">
                <a:latin typeface="Tahoma" panose="020B0604030504040204" pitchFamily="34" charset="0"/>
              </a:rPr>
              <a:t>v.a</a:t>
            </a:r>
            <a:r>
              <a:rPr lang="pt-BR" altLang="pt-BR" sz="1600" dirty="0">
                <a:latin typeface="Tahoma" panose="020B0604030504040204" pitchFamily="34" charset="0"/>
              </a:rPr>
              <a:t>. existem?</a:t>
            </a:r>
          </a:p>
        </p:txBody>
      </p:sp>
      <p:grpSp>
        <p:nvGrpSpPr>
          <p:cNvPr id="10" name="Grupo 9"/>
          <p:cNvGrpSpPr>
            <a:grpSpLocks/>
          </p:cNvGrpSpPr>
          <p:nvPr/>
        </p:nvGrpSpPr>
        <p:grpSpPr bwMode="auto">
          <a:xfrm>
            <a:off x="288925" y="1471613"/>
            <a:ext cx="4530725" cy="4672012"/>
            <a:chOff x="288907" y="1471906"/>
            <a:chExt cx="4530672" cy="4671029"/>
          </a:xfrm>
        </p:grpSpPr>
        <p:sp>
          <p:nvSpPr>
            <p:cNvPr id="11" name="Retângulo 10"/>
            <p:cNvSpPr/>
            <p:nvPr/>
          </p:nvSpPr>
          <p:spPr>
            <a:xfrm>
              <a:off x="990574" y="1471906"/>
              <a:ext cx="709605" cy="18887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solidFill>
                  <a:schemeClr val="tx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2" name="Retângulo de cantos arredondados 11"/>
            <p:cNvSpPr/>
            <p:nvPr/>
          </p:nvSpPr>
          <p:spPr>
            <a:xfrm>
              <a:off x="2324058" y="2498802"/>
              <a:ext cx="541332" cy="193634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solidFill>
                  <a:schemeClr val="tx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4" name="Retângulo 13"/>
            <p:cNvSpPr/>
            <p:nvPr/>
          </p:nvSpPr>
          <p:spPr>
            <a:xfrm>
              <a:off x="3967102" y="1779816"/>
              <a:ext cx="849302" cy="18887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solidFill>
                  <a:schemeClr val="tx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5" name="Retângulo 14"/>
            <p:cNvSpPr/>
            <p:nvPr/>
          </p:nvSpPr>
          <p:spPr>
            <a:xfrm>
              <a:off x="3209873" y="2060744"/>
              <a:ext cx="473069" cy="18887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solidFill>
                  <a:schemeClr val="tx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6" name="Retângulo 15"/>
            <p:cNvSpPr/>
            <p:nvPr/>
          </p:nvSpPr>
          <p:spPr>
            <a:xfrm>
              <a:off x="4346510" y="2095662"/>
              <a:ext cx="473069" cy="19046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solidFill>
                  <a:schemeClr val="tx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7" name="Retângulo 16"/>
            <p:cNvSpPr/>
            <p:nvPr/>
          </p:nvSpPr>
          <p:spPr>
            <a:xfrm>
              <a:off x="288907" y="2367068"/>
              <a:ext cx="473069" cy="19046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solidFill>
                  <a:schemeClr val="tx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8" name="Retângulo 17"/>
            <p:cNvSpPr/>
            <p:nvPr/>
          </p:nvSpPr>
          <p:spPr>
            <a:xfrm>
              <a:off x="1147735" y="2444838"/>
              <a:ext cx="473069" cy="18887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solidFill>
                  <a:schemeClr val="tx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9" name="Retângulo de cantos arredondados 18"/>
            <p:cNvSpPr/>
            <p:nvPr/>
          </p:nvSpPr>
          <p:spPr>
            <a:xfrm>
              <a:off x="1077886" y="2716244"/>
              <a:ext cx="542919" cy="192047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solidFill>
                  <a:schemeClr val="tx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0" name="Retângulo de cantos arredondados 19"/>
            <p:cNvSpPr/>
            <p:nvPr/>
          </p:nvSpPr>
          <p:spPr>
            <a:xfrm>
              <a:off x="2092286" y="3770122"/>
              <a:ext cx="541332" cy="192047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solidFill>
                  <a:schemeClr val="tx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1" name="Retângulo de cantos arredondados 20"/>
            <p:cNvSpPr/>
            <p:nvPr/>
          </p:nvSpPr>
          <p:spPr>
            <a:xfrm>
              <a:off x="965174" y="4189134"/>
              <a:ext cx="465133" cy="192047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solidFill>
                  <a:schemeClr val="tx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2" name="Retângulo de cantos arredondados 21"/>
            <p:cNvSpPr/>
            <p:nvPr/>
          </p:nvSpPr>
          <p:spPr>
            <a:xfrm>
              <a:off x="996924" y="4581164"/>
              <a:ext cx="465133" cy="192048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solidFill>
                  <a:schemeClr val="tx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3" name="Retângulo 22"/>
            <p:cNvSpPr/>
            <p:nvPr/>
          </p:nvSpPr>
          <p:spPr>
            <a:xfrm>
              <a:off x="2633618" y="1825844"/>
              <a:ext cx="473069" cy="190460"/>
            </a:xfrm>
            <a:prstGeom prst="rect">
              <a:avLst/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solidFill>
                  <a:schemeClr val="tx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5" name="Retângulo de cantos arredondados 24"/>
            <p:cNvSpPr/>
            <p:nvPr/>
          </p:nvSpPr>
          <p:spPr>
            <a:xfrm>
              <a:off x="3459108" y="3424120"/>
              <a:ext cx="466720" cy="192047"/>
            </a:xfrm>
            <a:prstGeom prst="roundRect">
              <a:avLst/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solidFill>
                  <a:schemeClr val="tx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8" name="Retângulo de cantos arredondados 27"/>
            <p:cNvSpPr/>
            <p:nvPr/>
          </p:nvSpPr>
          <p:spPr>
            <a:xfrm>
              <a:off x="2173248" y="4503393"/>
              <a:ext cx="542919" cy="193634"/>
            </a:xfrm>
            <a:prstGeom prst="roundRect">
              <a:avLst/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solidFill>
                  <a:schemeClr val="tx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9" name="Retângulo de cantos arredondados 28"/>
            <p:cNvSpPr/>
            <p:nvPr/>
          </p:nvSpPr>
          <p:spPr>
            <a:xfrm>
              <a:off x="1462056" y="5589015"/>
              <a:ext cx="469895" cy="192047"/>
            </a:xfrm>
            <a:prstGeom prst="roundRect">
              <a:avLst/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solidFill>
                  <a:schemeClr val="tx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1" name="Retângulo de cantos arredondados 30"/>
            <p:cNvSpPr/>
            <p:nvPr/>
          </p:nvSpPr>
          <p:spPr>
            <a:xfrm>
              <a:off x="4343335" y="5950888"/>
              <a:ext cx="465133" cy="192047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solidFill>
                  <a:schemeClr val="tx1"/>
                </a:solidFill>
                <a:latin typeface="Tahoma" panose="020B0604030504040204" pitchFamily="34" charset="0"/>
              </a:endParaRPr>
            </a:p>
          </p:txBody>
        </p:sp>
      </p:grpSp>
      <p:grpSp>
        <p:nvGrpSpPr>
          <p:cNvPr id="33" name="Grupo 32"/>
          <p:cNvGrpSpPr>
            <a:grpSpLocks/>
          </p:cNvGrpSpPr>
          <p:nvPr/>
        </p:nvGrpSpPr>
        <p:grpSpPr bwMode="auto">
          <a:xfrm>
            <a:off x="288925" y="1471613"/>
            <a:ext cx="4530725" cy="4672012"/>
            <a:chOff x="288892" y="1471906"/>
            <a:chExt cx="4530687" cy="4671406"/>
          </a:xfrm>
        </p:grpSpPr>
        <p:sp>
          <p:nvSpPr>
            <p:cNvPr id="34" name="Retângulo 33"/>
            <p:cNvSpPr/>
            <p:nvPr/>
          </p:nvSpPr>
          <p:spPr>
            <a:xfrm>
              <a:off x="990561" y="1471906"/>
              <a:ext cx="709607" cy="188887"/>
            </a:xfrm>
            <a:prstGeom prst="rect">
              <a:avLst/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solidFill>
                  <a:schemeClr val="tx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5" name="Retângulo de cantos arredondados 34"/>
            <p:cNvSpPr/>
            <p:nvPr/>
          </p:nvSpPr>
          <p:spPr>
            <a:xfrm>
              <a:off x="2324050" y="2498885"/>
              <a:ext cx="541333" cy="192063"/>
            </a:xfrm>
            <a:prstGeom prst="roundRect">
              <a:avLst/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solidFill>
                  <a:schemeClr val="tx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8" name="Retângulo 37"/>
            <p:cNvSpPr/>
            <p:nvPr/>
          </p:nvSpPr>
          <p:spPr>
            <a:xfrm>
              <a:off x="3209868" y="2060792"/>
              <a:ext cx="473071" cy="188888"/>
            </a:xfrm>
            <a:prstGeom prst="rect">
              <a:avLst/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solidFill>
                  <a:schemeClr val="tx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9" name="Retângulo 38"/>
            <p:cNvSpPr/>
            <p:nvPr/>
          </p:nvSpPr>
          <p:spPr>
            <a:xfrm>
              <a:off x="4346508" y="2095712"/>
              <a:ext cx="473071" cy="190475"/>
            </a:xfrm>
            <a:prstGeom prst="rect">
              <a:avLst/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solidFill>
                  <a:schemeClr val="tx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42" name="Retângulo de cantos arredondados 41"/>
            <p:cNvSpPr/>
            <p:nvPr/>
          </p:nvSpPr>
          <p:spPr>
            <a:xfrm>
              <a:off x="1077873" y="2716345"/>
              <a:ext cx="542920" cy="192062"/>
            </a:xfrm>
            <a:prstGeom prst="roundRect">
              <a:avLst/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solidFill>
                  <a:schemeClr val="tx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43" name="Retângulo de cantos arredondados 42"/>
            <p:cNvSpPr/>
            <p:nvPr/>
          </p:nvSpPr>
          <p:spPr>
            <a:xfrm>
              <a:off x="2092277" y="3770308"/>
              <a:ext cx="541333" cy="192062"/>
            </a:xfrm>
            <a:prstGeom prst="roundRect">
              <a:avLst/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solidFill>
                  <a:schemeClr val="tx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44" name="Retângulo de cantos arredondados 43"/>
            <p:cNvSpPr/>
            <p:nvPr/>
          </p:nvSpPr>
          <p:spPr>
            <a:xfrm>
              <a:off x="965161" y="4189353"/>
              <a:ext cx="465134" cy="192062"/>
            </a:xfrm>
            <a:prstGeom prst="roundRect">
              <a:avLst/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solidFill>
                  <a:schemeClr val="tx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45" name="Retângulo de cantos arredondados 44"/>
            <p:cNvSpPr/>
            <p:nvPr/>
          </p:nvSpPr>
          <p:spPr>
            <a:xfrm>
              <a:off x="996911" y="4581415"/>
              <a:ext cx="465134" cy="192063"/>
            </a:xfrm>
            <a:prstGeom prst="roundRect">
              <a:avLst/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solidFill>
                  <a:schemeClr val="tx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47" name="Retângulo 46"/>
            <p:cNvSpPr/>
            <p:nvPr/>
          </p:nvSpPr>
          <p:spPr>
            <a:xfrm>
              <a:off x="288892" y="2370314"/>
              <a:ext cx="473071" cy="187301"/>
            </a:xfrm>
            <a:prstGeom prst="rect">
              <a:avLst/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solidFill>
                  <a:schemeClr val="tx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48" name="Retângulo 47"/>
            <p:cNvSpPr/>
            <p:nvPr/>
          </p:nvSpPr>
          <p:spPr>
            <a:xfrm>
              <a:off x="1147723" y="2441742"/>
              <a:ext cx="473071" cy="188888"/>
            </a:xfrm>
            <a:prstGeom prst="rect">
              <a:avLst/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solidFill>
                  <a:schemeClr val="tx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49" name="Retângulo 48"/>
            <p:cNvSpPr/>
            <p:nvPr/>
          </p:nvSpPr>
          <p:spPr>
            <a:xfrm>
              <a:off x="3968686" y="1781428"/>
              <a:ext cx="850893" cy="188888"/>
            </a:xfrm>
            <a:prstGeom prst="rect">
              <a:avLst/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solidFill>
                  <a:schemeClr val="tx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50" name="Retângulo de cantos arredondados 49"/>
            <p:cNvSpPr/>
            <p:nvPr/>
          </p:nvSpPr>
          <p:spPr>
            <a:xfrm>
              <a:off x="4343333" y="5951250"/>
              <a:ext cx="465134" cy="192062"/>
            </a:xfrm>
            <a:prstGeom prst="roundRect">
              <a:avLst/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solidFill>
                  <a:schemeClr val="tx1"/>
                </a:solidFill>
                <a:latin typeface="Tahoma" panose="020B0604030504040204" pitchFamily="34" charset="0"/>
              </a:endParaRPr>
            </a:p>
          </p:txBody>
        </p:sp>
      </p:grpSp>
      <p:sp>
        <p:nvSpPr>
          <p:cNvPr id="40" name="Text Box 3"/>
          <p:cNvSpPr txBox="1">
            <a:spLocks noChangeArrowheads="1"/>
          </p:cNvSpPr>
          <p:nvPr/>
        </p:nvSpPr>
        <p:spPr bwMode="auto">
          <a:xfrm>
            <a:off x="5116513" y="2620963"/>
            <a:ext cx="2011362" cy="1815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55600" indent="-35560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marL="177800" indent="-177800" eaLnBrk="1" hangingPunct="1">
              <a:spcBef>
                <a:spcPct val="0"/>
              </a:spcBef>
              <a:defRPr/>
            </a:pPr>
            <a:r>
              <a:rPr lang="pt-BR" altLang="pt-BR" sz="1400" dirty="0">
                <a:latin typeface="Tahoma" panose="020B0604030504040204" pitchFamily="34" charset="0"/>
              </a:rPr>
              <a:t>Uniforme Discreta</a:t>
            </a:r>
          </a:p>
          <a:p>
            <a:pPr marL="177800" indent="-177800" eaLnBrk="1" hangingPunct="1">
              <a:spcBef>
                <a:spcPct val="0"/>
              </a:spcBef>
              <a:defRPr/>
            </a:pPr>
            <a:r>
              <a:rPr lang="pt-BR" altLang="pt-BR" sz="1400" dirty="0">
                <a:latin typeface="Tahoma" panose="020B0604030504040204" pitchFamily="34" charset="0"/>
              </a:rPr>
              <a:t>Bernoulli</a:t>
            </a:r>
          </a:p>
          <a:p>
            <a:pPr marL="177800" indent="-177800" eaLnBrk="1" hangingPunct="1">
              <a:spcBef>
                <a:spcPct val="0"/>
              </a:spcBef>
              <a:defRPr/>
            </a:pPr>
            <a:r>
              <a:rPr lang="pt-BR" altLang="pt-BR" sz="1400" dirty="0">
                <a:latin typeface="Tahoma" panose="020B0604030504040204" pitchFamily="34" charset="0"/>
              </a:rPr>
              <a:t>Binomial</a:t>
            </a:r>
          </a:p>
          <a:p>
            <a:pPr marL="177800" indent="-177800" eaLnBrk="1" hangingPunct="1">
              <a:spcBef>
                <a:spcPct val="0"/>
              </a:spcBef>
              <a:defRPr/>
            </a:pPr>
            <a:r>
              <a:rPr lang="pt-BR" altLang="pt-BR" sz="1400" dirty="0">
                <a:latin typeface="Tahoma" panose="020B0604030504040204" pitchFamily="34" charset="0"/>
              </a:rPr>
              <a:t>Geométrica</a:t>
            </a:r>
          </a:p>
          <a:p>
            <a:pPr marL="177800" indent="-177800" eaLnBrk="1" hangingPunct="1">
              <a:spcBef>
                <a:spcPct val="0"/>
              </a:spcBef>
              <a:defRPr/>
            </a:pPr>
            <a:r>
              <a:rPr lang="pt-BR" altLang="pt-BR" sz="1400" dirty="0">
                <a:latin typeface="Tahoma" panose="020B0604030504040204" pitchFamily="34" charset="0"/>
              </a:rPr>
              <a:t>Binomial Negativa</a:t>
            </a:r>
          </a:p>
          <a:p>
            <a:pPr indent="0" eaLnBrk="1" hangingPunct="1">
              <a:spcBef>
                <a:spcPct val="0"/>
              </a:spcBef>
              <a:buFontTx/>
              <a:buNone/>
              <a:defRPr/>
            </a:pPr>
            <a:r>
              <a:rPr lang="pt-BR" altLang="pt-BR" sz="1400" dirty="0">
                <a:latin typeface="Tahoma" panose="020B0604030504040204" pitchFamily="34" charset="0"/>
              </a:rPr>
              <a:t>ou Pascal</a:t>
            </a:r>
          </a:p>
          <a:p>
            <a:pPr marL="177800" indent="-177800" eaLnBrk="1" hangingPunct="1">
              <a:spcBef>
                <a:spcPct val="0"/>
              </a:spcBef>
              <a:defRPr/>
            </a:pPr>
            <a:r>
              <a:rPr lang="pt-BR" altLang="pt-BR" sz="1400" dirty="0">
                <a:latin typeface="Tahoma" panose="020B0604030504040204" pitchFamily="34" charset="0"/>
              </a:rPr>
              <a:t>Hipergeométrica</a:t>
            </a:r>
          </a:p>
          <a:p>
            <a:pPr marL="177800" indent="-177800" eaLnBrk="1" hangingPunct="1">
              <a:spcBef>
                <a:spcPct val="0"/>
              </a:spcBef>
              <a:defRPr/>
            </a:pPr>
            <a:r>
              <a:rPr lang="pt-BR" altLang="pt-BR" sz="1400" dirty="0">
                <a:latin typeface="Tahoma" panose="020B0604030504040204" pitchFamily="34" charset="0"/>
              </a:rPr>
              <a:t>Poisson</a:t>
            </a:r>
          </a:p>
        </p:txBody>
      </p:sp>
      <p:sp>
        <p:nvSpPr>
          <p:cNvPr id="41" name="Text Box 3"/>
          <p:cNvSpPr txBox="1">
            <a:spLocks noChangeArrowheads="1"/>
          </p:cNvSpPr>
          <p:nvPr/>
        </p:nvSpPr>
        <p:spPr bwMode="auto">
          <a:xfrm>
            <a:off x="7034213" y="2620963"/>
            <a:ext cx="2082801" cy="1815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55600" indent="-35560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marL="177800" indent="-177800" eaLnBrk="1" hangingPunct="1">
              <a:spcBef>
                <a:spcPct val="0"/>
              </a:spcBef>
              <a:defRPr/>
            </a:pPr>
            <a:r>
              <a:rPr lang="pt-BR" altLang="pt-BR" sz="1400" dirty="0">
                <a:latin typeface="Tahoma" panose="020B0604030504040204" pitchFamily="34" charset="0"/>
              </a:rPr>
              <a:t>Uniforme</a:t>
            </a:r>
          </a:p>
          <a:p>
            <a:pPr marL="177800" indent="-177800" eaLnBrk="1" hangingPunct="1">
              <a:spcBef>
                <a:spcPct val="0"/>
              </a:spcBef>
              <a:defRPr/>
            </a:pPr>
            <a:r>
              <a:rPr lang="pt-BR" altLang="pt-BR" sz="1400" dirty="0">
                <a:latin typeface="Tahoma" panose="020B0604030504040204" pitchFamily="34" charset="0"/>
              </a:rPr>
              <a:t>Normal ou Gaussiana</a:t>
            </a:r>
          </a:p>
          <a:p>
            <a:pPr marL="177800" indent="-177800" eaLnBrk="1" hangingPunct="1">
              <a:spcBef>
                <a:spcPct val="0"/>
              </a:spcBef>
              <a:defRPr/>
            </a:pPr>
            <a:r>
              <a:rPr lang="pt-BR" altLang="pt-BR" sz="1400" dirty="0">
                <a:latin typeface="Tahoma" panose="020B0604030504040204" pitchFamily="34" charset="0"/>
              </a:rPr>
              <a:t>t de </a:t>
            </a:r>
            <a:r>
              <a:rPr lang="pt-BR" altLang="pt-BR" sz="1400" dirty="0" err="1">
                <a:latin typeface="Tahoma" panose="020B0604030504040204" pitchFamily="34" charset="0"/>
              </a:rPr>
              <a:t>Student</a:t>
            </a:r>
            <a:endParaRPr lang="pt-BR" altLang="pt-BR" sz="1400" dirty="0">
              <a:latin typeface="Tahoma" panose="020B0604030504040204" pitchFamily="34" charset="0"/>
            </a:endParaRPr>
          </a:p>
          <a:p>
            <a:pPr marL="177800" indent="-177800" eaLnBrk="1" hangingPunct="1">
              <a:spcBef>
                <a:spcPct val="0"/>
              </a:spcBef>
              <a:defRPr/>
            </a:pPr>
            <a:r>
              <a:rPr lang="pt-BR" altLang="pt-BR" sz="1400" dirty="0">
                <a:latin typeface="Tahoma" panose="020B0604030504040204" pitchFamily="34" charset="0"/>
                <a:sym typeface="Symbol"/>
              </a:rPr>
              <a:t></a:t>
            </a:r>
            <a:r>
              <a:rPr lang="pt-BR" altLang="pt-BR" sz="1400" baseline="300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2</a:t>
            </a:r>
          </a:p>
          <a:p>
            <a:pPr marL="177800" indent="-177800" eaLnBrk="1" hangingPunct="1">
              <a:spcBef>
                <a:spcPct val="0"/>
              </a:spcBef>
              <a:defRPr/>
            </a:pPr>
            <a:r>
              <a:rPr lang="pt-BR" altLang="pt-BR" sz="1400" dirty="0">
                <a:latin typeface="Tahoma" panose="020B0604030504040204" pitchFamily="34" charset="0"/>
              </a:rPr>
              <a:t>F</a:t>
            </a:r>
          </a:p>
          <a:p>
            <a:pPr marL="177800" indent="-177800" eaLnBrk="1" hangingPunct="1">
              <a:spcBef>
                <a:spcPct val="0"/>
              </a:spcBef>
              <a:defRPr/>
            </a:pPr>
            <a:r>
              <a:rPr lang="pt-BR" altLang="pt-BR" sz="1400" dirty="0">
                <a:latin typeface="Tahoma" panose="020B0604030504040204" pitchFamily="34" charset="0"/>
              </a:rPr>
              <a:t>Exponencial</a:t>
            </a:r>
          </a:p>
          <a:p>
            <a:pPr marL="177800" indent="-177800" eaLnBrk="1" hangingPunct="1">
              <a:spcBef>
                <a:spcPct val="0"/>
              </a:spcBef>
              <a:defRPr/>
            </a:pPr>
            <a:r>
              <a:rPr lang="pt-BR" altLang="pt-BR" sz="1400" dirty="0">
                <a:latin typeface="Tahoma" panose="020B0604030504040204" pitchFamily="34" charset="0"/>
              </a:rPr>
              <a:t>Rayleigh</a:t>
            </a:r>
          </a:p>
          <a:p>
            <a:pPr marL="177800" indent="-177800" eaLnBrk="1" hangingPunct="1">
              <a:spcBef>
                <a:spcPct val="0"/>
              </a:spcBef>
              <a:defRPr/>
            </a:pPr>
            <a:r>
              <a:rPr lang="pt-BR" altLang="pt-BR" sz="1400" dirty="0">
                <a:latin typeface="Tahoma" panose="020B0604030504040204" pitchFamily="34" charset="0"/>
              </a:rPr>
              <a:t>Gamma</a:t>
            </a:r>
          </a:p>
        </p:txBody>
      </p:sp>
      <p:sp>
        <p:nvSpPr>
          <p:cNvPr id="46" name="Text Box 3"/>
          <p:cNvSpPr txBox="1">
            <a:spLocks noChangeArrowheads="1"/>
          </p:cNvSpPr>
          <p:nvPr/>
        </p:nvSpPr>
        <p:spPr bwMode="auto">
          <a:xfrm>
            <a:off x="4967288" y="4724400"/>
            <a:ext cx="417671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55600" indent="-35560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pt-BR" altLang="pt-BR" sz="1600" dirty="0">
                <a:latin typeface="Tahoma" panose="020B0604030504040204" pitchFamily="34" charset="0"/>
              </a:rPr>
              <a:t>O que é importante saber:</a:t>
            </a:r>
          </a:p>
          <a:p>
            <a:pPr marL="273050" indent="-111125" eaLnBrk="1" hangingPunct="1">
              <a:spcBef>
                <a:spcPct val="0"/>
              </a:spcBef>
              <a:defRPr/>
            </a:pPr>
            <a:r>
              <a:rPr lang="pt-BR" altLang="pt-BR" sz="1600" dirty="0">
                <a:latin typeface="Tahoma" panose="020B0604030504040204" pitchFamily="34" charset="0"/>
              </a:rPr>
              <a:t>Tipo de </a:t>
            </a:r>
            <a:r>
              <a:rPr lang="pt-BR" altLang="pt-BR" sz="1600" dirty="0" err="1">
                <a:latin typeface="Tahoma" panose="020B0604030504040204" pitchFamily="34" charset="0"/>
              </a:rPr>
              <a:t>v.a</a:t>
            </a:r>
            <a:r>
              <a:rPr lang="pt-BR" altLang="pt-BR" sz="1600" dirty="0">
                <a:latin typeface="Tahoma" panose="020B0604030504040204" pitchFamily="34" charset="0"/>
              </a:rPr>
              <a:t>. (discreta ou contínua)</a:t>
            </a:r>
          </a:p>
        </p:txBody>
      </p:sp>
      <p:sp>
        <p:nvSpPr>
          <p:cNvPr id="51" name="Text Box 3"/>
          <p:cNvSpPr txBox="1">
            <a:spLocks noChangeArrowheads="1"/>
          </p:cNvSpPr>
          <p:nvPr/>
        </p:nvSpPr>
        <p:spPr bwMode="auto">
          <a:xfrm>
            <a:off x="4968875" y="5215886"/>
            <a:ext cx="417671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55600" indent="-35560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marL="273050" indent="-111125" eaLnBrk="1" hangingPunct="1">
              <a:spcBef>
                <a:spcPct val="0"/>
              </a:spcBef>
              <a:defRPr/>
            </a:pPr>
            <a:r>
              <a:rPr lang="pt-BR" altLang="pt-BR" sz="1600" dirty="0">
                <a:latin typeface="Tahoma" panose="020B0604030504040204" pitchFamily="34" charset="0"/>
              </a:rPr>
              <a:t>Escopo da </a:t>
            </a:r>
            <a:r>
              <a:rPr lang="pt-BR" altLang="pt-BR" sz="1600" dirty="0" err="1">
                <a:latin typeface="Tahoma" panose="020B0604030504040204" pitchFamily="34" charset="0"/>
              </a:rPr>
              <a:t>v.a</a:t>
            </a:r>
            <a:r>
              <a:rPr lang="pt-BR" altLang="pt-BR" sz="1600" dirty="0">
                <a:latin typeface="Tahoma" panose="020B0604030504040204" pitchFamily="34" charset="0"/>
              </a:rPr>
              <a:t>. (mínimo e máximo)</a:t>
            </a:r>
          </a:p>
        </p:txBody>
      </p:sp>
    </p:spTree>
    <p:extLst>
      <p:ext uri="{BB962C8B-B14F-4D97-AF65-F5344CB8AC3E}">
        <p14:creationId xmlns:p14="http://schemas.microsoft.com/office/powerpoint/2010/main" val="360436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  <p:bldP spid="54" grpId="0" build="p"/>
      <p:bldP spid="4" grpId="0" animBg="1"/>
      <p:bldP spid="6" grpId="0" animBg="1"/>
      <p:bldP spid="40" grpId="0"/>
      <p:bldP spid="41" grpId="0"/>
      <p:bldP spid="46" grpId="0" build="p"/>
      <p:bldP spid="5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62" name="Text Box 6"/>
          <p:cNvSpPr txBox="1">
            <a:spLocks noChangeArrowheads="1"/>
          </p:cNvSpPr>
          <p:nvPr/>
        </p:nvSpPr>
        <p:spPr bwMode="auto">
          <a:xfrm>
            <a:off x="847725" y="5076825"/>
            <a:ext cx="838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f</a:t>
            </a:r>
            <a:r>
              <a:rPr lang="pt-BR" altLang="pt-BR" sz="1600">
                <a:latin typeface="Times New Roman" pitchFamily="18" charset="0"/>
              </a:rPr>
              <a:t>(</a:t>
            </a:r>
            <a:r>
              <a:rPr lang="pt-BR" altLang="pt-BR" sz="1600" i="1">
                <a:latin typeface="Times New Roman" pitchFamily="18" charset="0"/>
              </a:rPr>
              <a:t>x</a:t>
            </a:r>
            <a:r>
              <a:rPr lang="pt-BR" altLang="pt-BR" sz="1600">
                <a:latin typeface="Times New Roman" pitchFamily="18" charset="0"/>
              </a:rPr>
              <a:t>) = ?</a:t>
            </a:r>
          </a:p>
        </p:txBody>
      </p:sp>
      <p:graphicFrame>
        <p:nvGraphicFramePr>
          <p:cNvPr id="96281" name="Object 25"/>
          <p:cNvGraphicFramePr>
            <a:graphicFrameLocks noChangeAspect="1"/>
          </p:cNvGraphicFramePr>
          <p:nvPr/>
        </p:nvGraphicFramePr>
        <p:xfrm>
          <a:off x="1447800" y="4953000"/>
          <a:ext cx="200025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9639" imgH="393529" progId="Equation.DSMT4">
                  <p:embed/>
                </p:oleObj>
              </mc:Choice>
              <mc:Fallback>
                <p:oleObj name="Equation" r:id="rId2" imgW="139639" imgH="393529" progId="Equation.DSMT4">
                  <p:embed/>
                  <p:pic>
                    <p:nvPicPr>
                      <p:cNvPr id="96281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4953000"/>
                        <a:ext cx="200025" cy="5651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261" name="Text Box 5"/>
          <p:cNvSpPr txBox="1">
            <a:spLocks noChangeArrowheads="1"/>
          </p:cNvSpPr>
          <p:nvPr/>
        </p:nvSpPr>
        <p:spPr bwMode="auto">
          <a:xfrm>
            <a:off x="838200" y="3344863"/>
            <a:ext cx="8001000" cy="155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solidFill>
                  <a:schemeClr val="bg1"/>
                </a:solidFill>
                <a:latin typeface="Times New Roman" pitchFamily="18" charset="0"/>
              </a:rPr>
              <a:t>P</a:t>
            </a:r>
            <a:r>
              <a:rPr lang="pt-BR" altLang="pt-BR" sz="1600">
                <a:solidFill>
                  <a:schemeClr val="bg1"/>
                </a:solidFill>
                <a:latin typeface="Times New Roman" pitchFamily="18" charset="0"/>
              </a:rPr>
              <a:t>(</a:t>
            </a:r>
            <a:r>
              <a:rPr lang="pt-BR" altLang="pt-BR" sz="1600" i="1">
                <a:solidFill>
                  <a:schemeClr val="bg1"/>
                </a:solidFill>
                <a:latin typeface="Times New Roman" pitchFamily="18" charset="0"/>
              </a:rPr>
              <a:t>X</a:t>
            </a:r>
            <a:r>
              <a:rPr lang="pt-BR" altLang="pt-BR" sz="1600">
                <a:solidFill>
                  <a:schemeClr val="bg1"/>
                </a:solidFill>
                <a:latin typeface="Times New Roman" pitchFamily="18" charset="0"/>
              </a:rPr>
              <a:t> = 1) =</a:t>
            </a:r>
            <a:r>
              <a:rPr lang="pt-BR" altLang="pt-BR" sz="1600">
                <a:latin typeface="Times New Roman" pitchFamily="18" charset="0"/>
              </a:rPr>
              <a:t> 1/6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P</a:t>
            </a:r>
            <a:r>
              <a:rPr lang="pt-BR" altLang="pt-BR" sz="1600">
                <a:latin typeface="Times New Roman" pitchFamily="18" charset="0"/>
              </a:rPr>
              <a:t>(</a:t>
            </a:r>
            <a:r>
              <a:rPr lang="pt-BR" altLang="pt-BR" sz="1600" i="1">
                <a:latin typeface="Times New Roman" pitchFamily="18" charset="0"/>
              </a:rPr>
              <a:t>X</a:t>
            </a:r>
            <a:r>
              <a:rPr lang="pt-BR" altLang="pt-BR" sz="1600">
                <a:latin typeface="Times New Roman" pitchFamily="18" charset="0"/>
              </a:rPr>
              <a:t> = 2) = 1/6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P</a:t>
            </a:r>
            <a:r>
              <a:rPr lang="pt-BR" altLang="pt-BR" sz="1600">
                <a:latin typeface="Times New Roman" pitchFamily="18" charset="0"/>
              </a:rPr>
              <a:t>(</a:t>
            </a:r>
            <a:r>
              <a:rPr lang="pt-BR" altLang="pt-BR" sz="1600" i="1">
                <a:latin typeface="Times New Roman" pitchFamily="18" charset="0"/>
              </a:rPr>
              <a:t>X</a:t>
            </a:r>
            <a:r>
              <a:rPr lang="pt-BR" altLang="pt-BR" sz="1600">
                <a:latin typeface="Times New Roman" pitchFamily="18" charset="0"/>
              </a:rPr>
              <a:t> = 3) = 1/6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P</a:t>
            </a:r>
            <a:r>
              <a:rPr lang="pt-BR" altLang="pt-BR" sz="1600">
                <a:latin typeface="Times New Roman" pitchFamily="18" charset="0"/>
              </a:rPr>
              <a:t>(</a:t>
            </a:r>
            <a:r>
              <a:rPr lang="pt-BR" altLang="pt-BR" sz="1600" i="1">
                <a:latin typeface="Times New Roman" pitchFamily="18" charset="0"/>
              </a:rPr>
              <a:t>X</a:t>
            </a:r>
            <a:r>
              <a:rPr lang="pt-BR" altLang="pt-BR" sz="1600">
                <a:latin typeface="Times New Roman" pitchFamily="18" charset="0"/>
              </a:rPr>
              <a:t> = 4) = 1/6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P</a:t>
            </a:r>
            <a:r>
              <a:rPr lang="pt-BR" altLang="pt-BR" sz="1600">
                <a:latin typeface="Times New Roman" pitchFamily="18" charset="0"/>
              </a:rPr>
              <a:t>(</a:t>
            </a:r>
            <a:r>
              <a:rPr lang="pt-BR" altLang="pt-BR" sz="1600" i="1">
                <a:latin typeface="Times New Roman" pitchFamily="18" charset="0"/>
              </a:rPr>
              <a:t>X</a:t>
            </a:r>
            <a:r>
              <a:rPr lang="pt-BR" altLang="pt-BR" sz="1600">
                <a:latin typeface="Times New Roman" pitchFamily="18" charset="0"/>
              </a:rPr>
              <a:t> = 5) = 1/6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P</a:t>
            </a:r>
            <a:r>
              <a:rPr lang="pt-BR" altLang="pt-BR" sz="1600">
                <a:latin typeface="Times New Roman" pitchFamily="18" charset="0"/>
              </a:rPr>
              <a:t>(</a:t>
            </a:r>
            <a:r>
              <a:rPr lang="pt-BR" altLang="pt-BR" sz="1600" i="1">
                <a:latin typeface="Times New Roman" pitchFamily="18" charset="0"/>
              </a:rPr>
              <a:t>X</a:t>
            </a:r>
            <a:r>
              <a:rPr lang="pt-BR" altLang="pt-BR" sz="1600">
                <a:latin typeface="Times New Roman" pitchFamily="18" charset="0"/>
              </a:rPr>
              <a:t> = 6) = 1/6</a:t>
            </a:r>
          </a:p>
        </p:txBody>
      </p:sp>
      <p:sp>
        <p:nvSpPr>
          <p:cNvPr id="96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Distribuição Uniforme Discreta</a:t>
            </a:r>
          </a:p>
        </p:txBody>
      </p:sp>
      <p:sp>
        <p:nvSpPr>
          <p:cNvPr id="4102" name="Text Box 3"/>
          <p:cNvSpPr txBox="1">
            <a:spLocks noChangeArrowheads="1"/>
          </p:cNvSpPr>
          <p:nvPr/>
        </p:nvSpPr>
        <p:spPr bwMode="auto">
          <a:xfrm>
            <a:off x="841375" y="1600200"/>
            <a:ext cx="784542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Considere uma v.a. </a:t>
            </a:r>
            <a:r>
              <a:rPr lang="pt-BR" altLang="pt-BR" sz="1600" i="1" dirty="0">
                <a:latin typeface="Times New Roman" pitchFamily="18" charset="0"/>
              </a:rPr>
              <a:t>X</a:t>
            </a:r>
            <a:r>
              <a:rPr lang="pt-BR" altLang="pt-BR" sz="1600" dirty="0">
                <a:latin typeface="Tahoma" panose="020B0604030504040204" pitchFamily="34" charset="0"/>
              </a:rPr>
              <a:t> cujos valores são inteiros de </a:t>
            </a:r>
            <a:r>
              <a:rPr lang="pt-BR" altLang="pt-BR" sz="1600" dirty="0">
                <a:solidFill>
                  <a:srgbClr val="FF0000"/>
                </a:solidFill>
                <a:latin typeface="Times New Roman" pitchFamily="18" charset="0"/>
              </a:rPr>
              <a:t>1</a:t>
            </a: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</a:rPr>
              <a:t> a </a:t>
            </a:r>
            <a:r>
              <a:rPr lang="pt-BR" altLang="pt-BR" sz="1600" i="1" dirty="0">
                <a:solidFill>
                  <a:srgbClr val="FF0000"/>
                </a:solidFill>
                <a:latin typeface="Times New Roman" pitchFamily="18" charset="0"/>
              </a:rPr>
              <a:t>N</a:t>
            </a:r>
            <a:r>
              <a:rPr lang="pt-BR" altLang="pt-BR" sz="1600" dirty="0">
                <a:latin typeface="Tahoma" panose="020B0604030504040204" pitchFamily="34" charset="0"/>
              </a:rPr>
              <a:t>, equiprováveis, ou seja, todos os valores têm igual probabilidade de ocorrência.</a:t>
            </a:r>
          </a:p>
        </p:txBody>
      </p:sp>
      <p:sp>
        <p:nvSpPr>
          <p:cNvPr id="96260" name="Text Box 4"/>
          <p:cNvSpPr txBox="1">
            <a:spLocks noChangeArrowheads="1"/>
          </p:cNvSpPr>
          <p:nvPr/>
        </p:nvSpPr>
        <p:spPr bwMode="auto">
          <a:xfrm>
            <a:off x="838200" y="2362200"/>
            <a:ext cx="8001000" cy="131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Exemplo: Lança-se um dado e define-se uma v.a. </a:t>
            </a:r>
            <a:r>
              <a:rPr lang="pt-BR" altLang="pt-BR" sz="1600" i="1" dirty="0">
                <a:latin typeface="Times New Roman" pitchFamily="18" charset="0"/>
              </a:rPr>
              <a:t>X</a:t>
            </a:r>
            <a:r>
              <a:rPr lang="pt-BR" altLang="pt-BR" sz="1600" dirty="0">
                <a:latin typeface="Tahoma" panose="020B0604030504040204" pitchFamily="34" charset="0"/>
              </a:rPr>
              <a:t> como o valor obtido neste dado.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 dirty="0">
                <a:latin typeface="Times New Roman" pitchFamily="18" charset="0"/>
              </a:rPr>
              <a:t>X</a:t>
            </a:r>
            <a:r>
              <a:rPr lang="pt-BR" altLang="pt-BR" sz="1600" dirty="0">
                <a:latin typeface="Times New Roman" pitchFamily="18" charset="0"/>
              </a:rPr>
              <a:t>: {1, 2, 3, 4, 5, 6}</a:t>
            </a:r>
            <a:endParaRPr lang="pt-BR" altLang="pt-BR" sz="16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 dirty="0">
                <a:latin typeface="Times New Roman" pitchFamily="18" charset="0"/>
              </a:rPr>
              <a:t>P</a:t>
            </a:r>
            <a:r>
              <a:rPr lang="pt-BR" altLang="pt-BR" sz="1600" dirty="0">
                <a:latin typeface="Times New Roman" pitchFamily="18" charset="0"/>
              </a:rPr>
              <a:t>(</a:t>
            </a:r>
            <a:r>
              <a:rPr lang="pt-BR" altLang="pt-BR" sz="1600" i="1" dirty="0">
                <a:latin typeface="Times New Roman" pitchFamily="18" charset="0"/>
              </a:rPr>
              <a:t>X</a:t>
            </a:r>
            <a:r>
              <a:rPr lang="pt-BR" altLang="pt-BR" sz="1600" dirty="0">
                <a:latin typeface="Times New Roman" pitchFamily="18" charset="0"/>
              </a:rPr>
              <a:t> = 1) =</a:t>
            </a:r>
          </a:p>
        </p:txBody>
      </p:sp>
      <p:graphicFrame>
        <p:nvGraphicFramePr>
          <p:cNvPr id="96264" name="Object 8"/>
          <p:cNvGraphicFramePr>
            <a:graphicFrameLocks noChangeAspect="1"/>
          </p:cNvGraphicFramePr>
          <p:nvPr/>
        </p:nvGraphicFramePr>
        <p:xfrm>
          <a:off x="1416050" y="4953000"/>
          <a:ext cx="290513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3112" imgH="393529" progId="Equation.DSMT4">
                  <p:embed/>
                </p:oleObj>
              </mc:Choice>
              <mc:Fallback>
                <p:oleObj name="Equation" r:id="rId4" imgW="203112" imgH="393529" progId="Equation.DSMT4">
                  <p:embed/>
                  <p:pic>
                    <p:nvPicPr>
                      <p:cNvPr id="96264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6050" y="4953000"/>
                        <a:ext cx="290513" cy="5651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265" name="Object 9"/>
          <p:cNvGraphicFramePr>
            <a:graphicFrameLocks noChangeAspect="1"/>
          </p:cNvGraphicFramePr>
          <p:nvPr/>
        </p:nvGraphicFramePr>
        <p:xfrm>
          <a:off x="838200" y="5705475"/>
          <a:ext cx="1052513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36600" imgH="431800" progId="Equation.DSMT4">
                  <p:embed/>
                </p:oleObj>
              </mc:Choice>
              <mc:Fallback>
                <p:oleObj name="Equation" r:id="rId6" imgW="736600" imgH="431800" progId="Equation.DSMT4">
                  <p:embed/>
                  <p:pic>
                    <p:nvPicPr>
                      <p:cNvPr id="96265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5705475"/>
                        <a:ext cx="1052513" cy="619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266" name="Object 10"/>
          <p:cNvGraphicFramePr>
            <a:graphicFrameLocks noChangeAspect="1"/>
          </p:cNvGraphicFramePr>
          <p:nvPr/>
        </p:nvGraphicFramePr>
        <p:xfrm>
          <a:off x="3116263" y="2727325"/>
          <a:ext cx="1978025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384300" imgH="431800" progId="Equation.DSMT4">
                  <p:embed/>
                </p:oleObj>
              </mc:Choice>
              <mc:Fallback>
                <p:oleObj name="Equation" r:id="rId8" imgW="1384300" imgH="431800" progId="Equation.DSMT4">
                  <p:embed/>
                  <p:pic>
                    <p:nvPicPr>
                      <p:cNvPr id="96266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6263" y="2727325"/>
                        <a:ext cx="1978025" cy="619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4"/>
          <p:cNvGrpSpPr>
            <a:grpSpLocks/>
          </p:cNvGrpSpPr>
          <p:nvPr/>
        </p:nvGrpSpPr>
        <p:grpSpPr bwMode="auto">
          <a:xfrm>
            <a:off x="4167188" y="2803525"/>
            <a:ext cx="1520825" cy="641350"/>
            <a:chOff x="2640" y="1776"/>
            <a:chExt cx="958" cy="404"/>
          </a:xfrm>
        </p:grpSpPr>
        <p:sp>
          <p:nvSpPr>
            <p:cNvPr id="4119" name="Oval 11"/>
            <p:cNvSpPr>
              <a:spLocks noChangeArrowheads="1"/>
            </p:cNvSpPr>
            <p:nvPr/>
          </p:nvSpPr>
          <p:spPr bwMode="auto">
            <a:xfrm>
              <a:off x="2640" y="1776"/>
              <a:ext cx="672" cy="288"/>
            </a:xfrm>
            <a:prstGeom prst="ellips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graphicFrame>
          <p:nvGraphicFramePr>
            <p:cNvPr id="4120" name="Object 13"/>
            <p:cNvGraphicFramePr>
              <a:graphicFrameLocks noChangeAspect="1"/>
            </p:cNvGraphicFramePr>
            <p:nvPr/>
          </p:nvGraphicFramePr>
          <p:xfrm>
            <a:off x="3312" y="1824"/>
            <a:ext cx="286" cy="3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317225" imgH="393359" progId="Equation.DSMT4">
                    <p:embed/>
                  </p:oleObj>
                </mc:Choice>
                <mc:Fallback>
                  <p:oleObj name="Equation" r:id="rId10" imgW="317225" imgH="393359" progId="Equation.DSMT4">
                    <p:embed/>
                    <p:pic>
                      <p:nvPicPr>
                        <p:cNvPr id="412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12" y="1824"/>
                          <a:ext cx="286" cy="3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6271" name="Object 15"/>
          <p:cNvGraphicFramePr>
            <a:graphicFrameLocks noChangeAspect="1"/>
          </p:cNvGraphicFramePr>
          <p:nvPr/>
        </p:nvGraphicFramePr>
        <p:xfrm>
          <a:off x="3116263" y="3348038"/>
          <a:ext cx="1416050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990170" imgH="431613" progId="Equation.DSMT4">
                  <p:embed/>
                </p:oleObj>
              </mc:Choice>
              <mc:Fallback>
                <p:oleObj name="Equation" r:id="rId12" imgW="990170" imgH="431613" progId="Equation.DSMT4">
                  <p:embed/>
                  <p:pic>
                    <p:nvPicPr>
                      <p:cNvPr id="96271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6263" y="3348038"/>
                        <a:ext cx="1416050" cy="619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8"/>
          <p:cNvGrpSpPr>
            <a:grpSpLocks/>
          </p:cNvGrpSpPr>
          <p:nvPr/>
        </p:nvGrpSpPr>
        <p:grpSpPr bwMode="auto">
          <a:xfrm>
            <a:off x="4014788" y="3352800"/>
            <a:ext cx="1620837" cy="841375"/>
            <a:chOff x="2544" y="2112"/>
            <a:chExt cx="1021" cy="530"/>
          </a:xfrm>
        </p:grpSpPr>
        <p:sp>
          <p:nvSpPr>
            <p:cNvPr id="4117" name="Oval 16"/>
            <p:cNvSpPr>
              <a:spLocks noChangeArrowheads="1"/>
            </p:cNvSpPr>
            <p:nvPr/>
          </p:nvSpPr>
          <p:spPr bwMode="auto">
            <a:xfrm>
              <a:off x="2544" y="2112"/>
              <a:ext cx="336" cy="432"/>
            </a:xfrm>
            <a:prstGeom prst="ellips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graphicFrame>
          <p:nvGraphicFramePr>
            <p:cNvPr id="4118" name="Object 17"/>
            <p:cNvGraphicFramePr>
              <a:graphicFrameLocks noChangeAspect="1"/>
            </p:cNvGraphicFramePr>
            <p:nvPr/>
          </p:nvGraphicFramePr>
          <p:xfrm>
            <a:off x="2890" y="2286"/>
            <a:ext cx="675" cy="3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748975" imgH="393529" progId="Equation.DSMT4">
                    <p:embed/>
                  </p:oleObj>
                </mc:Choice>
                <mc:Fallback>
                  <p:oleObj name="Equation" r:id="rId14" imgW="748975" imgH="393529" progId="Equation.DSMT4">
                    <p:embed/>
                    <p:pic>
                      <p:nvPicPr>
                        <p:cNvPr id="4118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90" y="2286"/>
                          <a:ext cx="675" cy="3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6275" name="Object 19"/>
          <p:cNvGraphicFramePr>
            <a:graphicFrameLocks noChangeAspect="1"/>
          </p:cNvGraphicFramePr>
          <p:nvPr/>
        </p:nvGraphicFramePr>
        <p:xfrm>
          <a:off x="3116263" y="4006850"/>
          <a:ext cx="1870075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307532" imgH="393529" progId="Equation.DSMT4">
                  <p:embed/>
                </p:oleObj>
              </mc:Choice>
              <mc:Fallback>
                <p:oleObj name="Equation" r:id="rId16" imgW="1307532" imgH="393529" progId="Equation.DSMT4">
                  <p:embed/>
                  <p:pic>
                    <p:nvPicPr>
                      <p:cNvPr id="96275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6263" y="4006850"/>
                        <a:ext cx="1870075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22"/>
          <p:cNvGrpSpPr>
            <a:grpSpLocks/>
          </p:cNvGrpSpPr>
          <p:nvPr/>
        </p:nvGrpSpPr>
        <p:grpSpPr bwMode="auto">
          <a:xfrm>
            <a:off x="3886200" y="4078288"/>
            <a:ext cx="433388" cy="417512"/>
            <a:chOff x="2448" y="2569"/>
            <a:chExt cx="273" cy="263"/>
          </a:xfrm>
        </p:grpSpPr>
        <p:sp>
          <p:nvSpPr>
            <p:cNvPr id="4115" name="Line 20"/>
            <p:cNvSpPr>
              <a:spLocks noChangeShapeType="1"/>
            </p:cNvSpPr>
            <p:nvPr/>
          </p:nvSpPr>
          <p:spPr bwMode="auto">
            <a:xfrm flipH="1">
              <a:off x="2448" y="2736"/>
              <a:ext cx="144" cy="96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4116" name="Line 21"/>
            <p:cNvSpPr>
              <a:spLocks noChangeShapeType="1"/>
            </p:cNvSpPr>
            <p:nvPr/>
          </p:nvSpPr>
          <p:spPr bwMode="auto">
            <a:xfrm flipH="1">
              <a:off x="2577" y="2569"/>
              <a:ext cx="144" cy="96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</p:grpSp>
      <p:graphicFrame>
        <p:nvGraphicFramePr>
          <p:cNvPr id="96279" name="Object 23"/>
          <p:cNvGraphicFramePr>
            <a:graphicFrameLocks noChangeAspect="1"/>
          </p:cNvGraphicFramePr>
          <p:nvPr/>
        </p:nvGraphicFramePr>
        <p:xfrm>
          <a:off x="3116263" y="4724400"/>
          <a:ext cx="1289050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901309" imgH="393529" progId="Equation.DSMT4">
                  <p:embed/>
                </p:oleObj>
              </mc:Choice>
              <mc:Fallback>
                <p:oleObj name="Equation" r:id="rId18" imgW="901309" imgH="393529" progId="Equation.DSMT4">
                  <p:embed/>
                  <p:pic>
                    <p:nvPicPr>
                      <p:cNvPr id="96279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6263" y="4724400"/>
                        <a:ext cx="1289050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280" name="Rectangle 24"/>
          <p:cNvSpPr>
            <a:spLocks noChangeArrowheads="1"/>
          </p:cNvSpPr>
          <p:nvPr/>
        </p:nvSpPr>
        <p:spPr bwMode="auto">
          <a:xfrm>
            <a:off x="3048000" y="4648200"/>
            <a:ext cx="1447800" cy="685800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E77492-FDD9-404B-AF01-82BF365CBFDA}" type="slidenum">
              <a:rPr lang="pt-BR"/>
              <a:pPr>
                <a:defRPr/>
              </a:pPr>
              <a:t>4</a:t>
            </a:fld>
            <a:endParaRPr lang="pt-BR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2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2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2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2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2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2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2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2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26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6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262" grpId="0" autoUpdateAnimBg="0"/>
      <p:bldP spid="96261" grpId="0" build="p" autoUpdateAnimBg="0"/>
      <p:bldP spid="96260" grpId="0" build="p" autoUpdateAnimBg="0"/>
      <p:bldP spid="9628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Distribuição Uniforme Discreta</a:t>
            </a:r>
          </a:p>
        </p:txBody>
      </p:sp>
      <p:sp>
        <p:nvSpPr>
          <p:cNvPr id="5123" name="Text Box 5"/>
          <p:cNvSpPr txBox="1">
            <a:spLocks noChangeArrowheads="1"/>
          </p:cNvSpPr>
          <p:nvPr/>
        </p:nvSpPr>
        <p:spPr bwMode="auto">
          <a:xfrm>
            <a:off x="838200" y="2362200"/>
            <a:ext cx="8001000" cy="253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Exemplo: Lança-se um dado e define-se uma v.a. </a:t>
            </a:r>
            <a:r>
              <a:rPr lang="pt-BR" altLang="pt-BR" sz="1600" i="1" dirty="0">
                <a:latin typeface="Times New Roman" pitchFamily="18" charset="0"/>
              </a:rPr>
              <a:t>X</a:t>
            </a:r>
            <a:r>
              <a:rPr lang="pt-BR" altLang="pt-BR" sz="1600" dirty="0">
                <a:latin typeface="Tahoma" panose="020B0604030504040204" pitchFamily="34" charset="0"/>
              </a:rPr>
              <a:t> como o valor obtido neste dado.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 dirty="0">
                <a:latin typeface="Times New Roman" pitchFamily="18" charset="0"/>
              </a:rPr>
              <a:t>X</a:t>
            </a:r>
            <a:r>
              <a:rPr lang="pt-BR" altLang="pt-BR" sz="1600" dirty="0">
                <a:latin typeface="Times New Roman" pitchFamily="18" charset="0"/>
              </a:rPr>
              <a:t>: {1, 2, 3, 4, 5, 6}</a:t>
            </a:r>
            <a:endParaRPr lang="pt-BR" altLang="pt-BR" sz="16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 dirty="0">
                <a:latin typeface="Times New Roman" pitchFamily="18" charset="0"/>
              </a:rPr>
              <a:t>P</a:t>
            </a:r>
            <a:r>
              <a:rPr lang="pt-BR" altLang="pt-BR" sz="1600" dirty="0">
                <a:latin typeface="Times New Roman" pitchFamily="18" charset="0"/>
              </a:rPr>
              <a:t>(</a:t>
            </a:r>
            <a:r>
              <a:rPr lang="pt-BR" altLang="pt-BR" sz="1600" i="1" dirty="0">
                <a:latin typeface="Times New Roman" pitchFamily="18" charset="0"/>
              </a:rPr>
              <a:t>X</a:t>
            </a:r>
            <a:r>
              <a:rPr lang="pt-BR" altLang="pt-BR" sz="1600" dirty="0">
                <a:latin typeface="Times New Roman" pitchFamily="18" charset="0"/>
              </a:rPr>
              <a:t> = 1) = 1/6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 dirty="0">
                <a:latin typeface="Times New Roman" pitchFamily="18" charset="0"/>
              </a:rPr>
              <a:t>P</a:t>
            </a:r>
            <a:r>
              <a:rPr lang="pt-BR" altLang="pt-BR" sz="1600" dirty="0">
                <a:latin typeface="Times New Roman" pitchFamily="18" charset="0"/>
              </a:rPr>
              <a:t>(</a:t>
            </a:r>
            <a:r>
              <a:rPr lang="pt-BR" altLang="pt-BR" sz="1600" i="1" dirty="0">
                <a:latin typeface="Times New Roman" pitchFamily="18" charset="0"/>
              </a:rPr>
              <a:t>X</a:t>
            </a:r>
            <a:r>
              <a:rPr lang="pt-BR" altLang="pt-BR" sz="1600" dirty="0">
                <a:latin typeface="Times New Roman" pitchFamily="18" charset="0"/>
              </a:rPr>
              <a:t> = 2) = 1/6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 dirty="0">
                <a:latin typeface="Times New Roman" pitchFamily="18" charset="0"/>
              </a:rPr>
              <a:t>P</a:t>
            </a:r>
            <a:r>
              <a:rPr lang="pt-BR" altLang="pt-BR" sz="1600" dirty="0">
                <a:latin typeface="Times New Roman" pitchFamily="18" charset="0"/>
              </a:rPr>
              <a:t>(</a:t>
            </a:r>
            <a:r>
              <a:rPr lang="pt-BR" altLang="pt-BR" sz="1600" i="1" dirty="0">
                <a:latin typeface="Times New Roman" pitchFamily="18" charset="0"/>
              </a:rPr>
              <a:t>X</a:t>
            </a:r>
            <a:r>
              <a:rPr lang="pt-BR" altLang="pt-BR" sz="1600" dirty="0">
                <a:latin typeface="Times New Roman" pitchFamily="18" charset="0"/>
              </a:rPr>
              <a:t> = 3) = 1/6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 dirty="0">
                <a:latin typeface="Times New Roman" pitchFamily="18" charset="0"/>
              </a:rPr>
              <a:t>P</a:t>
            </a:r>
            <a:r>
              <a:rPr lang="pt-BR" altLang="pt-BR" sz="1600" dirty="0">
                <a:latin typeface="Times New Roman" pitchFamily="18" charset="0"/>
              </a:rPr>
              <a:t>(</a:t>
            </a:r>
            <a:r>
              <a:rPr lang="pt-BR" altLang="pt-BR" sz="1600" i="1" dirty="0">
                <a:latin typeface="Times New Roman" pitchFamily="18" charset="0"/>
              </a:rPr>
              <a:t>X</a:t>
            </a:r>
            <a:r>
              <a:rPr lang="pt-BR" altLang="pt-BR" sz="1600" dirty="0">
                <a:latin typeface="Times New Roman" pitchFamily="18" charset="0"/>
              </a:rPr>
              <a:t> = 4) = 1/6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 dirty="0">
                <a:latin typeface="Times New Roman" pitchFamily="18" charset="0"/>
              </a:rPr>
              <a:t>P</a:t>
            </a:r>
            <a:r>
              <a:rPr lang="pt-BR" altLang="pt-BR" sz="1600" dirty="0">
                <a:latin typeface="Times New Roman" pitchFamily="18" charset="0"/>
              </a:rPr>
              <a:t>(</a:t>
            </a:r>
            <a:r>
              <a:rPr lang="pt-BR" altLang="pt-BR" sz="1600" i="1" dirty="0">
                <a:latin typeface="Times New Roman" pitchFamily="18" charset="0"/>
              </a:rPr>
              <a:t>X</a:t>
            </a:r>
            <a:r>
              <a:rPr lang="pt-BR" altLang="pt-BR" sz="1600" dirty="0">
                <a:latin typeface="Times New Roman" pitchFamily="18" charset="0"/>
              </a:rPr>
              <a:t> = 5) = 1/6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 dirty="0">
                <a:latin typeface="Times New Roman" pitchFamily="18" charset="0"/>
              </a:rPr>
              <a:t>P</a:t>
            </a:r>
            <a:r>
              <a:rPr lang="pt-BR" altLang="pt-BR" sz="1600" dirty="0">
                <a:latin typeface="Times New Roman" pitchFamily="18" charset="0"/>
              </a:rPr>
              <a:t>(</a:t>
            </a:r>
            <a:r>
              <a:rPr lang="pt-BR" altLang="pt-BR" sz="1600" i="1" dirty="0">
                <a:latin typeface="Times New Roman" pitchFamily="18" charset="0"/>
              </a:rPr>
              <a:t>X</a:t>
            </a:r>
            <a:r>
              <a:rPr lang="pt-BR" altLang="pt-BR" sz="1600" dirty="0">
                <a:latin typeface="Times New Roman" pitchFamily="18" charset="0"/>
              </a:rPr>
              <a:t> = 6) = 1/6</a:t>
            </a:r>
          </a:p>
        </p:txBody>
      </p:sp>
      <p:sp>
        <p:nvSpPr>
          <p:cNvPr id="5124" name="Text Box 6"/>
          <p:cNvSpPr txBox="1">
            <a:spLocks noChangeArrowheads="1"/>
          </p:cNvSpPr>
          <p:nvPr/>
        </p:nvSpPr>
        <p:spPr bwMode="auto">
          <a:xfrm>
            <a:off x="838200" y="5076825"/>
            <a:ext cx="838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f</a:t>
            </a:r>
            <a:r>
              <a:rPr lang="pt-BR" altLang="pt-BR" sz="1600">
                <a:latin typeface="Times New Roman" pitchFamily="18" charset="0"/>
              </a:rPr>
              <a:t>(</a:t>
            </a:r>
            <a:r>
              <a:rPr lang="pt-BR" altLang="pt-BR" sz="1600" i="1">
                <a:latin typeface="Times New Roman" pitchFamily="18" charset="0"/>
              </a:rPr>
              <a:t>x</a:t>
            </a:r>
            <a:r>
              <a:rPr lang="pt-BR" altLang="pt-BR" sz="1600">
                <a:latin typeface="Times New Roman" pitchFamily="18" charset="0"/>
              </a:rPr>
              <a:t>) =</a:t>
            </a:r>
          </a:p>
        </p:txBody>
      </p:sp>
      <p:graphicFrame>
        <p:nvGraphicFramePr>
          <p:cNvPr id="5125" name="Object 7"/>
          <p:cNvGraphicFramePr>
            <a:graphicFrameLocks noChangeAspect="1"/>
          </p:cNvGraphicFramePr>
          <p:nvPr/>
        </p:nvGraphicFramePr>
        <p:xfrm>
          <a:off x="1416050" y="4953000"/>
          <a:ext cx="290513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3112" imgH="393529" progId="Equation.DSMT4">
                  <p:embed/>
                </p:oleObj>
              </mc:Choice>
              <mc:Fallback>
                <p:oleObj name="Equation" r:id="rId2" imgW="203112" imgH="393529" progId="Equation.DSMT4">
                  <p:embed/>
                  <p:pic>
                    <p:nvPicPr>
                      <p:cNvPr id="512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6050" y="4953000"/>
                        <a:ext cx="290513" cy="5651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6" name="Object 23"/>
          <p:cNvGraphicFramePr>
            <a:graphicFrameLocks noChangeAspect="1"/>
          </p:cNvGraphicFramePr>
          <p:nvPr/>
        </p:nvGraphicFramePr>
        <p:xfrm>
          <a:off x="3124200" y="2873375"/>
          <a:ext cx="2433638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01800" imgH="228600" progId="Equation.DSMT4">
                  <p:embed/>
                </p:oleObj>
              </mc:Choice>
              <mc:Fallback>
                <p:oleObj name="Equation" r:id="rId4" imgW="1701800" imgH="228600" progId="Equation.DSMT4">
                  <p:embed/>
                  <p:pic>
                    <p:nvPicPr>
                      <p:cNvPr id="5126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2873375"/>
                        <a:ext cx="2433638" cy="32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306" name="Object 26"/>
          <p:cNvGraphicFramePr>
            <a:graphicFrameLocks noChangeAspect="1"/>
          </p:cNvGraphicFramePr>
          <p:nvPr/>
        </p:nvGraphicFramePr>
        <p:xfrm>
          <a:off x="3124200" y="3286125"/>
          <a:ext cx="2160588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11300" imgH="431800" progId="Equation.DSMT4">
                  <p:embed/>
                </p:oleObj>
              </mc:Choice>
              <mc:Fallback>
                <p:oleObj name="Equation" r:id="rId6" imgW="1511300" imgH="431800" progId="Equation.DSMT4">
                  <p:embed/>
                  <p:pic>
                    <p:nvPicPr>
                      <p:cNvPr id="97306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3286125"/>
                        <a:ext cx="2160588" cy="619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27"/>
          <p:cNvGrpSpPr>
            <a:grpSpLocks/>
          </p:cNvGrpSpPr>
          <p:nvPr/>
        </p:nvGrpSpPr>
        <p:grpSpPr bwMode="auto">
          <a:xfrm>
            <a:off x="4310063" y="3367088"/>
            <a:ext cx="1520825" cy="641350"/>
            <a:chOff x="2640" y="1776"/>
            <a:chExt cx="958" cy="404"/>
          </a:xfrm>
        </p:grpSpPr>
        <p:sp>
          <p:nvSpPr>
            <p:cNvPr id="5141" name="Oval 28"/>
            <p:cNvSpPr>
              <a:spLocks noChangeArrowheads="1"/>
            </p:cNvSpPr>
            <p:nvPr/>
          </p:nvSpPr>
          <p:spPr bwMode="auto">
            <a:xfrm>
              <a:off x="2640" y="1776"/>
              <a:ext cx="672" cy="288"/>
            </a:xfrm>
            <a:prstGeom prst="ellips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graphicFrame>
          <p:nvGraphicFramePr>
            <p:cNvPr id="5142" name="Object 29"/>
            <p:cNvGraphicFramePr>
              <a:graphicFrameLocks noChangeAspect="1"/>
            </p:cNvGraphicFramePr>
            <p:nvPr/>
          </p:nvGraphicFramePr>
          <p:xfrm>
            <a:off x="3312" y="1824"/>
            <a:ext cx="286" cy="3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317225" imgH="393359" progId="Equation.DSMT4">
                    <p:embed/>
                  </p:oleObj>
                </mc:Choice>
                <mc:Fallback>
                  <p:oleObj name="Equation" r:id="rId8" imgW="317225" imgH="393359" progId="Equation.DSMT4">
                    <p:embed/>
                    <p:pic>
                      <p:nvPicPr>
                        <p:cNvPr id="5142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12" y="1824"/>
                          <a:ext cx="286" cy="3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7310" name="Object 30"/>
          <p:cNvGraphicFramePr>
            <a:graphicFrameLocks noChangeAspect="1"/>
          </p:cNvGraphicFramePr>
          <p:nvPr/>
        </p:nvGraphicFramePr>
        <p:xfrm>
          <a:off x="3124200" y="3911600"/>
          <a:ext cx="1597025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117600" imgH="431800" progId="Equation.DSMT4">
                  <p:embed/>
                </p:oleObj>
              </mc:Choice>
              <mc:Fallback>
                <p:oleObj name="Equation" r:id="rId10" imgW="1117600" imgH="431800" progId="Equation.DSMT4">
                  <p:embed/>
                  <p:pic>
                    <p:nvPicPr>
                      <p:cNvPr id="9731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3911600"/>
                        <a:ext cx="1597025" cy="619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35"/>
          <p:cNvGrpSpPr>
            <a:grpSpLocks/>
          </p:cNvGrpSpPr>
          <p:nvPr/>
        </p:nvGrpSpPr>
        <p:grpSpPr bwMode="auto">
          <a:xfrm>
            <a:off x="4138613" y="3884613"/>
            <a:ext cx="2346325" cy="841375"/>
            <a:chOff x="2554" y="2403"/>
            <a:chExt cx="1478" cy="530"/>
          </a:xfrm>
        </p:grpSpPr>
        <p:sp>
          <p:nvSpPr>
            <p:cNvPr id="5139" name="Oval 32"/>
            <p:cNvSpPr>
              <a:spLocks noChangeArrowheads="1"/>
            </p:cNvSpPr>
            <p:nvPr/>
          </p:nvSpPr>
          <p:spPr bwMode="auto">
            <a:xfrm>
              <a:off x="2554" y="2403"/>
              <a:ext cx="336" cy="432"/>
            </a:xfrm>
            <a:prstGeom prst="ellips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graphicFrame>
          <p:nvGraphicFramePr>
            <p:cNvPr id="5140" name="Object 33"/>
            <p:cNvGraphicFramePr>
              <a:graphicFrameLocks noChangeAspect="1"/>
            </p:cNvGraphicFramePr>
            <p:nvPr/>
          </p:nvGraphicFramePr>
          <p:xfrm>
            <a:off x="2899" y="2577"/>
            <a:ext cx="1133" cy="3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256755" imgH="393529" progId="Equation.DSMT4">
                    <p:embed/>
                  </p:oleObj>
                </mc:Choice>
                <mc:Fallback>
                  <p:oleObj name="Equation" r:id="rId12" imgW="1256755" imgH="393529" progId="Equation.DSMT4">
                    <p:embed/>
                    <p:pic>
                      <p:nvPicPr>
                        <p:cNvPr id="5140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99" y="2577"/>
                          <a:ext cx="1133" cy="3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7316" name="Object 36"/>
          <p:cNvGraphicFramePr>
            <a:graphicFrameLocks noChangeAspect="1"/>
          </p:cNvGraphicFramePr>
          <p:nvPr/>
        </p:nvGraphicFramePr>
        <p:xfrm>
          <a:off x="3124200" y="4684713"/>
          <a:ext cx="2686050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879600" imgH="393700" progId="Equation.DSMT4">
                  <p:embed/>
                </p:oleObj>
              </mc:Choice>
              <mc:Fallback>
                <p:oleObj name="Equation" r:id="rId14" imgW="1879600" imgH="393700" progId="Equation.DSMT4">
                  <p:embed/>
                  <p:pic>
                    <p:nvPicPr>
                      <p:cNvPr id="97316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4684713"/>
                        <a:ext cx="2686050" cy="563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37"/>
          <p:cNvGrpSpPr>
            <a:grpSpLocks/>
          </p:cNvGrpSpPr>
          <p:nvPr/>
        </p:nvGrpSpPr>
        <p:grpSpPr bwMode="auto">
          <a:xfrm>
            <a:off x="3973513" y="4765675"/>
            <a:ext cx="433387" cy="417513"/>
            <a:chOff x="2448" y="2569"/>
            <a:chExt cx="273" cy="263"/>
          </a:xfrm>
        </p:grpSpPr>
        <p:sp>
          <p:nvSpPr>
            <p:cNvPr id="5137" name="Line 38"/>
            <p:cNvSpPr>
              <a:spLocks noChangeShapeType="1"/>
            </p:cNvSpPr>
            <p:nvPr/>
          </p:nvSpPr>
          <p:spPr bwMode="auto">
            <a:xfrm flipH="1">
              <a:off x="2448" y="2736"/>
              <a:ext cx="144" cy="96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5138" name="Line 39"/>
            <p:cNvSpPr>
              <a:spLocks noChangeShapeType="1"/>
            </p:cNvSpPr>
            <p:nvPr/>
          </p:nvSpPr>
          <p:spPr bwMode="auto">
            <a:xfrm flipH="1">
              <a:off x="2577" y="2569"/>
              <a:ext cx="144" cy="96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</p:grpSp>
      <p:graphicFrame>
        <p:nvGraphicFramePr>
          <p:cNvPr id="97320" name="Object 40"/>
          <p:cNvGraphicFramePr>
            <a:graphicFrameLocks noChangeAspect="1"/>
          </p:cNvGraphicFramePr>
          <p:nvPr/>
        </p:nvGraphicFramePr>
        <p:xfrm>
          <a:off x="3124200" y="5343525"/>
          <a:ext cx="2249488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574800" imgH="393700" progId="Equation.DSMT4">
                  <p:embed/>
                </p:oleObj>
              </mc:Choice>
              <mc:Fallback>
                <p:oleObj name="Equation" r:id="rId16" imgW="1574800" imgH="393700" progId="Equation.DSMT4">
                  <p:embed/>
                  <p:pic>
                    <p:nvPicPr>
                      <p:cNvPr id="9732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5343525"/>
                        <a:ext cx="2249488" cy="563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34" name="Object 41"/>
          <p:cNvGraphicFramePr>
            <a:graphicFrameLocks noChangeAspect="1"/>
          </p:cNvGraphicFramePr>
          <p:nvPr/>
        </p:nvGraphicFramePr>
        <p:xfrm>
          <a:off x="838200" y="5683250"/>
          <a:ext cx="1289050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901309" imgH="393529" progId="Equation.DSMT4">
                  <p:embed/>
                </p:oleObj>
              </mc:Choice>
              <mc:Fallback>
                <p:oleObj name="Equation" r:id="rId18" imgW="901309" imgH="393529" progId="Equation.DSMT4">
                  <p:embed/>
                  <p:pic>
                    <p:nvPicPr>
                      <p:cNvPr id="5134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5683250"/>
                        <a:ext cx="1289050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5" name="Text Box 3"/>
          <p:cNvSpPr txBox="1">
            <a:spLocks noChangeArrowheads="1"/>
          </p:cNvSpPr>
          <p:nvPr/>
        </p:nvSpPr>
        <p:spPr bwMode="auto">
          <a:xfrm>
            <a:off x="841375" y="1600200"/>
            <a:ext cx="784542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Considere uma v.a. </a:t>
            </a:r>
            <a:r>
              <a:rPr lang="pt-BR" altLang="pt-BR" sz="1600" i="1" dirty="0">
                <a:latin typeface="Times New Roman" pitchFamily="18" charset="0"/>
              </a:rPr>
              <a:t>X</a:t>
            </a:r>
            <a:r>
              <a:rPr lang="pt-BR" altLang="pt-BR" sz="1600" dirty="0">
                <a:latin typeface="Tahoma" panose="020B0604030504040204" pitchFamily="34" charset="0"/>
              </a:rPr>
              <a:t> cujos valores são inteiros de </a:t>
            </a:r>
            <a:r>
              <a:rPr lang="pt-BR" altLang="pt-BR" sz="1600" dirty="0">
                <a:solidFill>
                  <a:srgbClr val="FF0000"/>
                </a:solidFill>
                <a:latin typeface="Times New Roman" pitchFamily="18" charset="0"/>
              </a:rPr>
              <a:t>1</a:t>
            </a: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</a:rPr>
              <a:t> a </a:t>
            </a:r>
            <a:r>
              <a:rPr lang="pt-BR" altLang="pt-BR" sz="1600" i="1" dirty="0">
                <a:solidFill>
                  <a:srgbClr val="FF0000"/>
                </a:solidFill>
                <a:latin typeface="Times New Roman" pitchFamily="18" charset="0"/>
              </a:rPr>
              <a:t>N</a:t>
            </a:r>
            <a:r>
              <a:rPr lang="pt-BR" altLang="pt-BR" sz="1600" dirty="0">
                <a:latin typeface="Tahoma" panose="020B0604030504040204" pitchFamily="34" charset="0"/>
              </a:rPr>
              <a:t>, equiprováveis, ou seja, todos os valores têm igual probabilidade de ocorrência.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C52152-266E-4B7D-9E7D-CABB101FC7AB}" type="slidenum">
              <a:rPr lang="pt-BR"/>
              <a:pPr>
                <a:defRPr/>
              </a:pPr>
              <a:t>5</a:t>
            </a:fld>
            <a:endParaRPr lang="pt-BR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Distribuição Uniforme Discreta</a:t>
            </a:r>
          </a:p>
        </p:txBody>
      </p:sp>
      <p:sp>
        <p:nvSpPr>
          <p:cNvPr id="6147" name="Text Box 4"/>
          <p:cNvSpPr txBox="1">
            <a:spLocks noChangeArrowheads="1"/>
          </p:cNvSpPr>
          <p:nvPr/>
        </p:nvSpPr>
        <p:spPr bwMode="auto">
          <a:xfrm>
            <a:off x="838200" y="2362200"/>
            <a:ext cx="8001000" cy="253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Exemplo: Lança-se um dado e define-se uma v.a. </a:t>
            </a:r>
            <a:r>
              <a:rPr lang="pt-BR" altLang="pt-BR" sz="1600" i="1" dirty="0">
                <a:latin typeface="Times New Roman" pitchFamily="18" charset="0"/>
              </a:rPr>
              <a:t>X</a:t>
            </a:r>
            <a:r>
              <a:rPr lang="pt-BR" altLang="pt-BR" sz="1600" dirty="0">
                <a:latin typeface="Tahoma" panose="020B0604030504040204" pitchFamily="34" charset="0"/>
              </a:rPr>
              <a:t> como o valor obtido neste dado.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 dirty="0">
                <a:latin typeface="Times New Roman" pitchFamily="18" charset="0"/>
              </a:rPr>
              <a:t>X</a:t>
            </a:r>
            <a:r>
              <a:rPr lang="pt-BR" altLang="pt-BR" sz="1600" dirty="0">
                <a:latin typeface="Times New Roman" pitchFamily="18" charset="0"/>
              </a:rPr>
              <a:t>: {1, 2, 3, 4, 5, 6}</a:t>
            </a:r>
            <a:endParaRPr lang="pt-BR" altLang="pt-BR" sz="16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 dirty="0">
                <a:latin typeface="Times New Roman" pitchFamily="18" charset="0"/>
              </a:rPr>
              <a:t>P</a:t>
            </a:r>
            <a:r>
              <a:rPr lang="pt-BR" altLang="pt-BR" sz="1600" dirty="0">
                <a:latin typeface="Times New Roman" pitchFamily="18" charset="0"/>
              </a:rPr>
              <a:t>(</a:t>
            </a:r>
            <a:r>
              <a:rPr lang="pt-BR" altLang="pt-BR" sz="1600" i="1" dirty="0">
                <a:latin typeface="Times New Roman" pitchFamily="18" charset="0"/>
              </a:rPr>
              <a:t>X</a:t>
            </a:r>
            <a:r>
              <a:rPr lang="pt-BR" altLang="pt-BR" sz="1600" dirty="0">
                <a:latin typeface="Times New Roman" pitchFamily="18" charset="0"/>
              </a:rPr>
              <a:t> = 1) = 1/6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 dirty="0">
                <a:latin typeface="Times New Roman" pitchFamily="18" charset="0"/>
              </a:rPr>
              <a:t>P</a:t>
            </a:r>
            <a:r>
              <a:rPr lang="pt-BR" altLang="pt-BR" sz="1600" dirty="0">
                <a:latin typeface="Times New Roman" pitchFamily="18" charset="0"/>
              </a:rPr>
              <a:t>(</a:t>
            </a:r>
            <a:r>
              <a:rPr lang="pt-BR" altLang="pt-BR" sz="1600" i="1" dirty="0">
                <a:latin typeface="Times New Roman" pitchFamily="18" charset="0"/>
              </a:rPr>
              <a:t>X</a:t>
            </a:r>
            <a:r>
              <a:rPr lang="pt-BR" altLang="pt-BR" sz="1600" dirty="0">
                <a:latin typeface="Times New Roman" pitchFamily="18" charset="0"/>
              </a:rPr>
              <a:t> = 2) = 1/6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 dirty="0">
                <a:latin typeface="Times New Roman" pitchFamily="18" charset="0"/>
              </a:rPr>
              <a:t>P</a:t>
            </a:r>
            <a:r>
              <a:rPr lang="pt-BR" altLang="pt-BR" sz="1600" dirty="0">
                <a:latin typeface="Times New Roman" pitchFamily="18" charset="0"/>
              </a:rPr>
              <a:t>(</a:t>
            </a:r>
            <a:r>
              <a:rPr lang="pt-BR" altLang="pt-BR" sz="1600" i="1" dirty="0">
                <a:latin typeface="Times New Roman" pitchFamily="18" charset="0"/>
              </a:rPr>
              <a:t>X</a:t>
            </a:r>
            <a:r>
              <a:rPr lang="pt-BR" altLang="pt-BR" sz="1600" dirty="0">
                <a:latin typeface="Times New Roman" pitchFamily="18" charset="0"/>
              </a:rPr>
              <a:t> = 3) = 1/6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 dirty="0">
                <a:latin typeface="Times New Roman" pitchFamily="18" charset="0"/>
              </a:rPr>
              <a:t>P</a:t>
            </a:r>
            <a:r>
              <a:rPr lang="pt-BR" altLang="pt-BR" sz="1600" dirty="0">
                <a:latin typeface="Times New Roman" pitchFamily="18" charset="0"/>
              </a:rPr>
              <a:t>(</a:t>
            </a:r>
            <a:r>
              <a:rPr lang="pt-BR" altLang="pt-BR" sz="1600" i="1" dirty="0">
                <a:latin typeface="Times New Roman" pitchFamily="18" charset="0"/>
              </a:rPr>
              <a:t>X</a:t>
            </a:r>
            <a:r>
              <a:rPr lang="pt-BR" altLang="pt-BR" sz="1600" dirty="0">
                <a:latin typeface="Times New Roman" pitchFamily="18" charset="0"/>
              </a:rPr>
              <a:t> = 4) = 1/6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 dirty="0">
                <a:latin typeface="Times New Roman" pitchFamily="18" charset="0"/>
              </a:rPr>
              <a:t>P</a:t>
            </a:r>
            <a:r>
              <a:rPr lang="pt-BR" altLang="pt-BR" sz="1600" dirty="0">
                <a:latin typeface="Times New Roman" pitchFamily="18" charset="0"/>
              </a:rPr>
              <a:t>(</a:t>
            </a:r>
            <a:r>
              <a:rPr lang="pt-BR" altLang="pt-BR" sz="1600" i="1" dirty="0">
                <a:latin typeface="Times New Roman" pitchFamily="18" charset="0"/>
              </a:rPr>
              <a:t>X</a:t>
            </a:r>
            <a:r>
              <a:rPr lang="pt-BR" altLang="pt-BR" sz="1600" dirty="0">
                <a:latin typeface="Times New Roman" pitchFamily="18" charset="0"/>
              </a:rPr>
              <a:t> = 5) = 1/6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 dirty="0">
                <a:latin typeface="Times New Roman" pitchFamily="18" charset="0"/>
              </a:rPr>
              <a:t>P</a:t>
            </a:r>
            <a:r>
              <a:rPr lang="pt-BR" altLang="pt-BR" sz="1600" dirty="0">
                <a:latin typeface="Times New Roman" pitchFamily="18" charset="0"/>
              </a:rPr>
              <a:t>(</a:t>
            </a:r>
            <a:r>
              <a:rPr lang="pt-BR" altLang="pt-BR" sz="1600" i="1" dirty="0">
                <a:latin typeface="Times New Roman" pitchFamily="18" charset="0"/>
              </a:rPr>
              <a:t>X</a:t>
            </a:r>
            <a:r>
              <a:rPr lang="pt-BR" altLang="pt-BR" sz="1600" dirty="0">
                <a:latin typeface="Times New Roman" pitchFamily="18" charset="0"/>
              </a:rPr>
              <a:t> = 6) = 1/6</a:t>
            </a:r>
          </a:p>
        </p:txBody>
      </p:sp>
      <p:sp>
        <p:nvSpPr>
          <p:cNvPr id="6148" name="Text Box 5"/>
          <p:cNvSpPr txBox="1">
            <a:spLocks noChangeArrowheads="1"/>
          </p:cNvSpPr>
          <p:nvPr/>
        </p:nvSpPr>
        <p:spPr bwMode="auto">
          <a:xfrm>
            <a:off x="838200" y="5076825"/>
            <a:ext cx="838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f</a:t>
            </a:r>
            <a:r>
              <a:rPr lang="pt-BR" altLang="pt-BR" sz="1600">
                <a:latin typeface="Times New Roman" pitchFamily="18" charset="0"/>
              </a:rPr>
              <a:t>(</a:t>
            </a:r>
            <a:r>
              <a:rPr lang="pt-BR" altLang="pt-BR" sz="1600" i="1">
                <a:latin typeface="Times New Roman" pitchFamily="18" charset="0"/>
              </a:rPr>
              <a:t>x</a:t>
            </a:r>
            <a:r>
              <a:rPr lang="pt-BR" altLang="pt-BR" sz="1600">
                <a:latin typeface="Times New Roman" pitchFamily="18" charset="0"/>
              </a:rPr>
              <a:t>) =</a:t>
            </a:r>
          </a:p>
        </p:txBody>
      </p:sp>
      <p:graphicFrame>
        <p:nvGraphicFramePr>
          <p:cNvPr id="6149" name="Object 6"/>
          <p:cNvGraphicFramePr>
            <a:graphicFrameLocks noChangeAspect="1"/>
          </p:cNvGraphicFramePr>
          <p:nvPr/>
        </p:nvGraphicFramePr>
        <p:xfrm>
          <a:off x="1416050" y="4953000"/>
          <a:ext cx="290513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3112" imgH="393529" progId="Equation.DSMT4">
                  <p:embed/>
                </p:oleObj>
              </mc:Choice>
              <mc:Fallback>
                <p:oleObj name="Equation" r:id="rId2" imgW="203112" imgH="393529" progId="Equation.DSMT4">
                  <p:embed/>
                  <p:pic>
                    <p:nvPicPr>
                      <p:cNvPr id="6149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6050" y="4953000"/>
                        <a:ext cx="290513" cy="5651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0" name="Object 8"/>
          <p:cNvGraphicFramePr>
            <a:graphicFrameLocks noChangeAspect="1"/>
          </p:cNvGraphicFramePr>
          <p:nvPr/>
        </p:nvGraphicFramePr>
        <p:xfrm>
          <a:off x="3124200" y="2873375"/>
          <a:ext cx="2433638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01800" imgH="228600" progId="Equation.DSMT4">
                  <p:embed/>
                </p:oleObj>
              </mc:Choice>
              <mc:Fallback>
                <p:oleObj name="Equation" r:id="rId4" imgW="1701800" imgH="228600" progId="Equation.DSMT4">
                  <p:embed/>
                  <p:pic>
                    <p:nvPicPr>
                      <p:cNvPr id="615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2873375"/>
                        <a:ext cx="2433638" cy="32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1" name="Object 21"/>
          <p:cNvGraphicFramePr>
            <a:graphicFrameLocks noChangeAspect="1"/>
          </p:cNvGraphicFramePr>
          <p:nvPr/>
        </p:nvGraphicFramePr>
        <p:xfrm>
          <a:off x="3124200" y="3259138"/>
          <a:ext cx="3265488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286000" imgH="419100" progId="Equation.DSMT4">
                  <p:embed/>
                </p:oleObj>
              </mc:Choice>
              <mc:Fallback>
                <p:oleObj name="Equation" r:id="rId6" imgW="2286000" imgH="419100" progId="Equation.DSMT4">
                  <p:embed/>
                  <p:pic>
                    <p:nvPicPr>
                      <p:cNvPr id="6151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3259138"/>
                        <a:ext cx="3265488" cy="600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326" name="Object 22"/>
          <p:cNvGraphicFramePr>
            <a:graphicFrameLocks noChangeAspect="1"/>
          </p:cNvGraphicFramePr>
          <p:nvPr/>
        </p:nvGraphicFramePr>
        <p:xfrm>
          <a:off x="3124200" y="3905250"/>
          <a:ext cx="3392488" cy="617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374900" imgH="431800" progId="Equation.DSMT4">
                  <p:embed/>
                </p:oleObj>
              </mc:Choice>
              <mc:Fallback>
                <p:oleObj name="Equation" r:id="rId8" imgW="2374900" imgH="431800" progId="Equation.DSMT4">
                  <p:embed/>
                  <p:pic>
                    <p:nvPicPr>
                      <p:cNvPr id="98326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3905250"/>
                        <a:ext cx="3392488" cy="617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327" name="Object 23"/>
          <p:cNvGraphicFramePr>
            <a:graphicFrameLocks noChangeAspect="1"/>
          </p:cNvGraphicFramePr>
          <p:nvPr/>
        </p:nvGraphicFramePr>
        <p:xfrm>
          <a:off x="3124200" y="4572000"/>
          <a:ext cx="3192463" cy="617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235200" imgH="431800" progId="Equation.DSMT4">
                  <p:embed/>
                </p:oleObj>
              </mc:Choice>
              <mc:Fallback>
                <p:oleObj name="Equation" r:id="rId10" imgW="2235200" imgH="431800" progId="Equation.DSMT4">
                  <p:embed/>
                  <p:pic>
                    <p:nvPicPr>
                      <p:cNvPr id="98327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4572000"/>
                        <a:ext cx="3192463" cy="617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328" name="Object 24"/>
          <p:cNvGraphicFramePr>
            <a:graphicFrameLocks noChangeAspect="1"/>
          </p:cNvGraphicFramePr>
          <p:nvPr/>
        </p:nvGraphicFramePr>
        <p:xfrm>
          <a:off x="3124200" y="5199063"/>
          <a:ext cx="2230438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562100" imgH="393700" progId="Equation.DSMT4">
                  <p:embed/>
                </p:oleObj>
              </mc:Choice>
              <mc:Fallback>
                <p:oleObj name="Equation" r:id="rId12" imgW="1562100" imgH="393700" progId="Equation.DSMT4">
                  <p:embed/>
                  <p:pic>
                    <p:nvPicPr>
                      <p:cNvPr id="98328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5199063"/>
                        <a:ext cx="2230438" cy="56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329" name="Object 25"/>
          <p:cNvGraphicFramePr>
            <a:graphicFrameLocks noChangeAspect="1"/>
          </p:cNvGraphicFramePr>
          <p:nvPr/>
        </p:nvGraphicFramePr>
        <p:xfrm>
          <a:off x="3124200" y="5791200"/>
          <a:ext cx="15240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066800" imgH="419100" progId="Equation.DSMT4">
                  <p:embed/>
                </p:oleObj>
              </mc:Choice>
              <mc:Fallback>
                <p:oleObj name="Equation" r:id="rId14" imgW="1066800" imgH="419100" progId="Equation.DSMT4">
                  <p:embed/>
                  <p:pic>
                    <p:nvPicPr>
                      <p:cNvPr id="98329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5791200"/>
                        <a:ext cx="15240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330" name="Rectangle 26"/>
          <p:cNvSpPr>
            <a:spLocks noChangeArrowheads="1"/>
          </p:cNvSpPr>
          <p:nvPr/>
        </p:nvSpPr>
        <p:spPr bwMode="auto">
          <a:xfrm>
            <a:off x="3048000" y="5715000"/>
            <a:ext cx="1676400" cy="762000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graphicFrame>
        <p:nvGraphicFramePr>
          <p:cNvPr id="6157" name="Object 27"/>
          <p:cNvGraphicFramePr>
            <a:graphicFrameLocks noChangeAspect="1"/>
          </p:cNvGraphicFramePr>
          <p:nvPr/>
        </p:nvGraphicFramePr>
        <p:xfrm>
          <a:off x="838200" y="5683250"/>
          <a:ext cx="1289050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901309" imgH="393529" progId="Equation.DSMT4">
                  <p:embed/>
                </p:oleObj>
              </mc:Choice>
              <mc:Fallback>
                <p:oleObj name="Equation" r:id="rId16" imgW="901309" imgH="393529" progId="Equation.DSMT4">
                  <p:embed/>
                  <p:pic>
                    <p:nvPicPr>
                      <p:cNvPr id="6157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5683250"/>
                        <a:ext cx="1289050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8" name="Text Box 3"/>
          <p:cNvSpPr txBox="1">
            <a:spLocks noChangeArrowheads="1"/>
          </p:cNvSpPr>
          <p:nvPr/>
        </p:nvSpPr>
        <p:spPr bwMode="auto">
          <a:xfrm>
            <a:off x="841375" y="1600200"/>
            <a:ext cx="784542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Considere uma v.a. </a:t>
            </a:r>
            <a:r>
              <a:rPr lang="pt-BR" altLang="pt-BR" sz="1600" i="1" dirty="0">
                <a:latin typeface="Times New Roman" pitchFamily="18" charset="0"/>
              </a:rPr>
              <a:t>X</a:t>
            </a:r>
            <a:r>
              <a:rPr lang="pt-BR" altLang="pt-BR" sz="1600" dirty="0">
                <a:latin typeface="Tahoma" panose="020B0604030504040204" pitchFamily="34" charset="0"/>
              </a:rPr>
              <a:t> cujos valores são inteiros de </a:t>
            </a:r>
            <a:r>
              <a:rPr lang="pt-BR" altLang="pt-BR" sz="1600" dirty="0">
                <a:solidFill>
                  <a:srgbClr val="FF0000"/>
                </a:solidFill>
                <a:latin typeface="Times New Roman" pitchFamily="18" charset="0"/>
              </a:rPr>
              <a:t>1</a:t>
            </a: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</a:rPr>
              <a:t> a </a:t>
            </a:r>
            <a:r>
              <a:rPr lang="pt-BR" altLang="pt-BR" sz="1600" i="1" dirty="0">
                <a:solidFill>
                  <a:srgbClr val="FF0000"/>
                </a:solidFill>
                <a:latin typeface="Times New Roman" pitchFamily="18" charset="0"/>
              </a:rPr>
              <a:t>N</a:t>
            </a:r>
            <a:r>
              <a:rPr lang="pt-BR" altLang="pt-BR" sz="1600" dirty="0">
                <a:latin typeface="Tahoma" panose="020B0604030504040204" pitchFamily="34" charset="0"/>
              </a:rPr>
              <a:t>, equiprováveis, ou seja, todos os valores têm igual probabilidade de ocorrência.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91F194-EC47-4995-98F2-89FD3277BB6B}" type="slidenum">
              <a:rPr lang="pt-BR"/>
              <a:pPr>
                <a:defRPr/>
              </a:pPr>
              <a:t>6</a:t>
            </a:fld>
            <a:endParaRPr lang="pt-BR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33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Distribuição Uniforme Discreta</a:t>
            </a:r>
          </a:p>
        </p:txBody>
      </p:sp>
      <p:sp>
        <p:nvSpPr>
          <p:cNvPr id="6158" name="Text Box 3"/>
          <p:cNvSpPr txBox="1">
            <a:spLocks noChangeArrowheads="1"/>
          </p:cNvSpPr>
          <p:nvPr/>
        </p:nvSpPr>
        <p:spPr bwMode="auto">
          <a:xfrm>
            <a:off x="841375" y="1600200"/>
            <a:ext cx="784542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marL="177800" indent="-177800"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Considere uma v.a. </a:t>
            </a:r>
            <a:r>
              <a:rPr lang="pt-BR" altLang="pt-BR" sz="1600" i="1" dirty="0">
                <a:latin typeface="Times New Roman" pitchFamily="18" charset="0"/>
              </a:rPr>
              <a:t>X</a:t>
            </a:r>
            <a:r>
              <a:rPr lang="pt-BR" altLang="pt-BR" sz="1600" dirty="0">
                <a:latin typeface="Tahoma" panose="020B0604030504040204" pitchFamily="34" charset="0"/>
              </a:rPr>
              <a:t> cujos valores são inteiros de </a:t>
            </a:r>
            <a:r>
              <a:rPr lang="pt-BR" altLang="pt-BR" sz="1600" dirty="0">
                <a:solidFill>
                  <a:srgbClr val="FF0000"/>
                </a:solidFill>
                <a:latin typeface="Times New Roman" pitchFamily="18" charset="0"/>
              </a:rPr>
              <a:t>1</a:t>
            </a: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</a:rPr>
              <a:t> a </a:t>
            </a:r>
            <a:r>
              <a:rPr lang="pt-BR" altLang="pt-BR" sz="1600" i="1" dirty="0">
                <a:solidFill>
                  <a:srgbClr val="FF0000"/>
                </a:solidFill>
                <a:latin typeface="Times New Roman" pitchFamily="18" charset="0"/>
              </a:rPr>
              <a:t>N</a:t>
            </a:r>
            <a:r>
              <a:rPr lang="pt-BR" altLang="pt-BR" sz="1600" dirty="0">
                <a:latin typeface="Tahoma" panose="020B0604030504040204" pitchFamily="34" charset="0"/>
              </a:rPr>
              <a:t>, equiprováveis, ou seja, todos os valores têm igual probabilidade de ocorrência.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91F194-EC47-4995-98F2-89FD3277BB6B}" type="slidenum">
              <a:rPr lang="pt-BR"/>
              <a:pPr>
                <a:defRPr/>
              </a:pPr>
              <a:t>7</a:t>
            </a:fld>
            <a:endParaRPr lang="pt-BR"/>
          </a:p>
        </p:txBody>
      </p:sp>
      <p:sp>
        <p:nvSpPr>
          <p:cNvPr id="16" name="Text Box 4"/>
          <p:cNvSpPr txBox="1">
            <a:spLocks noChangeArrowheads="1"/>
          </p:cNvSpPr>
          <p:nvPr/>
        </p:nvSpPr>
        <p:spPr bwMode="auto">
          <a:xfrm>
            <a:off x="611560" y="3793604"/>
            <a:ext cx="8001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Exemplo: Lança-se um dado e define-se uma v.a. </a:t>
            </a:r>
            <a:r>
              <a:rPr lang="pt-BR" altLang="pt-BR" sz="1600" i="1" dirty="0">
                <a:latin typeface="Times New Roman" pitchFamily="18" charset="0"/>
              </a:rPr>
              <a:t>X</a:t>
            </a:r>
            <a:r>
              <a:rPr lang="pt-BR" altLang="pt-BR" sz="1600" dirty="0">
                <a:latin typeface="Tahoma" panose="020B0604030504040204" pitchFamily="34" charset="0"/>
              </a:rPr>
              <a:t> como o valor obtido neste dado.</a:t>
            </a:r>
          </a:p>
        </p:txBody>
      </p:sp>
      <p:graphicFrame>
        <p:nvGraphicFramePr>
          <p:cNvPr id="17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8525098"/>
              </p:ext>
            </p:extLst>
          </p:nvPr>
        </p:nvGraphicFramePr>
        <p:xfrm>
          <a:off x="1968873" y="4873724"/>
          <a:ext cx="1704975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93800" imgH="393700" progId="Equation.DSMT4">
                  <p:embed/>
                </p:oleObj>
              </mc:Choice>
              <mc:Fallback>
                <p:oleObj name="Equation" r:id="rId2" imgW="1193800" imgH="393700" progId="Equation.DSMT4">
                  <p:embed/>
                  <p:pic>
                    <p:nvPicPr>
                      <p:cNvPr id="17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8873" y="4873724"/>
                        <a:ext cx="1704975" cy="563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5316007"/>
              </p:ext>
            </p:extLst>
          </p:nvPr>
        </p:nvGraphicFramePr>
        <p:xfrm>
          <a:off x="4621585" y="4883249"/>
          <a:ext cx="2068513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47172" imgH="393529" progId="Equation.DSMT4">
                  <p:embed/>
                </p:oleObj>
              </mc:Choice>
              <mc:Fallback>
                <p:oleObj name="Equation" r:id="rId4" imgW="1447172" imgH="393529" progId="Equation.DSMT4">
                  <p:embed/>
                  <p:pic>
                    <p:nvPicPr>
                      <p:cNvPr id="18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21585" y="4883249"/>
                        <a:ext cx="2068513" cy="56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6611284"/>
              </p:ext>
            </p:extLst>
          </p:nvPr>
        </p:nvGraphicFramePr>
        <p:xfrm>
          <a:off x="4621585" y="4226457"/>
          <a:ext cx="852488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96641" imgH="393529" progId="Equation.DSMT4">
                  <p:embed/>
                </p:oleObj>
              </mc:Choice>
              <mc:Fallback>
                <p:oleObj name="Equation" r:id="rId6" imgW="596641" imgH="393529" progId="Equation.DSMT4">
                  <p:embed/>
                  <p:pic>
                    <p:nvPicPr>
                      <p:cNvPr id="19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21585" y="4226457"/>
                        <a:ext cx="852488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Rectangle 20"/>
          <p:cNvSpPr>
            <a:spLocks noChangeArrowheads="1"/>
          </p:cNvSpPr>
          <p:nvPr/>
        </p:nvSpPr>
        <p:spPr bwMode="auto">
          <a:xfrm>
            <a:off x="1968873" y="4340757"/>
            <a:ext cx="1416050" cy="3365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X</a:t>
            </a:r>
            <a:r>
              <a:rPr lang="pt-BR" altLang="pt-BR" sz="1600">
                <a:latin typeface="Times New Roman" pitchFamily="18" charset="0"/>
              </a:rPr>
              <a:t>: {1, 2, ..., 6}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aixaDeTexto 20"/>
              <p:cNvSpPr txBox="1"/>
              <p:nvPr/>
            </p:nvSpPr>
            <p:spPr>
              <a:xfrm>
                <a:off x="2222499" y="2967667"/>
                <a:ext cx="1287597" cy="4610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pt-BR" dirty="0">
                  <a:latin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21" name="CaixaDeTexto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2499" y="2967667"/>
                <a:ext cx="1287597" cy="46102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aixaDeTexto 21"/>
              <p:cNvSpPr txBox="1"/>
              <p:nvPr/>
            </p:nvSpPr>
            <p:spPr>
              <a:xfrm>
                <a:off x="4838700" y="2941057"/>
                <a:ext cx="1596976" cy="4925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  <a:endParaRPr lang="pt-BR" dirty="0">
                  <a:latin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22" name="CaixaDeTexto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8700" y="2941057"/>
                <a:ext cx="1596976" cy="49250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aixaDeTexto 22"/>
              <p:cNvSpPr txBox="1"/>
              <p:nvPr/>
            </p:nvSpPr>
            <p:spPr>
              <a:xfrm>
                <a:off x="4884942" y="2219140"/>
                <a:ext cx="888256" cy="4610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</m:oMath>
                  </m:oMathPara>
                </a14:m>
                <a:endParaRPr lang="pt-BR" dirty="0">
                  <a:latin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23" name="CaixaDeTexto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4942" y="2219140"/>
                <a:ext cx="888256" cy="46102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aixaDeTexto 23"/>
              <p:cNvSpPr txBox="1"/>
              <p:nvPr/>
            </p:nvSpPr>
            <p:spPr>
              <a:xfrm>
                <a:off x="1985497" y="2370572"/>
                <a:ext cx="1246880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:{1, 2,…,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pt-BR" dirty="0">
                  <a:latin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24" name="CaixaDeTexto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5497" y="2370572"/>
                <a:ext cx="1246880" cy="246221"/>
              </a:xfrm>
              <a:prstGeom prst="rect">
                <a:avLst/>
              </a:prstGeom>
              <a:blipFill>
                <a:blip r:embed="rId11"/>
                <a:stretch>
                  <a:fillRect l="-2941" r="-4902" b="-375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 26"/>
          <p:cNvSpPr>
            <a:spLocks noChangeArrowheads="1"/>
          </p:cNvSpPr>
          <p:nvPr/>
        </p:nvSpPr>
        <p:spPr bwMode="auto">
          <a:xfrm>
            <a:off x="3292583" y="4942899"/>
            <a:ext cx="470395" cy="381000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26" name="Rectangle 26"/>
          <p:cNvSpPr>
            <a:spLocks noChangeArrowheads="1"/>
          </p:cNvSpPr>
          <p:nvPr/>
        </p:nvSpPr>
        <p:spPr bwMode="auto">
          <a:xfrm>
            <a:off x="6219703" y="4942899"/>
            <a:ext cx="470395" cy="381000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0655261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0" grpId="0" animBg="1"/>
      <p:bldP spid="25" grpId="0" animBg="1"/>
      <p:bldP spid="2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Distribuição Uniforme Discreta</a:t>
            </a:r>
          </a:p>
        </p:txBody>
      </p:sp>
      <p:sp>
        <p:nvSpPr>
          <p:cNvPr id="6158" name="Text Box 3"/>
          <p:cNvSpPr txBox="1">
            <a:spLocks noChangeArrowheads="1"/>
          </p:cNvSpPr>
          <p:nvPr/>
        </p:nvSpPr>
        <p:spPr bwMode="auto">
          <a:xfrm>
            <a:off x="841375" y="1600200"/>
            <a:ext cx="784542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marL="177800" indent="-177800"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Considere uma v.a. </a:t>
            </a:r>
            <a:r>
              <a:rPr lang="pt-BR" altLang="pt-BR" sz="1600" i="1" dirty="0">
                <a:latin typeface="Times New Roman" pitchFamily="18" charset="0"/>
              </a:rPr>
              <a:t>X</a:t>
            </a:r>
            <a:r>
              <a:rPr lang="pt-BR" altLang="pt-BR" sz="1600" dirty="0">
                <a:latin typeface="Tahoma" panose="020B0604030504040204" pitchFamily="34" charset="0"/>
              </a:rPr>
              <a:t> cujos valores são inteiros de </a:t>
            </a:r>
            <a:r>
              <a:rPr lang="pt-BR" altLang="pt-BR" sz="1600" dirty="0">
                <a:solidFill>
                  <a:srgbClr val="FF0000"/>
                </a:solidFill>
                <a:latin typeface="Times New Roman" pitchFamily="18" charset="0"/>
              </a:rPr>
              <a:t>1</a:t>
            </a: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</a:rPr>
              <a:t> a </a:t>
            </a:r>
            <a:r>
              <a:rPr lang="pt-BR" altLang="pt-BR" sz="1600" i="1" dirty="0">
                <a:solidFill>
                  <a:srgbClr val="FF0000"/>
                </a:solidFill>
                <a:latin typeface="Times New Roman" pitchFamily="18" charset="0"/>
              </a:rPr>
              <a:t>N</a:t>
            </a:r>
            <a:r>
              <a:rPr lang="pt-BR" altLang="pt-BR" sz="1600" dirty="0">
                <a:latin typeface="Tahoma" panose="020B0604030504040204" pitchFamily="34" charset="0"/>
              </a:rPr>
              <a:t>, equiprováveis, ou seja, todos os valores têm igual probabilidade de ocorrência.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91F194-EC47-4995-98F2-89FD3277BB6B}" type="slidenum">
              <a:rPr lang="pt-BR"/>
              <a:pPr>
                <a:defRPr/>
              </a:pPr>
              <a:t>8</a:t>
            </a:fld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aixaDeTexto 20"/>
              <p:cNvSpPr txBox="1"/>
              <p:nvPr/>
            </p:nvSpPr>
            <p:spPr>
              <a:xfrm>
                <a:off x="2222499" y="2967667"/>
                <a:ext cx="1287597" cy="4610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pt-BR" dirty="0">
                  <a:latin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21" name="CaixaDeTexto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2499" y="2967667"/>
                <a:ext cx="1287597" cy="46102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aixaDeTexto 21"/>
              <p:cNvSpPr txBox="1"/>
              <p:nvPr/>
            </p:nvSpPr>
            <p:spPr>
              <a:xfrm>
                <a:off x="4838700" y="2941057"/>
                <a:ext cx="1596976" cy="4925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  <a:endParaRPr lang="pt-BR" dirty="0">
                  <a:latin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22" name="CaixaDeTexto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8700" y="2941057"/>
                <a:ext cx="1596976" cy="49250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aixaDeTexto 22"/>
              <p:cNvSpPr txBox="1"/>
              <p:nvPr/>
            </p:nvSpPr>
            <p:spPr>
              <a:xfrm>
                <a:off x="4884942" y="2219140"/>
                <a:ext cx="888256" cy="4610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</m:oMath>
                  </m:oMathPara>
                </a14:m>
                <a:endParaRPr lang="pt-BR" dirty="0">
                  <a:latin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23" name="CaixaDeTexto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4942" y="2219140"/>
                <a:ext cx="888256" cy="46102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aixaDeTexto 23"/>
              <p:cNvSpPr txBox="1"/>
              <p:nvPr/>
            </p:nvSpPr>
            <p:spPr>
              <a:xfrm>
                <a:off x="1985497" y="2370572"/>
                <a:ext cx="1246880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:{1, 2,…,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pt-BR" dirty="0">
                  <a:latin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24" name="CaixaDeTexto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5497" y="2370572"/>
                <a:ext cx="1246880" cy="246221"/>
              </a:xfrm>
              <a:prstGeom prst="rect">
                <a:avLst/>
              </a:prstGeom>
              <a:blipFill>
                <a:blip r:embed="rId5"/>
                <a:stretch>
                  <a:fillRect l="-2941" r="-4902" b="-375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aixaDeTexto 26"/>
              <p:cNvSpPr txBox="1"/>
              <p:nvPr/>
            </p:nvSpPr>
            <p:spPr>
              <a:xfrm>
                <a:off x="2222499" y="5051335"/>
                <a:ext cx="1252009" cy="4658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pt-BR" dirty="0">
                  <a:latin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27" name="CaixaDeTexto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2499" y="5051335"/>
                <a:ext cx="1252009" cy="46589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aixaDeTexto 27"/>
              <p:cNvSpPr txBox="1"/>
              <p:nvPr/>
            </p:nvSpPr>
            <p:spPr>
              <a:xfrm>
                <a:off x="4838700" y="5024725"/>
                <a:ext cx="2443233" cy="4925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</m:e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  <a:endParaRPr lang="pt-BR" dirty="0">
                  <a:latin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28" name="CaixaDeTexto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8700" y="5024725"/>
                <a:ext cx="2443233" cy="49250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aixaDeTexto 28"/>
              <p:cNvSpPr txBox="1"/>
              <p:nvPr/>
            </p:nvSpPr>
            <p:spPr>
              <a:xfrm>
                <a:off x="4884942" y="4302808"/>
                <a:ext cx="1570430" cy="4667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pt-BR" dirty="0">
                  <a:latin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29" name="CaixaDeTexto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4942" y="4302808"/>
                <a:ext cx="1570430" cy="46673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 Box 3"/>
          <p:cNvSpPr txBox="1">
            <a:spLocks noChangeArrowheads="1"/>
          </p:cNvSpPr>
          <p:nvPr/>
        </p:nvSpPr>
        <p:spPr bwMode="auto">
          <a:xfrm>
            <a:off x="841375" y="3573016"/>
            <a:ext cx="805110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55600" indent="-35560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marL="177800" indent="-177800"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Considere uma v.a. </a:t>
            </a:r>
            <a:r>
              <a:rPr lang="pt-BR" altLang="pt-BR" sz="1600" i="1" dirty="0">
                <a:latin typeface="Times New Roman" pitchFamily="18" charset="0"/>
              </a:rPr>
              <a:t>Y</a:t>
            </a:r>
            <a:r>
              <a:rPr lang="pt-BR" altLang="pt-BR" sz="1600" dirty="0">
                <a:latin typeface="Tahoma" panose="020B0604030504040204" pitchFamily="34" charset="0"/>
              </a:rPr>
              <a:t> cujos valores são inteiros consecutivos de </a:t>
            </a:r>
            <a:r>
              <a:rPr lang="pt-BR" altLang="pt-BR" sz="1600" i="1" dirty="0">
                <a:solidFill>
                  <a:srgbClr val="FF0000"/>
                </a:solidFill>
                <a:latin typeface="Times New Roman" pitchFamily="18" charset="0"/>
              </a:rPr>
              <a:t>a</a:t>
            </a: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</a:rPr>
              <a:t> </a:t>
            </a:r>
            <a:r>
              <a:rPr lang="pt-BR" altLang="pt-BR" sz="1600" dirty="0" err="1">
                <a:solidFill>
                  <a:srgbClr val="FF0000"/>
                </a:solidFill>
                <a:latin typeface="Tahoma" panose="020B0604030504040204" pitchFamily="34" charset="0"/>
              </a:rPr>
              <a:t>a</a:t>
            </a: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</a:rPr>
              <a:t> </a:t>
            </a:r>
            <a:r>
              <a:rPr lang="pt-BR" altLang="pt-BR" sz="1600" i="1" dirty="0">
                <a:solidFill>
                  <a:srgbClr val="FF0000"/>
                </a:solidFill>
                <a:latin typeface="Times New Roman" pitchFamily="18" charset="0"/>
              </a:rPr>
              <a:t>b</a:t>
            </a:r>
            <a:r>
              <a:rPr lang="pt-BR" altLang="pt-BR" sz="1600" dirty="0">
                <a:latin typeface="Tahoma" panose="020B0604030504040204" pitchFamily="34" charset="0"/>
              </a:rPr>
              <a:t>, equiprováveis, ou seja, todos os valores têm igual probabilidade de ocorrência.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aixaDeTexto 30"/>
              <p:cNvSpPr txBox="1"/>
              <p:nvPr/>
            </p:nvSpPr>
            <p:spPr>
              <a:xfrm>
                <a:off x="1985497" y="4454240"/>
                <a:ext cx="2125005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:{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+1,…,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−1,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pt-BR" dirty="0">
                  <a:latin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31" name="CaixaDeTexto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5497" y="4454240"/>
                <a:ext cx="2125005" cy="246221"/>
              </a:xfrm>
              <a:prstGeom prst="rect">
                <a:avLst/>
              </a:prstGeom>
              <a:blipFill>
                <a:blip r:embed="rId9"/>
                <a:stretch>
                  <a:fillRect l="-1437" r="-2299" b="-375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aixaDeTexto 31"/>
              <p:cNvSpPr txBox="1"/>
              <p:nvPr/>
            </p:nvSpPr>
            <p:spPr>
              <a:xfrm>
                <a:off x="714561" y="5949280"/>
                <a:ext cx="1481175" cy="5492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  <m:r>
                                  <m:rPr>
                                    <m:nor/>
                                  </m:rPr>
                                  <a:rPr lang="pt-BR" dirty="0">
                                    <a:latin typeface="Tahoma" panose="020B0604030504040204" pitchFamily="34" charset="0"/>
                                  </a:rPr>
                                  <m:t> 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  <m:r>
                                  <m:rPr>
                                    <m:nor/>
                                  </m:rPr>
                                  <a:rPr lang="pt-BR" dirty="0">
                                    <a:latin typeface="Tahoma" panose="020B0604030504040204" pitchFamily="34" charset="0"/>
                                  </a:rPr>
                                  <m:t> 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t-BR" dirty="0">
                  <a:latin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32" name="CaixaDeTexto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561" y="5949280"/>
                <a:ext cx="1481175" cy="549253"/>
              </a:xfrm>
              <a:prstGeom prst="rect">
                <a:avLst/>
              </a:prstGeom>
              <a:blipFill>
                <a:blip r:embed="rId10"/>
                <a:stretch>
                  <a:fillRect b="-111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aixaDeTexto 32"/>
              <p:cNvSpPr txBox="1"/>
              <p:nvPr/>
            </p:nvSpPr>
            <p:spPr>
              <a:xfrm>
                <a:off x="2421994" y="5733256"/>
                <a:ext cx="4506555" cy="4658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−1=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pt-BR" dirty="0">
                  <a:latin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33" name="CaixaDeTexto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1994" y="5733256"/>
                <a:ext cx="4506555" cy="46589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aixaDeTexto 33"/>
              <p:cNvSpPr txBox="1"/>
              <p:nvPr/>
            </p:nvSpPr>
            <p:spPr>
              <a:xfrm>
                <a:off x="2421993" y="6248861"/>
                <a:ext cx="4077335" cy="4925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e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  <a:endParaRPr lang="pt-BR" dirty="0">
                  <a:latin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34" name="CaixaDeTexto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1993" y="6248861"/>
                <a:ext cx="4077335" cy="49250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8635779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/>
      <p:bldP spid="31" grpId="0"/>
      <p:bldP spid="32" grpId="0"/>
      <p:bldP spid="33" grpId="0"/>
      <p:bldP spid="3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Distribuição Uniforme Discreta</a:t>
            </a:r>
          </a:p>
        </p:txBody>
      </p:sp>
      <p:sp>
        <p:nvSpPr>
          <p:cNvPr id="7174" name="Text Box 3"/>
          <p:cNvSpPr txBox="1">
            <a:spLocks noChangeArrowheads="1"/>
          </p:cNvSpPr>
          <p:nvPr/>
        </p:nvSpPr>
        <p:spPr bwMode="auto">
          <a:xfrm>
            <a:off x="841375" y="1600200"/>
            <a:ext cx="784542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55600" indent="-35560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Exemplos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E7AD0D1-23E4-46ED-8741-3B96CDA51087}" type="slidenum">
              <a:rPr lang="pt-BR"/>
              <a:pPr>
                <a:defRPr/>
              </a:pPr>
              <a:t>9</a:t>
            </a:fld>
            <a:endParaRPr lang="pt-BR"/>
          </a:p>
        </p:txBody>
      </p:sp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2219266"/>
            <a:ext cx="3600000" cy="216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17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2219266"/>
            <a:ext cx="3600000" cy="216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174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1820" y="4307498"/>
            <a:ext cx="3600000" cy="216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CaixaDeTexto 3"/>
          <p:cNvSpPr txBox="1"/>
          <p:nvPr/>
        </p:nvSpPr>
        <p:spPr>
          <a:xfrm>
            <a:off x="2625448" y="2903458"/>
            <a:ext cx="6527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3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6288175" y="2564904"/>
            <a:ext cx="7441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10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4307955" y="4653136"/>
            <a:ext cx="7441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50</a:t>
            </a:r>
          </a:p>
        </p:txBody>
      </p:sp>
      <p:sp>
        <p:nvSpPr>
          <p:cNvPr id="11" name="Text Box 4"/>
          <p:cNvSpPr txBox="1">
            <a:spLocks noChangeArrowheads="1"/>
          </p:cNvSpPr>
          <p:nvPr/>
        </p:nvSpPr>
        <p:spPr bwMode="auto">
          <a:xfrm>
            <a:off x="210220" y="6476586"/>
            <a:ext cx="8001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Em que situação a média e a variância são maiores?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ixaDeTexto 11"/>
              <p:cNvSpPr txBox="1"/>
              <p:nvPr/>
            </p:nvSpPr>
            <p:spPr>
              <a:xfrm>
                <a:off x="7020272" y="4711694"/>
                <a:ext cx="1287597" cy="4610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pt-BR" dirty="0">
                  <a:latin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12" name="CaixaDeTexto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0272" y="4711694"/>
                <a:ext cx="1287597" cy="46102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ixaDeTexto 12"/>
              <p:cNvSpPr txBox="1"/>
              <p:nvPr/>
            </p:nvSpPr>
            <p:spPr>
              <a:xfrm>
                <a:off x="7022008" y="5384765"/>
                <a:ext cx="1596976" cy="4925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  <a:endParaRPr lang="pt-BR" dirty="0">
                  <a:latin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13" name="CaixaDeTexto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2008" y="5384765"/>
                <a:ext cx="1596976" cy="49250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80724126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Distribuição Uniforme Discreta</a:t>
            </a:r>
          </a:p>
        </p:txBody>
      </p:sp>
      <p:sp>
        <p:nvSpPr>
          <p:cNvPr id="12" name="Rectangle 20"/>
          <p:cNvSpPr>
            <a:spLocks noChangeArrowheads="1"/>
          </p:cNvSpPr>
          <p:nvPr/>
        </p:nvSpPr>
        <p:spPr bwMode="auto">
          <a:xfrm>
            <a:off x="2279650" y="2813125"/>
            <a:ext cx="1782763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Y</a:t>
            </a:r>
            <a:r>
              <a:rPr lang="pt-BR" altLang="pt-BR" sz="1600">
                <a:latin typeface="Times New Roman" pitchFamily="18" charset="0"/>
              </a:rPr>
              <a:t>: {12, 16, ..., 208}</a:t>
            </a:r>
          </a:p>
        </p:txBody>
      </p:sp>
      <p:sp>
        <p:nvSpPr>
          <p:cNvPr id="7174" name="Text Box 3"/>
          <p:cNvSpPr txBox="1">
            <a:spLocks noChangeArrowheads="1"/>
          </p:cNvSpPr>
          <p:nvPr/>
        </p:nvSpPr>
        <p:spPr bwMode="auto">
          <a:xfrm>
            <a:off x="841375" y="1600200"/>
            <a:ext cx="7845425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55600" indent="-35560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Exemplo: Se uma </a:t>
            </a:r>
            <a:r>
              <a:rPr lang="pt-BR" altLang="pt-BR" sz="1600" dirty="0" err="1">
                <a:latin typeface="Tahoma" panose="020B0604030504040204" pitchFamily="34" charset="0"/>
              </a:rPr>
              <a:t>v.a</a:t>
            </a:r>
            <a:r>
              <a:rPr lang="pt-BR" altLang="pt-BR" sz="1600" dirty="0">
                <a:latin typeface="Tahoma" panose="020B0604030504040204" pitchFamily="34" charset="0"/>
              </a:rPr>
              <a:t>. </a:t>
            </a:r>
            <a:r>
              <a:rPr lang="pt-BR" altLang="pt-BR" sz="1600" i="1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pt-BR" altLang="pt-BR" sz="1600" dirty="0">
                <a:latin typeface="Tahoma" panose="020B0604030504040204" pitchFamily="34" charset="0"/>
              </a:rPr>
              <a:t> é representada por valores múltiplos de 4, maiores que 10 e menores que 210, equiprováveis, qual a sua média e variância?</a:t>
            </a:r>
          </a:p>
          <a:p>
            <a:pPr defTabSz="723900"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	</a:t>
            </a:r>
            <a:r>
              <a:rPr lang="pt-BR" altLang="pt-BR" sz="1600" i="1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pt-BR" altLang="pt-BR" sz="1600" dirty="0">
                <a:latin typeface="Tahoma" panose="020B0604030504040204" pitchFamily="34" charset="0"/>
              </a:rPr>
              <a:t> representa uma distribuição uniforme discreta típica? Posso usar as fórmulas definidas para essa distribuição?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E7AD0D1-23E4-46ED-8741-3B96CDA51087}" type="slidenum">
              <a:rPr lang="pt-BR"/>
              <a:pPr>
                <a:defRPr/>
              </a:pPr>
              <a:t>10</a:t>
            </a:fld>
            <a:endParaRPr lang="pt-BR"/>
          </a:p>
        </p:txBody>
      </p:sp>
      <p:grpSp>
        <p:nvGrpSpPr>
          <p:cNvPr id="8" name="Grupo 7"/>
          <p:cNvGrpSpPr/>
          <p:nvPr/>
        </p:nvGrpSpPr>
        <p:grpSpPr>
          <a:xfrm>
            <a:off x="2411760" y="3347697"/>
            <a:ext cx="1080120" cy="936104"/>
            <a:chOff x="2559968" y="3361184"/>
            <a:chExt cx="1080120" cy="936104"/>
          </a:xfrm>
        </p:grpSpPr>
        <p:cxnSp>
          <p:nvCxnSpPr>
            <p:cNvPr id="7" name="Conector reto 6"/>
            <p:cNvCxnSpPr/>
            <p:nvPr/>
          </p:nvCxnSpPr>
          <p:spPr>
            <a:xfrm>
              <a:off x="2559968" y="3361184"/>
              <a:ext cx="1080120" cy="936104"/>
            </a:xfrm>
            <a:prstGeom prst="line">
              <a:avLst/>
            </a:prstGeom>
            <a:ln w="28575">
              <a:solidFill>
                <a:srgbClr val="FF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ector reto 29"/>
            <p:cNvCxnSpPr/>
            <p:nvPr/>
          </p:nvCxnSpPr>
          <p:spPr>
            <a:xfrm flipH="1">
              <a:off x="2559968" y="3361184"/>
              <a:ext cx="1080120" cy="936104"/>
            </a:xfrm>
            <a:prstGeom prst="line">
              <a:avLst/>
            </a:prstGeom>
            <a:ln w="28575">
              <a:solidFill>
                <a:srgbClr val="FF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upo 30"/>
          <p:cNvGrpSpPr/>
          <p:nvPr/>
        </p:nvGrpSpPr>
        <p:grpSpPr>
          <a:xfrm>
            <a:off x="5652120" y="3347697"/>
            <a:ext cx="1080120" cy="936104"/>
            <a:chOff x="2559968" y="3361184"/>
            <a:chExt cx="1080120" cy="936104"/>
          </a:xfrm>
        </p:grpSpPr>
        <p:cxnSp>
          <p:nvCxnSpPr>
            <p:cNvPr id="32" name="Conector reto 31"/>
            <p:cNvCxnSpPr/>
            <p:nvPr/>
          </p:nvCxnSpPr>
          <p:spPr>
            <a:xfrm>
              <a:off x="2559968" y="3361184"/>
              <a:ext cx="1080120" cy="936104"/>
            </a:xfrm>
            <a:prstGeom prst="line">
              <a:avLst/>
            </a:prstGeom>
            <a:ln w="28575">
              <a:solidFill>
                <a:srgbClr val="FF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 reto 32"/>
            <p:cNvCxnSpPr/>
            <p:nvPr/>
          </p:nvCxnSpPr>
          <p:spPr>
            <a:xfrm flipH="1">
              <a:off x="2559968" y="3361184"/>
              <a:ext cx="1080120" cy="936104"/>
            </a:xfrm>
            <a:prstGeom prst="line">
              <a:avLst/>
            </a:prstGeom>
            <a:ln w="28575">
              <a:solidFill>
                <a:srgbClr val="FF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aixaDeTexto 13"/>
              <p:cNvSpPr txBox="1"/>
              <p:nvPr/>
            </p:nvSpPr>
            <p:spPr>
              <a:xfrm>
                <a:off x="2222499" y="3527618"/>
                <a:ext cx="1252009" cy="4658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pt-BR" dirty="0">
                  <a:latin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CaixaDeTexto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2499" y="3527618"/>
                <a:ext cx="1252009" cy="46589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aixaDeTexto 14"/>
              <p:cNvSpPr txBox="1"/>
              <p:nvPr/>
            </p:nvSpPr>
            <p:spPr>
              <a:xfrm>
                <a:off x="4838700" y="3501008"/>
                <a:ext cx="2443233" cy="4925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</m:e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  <a:endParaRPr lang="pt-BR" dirty="0">
                  <a:latin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15" name="CaixaDeTexto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8700" y="3501008"/>
                <a:ext cx="2443233" cy="49250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26527010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  <p:bldP spid="1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Distribuição Uniforme Discreta</a:t>
            </a:r>
          </a:p>
        </p:txBody>
      </p:sp>
      <p:graphicFrame>
        <p:nvGraphicFramePr>
          <p:cNvPr id="99335" name="Object 7"/>
          <p:cNvGraphicFramePr>
            <a:graphicFrameLocks noChangeAspect="1"/>
          </p:cNvGraphicFramePr>
          <p:nvPr/>
        </p:nvGraphicFramePr>
        <p:xfrm>
          <a:off x="5040313" y="3284612"/>
          <a:ext cx="1287462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01309" imgH="393529" progId="Equation.DSMT4">
                  <p:embed/>
                </p:oleObj>
              </mc:Choice>
              <mc:Fallback>
                <p:oleObj name="Equation" r:id="rId2" imgW="901309" imgH="393529" progId="Equation.DSMT4">
                  <p:embed/>
                  <p:pic>
                    <p:nvPicPr>
                      <p:cNvPr id="9933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0313" y="3284612"/>
                        <a:ext cx="1287462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341" name="Object 13"/>
          <p:cNvGraphicFramePr>
            <a:graphicFrameLocks noChangeAspect="1"/>
          </p:cNvGraphicFramePr>
          <p:nvPr/>
        </p:nvGraphicFramePr>
        <p:xfrm>
          <a:off x="5040313" y="3970412"/>
          <a:ext cx="15240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66800" imgH="419100" progId="Equation.DSMT4">
                  <p:embed/>
                </p:oleObj>
              </mc:Choice>
              <mc:Fallback>
                <p:oleObj name="Equation" r:id="rId4" imgW="1066800" imgH="419100" progId="Equation.DSMT4">
                  <p:embed/>
                  <p:pic>
                    <p:nvPicPr>
                      <p:cNvPr id="99341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0313" y="3970412"/>
                        <a:ext cx="15240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20"/>
          <p:cNvSpPr>
            <a:spLocks noChangeArrowheads="1"/>
          </p:cNvSpPr>
          <p:nvPr/>
        </p:nvSpPr>
        <p:spPr bwMode="auto">
          <a:xfrm>
            <a:off x="2279650" y="2813125"/>
            <a:ext cx="1782763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 dirty="0">
                <a:latin typeface="Times New Roman" pitchFamily="18" charset="0"/>
              </a:rPr>
              <a:t>Y</a:t>
            </a:r>
            <a:r>
              <a:rPr lang="pt-BR" altLang="pt-BR" sz="1600" dirty="0">
                <a:latin typeface="Times New Roman" pitchFamily="18" charset="0"/>
              </a:rPr>
              <a:t>: {12, 16, ..., 208}</a:t>
            </a:r>
          </a:p>
        </p:txBody>
      </p:sp>
      <p:sp>
        <p:nvSpPr>
          <p:cNvPr id="7174" name="Text Box 3"/>
          <p:cNvSpPr txBox="1">
            <a:spLocks noChangeArrowheads="1"/>
          </p:cNvSpPr>
          <p:nvPr/>
        </p:nvSpPr>
        <p:spPr bwMode="auto">
          <a:xfrm>
            <a:off x="841375" y="1600200"/>
            <a:ext cx="7845425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55600" indent="-35560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Exemplo: Se uma </a:t>
            </a:r>
            <a:r>
              <a:rPr lang="pt-BR" altLang="pt-BR" sz="1600" dirty="0" err="1">
                <a:latin typeface="Tahoma" panose="020B0604030504040204" pitchFamily="34" charset="0"/>
              </a:rPr>
              <a:t>v.a</a:t>
            </a:r>
            <a:r>
              <a:rPr lang="pt-BR" altLang="pt-BR" sz="1600" dirty="0">
                <a:latin typeface="Tahoma" panose="020B0604030504040204" pitchFamily="34" charset="0"/>
              </a:rPr>
              <a:t>. </a:t>
            </a:r>
            <a:r>
              <a:rPr lang="pt-BR" altLang="pt-BR" sz="1600" i="1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pt-BR" altLang="pt-BR" sz="1600" dirty="0">
                <a:latin typeface="Tahoma" panose="020B0604030504040204" pitchFamily="34" charset="0"/>
              </a:rPr>
              <a:t> é representada por valores múltiplos de 4, maiores que 10 e menores que 210, equiprováveis, qual a sua média e variância?</a:t>
            </a:r>
          </a:p>
          <a:p>
            <a:pPr defTabSz="723900"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	</a:t>
            </a:r>
            <a:r>
              <a:rPr lang="pt-BR" altLang="pt-BR" sz="1600" i="1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pt-BR" altLang="pt-BR" sz="1600" dirty="0">
                <a:latin typeface="Tahoma" panose="020B0604030504040204" pitchFamily="34" charset="0"/>
              </a:rPr>
              <a:t> representa uma distribuição uniforme discreta típica? Posso usar as fórmulas definidas para essa distribuição?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E7AD0D1-23E4-46ED-8741-3B96CDA51087}" type="slidenum">
              <a:rPr lang="pt-BR"/>
              <a:pPr>
                <a:defRPr/>
              </a:pPr>
              <a:t>11</a:t>
            </a:fld>
            <a:endParaRPr lang="pt-BR"/>
          </a:p>
        </p:txBody>
      </p:sp>
      <p:sp>
        <p:nvSpPr>
          <p:cNvPr id="15" name="Rectangle 20"/>
          <p:cNvSpPr>
            <a:spLocks noChangeArrowheads="1"/>
          </p:cNvSpPr>
          <p:nvPr/>
        </p:nvSpPr>
        <p:spPr bwMode="auto">
          <a:xfrm>
            <a:off x="4799013" y="2813125"/>
            <a:ext cx="142875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 dirty="0">
                <a:latin typeface="Times New Roman" pitchFamily="18" charset="0"/>
              </a:rPr>
              <a:t>X</a:t>
            </a:r>
            <a:r>
              <a:rPr lang="pt-BR" altLang="pt-BR" sz="1600" dirty="0">
                <a:latin typeface="Times New Roman" pitchFamily="18" charset="0"/>
              </a:rPr>
              <a:t>: {1, 2, ..., </a:t>
            </a:r>
            <a:r>
              <a:rPr lang="pt-BR" altLang="pt-BR" sz="1600" i="1" dirty="0">
                <a:latin typeface="Times New Roman" pitchFamily="18" charset="0"/>
              </a:rPr>
              <a:t>N</a:t>
            </a:r>
            <a:r>
              <a:rPr lang="pt-BR" altLang="pt-BR" sz="1600" dirty="0">
                <a:latin typeface="Times New Roman" pitchFamily="18" charset="0"/>
              </a:rPr>
              <a:t>}</a:t>
            </a:r>
          </a:p>
        </p:txBody>
      </p:sp>
      <p:grpSp>
        <p:nvGrpSpPr>
          <p:cNvPr id="3" name="Grupo 2"/>
          <p:cNvGrpSpPr>
            <a:grpSpLocks/>
          </p:cNvGrpSpPr>
          <p:nvPr/>
        </p:nvGrpSpPr>
        <p:grpSpPr bwMode="auto">
          <a:xfrm>
            <a:off x="4232275" y="2636912"/>
            <a:ext cx="396875" cy="514350"/>
            <a:chOff x="2913869" y="2437323"/>
            <a:chExt cx="397866" cy="515176"/>
          </a:xfrm>
        </p:grpSpPr>
        <p:sp>
          <p:nvSpPr>
            <p:cNvPr id="7188" name="Rectangle 20"/>
            <p:cNvSpPr>
              <a:spLocks noChangeArrowheads="1"/>
            </p:cNvSpPr>
            <p:nvPr/>
          </p:nvSpPr>
          <p:spPr bwMode="auto">
            <a:xfrm>
              <a:off x="2913869" y="2613945"/>
              <a:ext cx="397866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Times New Roman" pitchFamily="18" charset="0"/>
                  <a:sym typeface="Symbol" pitchFamily="18" charset="2"/>
                </a:rPr>
                <a:t></a:t>
              </a:r>
              <a:endParaRPr lang="pt-BR" altLang="pt-BR" sz="1600">
                <a:latin typeface="Times New Roman" pitchFamily="18" charset="0"/>
              </a:endParaRPr>
            </a:p>
          </p:txBody>
        </p:sp>
        <p:sp>
          <p:nvSpPr>
            <p:cNvPr id="7189" name="Rectangle 20"/>
            <p:cNvSpPr>
              <a:spLocks noChangeArrowheads="1"/>
            </p:cNvSpPr>
            <p:nvPr/>
          </p:nvSpPr>
          <p:spPr bwMode="auto">
            <a:xfrm>
              <a:off x="2974783" y="2437323"/>
              <a:ext cx="276038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Times New Roman" pitchFamily="18" charset="0"/>
                  <a:sym typeface="Symbol" pitchFamily="18" charset="2"/>
                </a:rPr>
                <a:t>?</a:t>
              </a:r>
              <a:endParaRPr lang="pt-BR" altLang="pt-BR" sz="1600">
                <a:latin typeface="Times New Roman" pitchFamily="18" charset="0"/>
              </a:endParaRPr>
            </a:p>
          </p:txBody>
        </p:sp>
      </p:grpSp>
      <p:sp>
        <p:nvSpPr>
          <p:cNvPr id="18" name="Rectangle 20"/>
          <p:cNvSpPr>
            <a:spLocks noChangeArrowheads="1"/>
          </p:cNvSpPr>
          <p:nvPr/>
        </p:nvSpPr>
        <p:spPr bwMode="auto">
          <a:xfrm>
            <a:off x="2136775" y="3291583"/>
            <a:ext cx="1636713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Y</a:t>
            </a:r>
            <a:r>
              <a:rPr lang="pt-BR" altLang="pt-BR" sz="1600">
                <a:latin typeface="Times New Roman" pitchFamily="18" charset="0"/>
              </a:rPr>
              <a:t>/4: {3, 4, ..., 52}</a:t>
            </a:r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863725" y="3770041"/>
            <a:ext cx="190817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 dirty="0">
                <a:latin typeface="Times New Roman" pitchFamily="18" charset="0"/>
              </a:rPr>
              <a:t>Y</a:t>
            </a:r>
            <a:r>
              <a:rPr lang="pt-BR" altLang="pt-BR" sz="1600" dirty="0">
                <a:latin typeface="Times New Roman" pitchFamily="18" charset="0"/>
              </a:rPr>
              <a:t>/4 - 2: {1, 2, ..., 50}</a:t>
            </a:r>
          </a:p>
        </p:txBody>
      </p:sp>
      <p:sp>
        <p:nvSpPr>
          <p:cNvPr id="22" name="Rectangle 20"/>
          <p:cNvSpPr>
            <a:spLocks noChangeArrowheads="1"/>
          </p:cNvSpPr>
          <p:nvPr/>
        </p:nvSpPr>
        <p:spPr bwMode="auto">
          <a:xfrm>
            <a:off x="2071688" y="4728962"/>
            <a:ext cx="10985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 dirty="0">
                <a:latin typeface="Times New Roman" pitchFamily="18" charset="0"/>
              </a:rPr>
              <a:t>X</a:t>
            </a:r>
            <a:r>
              <a:rPr lang="pt-BR" altLang="pt-BR" sz="1600" dirty="0">
                <a:latin typeface="Times New Roman" pitchFamily="18" charset="0"/>
              </a:rPr>
              <a:t> = </a:t>
            </a:r>
            <a:r>
              <a:rPr lang="pt-BR" altLang="pt-BR" sz="1600" i="1" dirty="0">
                <a:latin typeface="Times New Roman" pitchFamily="18" charset="0"/>
              </a:rPr>
              <a:t>Y</a:t>
            </a:r>
            <a:r>
              <a:rPr lang="pt-BR" altLang="pt-BR" sz="1600" dirty="0">
                <a:latin typeface="Times New Roman" pitchFamily="18" charset="0"/>
              </a:rPr>
              <a:t>/4 - 2</a:t>
            </a:r>
          </a:p>
        </p:txBody>
      </p:sp>
      <p:sp>
        <p:nvSpPr>
          <p:cNvPr id="23" name="Rectangle 20"/>
          <p:cNvSpPr>
            <a:spLocks noChangeArrowheads="1"/>
          </p:cNvSpPr>
          <p:nvPr/>
        </p:nvSpPr>
        <p:spPr bwMode="auto">
          <a:xfrm>
            <a:off x="2071688" y="5207421"/>
            <a:ext cx="1065212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Y</a:t>
            </a:r>
            <a:r>
              <a:rPr lang="pt-BR" altLang="pt-BR" sz="1600">
                <a:latin typeface="Times New Roman" pitchFamily="18" charset="0"/>
              </a:rPr>
              <a:t> = 4</a:t>
            </a:r>
            <a:r>
              <a:rPr lang="pt-BR" altLang="pt-BR" sz="1600" i="1">
                <a:latin typeface="Times New Roman" pitchFamily="18" charset="0"/>
              </a:rPr>
              <a:t>X</a:t>
            </a:r>
            <a:r>
              <a:rPr lang="pt-BR" altLang="pt-BR" sz="1600">
                <a:latin typeface="Times New Roman" pitchFamily="18" charset="0"/>
              </a:rPr>
              <a:t> + 8</a:t>
            </a:r>
          </a:p>
        </p:txBody>
      </p:sp>
      <p:sp>
        <p:nvSpPr>
          <p:cNvPr id="24" name="Rectangle 20"/>
          <p:cNvSpPr>
            <a:spLocks noChangeArrowheads="1"/>
          </p:cNvSpPr>
          <p:nvPr/>
        </p:nvSpPr>
        <p:spPr bwMode="auto">
          <a:xfrm>
            <a:off x="2071688" y="5685879"/>
            <a:ext cx="15906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 dirty="0">
                <a:latin typeface="Times New Roman" pitchFamily="18" charset="0"/>
              </a:rPr>
              <a:t>E</a:t>
            </a:r>
            <a:r>
              <a:rPr lang="pt-BR" altLang="pt-BR" sz="1600" dirty="0">
                <a:latin typeface="Times New Roman" pitchFamily="18" charset="0"/>
              </a:rPr>
              <a:t>(</a:t>
            </a:r>
            <a:r>
              <a:rPr lang="pt-BR" altLang="pt-BR" sz="1600" i="1" dirty="0">
                <a:latin typeface="Times New Roman" pitchFamily="18" charset="0"/>
              </a:rPr>
              <a:t>Y</a:t>
            </a:r>
            <a:r>
              <a:rPr lang="pt-BR" altLang="pt-BR" sz="1600" dirty="0">
                <a:latin typeface="Times New Roman" pitchFamily="18" charset="0"/>
              </a:rPr>
              <a:t>) = 4</a:t>
            </a:r>
            <a:r>
              <a:rPr lang="pt-BR" altLang="pt-BR" sz="1600" i="1" dirty="0">
                <a:latin typeface="Times New Roman" pitchFamily="18" charset="0"/>
              </a:rPr>
              <a:t>E</a:t>
            </a:r>
            <a:r>
              <a:rPr lang="pt-BR" altLang="pt-BR" sz="1600" dirty="0">
                <a:latin typeface="Times New Roman" pitchFamily="18" charset="0"/>
              </a:rPr>
              <a:t>(</a:t>
            </a:r>
            <a:r>
              <a:rPr lang="pt-BR" altLang="pt-BR" sz="1600" i="1" dirty="0">
                <a:latin typeface="Times New Roman" pitchFamily="18" charset="0"/>
              </a:rPr>
              <a:t>X</a:t>
            </a:r>
            <a:r>
              <a:rPr lang="pt-BR" altLang="pt-BR" sz="1600" dirty="0">
                <a:latin typeface="Times New Roman" pitchFamily="18" charset="0"/>
              </a:rPr>
              <a:t>) + 8</a:t>
            </a:r>
          </a:p>
        </p:txBody>
      </p:sp>
      <p:sp>
        <p:nvSpPr>
          <p:cNvPr id="25" name="Rectangle 20"/>
          <p:cNvSpPr>
            <a:spLocks noChangeArrowheads="1"/>
          </p:cNvSpPr>
          <p:nvPr/>
        </p:nvSpPr>
        <p:spPr bwMode="auto">
          <a:xfrm>
            <a:off x="2019300" y="6164337"/>
            <a:ext cx="16922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 dirty="0">
                <a:latin typeface="Times New Roman" pitchFamily="18" charset="0"/>
              </a:rPr>
              <a:t>Var</a:t>
            </a:r>
            <a:r>
              <a:rPr lang="pt-BR" altLang="pt-BR" sz="1600" dirty="0">
                <a:latin typeface="Times New Roman" pitchFamily="18" charset="0"/>
              </a:rPr>
              <a:t>(</a:t>
            </a:r>
            <a:r>
              <a:rPr lang="pt-BR" altLang="pt-BR" sz="1600" i="1" dirty="0">
                <a:latin typeface="Times New Roman" pitchFamily="18" charset="0"/>
              </a:rPr>
              <a:t>Y</a:t>
            </a:r>
            <a:r>
              <a:rPr lang="pt-BR" altLang="pt-BR" sz="1600" dirty="0">
                <a:latin typeface="Times New Roman" pitchFamily="18" charset="0"/>
              </a:rPr>
              <a:t>) = 16</a:t>
            </a:r>
            <a:r>
              <a:rPr lang="pt-BR" altLang="pt-BR" sz="1600" i="1" dirty="0">
                <a:latin typeface="Times New Roman" pitchFamily="18" charset="0"/>
              </a:rPr>
              <a:t>Var</a:t>
            </a:r>
            <a:r>
              <a:rPr lang="pt-BR" altLang="pt-BR" sz="1600" dirty="0">
                <a:latin typeface="Times New Roman" pitchFamily="18" charset="0"/>
              </a:rPr>
              <a:t>(</a:t>
            </a:r>
            <a:r>
              <a:rPr lang="pt-BR" altLang="pt-BR" sz="1600" i="1" dirty="0">
                <a:latin typeface="Times New Roman" pitchFamily="18" charset="0"/>
              </a:rPr>
              <a:t>X</a:t>
            </a:r>
            <a:r>
              <a:rPr lang="pt-BR" altLang="pt-BR" sz="1600" dirty="0">
                <a:latin typeface="Times New Roman" pitchFamily="18" charset="0"/>
              </a:rPr>
              <a:t>)</a:t>
            </a:r>
          </a:p>
        </p:txBody>
      </p:sp>
      <p:graphicFrame>
        <p:nvGraphicFramePr>
          <p:cNvPr id="26" name="Object 7"/>
          <p:cNvGraphicFramePr>
            <a:graphicFrameLocks noChangeAspect="1"/>
          </p:cNvGraphicFramePr>
          <p:nvPr/>
        </p:nvGraphicFramePr>
        <p:xfrm>
          <a:off x="6372225" y="3287787"/>
          <a:ext cx="1069975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48975" imgH="393529" progId="Equation.DSMT4">
                  <p:embed/>
                </p:oleObj>
              </mc:Choice>
              <mc:Fallback>
                <p:oleObj name="Equation" r:id="rId6" imgW="748975" imgH="393529" progId="Equation.DSMT4">
                  <p:embed/>
                  <p:pic>
                    <p:nvPicPr>
                      <p:cNvPr id="26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2225" y="3287787"/>
                        <a:ext cx="1069975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7"/>
          <p:cNvGraphicFramePr>
            <a:graphicFrameLocks noChangeAspect="1"/>
          </p:cNvGraphicFramePr>
          <p:nvPr/>
        </p:nvGraphicFramePr>
        <p:xfrm>
          <a:off x="6630988" y="4011687"/>
          <a:ext cx="1541462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079032" imgH="393529" progId="Equation.DSMT4">
                  <p:embed/>
                </p:oleObj>
              </mc:Choice>
              <mc:Fallback>
                <p:oleObj name="Equation" r:id="rId8" imgW="1079032" imgH="393529" progId="Equation.DSMT4">
                  <p:embed/>
                  <p:pic>
                    <p:nvPicPr>
                      <p:cNvPr id="2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30988" y="4011687"/>
                        <a:ext cx="1541462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Rectangle 20"/>
          <p:cNvSpPr>
            <a:spLocks noChangeArrowheads="1"/>
          </p:cNvSpPr>
          <p:nvPr/>
        </p:nvSpPr>
        <p:spPr bwMode="auto">
          <a:xfrm>
            <a:off x="3635375" y="5685879"/>
            <a:ext cx="1754188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imes New Roman" pitchFamily="18" charset="0"/>
              </a:rPr>
              <a:t>= 4*25,5 + 8 = 110</a:t>
            </a:r>
          </a:p>
        </p:txBody>
      </p:sp>
      <p:sp>
        <p:nvSpPr>
          <p:cNvPr id="29" name="Rectangle 20"/>
          <p:cNvSpPr>
            <a:spLocks noChangeArrowheads="1"/>
          </p:cNvSpPr>
          <p:nvPr/>
        </p:nvSpPr>
        <p:spPr bwMode="auto">
          <a:xfrm>
            <a:off x="3662363" y="6164337"/>
            <a:ext cx="1852612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>
                <a:latin typeface="Times New Roman" pitchFamily="18" charset="0"/>
              </a:rPr>
              <a:t>= 16*208,25 = 3332</a:t>
            </a:r>
          </a:p>
        </p:txBody>
      </p:sp>
      <p:sp>
        <p:nvSpPr>
          <p:cNvPr id="31" name="Rectangle 20"/>
          <p:cNvSpPr>
            <a:spLocks noChangeArrowheads="1"/>
          </p:cNvSpPr>
          <p:nvPr/>
        </p:nvSpPr>
        <p:spPr bwMode="auto">
          <a:xfrm>
            <a:off x="2285596" y="4250087"/>
            <a:ext cx="148630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 dirty="0">
                <a:latin typeface="Times New Roman" pitchFamily="18" charset="0"/>
              </a:rPr>
              <a:t>X</a:t>
            </a:r>
            <a:r>
              <a:rPr lang="pt-BR" altLang="pt-BR" sz="1600" dirty="0">
                <a:latin typeface="Times New Roman" pitchFamily="18" charset="0"/>
              </a:rPr>
              <a:t>: {1, 2, ..., 50}</a:t>
            </a:r>
          </a:p>
        </p:txBody>
      </p:sp>
    </p:spTree>
    <p:extLst>
      <p:ext uri="{BB962C8B-B14F-4D97-AF65-F5344CB8AC3E}">
        <p14:creationId xmlns:p14="http://schemas.microsoft.com/office/powerpoint/2010/main" val="1521891300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8" grpId="0"/>
      <p:bldP spid="21" grpId="0"/>
      <p:bldP spid="22" grpId="0"/>
      <p:bldP spid="23" grpId="0"/>
      <p:bldP spid="24" grpId="0"/>
      <p:bldP spid="25" grpId="0"/>
      <p:bldP spid="28" grpId="0"/>
      <p:bldP spid="29" grpId="0"/>
      <p:bldP spid="3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Distribuição Binomial</a:t>
            </a:r>
          </a:p>
        </p:txBody>
      </p:sp>
      <p:sp>
        <p:nvSpPr>
          <p:cNvPr id="9219" name="Text Box 3"/>
          <p:cNvSpPr txBox="1">
            <a:spLocks noChangeArrowheads="1"/>
          </p:cNvSpPr>
          <p:nvPr/>
        </p:nvSpPr>
        <p:spPr bwMode="auto">
          <a:xfrm>
            <a:off x="1981200" y="1600200"/>
            <a:ext cx="6858000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Considere o experimento: retiram-se 3 bolas da urna (com reposição). Define-se uma v.a. </a:t>
            </a:r>
            <a:r>
              <a:rPr lang="pt-BR" altLang="pt-BR" sz="1600" i="1" dirty="0">
                <a:latin typeface="Times New Roman" pitchFamily="18" charset="0"/>
              </a:rPr>
              <a:t>X</a:t>
            </a:r>
            <a:r>
              <a:rPr lang="pt-BR" altLang="pt-BR" sz="1600" dirty="0">
                <a:latin typeface="Tahoma" panose="020B0604030504040204" pitchFamily="34" charset="0"/>
              </a:rPr>
              <a:t> cujos valores representam o número total de bolas vermelhas dentre as 3 escolhidas.</a:t>
            </a:r>
          </a:p>
        </p:txBody>
      </p:sp>
      <p:grpSp>
        <p:nvGrpSpPr>
          <p:cNvPr id="9220" name="Group 4"/>
          <p:cNvGrpSpPr>
            <a:grpSpLocks/>
          </p:cNvGrpSpPr>
          <p:nvPr/>
        </p:nvGrpSpPr>
        <p:grpSpPr bwMode="auto">
          <a:xfrm>
            <a:off x="838200" y="1447800"/>
            <a:ext cx="914400" cy="1295400"/>
            <a:chOff x="2688" y="3264"/>
            <a:chExt cx="576" cy="816"/>
          </a:xfrm>
        </p:grpSpPr>
        <p:sp>
          <p:nvSpPr>
            <p:cNvPr id="9224" name="Freeform 5"/>
            <p:cNvSpPr>
              <a:spLocks/>
            </p:cNvSpPr>
            <p:nvPr/>
          </p:nvSpPr>
          <p:spPr bwMode="auto">
            <a:xfrm>
              <a:off x="2688" y="3264"/>
              <a:ext cx="576" cy="816"/>
            </a:xfrm>
            <a:custGeom>
              <a:avLst/>
              <a:gdLst>
                <a:gd name="T0" fmla="*/ 0 w 576"/>
                <a:gd name="T1" fmla="*/ 0 h 816"/>
                <a:gd name="T2" fmla="*/ 0 w 576"/>
                <a:gd name="T3" fmla="*/ 816 h 816"/>
                <a:gd name="T4" fmla="*/ 576 w 576"/>
                <a:gd name="T5" fmla="*/ 816 h 816"/>
                <a:gd name="T6" fmla="*/ 576 w 576"/>
                <a:gd name="T7" fmla="*/ 0 h 8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"/>
                <a:gd name="T13" fmla="*/ 0 h 816"/>
                <a:gd name="T14" fmla="*/ 576 w 576"/>
                <a:gd name="T15" fmla="*/ 816 h 8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" h="816">
                  <a:moveTo>
                    <a:pt x="0" y="0"/>
                  </a:moveTo>
                  <a:lnTo>
                    <a:pt x="0" y="816"/>
                  </a:lnTo>
                  <a:lnTo>
                    <a:pt x="576" y="816"/>
                  </a:lnTo>
                  <a:lnTo>
                    <a:pt x="576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9225" name="Oval 6"/>
            <p:cNvSpPr>
              <a:spLocks noChangeArrowheads="1"/>
            </p:cNvSpPr>
            <p:nvPr/>
          </p:nvSpPr>
          <p:spPr bwMode="auto">
            <a:xfrm>
              <a:off x="2784" y="336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9226" name="Oval 7"/>
            <p:cNvSpPr>
              <a:spLocks noChangeArrowheads="1"/>
            </p:cNvSpPr>
            <p:nvPr/>
          </p:nvSpPr>
          <p:spPr bwMode="auto">
            <a:xfrm>
              <a:off x="3024" y="348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9227" name="Oval 8"/>
            <p:cNvSpPr>
              <a:spLocks noChangeArrowheads="1"/>
            </p:cNvSpPr>
            <p:nvPr/>
          </p:nvSpPr>
          <p:spPr bwMode="auto">
            <a:xfrm>
              <a:off x="2784" y="384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9228" name="Oval 9"/>
            <p:cNvSpPr>
              <a:spLocks noChangeArrowheads="1"/>
            </p:cNvSpPr>
            <p:nvPr/>
          </p:nvSpPr>
          <p:spPr bwMode="auto">
            <a:xfrm>
              <a:off x="2784" y="3600"/>
              <a:ext cx="144" cy="14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9229" name="Oval 10"/>
            <p:cNvSpPr>
              <a:spLocks noChangeArrowheads="1"/>
            </p:cNvSpPr>
            <p:nvPr/>
          </p:nvSpPr>
          <p:spPr bwMode="auto">
            <a:xfrm>
              <a:off x="3024" y="3696"/>
              <a:ext cx="144" cy="14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9230" name="Oval 11"/>
            <p:cNvSpPr>
              <a:spLocks noChangeArrowheads="1"/>
            </p:cNvSpPr>
            <p:nvPr/>
          </p:nvSpPr>
          <p:spPr bwMode="auto">
            <a:xfrm>
              <a:off x="3024" y="3264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9231" name="Oval 12"/>
            <p:cNvSpPr>
              <a:spLocks noChangeArrowheads="1"/>
            </p:cNvSpPr>
            <p:nvPr/>
          </p:nvSpPr>
          <p:spPr bwMode="auto">
            <a:xfrm>
              <a:off x="3024" y="3912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sp>
        <p:nvSpPr>
          <p:cNvPr id="105485" name="Text Box 13"/>
          <p:cNvSpPr txBox="1">
            <a:spLocks noChangeArrowheads="1"/>
          </p:cNvSpPr>
          <p:nvPr/>
        </p:nvSpPr>
        <p:spPr bwMode="auto">
          <a:xfrm>
            <a:off x="838200" y="2971800"/>
            <a:ext cx="4876800" cy="155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 dirty="0">
                <a:latin typeface="Times New Roman" pitchFamily="18" charset="0"/>
              </a:rPr>
              <a:t>X</a:t>
            </a:r>
            <a:r>
              <a:rPr lang="pt-BR" altLang="pt-BR" sz="1600" dirty="0">
                <a:latin typeface="Times New Roman" pitchFamily="18" charset="0"/>
              </a:rPr>
              <a:t>: {0, 1, 2, 3}</a:t>
            </a:r>
            <a:endParaRPr lang="pt-BR" altLang="pt-BR" sz="16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O experimento envolve 3 eventos independentes.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Para cada evento: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 dirty="0">
                <a:latin typeface="Times New Roman" pitchFamily="18" charset="0"/>
              </a:rPr>
              <a:t>   P</a:t>
            </a:r>
            <a:r>
              <a:rPr lang="pt-BR" altLang="pt-BR" sz="1600" dirty="0">
                <a:latin typeface="Times New Roman" pitchFamily="18" charset="0"/>
              </a:rPr>
              <a:t>(</a:t>
            </a:r>
            <a:r>
              <a:rPr lang="pt-BR" altLang="pt-BR" sz="1600" i="1" dirty="0">
                <a:latin typeface="Times New Roman" pitchFamily="18" charset="0"/>
              </a:rPr>
              <a:t>vermelha</a:t>
            </a:r>
            <a:r>
              <a:rPr lang="pt-BR" altLang="pt-BR" sz="1600" dirty="0">
                <a:latin typeface="Times New Roman" pitchFamily="18" charset="0"/>
              </a:rPr>
              <a:t>) = 5/7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 dirty="0">
                <a:latin typeface="Times New Roman" pitchFamily="18" charset="0"/>
              </a:rPr>
              <a:t>   P</a:t>
            </a:r>
            <a:r>
              <a:rPr lang="pt-BR" altLang="pt-BR" sz="1600" dirty="0">
                <a:latin typeface="Times New Roman" pitchFamily="18" charset="0"/>
              </a:rPr>
              <a:t>(</a:t>
            </a:r>
            <a:r>
              <a:rPr lang="pt-BR" altLang="pt-BR" sz="1600" i="1" dirty="0">
                <a:latin typeface="Times New Roman" pitchFamily="18" charset="0"/>
              </a:rPr>
              <a:t>azul</a:t>
            </a:r>
            <a:r>
              <a:rPr lang="pt-BR" altLang="pt-BR" sz="1600" dirty="0">
                <a:latin typeface="Times New Roman" pitchFamily="18" charset="0"/>
              </a:rPr>
              <a:t>) = 2/7</a:t>
            </a:r>
          </a:p>
        </p:txBody>
      </p:sp>
      <p:sp>
        <p:nvSpPr>
          <p:cNvPr id="105495" name="Text Box 23"/>
          <p:cNvSpPr txBox="1">
            <a:spLocks noChangeArrowheads="1"/>
          </p:cNvSpPr>
          <p:nvPr/>
        </p:nvSpPr>
        <p:spPr bwMode="auto">
          <a:xfrm>
            <a:off x="2590800" y="3962400"/>
            <a:ext cx="39624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imes New Roman" pitchFamily="18" charset="0"/>
              </a:rPr>
              <a:t>= </a:t>
            </a:r>
            <a:r>
              <a:rPr lang="pt-BR" altLang="pt-BR" sz="1600" i="1" dirty="0">
                <a:latin typeface="Times New Roman" pitchFamily="18" charset="0"/>
              </a:rPr>
              <a:t>p</a:t>
            </a:r>
            <a:r>
              <a:rPr lang="pt-BR" altLang="pt-BR" sz="1600" dirty="0">
                <a:latin typeface="Times New Roman" pitchFamily="18" charset="0"/>
              </a:rPr>
              <a:t> </a:t>
            </a:r>
            <a:r>
              <a:rPr lang="pt-BR" altLang="pt-BR" sz="1600" dirty="0">
                <a:latin typeface="Tahoma" panose="020B0604030504040204" pitchFamily="34" charset="0"/>
              </a:rPr>
              <a:t>(probabilidade de sucesso)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imes New Roman" pitchFamily="18" charset="0"/>
              </a:rPr>
              <a:t>= </a:t>
            </a:r>
            <a:r>
              <a:rPr lang="pt-BR" altLang="pt-BR" sz="1600" i="1" dirty="0">
                <a:latin typeface="Times New Roman" pitchFamily="18" charset="0"/>
              </a:rPr>
              <a:t>q</a:t>
            </a:r>
            <a:r>
              <a:rPr lang="pt-BR" altLang="pt-BR" sz="1600" dirty="0">
                <a:latin typeface="Tahoma" panose="020B0604030504040204" pitchFamily="34" charset="0"/>
              </a:rPr>
              <a:t> (probabilidade de fracasso, </a:t>
            </a:r>
            <a:r>
              <a:rPr lang="pt-BR" altLang="pt-BR" sz="1600" i="1" dirty="0">
                <a:latin typeface="Times New Roman" pitchFamily="18" charset="0"/>
              </a:rPr>
              <a:t>q</a:t>
            </a:r>
            <a:r>
              <a:rPr lang="pt-BR" altLang="pt-BR" sz="1600" dirty="0">
                <a:latin typeface="Times New Roman" pitchFamily="18" charset="0"/>
              </a:rPr>
              <a:t> = 1 - </a:t>
            </a:r>
            <a:r>
              <a:rPr lang="pt-BR" altLang="pt-BR" sz="1600" i="1" dirty="0">
                <a:latin typeface="Times New Roman" pitchFamily="18" charset="0"/>
              </a:rPr>
              <a:t>p</a:t>
            </a:r>
            <a:r>
              <a:rPr lang="pt-BR" altLang="pt-BR" sz="1600" dirty="0">
                <a:latin typeface="Tahoma" panose="020B0604030504040204" pitchFamily="34" charset="0"/>
              </a:rPr>
              <a:t>)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2A2D084-6B03-43EC-8813-2DE9C55D92A7}" type="slidenum">
              <a:rPr lang="pt-BR"/>
              <a:pPr>
                <a:defRPr/>
              </a:pPr>
              <a:t>12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4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4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4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4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4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85" grpId="0" build="p" autoUpdateAnimBg="0"/>
      <p:bldP spid="105495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38" name="Text Box 46"/>
          <p:cNvSpPr txBox="1">
            <a:spLocks noChangeArrowheads="1"/>
          </p:cNvSpPr>
          <p:nvPr/>
        </p:nvSpPr>
        <p:spPr bwMode="auto">
          <a:xfrm>
            <a:off x="5257800" y="4572000"/>
            <a:ext cx="838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i="1">
                <a:latin typeface="Times New Roman" pitchFamily="18" charset="0"/>
              </a:rPr>
              <a:t>f</a:t>
            </a:r>
            <a:r>
              <a:rPr lang="pt-BR" altLang="pt-BR" sz="1600" i="1">
                <a:latin typeface="Times New Roman" pitchFamily="18" charset="0"/>
              </a:rPr>
              <a:t> </a:t>
            </a:r>
            <a:r>
              <a:rPr lang="pt-BR" altLang="pt-BR" sz="1600">
                <a:latin typeface="Times New Roman" pitchFamily="18" charset="0"/>
              </a:rPr>
              <a:t>(</a:t>
            </a:r>
            <a:r>
              <a:rPr lang="pt-BR" altLang="pt-BR" sz="1600" i="1">
                <a:latin typeface="Times New Roman" pitchFamily="18" charset="0"/>
              </a:rPr>
              <a:t>x</a:t>
            </a:r>
            <a:r>
              <a:rPr lang="pt-BR" altLang="pt-BR" sz="1600">
                <a:latin typeface="Times New Roman" pitchFamily="18" charset="0"/>
              </a:rPr>
              <a:t>) = ?</a:t>
            </a:r>
          </a:p>
        </p:txBody>
      </p:sp>
      <p:sp>
        <p:nvSpPr>
          <p:cNvPr id="110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Distribuição Binomial</a:t>
            </a:r>
          </a:p>
        </p:txBody>
      </p:sp>
      <p:grpSp>
        <p:nvGrpSpPr>
          <p:cNvPr id="10244" name="Group 4"/>
          <p:cNvGrpSpPr>
            <a:grpSpLocks/>
          </p:cNvGrpSpPr>
          <p:nvPr/>
        </p:nvGrpSpPr>
        <p:grpSpPr bwMode="auto">
          <a:xfrm>
            <a:off x="838200" y="1447800"/>
            <a:ext cx="914400" cy="1295400"/>
            <a:chOff x="2688" y="3264"/>
            <a:chExt cx="576" cy="816"/>
          </a:xfrm>
        </p:grpSpPr>
        <p:sp>
          <p:nvSpPr>
            <p:cNvPr id="10276" name="Freeform 5"/>
            <p:cNvSpPr>
              <a:spLocks/>
            </p:cNvSpPr>
            <p:nvPr/>
          </p:nvSpPr>
          <p:spPr bwMode="auto">
            <a:xfrm>
              <a:off x="2688" y="3264"/>
              <a:ext cx="576" cy="816"/>
            </a:xfrm>
            <a:custGeom>
              <a:avLst/>
              <a:gdLst>
                <a:gd name="T0" fmla="*/ 0 w 576"/>
                <a:gd name="T1" fmla="*/ 0 h 816"/>
                <a:gd name="T2" fmla="*/ 0 w 576"/>
                <a:gd name="T3" fmla="*/ 816 h 816"/>
                <a:gd name="T4" fmla="*/ 576 w 576"/>
                <a:gd name="T5" fmla="*/ 816 h 816"/>
                <a:gd name="T6" fmla="*/ 576 w 576"/>
                <a:gd name="T7" fmla="*/ 0 h 8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"/>
                <a:gd name="T13" fmla="*/ 0 h 816"/>
                <a:gd name="T14" fmla="*/ 576 w 576"/>
                <a:gd name="T15" fmla="*/ 816 h 8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" h="816">
                  <a:moveTo>
                    <a:pt x="0" y="0"/>
                  </a:moveTo>
                  <a:lnTo>
                    <a:pt x="0" y="816"/>
                  </a:lnTo>
                  <a:lnTo>
                    <a:pt x="576" y="816"/>
                  </a:lnTo>
                  <a:lnTo>
                    <a:pt x="576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10277" name="Oval 6"/>
            <p:cNvSpPr>
              <a:spLocks noChangeArrowheads="1"/>
            </p:cNvSpPr>
            <p:nvPr/>
          </p:nvSpPr>
          <p:spPr bwMode="auto">
            <a:xfrm>
              <a:off x="2784" y="336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0278" name="Oval 7"/>
            <p:cNvSpPr>
              <a:spLocks noChangeArrowheads="1"/>
            </p:cNvSpPr>
            <p:nvPr/>
          </p:nvSpPr>
          <p:spPr bwMode="auto">
            <a:xfrm>
              <a:off x="3024" y="348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0279" name="Oval 8"/>
            <p:cNvSpPr>
              <a:spLocks noChangeArrowheads="1"/>
            </p:cNvSpPr>
            <p:nvPr/>
          </p:nvSpPr>
          <p:spPr bwMode="auto">
            <a:xfrm>
              <a:off x="2784" y="384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0280" name="Oval 9"/>
            <p:cNvSpPr>
              <a:spLocks noChangeArrowheads="1"/>
            </p:cNvSpPr>
            <p:nvPr/>
          </p:nvSpPr>
          <p:spPr bwMode="auto">
            <a:xfrm>
              <a:off x="2784" y="3600"/>
              <a:ext cx="144" cy="14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0281" name="Oval 10"/>
            <p:cNvSpPr>
              <a:spLocks noChangeArrowheads="1"/>
            </p:cNvSpPr>
            <p:nvPr/>
          </p:nvSpPr>
          <p:spPr bwMode="auto">
            <a:xfrm>
              <a:off x="3024" y="3696"/>
              <a:ext cx="144" cy="14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0282" name="Oval 11"/>
            <p:cNvSpPr>
              <a:spLocks noChangeArrowheads="1"/>
            </p:cNvSpPr>
            <p:nvPr/>
          </p:nvSpPr>
          <p:spPr bwMode="auto">
            <a:xfrm>
              <a:off x="3024" y="3264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0283" name="Oval 12"/>
            <p:cNvSpPr>
              <a:spLocks noChangeArrowheads="1"/>
            </p:cNvSpPr>
            <p:nvPr/>
          </p:nvSpPr>
          <p:spPr bwMode="auto">
            <a:xfrm>
              <a:off x="3024" y="3912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sp>
        <p:nvSpPr>
          <p:cNvPr id="10245" name="Text Box 13"/>
          <p:cNvSpPr txBox="1">
            <a:spLocks noChangeArrowheads="1"/>
          </p:cNvSpPr>
          <p:nvPr/>
        </p:nvSpPr>
        <p:spPr bwMode="auto">
          <a:xfrm>
            <a:off x="838200" y="2971800"/>
            <a:ext cx="3962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 dirty="0">
                <a:latin typeface="Times New Roman" pitchFamily="18" charset="0"/>
              </a:rPr>
              <a:t>X</a:t>
            </a:r>
            <a:r>
              <a:rPr lang="pt-BR" altLang="pt-BR" sz="1600" dirty="0">
                <a:latin typeface="Times New Roman" pitchFamily="18" charset="0"/>
              </a:rPr>
              <a:t>: {0, 1, 2, 3}       </a:t>
            </a:r>
            <a:r>
              <a:rPr lang="pt-BR" altLang="pt-BR" sz="1600" i="1" dirty="0">
                <a:latin typeface="Times New Roman" pitchFamily="18" charset="0"/>
              </a:rPr>
              <a:t>p</a:t>
            </a:r>
            <a:r>
              <a:rPr lang="pt-BR" altLang="pt-BR" sz="1600" dirty="0">
                <a:latin typeface="Times New Roman" pitchFamily="18" charset="0"/>
              </a:rPr>
              <a:t> = 5/7       </a:t>
            </a:r>
            <a:r>
              <a:rPr lang="pt-BR" altLang="pt-BR" sz="1600" i="1" dirty="0">
                <a:latin typeface="Times New Roman" pitchFamily="18" charset="0"/>
              </a:rPr>
              <a:t>q</a:t>
            </a:r>
            <a:r>
              <a:rPr lang="pt-BR" altLang="pt-BR" sz="1600" dirty="0">
                <a:latin typeface="Times New Roman" pitchFamily="18" charset="0"/>
              </a:rPr>
              <a:t> = 2/7       </a:t>
            </a:r>
            <a:r>
              <a:rPr lang="pt-BR" altLang="pt-BR" sz="1600" i="1" dirty="0">
                <a:latin typeface="Times New Roman" pitchFamily="18" charset="0"/>
              </a:rPr>
              <a:t>n</a:t>
            </a:r>
            <a:r>
              <a:rPr lang="pt-BR" altLang="pt-BR" sz="1600" dirty="0">
                <a:latin typeface="Times New Roman" pitchFamily="18" charset="0"/>
              </a:rPr>
              <a:t> = 3</a:t>
            </a:r>
            <a:endParaRPr lang="pt-BR" altLang="pt-BR" sz="1600" dirty="0">
              <a:latin typeface="Tahoma" panose="020B0604030504040204" pitchFamily="34" charset="0"/>
            </a:endParaRPr>
          </a:p>
        </p:txBody>
      </p:sp>
      <p:graphicFrame>
        <p:nvGraphicFramePr>
          <p:cNvPr id="110616" name="Object 24"/>
          <p:cNvGraphicFramePr>
            <a:graphicFrameLocks noChangeAspect="1"/>
          </p:cNvGraphicFramePr>
          <p:nvPr/>
        </p:nvGraphicFramePr>
        <p:xfrm>
          <a:off x="914400" y="3625850"/>
          <a:ext cx="1054100" cy="29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36600" imgH="203200" progId="Equation.DSMT4">
                  <p:embed/>
                </p:oleObj>
              </mc:Choice>
              <mc:Fallback>
                <p:oleObj name="Equation" r:id="rId2" imgW="736600" imgH="203200" progId="Equation.DSMT4">
                  <p:embed/>
                  <p:pic>
                    <p:nvPicPr>
                      <p:cNvPr id="110616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3625850"/>
                        <a:ext cx="1054100" cy="290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617" name="Object 25"/>
          <p:cNvGraphicFramePr>
            <a:graphicFrameLocks noChangeAspect="1"/>
          </p:cNvGraphicFramePr>
          <p:nvPr/>
        </p:nvGraphicFramePr>
        <p:xfrm>
          <a:off x="2038350" y="3473450"/>
          <a:ext cx="727075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07780" imgH="393529" progId="Equation.DSMT4">
                  <p:embed/>
                </p:oleObj>
              </mc:Choice>
              <mc:Fallback>
                <p:oleObj name="Equation" r:id="rId4" imgW="507780" imgH="393529" progId="Equation.DSMT4">
                  <p:embed/>
                  <p:pic>
                    <p:nvPicPr>
                      <p:cNvPr id="110617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8350" y="3473450"/>
                        <a:ext cx="727075" cy="56356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618" name="Object 26"/>
          <p:cNvGraphicFramePr>
            <a:graphicFrameLocks noChangeAspect="1"/>
          </p:cNvGraphicFramePr>
          <p:nvPr/>
        </p:nvGraphicFramePr>
        <p:xfrm>
          <a:off x="2063750" y="3475038"/>
          <a:ext cx="527050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68140" imgH="393529" progId="Equation.DSMT4">
                  <p:embed/>
                </p:oleObj>
              </mc:Choice>
              <mc:Fallback>
                <p:oleObj name="Equation" r:id="rId6" imgW="368140" imgH="393529" progId="Equation.DSMT4">
                  <p:embed/>
                  <p:pic>
                    <p:nvPicPr>
                      <p:cNvPr id="110618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750" y="3475038"/>
                        <a:ext cx="527050" cy="563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619" name="Object 27"/>
          <p:cNvGraphicFramePr>
            <a:graphicFrameLocks noChangeAspect="1"/>
          </p:cNvGraphicFramePr>
          <p:nvPr/>
        </p:nvGraphicFramePr>
        <p:xfrm>
          <a:off x="2792413" y="3419475"/>
          <a:ext cx="1093787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61669" imgH="469696" progId="Equation.DSMT4">
                  <p:embed/>
                </p:oleObj>
              </mc:Choice>
              <mc:Fallback>
                <p:oleObj name="Equation" r:id="rId8" imgW="761669" imgH="469696" progId="Equation.DSMT4">
                  <p:embed/>
                  <p:pic>
                    <p:nvPicPr>
                      <p:cNvPr id="110619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2413" y="3419475"/>
                        <a:ext cx="1093787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620" name="Text Box 28"/>
          <p:cNvSpPr txBox="1">
            <a:spLocks noChangeArrowheads="1"/>
          </p:cNvSpPr>
          <p:nvPr/>
        </p:nvSpPr>
        <p:spPr bwMode="auto">
          <a:xfrm>
            <a:off x="2005013" y="3975100"/>
            <a:ext cx="5905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q q q</a:t>
            </a:r>
          </a:p>
        </p:txBody>
      </p:sp>
      <p:graphicFrame>
        <p:nvGraphicFramePr>
          <p:cNvPr id="110621" name="Object 29"/>
          <p:cNvGraphicFramePr>
            <a:graphicFrameLocks noChangeAspect="1"/>
          </p:cNvGraphicFramePr>
          <p:nvPr/>
        </p:nvGraphicFramePr>
        <p:xfrm>
          <a:off x="947738" y="4648200"/>
          <a:ext cx="1035050" cy="29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723586" imgH="203112" progId="Equation.DSMT4">
                  <p:embed/>
                </p:oleObj>
              </mc:Choice>
              <mc:Fallback>
                <p:oleObj name="Equation" r:id="rId10" imgW="723586" imgH="203112" progId="Equation.DSMT4">
                  <p:embed/>
                  <p:pic>
                    <p:nvPicPr>
                      <p:cNvPr id="110621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7738" y="4648200"/>
                        <a:ext cx="1035050" cy="290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622" name="Object 30"/>
          <p:cNvGraphicFramePr>
            <a:graphicFrameLocks noChangeAspect="1"/>
          </p:cNvGraphicFramePr>
          <p:nvPr/>
        </p:nvGraphicFramePr>
        <p:xfrm>
          <a:off x="2371725" y="4495800"/>
          <a:ext cx="727075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507780" imgH="393529" progId="Equation.DSMT4">
                  <p:embed/>
                </p:oleObj>
              </mc:Choice>
              <mc:Fallback>
                <p:oleObj name="Equation" r:id="rId12" imgW="507780" imgH="393529" progId="Equation.DSMT4">
                  <p:embed/>
                  <p:pic>
                    <p:nvPicPr>
                      <p:cNvPr id="110622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1725" y="4495800"/>
                        <a:ext cx="727075" cy="56356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623" name="Object 31"/>
          <p:cNvGraphicFramePr>
            <a:graphicFrameLocks noChangeAspect="1"/>
          </p:cNvGraphicFramePr>
          <p:nvPr/>
        </p:nvGraphicFramePr>
        <p:xfrm>
          <a:off x="2390775" y="4495800"/>
          <a:ext cx="527050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68140" imgH="393529" progId="Equation.DSMT4">
                  <p:embed/>
                </p:oleObj>
              </mc:Choice>
              <mc:Fallback>
                <p:oleObj name="Equation" r:id="rId14" imgW="368140" imgH="393529" progId="Equation.DSMT4">
                  <p:embed/>
                  <p:pic>
                    <p:nvPicPr>
                      <p:cNvPr id="110623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0775" y="4495800"/>
                        <a:ext cx="527050" cy="563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624" name="Text Box 32"/>
          <p:cNvSpPr txBox="1">
            <a:spLocks noChangeArrowheads="1"/>
          </p:cNvSpPr>
          <p:nvPr/>
        </p:nvSpPr>
        <p:spPr bwMode="auto">
          <a:xfrm>
            <a:off x="2330450" y="4997450"/>
            <a:ext cx="5905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p q q</a:t>
            </a:r>
          </a:p>
        </p:txBody>
      </p:sp>
      <p:graphicFrame>
        <p:nvGraphicFramePr>
          <p:cNvPr id="110625" name="Object 33"/>
          <p:cNvGraphicFramePr>
            <a:graphicFrameLocks noChangeAspect="1"/>
          </p:cNvGraphicFramePr>
          <p:nvPr/>
        </p:nvGraphicFramePr>
        <p:xfrm>
          <a:off x="1968500" y="4492625"/>
          <a:ext cx="436563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304536" imgH="393359" progId="Equation.DSMT4">
                  <p:embed/>
                </p:oleObj>
              </mc:Choice>
              <mc:Fallback>
                <p:oleObj name="Equation" r:id="rId15" imgW="304536" imgH="393359" progId="Equation.DSMT4">
                  <p:embed/>
                  <p:pic>
                    <p:nvPicPr>
                      <p:cNvPr id="110625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8500" y="4492625"/>
                        <a:ext cx="436563" cy="563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626" name="Object 34"/>
          <p:cNvGraphicFramePr>
            <a:graphicFrameLocks noChangeAspect="1"/>
          </p:cNvGraphicFramePr>
          <p:nvPr/>
        </p:nvGraphicFramePr>
        <p:xfrm>
          <a:off x="3095625" y="4438650"/>
          <a:ext cx="1619250" cy="671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129810" imgH="469696" progId="Equation.DSMT4">
                  <p:embed/>
                </p:oleObj>
              </mc:Choice>
              <mc:Fallback>
                <p:oleObj name="Equation" r:id="rId17" imgW="1129810" imgH="469696" progId="Equation.DSMT4">
                  <p:embed/>
                  <p:pic>
                    <p:nvPicPr>
                      <p:cNvPr id="110626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5625" y="4438650"/>
                        <a:ext cx="1619250" cy="671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627" name="Object 35"/>
          <p:cNvGraphicFramePr>
            <a:graphicFrameLocks noChangeAspect="1"/>
          </p:cNvGraphicFramePr>
          <p:nvPr/>
        </p:nvGraphicFramePr>
        <p:xfrm>
          <a:off x="930275" y="5562600"/>
          <a:ext cx="1071563" cy="29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748975" imgH="203112" progId="Equation.DSMT4">
                  <p:embed/>
                </p:oleObj>
              </mc:Choice>
              <mc:Fallback>
                <p:oleObj name="Equation" r:id="rId19" imgW="748975" imgH="203112" progId="Equation.DSMT4">
                  <p:embed/>
                  <p:pic>
                    <p:nvPicPr>
                      <p:cNvPr id="110627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0275" y="5562600"/>
                        <a:ext cx="1071563" cy="290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628" name="Object 36"/>
          <p:cNvGraphicFramePr>
            <a:graphicFrameLocks noChangeAspect="1"/>
          </p:cNvGraphicFramePr>
          <p:nvPr/>
        </p:nvGraphicFramePr>
        <p:xfrm>
          <a:off x="2371725" y="5410200"/>
          <a:ext cx="727075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507780" imgH="393529" progId="Equation.DSMT4">
                  <p:embed/>
                </p:oleObj>
              </mc:Choice>
              <mc:Fallback>
                <p:oleObj name="Equation" r:id="rId21" imgW="507780" imgH="393529" progId="Equation.DSMT4">
                  <p:embed/>
                  <p:pic>
                    <p:nvPicPr>
                      <p:cNvPr id="110628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1725" y="5410200"/>
                        <a:ext cx="727075" cy="56356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629" name="Object 37"/>
          <p:cNvGraphicFramePr>
            <a:graphicFrameLocks noChangeAspect="1"/>
          </p:cNvGraphicFramePr>
          <p:nvPr/>
        </p:nvGraphicFramePr>
        <p:xfrm>
          <a:off x="2390775" y="5410200"/>
          <a:ext cx="527050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368140" imgH="393529" progId="Equation.DSMT4">
                  <p:embed/>
                </p:oleObj>
              </mc:Choice>
              <mc:Fallback>
                <p:oleObj name="Equation" r:id="rId23" imgW="368140" imgH="393529" progId="Equation.DSMT4">
                  <p:embed/>
                  <p:pic>
                    <p:nvPicPr>
                      <p:cNvPr id="110629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0775" y="5410200"/>
                        <a:ext cx="527050" cy="563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630" name="Text Box 38"/>
          <p:cNvSpPr txBox="1">
            <a:spLocks noChangeArrowheads="1"/>
          </p:cNvSpPr>
          <p:nvPr/>
        </p:nvSpPr>
        <p:spPr bwMode="auto">
          <a:xfrm>
            <a:off x="2330450" y="5911850"/>
            <a:ext cx="5905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p p q</a:t>
            </a:r>
          </a:p>
        </p:txBody>
      </p:sp>
      <p:graphicFrame>
        <p:nvGraphicFramePr>
          <p:cNvPr id="110631" name="Object 39"/>
          <p:cNvGraphicFramePr>
            <a:graphicFrameLocks noChangeAspect="1"/>
          </p:cNvGraphicFramePr>
          <p:nvPr/>
        </p:nvGraphicFramePr>
        <p:xfrm>
          <a:off x="1968500" y="5407025"/>
          <a:ext cx="436563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304536" imgH="393359" progId="Equation.DSMT4">
                  <p:embed/>
                </p:oleObj>
              </mc:Choice>
              <mc:Fallback>
                <p:oleObj name="Equation" r:id="rId24" imgW="304536" imgH="393359" progId="Equation.DSMT4">
                  <p:embed/>
                  <p:pic>
                    <p:nvPicPr>
                      <p:cNvPr id="110631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8500" y="5407025"/>
                        <a:ext cx="436563" cy="563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632" name="Object 40"/>
          <p:cNvGraphicFramePr>
            <a:graphicFrameLocks noChangeAspect="1"/>
          </p:cNvGraphicFramePr>
          <p:nvPr/>
        </p:nvGraphicFramePr>
        <p:xfrm>
          <a:off x="3095625" y="5353050"/>
          <a:ext cx="1619250" cy="671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129810" imgH="469696" progId="Equation.DSMT4">
                  <p:embed/>
                </p:oleObj>
              </mc:Choice>
              <mc:Fallback>
                <p:oleObj name="Equation" r:id="rId26" imgW="1129810" imgH="469696" progId="Equation.DSMT4">
                  <p:embed/>
                  <p:pic>
                    <p:nvPicPr>
                      <p:cNvPr id="110632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5625" y="5353050"/>
                        <a:ext cx="1619250" cy="671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633" name="Object 41"/>
          <p:cNvGraphicFramePr>
            <a:graphicFrameLocks noChangeAspect="1"/>
          </p:cNvGraphicFramePr>
          <p:nvPr/>
        </p:nvGraphicFramePr>
        <p:xfrm>
          <a:off x="5257800" y="3625850"/>
          <a:ext cx="1054100" cy="29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736600" imgH="203200" progId="Equation.DSMT4">
                  <p:embed/>
                </p:oleObj>
              </mc:Choice>
              <mc:Fallback>
                <p:oleObj name="Equation" r:id="rId28" imgW="736600" imgH="203200" progId="Equation.DSMT4">
                  <p:embed/>
                  <p:pic>
                    <p:nvPicPr>
                      <p:cNvPr id="110633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3625850"/>
                        <a:ext cx="1054100" cy="290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634" name="Object 42"/>
          <p:cNvGraphicFramePr>
            <a:graphicFrameLocks noChangeAspect="1"/>
          </p:cNvGraphicFramePr>
          <p:nvPr/>
        </p:nvGraphicFramePr>
        <p:xfrm>
          <a:off x="6381750" y="3473450"/>
          <a:ext cx="727075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507780" imgH="393529" progId="Equation.DSMT4">
                  <p:embed/>
                </p:oleObj>
              </mc:Choice>
              <mc:Fallback>
                <p:oleObj name="Equation" r:id="rId30" imgW="507780" imgH="393529" progId="Equation.DSMT4">
                  <p:embed/>
                  <p:pic>
                    <p:nvPicPr>
                      <p:cNvPr id="110634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1750" y="3473450"/>
                        <a:ext cx="727075" cy="56356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635" name="Object 43"/>
          <p:cNvGraphicFramePr>
            <a:graphicFrameLocks noChangeAspect="1"/>
          </p:cNvGraphicFramePr>
          <p:nvPr/>
        </p:nvGraphicFramePr>
        <p:xfrm>
          <a:off x="6407150" y="3475038"/>
          <a:ext cx="527050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368140" imgH="393529" progId="Equation.DSMT4">
                  <p:embed/>
                </p:oleObj>
              </mc:Choice>
              <mc:Fallback>
                <p:oleObj name="Equation" r:id="rId32" imgW="368140" imgH="393529" progId="Equation.DSMT4">
                  <p:embed/>
                  <p:pic>
                    <p:nvPicPr>
                      <p:cNvPr id="110635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7150" y="3475038"/>
                        <a:ext cx="527050" cy="563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636" name="Object 44"/>
          <p:cNvGraphicFramePr>
            <a:graphicFrameLocks noChangeAspect="1"/>
          </p:cNvGraphicFramePr>
          <p:nvPr/>
        </p:nvGraphicFramePr>
        <p:xfrm>
          <a:off x="7143750" y="3419475"/>
          <a:ext cx="1076325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749300" imgH="469900" progId="Equation.DSMT4">
                  <p:embed/>
                </p:oleObj>
              </mc:Choice>
              <mc:Fallback>
                <p:oleObj name="Equation" r:id="rId33" imgW="749300" imgH="469900" progId="Equation.DSMT4">
                  <p:embed/>
                  <p:pic>
                    <p:nvPicPr>
                      <p:cNvPr id="110636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3750" y="3419475"/>
                        <a:ext cx="1076325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637" name="Text Box 45"/>
          <p:cNvSpPr txBox="1">
            <a:spLocks noChangeArrowheads="1"/>
          </p:cNvSpPr>
          <p:nvPr/>
        </p:nvSpPr>
        <p:spPr bwMode="auto">
          <a:xfrm>
            <a:off x="6348413" y="3975100"/>
            <a:ext cx="5905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p p p</a:t>
            </a:r>
          </a:p>
        </p:txBody>
      </p:sp>
      <p:grpSp>
        <p:nvGrpSpPr>
          <p:cNvPr id="3" name="Group 52"/>
          <p:cNvGrpSpPr>
            <a:grpSpLocks/>
          </p:cNvGrpSpPr>
          <p:nvPr/>
        </p:nvGrpSpPr>
        <p:grpSpPr bwMode="auto">
          <a:xfrm>
            <a:off x="5867400" y="4419600"/>
            <a:ext cx="1676400" cy="685800"/>
            <a:chOff x="3696" y="2784"/>
            <a:chExt cx="1056" cy="432"/>
          </a:xfrm>
        </p:grpSpPr>
        <p:sp>
          <p:nvSpPr>
            <p:cNvPr id="10274" name="Rectangle 50"/>
            <p:cNvSpPr>
              <a:spLocks noChangeArrowheads="1"/>
            </p:cNvSpPr>
            <p:nvPr/>
          </p:nvSpPr>
          <p:spPr bwMode="auto">
            <a:xfrm>
              <a:off x="3696" y="2784"/>
              <a:ext cx="1056" cy="4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graphicFrame>
          <p:nvGraphicFramePr>
            <p:cNvPr id="10275" name="Object 47"/>
            <p:cNvGraphicFramePr>
              <a:graphicFrameLocks noChangeAspect="1"/>
            </p:cNvGraphicFramePr>
            <p:nvPr/>
          </p:nvGraphicFramePr>
          <p:xfrm>
            <a:off x="4331" y="2880"/>
            <a:ext cx="403" cy="2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5" imgW="444307" imgH="228501" progId="Equation.DSMT4">
                    <p:embed/>
                  </p:oleObj>
                </mc:Choice>
                <mc:Fallback>
                  <p:oleObj name="Equation" r:id="rId35" imgW="444307" imgH="228501" progId="Equation.DSMT4">
                    <p:embed/>
                    <p:pic>
                      <p:nvPicPr>
                        <p:cNvPr id="10275" name="Object 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31" y="2880"/>
                          <a:ext cx="403" cy="206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10640" name="Object 48"/>
          <p:cNvGraphicFramePr>
            <a:graphicFrameLocks noChangeAspect="1"/>
          </p:cNvGraphicFramePr>
          <p:nvPr/>
        </p:nvGraphicFramePr>
        <p:xfrm>
          <a:off x="5846763" y="4467225"/>
          <a:ext cx="965200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7" imgW="672808" imgH="418918" progId="Equation.DSMT4">
                  <p:embed/>
                </p:oleObj>
              </mc:Choice>
              <mc:Fallback>
                <p:oleObj name="Equation" r:id="rId37" imgW="672808" imgH="418918" progId="Equation.DSMT4">
                  <p:embed/>
                  <p:pic>
                    <p:nvPicPr>
                      <p:cNvPr id="11064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46763" y="4467225"/>
                        <a:ext cx="965200" cy="6000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641" name="Object 49"/>
          <p:cNvGraphicFramePr>
            <a:graphicFrameLocks noChangeAspect="1"/>
          </p:cNvGraphicFramePr>
          <p:nvPr/>
        </p:nvGraphicFramePr>
        <p:xfrm>
          <a:off x="5311775" y="5230813"/>
          <a:ext cx="1639888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9" imgW="1143000" imgH="457200" progId="Equation.DSMT4">
                  <p:embed/>
                </p:oleObj>
              </mc:Choice>
              <mc:Fallback>
                <p:oleObj name="Equation" r:id="rId39" imgW="1143000" imgH="457200" progId="Equation.DSMT4">
                  <p:embed/>
                  <p:pic>
                    <p:nvPicPr>
                      <p:cNvPr id="110641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11775" y="5230813"/>
                        <a:ext cx="1639888" cy="6540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645" name="Text Box 53"/>
          <p:cNvSpPr txBox="1">
            <a:spLocks noChangeArrowheads="1"/>
          </p:cNvSpPr>
          <p:nvPr/>
        </p:nvSpPr>
        <p:spPr bwMode="auto">
          <a:xfrm>
            <a:off x="4686300" y="2968625"/>
            <a:ext cx="35639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(número de bolas retiradas da urna)</a:t>
            </a:r>
          </a:p>
        </p:txBody>
      </p:sp>
      <p:sp>
        <p:nvSpPr>
          <p:cNvPr id="10272" name="Text Box 3"/>
          <p:cNvSpPr txBox="1">
            <a:spLocks noChangeArrowheads="1"/>
          </p:cNvSpPr>
          <p:nvPr/>
        </p:nvSpPr>
        <p:spPr bwMode="auto">
          <a:xfrm>
            <a:off x="1981200" y="1600200"/>
            <a:ext cx="6858000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Considere o experimento: retiram-se 3 bolas da urna (com reposição). Define-se uma v.a. </a:t>
            </a:r>
            <a:r>
              <a:rPr lang="pt-BR" altLang="pt-BR" sz="1600" i="1" dirty="0">
                <a:latin typeface="Times New Roman" pitchFamily="18" charset="0"/>
              </a:rPr>
              <a:t>X</a:t>
            </a:r>
            <a:r>
              <a:rPr lang="pt-BR" altLang="pt-BR" sz="1600" dirty="0">
                <a:latin typeface="Tahoma" panose="020B0604030504040204" pitchFamily="34" charset="0"/>
              </a:rPr>
              <a:t> cujos valores representam o número total de bolas vermelhas dentre as 3 escolhidas.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D87AB70-6985-46E1-A872-6E1F1CE2B537}" type="slidenum">
              <a:rPr lang="pt-BR"/>
              <a:pPr>
                <a:defRPr/>
              </a:pPr>
              <a:t>13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0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638" grpId="0" autoUpdateAnimBg="0"/>
      <p:bldP spid="110620" grpId="0" autoUpdateAnimBg="0"/>
      <p:bldP spid="110624" grpId="0" autoUpdateAnimBg="0"/>
      <p:bldP spid="110630" grpId="0" autoUpdateAnimBg="0"/>
      <p:bldP spid="110637" grpId="0" autoUpdateAnimBg="0"/>
      <p:bldP spid="110645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Distribuição Binomial</a:t>
            </a:r>
          </a:p>
        </p:txBody>
      </p:sp>
      <p:sp>
        <p:nvSpPr>
          <p:cNvPr id="11267" name="Text Box 3"/>
          <p:cNvSpPr txBox="1">
            <a:spLocks noChangeArrowheads="1"/>
          </p:cNvSpPr>
          <p:nvPr/>
        </p:nvSpPr>
        <p:spPr bwMode="auto">
          <a:xfrm>
            <a:off x="1981200" y="1600200"/>
            <a:ext cx="6858000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Considere o experimento: retiram-se 3 bolas da urna (com reposição). Define-se uma v.a. </a:t>
            </a:r>
            <a:r>
              <a:rPr lang="pt-BR" altLang="pt-BR" sz="1600" i="1" dirty="0">
                <a:latin typeface="Times New Roman" pitchFamily="18" charset="0"/>
              </a:rPr>
              <a:t>X</a:t>
            </a:r>
            <a:r>
              <a:rPr lang="pt-BR" altLang="pt-BR" sz="1600" dirty="0">
                <a:latin typeface="Tahoma" panose="020B0604030504040204" pitchFamily="34" charset="0"/>
              </a:rPr>
              <a:t> cujos valores representam o número total de bolas vermelhas dentre as 3 escolhidas.</a:t>
            </a:r>
          </a:p>
        </p:txBody>
      </p:sp>
      <p:grpSp>
        <p:nvGrpSpPr>
          <p:cNvPr id="11268" name="Group 4"/>
          <p:cNvGrpSpPr>
            <a:grpSpLocks/>
          </p:cNvGrpSpPr>
          <p:nvPr/>
        </p:nvGrpSpPr>
        <p:grpSpPr bwMode="auto">
          <a:xfrm>
            <a:off x="838200" y="1447800"/>
            <a:ext cx="914400" cy="1295400"/>
            <a:chOff x="2688" y="3264"/>
            <a:chExt cx="576" cy="816"/>
          </a:xfrm>
        </p:grpSpPr>
        <p:sp>
          <p:nvSpPr>
            <p:cNvPr id="11274" name="Freeform 5"/>
            <p:cNvSpPr>
              <a:spLocks/>
            </p:cNvSpPr>
            <p:nvPr/>
          </p:nvSpPr>
          <p:spPr bwMode="auto">
            <a:xfrm>
              <a:off x="2688" y="3264"/>
              <a:ext cx="576" cy="816"/>
            </a:xfrm>
            <a:custGeom>
              <a:avLst/>
              <a:gdLst>
                <a:gd name="T0" fmla="*/ 0 w 576"/>
                <a:gd name="T1" fmla="*/ 0 h 816"/>
                <a:gd name="T2" fmla="*/ 0 w 576"/>
                <a:gd name="T3" fmla="*/ 816 h 816"/>
                <a:gd name="T4" fmla="*/ 576 w 576"/>
                <a:gd name="T5" fmla="*/ 816 h 816"/>
                <a:gd name="T6" fmla="*/ 576 w 576"/>
                <a:gd name="T7" fmla="*/ 0 h 8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"/>
                <a:gd name="T13" fmla="*/ 0 h 816"/>
                <a:gd name="T14" fmla="*/ 576 w 576"/>
                <a:gd name="T15" fmla="*/ 816 h 8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" h="816">
                  <a:moveTo>
                    <a:pt x="0" y="0"/>
                  </a:moveTo>
                  <a:lnTo>
                    <a:pt x="0" y="816"/>
                  </a:lnTo>
                  <a:lnTo>
                    <a:pt x="576" y="816"/>
                  </a:lnTo>
                  <a:lnTo>
                    <a:pt x="576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11275" name="Oval 6"/>
            <p:cNvSpPr>
              <a:spLocks noChangeArrowheads="1"/>
            </p:cNvSpPr>
            <p:nvPr/>
          </p:nvSpPr>
          <p:spPr bwMode="auto">
            <a:xfrm>
              <a:off x="2784" y="336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1276" name="Oval 7"/>
            <p:cNvSpPr>
              <a:spLocks noChangeArrowheads="1"/>
            </p:cNvSpPr>
            <p:nvPr/>
          </p:nvSpPr>
          <p:spPr bwMode="auto">
            <a:xfrm>
              <a:off x="3024" y="348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1277" name="Oval 8"/>
            <p:cNvSpPr>
              <a:spLocks noChangeArrowheads="1"/>
            </p:cNvSpPr>
            <p:nvPr/>
          </p:nvSpPr>
          <p:spPr bwMode="auto">
            <a:xfrm>
              <a:off x="2784" y="384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1278" name="Oval 9"/>
            <p:cNvSpPr>
              <a:spLocks noChangeArrowheads="1"/>
            </p:cNvSpPr>
            <p:nvPr/>
          </p:nvSpPr>
          <p:spPr bwMode="auto">
            <a:xfrm>
              <a:off x="2784" y="3600"/>
              <a:ext cx="144" cy="14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1279" name="Oval 10"/>
            <p:cNvSpPr>
              <a:spLocks noChangeArrowheads="1"/>
            </p:cNvSpPr>
            <p:nvPr/>
          </p:nvSpPr>
          <p:spPr bwMode="auto">
            <a:xfrm>
              <a:off x="3024" y="3696"/>
              <a:ext cx="144" cy="14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1280" name="Oval 11"/>
            <p:cNvSpPr>
              <a:spLocks noChangeArrowheads="1"/>
            </p:cNvSpPr>
            <p:nvPr/>
          </p:nvSpPr>
          <p:spPr bwMode="auto">
            <a:xfrm>
              <a:off x="3024" y="3264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1281" name="Oval 12"/>
            <p:cNvSpPr>
              <a:spLocks noChangeArrowheads="1"/>
            </p:cNvSpPr>
            <p:nvPr/>
          </p:nvSpPr>
          <p:spPr bwMode="auto">
            <a:xfrm>
              <a:off x="3024" y="3912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sp>
        <p:nvSpPr>
          <p:cNvPr id="11269" name="Text Box 13"/>
          <p:cNvSpPr txBox="1">
            <a:spLocks noChangeArrowheads="1"/>
          </p:cNvSpPr>
          <p:nvPr/>
        </p:nvSpPr>
        <p:spPr bwMode="auto">
          <a:xfrm>
            <a:off x="838200" y="2971800"/>
            <a:ext cx="1371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 dirty="0">
                <a:latin typeface="Times New Roman" pitchFamily="18" charset="0"/>
              </a:rPr>
              <a:t>X</a:t>
            </a:r>
            <a:r>
              <a:rPr lang="pt-BR" altLang="pt-BR" sz="1600" dirty="0">
                <a:latin typeface="Times New Roman" pitchFamily="18" charset="0"/>
              </a:rPr>
              <a:t>: {0, 1, 2, 3}</a:t>
            </a:r>
            <a:endParaRPr lang="pt-BR" altLang="pt-BR" sz="1600" dirty="0">
              <a:latin typeface="Tahoma" panose="020B0604030504040204" pitchFamily="34" charset="0"/>
            </a:endParaRPr>
          </a:p>
        </p:txBody>
      </p:sp>
      <p:graphicFrame>
        <p:nvGraphicFramePr>
          <p:cNvPr id="11270" name="Object 20"/>
          <p:cNvGraphicFramePr>
            <a:graphicFrameLocks noChangeAspect="1"/>
          </p:cNvGraphicFramePr>
          <p:nvPr/>
        </p:nvGraphicFramePr>
        <p:xfrm>
          <a:off x="914400" y="3765550"/>
          <a:ext cx="1639888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3000" imgH="457200" progId="Equation.DSMT4">
                  <p:embed/>
                </p:oleObj>
              </mc:Choice>
              <mc:Fallback>
                <p:oleObj name="Equation" r:id="rId2" imgW="1143000" imgH="457200" progId="Equation.DSMT4">
                  <p:embed/>
                  <p:pic>
                    <p:nvPicPr>
                      <p:cNvPr id="1127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3765550"/>
                        <a:ext cx="1639888" cy="6540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17" name="Object 21"/>
          <p:cNvGraphicFramePr>
            <a:graphicFrameLocks noChangeAspect="1"/>
          </p:cNvGraphicFramePr>
          <p:nvPr/>
        </p:nvGraphicFramePr>
        <p:xfrm>
          <a:off x="914400" y="5029200"/>
          <a:ext cx="1052513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36600" imgH="431800" progId="Equation.DSMT4">
                  <p:embed/>
                </p:oleObj>
              </mc:Choice>
              <mc:Fallback>
                <p:oleObj name="Equation" r:id="rId4" imgW="736600" imgH="431800" progId="Equation.DSMT4">
                  <p:embed/>
                  <p:pic>
                    <p:nvPicPr>
                      <p:cNvPr id="106517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5029200"/>
                        <a:ext cx="1052513" cy="619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 Box 22"/>
          <p:cNvSpPr txBox="1">
            <a:spLocks noChangeArrowheads="1"/>
          </p:cNvSpPr>
          <p:nvPr/>
        </p:nvSpPr>
        <p:spPr bwMode="auto">
          <a:xfrm>
            <a:off x="3452813" y="5599113"/>
            <a:ext cx="3976687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Analisando o caso particular onde </a:t>
            </a:r>
            <a:r>
              <a:rPr lang="pt-BR" altLang="pt-BR" sz="16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pt-BR" altLang="pt-BR" sz="1600" dirty="0">
                <a:latin typeface="Times New Roman" pitchFamily="18" charset="0"/>
                <a:cs typeface="Times New Roman" pitchFamily="18" charset="0"/>
              </a:rPr>
              <a:t> = 1: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pt-BR" sz="1600" dirty="0">
              <a:latin typeface="Tahoma" panose="020B0604030504040204" pitchFamily="34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pt-BR" sz="1600" dirty="0">
                <a:solidFill>
                  <a:srgbClr val="FF0000"/>
                </a:solidFill>
                <a:latin typeface="Tahoma" panose="020B0604030504040204" pitchFamily="34" charset="0"/>
              </a:rPr>
              <a:t>Bernoulli</a:t>
            </a:r>
            <a:endParaRPr lang="pt-BR" altLang="pt-BR" sz="1600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E83495-C79E-4D0D-93A1-A45BCF0E8AFB}" type="slidenum">
              <a:rPr lang="pt-BR"/>
              <a:pPr>
                <a:defRPr/>
              </a:pPr>
              <a:t>14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build="p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87" name="Text Box 35"/>
          <p:cNvSpPr txBox="1">
            <a:spLocks noChangeArrowheads="1"/>
          </p:cNvSpPr>
          <p:nvPr/>
        </p:nvSpPr>
        <p:spPr bwMode="auto">
          <a:xfrm>
            <a:off x="839788" y="3457575"/>
            <a:ext cx="13716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solidFill>
                  <a:schemeClr val="bg1"/>
                </a:solidFill>
                <a:latin typeface="Times New Roman" pitchFamily="18" charset="0"/>
              </a:rPr>
              <a:t>P</a:t>
            </a:r>
            <a:r>
              <a:rPr lang="pt-BR" altLang="pt-BR" sz="1600">
                <a:solidFill>
                  <a:schemeClr val="bg1"/>
                </a:solidFill>
                <a:latin typeface="Times New Roman" pitchFamily="18" charset="0"/>
              </a:rPr>
              <a:t>(</a:t>
            </a:r>
            <a:r>
              <a:rPr lang="pt-BR" altLang="pt-BR" sz="1600" i="1">
                <a:solidFill>
                  <a:schemeClr val="bg1"/>
                </a:solidFill>
                <a:latin typeface="Times New Roman" pitchFamily="18" charset="0"/>
              </a:rPr>
              <a:t>X</a:t>
            </a:r>
            <a:r>
              <a:rPr lang="pt-BR" altLang="pt-BR" sz="1600">
                <a:solidFill>
                  <a:schemeClr val="bg1"/>
                </a:solidFill>
                <a:latin typeface="Times New Roman" pitchFamily="18" charset="0"/>
              </a:rPr>
              <a:t> = 0) =</a:t>
            </a:r>
            <a:r>
              <a:rPr lang="pt-BR" altLang="pt-BR" sz="1600">
                <a:latin typeface="Times New Roman" pitchFamily="18" charset="0"/>
              </a:rPr>
              <a:t> 2/7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P</a:t>
            </a:r>
            <a:r>
              <a:rPr lang="pt-BR" altLang="pt-BR" sz="1600">
                <a:latin typeface="Times New Roman" pitchFamily="18" charset="0"/>
              </a:rPr>
              <a:t>(</a:t>
            </a:r>
            <a:r>
              <a:rPr lang="pt-BR" altLang="pt-BR" sz="1600" i="1">
                <a:latin typeface="Times New Roman" pitchFamily="18" charset="0"/>
              </a:rPr>
              <a:t>X</a:t>
            </a:r>
            <a:r>
              <a:rPr lang="pt-BR" altLang="pt-BR" sz="1600">
                <a:latin typeface="Times New Roman" pitchFamily="18" charset="0"/>
              </a:rPr>
              <a:t> = 1) = 5/7</a:t>
            </a:r>
          </a:p>
        </p:txBody>
      </p:sp>
      <p:sp>
        <p:nvSpPr>
          <p:cNvPr id="100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Distribuição Bernoulli</a:t>
            </a:r>
          </a:p>
        </p:txBody>
      </p:sp>
      <p:sp>
        <p:nvSpPr>
          <p:cNvPr id="12292" name="Text Box 3"/>
          <p:cNvSpPr txBox="1">
            <a:spLocks noChangeArrowheads="1"/>
          </p:cNvSpPr>
          <p:nvPr/>
        </p:nvSpPr>
        <p:spPr bwMode="auto">
          <a:xfrm>
            <a:off x="1981200" y="1600200"/>
            <a:ext cx="6705600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Considere o experimento: retira-se uma bola da urna. Define-se uma v.a. </a:t>
            </a:r>
            <a:r>
              <a:rPr lang="pt-BR" altLang="pt-BR" sz="1600" i="1" dirty="0">
                <a:latin typeface="Times New Roman" pitchFamily="18" charset="0"/>
              </a:rPr>
              <a:t>X</a:t>
            </a:r>
            <a:r>
              <a:rPr lang="pt-BR" altLang="pt-BR" sz="1600" dirty="0">
                <a:latin typeface="Tahoma" panose="020B0604030504040204" pitchFamily="34" charset="0"/>
              </a:rPr>
              <a:t> cujos valores são 1 se a bola escolhida for vermelha (sucesso) e 0 caso contrário (fracasso).</a:t>
            </a:r>
          </a:p>
        </p:txBody>
      </p:sp>
      <p:grpSp>
        <p:nvGrpSpPr>
          <p:cNvPr id="12293" name="Group 22"/>
          <p:cNvGrpSpPr>
            <a:grpSpLocks/>
          </p:cNvGrpSpPr>
          <p:nvPr/>
        </p:nvGrpSpPr>
        <p:grpSpPr bwMode="auto">
          <a:xfrm>
            <a:off x="838200" y="1447800"/>
            <a:ext cx="914400" cy="1295400"/>
            <a:chOff x="2688" y="3264"/>
            <a:chExt cx="576" cy="816"/>
          </a:xfrm>
        </p:grpSpPr>
        <p:sp>
          <p:nvSpPr>
            <p:cNvPr id="12304" name="Freeform 13"/>
            <p:cNvSpPr>
              <a:spLocks/>
            </p:cNvSpPr>
            <p:nvPr/>
          </p:nvSpPr>
          <p:spPr bwMode="auto">
            <a:xfrm>
              <a:off x="2688" y="3264"/>
              <a:ext cx="576" cy="816"/>
            </a:xfrm>
            <a:custGeom>
              <a:avLst/>
              <a:gdLst>
                <a:gd name="T0" fmla="*/ 0 w 576"/>
                <a:gd name="T1" fmla="*/ 0 h 816"/>
                <a:gd name="T2" fmla="*/ 0 w 576"/>
                <a:gd name="T3" fmla="*/ 816 h 816"/>
                <a:gd name="T4" fmla="*/ 576 w 576"/>
                <a:gd name="T5" fmla="*/ 816 h 816"/>
                <a:gd name="T6" fmla="*/ 576 w 576"/>
                <a:gd name="T7" fmla="*/ 0 h 8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"/>
                <a:gd name="T13" fmla="*/ 0 h 816"/>
                <a:gd name="T14" fmla="*/ 576 w 576"/>
                <a:gd name="T15" fmla="*/ 816 h 8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" h="816">
                  <a:moveTo>
                    <a:pt x="0" y="0"/>
                  </a:moveTo>
                  <a:lnTo>
                    <a:pt x="0" y="816"/>
                  </a:lnTo>
                  <a:lnTo>
                    <a:pt x="576" y="816"/>
                  </a:lnTo>
                  <a:lnTo>
                    <a:pt x="576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12305" name="Oval 14"/>
            <p:cNvSpPr>
              <a:spLocks noChangeArrowheads="1"/>
            </p:cNvSpPr>
            <p:nvPr/>
          </p:nvSpPr>
          <p:spPr bwMode="auto">
            <a:xfrm>
              <a:off x="2784" y="336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2306" name="Oval 15"/>
            <p:cNvSpPr>
              <a:spLocks noChangeArrowheads="1"/>
            </p:cNvSpPr>
            <p:nvPr/>
          </p:nvSpPr>
          <p:spPr bwMode="auto">
            <a:xfrm>
              <a:off x="3024" y="348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2307" name="Oval 16"/>
            <p:cNvSpPr>
              <a:spLocks noChangeArrowheads="1"/>
            </p:cNvSpPr>
            <p:nvPr/>
          </p:nvSpPr>
          <p:spPr bwMode="auto">
            <a:xfrm>
              <a:off x="2784" y="384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2308" name="Oval 17"/>
            <p:cNvSpPr>
              <a:spLocks noChangeArrowheads="1"/>
            </p:cNvSpPr>
            <p:nvPr/>
          </p:nvSpPr>
          <p:spPr bwMode="auto">
            <a:xfrm>
              <a:off x="2784" y="3600"/>
              <a:ext cx="144" cy="14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2309" name="Oval 18"/>
            <p:cNvSpPr>
              <a:spLocks noChangeArrowheads="1"/>
            </p:cNvSpPr>
            <p:nvPr/>
          </p:nvSpPr>
          <p:spPr bwMode="auto">
            <a:xfrm>
              <a:off x="3024" y="3696"/>
              <a:ext cx="144" cy="14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2310" name="Oval 20"/>
            <p:cNvSpPr>
              <a:spLocks noChangeArrowheads="1"/>
            </p:cNvSpPr>
            <p:nvPr/>
          </p:nvSpPr>
          <p:spPr bwMode="auto">
            <a:xfrm>
              <a:off x="3024" y="3264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2311" name="Oval 21"/>
            <p:cNvSpPr>
              <a:spLocks noChangeArrowheads="1"/>
            </p:cNvSpPr>
            <p:nvPr/>
          </p:nvSpPr>
          <p:spPr bwMode="auto">
            <a:xfrm>
              <a:off x="3024" y="3912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sp>
        <p:nvSpPr>
          <p:cNvPr id="100378" name="Text Box 26"/>
          <p:cNvSpPr txBox="1">
            <a:spLocks noChangeArrowheads="1"/>
          </p:cNvSpPr>
          <p:nvPr/>
        </p:nvSpPr>
        <p:spPr bwMode="auto">
          <a:xfrm>
            <a:off x="838200" y="2971800"/>
            <a:ext cx="1371600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 dirty="0">
                <a:latin typeface="Times New Roman" pitchFamily="18" charset="0"/>
              </a:rPr>
              <a:t>X</a:t>
            </a:r>
            <a:r>
              <a:rPr lang="pt-BR" altLang="pt-BR" sz="1600" dirty="0">
                <a:latin typeface="Times New Roman" pitchFamily="18" charset="0"/>
              </a:rPr>
              <a:t>: {0, 1}</a:t>
            </a:r>
            <a:endParaRPr lang="pt-BR" altLang="pt-BR" sz="16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 dirty="0">
                <a:latin typeface="Times New Roman" pitchFamily="18" charset="0"/>
              </a:rPr>
              <a:t>P</a:t>
            </a:r>
            <a:r>
              <a:rPr lang="pt-BR" altLang="pt-BR" sz="1600" dirty="0">
                <a:latin typeface="Times New Roman" pitchFamily="18" charset="0"/>
              </a:rPr>
              <a:t>(</a:t>
            </a:r>
            <a:r>
              <a:rPr lang="pt-BR" altLang="pt-BR" sz="1600" i="1" dirty="0">
                <a:latin typeface="Times New Roman" pitchFamily="18" charset="0"/>
              </a:rPr>
              <a:t>X</a:t>
            </a:r>
            <a:r>
              <a:rPr lang="pt-BR" altLang="pt-BR" sz="1600" dirty="0">
                <a:latin typeface="Times New Roman" pitchFamily="18" charset="0"/>
              </a:rPr>
              <a:t> = 0) =</a:t>
            </a:r>
          </a:p>
        </p:txBody>
      </p:sp>
      <p:sp>
        <p:nvSpPr>
          <p:cNvPr id="100379" name="Text Box 27"/>
          <p:cNvSpPr txBox="1">
            <a:spLocks noChangeArrowheads="1"/>
          </p:cNvSpPr>
          <p:nvPr/>
        </p:nvSpPr>
        <p:spPr bwMode="auto">
          <a:xfrm>
            <a:off x="847725" y="4364038"/>
            <a:ext cx="838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f</a:t>
            </a:r>
            <a:r>
              <a:rPr lang="pt-BR" altLang="pt-BR" sz="1600">
                <a:latin typeface="Times New Roman" pitchFamily="18" charset="0"/>
              </a:rPr>
              <a:t>(</a:t>
            </a:r>
            <a:r>
              <a:rPr lang="pt-BR" altLang="pt-BR" sz="1600" i="1">
                <a:latin typeface="Times New Roman" pitchFamily="18" charset="0"/>
              </a:rPr>
              <a:t>x</a:t>
            </a:r>
            <a:r>
              <a:rPr lang="pt-BR" altLang="pt-BR" sz="1600">
                <a:latin typeface="Times New Roman" pitchFamily="18" charset="0"/>
              </a:rPr>
              <a:t>) = ?</a:t>
            </a:r>
          </a:p>
        </p:txBody>
      </p:sp>
      <p:graphicFrame>
        <p:nvGraphicFramePr>
          <p:cNvPr id="100380" name="Object 28"/>
          <p:cNvGraphicFramePr>
            <a:graphicFrameLocks noChangeAspect="1"/>
          </p:cNvGraphicFramePr>
          <p:nvPr/>
        </p:nvGraphicFramePr>
        <p:xfrm>
          <a:off x="1400175" y="4202113"/>
          <a:ext cx="1106488" cy="674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74364" imgH="469696" progId="Equation.DSMT4">
                  <p:embed/>
                </p:oleObj>
              </mc:Choice>
              <mc:Fallback>
                <p:oleObj name="Equation" r:id="rId2" imgW="774364" imgH="469696" progId="Equation.DSMT4">
                  <p:embed/>
                  <p:pic>
                    <p:nvPicPr>
                      <p:cNvPr id="10038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0175" y="4202113"/>
                        <a:ext cx="1106488" cy="67468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381" name="Text Box 29"/>
          <p:cNvSpPr txBox="1">
            <a:spLocks noChangeArrowheads="1"/>
          </p:cNvSpPr>
          <p:nvPr/>
        </p:nvSpPr>
        <p:spPr bwMode="auto">
          <a:xfrm>
            <a:off x="2057400" y="3711575"/>
            <a:ext cx="3124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imes New Roman" pitchFamily="18" charset="0"/>
              </a:rPr>
              <a:t>= </a:t>
            </a:r>
            <a:r>
              <a:rPr lang="pt-BR" altLang="pt-BR" sz="1600" i="1" dirty="0">
                <a:latin typeface="Times New Roman" pitchFamily="18" charset="0"/>
              </a:rPr>
              <a:t>p</a:t>
            </a:r>
            <a:r>
              <a:rPr lang="pt-BR" altLang="pt-BR" sz="1600" dirty="0">
                <a:latin typeface="Tahoma" panose="020B0604030504040204" pitchFamily="34" charset="0"/>
              </a:rPr>
              <a:t> (probabilidade de sucesso)</a:t>
            </a:r>
          </a:p>
        </p:txBody>
      </p:sp>
      <p:sp>
        <p:nvSpPr>
          <p:cNvPr id="100382" name="Text Box 30"/>
          <p:cNvSpPr txBox="1">
            <a:spLocks noChangeArrowheads="1"/>
          </p:cNvSpPr>
          <p:nvPr/>
        </p:nvSpPr>
        <p:spPr bwMode="auto">
          <a:xfrm>
            <a:off x="2057400" y="3473450"/>
            <a:ext cx="3962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imes New Roman" pitchFamily="18" charset="0"/>
              </a:rPr>
              <a:t>= </a:t>
            </a:r>
            <a:r>
              <a:rPr lang="pt-BR" altLang="pt-BR" sz="1600" i="1" dirty="0">
                <a:latin typeface="Times New Roman" pitchFamily="18" charset="0"/>
              </a:rPr>
              <a:t>q</a:t>
            </a:r>
            <a:r>
              <a:rPr lang="pt-BR" altLang="pt-BR" sz="1600" dirty="0">
                <a:latin typeface="Times New Roman" pitchFamily="18" charset="0"/>
              </a:rPr>
              <a:t> </a:t>
            </a:r>
            <a:r>
              <a:rPr lang="pt-BR" altLang="pt-BR" sz="1600" dirty="0">
                <a:latin typeface="Tahoma" panose="020B0604030504040204" pitchFamily="34" charset="0"/>
              </a:rPr>
              <a:t>(probabilidade de fracasso, </a:t>
            </a:r>
            <a:r>
              <a:rPr lang="pt-BR" altLang="pt-BR" sz="1600" i="1" dirty="0">
                <a:latin typeface="Times New Roman" pitchFamily="18" charset="0"/>
              </a:rPr>
              <a:t>q</a:t>
            </a:r>
            <a:r>
              <a:rPr lang="pt-BR" altLang="pt-BR" sz="1600" dirty="0">
                <a:latin typeface="Times New Roman" pitchFamily="18" charset="0"/>
              </a:rPr>
              <a:t> = 1 - </a:t>
            </a:r>
            <a:r>
              <a:rPr lang="pt-BR" altLang="pt-BR" sz="1600" i="1" dirty="0">
                <a:latin typeface="Times New Roman" pitchFamily="18" charset="0"/>
              </a:rPr>
              <a:t>p</a:t>
            </a:r>
            <a:r>
              <a:rPr lang="pt-BR" altLang="pt-BR" sz="1600" dirty="0">
                <a:latin typeface="Tahoma" panose="020B0604030504040204" pitchFamily="34" charset="0"/>
              </a:rPr>
              <a:t>)</a:t>
            </a:r>
          </a:p>
        </p:txBody>
      </p:sp>
      <p:grpSp>
        <p:nvGrpSpPr>
          <p:cNvPr id="3" name="Group 33"/>
          <p:cNvGrpSpPr>
            <a:grpSpLocks/>
          </p:cNvGrpSpPr>
          <p:nvPr/>
        </p:nvGrpSpPr>
        <p:grpSpPr bwMode="auto">
          <a:xfrm>
            <a:off x="1419225" y="4191000"/>
            <a:ext cx="1143000" cy="685800"/>
            <a:chOff x="894" y="2640"/>
            <a:chExt cx="720" cy="432"/>
          </a:xfrm>
        </p:grpSpPr>
        <p:sp>
          <p:nvSpPr>
            <p:cNvPr id="12302" name="Rectangle 32"/>
            <p:cNvSpPr>
              <a:spLocks noChangeArrowheads="1"/>
            </p:cNvSpPr>
            <p:nvPr/>
          </p:nvSpPr>
          <p:spPr bwMode="auto">
            <a:xfrm>
              <a:off x="894" y="2640"/>
              <a:ext cx="720" cy="4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graphicFrame>
          <p:nvGraphicFramePr>
            <p:cNvPr id="12303" name="Object 31"/>
            <p:cNvGraphicFramePr>
              <a:graphicFrameLocks noChangeAspect="1"/>
            </p:cNvGraphicFramePr>
            <p:nvPr/>
          </p:nvGraphicFramePr>
          <p:xfrm>
            <a:off x="894" y="2748"/>
            <a:ext cx="377" cy="2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419100" imgH="228600" progId="Equation.DSMT4">
                    <p:embed/>
                  </p:oleObj>
                </mc:Choice>
                <mc:Fallback>
                  <p:oleObj name="Equation" r:id="rId4" imgW="419100" imgH="228600" progId="Equation.DSMT4">
                    <p:embed/>
                    <p:pic>
                      <p:nvPicPr>
                        <p:cNvPr id="12303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94" y="2748"/>
                          <a:ext cx="377" cy="206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00386" name="Object 34"/>
          <p:cNvGraphicFramePr>
            <a:graphicFrameLocks noChangeAspect="1"/>
          </p:cNvGraphicFramePr>
          <p:nvPr/>
        </p:nvGraphicFramePr>
        <p:xfrm>
          <a:off x="914400" y="5029200"/>
          <a:ext cx="1052513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36600" imgH="431800" progId="Equation.DSMT4">
                  <p:embed/>
                </p:oleObj>
              </mc:Choice>
              <mc:Fallback>
                <p:oleObj name="Equation" r:id="rId6" imgW="736600" imgH="431800" progId="Equation.DSMT4">
                  <p:embed/>
                  <p:pic>
                    <p:nvPicPr>
                      <p:cNvPr id="100386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5029200"/>
                        <a:ext cx="1052513" cy="619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547F467-37C6-454D-A318-98A72D752FA1}" type="slidenum">
              <a:rPr lang="pt-BR"/>
              <a:pPr>
                <a:defRPr/>
              </a:pPr>
              <a:t>15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3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3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387" grpId="0" build="p" autoUpdateAnimBg="0"/>
      <p:bldP spid="100378" grpId="0" build="p" autoUpdateAnimBg="0"/>
      <p:bldP spid="100379" grpId="0" autoUpdateAnimBg="0"/>
      <p:bldP spid="100381" grpId="0" autoUpdateAnimBg="0"/>
      <p:bldP spid="100382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Distribuição Bernoulli</a:t>
            </a:r>
          </a:p>
        </p:txBody>
      </p:sp>
      <p:sp>
        <p:nvSpPr>
          <p:cNvPr id="13315" name="Text Box 3"/>
          <p:cNvSpPr txBox="1">
            <a:spLocks noChangeArrowheads="1"/>
          </p:cNvSpPr>
          <p:nvPr/>
        </p:nvSpPr>
        <p:spPr bwMode="auto">
          <a:xfrm>
            <a:off x="1981200" y="1600200"/>
            <a:ext cx="6705600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Considere o experimento: retira-se uma bola da urna. Define-se uma v.a. </a:t>
            </a:r>
            <a:r>
              <a:rPr lang="pt-BR" altLang="pt-BR" sz="1600" i="1" dirty="0">
                <a:latin typeface="Times New Roman" pitchFamily="18" charset="0"/>
              </a:rPr>
              <a:t>X</a:t>
            </a:r>
            <a:r>
              <a:rPr lang="pt-BR" altLang="pt-BR" sz="1600" dirty="0">
                <a:latin typeface="Tahoma" panose="020B0604030504040204" pitchFamily="34" charset="0"/>
              </a:rPr>
              <a:t> cujos valores são 1 se a bola escolhida for vermelha (sucesso) e 0 caso contrário (fracasso).</a:t>
            </a:r>
          </a:p>
        </p:txBody>
      </p:sp>
      <p:grpSp>
        <p:nvGrpSpPr>
          <p:cNvPr id="13316" name="Group 4"/>
          <p:cNvGrpSpPr>
            <a:grpSpLocks/>
          </p:cNvGrpSpPr>
          <p:nvPr/>
        </p:nvGrpSpPr>
        <p:grpSpPr bwMode="auto">
          <a:xfrm>
            <a:off x="838200" y="1447800"/>
            <a:ext cx="914400" cy="1295400"/>
            <a:chOff x="2688" y="3264"/>
            <a:chExt cx="576" cy="816"/>
          </a:xfrm>
        </p:grpSpPr>
        <p:sp>
          <p:nvSpPr>
            <p:cNvPr id="13325" name="Freeform 5"/>
            <p:cNvSpPr>
              <a:spLocks/>
            </p:cNvSpPr>
            <p:nvPr/>
          </p:nvSpPr>
          <p:spPr bwMode="auto">
            <a:xfrm>
              <a:off x="2688" y="3264"/>
              <a:ext cx="576" cy="816"/>
            </a:xfrm>
            <a:custGeom>
              <a:avLst/>
              <a:gdLst>
                <a:gd name="T0" fmla="*/ 0 w 576"/>
                <a:gd name="T1" fmla="*/ 0 h 816"/>
                <a:gd name="T2" fmla="*/ 0 w 576"/>
                <a:gd name="T3" fmla="*/ 816 h 816"/>
                <a:gd name="T4" fmla="*/ 576 w 576"/>
                <a:gd name="T5" fmla="*/ 816 h 816"/>
                <a:gd name="T6" fmla="*/ 576 w 576"/>
                <a:gd name="T7" fmla="*/ 0 h 8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"/>
                <a:gd name="T13" fmla="*/ 0 h 816"/>
                <a:gd name="T14" fmla="*/ 576 w 576"/>
                <a:gd name="T15" fmla="*/ 816 h 8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" h="816">
                  <a:moveTo>
                    <a:pt x="0" y="0"/>
                  </a:moveTo>
                  <a:lnTo>
                    <a:pt x="0" y="816"/>
                  </a:lnTo>
                  <a:lnTo>
                    <a:pt x="576" y="816"/>
                  </a:lnTo>
                  <a:lnTo>
                    <a:pt x="576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13326" name="Oval 6"/>
            <p:cNvSpPr>
              <a:spLocks noChangeArrowheads="1"/>
            </p:cNvSpPr>
            <p:nvPr/>
          </p:nvSpPr>
          <p:spPr bwMode="auto">
            <a:xfrm>
              <a:off x="2784" y="336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3327" name="Oval 7"/>
            <p:cNvSpPr>
              <a:spLocks noChangeArrowheads="1"/>
            </p:cNvSpPr>
            <p:nvPr/>
          </p:nvSpPr>
          <p:spPr bwMode="auto">
            <a:xfrm>
              <a:off x="3024" y="348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3328" name="Oval 8"/>
            <p:cNvSpPr>
              <a:spLocks noChangeArrowheads="1"/>
            </p:cNvSpPr>
            <p:nvPr/>
          </p:nvSpPr>
          <p:spPr bwMode="auto">
            <a:xfrm>
              <a:off x="2784" y="384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3329" name="Oval 9"/>
            <p:cNvSpPr>
              <a:spLocks noChangeArrowheads="1"/>
            </p:cNvSpPr>
            <p:nvPr/>
          </p:nvSpPr>
          <p:spPr bwMode="auto">
            <a:xfrm>
              <a:off x="2784" y="3600"/>
              <a:ext cx="144" cy="14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3330" name="Oval 10"/>
            <p:cNvSpPr>
              <a:spLocks noChangeArrowheads="1"/>
            </p:cNvSpPr>
            <p:nvPr/>
          </p:nvSpPr>
          <p:spPr bwMode="auto">
            <a:xfrm>
              <a:off x="3024" y="3696"/>
              <a:ext cx="144" cy="14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3331" name="Oval 11"/>
            <p:cNvSpPr>
              <a:spLocks noChangeArrowheads="1"/>
            </p:cNvSpPr>
            <p:nvPr/>
          </p:nvSpPr>
          <p:spPr bwMode="auto">
            <a:xfrm>
              <a:off x="3024" y="3264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3332" name="Oval 12"/>
            <p:cNvSpPr>
              <a:spLocks noChangeArrowheads="1"/>
            </p:cNvSpPr>
            <p:nvPr/>
          </p:nvSpPr>
          <p:spPr bwMode="auto">
            <a:xfrm>
              <a:off x="3024" y="3912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sp>
        <p:nvSpPr>
          <p:cNvPr id="13317" name="Text Box 13"/>
          <p:cNvSpPr txBox="1">
            <a:spLocks noChangeArrowheads="1"/>
          </p:cNvSpPr>
          <p:nvPr/>
        </p:nvSpPr>
        <p:spPr bwMode="auto">
          <a:xfrm>
            <a:off x="838200" y="2971800"/>
            <a:ext cx="1371600" cy="106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 dirty="0">
                <a:latin typeface="Times New Roman" pitchFamily="18" charset="0"/>
              </a:rPr>
              <a:t>X</a:t>
            </a:r>
            <a:r>
              <a:rPr lang="pt-BR" altLang="pt-BR" sz="1600" dirty="0">
                <a:latin typeface="Times New Roman" pitchFamily="18" charset="0"/>
              </a:rPr>
              <a:t>: {0, 1}</a:t>
            </a:r>
            <a:endParaRPr lang="pt-BR" altLang="pt-BR" sz="16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 dirty="0">
                <a:latin typeface="Times New Roman" pitchFamily="18" charset="0"/>
              </a:rPr>
              <a:t>P</a:t>
            </a:r>
            <a:r>
              <a:rPr lang="pt-BR" altLang="pt-BR" sz="1600" dirty="0">
                <a:latin typeface="Times New Roman" pitchFamily="18" charset="0"/>
              </a:rPr>
              <a:t>(</a:t>
            </a:r>
            <a:r>
              <a:rPr lang="pt-BR" altLang="pt-BR" sz="1600" i="1" dirty="0">
                <a:latin typeface="Times New Roman" pitchFamily="18" charset="0"/>
              </a:rPr>
              <a:t>X</a:t>
            </a:r>
            <a:r>
              <a:rPr lang="pt-BR" altLang="pt-BR" sz="1600" dirty="0">
                <a:latin typeface="Times New Roman" pitchFamily="18" charset="0"/>
              </a:rPr>
              <a:t> = 0) = 2/7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 dirty="0">
                <a:latin typeface="Times New Roman" pitchFamily="18" charset="0"/>
              </a:rPr>
              <a:t>P</a:t>
            </a:r>
            <a:r>
              <a:rPr lang="pt-BR" altLang="pt-BR" sz="1600" dirty="0">
                <a:latin typeface="Times New Roman" pitchFamily="18" charset="0"/>
              </a:rPr>
              <a:t>(</a:t>
            </a:r>
            <a:r>
              <a:rPr lang="pt-BR" altLang="pt-BR" sz="1600" i="1" dirty="0">
                <a:latin typeface="Times New Roman" pitchFamily="18" charset="0"/>
              </a:rPr>
              <a:t>X</a:t>
            </a:r>
            <a:r>
              <a:rPr lang="pt-BR" altLang="pt-BR" sz="1600" dirty="0">
                <a:latin typeface="Times New Roman" pitchFamily="18" charset="0"/>
              </a:rPr>
              <a:t> = 1) = 5/7</a:t>
            </a:r>
          </a:p>
        </p:txBody>
      </p:sp>
      <p:sp>
        <p:nvSpPr>
          <p:cNvPr id="13318" name="Text Box 14"/>
          <p:cNvSpPr txBox="1">
            <a:spLocks noChangeArrowheads="1"/>
          </p:cNvSpPr>
          <p:nvPr/>
        </p:nvSpPr>
        <p:spPr bwMode="auto">
          <a:xfrm>
            <a:off x="847725" y="4364038"/>
            <a:ext cx="838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f</a:t>
            </a:r>
            <a:r>
              <a:rPr lang="pt-BR" altLang="pt-BR" sz="1600">
                <a:latin typeface="Times New Roman" pitchFamily="18" charset="0"/>
              </a:rPr>
              <a:t>(</a:t>
            </a:r>
            <a:r>
              <a:rPr lang="pt-BR" altLang="pt-BR" sz="1600" i="1">
                <a:latin typeface="Times New Roman" pitchFamily="18" charset="0"/>
              </a:rPr>
              <a:t>x</a:t>
            </a:r>
            <a:r>
              <a:rPr lang="pt-BR" altLang="pt-BR" sz="1600">
                <a:latin typeface="Times New Roman" pitchFamily="18" charset="0"/>
              </a:rPr>
              <a:t>) =</a:t>
            </a:r>
          </a:p>
        </p:txBody>
      </p:sp>
      <p:graphicFrame>
        <p:nvGraphicFramePr>
          <p:cNvPr id="13319" name="Object 20"/>
          <p:cNvGraphicFramePr>
            <a:graphicFrameLocks noChangeAspect="1"/>
          </p:cNvGraphicFramePr>
          <p:nvPr/>
        </p:nvGraphicFramePr>
        <p:xfrm>
          <a:off x="1419225" y="4362450"/>
          <a:ext cx="598488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19100" imgH="228600" progId="Equation.DSMT4">
                  <p:embed/>
                </p:oleObj>
              </mc:Choice>
              <mc:Fallback>
                <p:oleObj name="Equation" r:id="rId2" imgW="419100" imgH="228600" progId="Equation.DSMT4">
                  <p:embed/>
                  <p:pic>
                    <p:nvPicPr>
                      <p:cNvPr id="13319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9225" y="4362450"/>
                        <a:ext cx="598488" cy="3270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0" name="Object 22"/>
          <p:cNvGraphicFramePr>
            <a:graphicFrameLocks noChangeAspect="1"/>
          </p:cNvGraphicFramePr>
          <p:nvPr/>
        </p:nvGraphicFramePr>
        <p:xfrm>
          <a:off x="3116263" y="2727325"/>
          <a:ext cx="1978025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84300" imgH="431800" progId="Equation.DSMT4">
                  <p:embed/>
                </p:oleObj>
              </mc:Choice>
              <mc:Fallback>
                <p:oleObj name="Equation" r:id="rId4" imgW="1384300" imgH="431800" progId="Equation.DSMT4">
                  <p:embed/>
                  <p:pic>
                    <p:nvPicPr>
                      <p:cNvPr id="1332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6263" y="2727325"/>
                        <a:ext cx="1978025" cy="619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399" name="Object 23"/>
          <p:cNvGraphicFramePr>
            <a:graphicFrameLocks noChangeAspect="1"/>
          </p:cNvGraphicFramePr>
          <p:nvPr/>
        </p:nvGraphicFramePr>
        <p:xfrm>
          <a:off x="3116263" y="3592513"/>
          <a:ext cx="14351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02865" imgH="203112" progId="Equation.DSMT4">
                  <p:embed/>
                </p:oleObj>
              </mc:Choice>
              <mc:Fallback>
                <p:oleObj name="Equation" r:id="rId6" imgW="1002865" imgH="203112" progId="Equation.DSMT4">
                  <p:embed/>
                  <p:pic>
                    <p:nvPicPr>
                      <p:cNvPr id="101399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6263" y="3592513"/>
                        <a:ext cx="1435100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400" name="Object 24"/>
          <p:cNvGraphicFramePr>
            <a:graphicFrameLocks noChangeAspect="1"/>
          </p:cNvGraphicFramePr>
          <p:nvPr/>
        </p:nvGraphicFramePr>
        <p:xfrm>
          <a:off x="3116263" y="4267200"/>
          <a:ext cx="925512" cy="293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47419" imgH="203112" progId="Equation.DSMT4">
                  <p:embed/>
                </p:oleObj>
              </mc:Choice>
              <mc:Fallback>
                <p:oleObj name="Equation" r:id="rId8" imgW="647419" imgH="203112" progId="Equation.DSMT4">
                  <p:embed/>
                  <p:pic>
                    <p:nvPicPr>
                      <p:cNvPr id="10140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6263" y="4267200"/>
                        <a:ext cx="925512" cy="293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401" name="Rectangle 25"/>
          <p:cNvSpPr>
            <a:spLocks noChangeArrowheads="1"/>
          </p:cNvSpPr>
          <p:nvPr/>
        </p:nvSpPr>
        <p:spPr bwMode="auto">
          <a:xfrm>
            <a:off x="3048000" y="4114800"/>
            <a:ext cx="1066800" cy="533400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90F838-F04F-4B62-B6EA-701E9362E44A}" type="slidenum">
              <a:rPr lang="pt-BR"/>
              <a:pPr>
                <a:defRPr/>
              </a:pPr>
              <a:t>16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1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1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1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40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Distribuição Bernoulli</a:t>
            </a:r>
          </a:p>
        </p:txBody>
      </p:sp>
      <p:sp>
        <p:nvSpPr>
          <p:cNvPr id="14339" name="Text Box 3"/>
          <p:cNvSpPr txBox="1">
            <a:spLocks noChangeArrowheads="1"/>
          </p:cNvSpPr>
          <p:nvPr/>
        </p:nvSpPr>
        <p:spPr bwMode="auto">
          <a:xfrm>
            <a:off x="1981200" y="1600200"/>
            <a:ext cx="6705600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Considere o experimento: retira-se uma bola da urna. Define-se uma v.a. </a:t>
            </a:r>
            <a:r>
              <a:rPr lang="pt-BR" altLang="pt-BR" sz="1600" i="1" dirty="0">
                <a:latin typeface="Times New Roman" pitchFamily="18" charset="0"/>
              </a:rPr>
              <a:t>X</a:t>
            </a:r>
            <a:r>
              <a:rPr lang="pt-BR" altLang="pt-BR" sz="1600" dirty="0">
                <a:latin typeface="Tahoma" panose="020B0604030504040204" pitchFamily="34" charset="0"/>
              </a:rPr>
              <a:t> cujos valores são 1 se a bola escolhida for vermelha (sucesso) e 0 caso contrário (fracasso).</a:t>
            </a:r>
          </a:p>
        </p:txBody>
      </p:sp>
      <p:grpSp>
        <p:nvGrpSpPr>
          <p:cNvPr id="14340" name="Group 4"/>
          <p:cNvGrpSpPr>
            <a:grpSpLocks/>
          </p:cNvGrpSpPr>
          <p:nvPr/>
        </p:nvGrpSpPr>
        <p:grpSpPr bwMode="auto">
          <a:xfrm>
            <a:off x="838200" y="1447800"/>
            <a:ext cx="914400" cy="1295400"/>
            <a:chOff x="2688" y="3264"/>
            <a:chExt cx="576" cy="816"/>
          </a:xfrm>
        </p:grpSpPr>
        <p:sp>
          <p:nvSpPr>
            <p:cNvPr id="14350" name="Freeform 5"/>
            <p:cNvSpPr>
              <a:spLocks/>
            </p:cNvSpPr>
            <p:nvPr/>
          </p:nvSpPr>
          <p:spPr bwMode="auto">
            <a:xfrm>
              <a:off x="2688" y="3264"/>
              <a:ext cx="576" cy="816"/>
            </a:xfrm>
            <a:custGeom>
              <a:avLst/>
              <a:gdLst>
                <a:gd name="T0" fmla="*/ 0 w 576"/>
                <a:gd name="T1" fmla="*/ 0 h 816"/>
                <a:gd name="T2" fmla="*/ 0 w 576"/>
                <a:gd name="T3" fmla="*/ 816 h 816"/>
                <a:gd name="T4" fmla="*/ 576 w 576"/>
                <a:gd name="T5" fmla="*/ 816 h 816"/>
                <a:gd name="T6" fmla="*/ 576 w 576"/>
                <a:gd name="T7" fmla="*/ 0 h 8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"/>
                <a:gd name="T13" fmla="*/ 0 h 816"/>
                <a:gd name="T14" fmla="*/ 576 w 576"/>
                <a:gd name="T15" fmla="*/ 816 h 8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" h="816">
                  <a:moveTo>
                    <a:pt x="0" y="0"/>
                  </a:moveTo>
                  <a:lnTo>
                    <a:pt x="0" y="816"/>
                  </a:lnTo>
                  <a:lnTo>
                    <a:pt x="576" y="816"/>
                  </a:lnTo>
                  <a:lnTo>
                    <a:pt x="576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14351" name="Oval 6"/>
            <p:cNvSpPr>
              <a:spLocks noChangeArrowheads="1"/>
            </p:cNvSpPr>
            <p:nvPr/>
          </p:nvSpPr>
          <p:spPr bwMode="auto">
            <a:xfrm>
              <a:off x="2784" y="336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4352" name="Oval 7"/>
            <p:cNvSpPr>
              <a:spLocks noChangeArrowheads="1"/>
            </p:cNvSpPr>
            <p:nvPr/>
          </p:nvSpPr>
          <p:spPr bwMode="auto">
            <a:xfrm>
              <a:off x="3024" y="348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4353" name="Oval 8"/>
            <p:cNvSpPr>
              <a:spLocks noChangeArrowheads="1"/>
            </p:cNvSpPr>
            <p:nvPr/>
          </p:nvSpPr>
          <p:spPr bwMode="auto">
            <a:xfrm>
              <a:off x="2784" y="384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4354" name="Oval 9"/>
            <p:cNvSpPr>
              <a:spLocks noChangeArrowheads="1"/>
            </p:cNvSpPr>
            <p:nvPr/>
          </p:nvSpPr>
          <p:spPr bwMode="auto">
            <a:xfrm>
              <a:off x="2784" y="3600"/>
              <a:ext cx="144" cy="14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4355" name="Oval 10"/>
            <p:cNvSpPr>
              <a:spLocks noChangeArrowheads="1"/>
            </p:cNvSpPr>
            <p:nvPr/>
          </p:nvSpPr>
          <p:spPr bwMode="auto">
            <a:xfrm>
              <a:off x="3024" y="3696"/>
              <a:ext cx="144" cy="14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4356" name="Oval 11"/>
            <p:cNvSpPr>
              <a:spLocks noChangeArrowheads="1"/>
            </p:cNvSpPr>
            <p:nvPr/>
          </p:nvSpPr>
          <p:spPr bwMode="auto">
            <a:xfrm>
              <a:off x="3024" y="3264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4357" name="Oval 12"/>
            <p:cNvSpPr>
              <a:spLocks noChangeArrowheads="1"/>
            </p:cNvSpPr>
            <p:nvPr/>
          </p:nvSpPr>
          <p:spPr bwMode="auto">
            <a:xfrm>
              <a:off x="3024" y="3912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sp>
        <p:nvSpPr>
          <p:cNvPr id="14341" name="Text Box 13"/>
          <p:cNvSpPr txBox="1">
            <a:spLocks noChangeArrowheads="1"/>
          </p:cNvSpPr>
          <p:nvPr/>
        </p:nvSpPr>
        <p:spPr bwMode="auto">
          <a:xfrm>
            <a:off x="838200" y="2971800"/>
            <a:ext cx="1371600" cy="106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 dirty="0">
                <a:latin typeface="Times New Roman" pitchFamily="18" charset="0"/>
              </a:rPr>
              <a:t>X</a:t>
            </a:r>
            <a:r>
              <a:rPr lang="pt-BR" altLang="pt-BR" sz="1600" dirty="0">
                <a:latin typeface="Times New Roman" pitchFamily="18" charset="0"/>
              </a:rPr>
              <a:t>: {0, 1}</a:t>
            </a:r>
            <a:endParaRPr lang="pt-BR" altLang="pt-BR" sz="16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 dirty="0">
                <a:latin typeface="Times New Roman" pitchFamily="18" charset="0"/>
              </a:rPr>
              <a:t>P</a:t>
            </a:r>
            <a:r>
              <a:rPr lang="pt-BR" altLang="pt-BR" sz="1600" dirty="0">
                <a:latin typeface="Times New Roman" pitchFamily="18" charset="0"/>
              </a:rPr>
              <a:t>(</a:t>
            </a:r>
            <a:r>
              <a:rPr lang="pt-BR" altLang="pt-BR" sz="1600" i="1" dirty="0">
                <a:latin typeface="Times New Roman" pitchFamily="18" charset="0"/>
              </a:rPr>
              <a:t>X</a:t>
            </a:r>
            <a:r>
              <a:rPr lang="pt-BR" altLang="pt-BR" sz="1600" dirty="0">
                <a:latin typeface="Times New Roman" pitchFamily="18" charset="0"/>
              </a:rPr>
              <a:t> = 0) = 2/7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 dirty="0">
                <a:latin typeface="Times New Roman" pitchFamily="18" charset="0"/>
              </a:rPr>
              <a:t>P</a:t>
            </a:r>
            <a:r>
              <a:rPr lang="pt-BR" altLang="pt-BR" sz="1600" dirty="0">
                <a:latin typeface="Times New Roman" pitchFamily="18" charset="0"/>
              </a:rPr>
              <a:t>(</a:t>
            </a:r>
            <a:r>
              <a:rPr lang="pt-BR" altLang="pt-BR" sz="1600" i="1" dirty="0">
                <a:latin typeface="Times New Roman" pitchFamily="18" charset="0"/>
              </a:rPr>
              <a:t>X</a:t>
            </a:r>
            <a:r>
              <a:rPr lang="pt-BR" altLang="pt-BR" sz="1600" dirty="0">
                <a:latin typeface="Times New Roman" pitchFamily="18" charset="0"/>
              </a:rPr>
              <a:t> = 1) = 5/7</a:t>
            </a:r>
          </a:p>
        </p:txBody>
      </p:sp>
      <p:sp>
        <p:nvSpPr>
          <p:cNvPr id="14342" name="Text Box 14"/>
          <p:cNvSpPr txBox="1">
            <a:spLocks noChangeArrowheads="1"/>
          </p:cNvSpPr>
          <p:nvPr/>
        </p:nvSpPr>
        <p:spPr bwMode="auto">
          <a:xfrm>
            <a:off x="847725" y="4364038"/>
            <a:ext cx="838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f</a:t>
            </a:r>
            <a:r>
              <a:rPr lang="pt-BR" altLang="pt-BR" sz="1600">
                <a:latin typeface="Times New Roman" pitchFamily="18" charset="0"/>
              </a:rPr>
              <a:t>(</a:t>
            </a:r>
            <a:r>
              <a:rPr lang="pt-BR" altLang="pt-BR" sz="1600" i="1">
                <a:latin typeface="Times New Roman" pitchFamily="18" charset="0"/>
              </a:rPr>
              <a:t>x</a:t>
            </a:r>
            <a:r>
              <a:rPr lang="pt-BR" altLang="pt-BR" sz="1600">
                <a:latin typeface="Times New Roman" pitchFamily="18" charset="0"/>
              </a:rPr>
              <a:t>) =</a:t>
            </a:r>
          </a:p>
        </p:txBody>
      </p:sp>
      <p:graphicFrame>
        <p:nvGraphicFramePr>
          <p:cNvPr id="14343" name="Object 15"/>
          <p:cNvGraphicFramePr>
            <a:graphicFrameLocks noChangeAspect="1"/>
          </p:cNvGraphicFramePr>
          <p:nvPr/>
        </p:nvGraphicFramePr>
        <p:xfrm>
          <a:off x="1419225" y="4362450"/>
          <a:ext cx="598488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19100" imgH="228600" progId="Equation.DSMT4">
                  <p:embed/>
                </p:oleObj>
              </mc:Choice>
              <mc:Fallback>
                <p:oleObj name="Equation" r:id="rId2" imgW="419100" imgH="228600" progId="Equation.DSMT4">
                  <p:embed/>
                  <p:pic>
                    <p:nvPicPr>
                      <p:cNvPr id="14343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9225" y="4362450"/>
                        <a:ext cx="598488" cy="3270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4" name="Object 20"/>
          <p:cNvGraphicFramePr>
            <a:graphicFrameLocks noChangeAspect="1"/>
          </p:cNvGraphicFramePr>
          <p:nvPr/>
        </p:nvGraphicFramePr>
        <p:xfrm>
          <a:off x="3124200" y="2873375"/>
          <a:ext cx="2433638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01800" imgH="228600" progId="Equation.DSMT4">
                  <p:embed/>
                </p:oleObj>
              </mc:Choice>
              <mc:Fallback>
                <p:oleObj name="Equation" r:id="rId4" imgW="1701800" imgH="228600" progId="Equation.DSMT4">
                  <p:embed/>
                  <p:pic>
                    <p:nvPicPr>
                      <p:cNvPr id="14344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2873375"/>
                        <a:ext cx="2433638" cy="32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21" name="Object 21"/>
          <p:cNvGraphicFramePr>
            <a:graphicFrameLocks noChangeAspect="1"/>
          </p:cNvGraphicFramePr>
          <p:nvPr/>
        </p:nvGraphicFramePr>
        <p:xfrm>
          <a:off x="3124200" y="3327400"/>
          <a:ext cx="2160588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11300" imgH="431800" progId="Equation.DSMT4">
                  <p:embed/>
                </p:oleObj>
              </mc:Choice>
              <mc:Fallback>
                <p:oleObj name="Equation" r:id="rId6" imgW="1511300" imgH="431800" progId="Equation.DSMT4">
                  <p:embed/>
                  <p:pic>
                    <p:nvPicPr>
                      <p:cNvPr id="102421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3327400"/>
                        <a:ext cx="2160588" cy="619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22" name="Object 22"/>
          <p:cNvGraphicFramePr>
            <a:graphicFrameLocks noChangeAspect="1"/>
          </p:cNvGraphicFramePr>
          <p:nvPr/>
        </p:nvGraphicFramePr>
        <p:xfrm>
          <a:off x="3124200" y="4097338"/>
          <a:ext cx="1704975" cy="328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193800" imgH="228600" progId="Equation.DSMT4">
                  <p:embed/>
                </p:oleObj>
              </mc:Choice>
              <mc:Fallback>
                <p:oleObj name="Equation" r:id="rId8" imgW="1193800" imgH="228600" progId="Equation.DSMT4">
                  <p:embed/>
                  <p:pic>
                    <p:nvPicPr>
                      <p:cNvPr id="102422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4097338"/>
                        <a:ext cx="1704975" cy="328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23" name="Object 23"/>
          <p:cNvGraphicFramePr>
            <a:graphicFrameLocks noChangeAspect="1"/>
          </p:cNvGraphicFramePr>
          <p:nvPr/>
        </p:nvGraphicFramePr>
        <p:xfrm>
          <a:off x="3124200" y="4724400"/>
          <a:ext cx="1016000" cy="328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711200" imgH="228600" progId="Equation.DSMT4">
                  <p:embed/>
                </p:oleObj>
              </mc:Choice>
              <mc:Fallback>
                <p:oleObj name="Equation" r:id="rId10" imgW="711200" imgH="228600" progId="Equation.DSMT4">
                  <p:embed/>
                  <p:pic>
                    <p:nvPicPr>
                      <p:cNvPr id="102423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4724400"/>
                        <a:ext cx="1016000" cy="328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8" name="Object 24"/>
          <p:cNvGraphicFramePr>
            <a:graphicFrameLocks noChangeAspect="1"/>
          </p:cNvGraphicFramePr>
          <p:nvPr/>
        </p:nvGraphicFramePr>
        <p:xfrm>
          <a:off x="838200" y="5029200"/>
          <a:ext cx="925513" cy="293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647419" imgH="203112" progId="Equation.DSMT4">
                  <p:embed/>
                </p:oleObj>
              </mc:Choice>
              <mc:Fallback>
                <p:oleObj name="Equation" r:id="rId12" imgW="647419" imgH="203112" progId="Equation.DSMT4">
                  <p:embed/>
                  <p:pic>
                    <p:nvPicPr>
                      <p:cNvPr id="14348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5029200"/>
                        <a:ext cx="925513" cy="293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129C8C-5C37-4D2B-945C-09827FF74882}" type="slidenum">
              <a:rPr lang="pt-BR"/>
              <a:pPr>
                <a:defRPr/>
              </a:pPr>
              <a:t>17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Distribuição Bernoulli</a:t>
            </a:r>
          </a:p>
        </p:txBody>
      </p:sp>
      <p:sp>
        <p:nvSpPr>
          <p:cNvPr id="15363" name="Text Box 3"/>
          <p:cNvSpPr txBox="1">
            <a:spLocks noChangeArrowheads="1"/>
          </p:cNvSpPr>
          <p:nvPr/>
        </p:nvSpPr>
        <p:spPr bwMode="auto">
          <a:xfrm>
            <a:off x="1981200" y="1600200"/>
            <a:ext cx="6705600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Considere o experimento: retira-se uma bola da urna. Define-se uma v.a. </a:t>
            </a:r>
            <a:r>
              <a:rPr lang="pt-BR" altLang="pt-BR" sz="1600" i="1" dirty="0">
                <a:latin typeface="Times New Roman" pitchFamily="18" charset="0"/>
              </a:rPr>
              <a:t>X</a:t>
            </a:r>
            <a:r>
              <a:rPr lang="pt-BR" altLang="pt-BR" sz="1600" dirty="0">
                <a:latin typeface="Tahoma" panose="020B0604030504040204" pitchFamily="34" charset="0"/>
              </a:rPr>
              <a:t> cujos valores são 1 se a bola escolhida for vermelha (sucesso) e 0 caso contrário (fracasso).</a:t>
            </a:r>
          </a:p>
        </p:txBody>
      </p:sp>
      <p:grpSp>
        <p:nvGrpSpPr>
          <p:cNvPr id="15364" name="Group 4"/>
          <p:cNvGrpSpPr>
            <a:grpSpLocks/>
          </p:cNvGrpSpPr>
          <p:nvPr/>
        </p:nvGrpSpPr>
        <p:grpSpPr bwMode="auto">
          <a:xfrm>
            <a:off x="838200" y="1447800"/>
            <a:ext cx="914400" cy="1295400"/>
            <a:chOff x="2688" y="3264"/>
            <a:chExt cx="576" cy="816"/>
          </a:xfrm>
        </p:grpSpPr>
        <p:sp>
          <p:nvSpPr>
            <p:cNvPr id="15375" name="Freeform 5"/>
            <p:cNvSpPr>
              <a:spLocks/>
            </p:cNvSpPr>
            <p:nvPr/>
          </p:nvSpPr>
          <p:spPr bwMode="auto">
            <a:xfrm>
              <a:off x="2688" y="3264"/>
              <a:ext cx="576" cy="816"/>
            </a:xfrm>
            <a:custGeom>
              <a:avLst/>
              <a:gdLst>
                <a:gd name="T0" fmla="*/ 0 w 576"/>
                <a:gd name="T1" fmla="*/ 0 h 816"/>
                <a:gd name="T2" fmla="*/ 0 w 576"/>
                <a:gd name="T3" fmla="*/ 816 h 816"/>
                <a:gd name="T4" fmla="*/ 576 w 576"/>
                <a:gd name="T5" fmla="*/ 816 h 816"/>
                <a:gd name="T6" fmla="*/ 576 w 576"/>
                <a:gd name="T7" fmla="*/ 0 h 8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"/>
                <a:gd name="T13" fmla="*/ 0 h 816"/>
                <a:gd name="T14" fmla="*/ 576 w 576"/>
                <a:gd name="T15" fmla="*/ 816 h 8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" h="816">
                  <a:moveTo>
                    <a:pt x="0" y="0"/>
                  </a:moveTo>
                  <a:lnTo>
                    <a:pt x="0" y="816"/>
                  </a:lnTo>
                  <a:lnTo>
                    <a:pt x="576" y="816"/>
                  </a:lnTo>
                  <a:lnTo>
                    <a:pt x="576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15376" name="Oval 6"/>
            <p:cNvSpPr>
              <a:spLocks noChangeArrowheads="1"/>
            </p:cNvSpPr>
            <p:nvPr/>
          </p:nvSpPr>
          <p:spPr bwMode="auto">
            <a:xfrm>
              <a:off x="2784" y="336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5377" name="Oval 7"/>
            <p:cNvSpPr>
              <a:spLocks noChangeArrowheads="1"/>
            </p:cNvSpPr>
            <p:nvPr/>
          </p:nvSpPr>
          <p:spPr bwMode="auto">
            <a:xfrm>
              <a:off x="3024" y="348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5378" name="Oval 8"/>
            <p:cNvSpPr>
              <a:spLocks noChangeArrowheads="1"/>
            </p:cNvSpPr>
            <p:nvPr/>
          </p:nvSpPr>
          <p:spPr bwMode="auto">
            <a:xfrm>
              <a:off x="2784" y="384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5379" name="Oval 9"/>
            <p:cNvSpPr>
              <a:spLocks noChangeArrowheads="1"/>
            </p:cNvSpPr>
            <p:nvPr/>
          </p:nvSpPr>
          <p:spPr bwMode="auto">
            <a:xfrm>
              <a:off x="2784" y="3600"/>
              <a:ext cx="144" cy="14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5380" name="Oval 10"/>
            <p:cNvSpPr>
              <a:spLocks noChangeArrowheads="1"/>
            </p:cNvSpPr>
            <p:nvPr/>
          </p:nvSpPr>
          <p:spPr bwMode="auto">
            <a:xfrm>
              <a:off x="3024" y="3696"/>
              <a:ext cx="144" cy="14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5381" name="Oval 11"/>
            <p:cNvSpPr>
              <a:spLocks noChangeArrowheads="1"/>
            </p:cNvSpPr>
            <p:nvPr/>
          </p:nvSpPr>
          <p:spPr bwMode="auto">
            <a:xfrm>
              <a:off x="3024" y="3264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5382" name="Oval 12"/>
            <p:cNvSpPr>
              <a:spLocks noChangeArrowheads="1"/>
            </p:cNvSpPr>
            <p:nvPr/>
          </p:nvSpPr>
          <p:spPr bwMode="auto">
            <a:xfrm>
              <a:off x="3024" y="3912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sp>
        <p:nvSpPr>
          <p:cNvPr id="15365" name="Text Box 13"/>
          <p:cNvSpPr txBox="1">
            <a:spLocks noChangeArrowheads="1"/>
          </p:cNvSpPr>
          <p:nvPr/>
        </p:nvSpPr>
        <p:spPr bwMode="auto">
          <a:xfrm>
            <a:off x="838200" y="2971800"/>
            <a:ext cx="1371600" cy="106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 dirty="0">
                <a:latin typeface="Times New Roman" pitchFamily="18" charset="0"/>
              </a:rPr>
              <a:t>X</a:t>
            </a:r>
            <a:r>
              <a:rPr lang="pt-BR" altLang="pt-BR" sz="1600" dirty="0">
                <a:latin typeface="Times New Roman" pitchFamily="18" charset="0"/>
              </a:rPr>
              <a:t>: {0, 1}</a:t>
            </a:r>
            <a:endParaRPr lang="pt-BR" altLang="pt-BR" sz="16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 dirty="0">
                <a:latin typeface="Times New Roman" pitchFamily="18" charset="0"/>
              </a:rPr>
              <a:t>P</a:t>
            </a:r>
            <a:r>
              <a:rPr lang="pt-BR" altLang="pt-BR" sz="1600" dirty="0">
                <a:latin typeface="Times New Roman" pitchFamily="18" charset="0"/>
              </a:rPr>
              <a:t>(</a:t>
            </a:r>
            <a:r>
              <a:rPr lang="pt-BR" altLang="pt-BR" sz="1600" i="1" dirty="0">
                <a:latin typeface="Times New Roman" pitchFamily="18" charset="0"/>
              </a:rPr>
              <a:t>X</a:t>
            </a:r>
            <a:r>
              <a:rPr lang="pt-BR" altLang="pt-BR" sz="1600" dirty="0">
                <a:latin typeface="Times New Roman" pitchFamily="18" charset="0"/>
              </a:rPr>
              <a:t> = 0) = 2/7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 dirty="0">
                <a:latin typeface="Times New Roman" pitchFamily="18" charset="0"/>
              </a:rPr>
              <a:t>P</a:t>
            </a:r>
            <a:r>
              <a:rPr lang="pt-BR" altLang="pt-BR" sz="1600" dirty="0">
                <a:latin typeface="Times New Roman" pitchFamily="18" charset="0"/>
              </a:rPr>
              <a:t>(</a:t>
            </a:r>
            <a:r>
              <a:rPr lang="pt-BR" altLang="pt-BR" sz="1600" i="1" dirty="0">
                <a:latin typeface="Times New Roman" pitchFamily="18" charset="0"/>
              </a:rPr>
              <a:t>X</a:t>
            </a:r>
            <a:r>
              <a:rPr lang="pt-BR" altLang="pt-BR" sz="1600" dirty="0">
                <a:latin typeface="Times New Roman" pitchFamily="18" charset="0"/>
              </a:rPr>
              <a:t> = 1) = 5/7</a:t>
            </a:r>
          </a:p>
        </p:txBody>
      </p:sp>
      <p:sp>
        <p:nvSpPr>
          <p:cNvPr id="15366" name="Text Box 14"/>
          <p:cNvSpPr txBox="1">
            <a:spLocks noChangeArrowheads="1"/>
          </p:cNvSpPr>
          <p:nvPr/>
        </p:nvSpPr>
        <p:spPr bwMode="auto">
          <a:xfrm>
            <a:off x="847725" y="4364038"/>
            <a:ext cx="838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f</a:t>
            </a:r>
            <a:r>
              <a:rPr lang="pt-BR" altLang="pt-BR" sz="1600">
                <a:latin typeface="Times New Roman" pitchFamily="18" charset="0"/>
              </a:rPr>
              <a:t>(</a:t>
            </a:r>
            <a:r>
              <a:rPr lang="pt-BR" altLang="pt-BR" sz="1600" i="1">
                <a:latin typeface="Times New Roman" pitchFamily="18" charset="0"/>
              </a:rPr>
              <a:t>x</a:t>
            </a:r>
            <a:r>
              <a:rPr lang="pt-BR" altLang="pt-BR" sz="1600">
                <a:latin typeface="Times New Roman" pitchFamily="18" charset="0"/>
              </a:rPr>
              <a:t>) =</a:t>
            </a:r>
          </a:p>
        </p:txBody>
      </p:sp>
      <p:graphicFrame>
        <p:nvGraphicFramePr>
          <p:cNvPr id="15367" name="Object 15"/>
          <p:cNvGraphicFramePr>
            <a:graphicFrameLocks noChangeAspect="1"/>
          </p:cNvGraphicFramePr>
          <p:nvPr/>
        </p:nvGraphicFramePr>
        <p:xfrm>
          <a:off x="1419225" y="4362450"/>
          <a:ext cx="598488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19100" imgH="228600" progId="Equation.DSMT4">
                  <p:embed/>
                </p:oleObj>
              </mc:Choice>
              <mc:Fallback>
                <p:oleObj name="Equation" r:id="rId2" imgW="419100" imgH="228600" progId="Equation.DSMT4">
                  <p:embed/>
                  <p:pic>
                    <p:nvPicPr>
                      <p:cNvPr id="15367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9225" y="4362450"/>
                        <a:ext cx="598488" cy="3270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8" name="Object 16"/>
          <p:cNvGraphicFramePr>
            <a:graphicFrameLocks noChangeAspect="1"/>
          </p:cNvGraphicFramePr>
          <p:nvPr/>
        </p:nvGraphicFramePr>
        <p:xfrm>
          <a:off x="3124200" y="2873375"/>
          <a:ext cx="2433638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01800" imgH="228600" progId="Equation.DSMT4">
                  <p:embed/>
                </p:oleObj>
              </mc:Choice>
              <mc:Fallback>
                <p:oleObj name="Equation" r:id="rId4" imgW="1701800" imgH="228600" progId="Equation.DSMT4">
                  <p:embed/>
                  <p:pic>
                    <p:nvPicPr>
                      <p:cNvPr id="15368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2873375"/>
                        <a:ext cx="2433638" cy="32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9" name="Object 17"/>
          <p:cNvGraphicFramePr>
            <a:graphicFrameLocks noChangeAspect="1"/>
          </p:cNvGraphicFramePr>
          <p:nvPr/>
        </p:nvGraphicFramePr>
        <p:xfrm>
          <a:off x="3124200" y="3473450"/>
          <a:ext cx="1508125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54100" imgH="228600" progId="Equation.DSMT4">
                  <p:embed/>
                </p:oleObj>
              </mc:Choice>
              <mc:Fallback>
                <p:oleObj name="Equation" r:id="rId6" imgW="1054100" imgH="228600" progId="Equation.DSMT4">
                  <p:embed/>
                  <p:pic>
                    <p:nvPicPr>
                      <p:cNvPr id="15369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3473450"/>
                        <a:ext cx="1508125" cy="32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444" name="Object 20"/>
          <p:cNvGraphicFramePr>
            <a:graphicFrameLocks noChangeAspect="1"/>
          </p:cNvGraphicFramePr>
          <p:nvPr/>
        </p:nvGraphicFramePr>
        <p:xfrm>
          <a:off x="3124200" y="4056063"/>
          <a:ext cx="1671638" cy="290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167893" imgH="203112" progId="Equation.DSMT4">
                  <p:embed/>
                </p:oleObj>
              </mc:Choice>
              <mc:Fallback>
                <p:oleObj name="Equation" r:id="rId8" imgW="1167893" imgH="203112" progId="Equation.DSMT4">
                  <p:embed/>
                  <p:pic>
                    <p:nvPicPr>
                      <p:cNvPr id="103444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4056063"/>
                        <a:ext cx="1671638" cy="290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445" name="Object 21"/>
          <p:cNvGraphicFramePr>
            <a:graphicFrameLocks noChangeAspect="1"/>
          </p:cNvGraphicFramePr>
          <p:nvPr/>
        </p:nvGraphicFramePr>
        <p:xfrm>
          <a:off x="3124200" y="4648200"/>
          <a:ext cx="1198563" cy="29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837836" imgH="203112" progId="Equation.DSMT4">
                  <p:embed/>
                </p:oleObj>
              </mc:Choice>
              <mc:Fallback>
                <p:oleObj name="Equation" r:id="rId10" imgW="837836" imgH="203112" progId="Equation.DSMT4">
                  <p:embed/>
                  <p:pic>
                    <p:nvPicPr>
                      <p:cNvPr id="103445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4648200"/>
                        <a:ext cx="1198563" cy="290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446" name="Rectangle 22"/>
          <p:cNvSpPr>
            <a:spLocks noChangeArrowheads="1"/>
          </p:cNvSpPr>
          <p:nvPr/>
        </p:nvSpPr>
        <p:spPr bwMode="auto">
          <a:xfrm>
            <a:off x="3048000" y="4495800"/>
            <a:ext cx="1322388" cy="577850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graphicFrame>
        <p:nvGraphicFramePr>
          <p:cNvPr id="15373" name="Object 23"/>
          <p:cNvGraphicFramePr>
            <a:graphicFrameLocks noChangeAspect="1"/>
          </p:cNvGraphicFramePr>
          <p:nvPr/>
        </p:nvGraphicFramePr>
        <p:xfrm>
          <a:off x="838200" y="5029200"/>
          <a:ext cx="925513" cy="293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647419" imgH="203112" progId="Equation.DSMT4">
                  <p:embed/>
                </p:oleObj>
              </mc:Choice>
              <mc:Fallback>
                <p:oleObj name="Equation" r:id="rId12" imgW="647419" imgH="203112" progId="Equation.DSMT4">
                  <p:embed/>
                  <p:pic>
                    <p:nvPicPr>
                      <p:cNvPr id="15373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5029200"/>
                        <a:ext cx="925513" cy="293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DA38EE-BAE9-49AF-A1E3-B6D4789500F9}" type="slidenum">
              <a:rPr lang="pt-BR"/>
              <a:pPr>
                <a:defRPr/>
              </a:pPr>
              <a:t>18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44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Distribuição Bernoulli</a:t>
            </a:r>
          </a:p>
        </p:txBody>
      </p:sp>
      <p:sp>
        <p:nvSpPr>
          <p:cNvPr id="16387" name="Text Box 3"/>
          <p:cNvSpPr txBox="1">
            <a:spLocks noChangeArrowheads="1"/>
          </p:cNvSpPr>
          <p:nvPr/>
        </p:nvSpPr>
        <p:spPr bwMode="auto">
          <a:xfrm>
            <a:off x="1981200" y="1600200"/>
            <a:ext cx="6705600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Considere o experimento: retira-se uma bola da urna. Define-se uma v.a. </a:t>
            </a:r>
            <a:r>
              <a:rPr lang="pt-BR" altLang="pt-BR" sz="1600" i="1" dirty="0">
                <a:latin typeface="Times New Roman" pitchFamily="18" charset="0"/>
              </a:rPr>
              <a:t>X</a:t>
            </a:r>
            <a:r>
              <a:rPr lang="pt-BR" altLang="pt-BR" sz="1600" dirty="0">
                <a:latin typeface="Tahoma" panose="020B0604030504040204" pitchFamily="34" charset="0"/>
              </a:rPr>
              <a:t> cujos valores são 1 se a bola escolhida for vermelha (sucesso) e 0 caso contrário (fracasso).</a:t>
            </a:r>
          </a:p>
        </p:txBody>
      </p:sp>
      <p:grpSp>
        <p:nvGrpSpPr>
          <p:cNvPr id="16388" name="Group 4"/>
          <p:cNvGrpSpPr>
            <a:grpSpLocks/>
          </p:cNvGrpSpPr>
          <p:nvPr/>
        </p:nvGrpSpPr>
        <p:grpSpPr bwMode="auto">
          <a:xfrm>
            <a:off x="838200" y="1447800"/>
            <a:ext cx="914400" cy="1295400"/>
            <a:chOff x="2688" y="3264"/>
            <a:chExt cx="576" cy="816"/>
          </a:xfrm>
        </p:grpSpPr>
        <p:sp>
          <p:nvSpPr>
            <p:cNvPr id="16397" name="Freeform 5"/>
            <p:cNvSpPr>
              <a:spLocks/>
            </p:cNvSpPr>
            <p:nvPr/>
          </p:nvSpPr>
          <p:spPr bwMode="auto">
            <a:xfrm>
              <a:off x="2688" y="3264"/>
              <a:ext cx="576" cy="816"/>
            </a:xfrm>
            <a:custGeom>
              <a:avLst/>
              <a:gdLst>
                <a:gd name="T0" fmla="*/ 0 w 576"/>
                <a:gd name="T1" fmla="*/ 0 h 816"/>
                <a:gd name="T2" fmla="*/ 0 w 576"/>
                <a:gd name="T3" fmla="*/ 816 h 816"/>
                <a:gd name="T4" fmla="*/ 576 w 576"/>
                <a:gd name="T5" fmla="*/ 816 h 816"/>
                <a:gd name="T6" fmla="*/ 576 w 576"/>
                <a:gd name="T7" fmla="*/ 0 h 8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"/>
                <a:gd name="T13" fmla="*/ 0 h 816"/>
                <a:gd name="T14" fmla="*/ 576 w 576"/>
                <a:gd name="T15" fmla="*/ 816 h 8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" h="816">
                  <a:moveTo>
                    <a:pt x="0" y="0"/>
                  </a:moveTo>
                  <a:lnTo>
                    <a:pt x="0" y="816"/>
                  </a:lnTo>
                  <a:lnTo>
                    <a:pt x="576" y="816"/>
                  </a:lnTo>
                  <a:lnTo>
                    <a:pt x="576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16398" name="Oval 6"/>
            <p:cNvSpPr>
              <a:spLocks noChangeArrowheads="1"/>
            </p:cNvSpPr>
            <p:nvPr/>
          </p:nvSpPr>
          <p:spPr bwMode="auto">
            <a:xfrm>
              <a:off x="2784" y="336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6399" name="Oval 7"/>
            <p:cNvSpPr>
              <a:spLocks noChangeArrowheads="1"/>
            </p:cNvSpPr>
            <p:nvPr/>
          </p:nvSpPr>
          <p:spPr bwMode="auto">
            <a:xfrm>
              <a:off x="3024" y="348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6400" name="Oval 8"/>
            <p:cNvSpPr>
              <a:spLocks noChangeArrowheads="1"/>
            </p:cNvSpPr>
            <p:nvPr/>
          </p:nvSpPr>
          <p:spPr bwMode="auto">
            <a:xfrm>
              <a:off x="2784" y="384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6401" name="Oval 9"/>
            <p:cNvSpPr>
              <a:spLocks noChangeArrowheads="1"/>
            </p:cNvSpPr>
            <p:nvPr/>
          </p:nvSpPr>
          <p:spPr bwMode="auto">
            <a:xfrm>
              <a:off x="2784" y="3600"/>
              <a:ext cx="144" cy="14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6402" name="Oval 10"/>
            <p:cNvSpPr>
              <a:spLocks noChangeArrowheads="1"/>
            </p:cNvSpPr>
            <p:nvPr/>
          </p:nvSpPr>
          <p:spPr bwMode="auto">
            <a:xfrm>
              <a:off x="3024" y="3696"/>
              <a:ext cx="144" cy="14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6403" name="Oval 11"/>
            <p:cNvSpPr>
              <a:spLocks noChangeArrowheads="1"/>
            </p:cNvSpPr>
            <p:nvPr/>
          </p:nvSpPr>
          <p:spPr bwMode="auto">
            <a:xfrm>
              <a:off x="3024" y="3264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6404" name="Oval 12"/>
            <p:cNvSpPr>
              <a:spLocks noChangeArrowheads="1"/>
            </p:cNvSpPr>
            <p:nvPr/>
          </p:nvSpPr>
          <p:spPr bwMode="auto">
            <a:xfrm>
              <a:off x="3024" y="3912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graphicFrame>
        <p:nvGraphicFramePr>
          <p:cNvPr id="104469" name="Object 21"/>
          <p:cNvGraphicFramePr>
            <a:graphicFrameLocks noChangeAspect="1"/>
          </p:cNvGraphicFramePr>
          <p:nvPr/>
        </p:nvGraphicFramePr>
        <p:xfrm>
          <a:off x="3192463" y="3959225"/>
          <a:ext cx="923925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47419" imgH="203112" progId="Equation.DSMT4">
                  <p:embed/>
                </p:oleObj>
              </mc:Choice>
              <mc:Fallback>
                <p:oleObj name="Equation" r:id="rId2" imgW="647419" imgH="203112" progId="Equation.DSMT4">
                  <p:embed/>
                  <p:pic>
                    <p:nvPicPr>
                      <p:cNvPr id="104469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2463" y="3959225"/>
                        <a:ext cx="923925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70" name="Object 22"/>
          <p:cNvGraphicFramePr>
            <a:graphicFrameLocks noChangeAspect="1"/>
          </p:cNvGraphicFramePr>
          <p:nvPr/>
        </p:nvGraphicFramePr>
        <p:xfrm>
          <a:off x="3192463" y="4662488"/>
          <a:ext cx="1196975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37836" imgH="203112" progId="Equation.DSMT4">
                  <p:embed/>
                </p:oleObj>
              </mc:Choice>
              <mc:Fallback>
                <p:oleObj name="Equation" r:id="rId4" imgW="837836" imgH="203112" progId="Equation.DSMT4">
                  <p:embed/>
                  <p:pic>
                    <p:nvPicPr>
                      <p:cNvPr id="10447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2463" y="4662488"/>
                        <a:ext cx="1196975" cy="288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71" name="Object 23"/>
          <p:cNvGraphicFramePr>
            <a:graphicFrameLocks noChangeAspect="1"/>
          </p:cNvGraphicFramePr>
          <p:nvPr/>
        </p:nvGraphicFramePr>
        <p:xfrm>
          <a:off x="4122738" y="3811588"/>
          <a:ext cx="1106487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74364" imgH="393529" progId="Equation.DSMT4">
                  <p:embed/>
                </p:oleObj>
              </mc:Choice>
              <mc:Fallback>
                <p:oleObj name="Equation" r:id="rId6" imgW="774364" imgH="393529" progId="Equation.DSMT4">
                  <p:embed/>
                  <p:pic>
                    <p:nvPicPr>
                      <p:cNvPr id="104471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2738" y="3811588"/>
                        <a:ext cx="1106487" cy="563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72" name="Object 24"/>
          <p:cNvGraphicFramePr>
            <a:graphicFrameLocks noChangeAspect="1"/>
          </p:cNvGraphicFramePr>
          <p:nvPr/>
        </p:nvGraphicFramePr>
        <p:xfrm>
          <a:off x="4391025" y="4518025"/>
          <a:ext cx="1762125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231366" imgH="393529" progId="Equation.DSMT4">
                  <p:embed/>
                </p:oleObj>
              </mc:Choice>
              <mc:Fallback>
                <p:oleObj name="Equation" r:id="rId8" imgW="1231366" imgH="393529" progId="Equation.DSMT4">
                  <p:embed/>
                  <p:pic>
                    <p:nvPicPr>
                      <p:cNvPr id="104472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1025" y="4518025"/>
                        <a:ext cx="1762125" cy="56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3" name="Object 25"/>
          <p:cNvGraphicFramePr>
            <a:graphicFrameLocks noChangeAspect="1"/>
          </p:cNvGraphicFramePr>
          <p:nvPr/>
        </p:nvGraphicFramePr>
        <p:xfrm>
          <a:off x="3192463" y="3165475"/>
          <a:ext cx="1255712" cy="328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876300" imgH="228600" progId="Equation.DSMT4">
                  <p:embed/>
                </p:oleObj>
              </mc:Choice>
              <mc:Fallback>
                <p:oleObj name="Equation" r:id="rId10" imgW="876300" imgH="228600" progId="Equation.DSMT4">
                  <p:embed/>
                  <p:pic>
                    <p:nvPicPr>
                      <p:cNvPr id="16393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2463" y="3165475"/>
                        <a:ext cx="1255712" cy="328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74" name="Object 26"/>
          <p:cNvGraphicFramePr>
            <a:graphicFrameLocks noChangeAspect="1"/>
          </p:cNvGraphicFramePr>
          <p:nvPr/>
        </p:nvGraphicFramePr>
        <p:xfrm>
          <a:off x="4419600" y="2984500"/>
          <a:ext cx="1270000" cy="674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889000" imgH="469900" progId="Equation.DSMT4">
                  <p:embed/>
                </p:oleObj>
              </mc:Choice>
              <mc:Fallback>
                <p:oleObj name="Equation" r:id="rId12" imgW="889000" imgH="469900" progId="Equation.DSMT4">
                  <p:embed/>
                  <p:pic>
                    <p:nvPicPr>
                      <p:cNvPr id="104474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2984500"/>
                        <a:ext cx="1270000" cy="674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5" name="Rectangle 27"/>
          <p:cNvSpPr>
            <a:spLocks noChangeArrowheads="1"/>
          </p:cNvSpPr>
          <p:nvPr/>
        </p:nvSpPr>
        <p:spPr bwMode="auto">
          <a:xfrm>
            <a:off x="6096000" y="3168650"/>
            <a:ext cx="91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X</a:t>
            </a:r>
            <a:r>
              <a:rPr lang="pt-BR" altLang="pt-BR" sz="1600">
                <a:latin typeface="Times New Roman" pitchFamily="18" charset="0"/>
              </a:rPr>
              <a:t>: {0, 1}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5D17DF3-BEB2-494E-BA37-DE7B57996802}" type="slidenum">
              <a:rPr lang="pt-BR"/>
              <a:pPr>
                <a:defRPr/>
              </a:pPr>
              <a:t>19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1820" y="4307498"/>
            <a:ext cx="3600000" cy="216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2219266"/>
            <a:ext cx="3600000" cy="216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277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2219266"/>
            <a:ext cx="3600000" cy="216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Distribuição Bernoulli</a:t>
            </a:r>
          </a:p>
        </p:txBody>
      </p:sp>
      <p:sp>
        <p:nvSpPr>
          <p:cNvPr id="7174" name="Text Box 3"/>
          <p:cNvSpPr txBox="1">
            <a:spLocks noChangeArrowheads="1"/>
          </p:cNvSpPr>
          <p:nvPr/>
        </p:nvSpPr>
        <p:spPr bwMode="auto">
          <a:xfrm>
            <a:off x="841375" y="1600200"/>
            <a:ext cx="784542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55600" indent="-35560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Exemplos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E7AD0D1-23E4-46ED-8741-3B96CDA51087}" type="slidenum">
              <a:rPr lang="pt-BR"/>
              <a:pPr>
                <a:defRPr/>
              </a:pPr>
              <a:t>20</a:t>
            </a:fld>
            <a:endParaRPr lang="pt-BR"/>
          </a:p>
        </p:txBody>
      </p:sp>
      <p:sp>
        <p:nvSpPr>
          <p:cNvPr id="4" name="CaixaDeTexto 3"/>
          <p:cNvSpPr txBox="1"/>
          <p:nvPr/>
        </p:nvSpPr>
        <p:spPr>
          <a:xfrm>
            <a:off x="3255144" y="2771609"/>
            <a:ext cx="7617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0,1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6351167" y="2564904"/>
            <a:ext cx="7617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0,5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3758557" y="4835310"/>
            <a:ext cx="8643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0,95</a:t>
            </a:r>
          </a:p>
        </p:txBody>
      </p:sp>
      <p:sp>
        <p:nvSpPr>
          <p:cNvPr id="12" name="Text Box 4"/>
          <p:cNvSpPr txBox="1">
            <a:spLocks noChangeArrowheads="1"/>
          </p:cNvSpPr>
          <p:nvPr/>
        </p:nvSpPr>
        <p:spPr bwMode="auto">
          <a:xfrm>
            <a:off x="210220" y="6476586"/>
            <a:ext cx="8001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Em que situação a média e a variância são maiores?</a:t>
            </a:r>
          </a:p>
        </p:txBody>
      </p:sp>
      <p:graphicFrame>
        <p:nvGraphicFramePr>
          <p:cNvPr id="13" name="Object 16"/>
          <p:cNvGraphicFramePr>
            <a:graphicFrameLocks noChangeAspect="1"/>
          </p:cNvGraphicFramePr>
          <p:nvPr/>
        </p:nvGraphicFramePr>
        <p:xfrm>
          <a:off x="7020272" y="4937100"/>
          <a:ext cx="923925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647419" imgH="203112" progId="Equation.DSMT4">
                  <p:embed/>
                </p:oleObj>
              </mc:Choice>
              <mc:Fallback>
                <p:oleObj name="Equation" r:id="rId5" imgW="647419" imgH="203112" progId="Equation.DSMT4">
                  <p:embed/>
                  <p:pic>
                    <p:nvPicPr>
                      <p:cNvPr id="13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20272" y="4937100"/>
                        <a:ext cx="923925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7"/>
          <p:cNvGraphicFramePr>
            <a:graphicFrameLocks noChangeAspect="1"/>
          </p:cNvGraphicFramePr>
          <p:nvPr/>
        </p:nvGraphicFramePr>
        <p:xfrm>
          <a:off x="7020272" y="5434112"/>
          <a:ext cx="12065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837836" imgH="203112" progId="Equation.DSMT4">
                  <p:embed/>
                </p:oleObj>
              </mc:Choice>
              <mc:Fallback>
                <p:oleObj name="Equation" r:id="rId7" imgW="837836" imgH="203112" progId="Equation.DSMT4">
                  <p:embed/>
                  <p:pic>
                    <p:nvPicPr>
                      <p:cNvPr id="14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20272" y="5434112"/>
                        <a:ext cx="1206500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4701658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Distribuição Binomial</a:t>
            </a: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1981200" y="1600200"/>
            <a:ext cx="6858000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Considere o experimento: retiram-se 3 bolas da urna (com reposição). Define-se uma v.a. </a:t>
            </a:r>
            <a:r>
              <a:rPr lang="pt-BR" altLang="pt-BR" sz="1600" i="1" dirty="0">
                <a:latin typeface="Times New Roman" pitchFamily="18" charset="0"/>
              </a:rPr>
              <a:t>X</a:t>
            </a:r>
            <a:r>
              <a:rPr lang="pt-BR" altLang="pt-BR" sz="1600" dirty="0">
                <a:latin typeface="Tahoma" panose="020B0604030504040204" pitchFamily="34" charset="0"/>
              </a:rPr>
              <a:t> cujos valores representam o número total de bolas vermelhas dentre as 3 escolhidas.</a:t>
            </a:r>
          </a:p>
        </p:txBody>
      </p:sp>
      <p:grpSp>
        <p:nvGrpSpPr>
          <p:cNvPr id="17412" name="Group 4"/>
          <p:cNvGrpSpPr>
            <a:grpSpLocks/>
          </p:cNvGrpSpPr>
          <p:nvPr/>
        </p:nvGrpSpPr>
        <p:grpSpPr bwMode="auto">
          <a:xfrm>
            <a:off x="838200" y="1447800"/>
            <a:ext cx="914400" cy="1295400"/>
            <a:chOff x="2688" y="3264"/>
            <a:chExt cx="576" cy="816"/>
          </a:xfrm>
        </p:grpSpPr>
        <p:sp>
          <p:nvSpPr>
            <p:cNvPr id="17436" name="Freeform 5"/>
            <p:cNvSpPr>
              <a:spLocks/>
            </p:cNvSpPr>
            <p:nvPr/>
          </p:nvSpPr>
          <p:spPr bwMode="auto">
            <a:xfrm>
              <a:off x="2688" y="3264"/>
              <a:ext cx="576" cy="816"/>
            </a:xfrm>
            <a:custGeom>
              <a:avLst/>
              <a:gdLst>
                <a:gd name="T0" fmla="*/ 0 w 576"/>
                <a:gd name="T1" fmla="*/ 0 h 816"/>
                <a:gd name="T2" fmla="*/ 0 w 576"/>
                <a:gd name="T3" fmla="*/ 816 h 816"/>
                <a:gd name="T4" fmla="*/ 576 w 576"/>
                <a:gd name="T5" fmla="*/ 816 h 816"/>
                <a:gd name="T6" fmla="*/ 576 w 576"/>
                <a:gd name="T7" fmla="*/ 0 h 8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"/>
                <a:gd name="T13" fmla="*/ 0 h 816"/>
                <a:gd name="T14" fmla="*/ 576 w 576"/>
                <a:gd name="T15" fmla="*/ 816 h 8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" h="816">
                  <a:moveTo>
                    <a:pt x="0" y="0"/>
                  </a:moveTo>
                  <a:lnTo>
                    <a:pt x="0" y="816"/>
                  </a:lnTo>
                  <a:lnTo>
                    <a:pt x="576" y="816"/>
                  </a:lnTo>
                  <a:lnTo>
                    <a:pt x="576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17437" name="Oval 6"/>
            <p:cNvSpPr>
              <a:spLocks noChangeArrowheads="1"/>
            </p:cNvSpPr>
            <p:nvPr/>
          </p:nvSpPr>
          <p:spPr bwMode="auto">
            <a:xfrm>
              <a:off x="2784" y="336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7438" name="Oval 7"/>
            <p:cNvSpPr>
              <a:spLocks noChangeArrowheads="1"/>
            </p:cNvSpPr>
            <p:nvPr/>
          </p:nvSpPr>
          <p:spPr bwMode="auto">
            <a:xfrm>
              <a:off x="3024" y="348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7439" name="Oval 8"/>
            <p:cNvSpPr>
              <a:spLocks noChangeArrowheads="1"/>
            </p:cNvSpPr>
            <p:nvPr/>
          </p:nvSpPr>
          <p:spPr bwMode="auto">
            <a:xfrm>
              <a:off x="2784" y="384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7440" name="Oval 9"/>
            <p:cNvSpPr>
              <a:spLocks noChangeArrowheads="1"/>
            </p:cNvSpPr>
            <p:nvPr/>
          </p:nvSpPr>
          <p:spPr bwMode="auto">
            <a:xfrm>
              <a:off x="2784" y="3600"/>
              <a:ext cx="144" cy="14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7441" name="Oval 10"/>
            <p:cNvSpPr>
              <a:spLocks noChangeArrowheads="1"/>
            </p:cNvSpPr>
            <p:nvPr/>
          </p:nvSpPr>
          <p:spPr bwMode="auto">
            <a:xfrm>
              <a:off x="3024" y="3696"/>
              <a:ext cx="144" cy="14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7442" name="Oval 11"/>
            <p:cNvSpPr>
              <a:spLocks noChangeArrowheads="1"/>
            </p:cNvSpPr>
            <p:nvPr/>
          </p:nvSpPr>
          <p:spPr bwMode="auto">
            <a:xfrm>
              <a:off x="3024" y="3264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7443" name="Oval 12"/>
            <p:cNvSpPr>
              <a:spLocks noChangeArrowheads="1"/>
            </p:cNvSpPr>
            <p:nvPr/>
          </p:nvSpPr>
          <p:spPr bwMode="auto">
            <a:xfrm>
              <a:off x="3024" y="3912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sp>
        <p:nvSpPr>
          <p:cNvPr id="17413" name="Text Box 13"/>
          <p:cNvSpPr txBox="1">
            <a:spLocks noChangeArrowheads="1"/>
          </p:cNvSpPr>
          <p:nvPr/>
        </p:nvSpPr>
        <p:spPr bwMode="auto">
          <a:xfrm>
            <a:off x="838200" y="2971800"/>
            <a:ext cx="1371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 dirty="0">
                <a:latin typeface="Times New Roman" pitchFamily="18" charset="0"/>
              </a:rPr>
              <a:t>X</a:t>
            </a:r>
            <a:r>
              <a:rPr lang="pt-BR" altLang="pt-BR" sz="1600" dirty="0">
                <a:latin typeface="Times New Roman" pitchFamily="18" charset="0"/>
              </a:rPr>
              <a:t>: {0, 1, 2, 3}</a:t>
            </a:r>
            <a:endParaRPr lang="pt-BR" altLang="pt-BR" sz="1600" dirty="0">
              <a:latin typeface="Tahoma" panose="020B0604030504040204" pitchFamily="34" charset="0"/>
            </a:endParaRPr>
          </a:p>
        </p:txBody>
      </p:sp>
      <p:graphicFrame>
        <p:nvGraphicFramePr>
          <p:cNvPr id="17414" name="Object 20"/>
          <p:cNvGraphicFramePr>
            <a:graphicFrameLocks noChangeAspect="1"/>
          </p:cNvGraphicFramePr>
          <p:nvPr/>
        </p:nvGraphicFramePr>
        <p:xfrm>
          <a:off x="914400" y="3765550"/>
          <a:ext cx="1639888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3000" imgH="457200" progId="Equation.DSMT4">
                  <p:embed/>
                </p:oleObj>
              </mc:Choice>
              <mc:Fallback>
                <p:oleObj name="Equation" r:id="rId2" imgW="1143000" imgH="457200" progId="Equation.DSMT4">
                  <p:embed/>
                  <p:pic>
                    <p:nvPicPr>
                      <p:cNvPr id="17414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3765550"/>
                        <a:ext cx="1639888" cy="6540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17" name="Object 21"/>
          <p:cNvGraphicFramePr>
            <a:graphicFrameLocks noChangeAspect="1"/>
          </p:cNvGraphicFramePr>
          <p:nvPr/>
        </p:nvGraphicFramePr>
        <p:xfrm>
          <a:off x="914400" y="5029200"/>
          <a:ext cx="1052513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36600" imgH="431800" progId="Equation.DSMT4">
                  <p:embed/>
                </p:oleObj>
              </mc:Choice>
              <mc:Fallback>
                <p:oleObj name="Equation" r:id="rId4" imgW="736600" imgH="431800" progId="Equation.DSMT4">
                  <p:embed/>
                  <p:pic>
                    <p:nvPicPr>
                      <p:cNvPr id="106517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5029200"/>
                        <a:ext cx="1052513" cy="619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6518" name="Text Box 22"/>
          <p:cNvSpPr txBox="1">
            <a:spLocks noChangeArrowheads="1"/>
          </p:cNvSpPr>
          <p:nvPr/>
        </p:nvSpPr>
        <p:spPr bwMode="auto">
          <a:xfrm>
            <a:off x="3352800" y="2819400"/>
            <a:ext cx="5334000" cy="106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A v.a. Binomial pode ser entendida como uma somatória de </a:t>
            </a:r>
            <a:r>
              <a:rPr lang="pt-BR" altLang="pt-BR" sz="1600" i="1" dirty="0">
                <a:latin typeface="Times New Roman" pitchFamily="18" charset="0"/>
              </a:rPr>
              <a:t>n</a:t>
            </a:r>
            <a:r>
              <a:rPr lang="pt-BR" altLang="pt-BR" sz="1600" dirty="0">
                <a:latin typeface="Tahoma" panose="020B0604030504040204" pitchFamily="34" charset="0"/>
              </a:rPr>
              <a:t> v.a. Bernoulli, já que, para cada evento (tirar uma bola), há uma probabilidade </a:t>
            </a:r>
            <a:r>
              <a:rPr lang="pt-BR" altLang="pt-BR" sz="1600" i="1" dirty="0">
                <a:latin typeface="Times New Roman" pitchFamily="18" charset="0"/>
              </a:rPr>
              <a:t>p</a:t>
            </a:r>
            <a:r>
              <a:rPr lang="pt-BR" altLang="pt-BR" sz="1600" dirty="0">
                <a:latin typeface="Tahoma" panose="020B0604030504040204" pitchFamily="34" charset="0"/>
              </a:rPr>
              <a:t> de sucesso (tirar bola vermelha) e </a:t>
            </a:r>
            <a:r>
              <a:rPr lang="pt-BR" altLang="pt-BR" sz="1600" i="1" dirty="0">
                <a:latin typeface="Times New Roman" pitchFamily="18" charset="0"/>
              </a:rPr>
              <a:t>q</a:t>
            </a:r>
            <a:r>
              <a:rPr lang="pt-BR" altLang="pt-BR" sz="1600" dirty="0">
                <a:latin typeface="Tahoma" panose="020B0604030504040204" pitchFamily="34" charset="0"/>
              </a:rPr>
              <a:t> de fracasso (tirar bola azul).</a:t>
            </a:r>
          </a:p>
        </p:txBody>
      </p:sp>
      <p:graphicFrame>
        <p:nvGraphicFramePr>
          <p:cNvPr id="106519" name="Object 23"/>
          <p:cNvGraphicFramePr>
            <a:graphicFrameLocks noChangeAspect="1"/>
          </p:cNvGraphicFramePr>
          <p:nvPr/>
        </p:nvGraphicFramePr>
        <p:xfrm>
          <a:off x="3451225" y="3979863"/>
          <a:ext cx="892175" cy="617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22030" imgH="431613" progId="Equation.DSMT4">
                  <p:embed/>
                </p:oleObj>
              </mc:Choice>
              <mc:Fallback>
                <p:oleObj name="Equation" r:id="rId6" imgW="622030" imgH="431613" progId="Equation.DSMT4">
                  <p:embed/>
                  <p:pic>
                    <p:nvPicPr>
                      <p:cNvPr id="106519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1225" y="3979863"/>
                        <a:ext cx="892175" cy="61753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6520" name="Text Box 24"/>
          <p:cNvSpPr txBox="1">
            <a:spLocks noChangeArrowheads="1"/>
          </p:cNvSpPr>
          <p:nvPr/>
        </p:nvSpPr>
        <p:spPr bwMode="auto">
          <a:xfrm>
            <a:off x="4343400" y="4114800"/>
            <a:ext cx="4648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onde cada </a:t>
            </a:r>
            <a:r>
              <a:rPr lang="pt-BR" altLang="pt-BR" sz="1600" i="1" dirty="0">
                <a:latin typeface="Times New Roman" pitchFamily="18" charset="0"/>
              </a:rPr>
              <a:t>Y</a:t>
            </a:r>
            <a:r>
              <a:rPr lang="pt-BR" altLang="pt-BR" sz="1600" i="1" baseline="-25000" dirty="0">
                <a:latin typeface="Times New Roman" pitchFamily="18" charset="0"/>
              </a:rPr>
              <a:t>i</a:t>
            </a:r>
            <a:r>
              <a:rPr lang="pt-BR" altLang="pt-BR" sz="1600" dirty="0">
                <a:latin typeface="Tahoma" panose="020B0604030504040204" pitchFamily="34" charset="0"/>
              </a:rPr>
              <a:t> tem distribuição Bernoulli (</a:t>
            </a:r>
            <a:r>
              <a:rPr lang="pt-BR" altLang="pt-BR" sz="1600" dirty="0">
                <a:latin typeface="Times New Roman" pitchFamily="18" charset="0"/>
              </a:rPr>
              <a:t>0</a:t>
            </a:r>
            <a:r>
              <a:rPr lang="pt-BR" altLang="pt-BR" sz="1600" dirty="0">
                <a:latin typeface="Tahoma" panose="020B0604030504040204" pitchFamily="34" charset="0"/>
              </a:rPr>
              <a:t> ou </a:t>
            </a:r>
            <a:r>
              <a:rPr lang="pt-BR" altLang="pt-BR" sz="1600" dirty="0">
                <a:latin typeface="Times New Roman" pitchFamily="18" charset="0"/>
              </a:rPr>
              <a:t>1</a:t>
            </a:r>
            <a:r>
              <a:rPr lang="pt-BR" altLang="pt-BR" sz="1600" dirty="0">
                <a:latin typeface="Tahoma" panose="020B0604030504040204" pitchFamily="34" charset="0"/>
              </a:rPr>
              <a:t>)</a:t>
            </a:r>
          </a:p>
        </p:txBody>
      </p:sp>
      <p:graphicFrame>
        <p:nvGraphicFramePr>
          <p:cNvPr id="106521" name="Object 25"/>
          <p:cNvGraphicFramePr>
            <a:graphicFrameLocks noChangeAspect="1"/>
          </p:cNvGraphicFramePr>
          <p:nvPr/>
        </p:nvGraphicFramePr>
        <p:xfrm>
          <a:off x="3429000" y="5414963"/>
          <a:ext cx="1601788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117600" imgH="457200" progId="Equation.DSMT4">
                  <p:embed/>
                </p:oleObj>
              </mc:Choice>
              <mc:Fallback>
                <p:oleObj name="Equation" r:id="rId8" imgW="1117600" imgH="457200" progId="Equation.DSMT4">
                  <p:embed/>
                  <p:pic>
                    <p:nvPicPr>
                      <p:cNvPr id="106521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5414963"/>
                        <a:ext cx="1601788" cy="6540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22" name="Object 26"/>
          <p:cNvGraphicFramePr>
            <a:graphicFrameLocks noChangeAspect="1"/>
          </p:cNvGraphicFramePr>
          <p:nvPr/>
        </p:nvGraphicFramePr>
        <p:xfrm>
          <a:off x="5029200" y="5434013"/>
          <a:ext cx="965200" cy="617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672808" imgH="431613" progId="Equation.DSMT4">
                  <p:embed/>
                </p:oleObj>
              </mc:Choice>
              <mc:Fallback>
                <p:oleObj name="Equation" r:id="rId10" imgW="672808" imgH="431613" progId="Equation.DSMT4">
                  <p:embed/>
                  <p:pic>
                    <p:nvPicPr>
                      <p:cNvPr id="106522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5434013"/>
                        <a:ext cx="965200" cy="61753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23" name="Object 27"/>
          <p:cNvGraphicFramePr>
            <a:graphicFrameLocks noChangeAspect="1"/>
          </p:cNvGraphicFramePr>
          <p:nvPr/>
        </p:nvGraphicFramePr>
        <p:xfrm>
          <a:off x="5992813" y="5434013"/>
          <a:ext cx="636587" cy="617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44307" imgH="431613" progId="Equation.DSMT4">
                  <p:embed/>
                </p:oleObj>
              </mc:Choice>
              <mc:Fallback>
                <p:oleObj name="Equation" r:id="rId12" imgW="444307" imgH="431613" progId="Equation.DSMT4">
                  <p:embed/>
                  <p:pic>
                    <p:nvPicPr>
                      <p:cNvPr id="106523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92813" y="5434013"/>
                        <a:ext cx="636587" cy="61753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26" name="Object 30"/>
          <p:cNvGraphicFramePr>
            <a:graphicFrameLocks noChangeAspect="1"/>
          </p:cNvGraphicFramePr>
          <p:nvPr/>
        </p:nvGraphicFramePr>
        <p:xfrm>
          <a:off x="3429000" y="6132513"/>
          <a:ext cx="1928813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346200" imgH="457200" progId="Equation.DSMT4">
                  <p:embed/>
                </p:oleObj>
              </mc:Choice>
              <mc:Fallback>
                <p:oleObj name="Equation" r:id="rId14" imgW="1346200" imgH="457200" progId="Equation.DSMT4">
                  <p:embed/>
                  <p:pic>
                    <p:nvPicPr>
                      <p:cNvPr id="106526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6132513"/>
                        <a:ext cx="1928813" cy="6540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27" name="Object 31"/>
          <p:cNvGraphicFramePr>
            <a:graphicFrameLocks noChangeAspect="1"/>
          </p:cNvGraphicFramePr>
          <p:nvPr/>
        </p:nvGraphicFramePr>
        <p:xfrm>
          <a:off x="5334000" y="6151563"/>
          <a:ext cx="1128713" cy="617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787400" imgH="431800" progId="Equation.DSMT4">
                  <p:embed/>
                </p:oleObj>
              </mc:Choice>
              <mc:Fallback>
                <p:oleObj name="Equation" r:id="rId16" imgW="787400" imgH="431800" progId="Equation.DSMT4">
                  <p:embed/>
                  <p:pic>
                    <p:nvPicPr>
                      <p:cNvPr id="106527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6151563"/>
                        <a:ext cx="1128713" cy="61753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28" name="Object 32"/>
          <p:cNvGraphicFramePr>
            <a:graphicFrameLocks noChangeAspect="1"/>
          </p:cNvGraphicFramePr>
          <p:nvPr/>
        </p:nvGraphicFramePr>
        <p:xfrm>
          <a:off x="6448425" y="6151563"/>
          <a:ext cx="746125" cy="617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520474" imgH="431613" progId="Equation.DSMT4">
                  <p:embed/>
                </p:oleObj>
              </mc:Choice>
              <mc:Fallback>
                <p:oleObj name="Equation" r:id="rId18" imgW="520474" imgH="431613" progId="Equation.DSMT4">
                  <p:embed/>
                  <p:pic>
                    <p:nvPicPr>
                      <p:cNvPr id="106528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8425" y="6151563"/>
                        <a:ext cx="746125" cy="61753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29" name="Object 33"/>
          <p:cNvGraphicFramePr>
            <a:graphicFrameLocks noChangeAspect="1"/>
          </p:cNvGraphicFramePr>
          <p:nvPr/>
        </p:nvGraphicFramePr>
        <p:xfrm>
          <a:off x="7208838" y="6361113"/>
          <a:ext cx="563562" cy="236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393359" imgH="164957" progId="Equation.DSMT4">
                  <p:embed/>
                </p:oleObj>
              </mc:Choice>
              <mc:Fallback>
                <p:oleObj name="Equation" r:id="rId20" imgW="393359" imgH="164957" progId="Equation.DSMT4">
                  <p:embed/>
                  <p:pic>
                    <p:nvPicPr>
                      <p:cNvPr id="106529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08838" y="6361113"/>
                        <a:ext cx="563562" cy="23653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24" name="Object 28"/>
          <p:cNvGraphicFramePr>
            <a:graphicFrameLocks noChangeAspect="1"/>
          </p:cNvGraphicFramePr>
          <p:nvPr/>
        </p:nvGraphicFramePr>
        <p:xfrm>
          <a:off x="6642100" y="5643563"/>
          <a:ext cx="473075" cy="236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330057" imgH="165028" progId="Equation.DSMT4">
                  <p:embed/>
                </p:oleObj>
              </mc:Choice>
              <mc:Fallback>
                <p:oleObj name="Equation" r:id="rId22" imgW="330057" imgH="165028" progId="Equation.DSMT4">
                  <p:embed/>
                  <p:pic>
                    <p:nvPicPr>
                      <p:cNvPr id="106524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42100" y="5643563"/>
                        <a:ext cx="473075" cy="23653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 Box 48"/>
          <p:cNvSpPr txBox="1">
            <a:spLocks noChangeArrowheads="1"/>
          </p:cNvSpPr>
          <p:nvPr/>
        </p:nvSpPr>
        <p:spPr bwMode="auto">
          <a:xfrm>
            <a:off x="3381375" y="4933950"/>
            <a:ext cx="33242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Por exemplo: </a:t>
            </a:r>
            <a:r>
              <a:rPr lang="pt-BR" altLang="pt-BR" sz="1600" i="1" dirty="0">
                <a:latin typeface="Times New Roman" pitchFamily="18" charset="0"/>
              </a:rPr>
              <a:t>q         p          </a:t>
            </a:r>
            <a:r>
              <a:rPr lang="pt-BR" altLang="pt-BR" sz="1600" i="1" dirty="0" err="1">
                <a:latin typeface="Times New Roman" pitchFamily="18" charset="0"/>
              </a:rPr>
              <a:t>p</a:t>
            </a:r>
            <a:endParaRPr lang="pt-BR" altLang="pt-BR" sz="1600" i="1" dirty="0">
              <a:latin typeface="Times New Roman" pitchFamily="18" charset="0"/>
            </a:endParaRPr>
          </a:p>
        </p:txBody>
      </p:sp>
      <p:sp>
        <p:nvSpPr>
          <p:cNvPr id="28" name="Oval 49"/>
          <p:cNvSpPr>
            <a:spLocks noChangeArrowheads="1"/>
          </p:cNvSpPr>
          <p:nvPr/>
        </p:nvSpPr>
        <p:spPr bwMode="auto">
          <a:xfrm>
            <a:off x="4705350" y="4981575"/>
            <a:ext cx="144463" cy="304800"/>
          </a:xfrm>
          <a:prstGeom prst="ellipse">
            <a:avLst/>
          </a:prstGeom>
          <a:noFill/>
          <a:ln w="1905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29" name="Oval 50"/>
          <p:cNvSpPr>
            <a:spLocks noChangeArrowheads="1"/>
          </p:cNvSpPr>
          <p:nvPr/>
        </p:nvSpPr>
        <p:spPr bwMode="auto">
          <a:xfrm>
            <a:off x="5260975" y="4981575"/>
            <a:ext cx="144463" cy="304800"/>
          </a:xfrm>
          <a:prstGeom prst="ellipse">
            <a:avLst/>
          </a:prstGeom>
          <a:noFill/>
          <a:ln w="1905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30" name="Oval 51"/>
          <p:cNvSpPr>
            <a:spLocks noChangeArrowheads="1"/>
          </p:cNvSpPr>
          <p:nvPr/>
        </p:nvSpPr>
        <p:spPr bwMode="auto">
          <a:xfrm>
            <a:off x="5857875" y="4981575"/>
            <a:ext cx="144463" cy="304800"/>
          </a:xfrm>
          <a:prstGeom prst="ellipse">
            <a:avLst/>
          </a:prstGeom>
          <a:noFill/>
          <a:ln w="1905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31" name="Rectangle 52"/>
          <p:cNvSpPr>
            <a:spLocks noChangeArrowheads="1"/>
          </p:cNvSpPr>
          <p:nvPr/>
        </p:nvSpPr>
        <p:spPr bwMode="auto">
          <a:xfrm>
            <a:off x="4583113" y="4651375"/>
            <a:ext cx="6842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Y</a:t>
            </a:r>
            <a:r>
              <a:rPr lang="pt-BR" altLang="pt-BR" sz="1600" baseline="-25000">
                <a:latin typeface="Times New Roman" pitchFamily="18" charset="0"/>
              </a:rPr>
              <a:t>1</a:t>
            </a:r>
            <a:r>
              <a:rPr lang="pt-BR" altLang="pt-BR" sz="1600">
                <a:latin typeface="Times New Roman" pitchFamily="18" charset="0"/>
              </a:rPr>
              <a:t> = 0</a:t>
            </a:r>
          </a:p>
        </p:txBody>
      </p:sp>
      <p:sp>
        <p:nvSpPr>
          <p:cNvPr id="32" name="Rectangle 53"/>
          <p:cNvSpPr>
            <a:spLocks noChangeArrowheads="1"/>
          </p:cNvSpPr>
          <p:nvPr/>
        </p:nvSpPr>
        <p:spPr bwMode="auto">
          <a:xfrm>
            <a:off x="5183188" y="4651375"/>
            <a:ext cx="6842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Y</a:t>
            </a:r>
            <a:r>
              <a:rPr lang="pt-BR" altLang="pt-BR" sz="1600" baseline="-25000">
                <a:latin typeface="Times New Roman" pitchFamily="18" charset="0"/>
              </a:rPr>
              <a:t>2</a:t>
            </a:r>
            <a:r>
              <a:rPr lang="pt-BR" altLang="pt-BR" sz="1600">
                <a:latin typeface="Times New Roman" pitchFamily="18" charset="0"/>
              </a:rPr>
              <a:t> = 1</a:t>
            </a:r>
          </a:p>
        </p:txBody>
      </p:sp>
      <p:sp>
        <p:nvSpPr>
          <p:cNvPr id="33" name="Rectangle 54"/>
          <p:cNvSpPr>
            <a:spLocks noChangeArrowheads="1"/>
          </p:cNvSpPr>
          <p:nvPr/>
        </p:nvSpPr>
        <p:spPr bwMode="auto">
          <a:xfrm>
            <a:off x="5765800" y="4651375"/>
            <a:ext cx="6842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Y</a:t>
            </a:r>
            <a:r>
              <a:rPr lang="pt-BR" altLang="pt-BR" sz="1600" baseline="-25000">
                <a:latin typeface="Times New Roman" pitchFamily="18" charset="0"/>
              </a:rPr>
              <a:t>3</a:t>
            </a:r>
            <a:r>
              <a:rPr lang="pt-BR" altLang="pt-BR" sz="1600">
                <a:latin typeface="Times New Roman" pitchFamily="18" charset="0"/>
              </a:rPr>
              <a:t> = 1</a:t>
            </a:r>
          </a:p>
        </p:txBody>
      </p:sp>
      <p:sp>
        <p:nvSpPr>
          <p:cNvPr id="34" name="Rectangle 55"/>
          <p:cNvSpPr>
            <a:spLocks noChangeArrowheads="1"/>
          </p:cNvSpPr>
          <p:nvPr/>
        </p:nvSpPr>
        <p:spPr bwMode="auto">
          <a:xfrm>
            <a:off x="6286500" y="4929188"/>
            <a:ext cx="1916113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imes New Roman" pitchFamily="18" charset="0"/>
                <a:sym typeface="Symbol" pitchFamily="18" charset="2"/>
              </a:rPr>
              <a:t> </a:t>
            </a:r>
            <a:r>
              <a:rPr lang="pt-BR" altLang="pt-BR" sz="1600" i="1" dirty="0">
                <a:latin typeface="Times New Roman" pitchFamily="18" charset="0"/>
              </a:rPr>
              <a:t>X</a:t>
            </a:r>
            <a:r>
              <a:rPr lang="pt-BR" altLang="pt-BR" sz="1600" dirty="0">
                <a:latin typeface="Times New Roman" pitchFamily="18" charset="0"/>
              </a:rPr>
              <a:t> = 2 </a:t>
            </a:r>
            <a:r>
              <a:rPr lang="pt-BR" altLang="pt-BR" sz="1600" dirty="0">
                <a:latin typeface="Tahoma" panose="020B0604030504040204" pitchFamily="34" charset="0"/>
              </a:rPr>
              <a:t>(sucessos)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A02ADF-CE8B-4F56-A672-900744F5535F}" type="slidenum">
              <a:rPr lang="pt-BR"/>
              <a:pPr>
                <a:defRPr/>
              </a:pPr>
              <a:t>21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6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6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518" grpId="0" autoUpdateAnimBg="0"/>
      <p:bldP spid="106520" grpId="0" autoUpdateAnimBg="0"/>
      <p:bldP spid="27" grpId="0" autoUpdateAnimBg="0"/>
      <p:bldP spid="28" grpId="0" animBg="1"/>
      <p:bldP spid="29" grpId="0" animBg="1"/>
      <p:bldP spid="30" grpId="0" animBg="1"/>
      <p:bldP spid="31" grpId="0" autoUpdateAnimBg="0"/>
      <p:bldP spid="32" grpId="0" autoUpdateAnimBg="0"/>
      <p:bldP spid="33" grpId="0" autoUpdateAnimBg="0"/>
      <p:bldP spid="34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Distribuição Binomial</a:t>
            </a:r>
          </a:p>
        </p:txBody>
      </p:sp>
      <p:sp>
        <p:nvSpPr>
          <p:cNvPr id="18435" name="Text Box 3"/>
          <p:cNvSpPr txBox="1">
            <a:spLocks noChangeArrowheads="1"/>
          </p:cNvSpPr>
          <p:nvPr/>
        </p:nvSpPr>
        <p:spPr bwMode="auto">
          <a:xfrm>
            <a:off x="1981200" y="1600200"/>
            <a:ext cx="6858000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Considere o experimento: retiram-se 3 bolas da urna (com reposição). Define-se uma v.a. </a:t>
            </a:r>
            <a:r>
              <a:rPr lang="pt-BR" altLang="pt-BR" sz="1600" i="1" dirty="0">
                <a:latin typeface="Times New Roman" pitchFamily="18" charset="0"/>
              </a:rPr>
              <a:t>X</a:t>
            </a:r>
            <a:r>
              <a:rPr lang="pt-BR" altLang="pt-BR" sz="1600" dirty="0">
                <a:latin typeface="Tahoma" panose="020B0604030504040204" pitchFamily="34" charset="0"/>
              </a:rPr>
              <a:t> cujos valores representam o número total de bolas vermelhas dentre as 3 escolhidas.</a:t>
            </a:r>
          </a:p>
        </p:txBody>
      </p:sp>
      <p:grpSp>
        <p:nvGrpSpPr>
          <p:cNvPr id="18436" name="Group 4"/>
          <p:cNvGrpSpPr>
            <a:grpSpLocks/>
          </p:cNvGrpSpPr>
          <p:nvPr/>
        </p:nvGrpSpPr>
        <p:grpSpPr bwMode="auto">
          <a:xfrm>
            <a:off x="838200" y="1447800"/>
            <a:ext cx="914400" cy="1295400"/>
            <a:chOff x="2688" y="3264"/>
            <a:chExt cx="576" cy="816"/>
          </a:xfrm>
        </p:grpSpPr>
        <p:sp>
          <p:nvSpPr>
            <p:cNvPr id="18447" name="Freeform 5"/>
            <p:cNvSpPr>
              <a:spLocks/>
            </p:cNvSpPr>
            <p:nvPr/>
          </p:nvSpPr>
          <p:spPr bwMode="auto">
            <a:xfrm>
              <a:off x="2688" y="3264"/>
              <a:ext cx="576" cy="816"/>
            </a:xfrm>
            <a:custGeom>
              <a:avLst/>
              <a:gdLst>
                <a:gd name="T0" fmla="*/ 0 w 576"/>
                <a:gd name="T1" fmla="*/ 0 h 816"/>
                <a:gd name="T2" fmla="*/ 0 w 576"/>
                <a:gd name="T3" fmla="*/ 816 h 816"/>
                <a:gd name="T4" fmla="*/ 576 w 576"/>
                <a:gd name="T5" fmla="*/ 816 h 816"/>
                <a:gd name="T6" fmla="*/ 576 w 576"/>
                <a:gd name="T7" fmla="*/ 0 h 8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"/>
                <a:gd name="T13" fmla="*/ 0 h 816"/>
                <a:gd name="T14" fmla="*/ 576 w 576"/>
                <a:gd name="T15" fmla="*/ 816 h 8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" h="816">
                  <a:moveTo>
                    <a:pt x="0" y="0"/>
                  </a:moveTo>
                  <a:lnTo>
                    <a:pt x="0" y="816"/>
                  </a:lnTo>
                  <a:lnTo>
                    <a:pt x="576" y="816"/>
                  </a:lnTo>
                  <a:lnTo>
                    <a:pt x="576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18448" name="Oval 6"/>
            <p:cNvSpPr>
              <a:spLocks noChangeArrowheads="1"/>
            </p:cNvSpPr>
            <p:nvPr/>
          </p:nvSpPr>
          <p:spPr bwMode="auto">
            <a:xfrm>
              <a:off x="2784" y="336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8449" name="Oval 7"/>
            <p:cNvSpPr>
              <a:spLocks noChangeArrowheads="1"/>
            </p:cNvSpPr>
            <p:nvPr/>
          </p:nvSpPr>
          <p:spPr bwMode="auto">
            <a:xfrm>
              <a:off x="3024" y="348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8450" name="Oval 8"/>
            <p:cNvSpPr>
              <a:spLocks noChangeArrowheads="1"/>
            </p:cNvSpPr>
            <p:nvPr/>
          </p:nvSpPr>
          <p:spPr bwMode="auto">
            <a:xfrm>
              <a:off x="2784" y="384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8451" name="Oval 9"/>
            <p:cNvSpPr>
              <a:spLocks noChangeArrowheads="1"/>
            </p:cNvSpPr>
            <p:nvPr/>
          </p:nvSpPr>
          <p:spPr bwMode="auto">
            <a:xfrm>
              <a:off x="2784" y="3600"/>
              <a:ext cx="144" cy="14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8452" name="Oval 10"/>
            <p:cNvSpPr>
              <a:spLocks noChangeArrowheads="1"/>
            </p:cNvSpPr>
            <p:nvPr/>
          </p:nvSpPr>
          <p:spPr bwMode="auto">
            <a:xfrm>
              <a:off x="3024" y="3696"/>
              <a:ext cx="144" cy="14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8453" name="Oval 11"/>
            <p:cNvSpPr>
              <a:spLocks noChangeArrowheads="1"/>
            </p:cNvSpPr>
            <p:nvPr/>
          </p:nvSpPr>
          <p:spPr bwMode="auto">
            <a:xfrm>
              <a:off x="3024" y="3264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8454" name="Oval 12"/>
            <p:cNvSpPr>
              <a:spLocks noChangeArrowheads="1"/>
            </p:cNvSpPr>
            <p:nvPr/>
          </p:nvSpPr>
          <p:spPr bwMode="auto">
            <a:xfrm>
              <a:off x="3024" y="3912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graphicFrame>
        <p:nvGraphicFramePr>
          <p:cNvPr id="111632" name="Object 16"/>
          <p:cNvGraphicFramePr>
            <a:graphicFrameLocks noChangeAspect="1"/>
          </p:cNvGraphicFramePr>
          <p:nvPr/>
        </p:nvGraphicFramePr>
        <p:xfrm>
          <a:off x="3192463" y="3959225"/>
          <a:ext cx="1014412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10891" imgH="203112" progId="Equation.DSMT4">
                  <p:embed/>
                </p:oleObj>
              </mc:Choice>
              <mc:Fallback>
                <p:oleObj name="Equation" r:id="rId2" imgW="710891" imgH="203112" progId="Equation.DSMT4">
                  <p:embed/>
                  <p:pic>
                    <p:nvPicPr>
                      <p:cNvPr id="111632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2463" y="3959225"/>
                        <a:ext cx="1014412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633" name="Object 17"/>
          <p:cNvGraphicFramePr>
            <a:graphicFrameLocks noChangeAspect="1"/>
          </p:cNvGraphicFramePr>
          <p:nvPr/>
        </p:nvGraphicFramePr>
        <p:xfrm>
          <a:off x="3192463" y="4662488"/>
          <a:ext cx="1270000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88614" imgH="203112" progId="Equation.DSMT4">
                  <p:embed/>
                </p:oleObj>
              </mc:Choice>
              <mc:Fallback>
                <p:oleObj name="Equation" r:id="rId4" imgW="888614" imgH="203112" progId="Equation.DSMT4">
                  <p:embed/>
                  <p:pic>
                    <p:nvPicPr>
                      <p:cNvPr id="111633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2463" y="4662488"/>
                        <a:ext cx="1270000" cy="288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634" name="Object 18"/>
          <p:cNvGraphicFramePr>
            <a:graphicFrameLocks noChangeAspect="1"/>
          </p:cNvGraphicFramePr>
          <p:nvPr/>
        </p:nvGraphicFramePr>
        <p:xfrm>
          <a:off x="4216400" y="3811588"/>
          <a:ext cx="1651000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55700" imgH="393700" progId="Equation.DSMT4">
                  <p:embed/>
                </p:oleObj>
              </mc:Choice>
              <mc:Fallback>
                <p:oleObj name="Equation" r:id="rId6" imgW="1155700" imgH="393700" progId="Equation.DSMT4">
                  <p:embed/>
                  <p:pic>
                    <p:nvPicPr>
                      <p:cNvPr id="111634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6400" y="3811588"/>
                        <a:ext cx="1651000" cy="563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635" name="Object 19"/>
          <p:cNvGraphicFramePr>
            <a:graphicFrameLocks noChangeAspect="1"/>
          </p:cNvGraphicFramePr>
          <p:nvPr/>
        </p:nvGraphicFramePr>
        <p:xfrm>
          <a:off x="4483100" y="4518025"/>
          <a:ext cx="1889125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320227" imgH="393529" progId="Equation.DSMT4">
                  <p:embed/>
                </p:oleObj>
              </mc:Choice>
              <mc:Fallback>
                <p:oleObj name="Equation" r:id="rId8" imgW="1320227" imgH="393529" progId="Equation.DSMT4">
                  <p:embed/>
                  <p:pic>
                    <p:nvPicPr>
                      <p:cNvPr id="111635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83100" y="4518025"/>
                        <a:ext cx="1889125" cy="56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1" name="Object 20"/>
          <p:cNvGraphicFramePr>
            <a:graphicFrameLocks noChangeAspect="1"/>
          </p:cNvGraphicFramePr>
          <p:nvPr/>
        </p:nvGraphicFramePr>
        <p:xfrm>
          <a:off x="3192463" y="3001963"/>
          <a:ext cx="1638300" cy="65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143000" imgH="457200" progId="Equation.DSMT4">
                  <p:embed/>
                </p:oleObj>
              </mc:Choice>
              <mc:Fallback>
                <p:oleObj name="Equation" r:id="rId10" imgW="1143000" imgH="457200" progId="Equation.DSMT4">
                  <p:embed/>
                  <p:pic>
                    <p:nvPicPr>
                      <p:cNvPr id="18441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2463" y="3001963"/>
                        <a:ext cx="1638300" cy="657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637" name="Object 21"/>
          <p:cNvGraphicFramePr>
            <a:graphicFrameLocks noChangeAspect="1"/>
          </p:cNvGraphicFramePr>
          <p:nvPr/>
        </p:nvGraphicFramePr>
        <p:xfrm>
          <a:off x="4800600" y="2976563"/>
          <a:ext cx="1651000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155700" imgH="482600" progId="Equation.DSMT4">
                  <p:embed/>
                </p:oleObj>
              </mc:Choice>
              <mc:Fallback>
                <p:oleObj name="Equation" r:id="rId12" imgW="1155700" imgH="482600" progId="Equation.DSMT4">
                  <p:embed/>
                  <p:pic>
                    <p:nvPicPr>
                      <p:cNvPr id="111637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2976563"/>
                        <a:ext cx="1651000" cy="692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3" name="Rectangle 22"/>
          <p:cNvSpPr>
            <a:spLocks noChangeArrowheads="1"/>
          </p:cNvSpPr>
          <p:nvPr/>
        </p:nvSpPr>
        <p:spPr bwMode="auto">
          <a:xfrm>
            <a:off x="6629400" y="3168650"/>
            <a:ext cx="1371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X</a:t>
            </a:r>
            <a:r>
              <a:rPr lang="pt-BR" altLang="pt-BR" sz="1600">
                <a:latin typeface="Times New Roman" pitchFamily="18" charset="0"/>
              </a:rPr>
              <a:t>: {0, 1, ..., </a:t>
            </a:r>
            <a:r>
              <a:rPr lang="pt-BR" altLang="pt-BR" sz="1600" i="1">
                <a:latin typeface="Times New Roman" pitchFamily="18" charset="0"/>
              </a:rPr>
              <a:t>n</a:t>
            </a:r>
            <a:r>
              <a:rPr lang="pt-BR" altLang="pt-BR" sz="1600">
                <a:latin typeface="Times New Roman" pitchFamily="18" charset="0"/>
              </a:rPr>
              <a:t>}</a:t>
            </a:r>
          </a:p>
        </p:txBody>
      </p:sp>
      <p:sp>
        <p:nvSpPr>
          <p:cNvPr id="18444" name="Text Box 23"/>
          <p:cNvSpPr txBox="1">
            <a:spLocks noChangeArrowheads="1"/>
          </p:cNvSpPr>
          <p:nvPr/>
        </p:nvSpPr>
        <p:spPr bwMode="auto">
          <a:xfrm>
            <a:off x="838200" y="2971800"/>
            <a:ext cx="914400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 dirty="0">
                <a:latin typeface="Times New Roman" pitchFamily="18" charset="0"/>
              </a:rPr>
              <a:t>p</a:t>
            </a:r>
            <a:r>
              <a:rPr lang="pt-BR" altLang="pt-BR" sz="1600" dirty="0">
                <a:latin typeface="Times New Roman" pitchFamily="18" charset="0"/>
              </a:rPr>
              <a:t> = 5/7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 dirty="0">
                <a:latin typeface="Times New Roman" pitchFamily="18" charset="0"/>
              </a:rPr>
              <a:t>q</a:t>
            </a:r>
            <a:r>
              <a:rPr lang="pt-BR" altLang="pt-BR" sz="1600" dirty="0">
                <a:latin typeface="Times New Roman" pitchFamily="18" charset="0"/>
              </a:rPr>
              <a:t> = 2/7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 dirty="0">
                <a:latin typeface="Times New Roman" pitchFamily="18" charset="0"/>
              </a:rPr>
              <a:t>n</a:t>
            </a:r>
            <a:r>
              <a:rPr lang="pt-BR" altLang="pt-BR" sz="1600" dirty="0">
                <a:latin typeface="Times New Roman" pitchFamily="18" charset="0"/>
              </a:rPr>
              <a:t> = 3</a:t>
            </a: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21" name="Rectangle 22"/>
          <p:cNvSpPr>
            <a:spLocks noChangeArrowheads="1"/>
          </p:cNvSpPr>
          <p:nvPr/>
        </p:nvSpPr>
        <p:spPr bwMode="auto">
          <a:xfrm>
            <a:off x="6632575" y="3175000"/>
            <a:ext cx="1333500" cy="3397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X</a:t>
            </a:r>
            <a:r>
              <a:rPr lang="pt-BR" altLang="pt-BR" sz="1600">
                <a:latin typeface="Times New Roman" pitchFamily="18" charset="0"/>
              </a:rPr>
              <a:t>: {0, 1, 2, 3}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44E7C8-B193-4FAC-BF0F-4A70AB63AB34}" type="slidenum">
              <a:rPr lang="pt-BR"/>
              <a:pPr>
                <a:defRPr/>
              </a:pPr>
              <a:t>22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6"/>
          <p:cNvGraphicFramePr>
            <a:graphicFrameLocks noChangeAspect="1"/>
          </p:cNvGraphicFramePr>
          <p:nvPr/>
        </p:nvGraphicFramePr>
        <p:xfrm>
          <a:off x="7024156" y="4937100"/>
          <a:ext cx="1014412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10891" imgH="203112" progId="Equation.DSMT4">
                  <p:embed/>
                </p:oleObj>
              </mc:Choice>
              <mc:Fallback>
                <p:oleObj name="Equation" r:id="rId2" imgW="710891" imgH="203112" progId="Equation.DSMT4">
                  <p:embed/>
                  <p:pic>
                    <p:nvPicPr>
                      <p:cNvPr id="14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24156" y="4937100"/>
                        <a:ext cx="1014412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7"/>
          <p:cNvGraphicFramePr>
            <a:graphicFrameLocks noChangeAspect="1"/>
          </p:cNvGraphicFramePr>
          <p:nvPr/>
        </p:nvGraphicFramePr>
        <p:xfrm>
          <a:off x="7020272" y="5426679"/>
          <a:ext cx="1279525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88614" imgH="203112" progId="Equation.DSMT4">
                  <p:embed/>
                </p:oleObj>
              </mc:Choice>
              <mc:Fallback>
                <p:oleObj name="Equation" r:id="rId4" imgW="888614" imgH="203112" progId="Equation.DSMT4">
                  <p:embed/>
                  <p:pic>
                    <p:nvPicPr>
                      <p:cNvPr id="15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20272" y="5426679"/>
                        <a:ext cx="1279525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3796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1820" y="4307498"/>
            <a:ext cx="3600000" cy="216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3795" name="Picture 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2219266"/>
            <a:ext cx="3600000" cy="216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3794" name="Picture 2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2219266"/>
            <a:ext cx="3600000" cy="216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Distribuição Binomial</a:t>
            </a:r>
          </a:p>
        </p:txBody>
      </p:sp>
      <p:sp>
        <p:nvSpPr>
          <p:cNvPr id="7174" name="Text Box 3"/>
          <p:cNvSpPr txBox="1">
            <a:spLocks noChangeArrowheads="1"/>
          </p:cNvSpPr>
          <p:nvPr/>
        </p:nvSpPr>
        <p:spPr bwMode="auto">
          <a:xfrm>
            <a:off x="841375" y="1600200"/>
            <a:ext cx="784542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55600" indent="-35560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Exemplos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E7AD0D1-23E4-46ED-8741-3B96CDA51087}" type="slidenum">
              <a:rPr lang="pt-BR"/>
              <a:pPr>
                <a:defRPr/>
              </a:pPr>
              <a:t>23</a:t>
            </a:fld>
            <a:endParaRPr lang="pt-BR"/>
          </a:p>
        </p:txBody>
      </p:sp>
      <p:sp>
        <p:nvSpPr>
          <p:cNvPr id="4" name="CaixaDeTexto 3"/>
          <p:cNvSpPr txBox="1"/>
          <p:nvPr/>
        </p:nvSpPr>
        <p:spPr>
          <a:xfrm>
            <a:off x="2941817" y="2564904"/>
            <a:ext cx="7617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10</a:t>
            </a:r>
          </a:p>
          <a:p>
            <a:r>
              <a:rPr lang="pt-B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0,2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6516216" y="2484185"/>
            <a:ext cx="7617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20</a:t>
            </a:r>
          </a:p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= 0,5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3914712" y="4716433"/>
            <a:ext cx="86433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5</a:t>
            </a:r>
          </a:p>
          <a:p>
            <a:r>
              <a:rPr lang="pt-B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0,95</a:t>
            </a:r>
          </a:p>
        </p:txBody>
      </p:sp>
      <p:sp>
        <p:nvSpPr>
          <p:cNvPr id="11" name="Text Box 4"/>
          <p:cNvSpPr txBox="1">
            <a:spLocks noChangeArrowheads="1"/>
          </p:cNvSpPr>
          <p:nvPr/>
        </p:nvSpPr>
        <p:spPr bwMode="auto">
          <a:xfrm>
            <a:off x="210220" y="6476586"/>
            <a:ext cx="8001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Em que situação a média e a variância são maiores?</a:t>
            </a:r>
          </a:p>
        </p:txBody>
      </p:sp>
    </p:spTree>
    <p:extLst>
      <p:ext uri="{BB962C8B-B14F-4D97-AF65-F5344CB8AC3E}">
        <p14:creationId xmlns:p14="http://schemas.microsoft.com/office/powerpoint/2010/main" val="1668619377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Distribuição Binomial</a:t>
            </a:r>
          </a:p>
        </p:txBody>
      </p:sp>
      <p:sp>
        <p:nvSpPr>
          <p:cNvPr id="11267" name="Text Box 3"/>
          <p:cNvSpPr txBox="1">
            <a:spLocks noChangeArrowheads="1"/>
          </p:cNvSpPr>
          <p:nvPr/>
        </p:nvSpPr>
        <p:spPr bwMode="auto">
          <a:xfrm>
            <a:off x="1981200" y="1600200"/>
            <a:ext cx="6858000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77800" indent="-17780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Exemplo: retiram-se 3 bolas da urna (com reposição). Define-se uma v.a. </a:t>
            </a:r>
            <a:r>
              <a:rPr lang="pt-BR" altLang="pt-BR" sz="1600" i="1" dirty="0">
                <a:latin typeface="Times New Roman" pitchFamily="18" charset="0"/>
              </a:rPr>
              <a:t>X</a:t>
            </a:r>
            <a:r>
              <a:rPr lang="pt-BR" altLang="pt-BR" sz="1600" dirty="0">
                <a:latin typeface="Tahoma" panose="020B0604030504040204" pitchFamily="34" charset="0"/>
              </a:rPr>
              <a:t> cujos valores representam o número total de bolas vermelhas dentre as 3 escolhidas.</a:t>
            </a:r>
          </a:p>
        </p:txBody>
      </p:sp>
      <p:grpSp>
        <p:nvGrpSpPr>
          <p:cNvPr id="11268" name="Group 4"/>
          <p:cNvGrpSpPr>
            <a:grpSpLocks/>
          </p:cNvGrpSpPr>
          <p:nvPr/>
        </p:nvGrpSpPr>
        <p:grpSpPr bwMode="auto">
          <a:xfrm>
            <a:off x="838200" y="1447800"/>
            <a:ext cx="914400" cy="1295400"/>
            <a:chOff x="2688" y="3264"/>
            <a:chExt cx="576" cy="816"/>
          </a:xfrm>
        </p:grpSpPr>
        <p:sp>
          <p:nvSpPr>
            <p:cNvPr id="11280" name="Freeform 5"/>
            <p:cNvSpPr>
              <a:spLocks/>
            </p:cNvSpPr>
            <p:nvPr/>
          </p:nvSpPr>
          <p:spPr bwMode="auto">
            <a:xfrm>
              <a:off x="2688" y="3264"/>
              <a:ext cx="576" cy="816"/>
            </a:xfrm>
            <a:custGeom>
              <a:avLst/>
              <a:gdLst>
                <a:gd name="T0" fmla="*/ 0 w 576"/>
                <a:gd name="T1" fmla="*/ 0 h 816"/>
                <a:gd name="T2" fmla="*/ 0 w 576"/>
                <a:gd name="T3" fmla="*/ 816 h 816"/>
                <a:gd name="T4" fmla="*/ 576 w 576"/>
                <a:gd name="T5" fmla="*/ 816 h 816"/>
                <a:gd name="T6" fmla="*/ 576 w 576"/>
                <a:gd name="T7" fmla="*/ 0 h 8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"/>
                <a:gd name="T13" fmla="*/ 0 h 816"/>
                <a:gd name="T14" fmla="*/ 576 w 576"/>
                <a:gd name="T15" fmla="*/ 816 h 8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" h="816">
                  <a:moveTo>
                    <a:pt x="0" y="0"/>
                  </a:moveTo>
                  <a:lnTo>
                    <a:pt x="0" y="816"/>
                  </a:lnTo>
                  <a:lnTo>
                    <a:pt x="576" y="816"/>
                  </a:lnTo>
                  <a:lnTo>
                    <a:pt x="576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11281" name="Oval 6"/>
            <p:cNvSpPr>
              <a:spLocks noChangeArrowheads="1"/>
            </p:cNvSpPr>
            <p:nvPr/>
          </p:nvSpPr>
          <p:spPr bwMode="auto">
            <a:xfrm>
              <a:off x="2784" y="336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1282" name="Oval 7"/>
            <p:cNvSpPr>
              <a:spLocks noChangeArrowheads="1"/>
            </p:cNvSpPr>
            <p:nvPr/>
          </p:nvSpPr>
          <p:spPr bwMode="auto">
            <a:xfrm>
              <a:off x="3024" y="348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1283" name="Oval 8"/>
            <p:cNvSpPr>
              <a:spLocks noChangeArrowheads="1"/>
            </p:cNvSpPr>
            <p:nvPr/>
          </p:nvSpPr>
          <p:spPr bwMode="auto">
            <a:xfrm>
              <a:off x="2784" y="384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1284" name="Oval 9"/>
            <p:cNvSpPr>
              <a:spLocks noChangeArrowheads="1"/>
            </p:cNvSpPr>
            <p:nvPr/>
          </p:nvSpPr>
          <p:spPr bwMode="auto">
            <a:xfrm>
              <a:off x="2784" y="3600"/>
              <a:ext cx="144" cy="14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1285" name="Oval 10"/>
            <p:cNvSpPr>
              <a:spLocks noChangeArrowheads="1"/>
            </p:cNvSpPr>
            <p:nvPr/>
          </p:nvSpPr>
          <p:spPr bwMode="auto">
            <a:xfrm>
              <a:off x="3024" y="3696"/>
              <a:ext cx="144" cy="14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1286" name="Oval 11"/>
            <p:cNvSpPr>
              <a:spLocks noChangeArrowheads="1"/>
            </p:cNvSpPr>
            <p:nvPr/>
          </p:nvSpPr>
          <p:spPr bwMode="auto">
            <a:xfrm>
              <a:off x="3024" y="3264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1287" name="Oval 12"/>
            <p:cNvSpPr>
              <a:spLocks noChangeArrowheads="1"/>
            </p:cNvSpPr>
            <p:nvPr/>
          </p:nvSpPr>
          <p:spPr bwMode="auto">
            <a:xfrm>
              <a:off x="3024" y="3912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sp>
        <p:nvSpPr>
          <p:cNvPr id="11269" name="Text Box 23"/>
          <p:cNvSpPr txBox="1">
            <a:spLocks noChangeArrowheads="1"/>
          </p:cNvSpPr>
          <p:nvPr/>
        </p:nvSpPr>
        <p:spPr bwMode="auto">
          <a:xfrm>
            <a:off x="838200" y="2971800"/>
            <a:ext cx="914400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 dirty="0">
                <a:latin typeface="Times New Roman" pitchFamily="18" charset="0"/>
              </a:rPr>
              <a:t>p</a:t>
            </a:r>
            <a:r>
              <a:rPr lang="pt-BR" altLang="pt-BR" sz="1600" dirty="0">
                <a:latin typeface="Times New Roman" pitchFamily="18" charset="0"/>
              </a:rPr>
              <a:t> = 5/7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 dirty="0">
                <a:latin typeface="Times New Roman" pitchFamily="18" charset="0"/>
              </a:rPr>
              <a:t>q</a:t>
            </a:r>
            <a:r>
              <a:rPr lang="pt-BR" altLang="pt-BR" sz="1600" dirty="0">
                <a:latin typeface="Times New Roman" pitchFamily="18" charset="0"/>
              </a:rPr>
              <a:t> = 2/7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 dirty="0">
                <a:latin typeface="Times New Roman" pitchFamily="18" charset="0"/>
              </a:rPr>
              <a:t>n</a:t>
            </a:r>
            <a:r>
              <a:rPr lang="pt-BR" altLang="pt-BR" sz="1600" dirty="0">
                <a:latin typeface="Times New Roman" pitchFamily="18" charset="0"/>
              </a:rPr>
              <a:t> = 3</a:t>
            </a: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CC1DCA-3D81-45C7-9AAD-1F61A3B080DE}" type="slidenum">
              <a:rPr lang="pt-BR"/>
              <a:pPr>
                <a:defRPr/>
              </a:pPr>
              <a:t>24</a:t>
            </a:fld>
            <a:endParaRPr lang="pt-BR"/>
          </a:p>
        </p:txBody>
      </p:sp>
      <p:sp>
        <p:nvSpPr>
          <p:cNvPr id="9223" name="Text Box 3"/>
          <p:cNvSpPr txBox="1">
            <a:spLocks noChangeArrowheads="1"/>
          </p:cNvSpPr>
          <p:nvPr/>
        </p:nvSpPr>
        <p:spPr bwMode="auto">
          <a:xfrm>
            <a:off x="1981200" y="2555875"/>
            <a:ext cx="68580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Qual a probabilidade de se obter 2 ou mais bolas vermelhas?</a:t>
            </a:r>
          </a:p>
        </p:txBody>
      </p:sp>
      <p:sp>
        <p:nvSpPr>
          <p:cNvPr id="17" name="Rectangle 22"/>
          <p:cNvSpPr>
            <a:spLocks noChangeArrowheads="1"/>
          </p:cNvSpPr>
          <p:nvPr/>
        </p:nvSpPr>
        <p:spPr bwMode="auto">
          <a:xfrm>
            <a:off x="1979613" y="3068638"/>
            <a:ext cx="1404937" cy="3540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700" i="1">
                <a:latin typeface="Times New Roman" pitchFamily="18" charset="0"/>
              </a:rPr>
              <a:t>X</a:t>
            </a:r>
            <a:r>
              <a:rPr lang="pt-BR" altLang="pt-BR" sz="1700">
                <a:latin typeface="Times New Roman" pitchFamily="18" charset="0"/>
              </a:rPr>
              <a:t>: {0, 1, 2, 3}</a:t>
            </a:r>
          </a:p>
        </p:txBody>
      </p:sp>
      <p:sp>
        <p:nvSpPr>
          <p:cNvPr id="18" name="Rectangle 22"/>
          <p:cNvSpPr>
            <a:spLocks noChangeArrowheads="1"/>
          </p:cNvSpPr>
          <p:nvPr/>
        </p:nvSpPr>
        <p:spPr bwMode="auto">
          <a:xfrm>
            <a:off x="1979613" y="3627438"/>
            <a:ext cx="2955925" cy="3540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700" i="1">
                <a:latin typeface="Times New Roman" pitchFamily="18" charset="0"/>
              </a:rPr>
              <a:t>P</a:t>
            </a:r>
            <a:r>
              <a:rPr lang="pt-BR" altLang="pt-BR" sz="1700">
                <a:latin typeface="Times New Roman" pitchFamily="18" charset="0"/>
              </a:rPr>
              <a:t>(</a:t>
            </a:r>
            <a:r>
              <a:rPr lang="pt-BR" altLang="pt-BR" sz="1700" i="1">
                <a:latin typeface="Times New Roman" pitchFamily="18" charset="0"/>
              </a:rPr>
              <a:t>X</a:t>
            </a:r>
            <a:r>
              <a:rPr lang="pt-BR" altLang="pt-BR" sz="1700">
                <a:latin typeface="Times New Roman" pitchFamily="18" charset="0"/>
              </a:rPr>
              <a:t> </a:t>
            </a:r>
            <a:r>
              <a:rPr lang="pt-BR" altLang="pt-BR" sz="1700">
                <a:latin typeface="Times New Roman" pitchFamily="18" charset="0"/>
                <a:sym typeface="Symbol" pitchFamily="18" charset="2"/>
              </a:rPr>
              <a:t> 2) =</a:t>
            </a:r>
            <a:r>
              <a:rPr lang="pt-BR" altLang="pt-BR" sz="1700" i="1">
                <a:latin typeface="Times New Roman" pitchFamily="18" charset="0"/>
              </a:rPr>
              <a:t> P</a:t>
            </a:r>
            <a:r>
              <a:rPr lang="pt-BR" altLang="pt-BR" sz="1700">
                <a:latin typeface="Times New Roman" pitchFamily="18" charset="0"/>
              </a:rPr>
              <a:t>(</a:t>
            </a:r>
            <a:r>
              <a:rPr lang="pt-BR" altLang="pt-BR" sz="1700" i="1">
                <a:latin typeface="Times New Roman" pitchFamily="18" charset="0"/>
              </a:rPr>
              <a:t>X</a:t>
            </a:r>
            <a:r>
              <a:rPr lang="pt-BR" altLang="pt-BR" sz="1700">
                <a:latin typeface="Times New Roman" pitchFamily="18" charset="0"/>
              </a:rPr>
              <a:t> </a:t>
            </a:r>
            <a:r>
              <a:rPr lang="pt-BR" altLang="pt-BR" sz="1700">
                <a:latin typeface="Times New Roman" pitchFamily="18" charset="0"/>
                <a:sym typeface="Symbol" pitchFamily="18" charset="2"/>
              </a:rPr>
              <a:t>= 2) +</a:t>
            </a:r>
            <a:r>
              <a:rPr lang="pt-BR" altLang="pt-BR" sz="1700" i="1">
                <a:latin typeface="Times New Roman" pitchFamily="18" charset="0"/>
              </a:rPr>
              <a:t> P</a:t>
            </a:r>
            <a:r>
              <a:rPr lang="pt-BR" altLang="pt-BR" sz="1700">
                <a:latin typeface="Times New Roman" pitchFamily="18" charset="0"/>
              </a:rPr>
              <a:t>(</a:t>
            </a:r>
            <a:r>
              <a:rPr lang="pt-BR" altLang="pt-BR" sz="1700" i="1">
                <a:latin typeface="Times New Roman" pitchFamily="18" charset="0"/>
              </a:rPr>
              <a:t>X</a:t>
            </a:r>
            <a:r>
              <a:rPr lang="pt-BR" altLang="pt-BR" sz="1700">
                <a:latin typeface="Times New Roman" pitchFamily="18" charset="0"/>
              </a:rPr>
              <a:t> </a:t>
            </a:r>
            <a:r>
              <a:rPr lang="pt-BR" altLang="pt-BR" sz="1700">
                <a:latin typeface="Times New Roman" pitchFamily="18" charset="0"/>
                <a:sym typeface="Symbol" pitchFamily="18" charset="2"/>
              </a:rPr>
              <a:t>= 3) </a:t>
            </a:r>
            <a:endParaRPr lang="pt-BR" altLang="pt-BR" sz="1700">
              <a:latin typeface="Times New Roman" pitchFamily="18" charset="0"/>
            </a:endParaRPr>
          </a:p>
        </p:txBody>
      </p:sp>
      <p:graphicFrame>
        <p:nvGraphicFramePr>
          <p:cNvPr id="3" name="Objeto 2"/>
          <p:cNvGraphicFramePr>
            <a:graphicFrameLocks noChangeAspect="1"/>
          </p:cNvGraphicFramePr>
          <p:nvPr/>
        </p:nvGraphicFramePr>
        <p:xfrm>
          <a:off x="1979613" y="4149725"/>
          <a:ext cx="2286000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00200" imgH="482600" progId="Equation.DSMT4">
                  <p:embed/>
                </p:oleObj>
              </mc:Choice>
              <mc:Fallback>
                <p:oleObj name="Equation" r:id="rId2" imgW="1600200" imgH="482600" progId="Equation.DSMT4">
                  <p:embed/>
                  <p:pic>
                    <p:nvPicPr>
                      <p:cNvPr id="3" name="Objeto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4149725"/>
                        <a:ext cx="2286000" cy="692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to 19"/>
          <p:cNvGraphicFramePr>
            <a:graphicFrameLocks noChangeAspect="1"/>
          </p:cNvGraphicFramePr>
          <p:nvPr/>
        </p:nvGraphicFramePr>
        <p:xfrm>
          <a:off x="4311650" y="4221163"/>
          <a:ext cx="1052513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36280" imgH="393529" progId="Equation.DSMT4">
                  <p:embed/>
                </p:oleObj>
              </mc:Choice>
              <mc:Fallback>
                <p:oleObj name="Equation" r:id="rId4" imgW="736280" imgH="393529" progId="Equation.DSMT4">
                  <p:embed/>
                  <p:pic>
                    <p:nvPicPr>
                      <p:cNvPr id="20" name="Objeto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1650" y="4221163"/>
                        <a:ext cx="1052513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to 20"/>
          <p:cNvGraphicFramePr>
            <a:graphicFrameLocks noChangeAspect="1"/>
          </p:cNvGraphicFramePr>
          <p:nvPr/>
        </p:nvGraphicFramePr>
        <p:xfrm>
          <a:off x="5435600" y="4221163"/>
          <a:ext cx="1397000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77476" imgH="393529" progId="Equation.DSMT4">
                  <p:embed/>
                </p:oleObj>
              </mc:Choice>
              <mc:Fallback>
                <p:oleObj name="Equation" r:id="rId6" imgW="977476" imgH="393529" progId="Equation.DSMT4">
                  <p:embed/>
                  <p:pic>
                    <p:nvPicPr>
                      <p:cNvPr id="21" name="Objeto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5600" y="4221163"/>
                        <a:ext cx="1397000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to 21"/>
          <p:cNvGraphicFramePr>
            <a:graphicFrameLocks noChangeAspect="1"/>
          </p:cNvGraphicFramePr>
          <p:nvPr/>
        </p:nvGraphicFramePr>
        <p:xfrm>
          <a:off x="1979613" y="4868863"/>
          <a:ext cx="2322512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625600" imgH="482600" progId="Equation.DSMT4">
                  <p:embed/>
                </p:oleObj>
              </mc:Choice>
              <mc:Fallback>
                <p:oleObj name="Equation" r:id="rId8" imgW="1625600" imgH="482600" progId="Equation.DSMT4">
                  <p:embed/>
                  <p:pic>
                    <p:nvPicPr>
                      <p:cNvPr id="22" name="Objeto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4868863"/>
                        <a:ext cx="2322512" cy="692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to 22"/>
          <p:cNvGraphicFramePr>
            <a:graphicFrameLocks noChangeAspect="1"/>
          </p:cNvGraphicFramePr>
          <p:nvPr/>
        </p:nvGraphicFramePr>
        <p:xfrm>
          <a:off x="4284663" y="4940300"/>
          <a:ext cx="581025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06048" imgH="393359" progId="Equation.DSMT4">
                  <p:embed/>
                </p:oleObj>
              </mc:Choice>
              <mc:Fallback>
                <p:oleObj name="Equation" r:id="rId10" imgW="406048" imgH="393359" progId="Equation.DSMT4">
                  <p:embed/>
                  <p:pic>
                    <p:nvPicPr>
                      <p:cNvPr id="23" name="Objeto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4663" y="4940300"/>
                        <a:ext cx="581025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to 24"/>
          <p:cNvGraphicFramePr>
            <a:graphicFrameLocks noChangeAspect="1"/>
          </p:cNvGraphicFramePr>
          <p:nvPr/>
        </p:nvGraphicFramePr>
        <p:xfrm>
          <a:off x="1979613" y="5732463"/>
          <a:ext cx="3282950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298700" imgH="393700" progId="Equation.DSMT4">
                  <p:embed/>
                </p:oleObj>
              </mc:Choice>
              <mc:Fallback>
                <p:oleObj name="Equation" r:id="rId12" imgW="2298700" imgH="393700" progId="Equation.DSMT4">
                  <p:embed/>
                  <p:pic>
                    <p:nvPicPr>
                      <p:cNvPr id="25" name="Objeto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5732463"/>
                        <a:ext cx="3282950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70379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3" grpId="0"/>
      <p:bldP spid="17" grpId="0" animBg="1"/>
      <p:bldP spid="1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Distribuição Geométrica</a:t>
            </a:r>
          </a:p>
        </p:txBody>
      </p:sp>
      <p:sp>
        <p:nvSpPr>
          <p:cNvPr id="19459" name="Text Box 3"/>
          <p:cNvSpPr txBox="1">
            <a:spLocks noChangeArrowheads="1"/>
          </p:cNvSpPr>
          <p:nvPr/>
        </p:nvSpPr>
        <p:spPr bwMode="auto">
          <a:xfrm>
            <a:off x="1981200" y="1600200"/>
            <a:ext cx="6705600" cy="106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Considere o experimento: retiram-se bolas da urna (com reposição), até que se consiga uma bola vermelha. Define-se uma v.a. </a:t>
            </a:r>
            <a:r>
              <a:rPr lang="pt-BR" altLang="pt-BR" sz="1600" i="1" dirty="0">
                <a:latin typeface="Times New Roman" pitchFamily="18" charset="0"/>
              </a:rPr>
              <a:t>X</a:t>
            </a:r>
            <a:r>
              <a:rPr lang="pt-BR" altLang="pt-BR" sz="1600" dirty="0">
                <a:latin typeface="Tahoma" panose="020B0604030504040204" pitchFamily="34" charset="0"/>
              </a:rPr>
              <a:t> cujos valores representam o número total de bolas azuis (fracassos) retiradas da urna até obter uma bola vermelha (sucesso).</a:t>
            </a:r>
          </a:p>
        </p:txBody>
      </p:sp>
      <p:grpSp>
        <p:nvGrpSpPr>
          <p:cNvPr id="19460" name="Group 4"/>
          <p:cNvGrpSpPr>
            <a:grpSpLocks/>
          </p:cNvGrpSpPr>
          <p:nvPr/>
        </p:nvGrpSpPr>
        <p:grpSpPr bwMode="auto">
          <a:xfrm>
            <a:off x="838200" y="1447800"/>
            <a:ext cx="914400" cy="1295400"/>
            <a:chOff x="2688" y="3264"/>
            <a:chExt cx="576" cy="816"/>
          </a:xfrm>
        </p:grpSpPr>
        <p:sp>
          <p:nvSpPr>
            <p:cNvPr id="19464" name="Freeform 5"/>
            <p:cNvSpPr>
              <a:spLocks/>
            </p:cNvSpPr>
            <p:nvPr/>
          </p:nvSpPr>
          <p:spPr bwMode="auto">
            <a:xfrm>
              <a:off x="2688" y="3264"/>
              <a:ext cx="576" cy="816"/>
            </a:xfrm>
            <a:custGeom>
              <a:avLst/>
              <a:gdLst>
                <a:gd name="T0" fmla="*/ 0 w 576"/>
                <a:gd name="T1" fmla="*/ 0 h 816"/>
                <a:gd name="T2" fmla="*/ 0 w 576"/>
                <a:gd name="T3" fmla="*/ 816 h 816"/>
                <a:gd name="T4" fmla="*/ 576 w 576"/>
                <a:gd name="T5" fmla="*/ 816 h 816"/>
                <a:gd name="T6" fmla="*/ 576 w 576"/>
                <a:gd name="T7" fmla="*/ 0 h 8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"/>
                <a:gd name="T13" fmla="*/ 0 h 816"/>
                <a:gd name="T14" fmla="*/ 576 w 576"/>
                <a:gd name="T15" fmla="*/ 816 h 8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" h="816">
                  <a:moveTo>
                    <a:pt x="0" y="0"/>
                  </a:moveTo>
                  <a:lnTo>
                    <a:pt x="0" y="816"/>
                  </a:lnTo>
                  <a:lnTo>
                    <a:pt x="576" y="816"/>
                  </a:lnTo>
                  <a:lnTo>
                    <a:pt x="576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19465" name="Oval 6"/>
            <p:cNvSpPr>
              <a:spLocks noChangeArrowheads="1"/>
            </p:cNvSpPr>
            <p:nvPr/>
          </p:nvSpPr>
          <p:spPr bwMode="auto">
            <a:xfrm>
              <a:off x="2784" y="336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9466" name="Oval 7"/>
            <p:cNvSpPr>
              <a:spLocks noChangeArrowheads="1"/>
            </p:cNvSpPr>
            <p:nvPr/>
          </p:nvSpPr>
          <p:spPr bwMode="auto">
            <a:xfrm>
              <a:off x="3024" y="348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9467" name="Oval 8"/>
            <p:cNvSpPr>
              <a:spLocks noChangeArrowheads="1"/>
            </p:cNvSpPr>
            <p:nvPr/>
          </p:nvSpPr>
          <p:spPr bwMode="auto">
            <a:xfrm>
              <a:off x="2784" y="384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9468" name="Oval 9"/>
            <p:cNvSpPr>
              <a:spLocks noChangeArrowheads="1"/>
            </p:cNvSpPr>
            <p:nvPr/>
          </p:nvSpPr>
          <p:spPr bwMode="auto">
            <a:xfrm>
              <a:off x="2784" y="3600"/>
              <a:ext cx="144" cy="14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9469" name="Oval 10"/>
            <p:cNvSpPr>
              <a:spLocks noChangeArrowheads="1"/>
            </p:cNvSpPr>
            <p:nvPr/>
          </p:nvSpPr>
          <p:spPr bwMode="auto">
            <a:xfrm>
              <a:off x="3024" y="3696"/>
              <a:ext cx="144" cy="14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9470" name="Oval 11"/>
            <p:cNvSpPr>
              <a:spLocks noChangeArrowheads="1"/>
            </p:cNvSpPr>
            <p:nvPr/>
          </p:nvSpPr>
          <p:spPr bwMode="auto">
            <a:xfrm>
              <a:off x="3024" y="3264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9471" name="Oval 12"/>
            <p:cNvSpPr>
              <a:spLocks noChangeArrowheads="1"/>
            </p:cNvSpPr>
            <p:nvPr/>
          </p:nvSpPr>
          <p:spPr bwMode="auto">
            <a:xfrm>
              <a:off x="3024" y="3912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sp>
        <p:nvSpPr>
          <p:cNvPr id="112653" name="Text Box 13"/>
          <p:cNvSpPr txBox="1">
            <a:spLocks noChangeArrowheads="1"/>
          </p:cNvSpPr>
          <p:nvPr/>
        </p:nvSpPr>
        <p:spPr bwMode="auto">
          <a:xfrm>
            <a:off x="838200" y="2971800"/>
            <a:ext cx="6858000" cy="155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 dirty="0">
                <a:latin typeface="Times New Roman" pitchFamily="18" charset="0"/>
              </a:rPr>
              <a:t>X</a:t>
            </a:r>
            <a:r>
              <a:rPr lang="pt-BR" altLang="pt-BR" sz="1600" dirty="0">
                <a:latin typeface="Times New Roman" pitchFamily="18" charset="0"/>
              </a:rPr>
              <a:t>: {0, 1, 2, ..., </a:t>
            </a:r>
            <a:r>
              <a:rPr lang="pt-BR" altLang="pt-BR" sz="1600" dirty="0">
                <a:latin typeface="Times New Roman" pitchFamily="18" charset="0"/>
                <a:sym typeface="Symbol" pitchFamily="18" charset="2"/>
              </a:rPr>
              <a:t></a:t>
            </a:r>
            <a:r>
              <a:rPr lang="pt-BR" altLang="pt-BR" sz="1600" dirty="0">
                <a:latin typeface="Times New Roman" pitchFamily="18" charset="0"/>
              </a:rPr>
              <a:t>}</a:t>
            </a:r>
            <a:endParaRPr lang="pt-BR" altLang="pt-BR" sz="16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O experimento envolve de 1 a infinitos eventos independentes.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Para cada evento: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 dirty="0">
                <a:latin typeface="Times New Roman" pitchFamily="18" charset="0"/>
              </a:rPr>
              <a:t>   P</a:t>
            </a:r>
            <a:r>
              <a:rPr lang="pt-BR" altLang="pt-BR" sz="1600" dirty="0">
                <a:latin typeface="Times New Roman" pitchFamily="18" charset="0"/>
              </a:rPr>
              <a:t>(</a:t>
            </a:r>
            <a:r>
              <a:rPr lang="pt-BR" altLang="pt-BR" sz="1600" i="1" dirty="0">
                <a:latin typeface="Times New Roman" pitchFamily="18" charset="0"/>
              </a:rPr>
              <a:t>vermelha</a:t>
            </a:r>
            <a:r>
              <a:rPr lang="pt-BR" altLang="pt-BR" sz="1600" dirty="0">
                <a:latin typeface="Times New Roman" pitchFamily="18" charset="0"/>
              </a:rPr>
              <a:t>) = 5/7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 dirty="0">
                <a:latin typeface="Times New Roman" pitchFamily="18" charset="0"/>
              </a:rPr>
              <a:t>   P</a:t>
            </a:r>
            <a:r>
              <a:rPr lang="pt-BR" altLang="pt-BR" sz="1600" dirty="0">
                <a:latin typeface="Times New Roman" pitchFamily="18" charset="0"/>
              </a:rPr>
              <a:t>(</a:t>
            </a:r>
            <a:r>
              <a:rPr lang="pt-BR" altLang="pt-BR" sz="1600" i="1" dirty="0">
                <a:latin typeface="Times New Roman" pitchFamily="18" charset="0"/>
              </a:rPr>
              <a:t>azul</a:t>
            </a:r>
            <a:r>
              <a:rPr lang="pt-BR" altLang="pt-BR" sz="1600" dirty="0">
                <a:latin typeface="Times New Roman" pitchFamily="18" charset="0"/>
              </a:rPr>
              <a:t>) = 2/7</a:t>
            </a:r>
          </a:p>
        </p:txBody>
      </p:sp>
      <p:sp>
        <p:nvSpPr>
          <p:cNvPr id="112654" name="Text Box 14"/>
          <p:cNvSpPr txBox="1">
            <a:spLocks noChangeArrowheads="1"/>
          </p:cNvSpPr>
          <p:nvPr/>
        </p:nvSpPr>
        <p:spPr bwMode="auto">
          <a:xfrm>
            <a:off x="2590800" y="3962400"/>
            <a:ext cx="39624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imes New Roman" pitchFamily="18" charset="0"/>
              </a:rPr>
              <a:t>= </a:t>
            </a:r>
            <a:r>
              <a:rPr lang="pt-BR" altLang="pt-BR" sz="1600" i="1" dirty="0">
                <a:latin typeface="Times New Roman" pitchFamily="18" charset="0"/>
              </a:rPr>
              <a:t>p</a:t>
            </a:r>
            <a:r>
              <a:rPr lang="pt-BR" altLang="pt-BR" sz="1600" dirty="0">
                <a:latin typeface="Times New Roman" pitchFamily="18" charset="0"/>
              </a:rPr>
              <a:t> </a:t>
            </a:r>
            <a:r>
              <a:rPr lang="pt-BR" altLang="pt-BR" sz="1600" dirty="0">
                <a:latin typeface="Tahoma" panose="020B0604030504040204" pitchFamily="34" charset="0"/>
              </a:rPr>
              <a:t>(probabilidade de sucesso)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imes New Roman" pitchFamily="18" charset="0"/>
              </a:rPr>
              <a:t>= </a:t>
            </a:r>
            <a:r>
              <a:rPr lang="pt-BR" altLang="pt-BR" sz="1600" i="1" dirty="0">
                <a:latin typeface="Times New Roman" pitchFamily="18" charset="0"/>
              </a:rPr>
              <a:t>q</a:t>
            </a:r>
            <a:r>
              <a:rPr lang="pt-BR" altLang="pt-BR" sz="1600" dirty="0">
                <a:latin typeface="Tahoma" panose="020B0604030504040204" pitchFamily="34" charset="0"/>
              </a:rPr>
              <a:t> (probabilidade de fracasso, </a:t>
            </a:r>
            <a:r>
              <a:rPr lang="pt-BR" altLang="pt-BR" sz="1600" i="1" dirty="0">
                <a:latin typeface="Times New Roman" pitchFamily="18" charset="0"/>
              </a:rPr>
              <a:t>q</a:t>
            </a:r>
            <a:r>
              <a:rPr lang="pt-BR" altLang="pt-BR" sz="1600" dirty="0">
                <a:latin typeface="Times New Roman" pitchFamily="18" charset="0"/>
              </a:rPr>
              <a:t> = 1 - </a:t>
            </a:r>
            <a:r>
              <a:rPr lang="pt-BR" altLang="pt-BR" sz="1600" i="1" dirty="0">
                <a:latin typeface="Times New Roman" pitchFamily="18" charset="0"/>
              </a:rPr>
              <a:t>p</a:t>
            </a:r>
            <a:r>
              <a:rPr lang="pt-BR" altLang="pt-BR" sz="1600" dirty="0">
                <a:latin typeface="Tahoma" panose="020B0604030504040204" pitchFamily="34" charset="0"/>
              </a:rPr>
              <a:t>)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CDB177-206B-4CC2-B7BF-2D9561DAE5E3}" type="slidenum">
              <a:rPr lang="pt-BR"/>
              <a:pPr>
                <a:defRPr/>
              </a:pPr>
              <a:t>25</a:t>
            </a:fld>
            <a:endParaRPr lang="pt-BR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53" grpId="0" build="p" autoUpdateAnimBg="0"/>
      <p:bldP spid="112654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3710" name="Object 46"/>
          <p:cNvGraphicFramePr>
            <a:graphicFrameLocks noChangeAspect="1"/>
          </p:cNvGraphicFramePr>
          <p:nvPr/>
        </p:nvGraphicFramePr>
        <p:xfrm>
          <a:off x="5795963" y="3308350"/>
          <a:ext cx="671512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69696" imgH="393529" progId="Equation.DSMT4">
                  <p:embed/>
                </p:oleObj>
              </mc:Choice>
              <mc:Fallback>
                <p:oleObj name="Equation" r:id="rId2" imgW="469696" imgH="393529" progId="Equation.DSMT4">
                  <p:embed/>
                  <p:pic>
                    <p:nvPicPr>
                      <p:cNvPr id="11371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5963" y="3308350"/>
                        <a:ext cx="671512" cy="563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681" name="Object 17"/>
          <p:cNvGraphicFramePr>
            <a:graphicFrameLocks noChangeAspect="1"/>
          </p:cNvGraphicFramePr>
          <p:nvPr/>
        </p:nvGraphicFramePr>
        <p:xfrm>
          <a:off x="1981200" y="3475038"/>
          <a:ext cx="200025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9639" imgH="393529" progId="Equation.DSMT4">
                  <p:embed/>
                </p:oleObj>
              </mc:Choice>
              <mc:Fallback>
                <p:oleObj name="Equation" r:id="rId4" imgW="139639" imgH="393529" progId="Equation.DSMT4">
                  <p:embed/>
                  <p:pic>
                    <p:nvPicPr>
                      <p:cNvPr id="113681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3475038"/>
                        <a:ext cx="200025" cy="563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686" name="Object 22"/>
          <p:cNvGraphicFramePr>
            <a:graphicFrameLocks noChangeAspect="1"/>
          </p:cNvGraphicFramePr>
          <p:nvPr/>
        </p:nvGraphicFramePr>
        <p:xfrm>
          <a:off x="1987550" y="4495800"/>
          <a:ext cx="363538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53890" imgH="393529" progId="Equation.DSMT4">
                  <p:embed/>
                </p:oleObj>
              </mc:Choice>
              <mc:Fallback>
                <p:oleObj name="Equation" r:id="rId6" imgW="253890" imgH="393529" progId="Equation.DSMT4">
                  <p:embed/>
                  <p:pic>
                    <p:nvPicPr>
                      <p:cNvPr id="113686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7550" y="4495800"/>
                        <a:ext cx="363538" cy="563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692" name="Object 28"/>
          <p:cNvGraphicFramePr>
            <a:graphicFrameLocks noChangeAspect="1"/>
          </p:cNvGraphicFramePr>
          <p:nvPr/>
        </p:nvGraphicFramePr>
        <p:xfrm>
          <a:off x="2005013" y="5410200"/>
          <a:ext cx="527050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68140" imgH="393529" progId="Equation.DSMT4">
                  <p:embed/>
                </p:oleObj>
              </mc:Choice>
              <mc:Fallback>
                <p:oleObj name="Equation" r:id="rId8" imgW="368140" imgH="393529" progId="Equation.DSMT4">
                  <p:embed/>
                  <p:pic>
                    <p:nvPicPr>
                      <p:cNvPr id="113692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5013" y="5410200"/>
                        <a:ext cx="527050" cy="563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680" name="Object 16"/>
          <p:cNvGraphicFramePr>
            <a:graphicFrameLocks noChangeAspect="1"/>
          </p:cNvGraphicFramePr>
          <p:nvPr/>
        </p:nvGraphicFramePr>
        <p:xfrm>
          <a:off x="1966913" y="3481388"/>
          <a:ext cx="949325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660113" imgH="393529" progId="Equation.DSMT4">
                  <p:embed/>
                </p:oleObj>
              </mc:Choice>
              <mc:Fallback>
                <p:oleObj name="Equation" r:id="rId10" imgW="660113" imgH="393529" progId="Equation.DSMT4">
                  <p:embed/>
                  <p:pic>
                    <p:nvPicPr>
                      <p:cNvPr id="11368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6913" y="3481388"/>
                        <a:ext cx="949325" cy="56356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666" name="Text Box 2"/>
          <p:cNvSpPr txBox="1">
            <a:spLocks noChangeArrowheads="1"/>
          </p:cNvSpPr>
          <p:nvPr/>
        </p:nvSpPr>
        <p:spPr bwMode="auto">
          <a:xfrm>
            <a:off x="6069013" y="4800600"/>
            <a:ext cx="838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i="1">
                <a:latin typeface="Times New Roman" pitchFamily="18" charset="0"/>
              </a:rPr>
              <a:t>f</a:t>
            </a:r>
            <a:r>
              <a:rPr lang="pt-BR" altLang="pt-BR" sz="1600" i="1">
                <a:latin typeface="Times New Roman" pitchFamily="18" charset="0"/>
              </a:rPr>
              <a:t> </a:t>
            </a:r>
            <a:r>
              <a:rPr lang="pt-BR" altLang="pt-BR" sz="1600">
                <a:latin typeface="Times New Roman" pitchFamily="18" charset="0"/>
              </a:rPr>
              <a:t>(</a:t>
            </a:r>
            <a:r>
              <a:rPr lang="pt-BR" altLang="pt-BR" sz="1600" i="1">
                <a:latin typeface="Times New Roman" pitchFamily="18" charset="0"/>
              </a:rPr>
              <a:t>x</a:t>
            </a:r>
            <a:r>
              <a:rPr lang="pt-BR" altLang="pt-BR" sz="1600">
                <a:latin typeface="Times New Roman" pitchFamily="18" charset="0"/>
              </a:rPr>
              <a:t>) = ?</a:t>
            </a:r>
          </a:p>
        </p:txBody>
      </p:sp>
      <p:sp>
        <p:nvSpPr>
          <p:cNvPr id="11366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Distribuição Geométrica</a:t>
            </a:r>
          </a:p>
        </p:txBody>
      </p:sp>
      <p:grpSp>
        <p:nvGrpSpPr>
          <p:cNvPr id="20490" name="Group 5"/>
          <p:cNvGrpSpPr>
            <a:grpSpLocks/>
          </p:cNvGrpSpPr>
          <p:nvPr/>
        </p:nvGrpSpPr>
        <p:grpSpPr bwMode="auto">
          <a:xfrm>
            <a:off x="838200" y="1447800"/>
            <a:ext cx="914400" cy="1295400"/>
            <a:chOff x="2688" y="3264"/>
            <a:chExt cx="576" cy="816"/>
          </a:xfrm>
        </p:grpSpPr>
        <p:sp>
          <p:nvSpPr>
            <p:cNvPr id="20508" name="Freeform 6"/>
            <p:cNvSpPr>
              <a:spLocks/>
            </p:cNvSpPr>
            <p:nvPr/>
          </p:nvSpPr>
          <p:spPr bwMode="auto">
            <a:xfrm>
              <a:off x="2688" y="3264"/>
              <a:ext cx="576" cy="816"/>
            </a:xfrm>
            <a:custGeom>
              <a:avLst/>
              <a:gdLst>
                <a:gd name="T0" fmla="*/ 0 w 576"/>
                <a:gd name="T1" fmla="*/ 0 h 816"/>
                <a:gd name="T2" fmla="*/ 0 w 576"/>
                <a:gd name="T3" fmla="*/ 816 h 816"/>
                <a:gd name="T4" fmla="*/ 576 w 576"/>
                <a:gd name="T5" fmla="*/ 816 h 816"/>
                <a:gd name="T6" fmla="*/ 576 w 576"/>
                <a:gd name="T7" fmla="*/ 0 h 8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"/>
                <a:gd name="T13" fmla="*/ 0 h 816"/>
                <a:gd name="T14" fmla="*/ 576 w 576"/>
                <a:gd name="T15" fmla="*/ 816 h 8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" h="816">
                  <a:moveTo>
                    <a:pt x="0" y="0"/>
                  </a:moveTo>
                  <a:lnTo>
                    <a:pt x="0" y="816"/>
                  </a:lnTo>
                  <a:lnTo>
                    <a:pt x="576" y="816"/>
                  </a:lnTo>
                  <a:lnTo>
                    <a:pt x="576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20509" name="Oval 7"/>
            <p:cNvSpPr>
              <a:spLocks noChangeArrowheads="1"/>
            </p:cNvSpPr>
            <p:nvPr/>
          </p:nvSpPr>
          <p:spPr bwMode="auto">
            <a:xfrm>
              <a:off x="2784" y="336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20510" name="Oval 8"/>
            <p:cNvSpPr>
              <a:spLocks noChangeArrowheads="1"/>
            </p:cNvSpPr>
            <p:nvPr/>
          </p:nvSpPr>
          <p:spPr bwMode="auto">
            <a:xfrm>
              <a:off x="3024" y="348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20511" name="Oval 9"/>
            <p:cNvSpPr>
              <a:spLocks noChangeArrowheads="1"/>
            </p:cNvSpPr>
            <p:nvPr/>
          </p:nvSpPr>
          <p:spPr bwMode="auto">
            <a:xfrm>
              <a:off x="2784" y="384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20512" name="Oval 10"/>
            <p:cNvSpPr>
              <a:spLocks noChangeArrowheads="1"/>
            </p:cNvSpPr>
            <p:nvPr/>
          </p:nvSpPr>
          <p:spPr bwMode="auto">
            <a:xfrm>
              <a:off x="2784" y="3600"/>
              <a:ext cx="144" cy="14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20513" name="Oval 11"/>
            <p:cNvSpPr>
              <a:spLocks noChangeArrowheads="1"/>
            </p:cNvSpPr>
            <p:nvPr/>
          </p:nvSpPr>
          <p:spPr bwMode="auto">
            <a:xfrm>
              <a:off x="3024" y="3696"/>
              <a:ext cx="144" cy="14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20514" name="Oval 12"/>
            <p:cNvSpPr>
              <a:spLocks noChangeArrowheads="1"/>
            </p:cNvSpPr>
            <p:nvPr/>
          </p:nvSpPr>
          <p:spPr bwMode="auto">
            <a:xfrm>
              <a:off x="3024" y="3264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20515" name="Oval 13"/>
            <p:cNvSpPr>
              <a:spLocks noChangeArrowheads="1"/>
            </p:cNvSpPr>
            <p:nvPr/>
          </p:nvSpPr>
          <p:spPr bwMode="auto">
            <a:xfrm>
              <a:off x="3024" y="3912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sp>
        <p:nvSpPr>
          <p:cNvPr id="20491" name="Text Box 14"/>
          <p:cNvSpPr txBox="1">
            <a:spLocks noChangeArrowheads="1"/>
          </p:cNvSpPr>
          <p:nvPr/>
        </p:nvSpPr>
        <p:spPr bwMode="auto">
          <a:xfrm>
            <a:off x="838200" y="2971800"/>
            <a:ext cx="3962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X</a:t>
            </a:r>
            <a:r>
              <a:rPr lang="pt-BR" altLang="pt-BR" sz="1600">
                <a:latin typeface="Times New Roman" pitchFamily="18" charset="0"/>
              </a:rPr>
              <a:t>: {0, 1, 2, ..., </a:t>
            </a:r>
            <a:r>
              <a:rPr lang="pt-BR" altLang="pt-BR" sz="1600">
                <a:latin typeface="Times New Roman" pitchFamily="18" charset="0"/>
                <a:sym typeface="Symbol" pitchFamily="18" charset="2"/>
              </a:rPr>
              <a:t></a:t>
            </a:r>
            <a:r>
              <a:rPr lang="pt-BR" altLang="pt-BR" sz="1600">
                <a:latin typeface="Times New Roman" pitchFamily="18" charset="0"/>
              </a:rPr>
              <a:t>}       </a:t>
            </a:r>
            <a:r>
              <a:rPr lang="pt-BR" altLang="pt-BR" sz="1600" i="1">
                <a:latin typeface="Times New Roman" pitchFamily="18" charset="0"/>
              </a:rPr>
              <a:t>p</a:t>
            </a:r>
            <a:r>
              <a:rPr lang="pt-BR" altLang="pt-BR" sz="1600">
                <a:latin typeface="Times New Roman" pitchFamily="18" charset="0"/>
              </a:rPr>
              <a:t> = 5/7       </a:t>
            </a:r>
            <a:r>
              <a:rPr lang="pt-BR" altLang="pt-BR" sz="1600" i="1">
                <a:latin typeface="Times New Roman" pitchFamily="18" charset="0"/>
              </a:rPr>
              <a:t>q</a:t>
            </a:r>
            <a:r>
              <a:rPr lang="pt-BR" altLang="pt-BR" sz="1600">
                <a:latin typeface="Times New Roman" pitchFamily="18" charset="0"/>
              </a:rPr>
              <a:t> = 2/7</a:t>
            </a:r>
          </a:p>
        </p:txBody>
      </p:sp>
      <p:graphicFrame>
        <p:nvGraphicFramePr>
          <p:cNvPr id="113679" name="Object 15"/>
          <p:cNvGraphicFramePr>
            <a:graphicFrameLocks noChangeAspect="1"/>
          </p:cNvGraphicFramePr>
          <p:nvPr/>
        </p:nvGraphicFramePr>
        <p:xfrm>
          <a:off x="914400" y="3625850"/>
          <a:ext cx="1054100" cy="29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736600" imgH="203200" progId="Equation.DSMT4">
                  <p:embed/>
                </p:oleObj>
              </mc:Choice>
              <mc:Fallback>
                <p:oleObj name="Equation" r:id="rId12" imgW="736600" imgH="203200" progId="Equation.DSMT4">
                  <p:embed/>
                  <p:pic>
                    <p:nvPicPr>
                      <p:cNvPr id="113679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3625850"/>
                        <a:ext cx="1054100" cy="290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683" name="Text Box 19"/>
          <p:cNvSpPr txBox="1">
            <a:spLocks noChangeArrowheads="1"/>
          </p:cNvSpPr>
          <p:nvPr/>
        </p:nvSpPr>
        <p:spPr bwMode="auto">
          <a:xfrm>
            <a:off x="1936750" y="3975100"/>
            <a:ext cx="2857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p</a:t>
            </a:r>
          </a:p>
        </p:txBody>
      </p:sp>
      <p:graphicFrame>
        <p:nvGraphicFramePr>
          <p:cNvPr id="113684" name="Object 20"/>
          <p:cNvGraphicFramePr>
            <a:graphicFrameLocks noChangeAspect="1"/>
          </p:cNvGraphicFramePr>
          <p:nvPr/>
        </p:nvGraphicFramePr>
        <p:xfrm>
          <a:off x="947738" y="4648200"/>
          <a:ext cx="1035050" cy="29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723586" imgH="203112" progId="Equation.DSMT4">
                  <p:embed/>
                </p:oleObj>
              </mc:Choice>
              <mc:Fallback>
                <p:oleObj name="Equation" r:id="rId14" imgW="723586" imgH="203112" progId="Equation.DSMT4">
                  <p:embed/>
                  <p:pic>
                    <p:nvPicPr>
                      <p:cNvPr id="113684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7738" y="4648200"/>
                        <a:ext cx="1035050" cy="290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685" name="Object 21"/>
          <p:cNvGraphicFramePr>
            <a:graphicFrameLocks noChangeAspect="1"/>
          </p:cNvGraphicFramePr>
          <p:nvPr/>
        </p:nvGraphicFramePr>
        <p:xfrm>
          <a:off x="1968500" y="4495800"/>
          <a:ext cx="563563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393529" imgH="393529" progId="Equation.DSMT4">
                  <p:embed/>
                </p:oleObj>
              </mc:Choice>
              <mc:Fallback>
                <p:oleObj name="Equation" r:id="rId16" imgW="393529" imgH="393529" progId="Equation.DSMT4">
                  <p:embed/>
                  <p:pic>
                    <p:nvPicPr>
                      <p:cNvPr id="113685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8500" y="4495800"/>
                        <a:ext cx="563563" cy="56356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687" name="Text Box 23"/>
          <p:cNvSpPr txBox="1">
            <a:spLocks noChangeArrowheads="1"/>
          </p:cNvSpPr>
          <p:nvPr/>
        </p:nvSpPr>
        <p:spPr bwMode="auto">
          <a:xfrm>
            <a:off x="1933575" y="4997450"/>
            <a:ext cx="4381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q p</a:t>
            </a:r>
          </a:p>
        </p:txBody>
      </p:sp>
      <p:graphicFrame>
        <p:nvGraphicFramePr>
          <p:cNvPr id="113689" name="Object 25"/>
          <p:cNvGraphicFramePr>
            <a:graphicFrameLocks noChangeAspect="1"/>
          </p:cNvGraphicFramePr>
          <p:nvPr/>
        </p:nvGraphicFramePr>
        <p:xfrm>
          <a:off x="2514600" y="4492625"/>
          <a:ext cx="1058863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736280" imgH="393529" progId="Equation.DSMT4">
                  <p:embed/>
                </p:oleObj>
              </mc:Choice>
              <mc:Fallback>
                <p:oleObj name="Equation" r:id="rId18" imgW="736280" imgH="393529" progId="Equation.DSMT4">
                  <p:embed/>
                  <p:pic>
                    <p:nvPicPr>
                      <p:cNvPr id="113689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4492625"/>
                        <a:ext cx="1058863" cy="56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690" name="Object 26"/>
          <p:cNvGraphicFramePr>
            <a:graphicFrameLocks noChangeAspect="1"/>
          </p:cNvGraphicFramePr>
          <p:nvPr/>
        </p:nvGraphicFramePr>
        <p:xfrm>
          <a:off x="930275" y="5562600"/>
          <a:ext cx="1071563" cy="29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748975" imgH="203112" progId="Equation.DSMT4">
                  <p:embed/>
                </p:oleObj>
              </mc:Choice>
              <mc:Fallback>
                <p:oleObj name="Equation" r:id="rId20" imgW="748975" imgH="203112" progId="Equation.DSMT4">
                  <p:embed/>
                  <p:pic>
                    <p:nvPicPr>
                      <p:cNvPr id="11369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0275" y="5562600"/>
                        <a:ext cx="1071563" cy="290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691" name="Object 27"/>
          <p:cNvGraphicFramePr>
            <a:graphicFrameLocks noChangeAspect="1"/>
          </p:cNvGraphicFramePr>
          <p:nvPr/>
        </p:nvGraphicFramePr>
        <p:xfrm>
          <a:off x="1985963" y="5410200"/>
          <a:ext cx="727075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507780" imgH="393529" progId="Equation.DSMT4">
                  <p:embed/>
                </p:oleObj>
              </mc:Choice>
              <mc:Fallback>
                <p:oleObj name="Equation" r:id="rId22" imgW="507780" imgH="393529" progId="Equation.DSMT4">
                  <p:embed/>
                  <p:pic>
                    <p:nvPicPr>
                      <p:cNvPr id="113691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5963" y="5410200"/>
                        <a:ext cx="727075" cy="56356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693" name="Text Box 29"/>
          <p:cNvSpPr txBox="1">
            <a:spLocks noChangeArrowheads="1"/>
          </p:cNvSpPr>
          <p:nvPr/>
        </p:nvSpPr>
        <p:spPr bwMode="auto">
          <a:xfrm>
            <a:off x="1944688" y="5911850"/>
            <a:ext cx="5905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q q p</a:t>
            </a:r>
          </a:p>
        </p:txBody>
      </p:sp>
      <p:graphicFrame>
        <p:nvGraphicFramePr>
          <p:cNvPr id="113695" name="Object 31"/>
          <p:cNvGraphicFramePr>
            <a:graphicFrameLocks noChangeAspect="1"/>
          </p:cNvGraphicFramePr>
          <p:nvPr/>
        </p:nvGraphicFramePr>
        <p:xfrm>
          <a:off x="2682875" y="5353050"/>
          <a:ext cx="2201863" cy="671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536700" imgH="469900" progId="Equation.DSMT4">
                  <p:embed/>
                </p:oleObj>
              </mc:Choice>
              <mc:Fallback>
                <p:oleObj name="Equation" r:id="rId24" imgW="1536700" imgH="469900" progId="Equation.DSMT4">
                  <p:embed/>
                  <p:pic>
                    <p:nvPicPr>
                      <p:cNvPr id="113695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2875" y="5353050"/>
                        <a:ext cx="2201863" cy="671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703" name="Object 39"/>
          <p:cNvGraphicFramePr>
            <a:graphicFrameLocks noChangeAspect="1"/>
          </p:cNvGraphicFramePr>
          <p:nvPr/>
        </p:nvGraphicFramePr>
        <p:xfrm>
          <a:off x="6683375" y="4824413"/>
          <a:ext cx="403225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279400" imgH="228600" progId="Equation.DSMT4">
                  <p:embed/>
                </p:oleObj>
              </mc:Choice>
              <mc:Fallback>
                <p:oleObj name="Equation" r:id="rId26" imgW="279400" imgH="228600" progId="Equation.DSMT4">
                  <p:embed/>
                  <p:pic>
                    <p:nvPicPr>
                      <p:cNvPr id="113703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83375" y="4824413"/>
                        <a:ext cx="403225" cy="3270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708" name="Object 44"/>
          <p:cNvGraphicFramePr>
            <a:graphicFrameLocks noChangeAspect="1"/>
          </p:cNvGraphicFramePr>
          <p:nvPr/>
        </p:nvGraphicFramePr>
        <p:xfrm>
          <a:off x="4784725" y="3460750"/>
          <a:ext cx="1054100" cy="29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736600" imgH="203200" progId="Equation.DSMT4">
                  <p:embed/>
                </p:oleObj>
              </mc:Choice>
              <mc:Fallback>
                <p:oleObj name="Equation" r:id="rId28" imgW="736600" imgH="203200" progId="Equation.DSMT4">
                  <p:embed/>
                  <p:pic>
                    <p:nvPicPr>
                      <p:cNvPr id="113708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4725" y="3460750"/>
                        <a:ext cx="1054100" cy="290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709" name="Object 45"/>
          <p:cNvGraphicFramePr>
            <a:graphicFrameLocks noChangeAspect="1"/>
          </p:cNvGraphicFramePr>
          <p:nvPr/>
        </p:nvGraphicFramePr>
        <p:xfrm>
          <a:off x="5765800" y="3308350"/>
          <a:ext cx="908050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634725" imgH="393529" progId="Equation.DSMT4">
                  <p:embed/>
                </p:oleObj>
              </mc:Choice>
              <mc:Fallback>
                <p:oleObj name="Equation" r:id="rId30" imgW="634725" imgH="393529" progId="Equation.DSMT4">
                  <p:embed/>
                  <p:pic>
                    <p:nvPicPr>
                      <p:cNvPr id="113709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65800" y="3308350"/>
                        <a:ext cx="908050" cy="56356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711" name="Text Box 47"/>
          <p:cNvSpPr txBox="1">
            <a:spLocks noChangeArrowheads="1"/>
          </p:cNvSpPr>
          <p:nvPr/>
        </p:nvSpPr>
        <p:spPr bwMode="auto">
          <a:xfrm>
            <a:off x="5735638" y="3810000"/>
            <a:ext cx="7429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q q q p</a:t>
            </a:r>
          </a:p>
        </p:txBody>
      </p:sp>
      <p:graphicFrame>
        <p:nvGraphicFramePr>
          <p:cNvPr id="113712" name="Object 48"/>
          <p:cNvGraphicFramePr>
            <a:graphicFrameLocks noChangeAspect="1"/>
          </p:cNvGraphicFramePr>
          <p:nvPr/>
        </p:nvGraphicFramePr>
        <p:xfrm>
          <a:off x="6629400" y="3251200"/>
          <a:ext cx="2309813" cy="671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1612900" imgH="469900" progId="Equation.DSMT4">
                  <p:embed/>
                </p:oleObj>
              </mc:Choice>
              <mc:Fallback>
                <p:oleObj name="Equation" r:id="rId32" imgW="1612900" imgH="469900" progId="Equation.DSMT4">
                  <p:embed/>
                  <p:pic>
                    <p:nvPicPr>
                      <p:cNvPr id="113712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0" y="3251200"/>
                        <a:ext cx="2309813" cy="671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F648720-98F0-4BBA-B09A-A627FD6D1B1B}" type="slidenum">
              <a:rPr lang="pt-BR"/>
              <a:pPr>
                <a:defRPr/>
              </a:pPr>
              <a:t>26</a:t>
            </a:fld>
            <a:endParaRPr lang="pt-BR"/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DAE02B4C-6F63-C916-C914-3A51D27A27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1600200"/>
            <a:ext cx="6705600" cy="106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Considere o experimento: retiram-se bolas da urna (com reposição), até que se consiga uma bola vermelha. Define-se uma v.a. </a:t>
            </a:r>
            <a:r>
              <a:rPr lang="pt-BR" altLang="pt-BR" sz="1600" i="1" dirty="0">
                <a:latin typeface="Times New Roman" pitchFamily="18" charset="0"/>
              </a:rPr>
              <a:t>X</a:t>
            </a:r>
            <a:r>
              <a:rPr lang="pt-BR" altLang="pt-BR" sz="1600" dirty="0">
                <a:latin typeface="Tahoma" panose="020B0604030504040204" pitchFamily="34" charset="0"/>
              </a:rPr>
              <a:t> cujos valores representam o número total de bolas azuis (fracassos) retiradas da urna até obter uma bola vermelha (sucesso).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666" grpId="0" autoUpdateAnimBg="0"/>
      <p:bldP spid="113683" grpId="0" autoUpdateAnimBg="0"/>
      <p:bldP spid="113687" grpId="0" autoUpdateAnimBg="0"/>
      <p:bldP spid="113693" grpId="0" autoUpdateAnimBg="0"/>
      <p:bldP spid="113711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Distribuição Geométrica</a:t>
            </a:r>
          </a:p>
        </p:txBody>
      </p:sp>
      <p:grpSp>
        <p:nvGrpSpPr>
          <p:cNvPr id="21507" name="Group 4"/>
          <p:cNvGrpSpPr>
            <a:grpSpLocks/>
          </p:cNvGrpSpPr>
          <p:nvPr/>
        </p:nvGrpSpPr>
        <p:grpSpPr bwMode="auto">
          <a:xfrm>
            <a:off x="838200" y="1447800"/>
            <a:ext cx="914400" cy="1295400"/>
            <a:chOff x="2688" y="3264"/>
            <a:chExt cx="576" cy="816"/>
          </a:xfrm>
        </p:grpSpPr>
        <p:sp>
          <p:nvSpPr>
            <p:cNvPr id="21535" name="Freeform 5"/>
            <p:cNvSpPr>
              <a:spLocks/>
            </p:cNvSpPr>
            <p:nvPr/>
          </p:nvSpPr>
          <p:spPr bwMode="auto">
            <a:xfrm>
              <a:off x="2688" y="3264"/>
              <a:ext cx="576" cy="816"/>
            </a:xfrm>
            <a:custGeom>
              <a:avLst/>
              <a:gdLst>
                <a:gd name="T0" fmla="*/ 0 w 576"/>
                <a:gd name="T1" fmla="*/ 0 h 816"/>
                <a:gd name="T2" fmla="*/ 0 w 576"/>
                <a:gd name="T3" fmla="*/ 816 h 816"/>
                <a:gd name="T4" fmla="*/ 576 w 576"/>
                <a:gd name="T5" fmla="*/ 816 h 816"/>
                <a:gd name="T6" fmla="*/ 576 w 576"/>
                <a:gd name="T7" fmla="*/ 0 h 8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"/>
                <a:gd name="T13" fmla="*/ 0 h 816"/>
                <a:gd name="T14" fmla="*/ 576 w 576"/>
                <a:gd name="T15" fmla="*/ 816 h 8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" h="816">
                  <a:moveTo>
                    <a:pt x="0" y="0"/>
                  </a:moveTo>
                  <a:lnTo>
                    <a:pt x="0" y="816"/>
                  </a:lnTo>
                  <a:lnTo>
                    <a:pt x="576" y="816"/>
                  </a:lnTo>
                  <a:lnTo>
                    <a:pt x="576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21536" name="Oval 6"/>
            <p:cNvSpPr>
              <a:spLocks noChangeArrowheads="1"/>
            </p:cNvSpPr>
            <p:nvPr/>
          </p:nvSpPr>
          <p:spPr bwMode="auto">
            <a:xfrm>
              <a:off x="2784" y="336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21537" name="Oval 7"/>
            <p:cNvSpPr>
              <a:spLocks noChangeArrowheads="1"/>
            </p:cNvSpPr>
            <p:nvPr/>
          </p:nvSpPr>
          <p:spPr bwMode="auto">
            <a:xfrm>
              <a:off x="3024" y="348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21538" name="Oval 8"/>
            <p:cNvSpPr>
              <a:spLocks noChangeArrowheads="1"/>
            </p:cNvSpPr>
            <p:nvPr/>
          </p:nvSpPr>
          <p:spPr bwMode="auto">
            <a:xfrm>
              <a:off x="2784" y="384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21539" name="Oval 9"/>
            <p:cNvSpPr>
              <a:spLocks noChangeArrowheads="1"/>
            </p:cNvSpPr>
            <p:nvPr/>
          </p:nvSpPr>
          <p:spPr bwMode="auto">
            <a:xfrm>
              <a:off x="2784" y="3600"/>
              <a:ext cx="144" cy="14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21540" name="Oval 10"/>
            <p:cNvSpPr>
              <a:spLocks noChangeArrowheads="1"/>
            </p:cNvSpPr>
            <p:nvPr/>
          </p:nvSpPr>
          <p:spPr bwMode="auto">
            <a:xfrm>
              <a:off x="3024" y="3696"/>
              <a:ext cx="144" cy="14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21541" name="Oval 11"/>
            <p:cNvSpPr>
              <a:spLocks noChangeArrowheads="1"/>
            </p:cNvSpPr>
            <p:nvPr/>
          </p:nvSpPr>
          <p:spPr bwMode="auto">
            <a:xfrm>
              <a:off x="3024" y="3264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21542" name="Oval 12"/>
            <p:cNvSpPr>
              <a:spLocks noChangeArrowheads="1"/>
            </p:cNvSpPr>
            <p:nvPr/>
          </p:nvSpPr>
          <p:spPr bwMode="auto">
            <a:xfrm>
              <a:off x="3024" y="3912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sp>
        <p:nvSpPr>
          <p:cNvPr id="21508" name="Text Box 13"/>
          <p:cNvSpPr txBox="1">
            <a:spLocks noChangeArrowheads="1"/>
          </p:cNvSpPr>
          <p:nvPr/>
        </p:nvSpPr>
        <p:spPr bwMode="auto">
          <a:xfrm>
            <a:off x="838200" y="2971800"/>
            <a:ext cx="1752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X</a:t>
            </a:r>
            <a:r>
              <a:rPr lang="pt-BR" altLang="pt-BR" sz="1600">
                <a:latin typeface="Times New Roman" pitchFamily="18" charset="0"/>
              </a:rPr>
              <a:t>: {0, 1, 2, ..., </a:t>
            </a:r>
            <a:r>
              <a:rPr lang="pt-BR" altLang="pt-BR" sz="1600">
                <a:latin typeface="Times New Roman" pitchFamily="18" charset="0"/>
                <a:sym typeface="Symbol" pitchFamily="18" charset="2"/>
              </a:rPr>
              <a:t></a:t>
            </a:r>
            <a:r>
              <a:rPr lang="pt-BR" altLang="pt-BR" sz="1600">
                <a:latin typeface="Times New Roman" pitchFamily="18" charset="0"/>
              </a:rPr>
              <a:t>}</a:t>
            </a:r>
          </a:p>
        </p:txBody>
      </p:sp>
      <p:graphicFrame>
        <p:nvGraphicFramePr>
          <p:cNvPr id="21509" name="Object 14"/>
          <p:cNvGraphicFramePr>
            <a:graphicFrameLocks noChangeAspect="1"/>
          </p:cNvGraphicFramePr>
          <p:nvPr/>
        </p:nvGraphicFramePr>
        <p:xfrm>
          <a:off x="838200" y="3929063"/>
          <a:ext cx="1057275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36600" imgH="228600" progId="Equation.DSMT4">
                  <p:embed/>
                </p:oleObj>
              </mc:Choice>
              <mc:Fallback>
                <p:oleObj name="Equation" r:id="rId2" imgW="736600" imgH="228600" progId="Equation.DSMT4">
                  <p:embed/>
                  <p:pic>
                    <p:nvPicPr>
                      <p:cNvPr id="21509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3929063"/>
                        <a:ext cx="1057275" cy="3270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703" name="Object 15"/>
          <p:cNvGraphicFramePr>
            <a:graphicFrameLocks noChangeAspect="1"/>
          </p:cNvGraphicFramePr>
          <p:nvPr/>
        </p:nvGraphicFramePr>
        <p:xfrm>
          <a:off x="914400" y="5029200"/>
          <a:ext cx="1052513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36600" imgH="431800" progId="Equation.DSMT4">
                  <p:embed/>
                </p:oleObj>
              </mc:Choice>
              <mc:Fallback>
                <p:oleObj name="Equation" r:id="rId4" imgW="736600" imgH="431800" progId="Equation.DSMT4">
                  <p:embed/>
                  <p:pic>
                    <p:nvPicPr>
                      <p:cNvPr id="114703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5029200"/>
                        <a:ext cx="1052513" cy="619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716" name="Object 28"/>
          <p:cNvGraphicFramePr>
            <a:graphicFrameLocks noChangeAspect="1"/>
          </p:cNvGraphicFramePr>
          <p:nvPr/>
        </p:nvGraphicFramePr>
        <p:xfrm>
          <a:off x="3116263" y="2849563"/>
          <a:ext cx="1978025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84300" imgH="431800" progId="Equation.DSMT4">
                  <p:embed/>
                </p:oleObj>
              </mc:Choice>
              <mc:Fallback>
                <p:oleObj name="Equation" r:id="rId6" imgW="1384300" imgH="431800" progId="Equation.DSMT4">
                  <p:embed/>
                  <p:pic>
                    <p:nvPicPr>
                      <p:cNvPr id="114716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6263" y="2849563"/>
                        <a:ext cx="1978025" cy="619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717" name="Object 29"/>
          <p:cNvGraphicFramePr>
            <a:graphicFrameLocks noChangeAspect="1"/>
          </p:cNvGraphicFramePr>
          <p:nvPr/>
        </p:nvGraphicFramePr>
        <p:xfrm>
          <a:off x="3116263" y="3505200"/>
          <a:ext cx="1470025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028254" imgH="431613" progId="Equation.DSMT4">
                  <p:embed/>
                </p:oleObj>
              </mc:Choice>
              <mc:Fallback>
                <p:oleObj name="Equation" r:id="rId8" imgW="1028254" imgH="431613" progId="Equation.DSMT4">
                  <p:embed/>
                  <p:pic>
                    <p:nvPicPr>
                      <p:cNvPr id="114717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6263" y="3505200"/>
                        <a:ext cx="1470025" cy="619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741" name="Object 53"/>
          <p:cNvGraphicFramePr>
            <a:graphicFrameLocks noChangeAspect="1"/>
          </p:cNvGraphicFramePr>
          <p:nvPr/>
        </p:nvGraphicFramePr>
        <p:xfrm>
          <a:off x="3116263" y="4114800"/>
          <a:ext cx="1706562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193800" imgH="431800" progId="Equation.DSMT4">
                  <p:embed/>
                </p:oleObj>
              </mc:Choice>
              <mc:Fallback>
                <p:oleObj name="Equation" r:id="rId10" imgW="1193800" imgH="431800" progId="Equation.DSMT4">
                  <p:embed/>
                  <p:pic>
                    <p:nvPicPr>
                      <p:cNvPr id="114741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6263" y="4114800"/>
                        <a:ext cx="1706562" cy="619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54"/>
          <p:cNvGrpSpPr>
            <a:grpSpLocks/>
          </p:cNvGrpSpPr>
          <p:nvPr/>
        </p:nvGrpSpPr>
        <p:grpSpPr bwMode="auto">
          <a:xfrm>
            <a:off x="4343400" y="4191000"/>
            <a:ext cx="1143000" cy="714375"/>
            <a:chOff x="2736" y="2640"/>
            <a:chExt cx="720" cy="450"/>
          </a:xfrm>
        </p:grpSpPr>
        <p:sp>
          <p:nvSpPr>
            <p:cNvPr id="21533" name="Oval 55"/>
            <p:cNvSpPr>
              <a:spLocks noChangeArrowheads="1"/>
            </p:cNvSpPr>
            <p:nvPr/>
          </p:nvSpPr>
          <p:spPr bwMode="auto">
            <a:xfrm>
              <a:off x="2736" y="2640"/>
              <a:ext cx="336" cy="288"/>
            </a:xfrm>
            <a:prstGeom prst="ellips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graphicFrame>
          <p:nvGraphicFramePr>
            <p:cNvPr id="21534" name="Object 56"/>
            <p:cNvGraphicFramePr>
              <a:graphicFrameLocks noChangeAspect="1"/>
            </p:cNvGraphicFramePr>
            <p:nvPr/>
          </p:nvGraphicFramePr>
          <p:xfrm>
            <a:off x="3078" y="2688"/>
            <a:ext cx="378" cy="4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418918" imgH="444307" progId="Equation.DSMT4">
                    <p:embed/>
                  </p:oleObj>
                </mc:Choice>
                <mc:Fallback>
                  <p:oleObj name="Equation" r:id="rId12" imgW="418918" imgH="444307" progId="Equation.DSMT4">
                    <p:embed/>
                    <p:pic>
                      <p:nvPicPr>
                        <p:cNvPr id="21534" name="Object 5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78" y="2688"/>
                          <a:ext cx="378" cy="4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14745" name="Object 57"/>
          <p:cNvGraphicFramePr>
            <a:graphicFrameLocks noChangeAspect="1"/>
          </p:cNvGraphicFramePr>
          <p:nvPr/>
        </p:nvGraphicFramePr>
        <p:xfrm>
          <a:off x="3116263" y="4773613"/>
          <a:ext cx="1652587" cy="636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155199" imgH="444307" progId="Equation.DSMT4">
                  <p:embed/>
                </p:oleObj>
              </mc:Choice>
              <mc:Fallback>
                <p:oleObj name="Equation" r:id="rId14" imgW="1155199" imgH="444307" progId="Equation.DSMT4">
                  <p:embed/>
                  <p:pic>
                    <p:nvPicPr>
                      <p:cNvPr id="114745" name="Object 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6263" y="4773613"/>
                        <a:ext cx="1652587" cy="636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746" name="Object 58"/>
          <p:cNvGraphicFramePr>
            <a:graphicFrameLocks noChangeAspect="1"/>
          </p:cNvGraphicFramePr>
          <p:nvPr/>
        </p:nvGraphicFramePr>
        <p:xfrm>
          <a:off x="3116263" y="5478463"/>
          <a:ext cx="1816100" cy="617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269449" imgH="431613" progId="Equation.DSMT4">
                  <p:embed/>
                </p:oleObj>
              </mc:Choice>
              <mc:Fallback>
                <p:oleObj name="Equation" r:id="rId16" imgW="1269449" imgH="431613" progId="Equation.DSMT4">
                  <p:embed/>
                  <p:pic>
                    <p:nvPicPr>
                      <p:cNvPr id="114746" name="Object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6263" y="5478463"/>
                        <a:ext cx="1816100" cy="617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59"/>
          <p:cNvGrpSpPr>
            <a:grpSpLocks/>
          </p:cNvGrpSpPr>
          <p:nvPr/>
        </p:nvGrpSpPr>
        <p:grpSpPr bwMode="auto">
          <a:xfrm>
            <a:off x="4343400" y="5486400"/>
            <a:ext cx="1331913" cy="742950"/>
            <a:chOff x="2736" y="3456"/>
            <a:chExt cx="839" cy="468"/>
          </a:xfrm>
        </p:grpSpPr>
        <p:sp>
          <p:nvSpPr>
            <p:cNvPr id="21531" name="Oval 60"/>
            <p:cNvSpPr>
              <a:spLocks noChangeArrowheads="1"/>
            </p:cNvSpPr>
            <p:nvPr/>
          </p:nvSpPr>
          <p:spPr bwMode="auto">
            <a:xfrm>
              <a:off x="2736" y="3456"/>
              <a:ext cx="384" cy="404"/>
            </a:xfrm>
            <a:prstGeom prst="ellips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graphicFrame>
          <p:nvGraphicFramePr>
            <p:cNvPr id="21532" name="Object 61"/>
            <p:cNvGraphicFramePr>
              <a:graphicFrameLocks noChangeAspect="1"/>
            </p:cNvGraphicFramePr>
            <p:nvPr/>
          </p:nvGraphicFramePr>
          <p:xfrm>
            <a:off x="3151" y="3545"/>
            <a:ext cx="424" cy="3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469900" imgH="419100" progId="Equation.DSMT4">
                    <p:embed/>
                  </p:oleObj>
                </mc:Choice>
                <mc:Fallback>
                  <p:oleObj name="Equation" r:id="rId18" imgW="469900" imgH="419100" progId="Equation.DSMT4">
                    <p:embed/>
                    <p:pic>
                      <p:nvPicPr>
                        <p:cNvPr id="21532" name="Object 6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51" y="3545"/>
                          <a:ext cx="424" cy="3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14750" name="Object 62"/>
          <p:cNvGraphicFramePr>
            <a:graphicFrameLocks noChangeAspect="1"/>
          </p:cNvGraphicFramePr>
          <p:nvPr/>
        </p:nvGraphicFramePr>
        <p:xfrm>
          <a:off x="5867400" y="2835275"/>
          <a:ext cx="1979613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384300" imgH="457200" progId="Equation.DSMT4">
                  <p:embed/>
                </p:oleObj>
              </mc:Choice>
              <mc:Fallback>
                <p:oleObj name="Equation" r:id="rId20" imgW="1384300" imgH="457200" progId="Equation.DSMT4">
                  <p:embed/>
                  <p:pic>
                    <p:nvPicPr>
                      <p:cNvPr id="114750" name="Object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2835275"/>
                        <a:ext cx="1979613" cy="654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63"/>
          <p:cNvGrpSpPr>
            <a:grpSpLocks/>
          </p:cNvGrpSpPr>
          <p:nvPr/>
        </p:nvGrpSpPr>
        <p:grpSpPr bwMode="auto">
          <a:xfrm>
            <a:off x="6858000" y="2743200"/>
            <a:ext cx="1570038" cy="982663"/>
            <a:chOff x="4320" y="1728"/>
            <a:chExt cx="989" cy="619"/>
          </a:xfrm>
        </p:grpSpPr>
        <p:sp>
          <p:nvSpPr>
            <p:cNvPr id="21529" name="Oval 64"/>
            <p:cNvSpPr>
              <a:spLocks noChangeArrowheads="1"/>
            </p:cNvSpPr>
            <p:nvPr/>
          </p:nvSpPr>
          <p:spPr bwMode="auto">
            <a:xfrm>
              <a:off x="4320" y="1728"/>
              <a:ext cx="672" cy="576"/>
            </a:xfrm>
            <a:prstGeom prst="ellips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graphicFrame>
          <p:nvGraphicFramePr>
            <p:cNvPr id="21530" name="Object 65"/>
            <p:cNvGraphicFramePr>
              <a:graphicFrameLocks noChangeAspect="1"/>
            </p:cNvGraphicFramePr>
            <p:nvPr/>
          </p:nvGraphicFramePr>
          <p:xfrm>
            <a:off x="4988" y="1968"/>
            <a:ext cx="321" cy="3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355446" imgH="418918" progId="Equation.DSMT4">
                    <p:embed/>
                  </p:oleObj>
                </mc:Choice>
                <mc:Fallback>
                  <p:oleObj name="Equation" r:id="rId22" imgW="355446" imgH="418918" progId="Equation.DSMT4">
                    <p:embed/>
                    <p:pic>
                      <p:nvPicPr>
                        <p:cNvPr id="21530" name="Object 6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88" y="1968"/>
                          <a:ext cx="321" cy="3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14754" name="Object 66"/>
          <p:cNvGraphicFramePr>
            <a:graphicFrameLocks noChangeAspect="1"/>
          </p:cNvGraphicFramePr>
          <p:nvPr/>
        </p:nvGraphicFramePr>
        <p:xfrm>
          <a:off x="5867400" y="3525838"/>
          <a:ext cx="1325563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927100" imgH="419100" progId="Equation.DSMT4">
                  <p:embed/>
                </p:oleObj>
              </mc:Choice>
              <mc:Fallback>
                <p:oleObj name="Equation" r:id="rId24" imgW="927100" imgH="419100" progId="Equation.DSMT4">
                  <p:embed/>
                  <p:pic>
                    <p:nvPicPr>
                      <p:cNvPr id="114754" name="Object 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3525838"/>
                        <a:ext cx="1325563" cy="600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67"/>
          <p:cNvGrpSpPr>
            <a:grpSpLocks/>
          </p:cNvGrpSpPr>
          <p:nvPr/>
        </p:nvGrpSpPr>
        <p:grpSpPr bwMode="auto">
          <a:xfrm>
            <a:off x="6605588" y="3725863"/>
            <a:ext cx="549275" cy="228600"/>
            <a:chOff x="4161" y="2347"/>
            <a:chExt cx="346" cy="144"/>
          </a:xfrm>
        </p:grpSpPr>
        <p:sp>
          <p:nvSpPr>
            <p:cNvPr id="21527" name="Line 68"/>
            <p:cNvSpPr>
              <a:spLocks noChangeShapeType="1"/>
            </p:cNvSpPr>
            <p:nvPr/>
          </p:nvSpPr>
          <p:spPr bwMode="auto">
            <a:xfrm flipV="1">
              <a:off x="4161" y="2347"/>
              <a:ext cx="96" cy="144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21528" name="Line 69"/>
            <p:cNvSpPr>
              <a:spLocks noChangeShapeType="1"/>
            </p:cNvSpPr>
            <p:nvPr/>
          </p:nvSpPr>
          <p:spPr bwMode="auto">
            <a:xfrm flipV="1">
              <a:off x="4444" y="2433"/>
              <a:ext cx="63" cy="43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7" name="Group 70"/>
          <p:cNvGrpSpPr>
            <a:grpSpLocks/>
          </p:cNvGrpSpPr>
          <p:nvPr/>
        </p:nvGrpSpPr>
        <p:grpSpPr bwMode="auto">
          <a:xfrm>
            <a:off x="5781675" y="4191000"/>
            <a:ext cx="1143000" cy="762000"/>
            <a:chOff x="4272" y="2880"/>
            <a:chExt cx="720" cy="480"/>
          </a:xfrm>
        </p:grpSpPr>
        <p:graphicFrame>
          <p:nvGraphicFramePr>
            <p:cNvPr id="21525" name="Object 71"/>
            <p:cNvGraphicFramePr>
              <a:graphicFrameLocks noChangeAspect="1"/>
            </p:cNvGraphicFramePr>
            <p:nvPr/>
          </p:nvGraphicFramePr>
          <p:xfrm>
            <a:off x="4320" y="2928"/>
            <a:ext cx="607" cy="3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672808" imgH="418918" progId="Equation.DSMT4">
                    <p:embed/>
                  </p:oleObj>
                </mc:Choice>
                <mc:Fallback>
                  <p:oleObj name="Equation" r:id="rId26" imgW="672808" imgH="418918" progId="Equation.DSMT4">
                    <p:embed/>
                    <p:pic>
                      <p:nvPicPr>
                        <p:cNvPr id="21525" name="Object 7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0" y="2928"/>
                          <a:ext cx="607" cy="3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26" name="Rectangle 72"/>
            <p:cNvSpPr>
              <a:spLocks noChangeArrowheads="1"/>
            </p:cNvSpPr>
            <p:nvPr/>
          </p:nvSpPr>
          <p:spPr bwMode="auto">
            <a:xfrm>
              <a:off x="4272" y="2880"/>
              <a:ext cx="720" cy="480"/>
            </a:xfrm>
            <a:prstGeom prst="rect">
              <a:avLst/>
            </a:prstGeom>
            <a:noFill/>
            <a:ln w="9525">
              <a:solidFill>
                <a:srgbClr val="FF33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D088395-84C0-41F5-B6A7-7668249C4E77}" type="slidenum">
              <a:rPr lang="pt-BR"/>
              <a:pPr>
                <a:defRPr/>
              </a:pPr>
              <a:t>27</a:t>
            </a:fld>
            <a:endParaRPr lang="pt-BR"/>
          </a:p>
        </p:txBody>
      </p:sp>
      <p:sp>
        <p:nvSpPr>
          <p:cNvPr id="8" name="Text Box 3">
            <a:extLst>
              <a:ext uri="{FF2B5EF4-FFF2-40B4-BE49-F238E27FC236}">
                <a16:creationId xmlns:a16="http://schemas.microsoft.com/office/drawing/2014/main" id="{0F30475C-3150-8F95-4E7A-79B876F604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1600200"/>
            <a:ext cx="6705600" cy="106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Considere o experimento: retiram-se bolas da urna (com reposição), até que se consiga uma bola vermelha. Define-se uma v.a. </a:t>
            </a:r>
            <a:r>
              <a:rPr lang="pt-BR" altLang="pt-BR" sz="1600" i="1" dirty="0">
                <a:latin typeface="Times New Roman" pitchFamily="18" charset="0"/>
              </a:rPr>
              <a:t>X</a:t>
            </a:r>
            <a:r>
              <a:rPr lang="pt-BR" altLang="pt-BR" sz="1600" dirty="0">
                <a:latin typeface="Tahoma" panose="020B0604030504040204" pitchFamily="34" charset="0"/>
              </a:rPr>
              <a:t> cujos valores representam o número total de bolas azuis (fracassos) retiradas da urna até obter uma bola vermelha (sucesso).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4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Distribuição Geométrica</a:t>
            </a:r>
          </a:p>
        </p:txBody>
      </p:sp>
      <p:grpSp>
        <p:nvGrpSpPr>
          <p:cNvPr id="22531" name="Group 3"/>
          <p:cNvGrpSpPr>
            <a:grpSpLocks/>
          </p:cNvGrpSpPr>
          <p:nvPr/>
        </p:nvGrpSpPr>
        <p:grpSpPr bwMode="auto">
          <a:xfrm>
            <a:off x="838200" y="1447800"/>
            <a:ext cx="914400" cy="1295400"/>
            <a:chOff x="2688" y="3264"/>
            <a:chExt cx="576" cy="816"/>
          </a:xfrm>
        </p:grpSpPr>
        <p:sp>
          <p:nvSpPr>
            <p:cNvPr id="22541" name="Freeform 4"/>
            <p:cNvSpPr>
              <a:spLocks/>
            </p:cNvSpPr>
            <p:nvPr/>
          </p:nvSpPr>
          <p:spPr bwMode="auto">
            <a:xfrm>
              <a:off x="2688" y="3264"/>
              <a:ext cx="576" cy="816"/>
            </a:xfrm>
            <a:custGeom>
              <a:avLst/>
              <a:gdLst>
                <a:gd name="T0" fmla="*/ 0 w 576"/>
                <a:gd name="T1" fmla="*/ 0 h 816"/>
                <a:gd name="T2" fmla="*/ 0 w 576"/>
                <a:gd name="T3" fmla="*/ 816 h 816"/>
                <a:gd name="T4" fmla="*/ 576 w 576"/>
                <a:gd name="T5" fmla="*/ 816 h 816"/>
                <a:gd name="T6" fmla="*/ 576 w 576"/>
                <a:gd name="T7" fmla="*/ 0 h 8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"/>
                <a:gd name="T13" fmla="*/ 0 h 816"/>
                <a:gd name="T14" fmla="*/ 576 w 576"/>
                <a:gd name="T15" fmla="*/ 816 h 8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" h="816">
                  <a:moveTo>
                    <a:pt x="0" y="0"/>
                  </a:moveTo>
                  <a:lnTo>
                    <a:pt x="0" y="816"/>
                  </a:lnTo>
                  <a:lnTo>
                    <a:pt x="576" y="816"/>
                  </a:lnTo>
                  <a:lnTo>
                    <a:pt x="576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22542" name="Oval 5"/>
            <p:cNvSpPr>
              <a:spLocks noChangeArrowheads="1"/>
            </p:cNvSpPr>
            <p:nvPr/>
          </p:nvSpPr>
          <p:spPr bwMode="auto">
            <a:xfrm>
              <a:off x="2784" y="336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22543" name="Oval 6"/>
            <p:cNvSpPr>
              <a:spLocks noChangeArrowheads="1"/>
            </p:cNvSpPr>
            <p:nvPr/>
          </p:nvSpPr>
          <p:spPr bwMode="auto">
            <a:xfrm>
              <a:off x="3024" y="348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22544" name="Oval 7"/>
            <p:cNvSpPr>
              <a:spLocks noChangeArrowheads="1"/>
            </p:cNvSpPr>
            <p:nvPr/>
          </p:nvSpPr>
          <p:spPr bwMode="auto">
            <a:xfrm>
              <a:off x="2784" y="384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22545" name="Oval 8"/>
            <p:cNvSpPr>
              <a:spLocks noChangeArrowheads="1"/>
            </p:cNvSpPr>
            <p:nvPr/>
          </p:nvSpPr>
          <p:spPr bwMode="auto">
            <a:xfrm>
              <a:off x="2784" y="3600"/>
              <a:ext cx="144" cy="14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22546" name="Oval 9"/>
            <p:cNvSpPr>
              <a:spLocks noChangeArrowheads="1"/>
            </p:cNvSpPr>
            <p:nvPr/>
          </p:nvSpPr>
          <p:spPr bwMode="auto">
            <a:xfrm>
              <a:off x="3024" y="3696"/>
              <a:ext cx="144" cy="14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22547" name="Oval 10"/>
            <p:cNvSpPr>
              <a:spLocks noChangeArrowheads="1"/>
            </p:cNvSpPr>
            <p:nvPr/>
          </p:nvSpPr>
          <p:spPr bwMode="auto">
            <a:xfrm>
              <a:off x="3024" y="3264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22548" name="Oval 11"/>
            <p:cNvSpPr>
              <a:spLocks noChangeArrowheads="1"/>
            </p:cNvSpPr>
            <p:nvPr/>
          </p:nvSpPr>
          <p:spPr bwMode="auto">
            <a:xfrm>
              <a:off x="3024" y="3912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sp>
        <p:nvSpPr>
          <p:cNvPr id="22532" name="Text Box 12"/>
          <p:cNvSpPr txBox="1">
            <a:spLocks noChangeArrowheads="1"/>
          </p:cNvSpPr>
          <p:nvPr/>
        </p:nvSpPr>
        <p:spPr bwMode="auto">
          <a:xfrm>
            <a:off x="838200" y="2971800"/>
            <a:ext cx="1752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X</a:t>
            </a:r>
            <a:r>
              <a:rPr lang="pt-BR" altLang="pt-BR" sz="1600">
                <a:latin typeface="Times New Roman" pitchFamily="18" charset="0"/>
              </a:rPr>
              <a:t>: {0, 1, 2, ..., </a:t>
            </a:r>
            <a:r>
              <a:rPr lang="pt-BR" altLang="pt-BR" sz="1600">
                <a:latin typeface="Times New Roman" pitchFamily="18" charset="0"/>
                <a:sym typeface="Symbol" pitchFamily="18" charset="2"/>
              </a:rPr>
              <a:t></a:t>
            </a:r>
            <a:r>
              <a:rPr lang="pt-BR" altLang="pt-BR" sz="1600">
                <a:latin typeface="Times New Roman" pitchFamily="18" charset="0"/>
              </a:rPr>
              <a:t>}</a:t>
            </a:r>
          </a:p>
        </p:txBody>
      </p:sp>
      <p:graphicFrame>
        <p:nvGraphicFramePr>
          <p:cNvPr id="22533" name="Object 13"/>
          <p:cNvGraphicFramePr>
            <a:graphicFrameLocks noChangeAspect="1"/>
          </p:cNvGraphicFramePr>
          <p:nvPr/>
        </p:nvGraphicFramePr>
        <p:xfrm>
          <a:off x="838200" y="3929063"/>
          <a:ext cx="1057275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36600" imgH="228600" progId="Equation.DSMT4">
                  <p:embed/>
                </p:oleObj>
              </mc:Choice>
              <mc:Fallback>
                <p:oleObj name="Equation" r:id="rId2" imgW="736600" imgH="228600" progId="Equation.DSMT4">
                  <p:embed/>
                  <p:pic>
                    <p:nvPicPr>
                      <p:cNvPr id="22533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3929063"/>
                        <a:ext cx="1057275" cy="3270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5" name="Object 27"/>
          <p:cNvGraphicFramePr>
            <a:graphicFrameLocks noChangeAspect="1"/>
          </p:cNvGraphicFramePr>
          <p:nvPr/>
        </p:nvGraphicFramePr>
        <p:xfrm>
          <a:off x="885825" y="4991100"/>
          <a:ext cx="963613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72808" imgH="418918" progId="Equation.DSMT4">
                  <p:embed/>
                </p:oleObj>
              </mc:Choice>
              <mc:Fallback>
                <p:oleObj name="Equation" r:id="rId4" imgW="672808" imgH="418918" progId="Equation.DSMT4">
                  <p:embed/>
                  <p:pic>
                    <p:nvPicPr>
                      <p:cNvPr id="22535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5825" y="4991100"/>
                        <a:ext cx="963613" cy="600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6" name="Object 29"/>
          <p:cNvGraphicFramePr>
            <a:graphicFrameLocks noChangeAspect="1"/>
          </p:cNvGraphicFramePr>
          <p:nvPr/>
        </p:nvGraphicFramePr>
        <p:xfrm>
          <a:off x="3124200" y="2873375"/>
          <a:ext cx="2433638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701800" imgH="228600" progId="Equation.DSMT4">
                  <p:embed/>
                </p:oleObj>
              </mc:Choice>
              <mc:Fallback>
                <p:oleObj name="Equation" r:id="rId6" imgW="1701800" imgH="228600" progId="Equation.DSMT4">
                  <p:embed/>
                  <p:pic>
                    <p:nvPicPr>
                      <p:cNvPr id="22536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2873375"/>
                        <a:ext cx="2433638" cy="32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742" name="Object 30"/>
          <p:cNvGraphicFramePr>
            <a:graphicFrameLocks noChangeAspect="1"/>
          </p:cNvGraphicFramePr>
          <p:nvPr/>
        </p:nvGraphicFramePr>
        <p:xfrm>
          <a:off x="3124200" y="3327400"/>
          <a:ext cx="2160588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511300" imgH="431800" progId="Equation.DSMT4">
                  <p:embed/>
                </p:oleObj>
              </mc:Choice>
              <mc:Fallback>
                <p:oleObj name="Equation" r:id="rId8" imgW="1511300" imgH="431800" progId="Equation.DSMT4">
                  <p:embed/>
                  <p:pic>
                    <p:nvPicPr>
                      <p:cNvPr id="115742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3327400"/>
                        <a:ext cx="2160588" cy="619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743" name="Object 31"/>
          <p:cNvGraphicFramePr>
            <a:graphicFrameLocks noChangeAspect="1"/>
          </p:cNvGraphicFramePr>
          <p:nvPr/>
        </p:nvGraphicFramePr>
        <p:xfrm>
          <a:off x="3151188" y="3951288"/>
          <a:ext cx="1651000" cy="620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155700" imgH="431800" progId="Equation.DSMT4">
                  <p:embed/>
                </p:oleObj>
              </mc:Choice>
              <mc:Fallback>
                <p:oleObj name="Equation" r:id="rId10" imgW="1155700" imgH="431800" progId="Equation.DSMT4">
                  <p:embed/>
                  <p:pic>
                    <p:nvPicPr>
                      <p:cNvPr id="115743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1188" y="3951288"/>
                        <a:ext cx="1651000" cy="620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744" name="Object 32"/>
          <p:cNvGraphicFramePr>
            <a:graphicFrameLocks noChangeAspect="1"/>
          </p:cNvGraphicFramePr>
          <p:nvPr/>
        </p:nvGraphicFramePr>
        <p:xfrm>
          <a:off x="3151188" y="4608513"/>
          <a:ext cx="1433512" cy="639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002865" imgH="444307" progId="Equation.DSMT4">
                  <p:embed/>
                </p:oleObj>
              </mc:Choice>
              <mc:Fallback>
                <p:oleObj name="Equation" r:id="rId12" imgW="1002865" imgH="444307" progId="Equation.DSMT4">
                  <p:embed/>
                  <p:pic>
                    <p:nvPicPr>
                      <p:cNvPr id="115744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1188" y="4608513"/>
                        <a:ext cx="1433512" cy="639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9C9D65A-E65A-47DC-9DB8-347317750860}" type="slidenum">
              <a:rPr lang="pt-BR"/>
              <a:pPr>
                <a:defRPr/>
              </a:pPr>
              <a:t>28</a:t>
            </a:fld>
            <a:endParaRPr lang="pt-BR"/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609E4C5E-80A9-7C07-9DA5-8F1213DFEC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1600200"/>
            <a:ext cx="6705600" cy="106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Considere o experimento: retiram-se bolas da urna (com reposição), até que se consiga uma bola vermelha. Define-se uma v.a. </a:t>
            </a:r>
            <a:r>
              <a:rPr lang="pt-BR" altLang="pt-BR" sz="1600" i="1" dirty="0">
                <a:latin typeface="Times New Roman" pitchFamily="18" charset="0"/>
              </a:rPr>
              <a:t>X</a:t>
            </a:r>
            <a:r>
              <a:rPr lang="pt-BR" altLang="pt-BR" sz="1600" dirty="0">
                <a:latin typeface="Tahoma" panose="020B0604030504040204" pitchFamily="34" charset="0"/>
              </a:rPr>
              <a:t> cujos valores representam o número total de bolas azuis (fracassos) retiradas da urna até obter uma bola vermelha (sucesso).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Distribuição Geométrica</a:t>
            </a:r>
          </a:p>
        </p:txBody>
      </p:sp>
      <p:grpSp>
        <p:nvGrpSpPr>
          <p:cNvPr id="23555" name="Group 3"/>
          <p:cNvGrpSpPr>
            <a:grpSpLocks/>
          </p:cNvGrpSpPr>
          <p:nvPr/>
        </p:nvGrpSpPr>
        <p:grpSpPr bwMode="auto">
          <a:xfrm>
            <a:off x="838200" y="1447800"/>
            <a:ext cx="914400" cy="1295400"/>
            <a:chOff x="2688" y="3264"/>
            <a:chExt cx="576" cy="816"/>
          </a:xfrm>
        </p:grpSpPr>
        <p:sp>
          <p:nvSpPr>
            <p:cNvPr id="23566" name="Freeform 4"/>
            <p:cNvSpPr>
              <a:spLocks/>
            </p:cNvSpPr>
            <p:nvPr/>
          </p:nvSpPr>
          <p:spPr bwMode="auto">
            <a:xfrm>
              <a:off x="2688" y="3264"/>
              <a:ext cx="576" cy="816"/>
            </a:xfrm>
            <a:custGeom>
              <a:avLst/>
              <a:gdLst>
                <a:gd name="T0" fmla="*/ 0 w 576"/>
                <a:gd name="T1" fmla="*/ 0 h 816"/>
                <a:gd name="T2" fmla="*/ 0 w 576"/>
                <a:gd name="T3" fmla="*/ 816 h 816"/>
                <a:gd name="T4" fmla="*/ 576 w 576"/>
                <a:gd name="T5" fmla="*/ 816 h 816"/>
                <a:gd name="T6" fmla="*/ 576 w 576"/>
                <a:gd name="T7" fmla="*/ 0 h 8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"/>
                <a:gd name="T13" fmla="*/ 0 h 816"/>
                <a:gd name="T14" fmla="*/ 576 w 576"/>
                <a:gd name="T15" fmla="*/ 816 h 8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" h="816">
                  <a:moveTo>
                    <a:pt x="0" y="0"/>
                  </a:moveTo>
                  <a:lnTo>
                    <a:pt x="0" y="816"/>
                  </a:lnTo>
                  <a:lnTo>
                    <a:pt x="576" y="816"/>
                  </a:lnTo>
                  <a:lnTo>
                    <a:pt x="576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23567" name="Oval 5"/>
            <p:cNvSpPr>
              <a:spLocks noChangeArrowheads="1"/>
            </p:cNvSpPr>
            <p:nvPr/>
          </p:nvSpPr>
          <p:spPr bwMode="auto">
            <a:xfrm>
              <a:off x="2784" y="336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23568" name="Oval 6"/>
            <p:cNvSpPr>
              <a:spLocks noChangeArrowheads="1"/>
            </p:cNvSpPr>
            <p:nvPr/>
          </p:nvSpPr>
          <p:spPr bwMode="auto">
            <a:xfrm>
              <a:off x="3024" y="348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23569" name="Oval 7"/>
            <p:cNvSpPr>
              <a:spLocks noChangeArrowheads="1"/>
            </p:cNvSpPr>
            <p:nvPr/>
          </p:nvSpPr>
          <p:spPr bwMode="auto">
            <a:xfrm>
              <a:off x="2784" y="384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23570" name="Oval 8"/>
            <p:cNvSpPr>
              <a:spLocks noChangeArrowheads="1"/>
            </p:cNvSpPr>
            <p:nvPr/>
          </p:nvSpPr>
          <p:spPr bwMode="auto">
            <a:xfrm>
              <a:off x="2784" y="3600"/>
              <a:ext cx="144" cy="14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23571" name="Oval 9"/>
            <p:cNvSpPr>
              <a:spLocks noChangeArrowheads="1"/>
            </p:cNvSpPr>
            <p:nvPr/>
          </p:nvSpPr>
          <p:spPr bwMode="auto">
            <a:xfrm>
              <a:off x="3024" y="3696"/>
              <a:ext cx="144" cy="14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23572" name="Oval 10"/>
            <p:cNvSpPr>
              <a:spLocks noChangeArrowheads="1"/>
            </p:cNvSpPr>
            <p:nvPr/>
          </p:nvSpPr>
          <p:spPr bwMode="auto">
            <a:xfrm>
              <a:off x="3024" y="3264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23573" name="Oval 11"/>
            <p:cNvSpPr>
              <a:spLocks noChangeArrowheads="1"/>
            </p:cNvSpPr>
            <p:nvPr/>
          </p:nvSpPr>
          <p:spPr bwMode="auto">
            <a:xfrm>
              <a:off x="3024" y="3912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sp>
        <p:nvSpPr>
          <p:cNvPr id="23556" name="Text Box 12"/>
          <p:cNvSpPr txBox="1">
            <a:spLocks noChangeArrowheads="1"/>
          </p:cNvSpPr>
          <p:nvPr/>
        </p:nvSpPr>
        <p:spPr bwMode="auto">
          <a:xfrm>
            <a:off x="838200" y="2971800"/>
            <a:ext cx="1752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X</a:t>
            </a:r>
            <a:r>
              <a:rPr lang="pt-BR" altLang="pt-BR" sz="1600">
                <a:latin typeface="Times New Roman" pitchFamily="18" charset="0"/>
              </a:rPr>
              <a:t>: {0, 1, 2, ..., </a:t>
            </a:r>
            <a:r>
              <a:rPr lang="pt-BR" altLang="pt-BR" sz="1600">
                <a:latin typeface="Times New Roman" pitchFamily="18" charset="0"/>
                <a:sym typeface="Symbol" pitchFamily="18" charset="2"/>
              </a:rPr>
              <a:t></a:t>
            </a:r>
            <a:r>
              <a:rPr lang="pt-BR" altLang="pt-BR" sz="1600">
                <a:latin typeface="Times New Roman" pitchFamily="18" charset="0"/>
              </a:rPr>
              <a:t>}</a:t>
            </a:r>
          </a:p>
        </p:txBody>
      </p:sp>
      <p:graphicFrame>
        <p:nvGraphicFramePr>
          <p:cNvPr id="23557" name="Object 13"/>
          <p:cNvGraphicFramePr>
            <a:graphicFrameLocks noChangeAspect="1"/>
          </p:cNvGraphicFramePr>
          <p:nvPr/>
        </p:nvGraphicFramePr>
        <p:xfrm>
          <a:off x="838200" y="3929063"/>
          <a:ext cx="1057275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36600" imgH="228600" progId="Equation.DSMT4">
                  <p:embed/>
                </p:oleObj>
              </mc:Choice>
              <mc:Fallback>
                <p:oleObj name="Equation" r:id="rId2" imgW="736600" imgH="228600" progId="Equation.DSMT4">
                  <p:embed/>
                  <p:pic>
                    <p:nvPicPr>
                      <p:cNvPr id="23557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3929063"/>
                        <a:ext cx="1057275" cy="3270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9" name="Object 15"/>
          <p:cNvGraphicFramePr>
            <a:graphicFrameLocks noChangeAspect="1"/>
          </p:cNvGraphicFramePr>
          <p:nvPr/>
        </p:nvGraphicFramePr>
        <p:xfrm>
          <a:off x="885825" y="4991100"/>
          <a:ext cx="963613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72808" imgH="418918" progId="Equation.DSMT4">
                  <p:embed/>
                </p:oleObj>
              </mc:Choice>
              <mc:Fallback>
                <p:oleObj name="Equation" r:id="rId4" imgW="672808" imgH="418918" progId="Equation.DSMT4">
                  <p:embed/>
                  <p:pic>
                    <p:nvPicPr>
                      <p:cNvPr id="23559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5825" y="4991100"/>
                        <a:ext cx="963613" cy="600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0" name="Object 16"/>
          <p:cNvGraphicFramePr>
            <a:graphicFrameLocks noChangeAspect="1"/>
          </p:cNvGraphicFramePr>
          <p:nvPr/>
        </p:nvGraphicFramePr>
        <p:xfrm>
          <a:off x="3124200" y="2873375"/>
          <a:ext cx="2433638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701800" imgH="228600" progId="Equation.DSMT4">
                  <p:embed/>
                </p:oleObj>
              </mc:Choice>
              <mc:Fallback>
                <p:oleObj name="Equation" r:id="rId6" imgW="1701800" imgH="228600" progId="Equation.DSMT4">
                  <p:embed/>
                  <p:pic>
                    <p:nvPicPr>
                      <p:cNvPr id="2356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2873375"/>
                        <a:ext cx="2433638" cy="32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1" name="Object 17"/>
          <p:cNvGraphicFramePr>
            <a:graphicFrameLocks noChangeAspect="1"/>
          </p:cNvGraphicFramePr>
          <p:nvPr/>
        </p:nvGraphicFramePr>
        <p:xfrm>
          <a:off x="3124200" y="3402013"/>
          <a:ext cx="1978025" cy="636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384300" imgH="444500" progId="Equation.DSMT4">
                  <p:embed/>
                </p:oleObj>
              </mc:Choice>
              <mc:Fallback>
                <p:oleObj name="Equation" r:id="rId8" imgW="1384300" imgH="444500" progId="Equation.DSMT4">
                  <p:embed/>
                  <p:pic>
                    <p:nvPicPr>
                      <p:cNvPr id="23561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3402013"/>
                        <a:ext cx="1978025" cy="636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22"/>
          <p:cNvGrpSpPr>
            <a:grpSpLocks/>
          </p:cNvGrpSpPr>
          <p:nvPr/>
        </p:nvGrpSpPr>
        <p:grpSpPr bwMode="auto">
          <a:xfrm>
            <a:off x="3048000" y="4114800"/>
            <a:ext cx="1371600" cy="762000"/>
            <a:chOff x="1920" y="2592"/>
            <a:chExt cx="864" cy="480"/>
          </a:xfrm>
        </p:grpSpPr>
        <p:graphicFrame>
          <p:nvGraphicFramePr>
            <p:cNvPr id="23564" name="Object 20"/>
            <p:cNvGraphicFramePr>
              <a:graphicFrameLocks noChangeAspect="1"/>
            </p:cNvGraphicFramePr>
            <p:nvPr/>
          </p:nvGraphicFramePr>
          <p:xfrm>
            <a:off x="1968" y="2646"/>
            <a:ext cx="766" cy="3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850531" imgH="418918" progId="Equation.DSMT4">
                    <p:embed/>
                  </p:oleObj>
                </mc:Choice>
                <mc:Fallback>
                  <p:oleObj name="Equation" r:id="rId10" imgW="850531" imgH="418918" progId="Equation.DSMT4">
                    <p:embed/>
                    <p:pic>
                      <p:nvPicPr>
                        <p:cNvPr id="23564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68" y="2646"/>
                          <a:ext cx="766" cy="3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565" name="Rectangle 21"/>
            <p:cNvSpPr>
              <a:spLocks noChangeArrowheads="1"/>
            </p:cNvSpPr>
            <p:nvPr/>
          </p:nvSpPr>
          <p:spPr bwMode="auto">
            <a:xfrm>
              <a:off x="1920" y="2592"/>
              <a:ext cx="864" cy="480"/>
            </a:xfrm>
            <a:prstGeom prst="rect">
              <a:avLst/>
            </a:prstGeom>
            <a:noFill/>
            <a:ln w="9525">
              <a:solidFill>
                <a:srgbClr val="FF33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D5BDA93-4EC3-4359-9821-D68750B7EF30}" type="slidenum">
              <a:rPr lang="pt-BR"/>
              <a:pPr>
                <a:defRPr/>
              </a:pPr>
              <a:t>29</a:t>
            </a:fld>
            <a:endParaRPr lang="pt-BR"/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02670268-08BC-6769-F7BF-DB2A60D4A5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1600200"/>
            <a:ext cx="6705600" cy="106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Considere o experimento: retiram-se bolas da urna (com reposição), até que se consiga uma bola vermelha. Define-se uma v.a. </a:t>
            </a:r>
            <a:r>
              <a:rPr lang="pt-BR" altLang="pt-BR" sz="1600" i="1" dirty="0">
                <a:latin typeface="Times New Roman" pitchFamily="18" charset="0"/>
              </a:rPr>
              <a:t>X</a:t>
            </a:r>
            <a:r>
              <a:rPr lang="pt-BR" altLang="pt-BR" sz="1600" dirty="0">
                <a:latin typeface="Tahoma" panose="020B0604030504040204" pitchFamily="34" charset="0"/>
              </a:rPr>
              <a:t> cujos valores representam o número total de bolas azuis (fracassos) retiradas da urna até obter uma bola vermelha (sucesso).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Distribuição Geométrica</a:t>
            </a:r>
          </a:p>
        </p:txBody>
      </p:sp>
      <p:grpSp>
        <p:nvGrpSpPr>
          <p:cNvPr id="24579" name="Group 3"/>
          <p:cNvGrpSpPr>
            <a:grpSpLocks/>
          </p:cNvGrpSpPr>
          <p:nvPr/>
        </p:nvGrpSpPr>
        <p:grpSpPr bwMode="auto">
          <a:xfrm>
            <a:off x="838200" y="1447800"/>
            <a:ext cx="914400" cy="1295400"/>
            <a:chOff x="2688" y="3264"/>
            <a:chExt cx="576" cy="816"/>
          </a:xfrm>
        </p:grpSpPr>
        <p:sp>
          <p:nvSpPr>
            <p:cNvPr id="24590" name="Freeform 4"/>
            <p:cNvSpPr>
              <a:spLocks/>
            </p:cNvSpPr>
            <p:nvPr/>
          </p:nvSpPr>
          <p:spPr bwMode="auto">
            <a:xfrm>
              <a:off x="2688" y="3264"/>
              <a:ext cx="576" cy="816"/>
            </a:xfrm>
            <a:custGeom>
              <a:avLst/>
              <a:gdLst>
                <a:gd name="T0" fmla="*/ 0 w 576"/>
                <a:gd name="T1" fmla="*/ 0 h 816"/>
                <a:gd name="T2" fmla="*/ 0 w 576"/>
                <a:gd name="T3" fmla="*/ 816 h 816"/>
                <a:gd name="T4" fmla="*/ 576 w 576"/>
                <a:gd name="T5" fmla="*/ 816 h 816"/>
                <a:gd name="T6" fmla="*/ 576 w 576"/>
                <a:gd name="T7" fmla="*/ 0 h 8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"/>
                <a:gd name="T13" fmla="*/ 0 h 816"/>
                <a:gd name="T14" fmla="*/ 576 w 576"/>
                <a:gd name="T15" fmla="*/ 816 h 8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" h="816">
                  <a:moveTo>
                    <a:pt x="0" y="0"/>
                  </a:moveTo>
                  <a:lnTo>
                    <a:pt x="0" y="816"/>
                  </a:lnTo>
                  <a:lnTo>
                    <a:pt x="576" y="816"/>
                  </a:lnTo>
                  <a:lnTo>
                    <a:pt x="576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24591" name="Oval 5"/>
            <p:cNvSpPr>
              <a:spLocks noChangeArrowheads="1"/>
            </p:cNvSpPr>
            <p:nvPr/>
          </p:nvSpPr>
          <p:spPr bwMode="auto">
            <a:xfrm>
              <a:off x="2784" y="336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24592" name="Oval 6"/>
            <p:cNvSpPr>
              <a:spLocks noChangeArrowheads="1"/>
            </p:cNvSpPr>
            <p:nvPr/>
          </p:nvSpPr>
          <p:spPr bwMode="auto">
            <a:xfrm>
              <a:off x="3024" y="348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24593" name="Oval 7"/>
            <p:cNvSpPr>
              <a:spLocks noChangeArrowheads="1"/>
            </p:cNvSpPr>
            <p:nvPr/>
          </p:nvSpPr>
          <p:spPr bwMode="auto">
            <a:xfrm>
              <a:off x="2784" y="384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24594" name="Oval 8"/>
            <p:cNvSpPr>
              <a:spLocks noChangeArrowheads="1"/>
            </p:cNvSpPr>
            <p:nvPr/>
          </p:nvSpPr>
          <p:spPr bwMode="auto">
            <a:xfrm>
              <a:off x="2784" y="3600"/>
              <a:ext cx="144" cy="14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24595" name="Oval 9"/>
            <p:cNvSpPr>
              <a:spLocks noChangeArrowheads="1"/>
            </p:cNvSpPr>
            <p:nvPr/>
          </p:nvSpPr>
          <p:spPr bwMode="auto">
            <a:xfrm>
              <a:off x="3024" y="3696"/>
              <a:ext cx="144" cy="14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24596" name="Oval 10"/>
            <p:cNvSpPr>
              <a:spLocks noChangeArrowheads="1"/>
            </p:cNvSpPr>
            <p:nvPr/>
          </p:nvSpPr>
          <p:spPr bwMode="auto">
            <a:xfrm>
              <a:off x="3024" y="3264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24597" name="Oval 11"/>
            <p:cNvSpPr>
              <a:spLocks noChangeArrowheads="1"/>
            </p:cNvSpPr>
            <p:nvPr/>
          </p:nvSpPr>
          <p:spPr bwMode="auto">
            <a:xfrm>
              <a:off x="3024" y="3912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sp>
        <p:nvSpPr>
          <p:cNvPr id="24580" name="Text Box 12"/>
          <p:cNvSpPr txBox="1">
            <a:spLocks noChangeArrowheads="1"/>
          </p:cNvSpPr>
          <p:nvPr/>
        </p:nvSpPr>
        <p:spPr bwMode="auto">
          <a:xfrm>
            <a:off x="5410200" y="3140075"/>
            <a:ext cx="1752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X</a:t>
            </a:r>
            <a:r>
              <a:rPr lang="pt-BR" altLang="pt-BR" sz="1600">
                <a:latin typeface="Times New Roman" pitchFamily="18" charset="0"/>
              </a:rPr>
              <a:t>: {0, 1, 2, ..., </a:t>
            </a:r>
            <a:r>
              <a:rPr lang="pt-BR" altLang="pt-BR" sz="1600">
                <a:latin typeface="Times New Roman" pitchFamily="18" charset="0"/>
                <a:sym typeface="Symbol" pitchFamily="18" charset="2"/>
              </a:rPr>
              <a:t></a:t>
            </a:r>
            <a:r>
              <a:rPr lang="pt-BR" altLang="pt-BR" sz="1600">
                <a:latin typeface="Times New Roman" pitchFamily="18" charset="0"/>
              </a:rPr>
              <a:t>}</a:t>
            </a:r>
          </a:p>
        </p:txBody>
      </p:sp>
      <p:graphicFrame>
        <p:nvGraphicFramePr>
          <p:cNvPr id="2458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6923641"/>
              </p:ext>
            </p:extLst>
          </p:nvPr>
        </p:nvGraphicFramePr>
        <p:xfrm>
          <a:off x="3181350" y="3143250"/>
          <a:ext cx="1057275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36600" imgH="228600" progId="Equation.DSMT4">
                  <p:embed/>
                </p:oleObj>
              </mc:Choice>
              <mc:Fallback>
                <p:oleObj name="Equation" r:id="rId2" imgW="736600" imgH="228600" progId="Equation.DSMT4">
                  <p:embed/>
                  <p:pic>
                    <p:nvPicPr>
                      <p:cNvPr id="24581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1350" y="3143250"/>
                        <a:ext cx="1057275" cy="3270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775" name="Object 15"/>
          <p:cNvGraphicFramePr>
            <a:graphicFrameLocks noChangeAspect="1"/>
          </p:cNvGraphicFramePr>
          <p:nvPr/>
        </p:nvGraphicFramePr>
        <p:xfrm>
          <a:off x="3189288" y="3810000"/>
          <a:ext cx="963612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72808" imgH="418918" progId="Equation.DSMT4">
                  <p:embed/>
                </p:oleObj>
              </mc:Choice>
              <mc:Fallback>
                <p:oleObj name="Equation" r:id="rId4" imgW="672808" imgH="418918" progId="Equation.DSMT4">
                  <p:embed/>
                  <p:pic>
                    <p:nvPicPr>
                      <p:cNvPr id="117775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9288" y="3810000"/>
                        <a:ext cx="963612" cy="600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779" name="Object 19"/>
          <p:cNvGraphicFramePr>
            <a:graphicFrameLocks noChangeAspect="1"/>
          </p:cNvGraphicFramePr>
          <p:nvPr/>
        </p:nvGraphicFramePr>
        <p:xfrm>
          <a:off x="3194050" y="4505325"/>
          <a:ext cx="1216025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850531" imgH="418918" progId="Equation.DSMT4">
                  <p:embed/>
                </p:oleObj>
              </mc:Choice>
              <mc:Fallback>
                <p:oleObj name="Equation" r:id="rId6" imgW="850531" imgH="418918" progId="Equation.DSMT4">
                  <p:embed/>
                  <p:pic>
                    <p:nvPicPr>
                      <p:cNvPr id="117779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4050" y="4505325"/>
                        <a:ext cx="1216025" cy="600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5" name="Text Box 25"/>
          <p:cNvSpPr txBox="1">
            <a:spLocks noChangeArrowheads="1"/>
          </p:cNvSpPr>
          <p:nvPr/>
        </p:nvSpPr>
        <p:spPr bwMode="auto">
          <a:xfrm>
            <a:off x="838200" y="2971800"/>
            <a:ext cx="9144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p</a:t>
            </a:r>
            <a:r>
              <a:rPr lang="pt-BR" altLang="pt-BR" sz="1600">
                <a:latin typeface="Times New Roman" pitchFamily="18" charset="0"/>
              </a:rPr>
              <a:t> = 5/7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q</a:t>
            </a:r>
            <a:r>
              <a:rPr lang="pt-BR" altLang="pt-BR" sz="1600">
                <a:latin typeface="Times New Roman" pitchFamily="18" charset="0"/>
              </a:rPr>
              <a:t> = 2/7</a:t>
            </a:r>
          </a:p>
        </p:txBody>
      </p:sp>
      <p:graphicFrame>
        <p:nvGraphicFramePr>
          <p:cNvPr id="117786" name="Object 26"/>
          <p:cNvGraphicFramePr>
            <a:graphicFrameLocks noChangeAspect="1"/>
          </p:cNvGraphicFramePr>
          <p:nvPr/>
        </p:nvGraphicFramePr>
        <p:xfrm>
          <a:off x="4249738" y="2971800"/>
          <a:ext cx="855662" cy="671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96900" imgH="469900" progId="Equation.DSMT4">
                  <p:embed/>
                </p:oleObj>
              </mc:Choice>
              <mc:Fallback>
                <p:oleObj name="Equation" r:id="rId8" imgW="596900" imgH="469900" progId="Equation.DSMT4">
                  <p:embed/>
                  <p:pic>
                    <p:nvPicPr>
                      <p:cNvPr id="117786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9738" y="2971800"/>
                        <a:ext cx="855662" cy="671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787" name="Object 27"/>
          <p:cNvGraphicFramePr>
            <a:graphicFrameLocks noChangeAspect="1"/>
          </p:cNvGraphicFramePr>
          <p:nvPr/>
        </p:nvGraphicFramePr>
        <p:xfrm>
          <a:off x="4171950" y="3817938"/>
          <a:ext cx="1435100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002865" imgH="393529" progId="Equation.DSMT4">
                  <p:embed/>
                </p:oleObj>
              </mc:Choice>
              <mc:Fallback>
                <p:oleObj name="Equation" r:id="rId10" imgW="1002865" imgH="393529" progId="Equation.DSMT4">
                  <p:embed/>
                  <p:pic>
                    <p:nvPicPr>
                      <p:cNvPr id="117787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1950" y="3817938"/>
                        <a:ext cx="1435100" cy="563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788" name="Object 28"/>
          <p:cNvGraphicFramePr>
            <a:graphicFrameLocks noChangeAspect="1"/>
          </p:cNvGraphicFramePr>
          <p:nvPr/>
        </p:nvGraphicFramePr>
        <p:xfrm>
          <a:off x="4427538" y="4505325"/>
          <a:ext cx="1744662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218671" imgH="393529" progId="Equation.DSMT4">
                  <p:embed/>
                </p:oleObj>
              </mc:Choice>
              <mc:Fallback>
                <p:oleObj name="Equation" r:id="rId12" imgW="1218671" imgH="393529" progId="Equation.DSMT4">
                  <p:embed/>
                  <p:pic>
                    <p:nvPicPr>
                      <p:cNvPr id="117788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7538" y="4505325"/>
                        <a:ext cx="1744662" cy="563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0E7C030-79C7-46BC-B408-699D648C2C28}" type="slidenum">
              <a:rPr lang="pt-BR"/>
              <a:pPr>
                <a:defRPr/>
              </a:pPr>
              <a:t>30</a:t>
            </a:fld>
            <a:endParaRPr lang="pt-BR"/>
          </a:p>
        </p:txBody>
      </p:sp>
      <p:grpSp>
        <p:nvGrpSpPr>
          <p:cNvPr id="22" name="Grupo 21"/>
          <p:cNvGrpSpPr>
            <a:grpSpLocks/>
          </p:cNvGrpSpPr>
          <p:nvPr/>
        </p:nvGrpSpPr>
        <p:grpSpPr bwMode="auto">
          <a:xfrm>
            <a:off x="323850" y="5373688"/>
            <a:ext cx="8435975" cy="1368425"/>
            <a:chOff x="366592" y="5373216"/>
            <a:chExt cx="8436480" cy="1368152"/>
          </a:xfrm>
        </p:grpSpPr>
        <p:sp>
          <p:nvSpPr>
            <p:cNvPr id="23" name="Text Box 48"/>
            <p:cNvSpPr txBox="1">
              <a:spLocks noChangeArrowheads="1"/>
            </p:cNvSpPr>
            <p:nvPr/>
          </p:nvSpPr>
          <p:spPr bwMode="auto">
            <a:xfrm>
              <a:off x="366592" y="5373216"/>
              <a:ext cx="8436480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177800" indent="-177800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solidFill>
                    <a:srgbClr val="FF0000"/>
                  </a:solidFill>
                  <a:latin typeface="Tahoma" panose="020B0604030504040204" pitchFamily="34" charset="0"/>
                </a:rPr>
                <a:t>Importante: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Algumas vezes, esta </a:t>
              </a:r>
              <a:r>
                <a:rPr lang="pt-BR" altLang="pt-BR" sz="1600" dirty="0" err="1">
                  <a:latin typeface="Tahoma" panose="020B0604030504040204" pitchFamily="34" charset="0"/>
                </a:rPr>
                <a:t>v.a</a:t>
              </a:r>
              <a:r>
                <a:rPr lang="pt-BR" altLang="pt-BR" sz="1600" dirty="0">
                  <a:latin typeface="Tahoma" panose="020B0604030504040204" pitchFamily="34" charset="0"/>
                </a:rPr>
                <a:t>. refere-se ao número total de tentativas até se conseguir o sucesso. Nesse caso </a:t>
              </a:r>
              <a:r>
                <a:rPr lang="pt-BR" altLang="pt-BR" sz="16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pt-BR" altLang="pt-B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= </a:t>
              </a:r>
              <a:r>
                <a:rPr lang="pt-BR" altLang="pt-BR" sz="16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pt-BR" altLang="pt-B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+ 1</a:t>
              </a:r>
            </a:p>
          </p:txBody>
        </p:sp>
        <p:graphicFrame>
          <p:nvGraphicFramePr>
            <p:cNvPr id="24" name="Objeto 2"/>
            <p:cNvGraphicFramePr>
              <a:graphicFrameLocks noChangeAspect="1"/>
            </p:cNvGraphicFramePr>
            <p:nvPr/>
          </p:nvGraphicFramePr>
          <p:xfrm>
            <a:off x="3309993" y="6242992"/>
            <a:ext cx="1185934" cy="3269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825480" imgH="228600" progId="Equation.DSMT4">
                    <p:embed/>
                  </p:oleObj>
                </mc:Choice>
                <mc:Fallback>
                  <p:oleObj name="Equation" r:id="rId14" imgW="825480" imgH="228600" progId="Equation.DSMT4">
                    <p:embed/>
                    <p:pic>
                      <p:nvPicPr>
                        <p:cNvPr id="24" name="Objeto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09993" y="6242992"/>
                          <a:ext cx="1185934" cy="3269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" name="Retângulo 4"/>
            <p:cNvSpPr>
              <a:spLocks noChangeArrowheads="1"/>
            </p:cNvSpPr>
            <p:nvPr/>
          </p:nvSpPr>
          <p:spPr bwMode="auto">
            <a:xfrm>
              <a:off x="986202" y="6237312"/>
              <a:ext cx="1467156" cy="3384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i="1" dirty="0">
                  <a:latin typeface="Times New Roman" pitchFamily="18" charset="0"/>
                </a:rPr>
                <a:t>Y</a:t>
              </a:r>
              <a:r>
                <a:rPr lang="pt-BR" altLang="pt-BR" sz="1600" dirty="0">
                  <a:latin typeface="Times New Roman" pitchFamily="18" charset="0"/>
                </a:rPr>
                <a:t>: {1, 2, ..., </a:t>
              </a:r>
              <a:r>
                <a:rPr lang="pt-BR" altLang="pt-BR" sz="1600" dirty="0">
                  <a:latin typeface="Times New Roman" pitchFamily="18" charset="0"/>
                  <a:sym typeface="Symbol" pitchFamily="18" charset="2"/>
                </a:rPr>
                <a:t></a:t>
              </a:r>
              <a:r>
                <a:rPr lang="pt-BR" altLang="pt-BR" sz="1600" dirty="0">
                  <a:latin typeface="Times New Roman" pitchFamily="18" charset="0"/>
                </a:rPr>
                <a:t>} 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graphicFrame>
          <p:nvGraphicFramePr>
            <p:cNvPr id="26" name="Objeto 6"/>
            <p:cNvGraphicFramePr>
              <a:graphicFrameLocks noChangeAspect="1"/>
            </p:cNvGraphicFramePr>
            <p:nvPr/>
          </p:nvGraphicFramePr>
          <p:xfrm>
            <a:off x="5311951" y="6106495"/>
            <a:ext cx="906516" cy="6015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634680" imgH="419040" progId="Equation.DSMT4">
                    <p:embed/>
                  </p:oleObj>
                </mc:Choice>
                <mc:Fallback>
                  <p:oleObj name="Equation" r:id="rId16" imgW="634680" imgH="419040" progId="Equation.DSMT4">
                    <p:embed/>
                    <p:pic>
                      <p:nvPicPr>
                        <p:cNvPr id="26" name="Objeto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11951" y="6106495"/>
                          <a:ext cx="906516" cy="6015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" name="Objeto 7"/>
            <p:cNvGraphicFramePr>
              <a:graphicFrameLocks noChangeAspect="1"/>
            </p:cNvGraphicFramePr>
            <p:nvPr/>
          </p:nvGraphicFramePr>
          <p:xfrm>
            <a:off x="6729271" y="6105758"/>
            <a:ext cx="1169988" cy="6016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812520" imgH="419040" progId="Equation.DSMT4">
                    <p:embed/>
                  </p:oleObj>
                </mc:Choice>
                <mc:Fallback>
                  <p:oleObj name="Equation" r:id="rId18" imgW="812520" imgH="419040" progId="Equation.DSMT4">
                    <p:embed/>
                    <p:pic>
                      <p:nvPicPr>
                        <p:cNvPr id="27" name="Objeto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29271" y="6105758"/>
                          <a:ext cx="1169988" cy="6016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" name="Retângulo 27"/>
            <p:cNvSpPr/>
            <p:nvPr/>
          </p:nvSpPr>
          <p:spPr>
            <a:xfrm>
              <a:off x="366592" y="5373216"/>
              <a:ext cx="8436480" cy="136815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</p:grpSp>
      <p:sp>
        <p:nvSpPr>
          <p:cNvPr id="3" name="Text Box 3">
            <a:extLst>
              <a:ext uri="{FF2B5EF4-FFF2-40B4-BE49-F238E27FC236}">
                <a16:creationId xmlns:a16="http://schemas.microsoft.com/office/drawing/2014/main" id="{3C57B08F-7DCB-DBE8-3416-B1D9DED7D6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1600200"/>
            <a:ext cx="6705600" cy="106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Considere o experimento: retiram-se bolas da urna (com reposição), até que se consiga uma bola vermelha. Define-se uma v.a. </a:t>
            </a:r>
            <a:r>
              <a:rPr lang="pt-BR" altLang="pt-BR" sz="1600" i="1" dirty="0">
                <a:latin typeface="Times New Roman" pitchFamily="18" charset="0"/>
              </a:rPr>
              <a:t>X</a:t>
            </a:r>
            <a:r>
              <a:rPr lang="pt-BR" altLang="pt-BR" sz="1600" dirty="0">
                <a:latin typeface="Tahoma" panose="020B0604030504040204" pitchFamily="34" charset="0"/>
              </a:rPr>
              <a:t> cujos valores representam o número total de bolas azuis (fracassos) retiradas da urna até obter uma bola vermelha (sucesso).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7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7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7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7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7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Object 16"/>
          <p:cNvGraphicFramePr>
            <a:graphicFrameLocks noChangeAspect="1"/>
          </p:cNvGraphicFramePr>
          <p:nvPr/>
        </p:nvGraphicFramePr>
        <p:xfrm>
          <a:off x="7020272" y="4795443"/>
          <a:ext cx="960437" cy="60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72808" imgH="418918" progId="Equation.DSMT4">
                  <p:embed/>
                </p:oleObj>
              </mc:Choice>
              <mc:Fallback>
                <p:oleObj name="Equation" r:id="rId2" imgW="672808" imgH="418918" progId="Equation.DSMT4">
                  <p:embed/>
                  <p:pic>
                    <p:nvPicPr>
                      <p:cNvPr id="2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20272" y="4795443"/>
                        <a:ext cx="960437" cy="601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17"/>
          <p:cNvGraphicFramePr>
            <a:graphicFrameLocks noChangeAspect="1"/>
          </p:cNvGraphicFramePr>
          <p:nvPr/>
        </p:nvGraphicFramePr>
        <p:xfrm>
          <a:off x="7006397" y="5259397"/>
          <a:ext cx="1223963" cy="60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50531" imgH="418918" progId="Equation.DSMT4">
                  <p:embed/>
                </p:oleObj>
              </mc:Choice>
              <mc:Fallback>
                <p:oleObj name="Equation" r:id="rId4" imgW="850531" imgH="418918" progId="Equation.DSMT4">
                  <p:embed/>
                  <p:pic>
                    <p:nvPicPr>
                      <p:cNvPr id="21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06397" y="5259397"/>
                        <a:ext cx="1223963" cy="601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upo 4"/>
          <p:cNvGrpSpPr/>
          <p:nvPr/>
        </p:nvGrpSpPr>
        <p:grpSpPr>
          <a:xfrm>
            <a:off x="971600" y="2219266"/>
            <a:ext cx="3600000" cy="2160000"/>
            <a:chOff x="971600" y="2219266"/>
            <a:chExt cx="3600000" cy="2160000"/>
          </a:xfrm>
        </p:grpSpPr>
        <p:pic>
          <p:nvPicPr>
            <p:cNvPr id="34821" name="Picture 5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1600" y="2219266"/>
              <a:ext cx="3600000" cy="2160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1" name="CaixaDeTexto 10"/>
            <p:cNvSpPr txBox="1"/>
            <p:nvPr/>
          </p:nvSpPr>
          <p:spPr>
            <a:xfrm>
              <a:off x="4340328" y="3968913"/>
              <a:ext cx="208268" cy="153888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pt-BR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pt-BR" sz="1000" dirty="0">
                  <a:latin typeface="Tahoma" panose="020B0604030504040204" pitchFamily="34" charset="0"/>
                  <a:sym typeface="Symbol"/>
                </a:rPr>
                <a:t></a:t>
              </a:r>
              <a:endParaRPr lang="pt-BR" sz="1000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3" name="Grupo 2"/>
          <p:cNvGrpSpPr/>
          <p:nvPr/>
        </p:nvGrpSpPr>
        <p:grpSpPr>
          <a:xfrm>
            <a:off x="4932040" y="2219266"/>
            <a:ext cx="3600000" cy="2160000"/>
            <a:chOff x="4932040" y="2219266"/>
            <a:chExt cx="3600000" cy="2160000"/>
          </a:xfrm>
        </p:grpSpPr>
        <p:pic>
          <p:nvPicPr>
            <p:cNvPr id="34819" name="Picture 3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32040" y="2219266"/>
              <a:ext cx="3600000" cy="2160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2" name="CaixaDeTexto 11"/>
            <p:cNvSpPr txBox="1"/>
            <p:nvPr/>
          </p:nvSpPr>
          <p:spPr>
            <a:xfrm>
              <a:off x="8281357" y="3973313"/>
              <a:ext cx="221927" cy="153888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pt-BR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pt-BR" sz="1000" dirty="0">
                  <a:latin typeface="Tahoma" panose="020B0604030504040204" pitchFamily="34" charset="0"/>
                  <a:sym typeface="Symbol"/>
                </a:rPr>
                <a:t></a:t>
              </a:r>
              <a:endParaRPr lang="pt-BR" sz="1000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6" name="Grupo 5"/>
          <p:cNvGrpSpPr/>
          <p:nvPr/>
        </p:nvGrpSpPr>
        <p:grpSpPr>
          <a:xfrm>
            <a:off x="2951820" y="4307498"/>
            <a:ext cx="3600000" cy="2160000"/>
            <a:chOff x="2951820" y="4307498"/>
            <a:chExt cx="3600000" cy="2160000"/>
          </a:xfrm>
        </p:grpSpPr>
        <p:pic>
          <p:nvPicPr>
            <p:cNvPr id="34818" name="Picture 2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51820" y="4307498"/>
              <a:ext cx="3600000" cy="2160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3" name="CaixaDeTexto 12"/>
            <p:cNvSpPr txBox="1"/>
            <p:nvPr/>
          </p:nvSpPr>
          <p:spPr>
            <a:xfrm>
              <a:off x="6300191" y="6058790"/>
              <a:ext cx="228117" cy="153888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pt-BR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pt-BR" sz="1000" dirty="0">
                  <a:latin typeface="Tahoma" panose="020B0604030504040204" pitchFamily="34" charset="0"/>
                  <a:sym typeface="Symbol"/>
                </a:rPr>
                <a:t></a:t>
              </a:r>
              <a:endParaRPr lang="pt-BR" sz="1000" dirty="0">
                <a:latin typeface="Tahoma" panose="020B0604030504040204" pitchFamily="34" charset="0"/>
              </a:endParaRPr>
            </a:p>
          </p:txBody>
        </p:sp>
      </p:grpSp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Distribuição Geométrica</a:t>
            </a:r>
          </a:p>
        </p:txBody>
      </p:sp>
      <p:sp>
        <p:nvSpPr>
          <p:cNvPr id="7174" name="Text Box 3"/>
          <p:cNvSpPr txBox="1">
            <a:spLocks noChangeArrowheads="1"/>
          </p:cNvSpPr>
          <p:nvPr/>
        </p:nvSpPr>
        <p:spPr bwMode="auto">
          <a:xfrm>
            <a:off x="841375" y="1600200"/>
            <a:ext cx="784542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55600" indent="-35560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Exemplos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E7AD0D1-23E4-46ED-8741-3B96CDA51087}" type="slidenum">
              <a:rPr lang="pt-BR"/>
              <a:pPr>
                <a:defRPr/>
              </a:pPr>
              <a:t>31</a:t>
            </a:fld>
            <a:endParaRPr lang="pt-BR"/>
          </a:p>
        </p:txBody>
      </p:sp>
      <p:sp>
        <p:nvSpPr>
          <p:cNvPr id="4" name="CaixaDeTexto 3"/>
          <p:cNvSpPr txBox="1"/>
          <p:nvPr/>
        </p:nvSpPr>
        <p:spPr>
          <a:xfrm>
            <a:off x="2373421" y="2903458"/>
            <a:ext cx="8643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0,05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6732040" y="2903458"/>
            <a:ext cx="7617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0,2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4551166" y="5048944"/>
            <a:ext cx="7617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0,4</a:t>
            </a:r>
          </a:p>
        </p:txBody>
      </p:sp>
      <p:sp>
        <p:nvSpPr>
          <p:cNvPr id="19" name="Text Box 4"/>
          <p:cNvSpPr txBox="1">
            <a:spLocks noChangeArrowheads="1"/>
          </p:cNvSpPr>
          <p:nvPr/>
        </p:nvSpPr>
        <p:spPr bwMode="auto">
          <a:xfrm>
            <a:off x="210220" y="6476586"/>
            <a:ext cx="8001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Em que situação a média e a variância são maiores?</a:t>
            </a:r>
          </a:p>
        </p:txBody>
      </p:sp>
    </p:spTree>
    <p:extLst>
      <p:ext uri="{BB962C8B-B14F-4D97-AF65-F5344CB8AC3E}">
        <p14:creationId xmlns:p14="http://schemas.microsoft.com/office/powerpoint/2010/main" val="232062818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Objeto 21"/>
          <p:cNvGraphicFramePr>
            <a:graphicFrameLocks noChangeAspect="1"/>
          </p:cNvGraphicFramePr>
          <p:nvPr/>
        </p:nvGraphicFramePr>
        <p:xfrm>
          <a:off x="1979613" y="4076700"/>
          <a:ext cx="1033462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23586" imgH="203112" progId="Equation.DSMT4">
                  <p:embed/>
                </p:oleObj>
              </mc:Choice>
              <mc:Fallback>
                <p:oleObj name="Equation" r:id="rId2" imgW="723586" imgH="203112" progId="Equation.DSMT4">
                  <p:embed/>
                  <p:pic>
                    <p:nvPicPr>
                      <p:cNvPr id="22" name="Objeto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4076700"/>
                        <a:ext cx="1033462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16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Distribuição Geométrica</a:t>
            </a:r>
          </a:p>
        </p:txBody>
      </p:sp>
      <p:sp>
        <p:nvSpPr>
          <p:cNvPr id="13316" name="Text Box 3"/>
          <p:cNvSpPr txBox="1">
            <a:spLocks noChangeArrowheads="1"/>
          </p:cNvSpPr>
          <p:nvPr/>
        </p:nvSpPr>
        <p:spPr bwMode="auto">
          <a:xfrm>
            <a:off x="1835150" y="1416050"/>
            <a:ext cx="6858000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77800" indent="-17780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Exemplo: retiram-se bolas da urna (com reposição), até que se consiga uma bola vermelha. Define-se uma v.a. </a:t>
            </a:r>
            <a:r>
              <a:rPr lang="pt-BR" altLang="pt-BR" sz="1600" i="1" dirty="0">
                <a:latin typeface="Times New Roman" pitchFamily="18" charset="0"/>
              </a:rPr>
              <a:t>X</a:t>
            </a:r>
            <a:r>
              <a:rPr lang="pt-BR" altLang="pt-BR" sz="1600" dirty="0">
                <a:latin typeface="Tahoma" panose="020B0604030504040204" pitchFamily="34" charset="0"/>
              </a:rPr>
              <a:t> cujos valores representam o número total de bolas azuis (fracassos) retiradas da urna até obter uma bola vermelha (sucesso).</a:t>
            </a:r>
          </a:p>
        </p:txBody>
      </p:sp>
      <p:grpSp>
        <p:nvGrpSpPr>
          <p:cNvPr id="13317" name="Group 4"/>
          <p:cNvGrpSpPr>
            <a:grpSpLocks/>
          </p:cNvGrpSpPr>
          <p:nvPr/>
        </p:nvGrpSpPr>
        <p:grpSpPr bwMode="auto">
          <a:xfrm>
            <a:off x="838200" y="1447800"/>
            <a:ext cx="914400" cy="1295400"/>
            <a:chOff x="2688" y="3264"/>
            <a:chExt cx="576" cy="816"/>
          </a:xfrm>
        </p:grpSpPr>
        <p:sp>
          <p:nvSpPr>
            <p:cNvPr id="13325" name="Freeform 5"/>
            <p:cNvSpPr>
              <a:spLocks/>
            </p:cNvSpPr>
            <p:nvPr/>
          </p:nvSpPr>
          <p:spPr bwMode="auto">
            <a:xfrm>
              <a:off x="2688" y="3264"/>
              <a:ext cx="576" cy="816"/>
            </a:xfrm>
            <a:custGeom>
              <a:avLst/>
              <a:gdLst>
                <a:gd name="T0" fmla="*/ 0 w 576"/>
                <a:gd name="T1" fmla="*/ 0 h 816"/>
                <a:gd name="T2" fmla="*/ 0 w 576"/>
                <a:gd name="T3" fmla="*/ 816 h 816"/>
                <a:gd name="T4" fmla="*/ 576 w 576"/>
                <a:gd name="T5" fmla="*/ 816 h 816"/>
                <a:gd name="T6" fmla="*/ 576 w 576"/>
                <a:gd name="T7" fmla="*/ 0 h 8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"/>
                <a:gd name="T13" fmla="*/ 0 h 816"/>
                <a:gd name="T14" fmla="*/ 576 w 576"/>
                <a:gd name="T15" fmla="*/ 816 h 8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" h="816">
                  <a:moveTo>
                    <a:pt x="0" y="0"/>
                  </a:moveTo>
                  <a:lnTo>
                    <a:pt x="0" y="816"/>
                  </a:lnTo>
                  <a:lnTo>
                    <a:pt x="576" y="816"/>
                  </a:lnTo>
                  <a:lnTo>
                    <a:pt x="576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13326" name="Oval 6"/>
            <p:cNvSpPr>
              <a:spLocks noChangeArrowheads="1"/>
            </p:cNvSpPr>
            <p:nvPr/>
          </p:nvSpPr>
          <p:spPr bwMode="auto">
            <a:xfrm>
              <a:off x="2784" y="336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3327" name="Oval 7"/>
            <p:cNvSpPr>
              <a:spLocks noChangeArrowheads="1"/>
            </p:cNvSpPr>
            <p:nvPr/>
          </p:nvSpPr>
          <p:spPr bwMode="auto">
            <a:xfrm>
              <a:off x="3024" y="348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3328" name="Oval 8"/>
            <p:cNvSpPr>
              <a:spLocks noChangeArrowheads="1"/>
            </p:cNvSpPr>
            <p:nvPr/>
          </p:nvSpPr>
          <p:spPr bwMode="auto">
            <a:xfrm>
              <a:off x="2784" y="384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3329" name="Oval 9"/>
            <p:cNvSpPr>
              <a:spLocks noChangeArrowheads="1"/>
            </p:cNvSpPr>
            <p:nvPr/>
          </p:nvSpPr>
          <p:spPr bwMode="auto">
            <a:xfrm>
              <a:off x="2784" y="3600"/>
              <a:ext cx="144" cy="14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3330" name="Oval 10"/>
            <p:cNvSpPr>
              <a:spLocks noChangeArrowheads="1"/>
            </p:cNvSpPr>
            <p:nvPr/>
          </p:nvSpPr>
          <p:spPr bwMode="auto">
            <a:xfrm>
              <a:off x="3024" y="3696"/>
              <a:ext cx="144" cy="14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3331" name="Oval 11"/>
            <p:cNvSpPr>
              <a:spLocks noChangeArrowheads="1"/>
            </p:cNvSpPr>
            <p:nvPr/>
          </p:nvSpPr>
          <p:spPr bwMode="auto">
            <a:xfrm>
              <a:off x="3024" y="3264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3332" name="Oval 12"/>
            <p:cNvSpPr>
              <a:spLocks noChangeArrowheads="1"/>
            </p:cNvSpPr>
            <p:nvPr/>
          </p:nvSpPr>
          <p:spPr bwMode="auto">
            <a:xfrm>
              <a:off x="3024" y="3912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sp>
        <p:nvSpPr>
          <p:cNvPr id="13318" name="Text Box 23"/>
          <p:cNvSpPr txBox="1">
            <a:spLocks noChangeArrowheads="1"/>
          </p:cNvSpPr>
          <p:nvPr/>
        </p:nvSpPr>
        <p:spPr bwMode="auto">
          <a:xfrm>
            <a:off x="838200" y="2971800"/>
            <a:ext cx="9144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p</a:t>
            </a:r>
            <a:r>
              <a:rPr lang="pt-BR" altLang="pt-BR" sz="1600">
                <a:latin typeface="Times New Roman" pitchFamily="18" charset="0"/>
              </a:rPr>
              <a:t> = 5/7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q</a:t>
            </a:r>
            <a:r>
              <a:rPr lang="pt-BR" altLang="pt-BR" sz="1600">
                <a:latin typeface="Times New Roman" pitchFamily="18" charset="0"/>
              </a:rPr>
              <a:t> = 2/7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07F11AF-6562-4636-9E1E-0A146BE0309A}" type="slidenum">
              <a:rPr lang="pt-BR"/>
              <a:pPr>
                <a:defRPr/>
              </a:pPr>
              <a:t>32</a:t>
            </a:fld>
            <a:endParaRPr lang="pt-BR"/>
          </a:p>
        </p:txBody>
      </p:sp>
      <p:sp>
        <p:nvSpPr>
          <p:cNvPr id="9223" name="Text Box 3"/>
          <p:cNvSpPr txBox="1">
            <a:spLocks noChangeArrowheads="1"/>
          </p:cNvSpPr>
          <p:nvPr/>
        </p:nvSpPr>
        <p:spPr bwMode="auto">
          <a:xfrm>
            <a:off x="1835150" y="2555875"/>
            <a:ext cx="7272338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Qual a probabilidade de se obter a bola vermelha somente na 3</a:t>
            </a:r>
            <a:r>
              <a:rPr lang="pt-BR" altLang="pt-BR" sz="1600" u="sng" baseline="30000" dirty="0">
                <a:latin typeface="Tahoma" panose="020B0604030504040204" pitchFamily="34" charset="0"/>
              </a:rPr>
              <a:t>a</a:t>
            </a:r>
            <a:r>
              <a:rPr lang="pt-BR" altLang="pt-BR" sz="1600" dirty="0">
                <a:latin typeface="Tahoma" panose="020B0604030504040204" pitchFamily="34" charset="0"/>
              </a:rPr>
              <a:t> tentativa?</a:t>
            </a:r>
          </a:p>
        </p:txBody>
      </p:sp>
      <p:sp>
        <p:nvSpPr>
          <p:cNvPr id="17" name="Rectangle 22"/>
          <p:cNvSpPr>
            <a:spLocks noChangeArrowheads="1"/>
          </p:cNvSpPr>
          <p:nvPr/>
        </p:nvSpPr>
        <p:spPr bwMode="auto">
          <a:xfrm>
            <a:off x="1979613" y="3068638"/>
            <a:ext cx="1584325" cy="3683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i="1">
                <a:latin typeface="Times New Roman" pitchFamily="18" charset="0"/>
              </a:rPr>
              <a:t>X</a:t>
            </a:r>
            <a:r>
              <a:rPr lang="pt-BR" altLang="pt-BR" sz="1800">
                <a:latin typeface="Times New Roman" pitchFamily="18" charset="0"/>
              </a:rPr>
              <a:t>: {0, 1, ..., </a:t>
            </a:r>
            <a:r>
              <a:rPr lang="pt-BR" altLang="pt-BR" sz="1800">
                <a:latin typeface="Times New Roman" pitchFamily="18" charset="0"/>
                <a:sym typeface="Symbol" pitchFamily="18" charset="2"/>
              </a:rPr>
              <a:t></a:t>
            </a:r>
            <a:r>
              <a:rPr lang="pt-BR" altLang="pt-BR" sz="1800">
                <a:latin typeface="Times New Roman" pitchFamily="18" charset="0"/>
              </a:rPr>
              <a:t>}</a:t>
            </a:r>
          </a:p>
        </p:txBody>
      </p:sp>
      <p:graphicFrame>
        <p:nvGraphicFramePr>
          <p:cNvPr id="3" name="Objeto 2"/>
          <p:cNvGraphicFramePr>
            <a:graphicFrameLocks noChangeAspect="1"/>
          </p:cNvGraphicFramePr>
          <p:nvPr/>
        </p:nvGraphicFramePr>
        <p:xfrm>
          <a:off x="1979613" y="3860800"/>
          <a:ext cx="1922462" cy="674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46200" imgH="469900" progId="Equation.DSMT4">
                  <p:embed/>
                </p:oleObj>
              </mc:Choice>
              <mc:Fallback>
                <p:oleObj name="Equation" r:id="rId4" imgW="1346200" imgH="469900" progId="Equation.DSMT4">
                  <p:embed/>
                  <p:pic>
                    <p:nvPicPr>
                      <p:cNvPr id="3" name="Objeto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3860800"/>
                        <a:ext cx="1922462" cy="67468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to 19"/>
          <p:cNvGraphicFramePr>
            <a:graphicFrameLocks noChangeAspect="1"/>
          </p:cNvGraphicFramePr>
          <p:nvPr/>
        </p:nvGraphicFramePr>
        <p:xfrm>
          <a:off x="3924300" y="3924300"/>
          <a:ext cx="671513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69696" imgH="393529" progId="Equation.DSMT4">
                  <p:embed/>
                </p:oleObj>
              </mc:Choice>
              <mc:Fallback>
                <p:oleObj name="Equation" r:id="rId6" imgW="469696" imgH="393529" progId="Equation.DSMT4">
                  <p:embed/>
                  <p:pic>
                    <p:nvPicPr>
                      <p:cNvPr id="20" name="Objeto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4300" y="3924300"/>
                        <a:ext cx="671513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to 20"/>
          <p:cNvGraphicFramePr>
            <a:graphicFrameLocks noChangeAspect="1"/>
          </p:cNvGraphicFramePr>
          <p:nvPr/>
        </p:nvGraphicFramePr>
        <p:xfrm>
          <a:off x="4633913" y="3924300"/>
          <a:ext cx="1306512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914400" imgH="393700" progId="Equation.DSMT4">
                  <p:embed/>
                </p:oleObj>
              </mc:Choice>
              <mc:Fallback>
                <p:oleObj name="Equation" r:id="rId8" imgW="914400" imgH="393700" progId="Equation.DSMT4">
                  <p:embed/>
                  <p:pic>
                    <p:nvPicPr>
                      <p:cNvPr id="21" name="Objeto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33913" y="3924300"/>
                        <a:ext cx="1306512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upo 4"/>
          <p:cNvGrpSpPr/>
          <p:nvPr/>
        </p:nvGrpSpPr>
        <p:grpSpPr>
          <a:xfrm>
            <a:off x="1979613" y="3501023"/>
            <a:ext cx="6488143" cy="338554"/>
            <a:chOff x="1979613" y="3501023"/>
            <a:chExt cx="6488143" cy="338554"/>
          </a:xfrm>
        </p:grpSpPr>
        <p:sp>
          <p:nvSpPr>
            <p:cNvPr id="30" name="Oval 6"/>
            <p:cNvSpPr>
              <a:spLocks noChangeArrowheads="1"/>
            </p:cNvSpPr>
            <p:nvPr/>
          </p:nvSpPr>
          <p:spPr bwMode="auto">
            <a:xfrm>
              <a:off x="1979613" y="3556000"/>
              <a:ext cx="228600" cy="2286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pt-BR" altLang="pt-BR" dirty="0">
                <a:latin typeface="Tahoma" panose="020B0604030504040204" pitchFamily="34" charset="0"/>
              </a:endParaRPr>
            </a:p>
          </p:txBody>
        </p:sp>
        <p:sp>
          <p:nvSpPr>
            <p:cNvPr id="31" name="Oval 6"/>
            <p:cNvSpPr>
              <a:spLocks noChangeArrowheads="1"/>
            </p:cNvSpPr>
            <p:nvPr/>
          </p:nvSpPr>
          <p:spPr bwMode="auto">
            <a:xfrm>
              <a:off x="2375694" y="3556000"/>
              <a:ext cx="228600" cy="2286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pt-BR" altLang="pt-BR" dirty="0">
                <a:latin typeface="Tahoma" panose="020B0604030504040204" pitchFamily="34" charset="0"/>
              </a:endParaRPr>
            </a:p>
          </p:txBody>
        </p:sp>
        <p:sp>
          <p:nvSpPr>
            <p:cNvPr id="32" name="Oval 6"/>
            <p:cNvSpPr>
              <a:spLocks noChangeArrowheads="1"/>
            </p:cNvSpPr>
            <p:nvPr/>
          </p:nvSpPr>
          <p:spPr bwMode="auto">
            <a:xfrm>
              <a:off x="2771775" y="3556000"/>
              <a:ext cx="228600" cy="228600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4" name="Retângulo 3"/>
            <p:cNvSpPr/>
            <p:nvPr/>
          </p:nvSpPr>
          <p:spPr>
            <a:xfrm>
              <a:off x="3155083" y="3501023"/>
              <a:ext cx="5312673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altLang="pt-BR" dirty="0">
                  <a:latin typeface="Tahoma" panose="020B0604030504040204" pitchFamily="34" charset="0"/>
                  <a:sym typeface="Symbol"/>
                </a:rPr>
                <a:t>  </a:t>
              </a:r>
              <a:r>
                <a:rPr lang="pt-BR" altLang="pt-BR" dirty="0">
                  <a:latin typeface="Tahoma" panose="020B0604030504040204" pitchFamily="34" charset="0"/>
                </a:rPr>
                <a:t>evento desejado: 2 fracassos seguido de 1 sucesso</a:t>
              </a:r>
              <a:endParaRPr lang="pt-BR" dirty="0">
                <a:latin typeface="Tahom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48317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Distribuição Binomial Negativa (Pascal)</a:t>
            </a:r>
          </a:p>
        </p:txBody>
      </p:sp>
      <p:sp>
        <p:nvSpPr>
          <p:cNvPr id="25603" name="Text Box 3"/>
          <p:cNvSpPr txBox="1">
            <a:spLocks noChangeArrowheads="1"/>
          </p:cNvSpPr>
          <p:nvPr/>
        </p:nvSpPr>
        <p:spPr bwMode="auto">
          <a:xfrm>
            <a:off x="1981200" y="1600200"/>
            <a:ext cx="6705600" cy="106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Considere o experimento: retiram-se bolas da urna (com reposição), até que se consiga 3 bolas vermelhas. Define-se uma v.a. </a:t>
            </a:r>
            <a:r>
              <a:rPr lang="pt-BR" altLang="pt-BR" sz="1600" i="1" dirty="0">
                <a:latin typeface="Times New Roman" pitchFamily="18" charset="0"/>
              </a:rPr>
              <a:t>X</a:t>
            </a:r>
            <a:r>
              <a:rPr lang="pt-BR" altLang="pt-BR" sz="1600" dirty="0">
                <a:latin typeface="Tahoma" panose="020B0604030504040204" pitchFamily="34" charset="0"/>
              </a:rPr>
              <a:t> cujos valores representam o número total de bolas azuis (fracassos) retiradas da urna até obter as 3 bolas vermelhas (sucessos).</a:t>
            </a:r>
          </a:p>
        </p:txBody>
      </p:sp>
      <p:grpSp>
        <p:nvGrpSpPr>
          <p:cNvPr id="25604" name="Group 4"/>
          <p:cNvGrpSpPr>
            <a:grpSpLocks/>
          </p:cNvGrpSpPr>
          <p:nvPr/>
        </p:nvGrpSpPr>
        <p:grpSpPr bwMode="auto">
          <a:xfrm>
            <a:off x="838200" y="1447800"/>
            <a:ext cx="914400" cy="1295400"/>
            <a:chOff x="2688" y="3264"/>
            <a:chExt cx="576" cy="816"/>
          </a:xfrm>
        </p:grpSpPr>
        <p:sp>
          <p:nvSpPr>
            <p:cNvPr id="25608" name="Freeform 5"/>
            <p:cNvSpPr>
              <a:spLocks/>
            </p:cNvSpPr>
            <p:nvPr/>
          </p:nvSpPr>
          <p:spPr bwMode="auto">
            <a:xfrm>
              <a:off x="2688" y="3264"/>
              <a:ext cx="576" cy="816"/>
            </a:xfrm>
            <a:custGeom>
              <a:avLst/>
              <a:gdLst>
                <a:gd name="T0" fmla="*/ 0 w 576"/>
                <a:gd name="T1" fmla="*/ 0 h 816"/>
                <a:gd name="T2" fmla="*/ 0 w 576"/>
                <a:gd name="T3" fmla="*/ 816 h 816"/>
                <a:gd name="T4" fmla="*/ 576 w 576"/>
                <a:gd name="T5" fmla="*/ 816 h 816"/>
                <a:gd name="T6" fmla="*/ 576 w 576"/>
                <a:gd name="T7" fmla="*/ 0 h 8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"/>
                <a:gd name="T13" fmla="*/ 0 h 816"/>
                <a:gd name="T14" fmla="*/ 576 w 576"/>
                <a:gd name="T15" fmla="*/ 816 h 8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" h="816">
                  <a:moveTo>
                    <a:pt x="0" y="0"/>
                  </a:moveTo>
                  <a:lnTo>
                    <a:pt x="0" y="816"/>
                  </a:lnTo>
                  <a:lnTo>
                    <a:pt x="576" y="816"/>
                  </a:lnTo>
                  <a:lnTo>
                    <a:pt x="576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25609" name="Oval 6"/>
            <p:cNvSpPr>
              <a:spLocks noChangeArrowheads="1"/>
            </p:cNvSpPr>
            <p:nvPr/>
          </p:nvSpPr>
          <p:spPr bwMode="auto">
            <a:xfrm>
              <a:off x="2784" y="336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25610" name="Oval 7"/>
            <p:cNvSpPr>
              <a:spLocks noChangeArrowheads="1"/>
            </p:cNvSpPr>
            <p:nvPr/>
          </p:nvSpPr>
          <p:spPr bwMode="auto">
            <a:xfrm>
              <a:off x="3024" y="348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25611" name="Oval 8"/>
            <p:cNvSpPr>
              <a:spLocks noChangeArrowheads="1"/>
            </p:cNvSpPr>
            <p:nvPr/>
          </p:nvSpPr>
          <p:spPr bwMode="auto">
            <a:xfrm>
              <a:off x="2784" y="384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25612" name="Oval 9"/>
            <p:cNvSpPr>
              <a:spLocks noChangeArrowheads="1"/>
            </p:cNvSpPr>
            <p:nvPr/>
          </p:nvSpPr>
          <p:spPr bwMode="auto">
            <a:xfrm>
              <a:off x="2784" y="3600"/>
              <a:ext cx="144" cy="14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25613" name="Oval 10"/>
            <p:cNvSpPr>
              <a:spLocks noChangeArrowheads="1"/>
            </p:cNvSpPr>
            <p:nvPr/>
          </p:nvSpPr>
          <p:spPr bwMode="auto">
            <a:xfrm>
              <a:off x="3024" y="3696"/>
              <a:ext cx="144" cy="14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25614" name="Oval 11"/>
            <p:cNvSpPr>
              <a:spLocks noChangeArrowheads="1"/>
            </p:cNvSpPr>
            <p:nvPr/>
          </p:nvSpPr>
          <p:spPr bwMode="auto">
            <a:xfrm>
              <a:off x="3024" y="3264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25615" name="Oval 12"/>
            <p:cNvSpPr>
              <a:spLocks noChangeArrowheads="1"/>
            </p:cNvSpPr>
            <p:nvPr/>
          </p:nvSpPr>
          <p:spPr bwMode="auto">
            <a:xfrm>
              <a:off x="3024" y="3912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sp>
        <p:nvSpPr>
          <p:cNvPr id="118797" name="Text Box 13"/>
          <p:cNvSpPr txBox="1">
            <a:spLocks noChangeArrowheads="1"/>
          </p:cNvSpPr>
          <p:nvPr/>
        </p:nvSpPr>
        <p:spPr bwMode="auto">
          <a:xfrm>
            <a:off x="838200" y="2971800"/>
            <a:ext cx="6858000" cy="155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 dirty="0">
                <a:latin typeface="Times New Roman" pitchFamily="18" charset="0"/>
              </a:rPr>
              <a:t>X</a:t>
            </a:r>
            <a:r>
              <a:rPr lang="pt-BR" altLang="pt-BR" sz="1600" dirty="0">
                <a:latin typeface="Times New Roman" pitchFamily="18" charset="0"/>
              </a:rPr>
              <a:t>: {0, 1, 2, ..., </a:t>
            </a:r>
            <a:r>
              <a:rPr lang="pt-BR" altLang="pt-BR" sz="1600" dirty="0">
                <a:latin typeface="Times New Roman" pitchFamily="18" charset="0"/>
                <a:sym typeface="Symbol" pitchFamily="18" charset="2"/>
              </a:rPr>
              <a:t></a:t>
            </a:r>
            <a:r>
              <a:rPr lang="pt-BR" altLang="pt-BR" sz="1600" dirty="0">
                <a:latin typeface="Times New Roman" pitchFamily="18" charset="0"/>
              </a:rPr>
              <a:t>}</a:t>
            </a:r>
            <a:endParaRPr lang="pt-BR" altLang="pt-BR" sz="16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O experimento envolve de 3 a infinitos eventos independentes.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Para cada evento: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 dirty="0">
                <a:latin typeface="Times New Roman" pitchFamily="18" charset="0"/>
              </a:rPr>
              <a:t>   P</a:t>
            </a:r>
            <a:r>
              <a:rPr lang="pt-BR" altLang="pt-BR" sz="1600" dirty="0">
                <a:latin typeface="Times New Roman" pitchFamily="18" charset="0"/>
              </a:rPr>
              <a:t>(</a:t>
            </a:r>
            <a:r>
              <a:rPr lang="pt-BR" altLang="pt-BR" sz="1600" i="1" dirty="0">
                <a:latin typeface="Times New Roman" pitchFamily="18" charset="0"/>
              </a:rPr>
              <a:t>vermelha</a:t>
            </a:r>
            <a:r>
              <a:rPr lang="pt-BR" altLang="pt-BR" sz="1600" dirty="0">
                <a:latin typeface="Times New Roman" pitchFamily="18" charset="0"/>
              </a:rPr>
              <a:t>) = 5/7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 dirty="0">
                <a:latin typeface="Times New Roman" pitchFamily="18" charset="0"/>
              </a:rPr>
              <a:t>   P</a:t>
            </a:r>
            <a:r>
              <a:rPr lang="pt-BR" altLang="pt-BR" sz="1600" dirty="0">
                <a:latin typeface="Times New Roman" pitchFamily="18" charset="0"/>
              </a:rPr>
              <a:t>(</a:t>
            </a:r>
            <a:r>
              <a:rPr lang="pt-BR" altLang="pt-BR" sz="1600" i="1" dirty="0">
                <a:latin typeface="Times New Roman" pitchFamily="18" charset="0"/>
              </a:rPr>
              <a:t>azul</a:t>
            </a:r>
            <a:r>
              <a:rPr lang="pt-BR" altLang="pt-BR" sz="1600" dirty="0">
                <a:latin typeface="Times New Roman" pitchFamily="18" charset="0"/>
              </a:rPr>
              <a:t>) = 2/7</a:t>
            </a:r>
          </a:p>
        </p:txBody>
      </p:sp>
      <p:sp>
        <p:nvSpPr>
          <p:cNvPr id="118798" name="Text Box 14"/>
          <p:cNvSpPr txBox="1">
            <a:spLocks noChangeArrowheads="1"/>
          </p:cNvSpPr>
          <p:nvPr/>
        </p:nvSpPr>
        <p:spPr bwMode="auto">
          <a:xfrm>
            <a:off x="2590800" y="3962400"/>
            <a:ext cx="39624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imes New Roman" pitchFamily="18" charset="0"/>
              </a:rPr>
              <a:t>= </a:t>
            </a:r>
            <a:r>
              <a:rPr lang="pt-BR" altLang="pt-BR" sz="1600" i="1" dirty="0">
                <a:latin typeface="Times New Roman" pitchFamily="18" charset="0"/>
              </a:rPr>
              <a:t>p</a:t>
            </a:r>
            <a:r>
              <a:rPr lang="pt-BR" altLang="pt-BR" sz="1600" dirty="0">
                <a:latin typeface="Times New Roman" pitchFamily="18" charset="0"/>
              </a:rPr>
              <a:t> </a:t>
            </a:r>
            <a:r>
              <a:rPr lang="pt-BR" altLang="pt-BR" sz="1600" dirty="0">
                <a:latin typeface="Tahoma" panose="020B0604030504040204" pitchFamily="34" charset="0"/>
              </a:rPr>
              <a:t>(probabilidade de sucesso)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imes New Roman" pitchFamily="18" charset="0"/>
              </a:rPr>
              <a:t>= </a:t>
            </a:r>
            <a:r>
              <a:rPr lang="pt-BR" altLang="pt-BR" sz="1600" i="1" dirty="0">
                <a:latin typeface="Times New Roman" pitchFamily="18" charset="0"/>
              </a:rPr>
              <a:t>q</a:t>
            </a:r>
            <a:r>
              <a:rPr lang="pt-BR" altLang="pt-BR" sz="1600" dirty="0">
                <a:latin typeface="Tahoma" panose="020B0604030504040204" pitchFamily="34" charset="0"/>
              </a:rPr>
              <a:t> (probabilidade de fracasso, </a:t>
            </a:r>
            <a:r>
              <a:rPr lang="pt-BR" altLang="pt-BR" sz="1600" i="1" dirty="0">
                <a:latin typeface="Times New Roman" pitchFamily="18" charset="0"/>
              </a:rPr>
              <a:t>q</a:t>
            </a:r>
            <a:r>
              <a:rPr lang="pt-BR" altLang="pt-BR" sz="1600" dirty="0">
                <a:latin typeface="Times New Roman" pitchFamily="18" charset="0"/>
              </a:rPr>
              <a:t> = 1 - </a:t>
            </a:r>
            <a:r>
              <a:rPr lang="pt-BR" altLang="pt-BR" sz="1600" i="1" dirty="0">
                <a:latin typeface="Times New Roman" pitchFamily="18" charset="0"/>
              </a:rPr>
              <a:t>p</a:t>
            </a:r>
            <a:r>
              <a:rPr lang="pt-BR" altLang="pt-BR" sz="1600" dirty="0">
                <a:latin typeface="Tahoma" panose="020B0604030504040204" pitchFamily="34" charset="0"/>
              </a:rPr>
              <a:t>)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71B1FDA-BE30-4FCE-B6C5-4238A20004F3}" type="slidenum">
              <a:rPr lang="pt-BR"/>
              <a:pPr>
                <a:defRPr/>
              </a:pPr>
              <a:t>33</a:t>
            </a:fld>
            <a:endParaRPr lang="pt-BR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7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7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7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7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7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797" grpId="0" build="p" autoUpdateAnimBg="0"/>
      <p:bldP spid="118798" grpId="0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2" name="Text Box 4"/>
          <p:cNvSpPr txBox="1">
            <a:spLocks noChangeArrowheads="1"/>
          </p:cNvSpPr>
          <p:nvPr/>
        </p:nvSpPr>
        <p:spPr bwMode="auto">
          <a:xfrm>
            <a:off x="6069013" y="3552825"/>
            <a:ext cx="838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i="1">
                <a:latin typeface="Times New Roman" pitchFamily="18" charset="0"/>
              </a:rPr>
              <a:t>f</a:t>
            </a:r>
            <a:r>
              <a:rPr lang="pt-BR" altLang="pt-BR" sz="1600" i="1">
                <a:latin typeface="Times New Roman" pitchFamily="18" charset="0"/>
              </a:rPr>
              <a:t> </a:t>
            </a:r>
            <a:r>
              <a:rPr lang="pt-BR" altLang="pt-BR" sz="1600">
                <a:latin typeface="Times New Roman" pitchFamily="18" charset="0"/>
              </a:rPr>
              <a:t>(</a:t>
            </a:r>
            <a:r>
              <a:rPr lang="pt-BR" altLang="pt-BR" sz="1600" i="1">
                <a:latin typeface="Times New Roman" pitchFamily="18" charset="0"/>
              </a:rPr>
              <a:t>x</a:t>
            </a:r>
            <a:r>
              <a:rPr lang="pt-BR" altLang="pt-BR" sz="1600">
                <a:latin typeface="Times New Roman" pitchFamily="18" charset="0"/>
              </a:rPr>
              <a:t>) = ?</a:t>
            </a:r>
          </a:p>
        </p:txBody>
      </p:sp>
      <p:grpSp>
        <p:nvGrpSpPr>
          <p:cNvPr id="2" name="Group 49"/>
          <p:cNvGrpSpPr>
            <a:grpSpLocks/>
          </p:cNvGrpSpPr>
          <p:nvPr/>
        </p:nvGrpSpPr>
        <p:grpSpPr bwMode="auto">
          <a:xfrm>
            <a:off x="6686550" y="3429000"/>
            <a:ext cx="1422400" cy="685800"/>
            <a:chOff x="4212" y="2160"/>
            <a:chExt cx="896" cy="432"/>
          </a:xfrm>
        </p:grpSpPr>
        <p:graphicFrame>
          <p:nvGraphicFramePr>
            <p:cNvPr id="26660" name="Object 29"/>
            <p:cNvGraphicFramePr>
              <a:graphicFrameLocks noChangeAspect="1"/>
            </p:cNvGraphicFramePr>
            <p:nvPr/>
          </p:nvGraphicFramePr>
          <p:xfrm>
            <a:off x="4807" y="2253"/>
            <a:ext cx="301" cy="2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330200" imgH="228600" progId="Equation.DSMT4">
                    <p:embed/>
                  </p:oleObj>
                </mc:Choice>
                <mc:Fallback>
                  <p:oleObj name="Equation" r:id="rId2" imgW="330200" imgH="228600" progId="Equation.DSMT4">
                    <p:embed/>
                    <p:pic>
                      <p:nvPicPr>
                        <p:cNvPr id="26660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07" y="2253"/>
                          <a:ext cx="301" cy="206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661" name="Rectangle 48"/>
            <p:cNvSpPr>
              <a:spLocks noChangeArrowheads="1"/>
            </p:cNvSpPr>
            <p:nvPr/>
          </p:nvSpPr>
          <p:spPr bwMode="auto">
            <a:xfrm>
              <a:off x="4212" y="2160"/>
              <a:ext cx="624" cy="4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graphicFrame>
        <p:nvGraphicFramePr>
          <p:cNvPr id="119845" name="Object 37"/>
          <p:cNvGraphicFramePr>
            <a:graphicFrameLocks noChangeAspect="1"/>
          </p:cNvGraphicFramePr>
          <p:nvPr/>
        </p:nvGraphicFramePr>
        <p:xfrm>
          <a:off x="2676525" y="3429000"/>
          <a:ext cx="1241425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63225" imgH="469696" progId="Equation.DSMT4">
                  <p:embed/>
                </p:oleObj>
              </mc:Choice>
              <mc:Fallback>
                <p:oleObj name="Equation" r:id="rId4" imgW="863225" imgH="469696" progId="Equation.DSMT4">
                  <p:embed/>
                  <p:pic>
                    <p:nvPicPr>
                      <p:cNvPr id="119845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6525" y="3429000"/>
                        <a:ext cx="1241425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811" name="Object 3"/>
          <p:cNvGraphicFramePr>
            <a:graphicFrameLocks noChangeAspect="1"/>
          </p:cNvGraphicFramePr>
          <p:nvPr/>
        </p:nvGraphicFramePr>
        <p:xfrm>
          <a:off x="1987550" y="3494088"/>
          <a:ext cx="527050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68140" imgH="393529" progId="Equation.DSMT4">
                  <p:embed/>
                </p:oleObj>
              </mc:Choice>
              <mc:Fallback>
                <p:oleObj name="Equation" r:id="rId6" imgW="368140" imgH="393529" progId="Equation.DSMT4">
                  <p:embed/>
                  <p:pic>
                    <p:nvPicPr>
                      <p:cNvPr id="11981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7550" y="3494088"/>
                        <a:ext cx="527050" cy="563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9813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Distribuição Binomial Negativa (Pascal)</a:t>
            </a:r>
          </a:p>
        </p:txBody>
      </p:sp>
      <p:grpSp>
        <p:nvGrpSpPr>
          <p:cNvPr id="26632" name="Group 7"/>
          <p:cNvGrpSpPr>
            <a:grpSpLocks/>
          </p:cNvGrpSpPr>
          <p:nvPr/>
        </p:nvGrpSpPr>
        <p:grpSpPr bwMode="auto">
          <a:xfrm>
            <a:off x="838200" y="1447800"/>
            <a:ext cx="914400" cy="1295400"/>
            <a:chOff x="2688" y="3264"/>
            <a:chExt cx="576" cy="816"/>
          </a:xfrm>
        </p:grpSpPr>
        <p:sp>
          <p:nvSpPr>
            <p:cNvPr id="26652" name="Freeform 8"/>
            <p:cNvSpPr>
              <a:spLocks/>
            </p:cNvSpPr>
            <p:nvPr/>
          </p:nvSpPr>
          <p:spPr bwMode="auto">
            <a:xfrm>
              <a:off x="2688" y="3264"/>
              <a:ext cx="576" cy="816"/>
            </a:xfrm>
            <a:custGeom>
              <a:avLst/>
              <a:gdLst>
                <a:gd name="T0" fmla="*/ 0 w 576"/>
                <a:gd name="T1" fmla="*/ 0 h 816"/>
                <a:gd name="T2" fmla="*/ 0 w 576"/>
                <a:gd name="T3" fmla="*/ 816 h 816"/>
                <a:gd name="T4" fmla="*/ 576 w 576"/>
                <a:gd name="T5" fmla="*/ 816 h 816"/>
                <a:gd name="T6" fmla="*/ 576 w 576"/>
                <a:gd name="T7" fmla="*/ 0 h 8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"/>
                <a:gd name="T13" fmla="*/ 0 h 816"/>
                <a:gd name="T14" fmla="*/ 576 w 576"/>
                <a:gd name="T15" fmla="*/ 816 h 8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" h="816">
                  <a:moveTo>
                    <a:pt x="0" y="0"/>
                  </a:moveTo>
                  <a:lnTo>
                    <a:pt x="0" y="816"/>
                  </a:lnTo>
                  <a:lnTo>
                    <a:pt x="576" y="816"/>
                  </a:lnTo>
                  <a:lnTo>
                    <a:pt x="576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26653" name="Oval 9"/>
            <p:cNvSpPr>
              <a:spLocks noChangeArrowheads="1"/>
            </p:cNvSpPr>
            <p:nvPr/>
          </p:nvSpPr>
          <p:spPr bwMode="auto">
            <a:xfrm>
              <a:off x="2784" y="336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26654" name="Oval 10"/>
            <p:cNvSpPr>
              <a:spLocks noChangeArrowheads="1"/>
            </p:cNvSpPr>
            <p:nvPr/>
          </p:nvSpPr>
          <p:spPr bwMode="auto">
            <a:xfrm>
              <a:off x="3024" y="348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26655" name="Oval 11"/>
            <p:cNvSpPr>
              <a:spLocks noChangeArrowheads="1"/>
            </p:cNvSpPr>
            <p:nvPr/>
          </p:nvSpPr>
          <p:spPr bwMode="auto">
            <a:xfrm>
              <a:off x="2784" y="384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26656" name="Oval 12"/>
            <p:cNvSpPr>
              <a:spLocks noChangeArrowheads="1"/>
            </p:cNvSpPr>
            <p:nvPr/>
          </p:nvSpPr>
          <p:spPr bwMode="auto">
            <a:xfrm>
              <a:off x="2784" y="3600"/>
              <a:ext cx="144" cy="14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26657" name="Oval 13"/>
            <p:cNvSpPr>
              <a:spLocks noChangeArrowheads="1"/>
            </p:cNvSpPr>
            <p:nvPr/>
          </p:nvSpPr>
          <p:spPr bwMode="auto">
            <a:xfrm>
              <a:off x="3024" y="3696"/>
              <a:ext cx="144" cy="14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26658" name="Oval 14"/>
            <p:cNvSpPr>
              <a:spLocks noChangeArrowheads="1"/>
            </p:cNvSpPr>
            <p:nvPr/>
          </p:nvSpPr>
          <p:spPr bwMode="auto">
            <a:xfrm>
              <a:off x="3024" y="3264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26659" name="Oval 15"/>
            <p:cNvSpPr>
              <a:spLocks noChangeArrowheads="1"/>
            </p:cNvSpPr>
            <p:nvPr/>
          </p:nvSpPr>
          <p:spPr bwMode="auto">
            <a:xfrm>
              <a:off x="3024" y="3912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sp>
        <p:nvSpPr>
          <p:cNvPr id="26633" name="Text Box 16"/>
          <p:cNvSpPr txBox="1">
            <a:spLocks noChangeArrowheads="1"/>
          </p:cNvSpPr>
          <p:nvPr/>
        </p:nvSpPr>
        <p:spPr bwMode="auto">
          <a:xfrm>
            <a:off x="838200" y="2971800"/>
            <a:ext cx="4343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X</a:t>
            </a:r>
            <a:r>
              <a:rPr lang="pt-BR" altLang="pt-BR" sz="1600">
                <a:latin typeface="Times New Roman" pitchFamily="18" charset="0"/>
              </a:rPr>
              <a:t>: {0, 1, 2, ..., </a:t>
            </a:r>
            <a:r>
              <a:rPr lang="pt-BR" altLang="pt-BR" sz="1600">
                <a:latin typeface="Times New Roman" pitchFamily="18" charset="0"/>
                <a:sym typeface="Symbol" pitchFamily="18" charset="2"/>
              </a:rPr>
              <a:t></a:t>
            </a:r>
            <a:r>
              <a:rPr lang="pt-BR" altLang="pt-BR" sz="1600">
                <a:latin typeface="Times New Roman" pitchFamily="18" charset="0"/>
              </a:rPr>
              <a:t>}       </a:t>
            </a:r>
            <a:r>
              <a:rPr lang="pt-BR" altLang="pt-BR" sz="1600" i="1">
                <a:latin typeface="Times New Roman" pitchFamily="18" charset="0"/>
              </a:rPr>
              <a:t>p</a:t>
            </a:r>
            <a:r>
              <a:rPr lang="pt-BR" altLang="pt-BR" sz="1600">
                <a:latin typeface="Times New Roman" pitchFamily="18" charset="0"/>
              </a:rPr>
              <a:t> = 5/7       </a:t>
            </a:r>
            <a:r>
              <a:rPr lang="pt-BR" altLang="pt-BR" sz="1600" i="1">
                <a:latin typeface="Times New Roman" pitchFamily="18" charset="0"/>
              </a:rPr>
              <a:t>q</a:t>
            </a:r>
            <a:r>
              <a:rPr lang="pt-BR" altLang="pt-BR" sz="1600">
                <a:latin typeface="Times New Roman" pitchFamily="18" charset="0"/>
              </a:rPr>
              <a:t> = 2/7       </a:t>
            </a:r>
            <a:r>
              <a:rPr lang="pt-BR" altLang="pt-BR" sz="1600" i="1">
                <a:latin typeface="Times New Roman" pitchFamily="18" charset="0"/>
              </a:rPr>
              <a:t>r</a:t>
            </a:r>
            <a:r>
              <a:rPr lang="pt-BR" altLang="pt-BR" sz="1600">
                <a:latin typeface="Times New Roman" pitchFamily="18" charset="0"/>
              </a:rPr>
              <a:t> = 3</a:t>
            </a:r>
          </a:p>
        </p:txBody>
      </p:sp>
      <p:graphicFrame>
        <p:nvGraphicFramePr>
          <p:cNvPr id="119825" name="Object 17"/>
          <p:cNvGraphicFramePr>
            <a:graphicFrameLocks noChangeAspect="1"/>
          </p:cNvGraphicFramePr>
          <p:nvPr/>
        </p:nvGraphicFramePr>
        <p:xfrm>
          <a:off x="914400" y="3625850"/>
          <a:ext cx="1054100" cy="29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36600" imgH="203200" progId="Equation.DSMT4">
                  <p:embed/>
                </p:oleObj>
              </mc:Choice>
              <mc:Fallback>
                <p:oleObj name="Equation" r:id="rId8" imgW="736600" imgH="203200" progId="Equation.DSMT4">
                  <p:embed/>
                  <p:pic>
                    <p:nvPicPr>
                      <p:cNvPr id="119825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3625850"/>
                        <a:ext cx="1054100" cy="290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9826" name="Text Box 18"/>
          <p:cNvSpPr txBox="1">
            <a:spLocks noChangeArrowheads="1"/>
          </p:cNvSpPr>
          <p:nvPr/>
        </p:nvSpPr>
        <p:spPr bwMode="auto">
          <a:xfrm>
            <a:off x="1936750" y="3975100"/>
            <a:ext cx="5905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p p p</a:t>
            </a:r>
          </a:p>
        </p:txBody>
      </p:sp>
      <p:graphicFrame>
        <p:nvGraphicFramePr>
          <p:cNvPr id="119827" name="Object 19"/>
          <p:cNvGraphicFramePr>
            <a:graphicFrameLocks noChangeAspect="1"/>
          </p:cNvGraphicFramePr>
          <p:nvPr/>
        </p:nvGraphicFramePr>
        <p:xfrm>
          <a:off x="947738" y="4648200"/>
          <a:ext cx="1035050" cy="29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723586" imgH="203112" progId="Equation.DSMT4">
                  <p:embed/>
                </p:oleObj>
              </mc:Choice>
              <mc:Fallback>
                <p:oleObj name="Equation" r:id="rId10" imgW="723586" imgH="203112" progId="Equation.DSMT4">
                  <p:embed/>
                  <p:pic>
                    <p:nvPicPr>
                      <p:cNvPr id="119827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7738" y="4648200"/>
                        <a:ext cx="1035050" cy="290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9830" name="Text Box 22"/>
          <p:cNvSpPr txBox="1">
            <a:spLocks noChangeArrowheads="1"/>
          </p:cNvSpPr>
          <p:nvPr/>
        </p:nvSpPr>
        <p:spPr bwMode="auto">
          <a:xfrm>
            <a:off x="2324100" y="4997450"/>
            <a:ext cx="7429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q p p p</a:t>
            </a:r>
          </a:p>
        </p:txBody>
      </p:sp>
      <p:graphicFrame>
        <p:nvGraphicFramePr>
          <p:cNvPr id="119832" name="Object 24"/>
          <p:cNvGraphicFramePr>
            <a:graphicFrameLocks noChangeAspect="1"/>
          </p:cNvGraphicFramePr>
          <p:nvPr/>
        </p:nvGraphicFramePr>
        <p:xfrm>
          <a:off x="930275" y="5638800"/>
          <a:ext cx="1071563" cy="29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748975" imgH="203112" progId="Equation.DSMT4">
                  <p:embed/>
                </p:oleObj>
              </mc:Choice>
              <mc:Fallback>
                <p:oleObj name="Equation" r:id="rId12" imgW="748975" imgH="203112" progId="Equation.DSMT4">
                  <p:embed/>
                  <p:pic>
                    <p:nvPicPr>
                      <p:cNvPr id="119832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0275" y="5638800"/>
                        <a:ext cx="1071563" cy="290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9835" name="Text Box 27"/>
          <p:cNvSpPr txBox="1">
            <a:spLocks noChangeArrowheads="1"/>
          </p:cNvSpPr>
          <p:nvPr/>
        </p:nvSpPr>
        <p:spPr bwMode="auto">
          <a:xfrm>
            <a:off x="2352675" y="5988050"/>
            <a:ext cx="8953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q q p p p</a:t>
            </a:r>
          </a:p>
        </p:txBody>
      </p:sp>
      <p:graphicFrame>
        <p:nvGraphicFramePr>
          <p:cNvPr id="119846" name="Object 38"/>
          <p:cNvGraphicFramePr>
            <a:graphicFrameLocks noChangeAspect="1"/>
          </p:cNvGraphicFramePr>
          <p:nvPr/>
        </p:nvGraphicFramePr>
        <p:xfrm>
          <a:off x="3225800" y="4432300"/>
          <a:ext cx="1533525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066800" imgH="469900" progId="Equation.DSMT4">
                  <p:embed/>
                </p:oleObj>
              </mc:Choice>
              <mc:Fallback>
                <p:oleObj name="Equation" r:id="rId14" imgW="1066800" imgH="469900" progId="Equation.DSMT4">
                  <p:embed/>
                  <p:pic>
                    <p:nvPicPr>
                      <p:cNvPr id="119846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5800" y="4432300"/>
                        <a:ext cx="1533525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848" name="Object 40"/>
          <p:cNvGraphicFramePr>
            <a:graphicFrameLocks noChangeAspect="1"/>
          </p:cNvGraphicFramePr>
          <p:nvPr/>
        </p:nvGraphicFramePr>
        <p:xfrm>
          <a:off x="2366963" y="4497388"/>
          <a:ext cx="671512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469696" imgH="393529" progId="Equation.DSMT4">
                  <p:embed/>
                </p:oleObj>
              </mc:Choice>
              <mc:Fallback>
                <p:oleObj name="Equation" r:id="rId16" imgW="469696" imgH="393529" progId="Equation.DSMT4">
                  <p:embed/>
                  <p:pic>
                    <p:nvPicPr>
                      <p:cNvPr id="119848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6963" y="4497388"/>
                        <a:ext cx="671512" cy="563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849" name="Object 41"/>
          <p:cNvGraphicFramePr>
            <a:graphicFrameLocks noChangeAspect="1"/>
          </p:cNvGraphicFramePr>
          <p:nvPr/>
        </p:nvGraphicFramePr>
        <p:xfrm>
          <a:off x="1933575" y="4505325"/>
          <a:ext cx="434975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304536" imgH="393359" progId="Equation.DSMT4">
                  <p:embed/>
                </p:oleObj>
              </mc:Choice>
              <mc:Fallback>
                <p:oleObj name="Equation" r:id="rId18" imgW="304536" imgH="393359" progId="Equation.DSMT4">
                  <p:embed/>
                  <p:pic>
                    <p:nvPicPr>
                      <p:cNvPr id="119849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3575" y="4505325"/>
                        <a:ext cx="434975" cy="563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850" name="Object 42"/>
          <p:cNvGraphicFramePr>
            <a:graphicFrameLocks noChangeAspect="1"/>
          </p:cNvGraphicFramePr>
          <p:nvPr/>
        </p:nvGraphicFramePr>
        <p:xfrm>
          <a:off x="3463925" y="5422900"/>
          <a:ext cx="1824038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269449" imgH="469696" progId="Equation.DSMT4">
                  <p:embed/>
                </p:oleObj>
              </mc:Choice>
              <mc:Fallback>
                <p:oleObj name="Equation" r:id="rId20" imgW="1269449" imgH="469696" progId="Equation.DSMT4">
                  <p:embed/>
                  <p:pic>
                    <p:nvPicPr>
                      <p:cNvPr id="11985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3925" y="5422900"/>
                        <a:ext cx="1824038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852" name="Object 44"/>
          <p:cNvGraphicFramePr>
            <a:graphicFrameLocks noChangeAspect="1"/>
          </p:cNvGraphicFramePr>
          <p:nvPr/>
        </p:nvGraphicFramePr>
        <p:xfrm>
          <a:off x="2432050" y="5497513"/>
          <a:ext cx="835025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583947" imgH="393529" progId="Equation.DSMT4">
                  <p:embed/>
                </p:oleObj>
              </mc:Choice>
              <mc:Fallback>
                <p:oleObj name="Equation" r:id="rId22" imgW="583947" imgH="393529" progId="Equation.DSMT4">
                  <p:embed/>
                  <p:pic>
                    <p:nvPicPr>
                      <p:cNvPr id="119852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2050" y="5497513"/>
                        <a:ext cx="835025" cy="563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853" name="Object 45"/>
          <p:cNvGraphicFramePr>
            <a:graphicFrameLocks noChangeAspect="1"/>
          </p:cNvGraphicFramePr>
          <p:nvPr/>
        </p:nvGraphicFramePr>
        <p:xfrm>
          <a:off x="1973263" y="5495925"/>
          <a:ext cx="471487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330057" imgH="393529" progId="Equation.DSMT4">
                  <p:embed/>
                </p:oleObj>
              </mc:Choice>
              <mc:Fallback>
                <p:oleObj name="Equation" r:id="rId24" imgW="330057" imgH="393529" progId="Equation.DSMT4">
                  <p:embed/>
                  <p:pic>
                    <p:nvPicPr>
                      <p:cNvPr id="119853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3263" y="5495925"/>
                        <a:ext cx="471487" cy="563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36"/>
          <p:cNvGraphicFramePr>
            <a:graphicFrameLocks noChangeAspect="1"/>
          </p:cNvGraphicFramePr>
          <p:nvPr/>
        </p:nvGraphicFramePr>
        <p:xfrm>
          <a:off x="6653213" y="3479800"/>
          <a:ext cx="992187" cy="598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685800" imgH="419100" progId="Equation.DSMT4">
                  <p:embed/>
                </p:oleObj>
              </mc:Choice>
              <mc:Fallback>
                <p:oleObj name="Equation" r:id="rId26" imgW="685800" imgH="419100" progId="Equation.DSMT4">
                  <p:embed/>
                  <p:pic>
                    <p:nvPicPr>
                      <p:cNvPr id="3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3213" y="3479800"/>
                        <a:ext cx="992187" cy="59848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855" name="Object 47"/>
          <p:cNvGraphicFramePr>
            <a:graphicFrameLocks noChangeAspect="1"/>
          </p:cNvGraphicFramePr>
          <p:nvPr/>
        </p:nvGraphicFramePr>
        <p:xfrm>
          <a:off x="6677025" y="3429000"/>
          <a:ext cx="974725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672808" imgH="457002" progId="Equation.DSMT4">
                  <p:embed/>
                </p:oleObj>
              </mc:Choice>
              <mc:Fallback>
                <p:oleObj name="Equation" r:id="rId28" imgW="672808" imgH="457002" progId="Equation.DSMT4">
                  <p:embed/>
                  <p:pic>
                    <p:nvPicPr>
                      <p:cNvPr id="119855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77025" y="3429000"/>
                        <a:ext cx="974725" cy="6540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810" name="Object 2"/>
          <p:cNvGraphicFramePr>
            <a:graphicFrameLocks noChangeAspect="1"/>
          </p:cNvGraphicFramePr>
          <p:nvPr/>
        </p:nvGraphicFramePr>
        <p:xfrm>
          <a:off x="1965325" y="3500438"/>
          <a:ext cx="730250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507780" imgH="393529" progId="Equation.DSMT4">
                  <p:embed/>
                </p:oleObj>
              </mc:Choice>
              <mc:Fallback>
                <p:oleObj name="Equation" r:id="rId30" imgW="507780" imgH="393529" progId="Equation.DSMT4">
                  <p:embed/>
                  <p:pic>
                    <p:nvPicPr>
                      <p:cNvPr id="11981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5325" y="3500438"/>
                        <a:ext cx="730250" cy="56356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847" name="Object 39"/>
          <p:cNvGraphicFramePr>
            <a:graphicFrameLocks noChangeAspect="1"/>
          </p:cNvGraphicFramePr>
          <p:nvPr/>
        </p:nvGraphicFramePr>
        <p:xfrm>
          <a:off x="2333625" y="4503738"/>
          <a:ext cx="895350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622030" imgH="393529" progId="Equation.DSMT4">
                  <p:embed/>
                </p:oleObj>
              </mc:Choice>
              <mc:Fallback>
                <p:oleObj name="Equation" r:id="rId32" imgW="622030" imgH="393529" progId="Equation.DSMT4">
                  <p:embed/>
                  <p:pic>
                    <p:nvPicPr>
                      <p:cNvPr id="119847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3625" y="4503738"/>
                        <a:ext cx="895350" cy="56356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851" name="Object 43"/>
          <p:cNvGraphicFramePr>
            <a:graphicFrameLocks noChangeAspect="1"/>
          </p:cNvGraphicFramePr>
          <p:nvPr/>
        </p:nvGraphicFramePr>
        <p:xfrm>
          <a:off x="2398713" y="5494338"/>
          <a:ext cx="1077912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748975" imgH="393529" progId="Equation.DSMT4">
                  <p:embed/>
                </p:oleObj>
              </mc:Choice>
              <mc:Fallback>
                <p:oleObj name="Equation" r:id="rId34" imgW="748975" imgH="393529" progId="Equation.DSMT4">
                  <p:embed/>
                  <p:pic>
                    <p:nvPicPr>
                      <p:cNvPr id="119851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8713" y="5494338"/>
                        <a:ext cx="1077912" cy="56356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132739B-399D-4534-BD49-F6BA9E710659}" type="slidenum">
              <a:rPr lang="pt-BR"/>
              <a:pPr>
                <a:defRPr/>
              </a:pPr>
              <a:t>34</a:t>
            </a:fld>
            <a:endParaRPr lang="pt-BR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584464F0-3DBB-D0A0-7164-D25BBD1725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1600200"/>
            <a:ext cx="6705600" cy="106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Considere o experimento: retiram-se bolas da urna (com reposição), até que se consiga 3 bolas vermelhas. Define-se uma v.a. </a:t>
            </a:r>
            <a:r>
              <a:rPr lang="pt-BR" altLang="pt-BR" sz="1600" i="1" dirty="0">
                <a:latin typeface="Times New Roman" pitchFamily="18" charset="0"/>
              </a:rPr>
              <a:t>X</a:t>
            </a:r>
            <a:r>
              <a:rPr lang="pt-BR" altLang="pt-BR" sz="1600" dirty="0">
                <a:latin typeface="Tahoma" panose="020B0604030504040204" pitchFamily="34" charset="0"/>
              </a:rPr>
              <a:t> cujos valores representam o número total de bolas azuis (fracassos) retiradas da urna até obter as 3 bolas vermelhas (sucessos).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812" grpId="0" autoUpdateAnimBg="0"/>
      <p:bldP spid="119826" grpId="0" autoUpdateAnimBg="0"/>
      <p:bldP spid="119830" grpId="0" autoUpdateAnimBg="0"/>
      <p:bldP spid="119835" grpId="0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40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Distribuição Binomial Negativa (Pascal)</a:t>
            </a:r>
          </a:p>
        </p:txBody>
      </p:sp>
      <p:grpSp>
        <p:nvGrpSpPr>
          <p:cNvPr id="27652" name="Group 10"/>
          <p:cNvGrpSpPr>
            <a:grpSpLocks/>
          </p:cNvGrpSpPr>
          <p:nvPr/>
        </p:nvGrpSpPr>
        <p:grpSpPr bwMode="auto">
          <a:xfrm>
            <a:off x="838200" y="1447800"/>
            <a:ext cx="914400" cy="1295400"/>
            <a:chOff x="2688" y="3264"/>
            <a:chExt cx="576" cy="816"/>
          </a:xfrm>
        </p:grpSpPr>
        <p:sp>
          <p:nvSpPr>
            <p:cNvPr id="27676" name="Freeform 11"/>
            <p:cNvSpPr>
              <a:spLocks/>
            </p:cNvSpPr>
            <p:nvPr/>
          </p:nvSpPr>
          <p:spPr bwMode="auto">
            <a:xfrm>
              <a:off x="2688" y="3264"/>
              <a:ext cx="576" cy="816"/>
            </a:xfrm>
            <a:custGeom>
              <a:avLst/>
              <a:gdLst>
                <a:gd name="T0" fmla="*/ 0 w 576"/>
                <a:gd name="T1" fmla="*/ 0 h 816"/>
                <a:gd name="T2" fmla="*/ 0 w 576"/>
                <a:gd name="T3" fmla="*/ 816 h 816"/>
                <a:gd name="T4" fmla="*/ 576 w 576"/>
                <a:gd name="T5" fmla="*/ 816 h 816"/>
                <a:gd name="T6" fmla="*/ 576 w 576"/>
                <a:gd name="T7" fmla="*/ 0 h 8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"/>
                <a:gd name="T13" fmla="*/ 0 h 816"/>
                <a:gd name="T14" fmla="*/ 576 w 576"/>
                <a:gd name="T15" fmla="*/ 816 h 8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" h="816">
                  <a:moveTo>
                    <a:pt x="0" y="0"/>
                  </a:moveTo>
                  <a:lnTo>
                    <a:pt x="0" y="816"/>
                  </a:lnTo>
                  <a:lnTo>
                    <a:pt x="576" y="816"/>
                  </a:lnTo>
                  <a:lnTo>
                    <a:pt x="576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27677" name="Oval 12"/>
            <p:cNvSpPr>
              <a:spLocks noChangeArrowheads="1"/>
            </p:cNvSpPr>
            <p:nvPr/>
          </p:nvSpPr>
          <p:spPr bwMode="auto">
            <a:xfrm>
              <a:off x="2784" y="336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27678" name="Oval 13"/>
            <p:cNvSpPr>
              <a:spLocks noChangeArrowheads="1"/>
            </p:cNvSpPr>
            <p:nvPr/>
          </p:nvSpPr>
          <p:spPr bwMode="auto">
            <a:xfrm>
              <a:off x="3024" y="348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27679" name="Oval 14"/>
            <p:cNvSpPr>
              <a:spLocks noChangeArrowheads="1"/>
            </p:cNvSpPr>
            <p:nvPr/>
          </p:nvSpPr>
          <p:spPr bwMode="auto">
            <a:xfrm>
              <a:off x="2784" y="384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27680" name="Oval 15"/>
            <p:cNvSpPr>
              <a:spLocks noChangeArrowheads="1"/>
            </p:cNvSpPr>
            <p:nvPr/>
          </p:nvSpPr>
          <p:spPr bwMode="auto">
            <a:xfrm>
              <a:off x="2784" y="3600"/>
              <a:ext cx="144" cy="14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27681" name="Oval 16"/>
            <p:cNvSpPr>
              <a:spLocks noChangeArrowheads="1"/>
            </p:cNvSpPr>
            <p:nvPr/>
          </p:nvSpPr>
          <p:spPr bwMode="auto">
            <a:xfrm>
              <a:off x="3024" y="3696"/>
              <a:ext cx="144" cy="14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27682" name="Oval 17"/>
            <p:cNvSpPr>
              <a:spLocks noChangeArrowheads="1"/>
            </p:cNvSpPr>
            <p:nvPr/>
          </p:nvSpPr>
          <p:spPr bwMode="auto">
            <a:xfrm>
              <a:off x="3024" y="3264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27683" name="Oval 18"/>
            <p:cNvSpPr>
              <a:spLocks noChangeArrowheads="1"/>
            </p:cNvSpPr>
            <p:nvPr/>
          </p:nvSpPr>
          <p:spPr bwMode="auto">
            <a:xfrm>
              <a:off x="3024" y="3912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sp>
        <p:nvSpPr>
          <p:cNvPr id="27653" name="Text Box 19"/>
          <p:cNvSpPr txBox="1">
            <a:spLocks noChangeArrowheads="1"/>
          </p:cNvSpPr>
          <p:nvPr/>
        </p:nvSpPr>
        <p:spPr bwMode="auto">
          <a:xfrm>
            <a:off x="838200" y="2971800"/>
            <a:ext cx="4343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X</a:t>
            </a:r>
            <a:r>
              <a:rPr lang="pt-BR" altLang="pt-BR" sz="1600">
                <a:latin typeface="Times New Roman" pitchFamily="18" charset="0"/>
              </a:rPr>
              <a:t>: {0, 1, 2, ..., </a:t>
            </a:r>
            <a:r>
              <a:rPr lang="pt-BR" altLang="pt-BR" sz="1600">
                <a:latin typeface="Times New Roman" pitchFamily="18" charset="0"/>
                <a:sym typeface="Symbol" pitchFamily="18" charset="2"/>
              </a:rPr>
              <a:t></a:t>
            </a:r>
            <a:r>
              <a:rPr lang="pt-BR" altLang="pt-BR" sz="1600">
                <a:latin typeface="Times New Roman" pitchFamily="18" charset="0"/>
              </a:rPr>
              <a:t>}</a:t>
            </a:r>
          </a:p>
        </p:txBody>
      </p:sp>
      <p:graphicFrame>
        <p:nvGraphicFramePr>
          <p:cNvPr id="27654" name="Object 32"/>
          <p:cNvGraphicFramePr>
            <a:graphicFrameLocks noChangeAspect="1"/>
          </p:cNvGraphicFramePr>
          <p:nvPr/>
        </p:nvGraphicFramePr>
        <p:xfrm>
          <a:off x="838200" y="3781425"/>
          <a:ext cx="2078038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35100" imgH="457200" progId="Equation.DSMT4">
                  <p:embed/>
                </p:oleObj>
              </mc:Choice>
              <mc:Fallback>
                <p:oleObj name="Equation" r:id="rId2" imgW="1435100" imgH="457200" progId="Equation.DSMT4">
                  <p:embed/>
                  <p:pic>
                    <p:nvPicPr>
                      <p:cNvPr id="27654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3781425"/>
                        <a:ext cx="2078038" cy="6540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69" name="Object 37"/>
          <p:cNvGraphicFramePr>
            <a:graphicFrameLocks noChangeAspect="1"/>
          </p:cNvGraphicFramePr>
          <p:nvPr/>
        </p:nvGraphicFramePr>
        <p:xfrm>
          <a:off x="914400" y="5029200"/>
          <a:ext cx="1052513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36600" imgH="431800" progId="Equation.DSMT4">
                  <p:embed/>
                </p:oleObj>
              </mc:Choice>
              <mc:Fallback>
                <p:oleObj name="Equation" r:id="rId4" imgW="736600" imgH="431800" progId="Equation.DSMT4">
                  <p:embed/>
                  <p:pic>
                    <p:nvPicPr>
                      <p:cNvPr id="120869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5029200"/>
                        <a:ext cx="1052513" cy="619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0870" name="Text Box 38"/>
          <p:cNvSpPr txBox="1">
            <a:spLocks noChangeArrowheads="1"/>
          </p:cNvSpPr>
          <p:nvPr/>
        </p:nvSpPr>
        <p:spPr bwMode="auto">
          <a:xfrm>
            <a:off x="3352800" y="2819400"/>
            <a:ext cx="53340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A v.a. Binomial Negativa pode ser entendida como uma somatória de </a:t>
            </a:r>
            <a:r>
              <a:rPr lang="pt-BR" altLang="pt-BR" sz="1600" i="1" dirty="0">
                <a:latin typeface="Times New Roman" pitchFamily="18" charset="0"/>
              </a:rPr>
              <a:t>r</a:t>
            </a:r>
            <a:r>
              <a:rPr lang="pt-BR" altLang="pt-BR" sz="1600" dirty="0">
                <a:latin typeface="Tahoma" panose="020B0604030504040204" pitchFamily="34" charset="0"/>
              </a:rPr>
              <a:t> v.a. Geométricas.</a:t>
            </a:r>
          </a:p>
        </p:txBody>
      </p:sp>
      <p:graphicFrame>
        <p:nvGraphicFramePr>
          <p:cNvPr id="120871" name="Object 39"/>
          <p:cNvGraphicFramePr>
            <a:graphicFrameLocks noChangeAspect="1"/>
          </p:cNvGraphicFramePr>
          <p:nvPr/>
        </p:nvGraphicFramePr>
        <p:xfrm>
          <a:off x="3451225" y="3352800"/>
          <a:ext cx="892175" cy="617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22030" imgH="431613" progId="Equation.DSMT4">
                  <p:embed/>
                </p:oleObj>
              </mc:Choice>
              <mc:Fallback>
                <p:oleObj name="Equation" r:id="rId6" imgW="622030" imgH="431613" progId="Equation.DSMT4">
                  <p:embed/>
                  <p:pic>
                    <p:nvPicPr>
                      <p:cNvPr id="120871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1225" y="3352800"/>
                        <a:ext cx="892175" cy="61753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0872" name="Text Box 40"/>
          <p:cNvSpPr txBox="1">
            <a:spLocks noChangeArrowheads="1"/>
          </p:cNvSpPr>
          <p:nvPr/>
        </p:nvSpPr>
        <p:spPr bwMode="auto">
          <a:xfrm>
            <a:off x="4343400" y="3487738"/>
            <a:ext cx="4648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onde cada </a:t>
            </a:r>
            <a:r>
              <a:rPr lang="pt-BR" altLang="pt-BR" sz="1600" i="1" dirty="0">
                <a:latin typeface="Times New Roman" pitchFamily="18" charset="0"/>
              </a:rPr>
              <a:t>Y</a:t>
            </a:r>
            <a:r>
              <a:rPr lang="pt-BR" altLang="pt-BR" sz="1600" i="1" baseline="-25000" dirty="0">
                <a:latin typeface="Times New Roman" pitchFamily="18" charset="0"/>
              </a:rPr>
              <a:t>i</a:t>
            </a:r>
            <a:r>
              <a:rPr lang="pt-BR" altLang="pt-BR" sz="1600" dirty="0">
                <a:latin typeface="Tahoma" panose="020B0604030504040204" pitchFamily="34" charset="0"/>
              </a:rPr>
              <a:t> tem distribuição Geométrica</a:t>
            </a:r>
          </a:p>
        </p:txBody>
      </p:sp>
      <p:graphicFrame>
        <p:nvGraphicFramePr>
          <p:cNvPr id="120873" name="Object 41"/>
          <p:cNvGraphicFramePr>
            <a:graphicFrameLocks noChangeAspect="1"/>
          </p:cNvGraphicFramePr>
          <p:nvPr/>
        </p:nvGraphicFramePr>
        <p:xfrm>
          <a:off x="3429000" y="4648200"/>
          <a:ext cx="1601788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117600" imgH="457200" progId="Equation.DSMT4">
                  <p:embed/>
                </p:oleObj>
              </mc:Choice>
              <mc:Fallback>
                <p:oleObj name="Equation" r:id="rId8" imgW="1117600" imgH="457200" progId="Equation.DSMT4">
                  <p:embed/>
                  <p:pic>
                    <p:nvPicPr>
                      <p:cNvPr id="120873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4648200"/>
                        <a:ext cx="1601788" cy="6540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74" name="Object 42"/>
          <p:cNvGraphicFramePr>
            <a:graphicFrameLocks noChangeAspect="1"/>
          </p:cNvGraphicFramePr>
          <p:nvPr/>
        </p:nvGraphicFramePr>
        <p:xfrm>
          <a:off x="5029200" y="4667250"/>
          <a:ext cx="965200" cy="617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672808" imgH="431613" progId="Equation.DSMT4">
                  <p:embed/>
                </p:oleObj>
              </mc:Choice>
              <mc:Fallback>
                <p:oleObj name="Equation" r:id="rId10" imgW="672808" imgH="431613" progId="Equation.DSMT4">
                  <p:embed/>
                  <p:pic>
                    <p:nvPicPr>
                      <p:cNvPr id="120874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4667250"/>
                        <a:ext cx="965200" cy="61753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75" name="Object 43"/>
          <p:cNvGraphicFramePr>
            <a:graphicFrameLocks noChangeAspect="1"/>
          </p:cNvGraphicFramePr>
          <p:nvPr/>
        </p:nvGraphicFramePr>
        <p:xfrm>
          <a:off x="5975350" y="4667250"/>
          <a:ext cx="673100" cy="617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69696" imgH="431613" progId="Equation.DSMT4">
                  <p:embed/>
                </p:oleObj>
              </mc:Choice>
              <mc:Fallback>
                <p:oleObj name="Equation" r:id="rId12" imgW="469696" imgH="431613" progId="Equation.DSMT4">
                  <p:embed/>
                  <p:pic>
                    <p:nvPicPr>
                      <p:cNvPr id="120875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75350" y="4667250"/>
                        <a:ext cx="673100" cy="61753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76" name="Object 44"/>
          <p:cNvGraphicFramePr>
            <a:graphicFrameLocks noChangeAspect="1"/>
          </p:cNvGraphicFramePr>
          <p:nvPr/>
        </p:nvGraphicFramePr>
        <p:xfrm>
          <a:off x="3429000" y="5365750"/>
          <a:ext cx="1928813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346200" imgH="457200" progId="Equation.DSMT4">
                  <p:embed/>
                </p:oleObj>
              </mc:Choice>
              <mc:Fallback>
                <p:oleObj name="Equation" r:id="rId14" imgW="1346200" imgH="457200" progId="Equation.DSMT4">
                  <p:embed/>
                  <p:pic>
                    <p:nvPicPr>
                      <p:cNvPr id="120876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5365750"/>
                        <a:ext cx="1928813" cy="6540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77" name="Object 45"/>
          <p:cNvGraphicFramePr>
            <a:graphicFrameLocks noChangeAspect="1"/>
          </p:cNvGraphicFramePr>
          <p:nvPr/>
        </p:nvGraphicFramePr>
        <p:xfrm>
          <a:off x="5334000" y="5384800"/>
          <a:ext cx="1128713" cy="617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787400" imgH="431800" progId="Equation.DSMT4">
                  <p:embed/>
                </p:oleObj>
              </mc:Choice>
              <mc:Fallback>
                <p:oleObj name="Equation" r:id="rId16" imgW="787400" imgH="431800" progId="Equation.DSMT4">
                  <p:embed/>
                  <p:pic>
                    <p:nvPicPr>
                      <p:cNvPr id="120877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5384800"/>
                        <a:ext cx="1128713" cy="61753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78" name="Object 46"/>
          <p:cNvGraphicFramePr>
            <a:graphicFrameLocks noChangeAspect="1"/>
          </p:cNvGraphicFramePr>
          <p:nvPr/>
        </p:nvGraphicFramePr>
        <p:xfrm>
          <a:off x="6438900" y="5384800"/>
          <a:ext cx="765175" cy="617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533169" imgH="431613" progId="Equation.DSMT4">
                  <p:embed/>
                </p:oleObj>
              </mc:Choice>
              <mc:Fallback>
                <p:oleObj name="Equation" r:id="rId18" imgW="533169" imgH="431613" progId="Equation.DSMT4">
                  <p:embed/>
                  <p:pic>
                    <p:nvPicPr>
                      <p:cNvPr id="120878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38900" y="5384800"/>
                        <a:ext cx="765175" cy="61753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79" name="Object 47"/>
          <p:cNvGraphicFramePr>
            <a:graphicFrameLocks noChangeAspect="1"/>
          </p:cNvGraphicFramePr>
          <p:nvPr/>
        </p:nvGraphicFramePr>
        <p:xfrm>
          <a:off x="7235825" y="5413375"/>
          <a:ext cx="508000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355446" imgH="418918" progId="Equation.DSMT4">
                  <p:embed/>
                </p:oleObj>
              </mc:Choice>
              <mc:Fallback>
                <p:oleObj name="Equation" r:id="rId20" imgW="355446" imgH="418918" progId="Equation.DSMT4">
                  <p:embed/>
                  <p:pic>
                    <p:nvPicPr>
                      <p:cNvPr id="120879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5825" y="5413375"/>
                        <a:ext cx="508000" cy="6000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0880" name="Text Box 48"/>
          <p:cNvSpPr txBox="1">
            <a:spLocks noChangeArrowheads="1"/>
          </p:cNvSpPr>
          <p:nvPr/>
        </p:nvSpPr>
        <p:spPr bwMode="auto">
          <a:xfrm>
            <a:off x="3381375" y="4114800"/>
            <a:ext cx="33242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Por exemplo: </a:t>
            </a:r>
            <a:r>
              <a:rPr lang="pt-BR" altLang="pt-BR" sz="1600" i="1" dirty="0">
                <a:latin typeface="Times New Roman" pitchFamily="18" charset="0"/>
              </a:rPr>
              <a:t>q </a:t>
            </a:r>
            <a:r>
              <a:rPr lang="pt-BR" altLang="pt-BR" sz="1600" i="1" dirty="0" err="1">
                <a:latin typeface="Times New Roman" pitchFamily="18" charset="0"/>
              </a:rPr>
              <a:t>q</a:t>
            </a:r>
            <a:r>
              <a:rPr lang="pt-BR" altLang="pt-BR" sz="1600" i="1" dirty="0">
                <a:latin typeface="Times New Roman" pitchFamily="18" charset="0"/>
              </a:rPr>
              <a:t> p q </a:t>
            </a:r>
            <a:r>
              <a:rPr lang="pt-BR" altLang="pt-BR" sz="1600" i="1" dirty="0" err="1">
                <a:latin typeface="Times New Roman" pitchFamily="18" charset="0"/>
              </a:rPr>
              <a:t>q</a:t>
            </a:r>
            <a:r>
              <a:rPr lang="pt-BR" altLang="pt-BR" sz="1600" i="1" dirty="0">
                <a:latin typeface="Times New Roman" pitchFamily="18" charset="0"/>
              </a:rPr>
              <a:t> </a:t>
            </a:r>
            <a:r>
              <a:rPr lang="pt-BR" altLang="pt-BR" sz="1600" i="1" dirty="0" err="1">
                <a:latin typeface="Times New Roman" pitchFamily="18" charset="0"/>
              </a:rPr>
              <a:t>q</a:t>
            </a:r>
            <a:r>
              <a:rPr lang="pt-BR" altLang="pt-BR" sz="1600" i="1" dirty="0">
                <a:latin typeface="Times New Roman" pitchFamily="18" charset="0"/>
              </a:rPr>
              <a:t> </a:t>
            </a:r>
            <a:r>
              <a:rPr lang="pt-BR" altLang="pt-BR" sz="1600" i="1" dirty="0" err="1">
                <a:latin typeface="Times New Roman" pitchFamily="18" charset="0"/>
              </a:rPr>
              <a:t>q</a:t>
            </a:r>
            <a:r>
              <a:rPr lang="pt-BR" altLang="pt-BR" sz="1600" i="1" dirty="0">
                <a:latin typeface="Times New Roman" pitchFamily="18" charset="0"/>
              </a:rPr>
              <a:t> p q </a:t>
            </a:r>
            <a:r>
              <a:rPr lang="pt-BR" altLang="pt-BR" sz="1600" i="1" dirty="0" err="1">
                <a:latin typeface="Times New Roman" pitchFamily="18" charset="0"/>
              </a:rPr>
              <a:t>q</a:t>
            </a:r>
            <a:r>
              <a:rPr lang="pt-BR" altLang="pt-BR" sz="1600" i="1" dirty="0">
                <a:latin typeface="Times New Roman" pitchFamily="18" charset="0"/>
              </a:rPr>
              <a:t> </a:t>
            </a:r>
            <a:r>
              <a:rPr lang="pt-BR" altLang="pt-BR" sz="1600" i="1" dirty="0" err="1">
                <a:latin typeface="Times New Roman" pitchFamily="18" charset="0"/>
              </a:rPr>
              <a:t>q</a:t>
            </a:r>
            <a:r>
              <a:rPr lang="pt-BR" altLang="pt-BR" sz="1600" i="1" dirty="0">
                <a:latin typeface="Times New Roman" pitchFamily="18" charset="0"/>
              </a:rPr>
              <a:t> p</a:t>
            </a:r>
          </a:p>
        </p:txBody>
      </p:sp>
      <p:sp>
        <p:nvSpPr>
          <p:cNvPr id="120881" name="Oval 49"/>
          <p:cNvSpPr>
            <a:spLocks noChangeArrowheads="1"/>
          </p:cNvSpPr>
          <p:nvPr/>
        </p:nvSpPr>
        <p:spPr bwMode="auto">
          <a:xfrm>
            <a:off x="4705350" y="4162425"/>
            <a:ext cx="449263" cy="304800"/>
          </a:xfrm>
          <a:prstGeom prst="ellipse">
            <a:avLst/>
          </a:prstGeom>
          <a:noFill/>
          <a:ln w="1905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120882" name="Oval 50"/>
          <p:cNvSpPr>
            <a:spLocks noChangeArrowheads="1"/>
          </p:cNvSpPr>
          <p:nvPr/>
        </p:nvSpPr>
        <p:spPr bwMode="auto">
          <a:xfrm>
            <a:off x="5170488" y="4162425"/>
            <a:ext cx="747712" cy="304800"/>
          </a:xfrm>
          <a:prstGeom prst="ellipse">
            <a:avLst/>
          </a:prstGeom>
          <a:noFill/>
          <a:ln w="1905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120883" name="Oval 51"/>
          <p:cNvSpPr>
            <a:spLocks noChangeArrowheads="1"/>
          </p:cNvSpPr>
          <p:nvPr/>
        </p:nvSpPr>
        <p:spPr bwMode="auto">
          <a:xfrm>
            <a:off x="5922963" y="4162425"/>
            <a:ext cx="615950" cy="304800"/>
          </a:xfrm>
          <a:prstGeom prst="ellipse">
            <a:avLst/>
          </a:prstGeom>
          <a:noFill/>
          <a:ln w="1905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120884" name="Rectangle 52"/>
          <p:cNvSpPr>
            <a:spLocks noChangeArrowheads="1"/>
          </p:cNvSpPr>
          <p:nvPr/>
        </p:nvSpPr>
        <p:spPr bwMode="auto">
          <a:xfrm>
            <a:off x="4583113" y="3832225"/>
            <a:ext cx="6842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Y</a:t>
            </a:r>
            <a:r>
              <a:rPr lang="pt-BR" altLang="pt-BR" sz="1600" baseline="-25000">
                <a:latin typeface="Times New Roman" pitchFamily="18" charset="0"/>
              </a:rPr>
              <a:t>1</a:t>
            </a:r>
            <a:r>
              <a:rPr lang="pt-BR" altLang="pt-BR" sz="1600">
                <a:latin typeface="Times New Roman" pitchFamily="18" charset="0"/>
              </a:rPr>
              <a:t> = 2</a:t>
            </a:r>
          </a:p>
        </p:txBody>
      </p:sp>
      <p:sp>
        <p:nvSpPr>
          <p:cNvPr id="120885" name="Rectangle 53"/>
          <p:cNvSpPr>
            <a:spLocks noChangeArrowheads="1"/>
          </p:cNvSpPr>
          <p:nvPr/>
        </p:nvSpPr>
        <p:spPr bwMode="auto">
          <a:xfrm>
            <a:off x="5183188" y="3832225"/>
            <a:ext cx="6842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Y</a:t>
            </a:r>
            <a:r>
              <a:rPr lang="pt-BR" altLang="pt-BR" sz="1600" baseline="-25000">
                <a:latin typeface="Times New Roman" pitchFamily="18" charset="0"/>
              </a:rPr>
              <a:t>2</a:t>
            </a:r>
            <a:r>
              <a:rPr lang="pt-BR" altLang="pt-BR" sz="1600">
                <a:latin typeface="Times New Roman" pitchFamily="18" charset="0"/>
              </a:rPr>
              <a:t> = 4</a:t>
            </a:r>
          </a:p>
        </p:txBody>
      </p:sp>
      <p:sp>
        <p:nvSpPr>
          <p:cNvPr id="120886" name="Rectangle 54"/>
          <p:cNvSpPr>
            <a:spLocks noChangeArrowheads="1"/>
          </p:cNvSpPr>
          <p:nvPr/>
        </p:nvSpPr>
        <p:spPr bwMode="auto">
          <a:xfrm>
            <a:off x="5888038" y="3832225"/>
            <a:ext cx="6842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Y</a:t>
            </a:r>
            <a:r>
              <a:rPr lang="pt-BR" altLang="pt-BR" sz="1600" baseline="-25000">
                <a:latin typeface="Times New Roman" pitchFamily="18" charset="0"/>
              </a:rPr>
              <a:t>3</a:t>
            </a:r>
            <a:r>
              <a:rPr lang="pt-BR" altLang="pt-BR" sz="1600">
                <a:latin typeface="Times New Roman" pitchFamily="18" charset="0"/>
              </a:rPr>
              <a:t> = 3</a:t>
            </a:r>
          </a:p>
        </p:txBody>
      </p:sp>
      <p:sp>
        <p:nvSpPr>
          <p:cNvPr id="120887" name="Rectangle 55"/>
          <p:cNvSpPr>
            <a:spLocks noChangeArrowheads="1"/>
          </p:cNvSpPr>
          <p:nvPr/>
        </p:nvSpPr>
        <p:spPr bwMode="auto">
          <a:xfrm>
            <a:off x="6581775" y="4110038"/>
            <a:ext cx="192257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imes New Roman" pitchFamily="18" charset="0"/>
                <a:sym typeface="Symbol" pitchFamily="18" charset="2"/>
              </a:rPr>
              <a:t> </a:t>
            </a:r>
            <a:r>
              <a:rPr lang="pt-BR" altLang="pt-BR" sz="1600" i="1" dirty="0">
                <a:latin typeface="Times New Roman" pitchFamily="18" charset="0"/>
              </a:rPr>
              <a:t>X</a:t>
            </a:r>
            <a:r>
              <a:rPr lang="pt-BR" altLang="pt-BR" sz="1600" dirty="0">
                <a:latin typeface="Times New Roman" pitchFamily="18" charset="0"/>
              </a:rPr>
              <a:t> = 9 </a:t>
            </a:r>
            <a:r>
              <a:rPr lang="pt-BR" altLang="pt-BR" sz="1600" dirty="0">
                <a:latin typeface="Tahoma" panose="020B0604030504040204" pitchFamily="34" charset="0"/>
              </a:rPr>
              <a:t>(fracassos)</a:t>
            </a:r>
          </a:p>
        </p:txBody>
      </p:sp>
      <p:graphicFrame>
        <p:nvGraphicFramePr>
          <p:cNvPr id="120888" name="Object 56"/>
          <p:cNvGraphicFramePr>
            <a:graphicFrameLocks noChangeAspect="1"/>
          </p:cNvGraphicFramePr>
          <p:nvPr/>
        </p:nvGraphicFramePr>
        <p:xfrm>
          <a:off x="6680200" y="4695825"/>
          <a:ext cx="473075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330200" imgH="419100" progId="Equation.DSMT4">
                  <p:embed/>
                </p:oleObj>
              </mc:Choice>
              <mc:Fallback>
                <p:oleObj name="Equation" r:id="rId22" imgW="330200" imgH="419100" progId="Equation.DSMT4">
                  <p:embed/>
                  <p:pic>
                    <p:nvPicPr>
                      <p:cNvPr id="120888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80200" y="4695825"/>
                        <a:ext cx="473075" cy="6000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18AA81-F4AF-4D33-B2D1-6D8C9736A65E}" type="slidenum">
              <a:rPr lang="pt-BR"/>
              <a:pPr>
                <a:defRPr/>
              </a:pPr>
              <a:t>35</a:t>
            </a:fld>
            <a:endParaRPr lang="pt-BR"/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481396B1-03F6-6B38-D722-C087DFE4EE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1600200"/>
            <a:ext cx="6705600" cy="106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Considere o experimento: retiram-se bolas da urna (com reposição), até que se consiga 3 bolas vermelhas. Define-se uma v.a. </a:t>
            </a:r>
            <a:r>
              <a:rPr lang="pt-BR" altLang="pt-BR" sz="1600" i="1" dirty="0">
                <a:latin typeface="Times New Roman" pitchFamily="18" charset="0"/>
              </a:rPr>
              <a:t>X</a:t>
            </a:r>
            <a:r>
              <a:rPr lang="pt-BR" altLang="pt-BR" sz="1600" dirty="0">
                <a:latin typeface="Tahoma" panose="020B0604030504040204" pitchFamily="34" charset="0"/>
              </a:rPr>
              <a:t> cujos valores representam o número total de bolas azuis (fracassos) retiradas da urna até obter as 3 bolas vermelhas (sucessos).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0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0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870" grpId="0" autoUpdateAnimBg="0"/>
      <p:bldP spid="120872" grpId="0" autoUpdateAnimBg="0"/>
      <p:bldP spid="120880" grpId="0" autoUpdateAnimBg="0"/>
      <p:bldP spid="120881" grpId="0" animBg="1"/>
      <p:bldP spid="120882" grpId="0" animBg="1"/>
      <p:bldP spid="120883" grpId="0" animBg="1"/>
      <p:bldP spid="120884" grpId="0" autoUpdateAnimBg="0"/>
      <p:bldP spid="120885" grpId="0" autoUpdateAnimBg="0"/>
      <p:bldP spid="120886" grpId="0" autoUpdateAnimBg="0"/>
      <p:bldP spid="120887" grpId="0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Distribuição Binomial Negativa (Pascal)</a:t>
            </a:r>
          </a:p>
        </p:txBody>
      </p:sp>
      <p:grpSp>
        <p:nvGrpSpPr>
          <p:cNvPr id="28676" name="Group 4"/>
          <p:cNvGrpSpPr>
            <a:grpSpLocks/>
          </p:cNvGrpSpPr>
          <p:nvPr/>
        </p:nvGrpSpPr>
        <p:grpSpPr bwMode="auto">
          <a:xfrm>
            <a:off x="838200" y="1447800"/>
            <a:ext cx="914400" cy="1295400"/>
            <a:chOff x="2688" y="3264"/>
            <a:chExt cx="576" cy="816"/>
          </a:xfrm>
        </p:grpSpPr>
        <p:sp>
          <p:nvSpPr>
            <p:cNvPr id="28686" name="Freeform 5"/>
            <p:cNvSpPr>
              <a:spLocks/>
            </p:cNvSpPr>
            <p:nvPr/>
          </p:nvSpPr>
          <p:spPr bwMode="auto">
            <a:xfrm>
              <a:off x="2688" y="3264"/>
              <a:ext cx="576" cy="816"/>
            </a:xfrm>
            <a:custGeom>
              <a:avLst/>
              <a:gdLst>
                <a:gd name="T0" fmla="*/ 0 w 576"/>
                <a:gd name="T1" fmla="*/ 0 h 816"/>
                <a:gd name="T2" fmla="*/ 0 w 576"/>
                <a:gd name="T3" fmla="*/ 816 h 816"/>
                <a:gd name="T4" fmla="*/ 576 w 576"/>
                <a:gd name="T5" fmla="*/ 816 h 816"/>
                <a:gd name="T6" fmla="*/ 576 w 576"/>
                <a:gd name="T7" fmla="*/ 0 h 8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"/>
                <a:gd name="T13" fmla="*/ 0 h 816"/>
                <a:gd name="T14" fmla="*/ 576 w 576"/>
                <a:gd name="T15" fmla="*/ 816 h 8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" h="816">
                  <a:moveTo>
                    <a:pt x="0" y="0"/>
                  </a:moveTo>
                  <a:lnTo>
                    <a:pt x="0" y="816"/>
                  </a:lnTo>
                  <a:lnTo>
                    <a:pt x="576" y="816"/>
                  </a:lnTo>
                  <a:lnTo>
                    <a:pt x="576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28687" name="Oval 6"/>
            <p:cNvSpPr>
              <a:spLocks noChangeArrowheads="1"/>
            </p:cNvSpPr>
            <p:nvPr/>
          </p:nvSpPr>
          <p:spPr bwMode="auto">
            <a:xfrm>
              <a:off x="2784" y="336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28688" name="Oval 7"/>
            <p:cNvSpPr>
              <a:spLocks noChangeArrowheads="1"/>
            </p:cNvSpPr>
            <p:nvPr/>
          </p:nvSpPr>
          <p:spPr bwMode="auto">
            <a:xfrm>
              <a:off x="3024" y="348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28689" name="Oval 8"/>
            <p:cNvSpPr>
              <a:spLocks noChangeArrowheads="1"/>
            </p:cNvSpPr>
            <p:nvPr/>
          </p:nvSpPr>
          <p:spPr bwMode="auto">
            <a:xfrm>
              <a:off x="2784" y="384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28690" name="Oval 9"/>
            <p:cNvSpPr>
              <a:spLocks noChangeArrowheads="1"/>
            </p:cNvSpPr>
            <p:nvPr/>
          </p:nvSpPr>
          <p:spPr bwMode="auto">
            <a:xfrm>
              <a:off x="2784" y="3600"/>
              <a:ext cx="144" cy="14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28691" name="Oval 10"/>
            <p:cNvSpPr>
              <a:spLocks noChangeArrowheads="1"/>
            </p:cNvSpPr>
            <p:nvPr/>
          </p:nvSpPr>
          <p:spPr bwMode="auto">
            <a:xfrm>
              <a:off x="3024" y="3696"/>
              <a:ext cx="144" cy="14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28692" name="Oval 11"/>
            <p:cNvSpPr>
              <a:spLocks noChangeArrowheads="1"/>
            </p:cNvSpPr>
            <p:nvPr/>
          </p:nvSpPr>
          <p:spPr bwMode="auto">
            <a:xfrm>
              <a:off x="3024" y="3264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28693" name="Oval 12"/>
            <p:cNvSpPr>
              <a:spLocks noChangeArrowheads="1"/>
            </p:cNvSpPr>
            <p:nvPr/>
          </p:nvSpPr>
          <p:spPr bwMode="auto">
            <a:xfrm>
              <a:off x="3024" y="3912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sp>
        <p:nvSpPr>
          <p:cNvPr id="28677" name="Text Box 35"/>
          <p:cNvSpPr txBox="1">
            <a:spLocks noChangeArrowheads="1"/>
          </p:cNvSpPr>
          <p:nvPr/>
        </p:nvSpPr>
        <p:spPr bwMode="auto">
          <a:xfrm>
            <a:off x="6858000" y="3140075"/>
            <a:ext cx="1752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X</a:t>
            </a:r>
            <a:r>
              <a:rPr lang="pt-BR" altLang="pt-BR" sz="1600">
                <a:latin typeface="Times New Roman" pitchFamily="18" charset="0"/>
              </a:rPr>
              <a:t>: {0, 1, 2, ..., </a:t>
            </a:r>
            <a:r>
              <a:rPr lang="pt-BR" altLang="pt-BR" sz="1600">
                <a:latin typeface="Times New Roman" pitchFamily="18" charset="0"/>
                <a:sym typeface="Symbol" pitchFamily="18" charset="2"/>
              </a:rPr>
              <a:t></a:t>
            </a:r>
            <a:r>
              <a:rPr lang="pt-BR" altLang="pt-BR" sz="1600">
                <a:latin typeface="Times New Roman" pitchFamily="18" charset="0"/>
              </a:rPr>
              <a:t>}</a:t>
            </a:r>
          </a:p>
        </p:txBody>
      </p:sp>
      <p:graphicFrame>
        <p:nvGraphicFramePr>
          <p:cNvPr id="28678" name="Object 36"/>
          <p:cNvGraphicFramePr>
            <a:graphicFrameLocks noChangeAspect="1"/>
          </p:cNvGraphicFramePr>
          <p:nvPr/>
        </p:nvGraphicFramePr>
        <p:xfrm>
          <a:off x="2816225" y="2979738"/>
          <a:ext cx="2060575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35100" imgH="457200" progId="Equation.DSMT4">
                  <p:embed/>
                </p:oleObj>
              </mc:Choice>
              <mc:Fallback>
                <p:oleObj name="Equation" r:id="rId2" imgW="1435100" imgH="457200" progId="Equation.DSMT4">
                  <p:embed/>
                  <p:pic>
                    <p:nvPicPr>
                      <p:cNvPr id="28678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6225" y="2979738"/>
                        <a:ext cx="2060575" cy="6540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893" name="Object 37"/>
          <p:cNvGraphicFramePr>
            <a:graphicFrameLocks noChangeAspect="1"/>
          </p:cNvGraphicFramePr>
          <p:nvPr/>
        </p:nvGraphicFramePr>
        <p:xfrm>
          <a:off x="2816225" y="3810000"/>
          <a:ext cx="1035050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23586" imgH="418918" progId="Equation.DSMT4">
                  <p:embed/>
                </p:oleObj>
              </mc:Choice>
              <mc:Fallback>
                <p:oleObj name="Equation" r:id="rId4" imgW="723586" imgH="418918" progId="Equation.DSMT4">
                  <p:embed/>
                  <p:pic>
                    <p:nvPicPr>
                      <p:cNvPr id="121893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6225" y="3810000"/>
                        <a:ext cx="1035050" cy="600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894" name="Object 38"/>
          <p:cNvGraphicFramePr>
            <a:graphicFrameLocks noChangeAspect="1"/>
          </p:cNvGraphicFramePr>
          <p:nvPr/>
        </p:nvGraphicFramePr>
        <p:xfrm>
          <a:off x="2816225" y="4505325"/>
          <a:ext cx="1216025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850531" imgH="418918" progId="Equation.DSMT4">
                  <p:embed/>
                </p:oleObj>
              </mc:Choice>
              <mc:Fallback>
                <p:oleObj name="Equation" r:id="rId6" imgW="850531" imgH="418918" progId="Equation.DSMT4">
                  <p:embed/>
                  <p:pic>
                    <p:nvPicPr>
                      <p:cNvPr id="121894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6225" y="4505325"/>
                        <a:ext cx="1216025" cy="600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81" name="Text Box 39"/>
          <p:cNvSpPr txBox="1">
            <a:spLocks noChangeArrowheads="1"/>
          </p:cNvSpPr>
          <p:nvPr/>
        </p:nvSpPr>
        <p:spPr bwMode="auto">
          <a:xfrm>
            <a:off x="838200" y="2971800"/>
            <a:ext cx="914400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p</a:t>
            </a:r>
            <a:r>
              <a:rPr lang="pt-BR" altLang="pt-BR" sz="1600">
                <a:latin typeface="Times New Roman" pitchFamily="18" charset="0"/>
              </a:rPr>
              <a:t> = 5/7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q</a:t>
            </a:r>
            <a:r>
              <a:rPr lang="pt-BR" altLang="pt-BR" sz="1600">
                <a:latin typeface="Times New Roman" pitchFamily="18" charset="0"/>
              </a:rPr>
              <a:t> = 2/7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r</a:t>
            </a:r>
            <a:r>
              <a:rPr lang="pt-BR" altLang="pt-BR" sz="1600">
                <a:latin typeface="Times New Roman" pitchFamily="18" charset="0"/>
              </a:rPr>
              <a:t> = 3</a:t>
            </a:r>
          </a:p>
        </p:txBody>
      </p:sp>
      <p:graphicFrame>
        <p:nvGraphicFramePr>
          <p:cNvPr id="121896" name="Object 40"/>
          <p:cNvGraphicFramePr>
            <a:graphicFrameLocks noChangeAspect="1"/>
          </p:cNvGraphicFramePr>
          <p:nvPr/>
        </p:nvGraphicFramePr>
        <p:xfrm>
          <a:off x="4876800" y="2963863"/>
          <a:ext cx="1820863" cy="68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269449" imgH="482391" progId="Equation.DSMT4">
                  <p:embed/>
                </p:oleObj>
              </mc:Choice>
              <mc:Fallback>
                <p:oleObj name="Equation" r:id="rId8" imgW="1269449" imgH="482391" progId="Equation.DSMT4">
                  <p:embed/>
                  <p:pic>
                    <p:nvPicPr>
                      <p:cNvPr id="121896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2963863"/>
                        <a:ext cx="1820863" cy="688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897" name="Object 41"/>
          <p:cNvGraphicFramePr>
            <a:graphicFrameLocks noChangeAspect="1"/>
          </p:cNvGraphicFramePr>
          <p:nvPr/>
        </p:nvGraphicFramePr>
        <p:xfrm>
          <a:off x="3848100" y="3817938"/>
          <a:ext cx="1527175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066337" imgH="393529" progId="Equation.DSMT4">
                  <p:embed/>
                </p:oleObj>
              </mc:Choice>
              <mc:Fallback>
                <p:oleObj name="Equation" r:id="rId10" imgW="1066337" imgH="393529" progId="Equation.DSMT4">
                  <p:embed/>
                  <p:pic>
                    <p:nvPicPr>
                      <p:cNvPr id="121897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8100" y="3817938"/>
                        <a:ext cx="1527175" cy="563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898" name="Object 42"/>
          <p:cNvGraphicFramePr>
            <a:graphicFrameLocks noChangeAspect="1"/>
          </p:cNvGraphicFramePr>
          <p:nvPr/>
        </p:nvGraphicFramePr>
        <p:xfrm>
          <a:off x="4057650" y="4505325"/>
          <a:ext cx="1854200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295400" imgH="393700" progId="Equation.DSMT4">
                  <p:embed/>
                </p:oleObj>
              </mc:Choice>
              <mc:Fallback>
                <p:oleObj name="Equation" r:id="rId12" imgW="1295400" imgH="393700" progId="Equation.DSMT4">
                  <p:embed/>
                  <p:pic>
                    <p:nvPicPr>
                      <p:cNvPr id="121898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57650" y="4505325"/>
                        <a:ext cx="1854200" cy="563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7A9FD14-746D-4C0A-9148-DFE4F2DE967F}" type="slidenum">
              <a:rPr lang="pt-BR"/>
              <a:pPr>
                <a:defRPr/>
              </a:pPr>
              <a:t>36</a:t>
            </a:fld>
            <a:endParaRPr lang="pt-BR"/>
          </a:p>
        </p:txBody>
      </p:sp>
      <p:grpSp>
        <p:nvGrpSpPr>
          <p:cNvPr id="22" name="Grupo 21"/>
          <p:cNvGrpSpPr>
            <a:grpSpLocks/>
          </p:cNvGrpSpPr>
          <p:nvPr/>
        </p:nvGrpSpPr>
        <p:grpSpPr bwMode="auto">
          <a:xfrm>
            <a:off x="323850" y="5373688"/>
            <a:ext cx="8435975" cy="1368425"/>
            <a:chOff x="366592" y="5373216"/>
            <a:chExt cx="8436480" cy="1368152"/>
          </a:xfrm>
        </p:grpSpPr>
        <p:sp>
          <p:nvSpPr>
            <p:cNvPr id="23" name="Text Box 48"/>
            <p:cNvSpPr txBox="1">
              <a:spLocks noChangeArrowheads="1"/>
            </p:cNvSpPr>
            <p:nvPr/>
          </p:nvSpPr>
          <p:spPr bwMode="auto">
            <a:xfrm>
              <a:off x="366592" y="5373216"/>
              <a:ext cx="8436480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177800" indent="-177800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solidFill>
                    <a:srgbClr val="FF0000"/>
                  </a:solidFill>
                  <a:latin typeface="Tahoma" panose="020B0604030504040204" pitchFamily="34" charset="0"/>
                </a:rPr>
                <a:t>Importante: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Algumas vezes, esta </a:t>
              </a:r>
              <a:r>
                <a:rPr lang="pt-BR" altLang="pt-BR" sz="1600" dirty="0" err="1">
                  <a:latin typeface="Tahoma" panose="020B0604030504040204" pitchFamily="34" charset="0"/>
                </a:rPr>
                <a:t>v.a</a:t>
              </a:r>
              <a:r>
                <a:rPr lang="pt-BR" altLang="pt-BR" sz="1600" dirty="0">
                  <a:latin typeface="Tahoma" panose="020B0604030504040204" pitchFamily="34" charset="0"/>
                </a:rPr>
                <a:t>. refere-se ao número total de tentativas até se conseguir </a:t>
              </a:r>
              <a:r>
                <a:rPr lang="pt-BR" altLang="pt-BR" sz="1600" i="1" dirty="0">
                  <a:latin typeface="Times New Roman" pitchFamily="18" charset="0"/>
                </a:rPr>
                <a:t>r</a:t>
              </a:r>
              <a:r>
                <a:rPr lang="pt-BR" altLang="pt-BR" sz="1600" dirty="0">
                  <a:latin typeface="Tahoma" panose="020B0604030504040204" pitchFamily="34" charset="0"/>
                </a:rPr>
                <a:t> sucessos. Nesse caso </a:t>
              </a:r>
              <a:r>
                <a:rPr lang="pt-BR" altLang="pt-BR" sz="16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pt-BR" altLang="pt-B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= </a:t>
              </a:r>
              <a:r>
                <a:rPr lang="pt-BR" altLang="pt-BR" sz="16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pt-BR" altLang="pt-B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+ </a:t>
              </a:r>
              <a:r>
                <a:rPr lang="pt-BR" altLang="pt-BR" sz="16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endParaRPr lang="pt-BR" altLang="pt-BR" sz="1600" i="1" dirty="0">
                <a:latin typeface="Times New Roman" pitchFamily="18" charset="0"/>
              </a:endParaRPr>
            </a:p>
          </p:txBody>
        </p:sp>
        <p:graphicFrame>
          <p:nvGraphicFramePr>
            <p:cNvPr id="24" name="Objeto 2"/>
            <p:cNvGraphicFramePr>
              <a:graphicFrameLocks noChangeAspect="1"/>
            </p:cNvGraphicFramePr>
            <p:nvPr/>
          </p:nvGraphicFramePr>
          <p:xfrm>
            <a:off x="2946777" y="6079564"/>
            <a:ext cx="1914525" cy="654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1333500" imgH="457200" progId="Equation.DSMT4">
                    <p:embed/>
                  </p:oleObj>
                </mc:Choice>
                <mc:Fallback>
                  <p:oleObj name="Equation" r:id="rId14" imgW="1333500" imgH="457200" progId="Equation.DSMT4">
                    <p:embed/>
                    <p:pic>
                      <p:nvPicPr>
                        <p:cNvPr id="24" name="Objeto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46777" y="6079564"/>
                          <a:ext cx="1914525" cy="6540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" name="Retângulo 4"/>
            <p:cNvSpPr>
              <a:spLocks noChangeArrowheads="1"/>
            </p:cNvSpPr>
            <p:nvPr/>
          </p:nvSpPr>
          <p:spPr bwMode="auto">
            <a:xfrm>
              <a:off x="986202" y="6237312"/>
              <a:ext cx="1640193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i="1" dirty="0">
                  <a:latin typeface="Times New Roman" pitchFamily="18" charset="0"/>
                </a:rPr>
                <a:t>Y</a:t>
              </a:r>
              <a:r>
                <a:rPr lang="pt-BR" altLang="pt-BR" sz="1600" dirty="0">
                  <a:latin typeface="Times New Roman" pitchFamily="18" charset="0"/>
                </a:rPr>
                <a:t>: {</a:t>
              </a:r>
              <a:r>
                <a:rPr lang="pt-BR" altLang="pt-BR" sz="1600" i="1" dirty="0">
                  <a:latin typeface="Times New Roman" pitchFamily="18" charset="0"/>
                </a:rPr>
                <a:t>r</a:t>
              </a:r>
              <a:r>
                <a:rPr lang="pt-BR" altLang="pt-BR" sz="1600" dirty="0">
                  <a:latin typeface="Times New Roman" pitchFamily="18" charset="0"/>
                </a:rPr>
                <a:t>, </a:t>
              </a:r>
              <a:r>
                <a:rPr lang="pt-BR" altLang="pt-BR" sz="1600" i="1" dirty="0">
                  <a:latin typeface="Times New Roman" pitchFamily="18" charset="0"/>
                </a:rPr>
                <a:t>r</a:t>
              </a:r>
              <a:r>
                <a:rPr lang="pt-BR" altLang="pt-BR" sz="1600" dirty="0">
                  <a:latin typeface="Times New Roman" pitchFamily="18" charset="0"/>
                </a:rPr>
                <a:t>+1, ..., </a:t>
              </a:r>
              <a:r>
                <a:rPr lang="pt-BR" altLang="pt-BR" sz="1600" dirty="0">
                  <a:latin typeface="Times New Roman" pitchFamily="18" charset="0"/>
                  <a:sym typeface="Symbol" pitchFamily="18" charset="2"/>
                </a:rPr>
                <a:t></a:t>
              </a:r>
              <a:r>
                <a:rPr lang="pt-BR" altLang="pt-BR" sz="1600" dirty="0">
                  <a:latin typeface="Times New Roman" pitchFamily="18" charset="0"/>
                </a:rPr>
                <a:t>} 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graphicFrame>
          <p:nvGraphicFramePr>
            <p:cNvPr id="26" name="Objeto 6"/>
            <p:cNvGraphicFramePr>
              <a:graphicFrameLocks noChangeAspect="1"/>
            </p:cNvGraphicFramePr>
            <p:nvPr/>
          </p:nvGraphicFramePr>
          <p:xfrm>
            <a:off x="5311984" y="6105758"/>
            <a:ext cx="906463" cy="6016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634725" imgH="418918" progId="Equation.DSMT4">
                    <p:embed/>
                  </p:oleObj>
                </mc:Choice>
                <mc:Fallback>
                  <p:oleObj name="Equation" r:id="rId16" imgW="634725" imgH="418918" progId="Equation.DSMT4">
                    <p:embed/>
                    <p:pic>
                      <p:nvPicPr>
                        <p:cNvPr id="26" name="Objeto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11984" y="6105758"/>
                          <a:ext cx="906463" cy="6016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" name="Objeto 7"/>
            <p:cNvGraphicFramePr>
              <a:graphicFrameLocks noChangeAspect="1"/>
            </p:cNvGraphicFramePr>
            <p:nvPr/>
          </p:nvGraphicFramePr>
          <p:xfrm>
            <a:off x="6729271" y="6105758"/>
            <a:ext cx="1169988" cy="6016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812447" imgH="418918" progId="Equation.DSMT4">
                    <p:embed/>
                  </p:oleObj>
                </mc:Choice>
                <mc:Fallback>
                  <p:oleObj name="Equation" r:id="rId18" imgW="812447" imgH="418918" progId="Equation.DSMT4">
                    <p:embed/>
                    <p:pic>
                      <p:nvPicPr>
                        <p:cNvPr id="27" name="Objeto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29271" y="6105758"/>
                          <a:ext cx="1169988" cy="6016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" name="Retângulo 27"/>
            <p:cNvSpPr/>
            <p:nvPr/>
          </p:nvSpPr>
          <p:spPr>
            <a:xfrm>
              <a:off x="366592" y="5373216"/>
              <a:ext cx="8436480" cy="136815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</p:grpSp>
      <p:sp>
        <p:nvSpPr>
          <p:cNvPr id="3" name="Text Box 3">
            <a:extLst>
              <a:ext uri="{FF2B5EF4-FFF2-40B4-BE49-F238E27FC236}">
                <a16:creationId xmlns:a16="http://schemas.microsoft.com/office/drawing/2014/main" id="{0A1A8019-DACA-DF12-6DCA-A64ACCFEB1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1600200"/>
            <a:ext cx="6705600" cy="106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Considere o experimento: retiram-se bolas da urna (com reposição), até que se consiga 3 bolas vermelhas. Define-se uma v.a. </a:t>
            </a:r>
            <a:r>
              <a:rPr lang="pt-BR" altLang="pt-BR" sz="1600" i="1" dirty="0">
                <a:latin typeface="Times New Roman" pitchFamily="18" charset="0"/>
              </a:rPr>
              <a:t>X</a:t>
            </a:r>
            <a:r>
              <a:rPr lang="pt-BR" altLang="pt-BR" sz="1600" dirty="0">
                <a:latin typeface="Tahoma" panose="020B0604030504040204" pitchFamily="34" charset="0"/>
              </a:rPr>
              <a:t> cujos valores representam o número total de bolas azuis (fracassos) retiradas da urna até obter as 3 bolas vermelhas (sucessos).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Object 16"/>
          <p:cNvGraphicFramePr>
            <a:graphicFrameLocks noChangeAspect="1"/>
          </p:cNvGraphicFramePr>
          <p:nvPr/>
        </p:nvGraphicFramePr>
        <p:xfrm>
          <a:off x="7026310" y="4785607"/>
          <a:ext cx="1014412" cy="60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10891" imgH="418918" progId="Equation.DSMT4">
                  <p:embed/>
                </p:oleObj>
              </mc:Choice>
              <mc:Fallback>
                <p:oleObj name="Equation" r:id="rId2" imgW="710891" imgH="418918" progId="Equation.DSMT4">
                  <p:embed/>
                  <p:pic>
                    <p:nvPicPr>
                      <p:cNvPr id="2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26310" y="4785607"/>
                        <a:ext cx="1014412" cy="601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17"/>
          <p:cNvGraphicFramePr>
            <a:graphicFrameLocks noChangeAspect="1"/>
          </p:cNvGraphicFramePr>
          <p:nvPr/>
        </p:nvGraphicFramePr>
        <p:xfrm>
          <a:off x="7006397" y="5269804"/>
          <a:ext cx="1223963" cy="60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50531" imgH="418918" progId="Equation.DSMT4">
                  <p:embed/>
                </p:oleObj>
              </mc:Choice>
              <mc:Fallback>
                <p:oleObj name="Equation" r:id="rId4" imgW="850531" imgH="418918" progId="Equation.DSMT4">
                  <p:embed/>
                  <p:pic>
                    <p:nvPicPr>
                      <p:cNvPr id="21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06397" y="5269804"/>
                        <a:ext cx="1223963" cy="601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upo 6"/>
          <p:cNvGrpSpPr/>
          <p:nvPr/>
        </p:nvGrpSpPr>
        <p:grpSpPr>
          <a:xfrm>
            <a:off x="971600" y="2219266"/>
            <a:ext cx="3600000" cy="2160000"/>
            <a:chOff x="971600" y="2219266"/>
            <a:chExt cx="3600000" cy="2160000"/>
          </a:xfrm>
        </p:grpSpPr>
        <p:pic>
          <p:nvPicPr>
            <p:cNvPr id="35842" name="Picture 2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1600" y="2219266"/>
              <a:ext cx="3600000" cy="2160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" name="CaixaDeTexto 2"/>
            <p:cNvSpPr txBox="1"/>
            <p:nvPr/>
          </p:nvSpPr>
          <p:spPr>
            <a:xfrm>
              <a:off x="4340328" y="3968913"/>
              <a:ext cx="208268" cy="153888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pt-BR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pt-BR" sz="1000" dirty="0">
                  <a:latin typeface="Tahoma" panose="020B0604030504040204" pitchFamily="34" charset="0"/>
                  <a:sym typeface="Symbol"/>
                </a:rPr>
                <a:t></a:t>
              </a:r>
              <a:endParaRPr lang="pt-BR" sz="1000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6" name="Grupo 5"/>
          <p:cNvGrpSpPr/>
          <p:nvPr/>
        </p:nvGrpSpPr>
        <p:grpSpPr>
          <a:xfrm>
            <a:off x="4932040" y="2219266"/>
            <a:ext cx="3600000" cy="2160000"/>
            <a:chOff x="4932040" y="2219266"/>
            <a:chExt cx="3600000" cy="2160000"/>
          </a:xfrm>
        </p:grpSpPr>
        <p:pic>
          <p:nvPicPr>
            <p:cNvPr id="35843" name="Picture 3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32040" y="2219266"/>
              <a:ext cx="3600000" cy="2160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2" name="CaixaDeTexto 11"/>
            <p:cNvSpPr txBox="1"/>
            <p:nvPr/>
          </p:nvSpPr>
          <p:spPr>
            <a:xfrm>
              <a:off x="8223409" y="3973313"/>
              <a:ext cx="279876" cy="153888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pt-BR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pt-BR" sz="1000" dirty="0">
                  <a:latin typeface="Tahoma" panose="020B0604030504040204" pitchFamily="34" charset="0"/>
                  <a:sym typeface="Symbol"/>
                </a:rPr>
                <a:t></a:t>
              </a:r>
              <a:endParaRPr lang="pt-BR" sz="1000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5" name="Grupo 4"/>
          <p:cNvGrpSpPr/>
          <p:nvPr/>
        </p:nvGrpSpPr>
        <p:grpSpPr>
          <a:xfrm>
            <a:off x="2951820" y="4307498"/>
            <a:ext cx="3600000" cy="2160000"/>
            <a:chOff x="2951820" y="4307498"/>
            <a:chExt cx="3600000" cy="2160000"/>
          </a:xfrm>
        </p:grpSpPr>
        <p:pic>
          <p:nvPicPr>
            <p:cNvPr id="35844" name="Picture 4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51820" y="4307498"/>
              <a:ext cx="3600000" cy="2160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3" name="CaixaDeTexto 12"/>
            <p:cNvSpPr txBox="1"/>
            <p:nvPr/>
          </p:nvSpPr>
          <p:spPr>
            <a:xfrm>
              <a:off x="6255485" y="6058790"/>
              <a:ext cx="279876" cy="153888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pt-BR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pt-BR" sz="1000" dirty="0">
                  <a:latin typeface="Tahoma" panose="020B0604030504040204" pitchFamily="34" charset="0"/>
                  <a:sym typeface="Symbol"/>
                </a:rPr>
                <a:t></a:t>
              </a:r>
              <a:endParaRPr lang="pt-BR" sz="1000" dirty="0">
                <a:latin typeface="Tahoma" panose="020B0604030504040204" pitchFamily="34" charset="0"/>
              </a:endParaRPr>
            </a:p>
          </p:txBody>
        </p:sp>
      </p:grpSp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Distribuição Binomial Negativa</a:t>
            </a:r>
          </a:p>
        </p:txBody>
      </p:sp>
      <p:sp>
        <p:nvSpPr>
          <p:cNvPr id="7174" name="Text Box 3"/>
          <p:cNvSpPr txBox="1">
            <a:spLocks noChangeArrowheads="1"/>
          </p:cNvSpPr>
          <p:nvPr/>
        </p:nvSpPr>
        <p:spPr bwMode="auto">
          <a:xfrm>
            <a:off x="841375" y="1600200"/>
            <a:ext cx="784542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55600" indent="-35560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Exemplos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E7AD0D1-23E4-46ED-8741-3B96CDA51087}" type="slidenum">
              <a:rPr lang="pt-BR"/>
              <a:pPr>
                <a:defRPr/>
              </a:pPr>
              <a:t>37</a:t>
            </a:fld>
            <a:endParaRPr lang="pt-BR"/>
          </a:p>
        </p:txBody>
      </p:sp>
      <p:sp>
        <p:nvSpPr>
          <p:cNvPr id="4" name="CaixaDeTexto 3"/>
          <p:cNvSpPr txBox="1"/>
          <p:nvPr/>
        </p:nvSpPr>
        <p:spPr>
          <a:xfrm>
            <a:off x="2969371" y="2564904"/>
            <a:ext cx="7617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3</a:t>
            </a:r>
          </a:p>
          <a:p>
            <a:r>
              <a:rPr lang="pt-B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0,2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6876256" y="2564904"/>
            <a:ext cx="7617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10</a:t>
            </a:r>
          </a:p>
          <a:p>
            <a:r>
              <a:rPr lang="pt-B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0,8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4688828" y="4802723"/>
            <a:ext cx="7617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5</a:t>
            </a:r>
          </a:p>
          <a:p>
            <a:r>
              <a:rPr lang="pt-B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0,9</a:t>
            </a:r>
          </a:p>
        </p:txBody>
      </p:sp>
      <p:sp>
        <p:nvSpPr>
          <p:cNvPr id="19" name="Text Box 4"/>
          <p:cNvSpPr txBox="1">
            <a:spLocks noChangeArrowheads="1"/>
          </p:cNvSpPr>
          <p:nvPr/>
        </p:nvSpPr>
        <p:spPr bwMode="auto">
          <a:xfrm>
            <a:off x="210220" y="6476586"/>
            <a:ext cx="8001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Em que situação a média e a variância são maiores?</a:t>
            </a:r>
          </a:p>
        </p:txBody>
      </p:sp>
    </p:spTree>
    <p:extLst>
      <p:ext uri="{BB962C8B-B14F-4D97-AF65-F5344CB8AC3E}">
        <p14:creationId xmlns:p14="http://schemas.microsoft.com/office/powerpoint/2010/main" val="561714678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Distribuição Hipergeométrica</a:t>
            </a:r>
          </a:p>
        </p:txBody>
      </p:sp>
      <p:sp>
        <p:nvSpPr>
          <p:cNvPr id="29699" name="Text Box 3"/>
          <p:cNvSpPr txBox="1">
            <a:spLocks noChangeArrowheads="1"/>
          </p:cNvSpPr>
          <p:nvPr/>
        </p:nvSpPr>
        <p:spPr bwMode="auto">
          <a:xfrm>
            <a:off x="1981200" y="1600200"/>
            <a:ext cx="6629400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Considere o experimento: retiram-se 3 bolas da urna (</a:t>
            </a: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</a:rPr>
              <a:t>sem reposição</a:t>
            </a:r>
            <a:r>
              <a:rPr lang="pt-BR" altLang="pt-BR" sz="1600" dirty="0">
                <a:latin typeface="Tahoma" panose="020B0604030504040204" pitchFamily="34" charset="0"/>
              </a:rPr>
              <a:t>). Define-se uma v.a. </a:t>
            </a:r>
            <a:r>
              <a:rPr lang="pt-BR" altLang="pt-BR" sz="1600" i="1" dirty="0">
                <a:latin typeface="Times New Roman" pitchFamily="18" charset="0"/>
              </a:rPr>
              <a:t>X</a:t>
            </a:r>
            <a:r>
              <a:rPr lang="pt-BR" altLang="pt-BR" sz="1600" dirty="0">
                <a:latin typeface="Tahoma" panose="020B0604030504040204" pitchFamily="34" charset="0"/>
              </a:rPr>
              <a:t> cujos valores representam o número total de bolas vermelhas dentre as 3 escolhidas.</a:t>
            </a:r>
          </a:p>
        </p:txBody>
      </p:sp>
      <p:grpSp>
        <p:nvGrpSpPr>
          <p:cNvPr id="29700" name="Group 4"/>
          <p:cNvGrpSpPr>
            <a:grpSpLocks/>
          </p:cNvGrpSpPr>
          <p:nvPr/>
        </p:nvGrpSpPr>
        <p:grpSpPr bwMode="auto">
          <a:xfrm>
            <a:off x="838200" y="1447800"/>
            <a:ext cx="914400" cy="1295400"/>
            <a:chOff x="2688" y="3264"/>
            <a:chExt cx="576" cy="816"/>
          </a:xfrm>
        </p:grpSpPr>
        <p:sp>
          <p:nvSpPr>
            <p:cNvPr id="29741" name="Freeform 5"/>
            <p:cNvSpPr>
              <a:spLocks/>
            </p:cNvSpPr>
            <p:nvPr/>
          </p:nvSpPr>
          <p:spPr bwMode="auto">
            <a:xfrm>
              <a:off x="2688" y="3264"/>
              <a:ext cx="576" cy="816"/>
            </a:xfrm>
            <a:custGeom>
              <a:avLst/>
              <a:gdLst>
                <a:gd name="T0" fmla="*/ 0 w 576"/>
                <a:gd name="T1" fmla="*/ 0 h 816"/>
                <a:gd name="T2" fmla="*/ 0 w 576"/>
                <a:gd name="T3" fmla="*/ 816 h 816"/>
                <a:gd name="T4" fmla="*/ 576 w 576"/>
                <a:gd name="T5" fmla="*/ 816 h 816"/>
                <a:gd name="T6" fmla="*/ 576 w 576"/>
                <a:gd name="T7" fmla="*/ 0 h 8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"/>
                <a:gd name="T13" fmla="*/ 0 h 816"/>
                <a:gd name="T14" fmla="*/ 576 w 576"/>
                <a:gd name="T15" fmla="*/ 816 h 8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" h="816">
                  <a:moveTo>
                    <a:pt x="0" y="0"/>
                  </a:moveTo>
                  <a:lnTo>
                    <a:pt x="0" y="816"/>
                  </a:lnTo>
                  <a:lnTo>
                    <a:pt x="576" y="816"/>
                  </a:lnTo>
                  <a:lnTo>
                    <a:pt x="576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29742" name="Oval 6"/>
            <p:cNvSpPr>
              <a:spLocks noChangeArrowheads="1"/>
            </p:cNvSpPr>
            <p:nvPr/>
          </p:nvSpPr>
          <p:spPr bwMode="auto">
            <a:xfrm>
              <a:off x="2784" y="336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29743" name="Oval 7"/>
            <p:cNvSpPr>
              <a:spLocks noChangeArrowheads="1"/>
            </p:cNvSpPr>
            <p:nvPr/>
          </p:nvSpPr>
          <p:spPr bwMode="auto">
            <a:xfrm>
              <a:off x="3024" y="348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29744" name="Oval 8"/>
            <p:cNvSpPr>
              <a:spLocks noChangeArrowheads="1"/>
            </p:cNvSpPr>
            <p:nvPr/>
          </p:nvSpPr>
          <p:spPr bwMode="auto">
            <a:xfrm>
              <a:off x="2784" y="384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29745" name="Oval 9"/>
            <p:cNvSpPr>
              <a:spLocks noChangeArrowheads="1"/>
            </p:cNvSpPr>
            <p:nvPr/>
          </p:nvSpPr>
          <p:spPr bwMode="auto">
            <a:xfrm>
              <a:off x="2784" y="3600"/>
              <a:ext cx="144" cy="14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29746" name="Oval 10"/>
            <p:cNvSpPr>
              <a:spLocks noChangeArrowheads="1"/>
            </p:cNvSpPr>
            <p:nvPr/>
          </p:nvSpPr>
          <p:spPr bwMode="auto">
            <a:xfrm>
              <a:off x="3024" y="3696"/>
              <a:ext cx="144" cy="14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29747" name="Oval 11"/>
            <p:cNvSpPr>
              <a:spLocks noChangeArrowheads="1"/>
            </p:cNvSpPr>
            <p:nvPr/>
          </p:nvSpPr>
          <p:spPr bwMode="auto">
            <a:xfrm>
              <a:off x="3024" y="3264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29748" name="Oval 12"/>
            <p:cNvSpPr>
              <a:spLocks noChangeArrowheads="1"/>
            </p:cNvSpPr>
            <p:nvPr/>
          </p:nvSpPr>
          <p:spPr bwMode="auto">
            <a:xfrm>
              <a:off x="3024" y="3912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sp>
        <p:nvSpPr>
          <p:cNvPr id="4122" name="Text Box 13"/>
          <p:cNvSpPr txBox="1">
            <a:spLocks noChangeArrowheads="1"/>
          </p:cNvSpPr>
          <p:nvPr/>
        </p:nvSpPr>
        <p:spPr bwMode="auto">
          <a:xfrm>
            <a:off x="838200" y="2971800"/>
            <a:ext cx="48768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 dirty="0">
                <a:latin typeface="Times New Roman" pitchFamily="18" charset="0"/>
              </a:rPr>
              <a:t>X</a:t>
            </a:r>
            <a:r>
              <a:rPr lang="pt-BR" altLang="pt-BR" sz="1600" dirty="0">
                <a:latin typeface="Times New Roman" pitchFamily="18" charset="0"/>
              </a:rPr>
              <a:t>: {1, 2, 3}</a:t>
            </a: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133134" name="Text Box 14"/>
          <p:cNvSpPr txBox="1">
            <a:spLocks noChangeArrowheads="1"/>
          </p:cNvSpPr>
          <p:nvPr/>
        </p:nvSpPr>
        <p:spPr bwMode="auto">
          <a:xfrm>
            <a:off x="2819400" y="2971800"/>
            <a:ext cx="56388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 dirty="0">
                <a:latin typeface="Times New Roman" pitchFamily="18" charset="0"/>
              </a:rPr>
              <a:t>n</a:t>
            </a:r>
            <a:r>
              <a:rPr lang="pt-BR" altLang="pt-BR" sz="1600" dirty="0">
                <a:latin typeface="Times New Roman" pitchFamily="18" charset="0"/>
              </a:rPr>
              <a:t> = 3        </a:t>
            </a:r>
            <a:r>
              <a:rPr lang="pt-BR" altLang="pt-BR" sz="1600" i="1" dirty="0">
                <a:latin typeface="Times New Roman" pitchFamily="18" charset="0"/>
              </a:rPr>
              <a:t>M</a:t>
            </a:r>
            <a:r>
              <a:rPr lang="pt-BR" altLang="pt-BR" sz="1600" dirty="0">
                <a:latin typeface="Times New Roman" pitchFamily="18" charset="0"/>
              </a:rPr>
              <a:t> = 7         </a:t>
            </a:r>
            <a:r>
              <a:rPr lang="pt-BR" altLang="pt-BR" sz="1600" i="1" dirty="0">
                <a:latin typeface="Times New Roman" pitchFamily="18" charset="0"/>
              </a:rPr>
              <a:t>K</a:t>
            </a:r>
            <a:r>
              <a:rPr lang="pt-BR" altLang="pt-BR" sz="1600" dirty="0">
                <a:latin typeface="Times New Roman" pitchFamily="18" charset="0"/>
              </a:rPr>
              <a:t> = 5</a:t>
            </a: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133135" name="Text Box 15"/>
          <p:cNvSpPr txBox="1">
            <a:spLocks noChangeArrowheads="1"/>
          </p:cNvSpPr>
          <p:nvPr/>
        </p:nvSpPr>
        <p:spPr bwMode="auto">
          <a:xfrm>
            <a:off x="4787900" y="4725988"/>
            <a:ext cx="838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i="1">
                <a:latin typeface="Times New Roman" pitchFamily="18" charset="0"/>
              </a:rPr>
              <a:t>f</a:t>
            </a:r>
            <a:r>
              <a:rPr lang="pt-BR" altLang="pt-BR" sz="1600" i="1">
                <a:latin typeface="Times New Roman" pitchFamily="18" charset="0"/>
              </a:rPr>
              <a:t> </a:t>
            </a:r>
            <a:r>
              <a:rPr lang="pt-BR" altLang="pt-BR" sz="1600">
                <a:latin typeface="Times New Roman" pitchFamily="18" charset="0"/>
              </a:rPr>
              <a:t>(</a:t>
            </a:r>
            <a:r>
              <a:rPr lang="pt-BR" altLang="pt-BR" sz="1600" i="1">
                <a:latin typeface="Times New Roman" pitchFamily="18" charset="0"/>
              </a:rPr>
              <a:t>x</a:t>
            </a:r>
            <a:r>
              <a:rPr lang="pt-BR" altLang="pt-BR" sz="1600">
                <a:latin typeface="Times New Roman" pitchFamily="18" charset="0"/>
              </a:rPr>
              <a:t>) = ?</a:t>
            </a:r>
          </a:p>
        </p:txBody>
      </p:sp>
      <p:graphicFrame>
        <p:nvGraphicFramePr>
          <p:cNvPr id="133136" name="Object 16"/>
          <p:cNvGraphicFramePr>
            <a:graphicFrameLocks noChangeAspect="1"/>
          </p:cNvGraphicFramePr>
          <p:nvPr/>
        </p:nvGraphicFramePr>
        <p:xfrm>
          <a:off x="914400" y="3625850"/>
          <a:ext cx="1054100" cy="29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36600" imgH="203200" progId="Equation.DSMT4">
                  <p:embed/>
                </p:oleObj>
              </mc:Choice>
              <mc:Fallback>
                <p:oleObj name="Equation" r:id="rId2" imgW="736600" imgH="203200" progId="Equation.DSMT4">
                  <p:embed/>
                  <p:pic>
                    <p:nvPicPr>
                      <p:cNvPr id="133136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3625850"/>
                        <a:ext cx="1054100" cy="290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37" name="Object 17"/>
          <p:cNvGraphicFramePr>
            <a:graphicFrameLocks noChangeAspect="1"/>
          </p:cNvGraphicFramePr>
          <p:nvPr/>
        </p:nvGraphicFramePr>
        <p:xfrm>
          <a:off x="2038350" y="3473450"/>
          <a:ext cx="727075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07780" imgH="393529" progId="Equation.DSMT4">
                  <p:embed/>
                </p:oleObj>
              </mc:Choice>
              <mc:Fallback>
                <p:oleObj name="Equation" r:id="rId4" imgW="507780" imgH="393529" progId="Equation.DSMT4">
                  <p:embed/>
                  <p:pic>
                    <p:nvPicPr>
                      <p:cNvPr id="133137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8350" y="3473450"/>
                        <a:ext cx="727075" cy="56356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38" name="Object 18"/>
          <p:cNvGraphicFramePr>
            <a:graphicFrameLocks noChangeAspect="1"/>
          </p:cNvGraphicFramePr>
          <p:nvPr/>
        </p:nvGraphicFramePr>
        <p:xfrm>
          <a:off x="2063750" y="3475038"/>
          <a:ext cx="527050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68140" imgH="393529" progId="Equation.DSMT4">
                  <p:embed/>
                </p:oleObj>
              </mc:Choice>
              <mc:Fallback>
                <p:oleObj name="Equation" r:id="rId6" imgW="368140" imgH="393529" progId="Equation.DSMT4">
                  <p:embed/>
                  <p:pic>
                    <p:nvPicPr>
                      <p:cNvPr id="133138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750" y="3475038"/>
                        <a:ext cx="527050" cy="563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39" name="Object 19"/>
          <p:cNvGraphicFramePr>
            <a:graphicFrameLocks noChangeAspect="1"/>
          </p:cNvGraphicFramePr>
          <p:nvPr/>
        </p:nvGraphicFramePr>
        <p:xfrm>
          <a:off x="2743200" y="3629025"/>
          <a:ext cx="163513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14102" imgH="177492" progId="Equation.DSMT4">
                  <p:embed/>
                </p:oleObj>
              </mc:Choice>
              <mc:Fallback>
                <p:oleObj name="Equation" r:id="rId8" imgW="114102" imgH="177492" progId="Equation.DSMT4">
                  <p:embed/>
                  <p:pic>
                    <p:nvPicPr>
                      <p:cNvPr id="133139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3629025"/>
                        <a:ext cx="163513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40" name="Text Box 20"/>
          <p:cNvSpPr txBox="1">
            <a:spLocks noChangeArrowheads="1"/>
          </p:cNvSpPr>
          <p:nvPr/>
        </p:nvSpPr>
        <p:spPr bwMode="auto">
          <a:xfrm>
            <a:off x="2005013" y="3975100"/>
            <a:ext cx="5905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a a a</a:t>
            </a:r>
          </a:p>
        </p:txBody>
      </p:sp>
      <p:graphicFrame>
        <p:nvGraphicFramePr>
          <p:cNvPr id="133141" name="Object 21"/>
          <p:cNvGraphicFramePr>
            <a:graphicFrameLocks noChangeAspect="1"/>
          </p:cNvGraphicFramePr>
          <p:nvPr/>
        </p:nvGraphicFramePr>
        <p:xfrm>
          <a:off x="947738" y="4648200"/>
          <a:ext cx="1035050" cy="29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723586" imgH="203112" progId="Equation.DSMT4">
                  <p:embed/>
                </p:oleObj>
              </mc:Choice>
              <mc:Fallback>
                <p:oleObj name="Equation" r:id="rId10" imgW="723586" imgH="203112" progId="Equation.DSMT4">
                  <p:embed/>
                  <p:pic>
                    <p:nvPicPr>
                      <p:cNvPr id="133141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7738" y="4648200"/>
                        <a:ext cx="1035050" cy="290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42" name="Object 22"/>
          <p:cNvGraphicFramePr>
            <a:graphicFrameLocks noChangeAspect="1"/>
          </p:cNvGraphicFramePr>
          <p:nvPr/>
        </p:nvGraphicFramePr>
        <p:xfrm>
          <a:off x="2381250" y="4495800"/>
          <a:ext cx="708025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95085" imgH="393529" progId="Equation.DSMT4">
                  <p:embed/>
                </p:oleObj>
              </mc:Choice>
              <mc:Fallback>
                <p:oleObj name="Equation" r:id="rId12" imgW="495085" imgH="393529" progId="Equation.DSMT4">
                  <p:embed/>
                  <p:pic>
                    <p:nvPicPr>
                      <p:cNvPr id="133142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1250" y="4495800"/>
                        <a:ext cx="708025" cy="56356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43" name="Object 23"/>
          <p:cNvGraphicFramePr>
            <a:graphicFrameLocks noChangeAspect="1"/>
          </p:cNvGraphicFramePr>
          <p:nvPr/>
        </p:nvGraphicFramePr>
        <p:xfrm>
          <a:off x="2390775" y="4495800"/>
          <a:ext cx="527050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68140" imgH="393529" progId="Equation.DSMT4">
                  <p:embed/>
                </p:oleObj>
              </mc:Choice>
              <mc:Fallback>
                <p:oleObj name="Equation" r:id="rId14" imgW="368140" imgH="393529" progId="Equation.DSMT4">
                  <p:embed/>
                  <p:pic>
                    <p:nvPicPr>
                      <p:cNvPr id="133143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0775" y="4495800"/>
                        <a:ext cx="527050" cy="563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44" name="Text Box 24"/>
          <p:cNvSpPr txBox="1">
            <a:spLocks noChangeArrowheads="1"/>
          </p:cNvSpPr>
          <p:nvPr/>
        </p:nvSpPr>
        <p:spPr bwMode="auto">
          <a:xfrm>
            <a:off x="2330450" y="4997450"/>
            <a:ext cx="5794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v a a</a:t>
            </a:r>
          </a:p>
        </p:txBody>
      </p:sp>
      <p:graphicFrame>
        <p:nvGraphicFramePr>
          <p:cNvPr id="133145" name="Object 25"/>
          <p:cNvGraphicFramePr>
            <a:graphicFrameLocks noChangeAspect="1"/>
          </p:cNvGraphicFramePr>
          <p:nvPr/>
        </p:nvGraphicFramePr>
        <p:xfrm>
          <a:off x="1968500" y="4492625"/>
          <a:ext cx="436563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304536" imgH="393359" progId="Equation.DSMT4">
                  <p:embed/>
                </p:oleObj>
              </mc:Choice>
              <mc:Fallback>
                <p:oleObj name="Equation" r:id="rId15" imgW="304536" imgH="393359" progId="Equation.DSMT4">
                  <p:embed/>
                  <p:pic>
                    <p:nvPicPr>
                      <p:cNvPr id="133145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8500" y="4492625"/>
                        <a:ext cx="436563" cy="563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46" name="Object 26"/>
          <p:cNvGraphicFramePr>
            <a:graphicFrameLocks noChangeAspect="1"/>
          </p:cNvGraphicFramePr>
          <p:nvPr/>
        </p:nvGraphicFramePr>
        <p:xfrm>
          <a:off x="3086100" y="4492625"/>
          <a:ext cx="836613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583947" imgH="393529" progId="Equation.DSMT4">
                  <p:embed/>
                </p:oleObj>
              </mc:Choice>
              <mc:Fallback>
                <p:oleObj name="Equation" r:id="rId17" imgW="583947" imgH="393529" progId="Equation.DSMT4">
                  <p:embed/>
                  <p:pic>
                    <p:nvPicPr>
                      <p:cNvPr id="133146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6100" y="4492625"/>
                        <a:ext cx="836613" cy="56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47" name="Object 27"/>
          <p:cNvGraphicFramePr>
            <a:graphicFrameLocks noChangeAspect="1"/>
          </p:cNvGraphicFramePr>
          <p:nvPr/>
        </p:nvGraphicFramePr>
        <p:xfrm>
          <a:off x="930275" y="5562600"/>
          <a:ext cx="1071563" cy="29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748975" imgH="203112" progId="Equation.DSMT4">
                  <p:embed/>
                </p:oleObj>
              </mc:Choice>
              <mc:Fallback>
                <p:oleObj name="Equation" r:id="rId19" imgW="748975" imgH="203112" progId="Equation.DSMT4">
                  <p:embed/>
                  <p:pic>
                    <p:nvPicPr>
                      <p:cNvPr id="133147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0275" y="5562600"/>
                        <a:ext cx="1071563" cy="290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48" name="Object 28"/>
          <p:cNvGraphicFramePr>
            <a:graphicFrameLocks noChangeAspect="1"/>
          </p:cNvGraphicFramePr>
          <p:nvPr/>
        </p:nvGraphicFramePr>
        <p:xfrm>
          <a:off x="2362200" y="5410200"/>
          <a:ext cx="727075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507780" imgH="393529" progId="Equation.DSMT4">
                  <p:embed/>
                </p:oleObj>
              </mc:Choice>
              <mc:Fallback>
                <p:oleObj name="Equation" r:id="rId21" imgW="507780" imgH="393529" progId="Equation.DSMT4">
                  <p:embed/>
                  <p:pic>
                    <p:nvPicPr>
                      <p:cNvPr id="133148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5410200"/>
                        <a:ext cx="727075" cy="56356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49" name="Object 29"/>
          <p:cNvGraphicFramePr>
            <a:graphicFrameLocks noChangeAspect="1"/>
          </p:cNvGraphicFramePr>
          <p:nvPr/>
        </p:nvGraphicFramePr>
        <p:xfrm>
          <a:off x="2390775" y="5410200"/>
          <a:ext cx="527050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368140" imgH="393529" progId="Equation.DSMT4">
                  <p:embed/>
                </p:oleObj>
              </mc:Choice>
              <mc:Fallback>
                <p:oleObj name="Equation" r:id="rId23" imgW="368140" imgH="393529" progId="Equation.DSMT4">
                  <p:embed/>
                  <p:pic>
                    <p:nvPicPr>
                      <p:cNvPr id="133149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0775" y="5410200"/>
                        <a:ext cx="527050" cy="563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50" name="Text Box 30"/>
          <p:cNvSpPr txBox="1">
            <a:spLocks noChangeArrowheads="1"/>
          </p:cNvSpPr>
          <p:nvPr/>
        </p:nvSpPr>
        <p:spPr bwMode="auto">
          <a:xfrm>
            <a:off x="2330450" y="5911850"/>
            <a:ext cx="5683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v v a</a:t>
            </a:r>
          </a:p>
        </p:txBody>
      </p:sp>
      <p:graphicFrame>
        <p:nvGraphicFramePr>
          <p:cNvPr id="133151" name="Object 31"/>
          <p:cNvGraphicFramePr>
            <a:graphicFrameLocks noChangeAspect="1"/>
          </p:cNvGraphicFramePr>
          <p:nvPr/>
        </p:nvGraphicFramePr>
        <p:xfrm>
          <a:off x="1968500" y="5407025"/>
          <a:ext cx="436563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304536" imgH="393359" progId="Equation.DSMT4">
                  <p:embed/>
                </p:oleObj>
              </mc:Choice>
              <mc:Fallback>
                <p:oleObj name="Equation" r:id="rId24" imgW="304536" imgH="393359" progId="Equation.DSMT4">
                  <p:embed/>
                  <p:pic>
                    <p:nvPicPr>
                      <p:cNvPr id="133151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8500" y="5407025"/>
                        <a:ext cx="436563" cy="563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52" name="Object 32"/>
          <p:cNvGraphicFramePr>
            <a:graphicFrameLocks noChangeAspect="1"/>
          </p:cNvGraphicFramePr>
          <p:nvPr/>
        </p:nvGraphicFramePr>
        <p:xfrm>
          <a:off x="3067050" y="5407025"/>
          <a:ext cx="836613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583947" imgH="393529" progId="Equation.DSMT4">
                  <p:embed/>
                </p:oleObj>
              </mc:Choice>
              <mc:Fallback>
                <p:oleObj name="Equation" r:id="rId26" imgW="583947" imgH="393529" progId="Equation.DSMT4">
                  <p:embed/>
                  <p:pic>
                    <p:nvPicPr>
                      <p:cNvPr id="133152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7050" y="5407025"/>
                        <a:ext cx="836613" cy="563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53" name="Object 33"/>
          <p:cNvGraphicFramePr>
            <a:graphicFrameLocks noChangeAspect="1"/>
          </p:cNvGraphicFramePr>
          <p:nvPr/>
        </p:nvGraphicFramePr>
        <p:xfrm>
          <a:off x="5257800" y="3625850"/>
          <a:ext cx="1054100" cy="29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736600" imgH="203200" progId="Equation.DSMT4">
                  <p:embed/>
                </p:oleObj>
              </mc:Choice>
              <mc:Fallback>
                <p:oleObj name="Equation" r:id="rId28" imgW="736600" imgH="203200" progId="Equation.DSMT4">
                  <p:embed/>
                  <p:pic>
                    <p:nvPicPr>
                      <p:cNvPr id="133153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3625850"/>
                        <a:ext cx="1054100" cy="290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54" name="Object 34"/>
          <p:cNvGraphicFramePr>
            <a:graphicFrameLocks noChangeAspect="1"/>
          </p:cNvGraphicFramePr>
          <p:nvPr/>
        </p:nvGraphicFramePr>
        <p:xfrm>
          <a:off x="6353175" y="3473450"/>
          <a:ext cx="708025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495085" imgH="393529" progId="Equation.DSMT4">
                  <p:embed/>
                </p:oleObj>
              </mc:Choice>
              <mc:Fallback>
                <p:oleObj name="Equation" r:id="rId30" imgW="495085" imgH="393529" progId="Equation.DSMT4">
                  <p:embed/>
                  <p:pic>
                    <p:nvPicPr>
                      <p:cNvPr id="133154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3175" y="3473450"/>
                        <a:ext cx="708025" cy="56356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55" name="Object 35"/>
          <p:cNvGraphicFramePr>
            <a:graphicFrameLocks noChangeAspect="1"/>
          </p:cNvGraphicFramePr>
          <p:nvPr/>
        </p:nvGraphicFramePr>
        <p:xfrm>
          <a:off x="6359525" y="3475038"/>
          <a:ext cx="527050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368140" imgH="393529" progId="Equation.DSMT4">
                  <p:embed/>
                </p:oleObj>
              </mc:Choice>
              <mc:Fallback>
                <p:oleObj name="Equation" r:id="rId32" imgW="368140" imgH="393529" progId="Equation.DSMT4">
                  <p:embed/>
                  <p:pic>
                    <p:nvPicPr>
                      <p:cNvPr id="133155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9525" y="3475038"/>
                        <a:ext cx="527050" cy="563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56" name="Object 36"/>
          <p:cNvGraphicFramePr>
            <a:graphicFrameLocks noChangeAspect="1"/>
          </p:cNvGraphicFramePr>
          <p:nvPr/>
        </p:nvGraphicFramePr>
        <p:xfrm>
          <a:off x="7078663" y="3473450"/>
          <a:ext cx="693737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482391" imgH="393529" progId="Equation.DSMT4">
                  <p:embed/>
                </p:oleObj>
              </mc:Choice>
              <mc:Fallback>
                <p:oleObj name="Equation" r:id="rId33" imgW="482391" imgH="393529" progId="Equation.DSMT4">
                  <p:embed/>
                  <p:pic>
                    <p:nvPicPr>
                      <p:cNvPr id="133156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78663" y="3473450"/>
                        <a:ext cx="693737" cy="563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57" name="Text Box 37"/>
          <p:cNvSpPr txBox="1">
            <a:spLocks noChangeArrowheads="1"/>
          </p:cNvSpPr>
          <p:nvPr/>
        </p:nvSpPr>
        <p:spPr bwMode="auto">
          <a:xfrm>
            <a:off x="6348413" y="3975100"/>
            <a:ext cx="5572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v v v</a:t>
            </a:r>
          </a:p>
        </p:txBody>
      </p:sp>
      <p:grpSp>
        <p:nvGrpSpPr>
          <p:cNvPr id="3" name="Group 64"/>
          <p:cNvGrpSpPr>
            <a:grpSpLocks/>
          </p:cNvGrpSpPr>
          <p:nvPr/>
        </p:nvGrpSpPr>
        <p:grpSpPr bwMode="auto">
          <a:xfrm>
            <a:off x="5435600" y="4337050"/>
            <a:ext cx="3475038" cy="1162050"/>
            <a:chOff x="3424" y="2635"/>
            <a:chExt cx="2189" cy="732"/>
          </a:xfrm>
        </p:grpSpPr>
        <p:sp>
          <p:nvSpPr>
            <p:cNvPr id="29739" name="Rectangle 39"/>
            <p:cNvSpPr>
              <a:spLocks noChangeArrowheads="1"/>
            </p:cNvSpPr>
            <p:nvPr/>
          </p:nvSpPr>
          <p:spPr bwMode="auto">
            <a:xfrm>
              <a:off x="3424" y="2784"/>
              <a:ext cx="1648" cy="4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graphicFrame>
          <p:nvGraphicFramePr>
            <p:cNvPr id="29740" name="Object 40"/>
            <p:cNvGraphicFramePr>
              <a:graphicFrameLocks noChangeAspect="1"/>
            </p:cNvGraphicFramePr>
            <p:nvPr/>
          </p:nvGraphicFramePr>
          <p:xfrm>
            <a:off x="3990" y="2635"/>
            <a:ext cx="1623" cy="7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5" imgW="1790700" imgH="812800" progId="Equation.DSMT4">
                    <p:embed/>
                  </p:oleObj>
                </mc:Choice>
                <mc:Fallback>
                  <p:oleObj name="Equation" r:id="rId35" imgW="1790700" imgH="812800" progId="Equation.DSMT4">
                    <p:embed/>
                    <p:pic>
                      <p:nvPicPr>
                        <p:cNvPr id="29740" name="Object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90" y="2635"/>
                          <a:ext cx="1623" cy="732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33161" name="Object 41"/>
          <p:cNvGraphicFramePr>
            <a:graphicFrameLocks noChangeAspect="1"/>
          </p:cNvGraphicFramePr>
          <p:nvPr/>
        </p:nvGraphicFramePr>
        <p:xfrm>
          <a:off x="5405438" y="4621213"/>
          <a:ext cx="908050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7" imgW="634725" imgH="418918" progId="Equation.DSMT4">
                  <p:embed/>
                </p:oleObj>
              </mc:Choice>
              <mc:Fallback>
                <p:oleObj name="Equation" r:id="rId37" imgW="634725" imgH="418918" progId="Equation.DSMT4">
                  <p:embed/>
                  <p:pic>
                    <p:nvPicPr>
                      <p:cNvPr id="133161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05438" y="4621213"/>
                        <a:ext cx="908050" cy="6000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62" name="Object 42"/>
          <p:cNvGraphicFramePr>
            <a:graphicFrameLocks noChangeAspect="1"/>
          </p:cNvGraphicFramePr>
          <p:nvPr/>
        </p:nvGraphicFramePr>
        <p:xfrm>
          <a:off x="5257800" y="5505450"/>
          <a:ext cx="1985963" cy="1308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9" imgW="1384300" imgH="914400" progId="Equation.DSMT4">
                  <p:embed/>
                </p:oleObj>
              </mc:Choice>
              <mc:Fallback>
                <p:oleObj name="Equation" r:id="rId39" imgW="1384300" imgH="914400" progId="Equation.DSMT4">
                  <p:embed/>
                  <p:pic>
                    <p:nvPicPr>
                      <p:cNvPr id="133162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5505450"/>
                        <a:ext cx="1985963" cy="13081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43"/>
          <p:cNvGrpSpPr>
            <a:grpSpLocks/>
          </p:cNvGrpSpPr>
          <p:nvPr/>
        </p:nvGrpSpPr>
        <p:grpSpPr bwMode="auto">
          <a:xfrm>
            <a:off x="2809875" y="2606675"/>
            <a:ext cx="3513138" cy="727075"/>
            <a:chOff x="1770" y="1642"/>
            <a:chExt cx="2213" cy="458"/>
          </a:xfrm>
        </p:grpSpPr>
        <p:sp>
          <p:nvSpPr>
            <p:cNvPr id="29737" name="Text Box 44"/>
            <p:cNvSpPr txBox="1">
              <a:spLocks noChangeArrowheads="1"/>
            </p:cNvSpPr>
            <p:nvPr/>
          </p:nvSpPr>
          <p:spPr bwMode="auto">
            <a:xfrm>
              <a:off x="1832" y="1642"/>
              <a:ext cx="215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número de bolas retiradas da urna</a:t>
              </a:r>
            </a:p>
          </p:txBody>
        </p:sp>
        <p:sp>
          <p:nvSpPr>
            <p:cNvPr id="29738" name="Oval 45"/>
            <p:cNvSpPr>
              <a:spLocks noChangeArrowheads="1"/>
            </p:cNvSpPr>
            <p:nvPr/>
          </p:nvSpPr>
          <p:spPr bwMode="auto">
            <a:xfrm>
              <a:off x="1770" y="1860"/>
              <a:ext cx="384" cy="240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5" name="Group 46"/>
          <p:cNvGrpSpPr>
            <a:grpSpLocks/>
          </p:cNvGrpSpPr>
          <p:nvPr/>
        </p:nvGrpSpPr>
        <p:grpSpPr bwMode="auto">
          <a:xfrm>
            <a:off x="3662363" y="2952750"/>
            <a:ext cx="3203575" cy="660400"/>
            <a:chOff x="1770" y="1860"/>
            <a:chExt cx="2018" cy="416"/>
          </a:xfrm>
        </p:grpSpPr>
        <p:sp>
          <p:nvSpPr>
            <p:cNvPr id="29735" name="Text Box 47"/>
            <p:cNvSpPr txBox="1">
              <a:spLocks noChangeArrowheads="1"/>
            </p:cNvSpPr>
            <p:nvPr/>
          </p:nvSpPr>
          <p:spPr bwMode="auto">
            <a:xfrm>
              <a:off x="1916" y="2064"/>
              <a:ext cx="187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número total de bolas na urna</a:t>
              </a:r>
            </a:p>
          </p:txBody>
        </p:sp>
        <p:sp>
          <p:nvSpPr>
            <p:cNvPr id="29736" name="Oval 48"/>
            <p:cNvSpPr>
              <a:spLocks noChangeArrowheads="1"/>
            </p:cNvSpPr>
            <p:nvPr/>
          </p:nvSpPr>
          <p:spPr bwMode="auto">
            <a:xfrm>
              <a:off x="1770" y="1860"/>
              <a:ext cx="384" cy="240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6" name="Group 49"/>
          <p:cNvGrpSpPr>
            <a:grpSpLocks/>
          </p:cNvGrpSpPr>
          <p:nvPr/>
        </p:nvGrpSpPr>
        <p:grpSpPr bwMode="auto">
          <a:xfrm>
            <a:off x="4595813" y="2946400"/>
            <a:ext cx="4037013" cy="387350"/>
            <a:chOff x="1770" y="1856"/>
            <a:chExt cx="2543" cy="244"/>
          </a:xfrm>
        </p:grpSpPr>
        <p:sp>
          <p:nvSpPr>
            <p:cNvPr id="29733" name="Text Box 50"/>
            <p:cNvSpPr txBox="1">
              <a:spLocks noChangeArrowheads="1"/>
            </p:cNvSpPr>
            <p:nvPr/>
          </p:nvSpPr>
          <p:spPr bwMode="auto">
            <a:xfrm>
              <a:off x="2129" y="1856"/>
              <a:ext cx="218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número de bolas vermelhas na urna</a:t>
              </a:r>
            </a:p>
          </p:txBody>
        </p:sp>
        <p:sp>
          <p:nvSpPr>
            <p:cNvPr id="29734" name="Oval 51"/>
            <p:cNvSpPr>
              <a:spLocks noChangeArrowheads="1"/>
            </p:cNvSpPr>
            <p:nvPr/>
          </p:nvSpPr>
          <p:spPr bwMode="auto">
            <a:xfrm>
              <a:off x="1770" y="1860"/>
              <a:ext cx="384" cy="240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96942B7-70C4-4652-A545-EA23CECF51CC}" type="slidenum">
              <a:rPr lang="pt-BR"/>
              <a:pPr>
                <a:defRPr/>
              </a:pPr>
              <a:t>38</a:t>
            </a:fld>
            <a:endParaRPr lang="pt-BR"/>
          </a:p>
        </p:txBody>
      </p:sp>
      <p:grpSp>
        <p:nvGrpSpPr>
          <p:cNvPr id="53" name="Grupo 52"/>
          <p:cNvGrpSpPr/>
          <p:nvPr/>
        </p:nvGrpSpPr>
        <p:grpSpPr>
          <a:xfrm>
            <a:off x="1317816" y="3224176"/>
            <a:ext cx="2672968" cy="352499"/>
            <a:chOff x="2665615" y="5408815"/>
            <a:chExt cx="2672968" cy="352499"/>
          </a:xfrm>
        </p:grpSpPr>
        <p:sp>
          <p:nvSpPr>
            <p:cNvPr id="54" name="Retângulo 53"/>
            <p:cNvSpPr/>
            <p:nvPr/>
          </p:nvSpPr>
          <p:spPr>
            <a:xfrm>
              <a:off x="2731779" y="5484315"/>
              <a:ext cx="2606804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sz="1200" dirty="0">
                  <a:solidFill>
                    <a:schemeClr val="accent2"/>
                  </a:solidFill>
                  <a:latin typeface="Tahoma" panose="020B0604030504040204" pitchFamily="34" charset="0"/>
                </a:rPr>
                <a:t>não é possível obter 3 bolas azuis!</a:t>
              </a:r>
            </a:p>
          </p:txBody>
        </p:sp>
        <p:cxnSp>
          <p:nvCxnSpPr>
            <p:cNvPr id="55" name="Conector de seta reta 54"/>
            <p:cNvCxnSpPr/>
            <p:nvPr/>
          </p:nvCxnSpPr>
          <p:spPr>
            <a:xfrm flipH="1" flipV="1">
              <a:off x="2665615" y="5408815"/>
              <a:ext cx="133003" cy="155170"/>
            </a:xfrm>
            <a:prstGeom prst="straightConnector1">
              <a:avLst/>
            </a:prstGeom>
            <a:ln>
              <a:solidFill>
                <a:schemeClr val="accent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22" grpId="0"/>
      <p:bldP spid="133134" grpId="0" autoUpdateAnimBg="0"/>
      <p:bldP spid="133135" grpId="0" autoUpdateAnimBg="0"/>
      <p:bldP spid="133140" grpId="0" autoUpdateAnimBg="0"/>
      <p:bldP spid="133144" grpId="0" autoUpdateAnimBg="0"/>
      <p:bldP spid="133150" grpId="0" autoUpdateAnimBg="0"/>
      <p:bldP spid="133157" grpId="0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Distribuição Hipergeométrica</a:t>
            </a:r>
          </a:p>
        </p:txBody>
      </p:sp>
      <p:sp>
        <p:nvSpPr>
          <p:cNvPr id="30723" name="Text Box 3"/>
          <p:cNvSpPr txBox="1">
            <a:spLocks noChangeArrowheads="1"/>
          </p:cNvSpPr>
          <p:nvPr/>
        </p:nvSpPr>
        <p:spPr bwMode="auto">
          <a:xfrm>
            <a:off x="1981200" y="1600200"/>
            <a:ext cx="6629400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Considere o experimento: retiram-se 3 bolas da urna (</a:t>
            </a: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</a:rPr>
              <a:t>sem reposição</a:t>
            </a:r>
            <a:r>
              <a:rPr lang="pt-BR" altLang="pt-BR" sz="1600" dirty="0">
                <a:latin typeface="Tahoma" panose="020B0604030504040204" pitchFamily="34" charset="0"/>
              </a:rPr>
              <a:t>). Define-se uma v.a. </a:t>
            </a:r>
            <a:r>
              <a:rPr lang="pt-BR" altLang="pt-BR" sz="1600" i="1" dirty="0">
                <a:latin typeface="Times New Roman" pitchFamily="18" charset="0"/>
              </a:rPr>
              <a:t>X</a:t>
            </a:r>
            <a:r>
              <a:rPr lang="pt-BR" altLang="pt-BR" sz="1600" dirty="0">
                <a:latin typeface="Tahoma" panose="020B0604030504040204" pitchFamily="34" charset="0"/>
              </a:rPr>
              <a:t> cujos valores representam o número total de bolas vermelhas dentre as 3 escolhidas.</a:t>
            </a:r>
          </a:p>
        </p:txBody>
      </p:sp>
      <p:grpSp>
        <p:nvGrpSpPr>
          <p:cNvPr id="30724" name="Group 4"/>
          <p:cNvGrpSpPr>
            <a:grpSpLocks/>
          </p:cNvGrpSpPr>
          <p:nvPr/>
        </p:nvGrpSpPr>
        <p:grpSpPr bwMode="auto">
          <a:xfrm>
            <a:off x="838200" y="1447800"/>
            <a:ext cx="914400" cy="1295400"/>
            <a:chOff x="2688" y="3264"/>
            <a:chExt cx="576" cy="816"/>
          </a:xfrm>
        </p:grpSpPr>
        <p:sp>
          <p:nvSpPr>
            <p:cNvPr id="30739" name="Freeform 5"/>
            <p:cNvSpPr>
              <a:spLocks/>
            </p:cNvSpPr>
            <p:nvPr/>
          </p:nvSpPr>
          <p:spPr bwMode="auto">
            <a:xfrm>
              <a:off x="2688" y="3264"/>
              <a:ext cx="576" cy="816"/>
            </a:xfrm>
            <a:custGeom>
              <a:avLst/>
              <a:gdLst>
                <a:gd name="T0" fmla="*/ 0 w 576"/>
                <a:gd name="T1" fmla="*/ 0 h 816"/>
                <a:gd name="T2" fmla="*/ 0 w 576"/>
                <a:gd name="T3" fmla="*/ 816 h 816"/>
                <a:gd name="T4" fmla="*/ 576 w 576"/>
                <a:gd name="T5" fmla="*/ 816 h 816"/>
                <a:gd name="T6" fmla="*/ 576 w 576"/>
                <a:gd name="T7" fmla="*/ 0 h 8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"/>
                <a:gd name="T13" fmla="*/ 0 h 816"/>
                <a:gd name="T14" fmla="*/ 576 w 576"/>
                <a:gd name="T15" fmla="*/ 816 h 8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" h="816">
                  <a:moveTo>
                    <a:pt x="0" y="0"/>
                  </a:moveTo>
                  <a:lnTo>
                    <a:pt x="0" y="816"/>
                  </a:lnTo>
                  <a:lnTo>
                    <a:pt x="576" y="816"/>
                  </a:lnTo>
                  <a:lnTo>
                    <a:pt x="576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30740" name="Oval 6"/>
            <p:cNvSpPr>
              <a:spLocks noChangeArrowheads="1"/>
            </p:cNvSpPr>
            <p:nvPr/>
          </p:nvSpPr>
          <p:spPr bwMode="auto">
            <a:xfrm>
              <a:off x="2784" y="336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30741" name="Oval 7"/>
            <p:cNvSpPr>
              <a:spLocks noChangeArrowheads="1"/>
            </p:cNvSpPr>
            <p:nvPr/>
          </p:nvSpPr>
          <p:spPr bwMode="auto">
            <a:xfrm>
              <a:off x="3024" y="348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30742" name="Oval 8"/>
            <p:cNvSpPr>
              <a:spLocks noChangeArrowheads="1"/>
            </p:cNvSpPr>
            <p:nvPr/>
          </p:nvSpPr>
          <p:spPr bwMode="auto">
            <a:xfrm>
              <a:off x="2784" y="384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30743" name="Oval 9"/>
            <p:cNvSpPr>
              <a:spLocks noChangeArrowheads="1"/>
            </p:cNvSpPr>
            <p:nvPr/>
          </p:nvSpPr>
          <p:spPr bwMode="auto">
            <a:xfrm>
              <a:off x="2784" y="3600"/>
              <a:ext cx="144" cy="14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30744" name="Oval 10"/>
            <p:cNvSpPr>
              <a:spLocks noChangeArrowheads="1"/>
            </p:cNvSpPr>
            <p:nvPr/>
          </p:nvSpPr>
          <p:spPr bwMode="auto">
            <a:xfrm>
              <a:off x="3024" y="3696"/>
              <a:ext cx="144" cy="14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30745" name="Oval 11"/>
            <p:cNvSpPr>
              <a:spLocks noChangeArrowheads="1"/>
            </p:cNvSpPr>
            <p:nvPr/>
          </p:nvSpPr>
          <p:spPr bwMode="auto">
            <a:xfrm>
              <a:off x="3024" y="3264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30746" name="Oval 12"/>
            <p:cNvSpPr>
              <a:spLocks noChangeArrowheads="1"/>
            </p:cNvSpPr>
            <p:nvPr/>
          </p:nvSpPr>
          <p:spPr bwMode="auto">
            <a:xfrm>
              <a:off x="3024" y="3912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sp>
        <p:nvSpPr>
          <p:cNvPr id="30725" name="Text Box 13"/>
          <p:cNvSpPr txBox="1">
            <a:spLocks noChangeArrowheads="1"/>
          </p:cNvSpPr>
          <p:nvPr/>
        </p:nvSpPr>
        <p:spPr bwMode="auto">
          <a:xfrm>
            <a:off x="838200" y="2971800"/>
            <a:ext cx="48768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 dirty="0">
                <a:latin typeface="Times New Roman" pitchFamily="18" charset="0"/>
              </a:rPr>
              <a:t>X</a:t>
            </a:r>
            <a:r>
              <a:rPr lang="pt-BR" altLang="pt-BR" sz="1600" dirty="0">
                <a:latin typeface="Times New Roman" pitchFamily="18" charset="0"/>
              </a:rPr>
              <a:t>: {1, 2, 3}</a:t>
            </a:r>
            <a:endParaRPr lang="pt-BR" altLang="pt-BR" sz="1600" dirty="0">
              <a:latin typeface="Tahoma" panose="020B0604030504040204" pitchFamily="34" charset="0"/>
            </a:endParaRPr>
          </a:p>
        </p:txBody>
      </p:sp>
      <p:graphicFrame>
        <p:nvGraphicFramePr>
          <p:cNvPr id="30726" name="Object 42"/>
          <p:cNvGraphicFramePr>
            <a:graphicFrameLocks noChangeAspect="1"/>
          </p:cNvGraphicFramePr>
          <p:nvPr/>
        </p:nvGraphicFramePr>
        <p:xfrm>
          <a:off x="838200" y="3733800"/>
          <a:ext cx="1985963" cy="1308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84300" imgH="914400" progId="Equation.DSMT4">
                  <p:embed/>
                </p:oleObj>
              </mc:Choice>
              <mc:Fallback>
                <p:oleObj name="Equation" r:id="rId2" imgW="1384300" imgH="914400" progId="Equation.DSMT4">
                  <p:embed/>
                  <p:pic>
                    <p:nvPicPr>
                      <p:cNvPr id="30726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3733800"/>
                        <a:ext cx="1985963" cy="13081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956" name="Object 52"/>
          <p:cNvGraphicFramePr>
            <a:graphicFrameLocks noChangeAspect="1"/>
          </p:cNvGraphicFramePr>
          <p:nvPr/>
        </p:nvGraphicFramePr>
        <p:xfrm>
          <a:off x="914400" y="5324475"/>
          <a:ext cx="1052513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36600" imgH="431800" progId="Equation.DSMT4">
                  <p:embed/>
                </p:oleObj>
              </mc:Choice>
              <mc:Fallback>
                <p:oleObj name="Equation" r:id="rId4" imgW="736600" imgH="431800" progId="Equation.DSMT4">
                  <p:embed/>
                  <p:pic>
                    <p:nvPicPr>
                      <p:cNvPr id="123956" name="Object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5324475"/>
                        <a:ext cx="1052513" cy="619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957" name="Object 53"/>
          <p:cNvGraphicFramePr>
            <a:graphicFrameLocks noChangeAspect="1"/>
          </p:cNvGraphicFramePr>
          <p:nvPr/>
        </p:nvGraphicFramePr>
        <p:xfrm>
          <a:off x="4267200" y="2590800"/>
          <a:ext cx="1203325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837836" imgH="393529" progId="Equation.DSMT4">
                  <p:embed/>
                </p:oleObj>
              </mc:Choice>
              <mc:Fallback>
                <p:oleObj name="Equation" r:id="rId6" imgW="837836" imgH="393529" progId="Equation.DSMT4">
                  <p:embed/>
                  <p:pic>
                    <p:nvPicPr>
                      <p:cNvPr id="123957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2590800"/>
                        <a:ext cx="1203325" cy="5619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958" name="Object 54"/>
          <p:cNvGraphicFramePr>
            <a:graphicFrameLocks noChangeAspect="1"/>
          </p:cNvGraphicFramePr>
          <p:nvPr/>
        </p:nvGraphicFramePr>
        <p:xfrm>
          <a:off x="4267200" y="3276600"/>
          <a:ext cx="2625725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828800" imgH="393700" progId="Equation.DSMT4">
                  <p:embed/>
                </p:oleObj>
              </mc:Choice>
              <mc:Fallback>
                <p:oleObj name="Equation" r:id="rId8" imgW="1828800" imgH="393700" progId="Equation.DSMT4">
                  <p:embed/>
                  <p:pic>
                    <p:nvPicPr>
                      <p:cNvPr id="123958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3276600"/>
                        <a:ext cx="2625725" cy="5619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959" name="Text Box 55"/>
          <p:cNvSpPr txBox="1">
            <a:spLocks noChangeArrowheads="1"/>
          </p:cNvSpPr>
          <p:nvPr/>
        </p:nvSpPr>
        <p:spPr bwMode="auto">
          <a:xfrm>
            <a:off x="4175125" y="3962400"/>
            <a:ext cx="2895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OBS: se </a:t>
            </a:r>
            <a:r>
              <a:rPr lang="pt-BR" altLang="pt-BR" sz="1600" i="1" dirty="0">
                <a:latin typeface="Times New Roman" pitchFamily="18" charset="0"/>
              </a:rPr>
              <a:t>M</a:t>
            </a:r>
            <a:r>
              <a:rPr lang="pt-BR" altLang="pt-BR" sz="1600" dirty="0">
                <a:latin typeface="Tahoma" panose="020B0604030504040204" pitchFamily="34" charset="0"/>
              </a:rPr>
              <a:t> for muito grande:</a:t>
            </a:r>
          </a:p>
        </p:txBody>
      </p:sp>
      <p:graphicFrame>
        <p:nvGraphicFramePr>
          <p:cNvPr id="123960" name="Object 56"/>
          <p:cNvGraphicFramePr>
            <a:graphicFrameLocks noChangeAspect="1"/>
          </p:cNvGraphicFramePr>
          <p:nvPr/>
        </p:nvGraphicFramePr>
        <p:xfrm>
          <a:off x="4724400" y="4354513"/>
          <a:ext cx="784225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545863" imgH="393529" progId="Equation.DSMT4">
                  <p:embed/>
                </p:oleObj>
              </mc:Choice>
              <mc:Fallback>
                <p:oleObj name="Equation" r:id="rId10" imgW="545863" imgH="393529" progId="Equation.DSMT4">
                  <p:embed/>
                  <p:pic>
                    <p:nvPicPr>
                      <p:cNvPr id="123960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4354513"/>
                        <a:ext cx="784225" cy="5619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961" name="Text Box 57"/>
          <p:cNvSpPr txBox="1">
            <a:spLocks noChangeArrowheads="1"/>
          </p:cNvSpPr>
          <p:nvPr/>
        </p:nvSpPr>
        <p:spPr bwMode="auto">
          <a:xfrm>
            <a:off x="5514975" y="4459288"/>
            <a:ext cx="26908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(probabilidade de sucesso)</a:t>
            </a:r>
          </a:p>
        </p:txBody>
      </p:sp>
      <p:graphicFrame>
        <p:nvGraphicFramePr>
          <p:cNvPr id="123962" name="Object 58"/>
          <p:cNvGraphicFramePr>
            <a:graphicFrameLocks noChangeAspect="1"/>
          </p:cNvGraphicFramePr>
          <p:nvPr/>
        </p:nvGraphicFramePr>
        <p:xfrm>
          <a:off x="4724400" y="4964113"/>
          <a:ext cx="1130300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787058" imgH="393529" progId="Equation.DSMT4">
                  <p:embed/>
                </p:oleObj>
              </mc:Choice>
              <mc:Fallback>
                <p:oleObj name="Equation" r:id="rId12" imgW="787058" imgH="393529" progId="Equation.DSMT4">
                  <p:embed/>
                  <p:pic>
                    <p:nvPicPr>
                      <p:cNvPr id="123962" name="Object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4964113"/>
                        <a:ext cx="1130300" cy="5619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963" name="Text Box 59"/>
          <p:cNvSpPr txBox="1">
            <a:spLocks noChangeArrowheads="1"/>
          </p:cNvSpPr>
          <p:nvPr/>
        </p:nvSpPr>
        <p:spPr bwMode="auto">
          <a:xfrm>
            <a:off x="5853113" y="5068888"/>
            <a:ext cx="264649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(probabilidade de fracasso)</a:t>
            </a:r>
          </a:p>
        </p:txBody>
      </p:sp>
      <p:graphicFrame>
        <p:nvGraphicFramePr>
          <p:cNvPr id="123964" name="Object 60"/>
          <p:cNvGraphicFramePr>
            <a:graphicFrameLocks noChangeAspect="1"/>
          </p:cNvGraphicFramePr>
          <p:nvPr/>
        </p:nvGraphicFramePr>
        <p:xfrm>
          <a:off x="4724400" y="5573713"/>
          <a:ext cx="1039813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723586" imgH="393529" progId="Equation.DSMT4">
                  <p:embed/>
                </p:oleObj>
              </mc:Choice>
              <mc:Fallback>
                <p:oleObj name="Equation" r:id="rId14" imgW="723586" imgH="393529" progId="Equation.DSMT4">
                  <p:embed/>
                  <p:pic>
                    <p:nvPicPr>
                      <p:cNvPr id="123964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5573713"/>
                        <a:ext cx="1039813" cy="5619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966" name="Text Box 62"/>
          <p:cNvSpPr txBox="1">
            <a:spLocks noChangeArrowheads="1"/>
          </p:cNvSpPr>
          <p:nvPr/>
        </p:nvSpPr>
        <p:spPr bwMode="auto">
          <a:xfrm>
            <a:off x="4724400" y="6248400"/>
            <a:ext cx="28622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Hipergeométrica </a:t>
            </a: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 </a:t>
            </a:r>
            <a:r>
              <a:rPr lang="pt-BR" altLang="pt-BR" sz="1600" dirty="0">
                <a:latin typeface="Tahoma" panose="020B0604030504040204" pitchFamily="34" charset="0"/>
              </a:rPr>
              <a:t>Binomial</a:t>
            </a:r>
          </a:p>
        </p:txBody>
      </p:sp>
      <p:graphicFrame>
        <p:nvGraphicFramePr>
          <p:cNvPr id="123967" name="Object 63"/>
          <p:cNvGraphicFramePr>
            <a:graphicFrameLocks noChangeAspect="1"/>
          </p:cNvGraphicFramePr>
          <p:nvPr/>
        </p:nvGraphicFramePr>
        <p:xfrm>
          <a:off x="5965825" y="5699125"/>
          <a:ext cx="2717800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892300" imgH="203200" progId="Equation.DSMT4">
                  <p:embed/>
                </p:oleObj>
              </mc:Choice>
              <mc:Fallback>
                <p:oleObj name="Equation" r:id="rId16" imgW="1892300" imgH="203200" progId="Equation.DSMT4">
                  <p:embed/>
                  <p:pic>
                    <p:nvPicPr>
                      <p:cNvPr id="123967" name="Object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65825" y="5699125"/>
                        <a:ext cx="2717800" cy="2889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D711D21-F4C6-43E9-A075-1EB66592441E}" type="slidenum">
              <a:rPr lang="pt-BR"/>
              <a:pPr>
                <a:defRPr/>
              </a:pPr>
              <a:t>39</a:t>
            </a:fld>
            <a:endParaRPr lang="pt-BR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3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959" grpId="0" autoUpdateAnimBg="0"/>
      <p:bldP spid="123961" grpId="0" autoUpdateAnimBg="0"/>
      <p:bldP spid="123963" grpId="0" autoUpdateAnimBg="0"/>
      <p:bldP spid="123966" grpId="0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Distribuição Hipergeométrica</a:t>
            </a:r>
          </a:p>
        </p:txBody>
      </p:sp>
      <p:sp>
        <p:nvSpPr>
          <p:cNvPr id="31747" name="Text Box 3"/>
          <p:cNvSpPr txBox="1">
            <a:spLocks noChangeArrowheads="1"/>
          </p:cNvSpPr>
          <p:nvPr/>
        </p:nvSpPr>
        <p:spPr bwMode="auto">
          <a:xfrm>
            <a:off x="1981200" y="1600200"/>
            <a:ext cx="6629400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Considere o experimento: retiram-se 3 bolas da urna (</a:t>
            </a: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</a:rPr>
              <a:t>sem reposição</a:t>
            </a:r>
            <a:r>
              <a:rPr lang="pt-BR" altLang="pt-BR" sz="1600" dirty="0">
                <a:latin typeface="Tahoma" panose="020B0604030504040204" pitchFamily="34" charset="0"/>
              </a:rPr>
              <a:t>). Define-se uma v.a. </a:t>
            </a:r>
            <a:r>
              <a:rPr lang="pt-BR" altLang="pt-BR" sz="1600" i="1" dirty="0">
                <a:latin typeface="Times New Roman" pitchFamily="18" charset="0"/>
              </a:rPr>
              <a:t>X</a:t>
            </a:r>
            <a:r>
              <a:rPr lang="pt-BR" altLang="pt-BR" sz="1600" dirty="0">
                <a:latin typeface="Tahoma" panose="020B0604030504040204" pitchFamily="34" charset="0"/>
              </a:rPr>
              <a:t> cujos valores representam o número total de bolas vermelhas dentre as 3 escolhidas.</a:t>
            </a:r>
          </a:p>
        </p:txBody>
      </p:sp>
      <p:grpSp>
        <p:nvGrpSpPr>
          <p:cNvPr id="31748" name="Group 4"/>
          <p:cNvGrpSpPr>
            <a:grpSpLocks/>
          </p:cNvGrpSpPr>
          <p:nvPr/>
        </p:nvGrpSpPr>
        <p:grpSpPr bwMode="auto">
          <a:xfrm>
            <a:off x="838200" y="1447800"/>
            <a:ext cx="914400" cy="1295400"/>
            <a:chOff x="2688" y="3264"/>
            <a:chExt cx="576" cy="816"/>
          </a:xfrm>
        </p:grpSpPr>
        <p:sp>
          <p:nvSpPr>
            <p:cNvPr id="31762" name="Freeform 5"/>
            <p:cNvSpPr>
              <a:spLocks/>
            </p:cNvSpPr>
            <p:nvPr/>
          </p:nvSpPr>
          <p:spPr bwMode="auto">
            <a:xfrm>
              <a:off x="2688" y="3264"/>
              <a:ext cx="576" cy="816"/>
            </a:xfrm>
            <a:custGeom>
              <a:avLst/>
              <a:gdLst>
                <a:gd name="T0" fmla="*/ 0 w 576"/>
                <a:gd name="T1" fmla="*/ 0 h 816"/>
                <a:gd name="T2" fmla="*/ 0 w 576"/>
                <a:gd name="T3" fmla="*/ 816 h 816"/>
                <a:gd name="T4" fmla="*/ 576 w 576"/>
                <a:gd name="T5" fmla="*/ 816 h 816"/>
                <a:gd name="T6" fmla="*/ 576 w 576"/>
                <a:gd name="T7" fmla="*/ 0 h 8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"/>
                <a:gd name="T13" fmla="*/ 0 h 816"/>
                <a:gd name="T14" fmla="*/ 576 w 576"/>
                <a:gd name="T15" fmla="*/ 816 h 8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" h="816">
                  <a:moveTo>
                    <a:pt x="0" y="0"/>
                  </a:moveTo>
                  <a:lnTo>
                    <a:pt x="0" y="816"/>
                  </a:lnTo>
                  <a:lnTo>
                    <a:pt x="576" y="816"/>
                  </a:lnTo>
                  <a:lnTo>
                    <a:pt x="576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31763" name="Oval 6"/>
            <p:cNvSpPr>
              <a:spLocks noChangeArrowheads="1"/>
            </p:cNvSpPr>
            <p:nvPr/>
          </p:nvSpPr>
          <p:spPr bwMode="auto">
            <a:xfrm>
              <a:off x="2784" y="336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31764" name="Oval 7"/>
            <p:cNvSpPr>
              <a:spLocks noChangeArrowheads="1"/>
            </p:cNvSpPr>
            <p:nvPr/>
          </p:nvSpPr>
          <p:spPr bwMode="auto">
            <a:xfrm>
              <a:off x="3024" y="348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31765" name="Oval 8"/>
            <p:cNvSpPr>
              <a:spLocks noChangeArrowheads="1"/>
            </p:cNvSpPr>
            <p:nvPr/>
          </p:nvSpPr>
          <p:spPr bwMode="auto">
            <a:xfrm>
              <a:off x="2784" y="384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31766" name="Oval 9"/>
            <p:cNvSpPr>
              <a:spLocks noChangeArrowheads="1"/>
            </p:cNvSpPr>
            <p:nvPr/>
          </p:nvSpPr>
          <p:spPr bwMode="auto">
            <a:xfrm>
              <a:off x="2784" y="3600"/>
              <a:ext cx="144" cy="14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31767" name="Oval 10"/>
            <p:cNvSpPr>
              <a:spLocks noChangeArrowheads="1"/>
            </p:cNvSpPr>
            <p:nvPr/>
          </p:nvSpPr>
          <p:spPr bwMode="auto">
            <a:xfrm>
              <a:off x="3024" y="3696"/>
              <a:ext cx="144" cy="14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31768" name="Oval 11"/>
            <p:cNvSpPr>
              <a:spLocks noChangeArrowheads="1"/>
            </p:cNvSpPr>
            <p:nvPr/>
          </p:nvSpPr>
          <p:spPr bwMode="auto">
            <a:xfrm>
              <a:off x="3024" y="3264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31769" name="Oval 12"/>
            <p:cNvSpPr>
              <a:spLocks noChangeArrowheads="1"/>
            </p:cNvSpPr>
            <p:nvPr/>
          </p:nvSpPr>
          <p:spPr bwMode="auto">
            <a:xfrm>
              <a:off x="3024" y="3912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graphicFrame>
        <p:nvGraphicFramePr>
          <p:cNvPr id="31749" name="Object 14"/>
          <p:cNvGraphicFramePr>
            <a:graphicFrameLocks noChangeAspect="1"/>
          </p:cNvGraphicFramePr>
          <p:nvPr/>
        </p:nvGraphicFramePr>
        <p:xfrm>
          <a:off x="2166938" y="2652713"/>
          <a:ext cx="1987550" cy="1308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84300" imgH="914400" progId="Equation.DSMT4">
                  <p:embed/>
                </p:oleObj>
              </mc:Choice>
              <mc:Fallback>
                <p:oleObj name="Equation" r:id="rId2" imgW="1384300" imgH="914400" progId="Equation.DSMT4">
                  <p:embed/>
                  <p:pic>
                    <p:nvPicPr>
                      <p:cNvPr id="31749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6938" y="2652713"/>
                        <a:ext cx="1987550" cy="13081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4943" name="Object 15"/>
          <p:cNvGraphicFramePr>
            <a:graphicFrameLocks noChangeAspect="1"/>
          </p:cNvGraphicFramePr>
          <p:nvPr/>
        </p:nvGraphicFramePr>
        <p:xfrm>
          <a:off x="2166938" y="4132263"/>
          <a:ext cx="1198562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37836" imgH="393529" progId="Equation.DSMT4">
                  <p:embed/>
                </p:oleObj>
              </mc:Choice>
              <mc:Fallback>
                <p:oleObj name="Equation" r:id="rId4" imgW="837836" imgH="393529" progId="Equation.DSMT4">
                  <p:embed/>
                  <p:pic>
                    <p:nvPicPr>
                      <p:cNvPr id="124943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6938" y="4132263"/>
                        <a:ext cx="1198562" cy="563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4944" name="Object 16"/>
          <p:cNvGraphicFramePr>
            <a:graphicFrameLocks noChangeAspect="1"/>
          </p:cNvGraphicFramePr>
          <p:nvPr/>
        </p:nvGraphicFramePr>
        <p:xfrm>
          <a:off x="2166938" y="4827588"/>
          <a:ext cx="2614612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828800" imgH="393700" progId="Equation.DSMT4">
                  <p:embed/>
                </p:oleObj>
              </mc:Choice>
              <mc:Fallback>
                <p:oleObj name="Equation" r:id="rId6" imgW="1828800" imgH="393700" progId="Equation.DSMT4">
                  <p:embed/>
                  <p:pic>
                    <p:nvPicPr>
                      <p:cNvPr id="124944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6938" y="4827588"/>
                        <a:ext cx="2614612" cy="563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2" name="Text Box 17"/>
          <p:cNvSpPr txBox="1">
            <a:spLocks noChangeArrowheads="1"/>
          </p:cNvSpPr>
          <p:nvPr/>
        </p:nvSpPr>
        <p:spPr bwMode="auto">
          <a:xfrm>
            <a:off x="838200" y="2971800"/>
            <a:ext cx="914400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M</a:t>
            </a:r>
            <a:r>
              <a:rPr lang="pt-BR" altLang="pt-BR" sz="1600">
                <a:latin typeface="Times New Roman" pitchFamily="18" charset="0"/>
              </a:rPr>
              <a:t> = 7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K</a:t>
            </a:r>
            <a:r>
              <a:rPr lang="pt-BR" altLang="pt-BR" sz="1600">
                <a:latin typeface="Times New Roman" pitchFamily="18" charset="0"/>
              </a:rPr>
              <a:t> = 5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n</a:t>
            </a:r>
            <a:r>
              <a:rPr lang="pt-BR" altLang="pt-BR" sz="1600">
                <a:latin typeface="Times New Roman" pitchFamily="18" charset="0"/>
              </a:rPr>
              <a:t> = 3</a:t>
            </a:r>
          </a:p>
        </p:txBody>
      </p:sp>
      <p:graphicFrame>
        <p:nvGraphicFramePr>
          <p:cNvPr id="124946" name="Object 18"/>
          <p:cNvGraphicFramePr>
            <a:graphicFrameLocks noChangeAspect="1"/>
          </p:cNvGraphicFramePr>
          <p:nvPr/>
        </p:nvGraphicFramePr>
        <p:xfrm>
          <a:off x="4135438" y="2655888"/>
          <a:ext cx="1274762" cy="1306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889000" imgH="914400" progId="Equation.DSMT4">
                  <p:embed/>
                </p:oleObj>
              </mc:Choice>
              <mc:Fallback>
                <p:oleObj name="Equation" r:id="rId8" imgW="889000" imgH="914400" progId="Equation.DSMT4">
                  <p:embed/>
                  <p:pic>
                    <p:nvPicPr>
                      <p:cNvPr id="124946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5438" y="2655888"/>
                        <a:ext cx="1274762" cy="1306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4947" name="Object 19"/>
          <p:cNvGraphicFramePr>
            <a:graphicFrameLocks noChangeAspect="1"/>
          </p:cNvGraphicFramePr>
          <p:nvPr/>
        </p:nvGraphicFramePr>
        <p:xfrm>
          <a:off x="3354388" y="4132263"/>
          <a:ext cx="1217612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850531" imgH="393529" progId="Equation.DSMT4">
                  <p:embed/>
                </p:oleObj>
              </mc:Choice>
              <mc:Fallback>
                <p:oleObj name="Equation" r:id="rId10" imgW="850531" imgH="393529" progId="Equation.DSMT4">
                  <p:embed/>
                  <p:pic>
                    <p:nvPicPr>
                      <p:cNvPr id="124947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4388" y="4132263"/>
                        <a:ext cx="1217612" cy="563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4948" name="Object 20"/>
          <p:cNvGraphicFramePr>
            <a:graphicFrameLocks noChangeAspect="1"/>
          </p:cNvGraphicFramePr>
          <p:nvPr/>
        </p:nvGraphicFramePr>
        <p:xfrm>
          <a:off x="4772025" y="4829175"/>
          <a:ext cx="2163763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511300" imgH="393700" progId="Equation.DSMT4">
                  <p:embed/>
                </p:oleObj>
              </mc:Choice>
              <mc:Fallback>
                <p:oleObj name="Equation" r:id="rId12" imgW="1511300" imgH="393700" progId="Equation.DSMT4">
                  <p:embed/>
                  <p:pic>
                    <p:nvPicPr>
                      <p:cNvPr id="124948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72025" y="4829175"/>
                        <a:ext cx="2163763" cy="563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4950" name="Text Box 22"/>
          <p:cNvSpPr txBox="1">
            <a:spLocks noChangeArrowheads="1"/>
          </p:cNvSpPr>
          <p:nvPr/>
        </p:nvSpPr>
        <p:spPr bwMode="auto">
          <a:xfrm>
            <a:off x="5600700" y="3063875"/>
            <a:ext cx="1752600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700" i="1">
                <a:latin typeface="Times New Roman" pitchFamily="18" charset="0"/>
              </a:rPr>
              <a:t>X</a:t>
            </a:r>
            <a:r>
              <a:rPr lang="pt-BR" altLang="pt-BR" sz="1700">
                <a:latin typeface="Times New Roman" pitchFamily="18" charset="0"/>
              </a:rPr>
              <a:t>: {?, ..., </a:t>
            </a:r>
            <a:r>
              <a:rPr lang="pt-BR" altLang="pt-BR" sz="1700">
                <a:latin typeface="Times New Roman" pitchFamily="18" charset="0"/>
                <a:sym typeface="Symbol" pitchFamily="18" charset="2"/>
              </a:rPr>
              <a:t>?</a:t>
            </a:r>
            <a:r>
              <a:rPr lang="pt-BR" altLang="pt-BR" sz="1700">
                <a:latin typeface="Times New Roman" pitchFamily="18" charset="0"/>
              </a:rPr>
              <a:t>}</a:t>
            </a:r>
          </a:p>
        </p:txBody>
      </p:sp>
      <p:graphicFrame>
        <p:nvGraphicFramePr>
          <p:cNvPr id="124949" name="Object 21"/>
          <p:cNvGraphicFramePr>
            <a:graphicFrameLocks noChangeAspect="1"/>
          </p:cNvGraphicFramePr>
          <p:nvPr/>
        </p:nvGraphicFramePr>
        <p:xfrm>
          <a:off x="5638800" y="3124200"/>
          <a:ext cx="3368675" cy="29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349500" imgH="203200" progId="Equation.DSMT4">
                  <p:embed/>
                </p:oleObj>
              </mc:Choice>
              <mc:Fallback>
                <p:oleObj name="Equation" r:id="rId14" imgW="2349500" imgH="203200" progId="Equation.DSMT4">
                  <p:embed/>
                  <p:pic>
                    <p:nvPicPr>
                      <p:cNvPr id="124949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3124200"/>
                        <a:ext cx="3368675" cy="29051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upo 23"/>
          <p:cNvGrpSpPr>
            <a:grpSpLocks/>
          </p:cNvGrpSpPr>
          <p:nvPr/>
        </p:nvGrpSpPr>
        <p:grpSpPr bwMode="auto">
          <a:xfrm>
            <a:off x="5594350" y="3000375"/>
            <a:ext cx="3335338" cy="500063"/>
            <a:chOff x="5593648" y="3000372"/>
            <a:chExt cx="3336070" cy="500066"/>
          </a:xfrm>
        </p:grpSpPr>
        <p:sp>
          <p:nvSpPr>
            <p:cNvPr id="23" name="Retângulo 22"/>
            <p:cNvSpPr/>
            <p:nvPr/>
          </p:nvSpPr>
          <p:spPr>
            <a:xfrm>
              <a:off x="5642872" y="3000372"/>
              <a:ext cx="3286846" cy="50006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31761" name="Text Box 35"/>
            <p:cNvSpPr txBox="1">
              <a:spLocks noChangeArrowheads="1"/>
            </p:cNvSpPr>
            <p:nvPr/>
          </p:nvSpPr>
          <p:spPr bwMode="auto">
            <a:xfrm>
              <a:off x="5593648" y="3086285"/>
              <a:ext cx="1752600" cy="3365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i="1">
                  <a:latin typeface="Times New Roman" pitchFamily="18" charset="0"/>
                </a:rPr>
                <a:t>X</a:t>
              </a:r>
              <a:r>
                <a:rPr lang="pt-BR" altLang="pt-BR" sz="1600">
                  <a:latin typeface="Times New Roman" pitchFamily="18" charset="0"/>
                </a:rPr>
                <a:t>: {1, 2, 3}</a:t>
              </a:r>
            </a:p>
          </p:txBody>
        </p:sp>
      </p:grp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ADEA4EE-0B43-47BD-9F35-3BAE0F490975}" type="slidenum">
              <a:rPr lang="pt-BR"/>
              <a:pPr>
                <a:defRPr/>
              </a:pPr>
              <a:t>40</a:t>
            </a:fld>
            <a:endParaRPr lang="pt-BR"/>
          </a:p>
        </p:txBody>
      </p:sp>
      <p:sp>
        <p:nvSpPr>
          <p:cNvPr id="26" name="Retângulo 25"/>
          <p:cNvSpPr>
            <a:spLocks noChangeArrowheads="1"/>
          </p:cNvSpPr>
          <p:nvPr/>
        </p:nvSpPr>
        <p:spPr bwMode="auto">
          <a:xfrm>
            <a:off x="4656898" y="4252912"/>
            <a:ext cx="172431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200" dirty="0">
                <a:solidFill>
                  <a:srgbClr val="FF0000"/>
                </a:solidFill>
                <a:latin typeface="Tahoma" panose="020B0604030504040204" pitchFamily="34" charset="0"/>
              </a:rPr>
              <a:t>(mesmo que Binomial)</a:t>
            </a:r>
          </a:p>
        </p:txBody>
      </p:sp>
      <p:sp>
        <p:nvSpPr>
          <p:cNvPr id="27" name="Retângulo 26"/>
          <p:cNvSpPr>
            <a:spLocks noChangeArrowheads="1"/>
          </p:cNvSpPr>
          <p:nvPr/>
        </p:nvSpPr>
        <p:spPr bwMode="auto">
          <a:xfrm>
            <a:off x="4127500" y="5379265"/>
            <a:ext cx="313098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200" dirty="0">
                <a:solidFill>
                  <a:srgbClr val="FF0000"/>
                </a:solidFill>
                <a:latin typeface="Tahoma" panose="020B0604030504040204" pitchFamily="34" charset="0"/>
              </a:rPr>
              <a:t>(variância da  Binomial * fator de correção)</a:t>
            </a:r>
          </a:p>
        </p:txBody>
      </p:sp>
      <p:sp>
        <p:nvSpPr>
          <p:cNvPr id="28" name="Elipse 27"/>
          <p:cNvSpPr/>
          <p:nvPr/>
        </p:nvSpPr>
        <p:spPr>
          <a:xfrm>
            <a:off x="5410200" y="4822053"/>
            <a:ext cx="215900" cy="61277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4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950" grpId="0" autoUpdateAnimBg="0"/>
      <p:bldP spid="26" grpId="0"/>
      <p:bldP spid="27" grpId="0"/>
      <p:bldP spid="28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1820" y="4307498"/>
            <a:ext cx="3600000" cy="216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68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2219266"/>
            <a:ext cx="3600000" cy="216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686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2219266"/>
            <a:ext cx="3600000" cy="216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Distribuição Hipergeométrica</a:t>
            </a:r>
          </a:p>
        </p:txBody>
      </p:sp>
      <p:sp>
        <p:nvSpPr>
          <p:cNvPr id="7174" name="Text Box 3"/>
          <p:cNvSpPr txBox="1">
            <a:spLocks noChangeArrowheads="1"/>
          </p:cNvSpPr>
          <p:nvPr/>
        </p:nvSpPr>
        <p:spPr bwMode="auto">
          <a:xfrm>
            <a:off x="841375" y="1600200"/>
            <a:ext cx="784542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55600" indent="-35560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Exemplos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E7AD0D1-23E4-46ED-8741-3B96CDA51087}" type="slidenum">
              <a:rPr lang="pt-BR"/>
              <a:pPr>
                <a:defRPr/>
              </a:pPr>
              <a:t>41</a:t>
            </a:fld>
            <a:endParaRPr lang="pt-BR"/>
          </a:p>
        </p:txBody>
      </p:sp>
      <p:sp>
        <p:nvSpPr>
          <p:cNvPr id="4" name="CaixaDeTexto 3"/>
          <p:cNvSpPr txBox="1"/>
          <p:nvPr/>
        </p:nvSpPr>
        <p:spPr>
          <a:xfrm>
            <a:off x="3464115" y="2564904"/>
            <a:ext cx="77938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3</a:t>
            </a:r>
          </a:p>
          <a:p>
            <a:r>
              <a:rPr lang="pt-B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15</a:t>
            </a:r>
          </a:p>
          <a:p>
            <a:r>
              <a:rPr lang="pt-B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5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5555493" y="2467394"/>
            <a:ext cx="77938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10</a:t>
            </a:r>
          </a:p>
          <a:p>
            <a:r>
              <a:rPr lang="pt-B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30</a:t>
            </a:r>
          </a:p>
          <a:p>
            <a:r>
              <a:rPr lang="pt-B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15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4207829" y="4666033"/>
            <a:ext cx="77938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40</a:t>
            </a:r>
          </a:p>
          <a:p>
            <a:r>
              <a:rPr lang="pt-B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50</a:t>
            </a:r>
          </a:p>
          <a:p>
            <a:r>
              <a:rPr lang="pt-B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45</a:t>
            </a:r>
          </a:p>
        </p:txBody>
      </p:sp>
      <p:sp>
        <p:nvSpPr>
          <p:cNvPr id="15" name="Text Box 4"/>
          <p:cNvSpPr txBox="1">
            <a:spLocks noChangeArrowheads="1"/>
          </p:cNvSpPr>
          <p:nvPr/>
        </p:nvSpPr>
        <p:spPr bwMode="auto">
          <a:xfrm>
            <a:off x="210220" y="6476586"/>
            <a:ext cx="8001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Em que situação a média e a variância são maiores?</a:t>
            </a:r>
          </a:p>
        </p:txBody>
      </p:sp>
      <p:graphicFrame>
        <p:nvGraphicFramePr>
          <p:cNvPr id="3" name="Object 15">
            <a:extLst>
              <a:ext uri="{FF2B5EF4-FFF2-40B4-BE49-F238E27FC236}">
                <a16:creationId xmlns:a16="http://schemas.microsoft.com/office/drawing/2014/main" id="{31873169-546C-0361-FCEF-68CE20FAA8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5663052"/>
              </p:ext>
            </p:extLst>
          </p:nvPr>
        </p:nvGraphicFramePr>
        <p:xfrm>
          <a:off x="6499883" y="4637466"/>
          <a:ext cx="1198562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837836" imgH="393529" progId="Equation.DSMT4">
                  <p:embed/>
                </p:oleObj>
              </mc:Choice>
              <mc:Fallback>
                <p:oleObj name="Equation" r:id="rId5" imgW="837836" imgH="393529" progId="Equation.DSMT4">
                  <p:embed/>
                  <p:pic>
                    <p:nvPicPr>
                      <p:cNvPr id="3" name="Object 15">
                        <a:extLst>
                          <a:ext uri="{FF2B5EF4-FFF2-40B4-BE49-F238E27FC236}">
                            <a16:creationId xmlns:a16="http://schemas.microsoft.com/office/drawing/2014/main" id="{31873169-546C-0361-FCEF-68CE20FAA8F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99883" y="4637466"/>
                        <a:ext cx="1198562" cy="563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6">
            <a:extLst>
              <a:ext uri="{FF2B5EF4-FFF2-40B4-BE49-F238E27FC236}">
                <a16:creationId xmlns:a16="http://schemas.microsoft.com/office/drawing/2014/main" id="{8A629D27-26B1-966A-56BD-22BBA7D03B6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2894795"/>
              </p:ext>
            </p:extLst>
          </p:nvPr>
        </p:nvGraphicFramePr>
        <p:xfrm>
          <a:off x="6499883" y="5332791"/>
          <a:ext cx="2614612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828800" imgH="393700" progId="Equation.DSMT4">
                  <p:embed/>
                </p:oleObj>
              </mc:Choice>
              <mc:Fallback>
                <p:oleObj name="Equation" r:id="rId7" imgW="1828800" imgH="393700" progId="Equation.DSMT4">
                  <p:embed/>
                  <p:pic>
                    <p:nvPicPr>
                      <p:cNvPr id="5" name="Object 16">
                        <a:extLst>
                          <a:ext uri="{FF2B5EF4-FFF2-40B4-BE49-F238E27FC236}">
                            <a16:creationId xmlns:a16="http://schemas.microsoft.com/office/drawing/2014/main" id="{8A629D27-26B1-966A-56BD-22BBA7D03B6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99883" y="5332791"/>
                        <a:ext cx="2614612" cy="563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6862904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B8D207-EA41-3EA1-2366-6B3AD389B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>
            <a:extLst>
              <a:ext uri="{FF2B5EF4-FFF2-40B4-BE49-F238E27FC236}">
                <a16:creationId xmlns:a16="http://schemas.microsoft.com/office/drawing/2014/main" id="{165761FC-F671-0200-DB3C-8366A4AD2F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Distribuição de Poisson</a:t>
            </a:r>
          </a:p>
        </p:txBody>
      </p:sp>
      <p:sp>
        <p:nvSpPr>
          <p:cNvPr id="32771" name="Text Box 3">
            <a:extLst>
              <a:ext uri="{FF2B5EF4-FFF2-40B4-BE49-F238E27FC236}">
                <a16:creationId xmlns:a16="http://schemas.microsoft.com/office/drawing/2014/main" id="{77490A04-A66D-B461-A360-E94CA1DD7A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600200"/>
            <a:ext cx="76200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Suponha que numa série temporal diária de dados de chuva observou-se 10 falhas (dados ausentes) em 100 dias de observação, ou seja, 0,1 falha por dia. Deseja-se calcular a probabilidade de que nos próximos 20 dias ocorram 0, 1, 2, </a:t>
            </a:r>
            <a:r>
              <a:rPr lang="pt-BR" altLang="pt-BR" sz="1600" dirty="0" err="1">
                <a:latin typeface="Tahoma" panose="020B0604030504040204" pitchFamily="34" charset="0"/>
              </a:rPr>
              <a:t>etc</a:t>
            </a:r>
            <a:r>
              <a:rPr lang="pt-BR" altLang="pt-BR" sz="1600" dirty="0">
                <a:latin typeface="Tahoma" panose="020B0604030504040204" pitchFamily="34" charset="0"/>
              </a:rPr>
              <a:t> falhas.</a:t>
            </a:r>
          </a:p>
        </p:txBody>
      </p:sp>
      <p:sp>
        <p:nvSpPr>
          <p:cNvPr id="126010" name="Text Box 58">
            <a:extLst>
              <a:ext uri="{FF2B5EF4-FFF2-40B4-BE49-F238E27FC236}">
                <a16:creationId xmlns:a16="http://schemas.microsoft.com/office/drawing/2014/main" id="{148F44C1-1AD9-F96B-FC95-A2ECB69DB5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2451100"/>
            <a:ext cx="7620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Considere que a qualquer instante, uma falha é tão provável de ocorrer como em qualquer outro instante e assim, a probabilidade permanece constante. </a:t>
            </a:r>
          </a:p>
        </p:txBody>
      </p:sp>
      <p:sp>
        <p:nvSpPr>
          <p:cNvPr id="126029" name="Text Box 77">
            <a:extLst>
              <a:ext uri="{FF2B5EF4-FFF2-40B4-BE49-F238E27FC236}">
                <a16:creationId xmlns:a16="http://schemas.microsoft.com/office/drawing/2014/main" id="{A865A627-8212-7807-3AE6-D4DDC7204C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3181350"/>
            <a:ext cx="4114800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Pode-se considerar cada intervalo como uma Bernoulli, sendo sucesso obter uma falha e fracasso obter um dado correto.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Sendo assim, quanto vale </a:t>
            </a:r>
            <a:r>
              <a:rPr lang="pt-BR" altLang="pt-BR" sz="1600" i="1" dirty="0">
                <a:latin typeface="Times New Roman" pitchFamily="18" charset="0"/>
              </a:rPr>
              <a:t>p</a:t>
            </a:r>
            <a:r>
              <a:rPr lang="pt-BR" altLang="pt-BR" sz="1600" dirty="0">
                <a:latin typeface="Times New Roman" pitchFamily="18" charset="0"/>
              </a:rPr>
              <a:t> = </a:t>
            </a:r>
            <a:r>
              <a:rPr lang="pt-BR" altLang="pt-BR" sz="1600" i="1" dirty="0">
                <a:latin typeface="Times New Roman" pitchFamily="18" charset="0"/>
              </a:rPr>
              <a:t>P</a:t>
            </a:r>
            <a:r>
              <a:rPr lang="pt-BR" altLang="pt-BR" sz="1600" dirty="0">
                <a:latin typeface="Times New Roman" pitchFamily="18" charset="0"/>
              </a:rPr>
              <a:t>(sucesso)</a:t>
            </a:r>
            <a:r>
              <a:rPr lang="pt-BR" altLang="pt-BR" sz="1600" dirty="0">
                <a:latin typeface="Tahoma" panose="020B0604030504040204" pitchFamily="34" charset="0"/>
              </a:rPr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6030" name="Object 78">
                <a:extLst>
                  <a:ext uri="{FF2B5EF4-FFF2-40B4-BE49-F238E27FC236}">
                    <a16:creationId xmlns:a16="http://schemas.microsoft.com/office/drawing/2014/main" id="{9CF4D924-09F4-A83C-20C9-CC2BBDCAD943}"/>
                  </a:ext>
                </a:extLst>
              </p:cNvPr>
              <p:cNvSpPr txBox="1"/>
              <p:nvPr/>
            </p:nvSpPr>
            <p:spPr bwMode="auto">
              <a:xfrm>
                <a:off x="789560" y="4710315"/>
                <a:ext cx="853480" cy="29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26030" name="Object 78">
                <a:extLst>
                  <a:ext uri="{FF2B5EF4-FFF2-40B4-BE49-F238E27FC236}">
                    <a16:creationId xmlns:a16="http://schemas.microsoft.com/office/drawing/2014/main" id="{9CF4D924-09F4-A83C-20C9-CC2BBDCAD9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89560" y="4710315"/>
                <a:ext cx="853480" cy="292100"/>
              </a:xfrm>
              <a:prstGeom prst="rect">
                <a:avLst/>
              </a:prstGeom>
              <a:blipFill>
                <a:blip r:embed="rId2"/>
                <a:stretch>
                  <a:fillRect b="-2916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6033" name="Text Box 81">
            <a:extLst>
              <a:ext uri="{FF2B5EF4-FFF2-40B4-BE49-F238E27FC236}">
                <a16:creationId xmlns:a16="http://schemas.microsoft.com/office/drawing/2014/main" id="{01CE044D-14BA-9D8B-86E7-D07D20381A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0575" y="4999038"/>
            <a:ext cx="209384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como </a:t>
            </a:r>
            <a:r>
              <a:rPr lang="pt-BR" altLang="pt-BR" sz="1600" i="1" dirty="0">
                <a:latin typeface="Times New Roman" pitchFamily="18" charset="0"/>
              </a:rPr>
              <a:t>n</a:t>
            </a:r>
            <a:r>
              <a:rPr lang="pt-BR" altLang="pt-BR" sz="1600" dirty="0">
                <a:latin typeface="Times New Roman" pitchFamily="18" charset="0"/>
              </a:rPr>
              <a:t> = 10 e </a:t>
            </a:r>
            <a:r>
              <a:rPr lang="pt-BR" altLang="pt-BR" sz="1600" i="1" dirty="0" err="1">
                <a:latin typeface="Times New Roman" pitchFamily="18" charset="0"/>
              </a:rPr>
              <a:t>np</a:t>
            </a:r>
            <a:r>
              <a:rPr lang="pt-BR" altLang="pt-BR" sz="1600" dirty="0">
                <a:latin typeface="Times New Roman" pitchFamily="18" charset="0"/>
              </a:rPr>
              <a:t> = 2,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então</a:t>
            </a:r>
            <a:r>
              <a:rPr lang="pt-BR" altLang="pt-BR" sz="1600" i="1" dirty="0">
                <a:latin typeface="Times New Roman" pitchFamily="18" charset="0"/>
              </a:rPr>
              <a:t> p</a:t>
            </a:r>
            <a:r>
              <a:rPr lang="pt-BR" altLang="pt-BR" sz="1600" dirty="0">
                <a:latin typeface="Times New Roman" pitchFamily="18" charset="0"/>
              </a:rPr>
              <a:t> = 0,2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6034" name="Object 82">
                <a:extLst>
                  <a:ext uri="{FF2B5EF4-FFF2-40B4-BE49-F238E27FC236}">
                    <a16:creationId xmlns:a16="http://schemas.microsoft.com/office/drawing/2014/main" id="{FB735D7D-8817-FCD2-144A-DDC6253EE42B}"/>
                  </a:ext>
                </a:extLst>
              </p:cNvPr>
              <p:cNvSpPr txBox="1"/>
              <p:nvPr/>
            </p:nvSpPr>
            <p:spPr bwMode="auto">
              <a:xfrm>
                <a:off x="838200" y="5967412"/>
                <a:ext cx="853480" cy="2936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</m:oMath>
                  </m:oMathPara>
                </a14:m>
                <a:endParaRPr lang="pt-BR" sz="1050" dirty="0"/>
              </a:p>
            </p:txBody>
          </p:sp>
        </mc:Choice>
        <mc:Fallback xmlns="">
          <p:sp>
            <p:nvSpPr>
              <p:cNvPr id="126034" name="Object 82">
                <a:extLst>
                  <a:ext uri="{FF2B5EF4-FFF2-40B4-BE49-F238E27FC236}">
                    <a16:creationId xmlns:a16="http://schemas.microsoft.com/office/drawing/2014/main" id="{FB735D7D-8817-FCD2-144A-DDC6253EE4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8200" y="5967412"/>
                <a:ext cx="853480" cy="293688"/>
              </a:xfrm>
              <a:prstGeom prst="rect">
                <a:avLst/>
              </a:prstGeom>
              <a:blipFill>
                <a:blip r:embed="rId3"/>
                <a:stretch>
                  <a:fillRect l="-714" b="-2916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035" name="Object 83">
                <a:extLst>
                  <a:ext uri="{FF2B5EF4-FFF2-40B4-BE49-F238E27FC236}">
                    <a16:creationId xmlns:a16="http://schemas.microsoft.com/office/drawing/2014/main" id="{BB01583A-B6FC-334B-009F-E40ECE94F6DB}"/>
                  </a:ext>
                </a:extLst>
              </p:cNvPr>
              <p:cNvSpPr txBox="1"/>
              <p:nvPr/>
            </p:nvSpPr>
            <p:spPr bwMode="auto">
              <a:xfrm>
                <a:off x="1523305" y="5876925"/>
                <a:ext cx="2760663" cy="4746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pt-BR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pt-BR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</m:m>
                        </m:e>
                      </m:d>
                      <m:sSup>
                        <m:sSup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t-B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0,</m:t>
                              </m:r>
                              <m:r>
                                <a:rPr lang="pt-BR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e>
                        <m:sup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sSup>
                        <m:sSup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t-B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0,</m:t>
                              </m:r>
                              <m:r>
                                <a:rPr lang="pt-BR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</m:d>
                        </m:e>
                        <m:sup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26035" name="Object 83">
                <a:extLst>
                  <a:ext uri="{FF2B5EF4-FFF2-40B4-BE49-F238E27FC236}">
                    <a16:creationId xmlns:a16="http://schemas.microsoft.com/office/drawing/2014/main" id="{BB01583A-B6FC-334B-009F-E40ECE94F6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23305" y="5876925"/>
                <a:ext cx="2760663" cy="474663"/>
              </a:xfrm>
              <a:prstGeom prst="rect">
                <a:avLst/>
              </a:prstGeom>
              <a:blipFill>
                <a:blip r:embed="rId4"/>
                <a:stretch>
                  <a:fillRect b="-512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6036" name="Text Box 84">
            <a:extLst>
              <a:ext uri="{FF2B5EF4-FFF2-40B4-BE49-F238E27FC236}">
                <a16:creationId xmlns:a16="http://schemas.microsoft.com/office/drawing/2014/main" id="{0787BBE6-C247-37CA-15AC-7B422D7D7B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0" y="5638800"/>
            <a:ext cx="4015680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85763" indent="-38576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solidFill>
                  <a:srgbClr val="FF3300"/>
                </a:solidFill>
                <a:latin typeface="Tahoma" panose="020B0604030504040204" pitchFamily="34" charset="0"/>
              </a:rPr>
              <a:t>Problema</a:t>
            </a:r>
            <a:r>
              <a:rPr lang="pt-BR" altLang="pt-BR" sz="1600" dirty="0">
                <a:latin typeface="Tahoma" panose="020B0604030504040204" pitchFamily="34" charset="0"/>
              </a:rPr>
              <a:t>: não considera a possibilidade de 2 ou mais falhas dentro do mesmo intervalo!</a:t>
            </a:r>
          </a:p>
        </p:txBody>
      </p:sp>
      <p:sp>
        <p:nvSpPr>
          <p:cNvPr id="126037" name="Rectangle 85">
            <a:extLst>
              <a:ext uri="{FF2B5EF4-FFF2-40B4-BE49-F238E27FC236}">
                <a16:creationId xmlns:a16="http://schemas.microsoft.com/office/drawing/2014/main" id="{76CC96ED-78E4-FD2E-BE94-3EC01DEC8F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2075" y="4677360"/>
            <a:ext cx="450924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(</a:t>
            </a:r>
            <a:r>
              <a:rPr lang="pt-BR" altLang="pt-BR" sz="1600" i="1" dirty="0">
                <a:latin typeface="Times New Roman" pitchFamily="18" charset="0"/>
              </a:rPr>
              <a:t>X</a:t>
            </a:r>
            <a:r>
              <a:rPr lang="pt-BR" altLang="pt-BR" sz="1600" dirty="0">
                <a:latin typeface="Tahoma" panose="020B0604030504040204" pitchFamily="34" charset="0"/>
              </a:rPr>
              <a:t> é o número de falhas ocorridas em 20 dias)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4BAFE4E6-3C69-35D3-DE99-850D77DCF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42201D5-C980-4A37-B594-1A15A1E6AFA9}" type="slidenum">
              <a:rPr lang="pt-BR"/>
              <a:pPr>
                <a:defRPr/>
              </a:pPr>
              <a:t>42</a:t>
            </a:fld>
            <a:endParaRPr lang="pt-BR"/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257EB040-E16E-BC68-7E7D-A466E0189450}"/>
              </a:ext>
            </a:extLst>
          </p:cNvPr>
          <p:cNvGrpSpPr/>
          <p:nvPr/>
        </p:nvGrpSpPr>
        <p:grpSpPr>
          <a:xfrm>
            <a:off x="773113" y="3470275"/>
            <a:ext cx="3760787" cy="568325"/>
            <a:chOff x="773113" y="3470275"/>
            <a:chExt cx="3760787" cy="568325"/>
          </a:xfrm>
        </p:grpSpPr>
        <p:sp>
          <p:nvSpPr>
            <p:cNvPr id="32790" name="Line 59">
              <a:extLst>
                <a:ext uri="{FF2B5EF4-FFF2-40B4-BE49-F238E27FC236}">
                  <a16:creationId xmlns:a16="http://schemas.microsoft.com/office/drawing/2014/main" id="{118A60E0-6851-DCE4-37D3-9D50BCEF42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4401" y="3810000"/>
              <a:ext cx="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32799" name="Line 68">
              <a:extLst>
                <a:ext uri="{FF2B5EF4-FFF2-40B4-BE49-F238E27FC236}">
                  <a16:creationId xmlns:a16="http://schemas.microsoft.com/office/drawing/2014/main" id="{3F4701EB-8111-47D3-E21F-1D74B2044E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2401" y="3810000"/>
              <a:ext cx="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32789" name="Line 70">
              <a:extLst>
                <a:ext uri="{FF2B5EF4-FFF2-40B4-BE49-F238E27FC236}">
                  <a16:creationId xmlns:a16="http://schemas.microsoft.com/office/drawing/2014/main" id="{A540CD48-8279-BFF3-573F-5A04B43380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4401" y="3924300"/>
              <a:ext cx="3048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32784" name="Text Box 71">
              <a:extLst>
                <a:ext uri="{FF2B5EF4-FFF2-40B4-BE49-F238E27FC236}">
                  <a16:creationId xmlns:a16="http://schemas.microsoft.com/office/drawing/2014/main" id="{8B3390CA-2FBA-7913-504D-BE1609894A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3113" y="3470275"/>
              <a:ext cx="28575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32787" name="Text Box 75">
              <a:extLst>
                <a:ext uri="{FF2B5EF4-FFF2-40B4-BE49-F238E27FC236}">
                  <a16:creationId xmlns:a16="http://schemas.microsoft.com/office/drawing/2014/main" id="{4C570464-6AD2-8699-BF9A-65220B1A48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0931" y="3470275"/>
              <a:ext cx="772969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imes New Roman" pitchFamily="18" charset="0"/>
                </a:rPr>
                <a:t>20 dias</a:t>
              </a:r>
            </a:p>
          </p:txBody>
        </p:sp>
      </p:grp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376C4C9-3251-936C-2238-E3DD9E5B7BBF}"/>
              </a:ext>
            </a:extLst>
          </p:cNvPr>
          <p:cNvSpPr txBox="1"/>
          <p:nvPr/>
        </p:nvSpPr>
        <p:spPr>
          <a:xfrm>
            <a:off x="1547076" y="4687088"/>
            <a:ext cx="20732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pt-BR" sz="1600" dirty="0">
                <a:latin typeface="Times New Roman" pitchFamily="18" charset="0"/>
              </a:rPr>
              <a:t>0,1 * 20 = 2</a:t>
            </a:r>
            <a:endParaRPr lang="pt-BR" dirty="0"/>
          </a:p>
        </p:txBody>
      </p:sp>
      <p:sp>
        <p:nvSpPr>
          <p:cNvPr id="11" name="Rectangle 85">
            <a:extLst>
              <a:ext uri="{FF2B5EF4-FFF2-40B4-BE49-F238E27FC236}">
                <a16:creationId xmlns:a16="http://schemas.microsoft.com/office/drawing/2014/main" id="{EF98FB42-DAFE-337B-DA3E-7DBB46B809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674" y="4117805"/>
            <a:ext cx="365927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200" dirty="0">
                <a:latin typeface="Tahoma" panose="020B0604030504040204" pitchFamily="34" charset="0"/>
              </a:rPr>
              <a:t>dividindo arbitrariamente o período em 10 partes...</a:t>
            </a: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3D30E594-BEA8-DC9F-7B16-9B4853814A30}"/>
              </a:ext>
            </a:extLst>
          </p:cNvPr>
          <p:cNvGrpSpPr/>
          <p:nvPr/>
        </p:nvGrpSpPr>
        <p:grpSpPr>
          <a:xfrm>
            <a:off x="914401" y="3810000"/>
            <a:ext cx="3048000" cy="228600"/>
            <a:chOff x="914401" y="3810000"/>
            <a:chExt cx="3048000" cy="228600"/>
          </a:xfrm>
        </p:grpSpPr>
        <p:sp>
          <p:nvSpPr>
            <p:cNvPr id="14" name="Line 60">
              <a:extLst>
                <a:ext uri="{FF2B5EF4-FFF2-40B4-BE49-F238E27FC236}">
                  <a16:creationId xmlns:a16="http://schemas.microsoft.com/office/drawing/2014/main" id="{10DC954E-981E-8FF0-C5DC-FEBF401FB7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19201" y="3810000"/>
              <a:ext cx="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15" name="Line 61">
              <a:extLst>
                <a:ext uri="{FF2B5EF4-FFF2-40B4-BE49-F238E27FC236}">
                  <a16:creationId xmlns:a16="http://schemas.microsoft.com/office/drawing/2014/main" id="{E3D7B644-AD99-EFA6-1A2B-37F225DDB5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24001" y="3810000"/>
              <a:ext cx="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16" name="Line 62">
              <a:extLst>
                <a:ext uri="{FF2B5EF4-FFF2-40B4-BE49-F238E27FC236}">
                  <a16:creationId xmlns:a16="http://schemas.microsoft.com/office/drawing/2014/main" id="{B08DEDF3-DE38-15E3-0166-E29210D204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8801" y="3810000"/>
              <a:ext cx="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17" name="Line 63">
              <a:extLst>
                <a:ext uri="{FF2B5EF4-FFF2-40B4-BE49-F238E27FC236}">
                  <a16:creationId xmlns:a16="http://schemas.microsoft.com/office/drawing/2014/main" id="{D3B18F01-EA00-76A1-21F8-A8E68B4B66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3601" y="3810000"/>
              <a:ext cx="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18" name="Line 64">
              <a:extLst>
                <a:ext uri="{FF2B5EF4-FFF2-40B4-BE49-F238E27FC236}">
                  <a16:creationId xmlns:a16="http://schemas.microsoft.com/office/drawing/2014/main" id="{FA06D9D5-7FAC-7F59-5D8C-E545D0AC47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38401" y="3810000"/>
              <a:ext cx="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19" name="Line 65">
              <a:extLst>
                <a:ext uri="{FF2B5EF4-FFF2-40B4-BE49-F238E27FC236}">
                  <a16:creationId xmlns:a16="http://schemas.microsoft.com/office/drawing/2014/main" id="{74B7A14D-8AA3-1769-9344-45AA9EB0FA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43201" y="3810000"/>
              <a:ext cx="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20" name="Line 66">
              <a:extLst>
                <a:ext uri="{FF2B5EF4-FFF2-40B4-BE49-F238E27FC236}">
                  <a16:creationId xmlns:a16="http://schemas.microsoft.com/office/drawing/2014/main" id="{8E50645D-73C8-5C3B-D5E2-B03273F57A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48001" y="3810000"/>
              <a:ext cx="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21" name="Line 67">
              <a:extLst>
                <a:ext uri="{FF2B5EF4-FFF2-40B4-BE49-F238E27FC236}">
                  <a16:creationId xmlns:a16="http://schemas.microsoft.com/office/drawing/2014/main" id="{CC94A85F-1CB8-1E4E-19EB-D6A85BCA14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52801" y="3810000"/>
              <a:ext cx="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23" name="Line 70">
              <a:extLst>
                <a:ext uri="{FF2B5EF4-FFF2-40B4-BE49-F238E27FC236}">
                  <a16:creationId xmlns:a16="http://schemas.microsoft.com/office/drawing/2014/main" id="{50C8AFC9-1EB3-2DEC-0C9B-98A7A28925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4401" y="3924300"/>
              <a:ext cx="3048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27" name="Line 67">
              <a:extLst>
                <a:ext uri="{FF2B5EF4-FFF2-40B4-BE49-F238E27FC236}">
                  <a16:creationId xmlns:a16="http://schemas.microsoft.com/office/drawing/2014/main" id="{DD21B579-7756-47CA-B258-005E61E130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57601" y="3810000"/>
              <a:ext cx="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2372410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0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0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0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0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010" grpId="0" autoUpdateAnimBg="0"/>
      <p:bldP spid="126029" grpId="0" build="p" autoUpdateAnimBg="0"/>
      <p:bldP spid="126030" grpId="0"/>
      <p:bldP spid="126033" grpId="0" build="p" autoUpdateAnimBg="0"/>
      <p:bldP spid="126034" grpId="0"/>
      <p:bldP spid="126035" grpId="0"/>
      <p:bldP spid="126036" grpId="0" autoUpdateAnimBg="0"/>
      <p:bldP spid="126037" grpId="0" autoUpdateAnimBg="0"/>
      <p:bldP spid="10" grpId="0"/>
      <p:bldP spid="11" grpId="0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BE65F-CB14-020C-69F7-46EF4B917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>
            <a:extLst>
              <a:ext uri="{FF2B5EF4-FFF2-40B4-BE49-F238E27FC236}">
                <a16:creationId xmlns:a16="http://schemas.microsoft.com/office/drawing/2014/main" id="{93695191-7FD0-EAFE-EE00-F57367164F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Distribuição de Poisson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4BF47506-35DB-A0B5-1BA1-778D94861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59B07A-BEF9-462A-BBE0-1602E1F0C8CD}" type="slidenum">
              <a:rPr lang="pt-BR"/>
              <a:pPr>
                <a:defRPr/>
              </a:pPr>
              <a:t>43</a:t>
            </a:fld>
            <a:endParaRPr lang="pt-BR"/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7DB961AE-D884-308B-0391-90BCFE8A87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600200"/>
            <a:ext cx="76200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Suponha que numa série temporal diária de dados de chuva observou-se 10 falhas (dados ausentes) em 100 dias de observação, ou seja, 0,1 falha por dia. Deseja-se calcular a probabilidade de que nos próximos 20 dias ocorram 0, 1, 2, </a:t>
            </a:r>
            <a:r>
              <a:rPr lang="pt-BR" altLang="pt-BR" sz="1600" dirty="0" err="1">
                <a:latin typeface="Tahoma" panose="020B0604030504040204" pitchFamily="34" charset="0"/>
              </a:rPr>
              <a:t>etc</a:t>
            </a:r>
            <a:r>
              <a:rPr lang="pt-BR" altLang="pt-BR" sz="1600" dirty="0">
                <a:latin typeface="Tahoma" panose="020B0604030504040204" pitchFamily="34" charset="0"/>
              </a:rPr>
              <a:t> falhas.</a:t>
            </a:r>
          </a:p>
        </p:txBody>
      </p:sp>
      <p:sp>
        <p:nvSpPr>
          <p:cNvPr id="4" name="Text Box 58">
            <a:extLst>
              <a:ext uri="{FF2B5EF4-FFF2-40B4-BE49-F238E27FC236}">
                <a16:creationId xmlns:a16="http://schemas.microsoft.com/office/drawing/2014/main" id="{F1FBCBCE-F7D5-5D29-DB72-7CF99118CB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2451100"/>
            <a:ext cx="7620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Considere que a qualquer instante, uma falha é tão provável de ocorrer como em qualquer outro instante e assim, a probabilidade permanece constante. </a:t>
            </a:r>
          </a:p>
        </p:txBody>
      </p:sp>
      <p:sp>
        <p:nvSpPr>
          <p:cNvPr id="11" name="Rectangle 85">
            <a:extLst>
              <a:ext uri="{FF2B5EF4-FFF2-40B4-BE49-F238E27FC236}">
                <a16:creationId xmlns:a16="http://schemas.microsoft.com/office/drawing/2014/main" id="{AE851B46-8D64-DAD9-5E39-577C126987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674" y="4117805"/>
            <a:ext cx="365927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200" dirty="0">
                <a:latin typeface="Tahoma" panose="020B0604030504040204" pitchFamily="34" charset="0"/>
              </a:rPr>
              <a:t>dividindo arbitrariamente o período em 40 partes...</a:t>
            </a:r>
          </a:p>
        </p:txBody>
      </p:sp>
      <p:grpSp>
        <p:nvGrpSpPr>
          <p:cNvPr id="60" name="Agrupar 59">
            <a:extLst>
              <a:ext uri="{FF2B5EF4-FFF2-40B4-BE49-F238E27FC236}">
                <a16:creationId xmlns:a16="http://schemas.microsoft.com/office/drawing/2014/main" id="{D19B78C6-4F99-5147-E82F-46E7E14B8653}"/>
              </a:ext>
            </a:extLst>
          </p:cNvPr>
          <p:cNvGrpSpPr/>
          <p:nvPr/>
        </p:nvGrpSpPr>
        <p:grpSpPr>
          <a:xfrm>
            <a:off x="773113" y="3470275"/>
            <a:ext cx="3760787" cy="568325"/>
            <a:chOff x="773113" y="3470275"/>
            <a:chExt cx="3760787" cy="568325"/>
          </a:xfrm>
        </p:grpSpPr>
        <p:sp>
          <p:nvSpPr>
            <p:cNvPr id="6" name="Line 59">
              <a:extLst>
                <a:ext uri="{FF2B5EF4-FFF2-40B4-BE49-F238E27FC236}">
                  <a16:creationId xmlns:a16="http://schemas.microsoft.com/office/drawing/2014/main" id="{9C5916C2-3AB0-2074-5F1E-CA13553B7F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4401" y="3810000"/>
              <a:ext cx="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7" name="Line 68">
              <a:extLst>
                <a:ext uri="{FF2B5EF4-FFF2-40B4-BE49-F238E27FC236}">
                  <a16:creationId xmlns:a16="http://schemas.microsoft.com/office/drawing/2014/main" id="{11DE02CB-C613-FD2C-7AC0-569131BE83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2401" y="3810000"/>
              <a:ext cx="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8" name="Line 70">
              <a:extLst>
                <a:ext uri="{FF2B5EF4-FFF2-40B4-BE49-F238E27FC236}">
                  <a16:creationId xmlns:a16="http://schemas.microsoft.com/office/drawing/2014/main" id="{ED3D1682-196E-61F1-6DDD-F5627C1BDF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4401" y="3924300"/>
              <a:ext cx="3048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9" name="Text Box 71">
              <a:extLst>
                <a:ext uri="{FF2B5EF4-FFF2-40B4-BE49-F238E27FC236}">
                  <a16:creationId xmlns:a16="http://schemas.microsoft.com/office/drawing/2014/main" id="{856B81E4-8077-DD64-E5FB-2CC5E130A9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3113" y="3470275"/>
              <a:ext cx="28575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10" name="Text Box 75">
              <a:extLst>
                <a:ext uri="{FF2B5EF4-FFF2-40B4-BE49-F238E27FC236}">
                  <a16:creationId xmlns:a16="http://schemas.microsoft.com/office/drawing/2014/main" id="{41A237A4-C584-CDB2-2519-0ECD6A4CB8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0931" y="3470275"/>
              <a:ext cx="772969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imes New Roman" pitchFamily="18" charset="0"/>
                </a:rPr>
                <a:t>20 dias</a:t>
              </a:r>
            </a:p>
          </p:txBody>
        </p:sp>
        <p:grpSp>
          <p:nvGrpSpPr>
            <p:cNvPr id="59" name="Agrupar 58">
              <a:extLst>
                <a:ext uri="{FF2B5EF4-FFF2-40B4-BE49-F238E27FC236}">
                  <a16:creationId xmlns:a16="http://schemas.microsoft.com/office/drawing/2014/main" id="{18E642E8-C15F-A256-70AC-8B71EA02803A}"/>
                </a:ext>
              </a:extLst>
            </p:cNvPr>
            <p:cNvGrpSpPr/>
            <p:nvPr/>
          </p:nvGrpSpPr>
          <p:grpSpPr>
            <a:xfrm>
              <a:off x="990601" y="3810000"/>
              <a:ext cx="2895600" cy="228600"/>
              <a:chOff x="5656312" y="4282216"/>
              <a:chExt cx="2895600" cy="228600"/>
            </a:xfrm>
          </p:grpSpPr>
          <p:sp>
            <p:nvSpPr>
              <p:cNvPr id="13" name="Line 60">
                <a:extLst>
                  <a:ext uri="{FF2B5EF4-FFF2-40B4-BE49-F238E27FC236}">
                    <a16:creationId xmlns:a16="http://schemas.microsoft.com/office/drawing/2014/main" id="{EBA743E7-FF53-0D0C-A174-915EF97652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884912" y="4282216"/>
                <a:ext cx="0" cy="228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4" name="Line 61">
                <a:extLst>
                  <a:ext uri="{FF2B5EF4-FFF2-40B4-BE49-F238E27FC236}">
                    <a16:creationId xmlns:a16="http://schemas.microsoft.com/office/drawing/2014/main" id="{17954552-1F94-D792-5E87-4CD7B3EA78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189712" y="4282216"/>
                <a:ext cx="0" cy="228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5" name="Line 62">
                <a:extLst>
                  <a:ext uri="{FF2B5EF4-FFF2-40B4-BE49-F238E27FC236}">
                    <a16:creationId xmlns:a16="http://schemas.microsoft.com/office/drawing/2014/main" id="{2E04D85A-9FCF-5F44-2B03-AA054B8622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494512" y="4282216"/>
                <a:ext cx="0" cy="228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6" name="Line 63">
                <a:extLst>
                  <a:ext uri="{FF2B5EF4-FFF2-40B4-BE49-F238E27FC236}">
                    <a16:creationId xmlns:a16="http://schemas.microsoft.com/office/drawing/2014/main" id="{B548F203-EA1C-BE7F-4885-32B61F6D1A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799312" y="4282216"/>
                <a:ext cx="0" cy="228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7" name="Line 64">
                <a:extLst>
                  <a:ext uri="{FF2B5EF4-FFF2-40B4-BE49-F238E27FC236}">
                    <a16:creationId xmlns:a16="http://schemas.microsoft.com/office/drawing/2014/main" id="{A732A15F-7A20-28F9-84D0-E8A6DC3E65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104112" y="4282216"/>
                <a:ext cx="0" cy="228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8" name="Line 65">
                <a:extLst>
                  <a:ext uri="{FF2B5EF4-FFF2-40B4-BE49-F238E27FC236}">
                    <a16:creationId xmlns:a16="http://schemas.microsoft.com/office/drawing/2014/main" id="{FEB07C1A-0766-42D1-D364-8BE74DA373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408912" y="4282216"/>
                <a:ext cx="0" cy="228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9" name="Line 66">
                <a:extLst>
                  <a:ext uri="{FF2B5EF4-FFF2-40B4-BE49-F238E27FC236}">
                    <a16:creationId xmlns:a16="http://schemas.microsoft.com/office/drawing/2014/main" id="{231B2BBA-6E1B-3AE0-81FB-96AEF25362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713712" y="4282216"/>
                <a:ext cx="0" cy="228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20" name="Line 67">
                <a:extLst>
                  <a:ext uri="{FF2B5EF4-FFF2-40B4-BE49-F238E27FC236}">
                    <a16:creationId xmlns:a16="http://schemas.microsoft.com/office/drawing/2014/main" id="{8F55B89E-E4E1-C931-3D29-A168FF0860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018512" y="4282216"/>
                <a:ext cx="0" cy="228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22" name="Line 67">
                <a:extLst>
                  <a:ext uri="{FF2B5EF4-FFF2-40B4-BE49-F238E27FC236}">
                    <a16:creationId xmlns:a16="http://schemas.microsoft.com/office/drawing/2014/main" id="{77EE0BDA-AC3B-8995-113E-0888DEA00A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323312" y="4282216"/>
                <a:ext cx="0" cy="228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25" name="Line 60">
                <a:extLst>
                  <a:ext uri="{FF2B5EF4-FFF2-40B4-BE49-F238E27FC236}">
                    <a16:creationId xmlns:a16="http://schemas.microsoft.com/office/drawing/2014/main" id="{FB5026F5-16D8-EE4A-32B0-A5D8273435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037312" y="4282216"/>
                <a:ext cx="0" cy="228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26" name="Line 61">
                <a:extLst>
                  <a:ext uri="{FF2B5EF4-FFF2-40B4-BE49-F238E27FC236}">
                    <a16:creationId xmlns:a16="http://schemas.microsoft.com/office/drawing/2014/main" id="{46A97F9B-C94F-56CC-498D-B9B6FFE90C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42112" y="4282216"/>
                <a:ext cx="0" cy="228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27" name="Line 62">
                <a:extLst>
                  <a:ext uri="{FF2B5EF4-FFF2-40B4-BE49-F238E27FC236}">
                    <a16:creationId xmlns:a16="http://schemas.microsoft.com/office/drawing/2014/main" id="{8FAF2833-0FDF-4F31-73FB-B869D19A7A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646912" y="4282216"/>
                <a:ext cx="0" cy="228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28" name="Line 63">
                <a:extLst>
                  <a:ext uri="{FF2B5EF4-FFF2-40B4-BE49-F238E27FC236}">
                    <a16:creationId xmlns:a16="http://schemas.microsoft.com/office/drawing/2014/main" id="{2204DC0F-B134-0114-87A8-344981E218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951712" y="4282216"/>
                <a:ext cx="0" cy="228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29" name="Line 64">
                <a:extLst>
                  <a:ext uri="{FF2B5EF4-FFF2-40B4-BE49-F238E27FC236}">
                    <a16:creationId xmlns:a16="http://schemas.microsoft.com/office/drawing/2014/main" id="{6B912594-B71C-4B64-8055-846E2C1555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56512" y="4282216"/>
                <a:ext cx="0" cy="228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30" name="Line 65">
                <a:extLst>
                  <a:ext uri="{FF2B5EF4-FFF2-40B4-BE49-F238E27FC236}">
                    <a16:creationId xmlns:a16="http://schemas.microsoft.com/office/drawing/2014/main" id="{438A8FCC-A1F6-AEE2-20EF-81E14214C0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561312" y="4282216"/>
                <a:ext cx="0" cy="228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31" name="Line 66">
                <a:extLst>
                  <a:ext uri="{FF2B5EF4-FFF2-40B4-BE49-F238E27FC236}">
                    <a16:creationId xmlns:a16="http://schemas.microsoft.com/office/drawing/2014/main" id="{455D3760-B046-6AFD-EB08-120EF8407E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866112" y="4282216"/>
                <a:ext cx="0" cy="228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32" name="Line 67">
                <a:extLst>
                  <a:ext uri="{FF2B5EF4-FFF2-40B4-BE49-F238E27FC236}">
                    <a16:creationId xmlns:a16="http://schemas.microsoft.com/office/drawing/2014/main" id="{9092B995-920F-1631-AF17-B43438D86B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170912" y="4282216"/>
                <a:ext cx="0" cy="228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34" name="Line 67">
                <a:extLst>
                  <a:ext uri="{FF2B5EF4-FFF2-40B4-BE49-F238E27FC236}">
                    <a16:creationId xmlns:a16="http://schemas.microsoft.com/office/drawing/2014/main" id="{E0A5DFD5-C6C8-B686-8AB3-B79C099DE3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475712" y="4282216"/>
                <a:ext cx="0" cy="228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35" name="Line 60">
                <a:extLst>
                  <a:ext uri="{FF2B5EF4-FFF2-40B4-BE49-F238E27FC236}">
                    <a16:creationId xmlns:a16="http://schemas.microsoft.com/office/drawing/2014/main" id="{48539AA3-5828-EB43-5292-590D387889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32512" y="4282216"/>
                <a:ext cx="0" cy="228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37" name="Line 60">
                <a:extLst>
                  <a:ext uri="{FF2B5EF4-FFF2-40B4-BE49-F238E27FC236}">
                    <a16:creationId xmlns:a16="http://schemas.microsoft.com/office/drawing/2014/main" id="{1FBB71CE-B2E2-9F9F-6ED2-97129F23C2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961112" y="4282216"/>
                <a:ext cx="0" cy="228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38" name="Line 61">
                <a:extLst>
                  <a:ext uri="{FF2B5EF4-FFF2-40B4-BE49-F238E27FC236}">
                    <a16:creationId xmlns:a16="http://schemas.microsoft.com/office/drawing/2014/main" id="{AF33B6C9-F07A-07C5-0BA6-4AB29E5C22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65912" y="4282216"/>
                <a:ext cx="0" cy="228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39" name="Line 62">
                <a:extLst>
                  <a:ext uri="{FF2B5EF4-FFF2-40B4-BE49-F238E27FC236}">
                    <a16:creationId xmlns:a16="http://schemas.microsoft.com/office/drawing/2014/main" id="{4A148D0E-2BE0-D986-B3CD-8FE194CA81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0712" y="4282216"/>
                <a:ext cx="0" cy="228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40" name="Line 63">
                <a:extLst>
                  <a:ext uri="{FF2B5EF4-FFF2-40B4-BE49-F238E27FC236}">
                    <a16:creationId xmlns:a16="http://schemas.microsoft.com/office/drawing/2014/main" id="{60A87C38-B00B-F1CB-7339-7B2FF8D5B3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875512" y="4282216"/>
                <a:ext cx="0" cy="228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41" name="Line 64">
                <a:extLst>
                  <a:ext uri="{FF2B5EF4-FFF2-40B4-BE49-F238E27FC236}">
                    <a16:creationId xmlns:a16="http://schemas.microsoft.com/office/drawing/2014/main" id="{A9A823F4-BDBF-5F31-709A-A471E7DEB1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180312" y="4282216"/>
                <a:ext cx="0" cy="228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42" name="Line 65">
                <a:extLst>
                  <a:ext uri="{FF2B5EF4-FFF2-40B4-BE49-F238E27FC236}">
                    <a16:creationId xmlns:a16="http://schemas.microsoft.com/office/drawing/2014/main" id="{4CB64114-FE95-C1F0-8535-E0EC4564E7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485112" y="4282216"/>
                <a:ext cx="0" cy="228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43" name="Line 66">
                <a:extLst>
                  <a:ext uri="{FF2B5EF4-FFF2-40B4-BE49-F238E27FC236}">
                    <a16:creationId xmlns:a16="http://schemas.microsoft.com/office/drawing/2014/main" id="{F4032FF1-456D-128C-0624-57FB85EECD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789912" y="4282216"/>
                <a:ext cx="0" cy="228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44" name="Line 67">
                <a:extLst>
                  <a:ext uri="{FF2B5EF4-FFF2-40B4-BE49-F238E27FC236}">
                    <a16:creationId xmlns:a16="http://schemas.microsoft.com/office/drawing/2014/main" id="{017B76A9-ED3A-CCA1-E17A-B4A6384858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094712" y="4282216"/>
                <a:ext cx="0" cy="228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46" name="Line 67">
                <a:extLst>
                  <a:ext uri="{FF2B5EF4-FFF2-40B4-BE49-F238E27FC236}">
                    <a16:creationId xmlns:a16="http://schemas.microsoft.com/office/drawing/2014/main" id="{9E6D246F-54A1-57EF-F889-3CE85C05F4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399512" y="4282216"/>
                <a:ext cx="0" cy="228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47" name="Line 60">
                <a:extLst>
                  <a:ext uri="{FF2B5EF4-FFF2-40B4-BE49-F238E27FC236}">
                    <a16:creationId xmlns:a16="http://schemas.microsoft.com/office/drawing/2014/main" id="{D09B1B39-CB1B-9B7F-5250-B6714DA235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56312" y="4282216"/>
                <a:ext cx="0" cy="228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49" name="Line 60">
                <a:extLst>
                  <a:ext uri="{FF2B5EF4-FFF2-40B4-BE49-F238E27FC236}">
                    <a16:creationId xmlns:a16="http://schemas.microsoft.com/office/drawing/2014/main" id="{4A9B63D9-0434-DBF0-1676-E0E12B4691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113512" y="4282216"/>
                <a:ext cx="0" cy="228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50" name="Line 61">
                <a:extLst>
                  <a:ext uri="{FF2B5EF4-FFF2-40B4-BE49-F238E27FC236}">
                    <a16:creationId xmlns:a16="http://schemas.microsoft.com/office/drawing/2014/main" id="{BF7FADED-96AA-8967-11E9-1C351E153C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418312" y="4282216"/>
                <a:ext cx="0" cy="228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51" name="Line 62">
                <a:extLst>
                  <a:ext uri="{FF2B5EF4-FFF2-40B4-BE49-F238E27FC236}">
                    <a16:creationId xmlns:a16="http://schemas.microsoft.com/office/drawing/2014/main" id="{5F4BD698-29F5-2526-824A-12FECDE5AC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723112" y="4282216"/>
                <a:ext cx="0" cy="228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52" name="Line 63">
                <a:extLst>
                  <a:ext uri="{FF2B5EF4-FFF2-40B4-BE49-F238E27FC236}">
                    <a16:creationId xmlns:a16="http://schemas.microsoft.com/office/drawing/2014/main" id="{5B80966F-741D-CC67-4DE9-B4912E2AF9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027912" y="4282216"/>
                <a:ext cx="0" cy="228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53" name="Line 64">
                <a:extLst>
                  <a:ext uri="{FF2B5EF4-FFF2-40B4-BE49-F238E27FC236}">
                    <a16:creationId xmlns:a16="http://schemas.microsoft.com/office/drawing/2014/main" id="{019F483F-384D-55FA-71AD-824CFFF18D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332712" y="4282216"/>
                <a:ext cx="0" cy="228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54" name="Line 65">
                <a:extLst>
                  <a:ext uri="{FF2B5EF4-FFF2-40B4-BE49-F238E27FC236}">
                    <a16:creationId xmlns:a16="http://schemas.microsoft.com/office/drawing/2014/main" id="{395177A0-21D8-848B-0C84-6EAB4F46CA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37512" y="4282216"/>
                <a:ext cx="0" cy="228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55" name="Line 66">
                <a:extLst>
                  <a:ext uri="{FF2B5EF4-FFF2-40B4-BE49-F238E27FC236}">
                    <a16:creationId xmlns:a16="http://schemas.microsoft.com/office/drawing/2014/main" id="{A2660225-FD7C-7334-C024-BB8D2795A0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942312" y="4282216"/>
                <a:ext cx="0" cy="228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56" name="Line 67">
                <a:extLst>
                  <a:ext uri="{FF2B5EF4-FFF2-40B4-BE49-F238E27FC236}">
                    <a16:creationId xmlns:a16="http://schemas.microsoft.com/office/drawing/2014/main" id="{A1D267EA-1870-CB5B-9A0A-98BC3C7EEA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247112" y="4282216"/>
                <a:ext cx="0" cy="228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57" name="Line 67">
                <a:extLst>
                  <a:ext uri="{FF2B5EF4-FFF2-40B4-BE49-F238E27FC236}">
                    <a16:creationId xmlns:a16="http://schemas.microsoft.com/office/drawing/2014/main" id="{9BF68A3E-CB20-4F19-B101-10746AC283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551912" y="4282216"/>
                <a:ext cx="0" cy="228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58" name="Line 60">
                <a:extLst>
                  <a:ext uri="{FF2B5EF4-FFF2-40B4-BE49-F238E27FC236}">
                    <a16:creationId xmlns:a16="http://schemas.microsoft.com/office/drawing/2014/main" id="{781211B5-0061-D617-0F18-720736DE4C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808712" y="4282216"/>
                <a:ext cx="0" cy="228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</p:grpSp>
      </p:grpSp>
      <p:sp>
        <p:nvSpPr>
          <p:cNvPr id="62" name="Text Box 81">
            <a:extLst>
              <a:ext uri="{FF2B5EF4-FFF2-40B4-BE49-F238E27FC236}">
                <a16:creationId xmlns:a16="http://schemas.microsoft.com/office/drawing/2014/main" id="{EC3EE6C5-D7B1-19AC-10FD-0AFE3B1264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0575" y="4999038"/>
            <a:ext cx="208903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como </a:t>
            </a:r>
            <a:r>
              <a:rPr lang="pt-BR" altLang="pt-BR" sz="1600" i="1" dirty="0">
                <a:latin typeface="Times New Roman" pitchFamily="18" charset="0"/>
              </a:rPr>
              <a:t>n</a:t>
            </a:r>
            <a:r>
              <a:rPr lang="pt-BR" altLang="pt-BR" sz="1600" dirty="0">
                <a:latin typeface="Times New Roman" pitchFamily="18" charset="0"/>
              </a:rPr>
              <a:t> = 40 e </a:t>
            </a:r>
            <a:r>
              <a:rPr lang="pt-BR" altLang="pt-BR" sz="1600" i="1" dirty="0" err="1">
                <a:latin typeface="Times New Roman" pitchFamily="18" charset="0"/>
              </a:rPr>
              <a:t>np</a:t>
            </a:r>
            <a:r>
              <a:rPr lang="pt-BR" altLang="pt-BR" sz="1600" dirty="0">
                <a:latin typeface="Times New Roman" pitchFamily="18" charset="0"/>
              </a:rPr>
              <a:t> = 2,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então</a:t>
            </a:r>
            <a:r>
              <a:rPr lang="pt-BR" altLang="pt-BR" sz="1600" i="1" dirty="0">
                <a:latin typeface="Times New Roman" pitchFamily="18" charset="0"/>
              </a:rPr>
              <a:t> p</a:t>
            </a:r>
            <a:r>
              <a:rPr lang="pt-BR" altLang="pt-BR" sz="1600" dirty="0">
                <a:latin typeface="Times New Roman" pitchFamily="18" charset="0"/>
              </a:rPr>
              <a:t> = 0,05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6976" name="Object 82">
                <a:extLst>
                  <a:ext uri="{FF2B5EF4-FFF2-40B4-BE49-F238E27FC236}">
                    <a16:creationId xmlns:a16="http://schemas.microsoft.com/office/drawing/2014/main" id="{F79F7637-ECA3-031E-513A-690CF3513CA5}"/>
                  </a:ext>
                </a:extLst>
              </p:cNvPr>
              <p:cNvSpPr txBox="1"/>
              <p:nvPr/>
            </p:nvSpPr>
            <p:spPr bwMode="auto">
              <a:xfrm>
                <a:off x="838200" y="5967412"/>
                <a:ext cx="746125" cy="2936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1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pt-BR" sz="1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1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BR" sz="1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</m:oMath>
                  </m:oMathPara>
                </a14:m>
                <a:endParaRPr lang="pt-BR" sz="1000" dirty="0"/>
              </a:p>
            </p:txBody>
          </p:sp>
        </mc:Choice>
        <mc:Fallback xmlns="">
          <p:sp>
            <p:nvSpPr>
              <p:cNvPr id="126976" name="Object 82">
                <a:extLst>
                  <a:ext uri="{FF2B5EF4-FFF2-40B4-BE49-F238E27FC236}">
                    <a16:creationId xmlns:a16="http://schemas.microsoft.com/office/drawing/2014/main" id="{F79F7637-ECA3-031E-513A-690CF3513C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8200" y="5967412"/>
                <a:ext cx="746125" cy="293688"/>
              </a:xfrm>
              <a:prstGeom prst="rect">
                <a:avLst/>
              </a:prstGeom>
              <a:blipFill>
                <a:blip r:embed="rId2"/>
                <a:stretch>
                  <a:fillRect b="-1458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977" name="Object 83">
                <a:extLst>
                  <a:ext uri="{FF2B5EF4-FFF2-40B4-BE49-F238E27FC236}">
                    <a16:creationId xmlns:a16="http://schemas.microsoft.com/office/drawing/2014/main" id="{13A76487-1301-962D-A9AC-8E02328A0251}"/>
                  </a:ext>
                </a:extLst>
              </p:cNvPr>
              <p:cNvSpPr txBox="1"/>
              <p:nvPr/>
            </p:nvSpPr>
            <p:spPr bwMode="auto">
              <a:xfrm>
                <a:off x="1451297" y="5876925"/>
                <a:ext cx="2760663" cy="4746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pt-BR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pt-BR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40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</m:m>
                        </m:e>
                      </m:d>
                      <m:sSup>
                        <m:sSup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t-B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0,</m:t>
                              </m:r>
                              <m:r>
                                <a:rPr lang="pt-BR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05</m:t>
                              </m:r>
                            </m:e>
                          </m:d>
                        </m:e>
                        <m:sup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sSup>
                        <m:sSup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t-B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0,</m:t>
                              </m:r>
                              <m:r>
                                <a:rPr lang="pt-BR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95</m:t>
                              </m:r>
                            </m:e>
                          </m:d>
                        </m:e>
                        <m:sup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40</m:t>
                          </m:r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26977" name="Object 83">
                <a:extLst>
                  <a:ext uri="{FF2B5EF4-FFF2-40B4-BE49-F238E27FC236}">
                    <a16:creationId xmlns:a16="http://schemas.microsoft.com/office/drawing/2014/main" id="{13A76487-1301-962D-A9AC-8E02328A02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51297" y="5876925"/>
                <a:ext cx="2760663" cy="4746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6979" name="Text Box 84">
            <a:extLst>
              <a:ext uri="{FF2B5EF4-FFF2-40B4-BE49-F238E27FC236}">
                <a16:creationId xmlns:a16="http://schemas.microsoft.com/office/drawing/2014/main" id="{554E2DE6-10D4-AB6F-4E66-0385B66CE6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0" y="5638800"/>
            <a:ext cx="4015680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85763" indent="-38576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solidFill>
                  <a:srgbClr val="FF3300"/>
                </a:solidFill>
                <a:latin typeface="Tahoma" panose="020B0604030504040204" pitchFamily="34" charset="0"/>
              </a:rPr>
              <a:t>Problema</a:t>
            </a:r>
            <a:r>
              <a:rPr lang="pt-BR" altLang="pt-BR" sz="1600" dirty="0">
                <a:latin typeface="Tahoma" panose="020B0604030504040204" pitchFamily="34" charset="0"/>
              </a:rPr>
              <a:t>: não considera a possibilidade de 2 ou mais falhas dentro do mesmo intervalo!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6980" name="Object 78">
                <a:extLst>
                  <a:ext uri="{FF2B5EF4-FFF2-40B4-BE49-F238E27FC236}">
                    <a16:creationId xmlns:a16="http://schemas.microsoft.com/office/drawing/2014/main" id="{AB3F82A6-F35E-5785-EED0-18B4EEB9334E}"/>
                  </a:ext>
                </a:extLst>
              </p:cNvPr>
              <p:cNvSpPr txBox="1"/>
              <p:nvPr/>
            </p:nvSpPr>
            <p:spPr bwMode="auto">
              <a:xfrm>
                <a:off x="789559" y="4710315"/>
                <a:ext cx="1420241" cy="29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pt-BR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pt-BR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pt-BR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26980" name="Object 78">
                <a:extLst>
                  <a:ext uri="{FF2B5EF4-FFF2-40B4-BE49-F238E27FC236}">
                    <a16:creationId xmlns:a16="http://schemas.microsoft.com/office/drawing/2014/main" id="{AB3F82A6-F35E-5785-EED0-18B4EEB933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89559" y="4710315"/>
                <a:ext cx="1420241" cy="292100"/>
              </a:xfrm>
              <a:prstGeom prst="rect">
                <a:avLst/>
              </a:prstGeom>
              <a:blipFill>
                <a:blip r:embed="rId4"/>
                <a:stretch>
                  <a:fillRect b="-2916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2256448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 build="p" autoUpdateAnimBg="0"/>
      <p:bldP spid="126976" grpId="0"/>
      <p:bldP spid="126977" grpId="0"/>
      <p:bldP spid="126979" grpId="0" autoUpdateAnimBg="0"/>
      <p:bldP spid="126980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8DE0E-6EEC-72A3-AAC2-3C0EAB1C9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>
            <a:extLst>
              <a:ext uri="{FF2B5EF4-FFF2-40B4-BE49-F238E27FC236}">
                <a16:creationId xmlns:a16="http://schemas.microsoft.com/office/drawing/2014/main" id="{EC7AB0FD-2781-9EED-525E-FE6C3DF84E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Distribuição de Poisson</a:t>
            </a:r>
          </a:p>
        </p:txBody>
      </p:sp>
      <p:sp>
        <p:nvSpPr>
          <p:cNvPr id="128006" name="Text Box 6">
            <a:extLst>
              <a:ext uri="{FF2B5EF4-FFF2-40B4-BE49-F238E27FC236}">
                <a16:creationId xmlns:a16="http://schemas.microsoft.com/office/drawing/2014/main" id="{CD01AF5D-9730-D0A9-88AA-7CB81FA801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0575" y="4999038"/>
            <a:ext cx="7080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então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8008" name="Object 8">
                <a:extLst>
                  <a:ext uri="{FF2B5EF4-FFF2-40B4-BE49-F238E27FC236}">
                    <a16:creationId xmlns:a16="http://schemas.microsoft.com/office/drawing/2014/main" id="{E0F3512E-2619-3372-5BF5-AA4A38D16ECE}"/>
                  </a:ext>
                </a:extLst>
              </p:cNvPr>
              <p:cNvSpPr txBox="1"/>
              <p:nvPr/>
            </p:nvSpPr>
            <p:spPr bwMode="auto">
              <a:xfrm>
                <a:off x="838200" y="5828431"/>
                <a:ext cx="2922731" cy="6969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pt-BR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</m:m>
                        </m:e>
                      </m:d>
                      <m:sSup>
                        <m:sSup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t-B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pt-BR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t-BR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num>
                                <m:den>
                                  <m:r>
                                    <a:rPr lang="pt-BR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sSup>
                        <m:sSup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t-B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f>
                                <m:fPr>
                                  <m:ctrlPr>
                                    <a:rPr lang="pt-BR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t-BR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num>
                                <m:den>
                                  <m:r>
                                    <a:rPr lang="pt-BR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pt-BR" sz="1200" dirty="0"/>
              </a:p>
            </p:txBody>
          </p:sp>
        </mc:Choice>
        <mc:Fallback xmlns="">
          <p:sp>
            <p:nvSpPr>
              <p:cNvPr id="128008" name="Object 8">
                <a:extLst>
                  <a:ext uri="{FF2B5EF4-FFF2-40B4-BE49-F238E27FC236}">
                    <a16:creationId xmlns:a16="http://schemas.microsoft.com/office/drawing/2014/main" id="{E0F3512E-2619-3372-5BF5-AA4A38D16E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8200" y="5828431"/>
                <a:ext cx="2922731" cy="696913"/>
              </a:xfrm>
              <a:prstGeom prst="rect">
                <a:avLst/>
              </a:prstGeom>
              <a:blipFill>
                <a:blip r:embed="rId2"/>
                <a:stretch>
                  <a:fillRect l="-20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8009" name="Text Box 9">
            <a:extLst>
              <a:ext uri="{FF2B5EF4-FFF2-40B4-BE49-F238E27FC236}">
                <a16:creationId xmlns:a16="http://schemas.microsoft.com/office/drawing/2014/main" id="{CC438E29-D0A1-13F7-73D7-F1CF14083C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4656138"/>
            <a:ext cx="41306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Se </a:t>
            </a:r>
            <a:r>
              <a:rPr lang="pt-BR" altLang="pt-BR" sz="1600" i="1" dirty="0">
                <a:latin typeface="Times New Roman" pitchFamily="18" charset="0"/>
              </a:rPr>
              <a:t>n</a:t>
            </a:r>
            <a:r>
              <a:rPr lang="pt-BR" altLang="pt-BR" sz="1600" dirty="0">
                <a:latin typeface="Tahoma" panose="020B0604030504040204" pitchFamily="34" charset="0"/>
              </a:rPr>
              <a:t> </a:t>
            </a: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 , então </a:t>
            </a:r>
            <a:r>
              <a:rPr lang="pt-BR" altLang="pt-BR" sz="1600" i="1" dirty="0">
                <a:latin typeface="Times New Roman" pitchFamily="18" charset="0"/>
                <a:sym typeface="Symbol" pitchFamily="18" charset="2"/>
              </a:rPr>
              <a:t>p</a:t>
            </a: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  </a:t>
            </a:r>
            <a:r>
              <a:rPr lang="pt-BR" altLang="pt-BR" sz="1600" dirty="0">
                <a:latin typeface="Times New Roman" pitchFamily="18" charset="0"/>
                <a:sym typeface="Symbol" pitchFamily="18" charset="2"/>
              </a:rPr>
              <a:t>0</a:t>
            </a: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 e </a:t>
            </a:r>
            <a:r>
              <a:rPr lang="pt-BR" altLang="pt-BR" sz="1600" i="1" dirty="0">
                <a:latin typeface="Times New Roman" pitchFamily="18" charset="0"/>
                <a:sym typeface="Symbol" pitchFamily="18" charset="2"/>
              </a:rPr>
              <a:t>f</a:t>
            </a:r>
            <a:r>
              <a:rPr lang="pt-BR" altLang="pt-BR" sz="1600" dirty="0">
                <a:latin typeface="Times New Roman" pitchFamily="18" charset="0"/>
                <a:sym typeface="Symbol" pitchFamily="18" charset="2"/>
              </a:rPr>
              <a:t>(</a:t>
            </a:r>
            <a:r>
              <a:rPr lang="pt-BR" altLang="pt-BR" sz="1600" i="1" dirty="0">
                <a:latin typeface="Times New Roman" pitchFamily="18" charset="0"/>
                <a:sym typeface="Symbol" pitchFamily="18" charset="2"/>
              </a:rPr>
              <a:t>x</a:t>
            </a:r>
            <a:r>
              <a:rPr lang="pt-BR" altLang="pt-BR" sz="1600" dirty="0">
                <a:latin typeface="Times New Roman" pitchFamily="18" charset="0"/>
                <a:sym typeface="Symbol" pitchFamily="18" charset="2"/>
              </a:rPr>
              <a:t>)</a:t>
            </a: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 tende para:</a:t>
            </a:r>
            <a:endParaRPr lang="pt-BR" altLang="pt-BR" sz="1600" dirty="0">
              <a:latin typeface="Tahoma" panose="020B0604030504040204" pitchFamily="34" charset="0"/>
            </a:endParaRPr>
          </a:p>
        </p:txBody>
      </p:sp>
      <p:grpSp>
        <p:nvGrpSpPr>
          <p:cNvPr id="3" name="Group 40">
            <a:extLst>
              <a:ext uri="{FF2B5EF4-FFF2-40B4-BE49-F238E27FC236}">
                <a16:creationId xmlns:a16="http://schemas.microsoft.com/office/drawing/2014/main" id="{6F57EAF9-0EB9-D1CA-6BD3-423DDAE2E59B}"/>
              </a:ext>
            </a:extLst>
          </p:cNvPr>
          <p:cNvGrpSpPr>
            <a:grpSpLocks/>
          </p:cNvGrpSpPr>
          <p:nvPr/>
        </p:nvGrpSpPr>
        <p:grpSpPr bwMode="auto">
          <a:xfrm>
            <a:off x="914400" y="4075109"/>
            <a:ext cx="3048000" cy="482599"/>
            <a:chOff x="576" y="2567"/>
            <a:chExt cx="1920" cy="304"/>
          </a:xfrm>
        </p:grpSpPr>
        <p:sp>
          <p:nvSpPr>
            <p:cNvPr id="34834" name="AutoShape 37">
              <a:extLst>
                <a:ext uri="{FF2B5EF4-FFF2-40B4-BE49-F238E27FC236}">
                  <a16:creationId xmlns:a16="http://schemas.microsoft.com/office/drawing/2014/main" id="{CB02971E-DD3E-A705-2CEE-DB2787699749}"/>
                </a:ext>
              </a:extLst>
            </p:cNvPr>
            <p:cNvSpPr>
              <a:spLocks/>
            </p:cNvSpPr>
            <p:nvPr/>
          </p:nvSpPr>
          <p:spPr bwMode="auto">
            <a:xfrm rot="-5400000">
              <a:off x="1475" y="1668"/>
              <a:ext cx="121" cy="1920"/>
            </a:xfrm>
            <a:prstGeom prst="leftBrace">
              <a:avLst>
                <a:gd name="adj1" fmla="val 132231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34835" name="Text Box 38">
              <a:extLst>
                <a:ext uri="{FF2B5EF4-FFF2-40B4-BE49-F238E27FC236}">
                  <a16:creationId xmlns:a16="http://schemas.microsoft.com/office/drawing/2014/main" id="{716CCB27-B10B-1222-EA8E-16725F473B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4" y="2658"/>
              <a:ext cx="767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i="1" dirty="0">
                  <a:latin typeface="Times New Roman" pitchFamily="18" charset="0"/>
                </a:rPr>
                <a:t>n</a:t>
              </a:r>
              <a:r>
                <a:rPr lang="pt-BR" altLang="pt-BR" sz="1600" dirty="0">
                  <a:latin typeface="Tahoma" panose="020B0604030504040204" pitchFamily="34" charset="0"/>
                </a:rPr>
                <a:t> intervalos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8042" name="Object 42">
                <a:extLst>
                  <a:ext uri="{FF2B5EF4-FFF2-40B4-BE49-F238E27FC236}">
                    <a16:creationId xmlns:a16="http://schemas.microsoft.com/office/drawing/2014/main" id="{A206737A-3DAD-23AF-7D24-5AFC4F4A7B7E}"/>
                  </a:ext>
                </a:extLst>
              </p:cNvPr>
              <p:cNvSpPr txBox="1"/>
              <p:nvPr/>
            </p:nvSpPr>
            <p:spPr bwMode="auto">
              <a:xfrm>
                <a:off x="830263" y="5310534"/>
                <a:ext cx="789409" cy="5667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28042" name="Object 42">
                <a:extLst>
                  <a:ext uri="{FF2B5EF4-FFF2-40B4-BE49-F238E27FC236}">
                    <a16:creationId xmlns:a16="http://schemas.microsoft.com/office/drawing/2014/main" id="{A206737A-3DAD-23AF-7D24-5AFC4F4A7B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0263" y="5310534"/>
                <a:ext cx="789409" cy="56673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8043" name="Object 43">
                <a:extLst>
                  <a:ext uri="{FF2B5EF4-FFF2-40B4-BE49-F238E27FC236}">
                    <a16:creationId xmlns:a16="http://schemas.microsoft.com/office/drawing/2014/main" id="{778F74DA-FAAB-9B96-4E1D-7E2B913445F0}"/>
                  </a:ext>
                </a:extLst>
              </p:cNvPr>
              <p:cNvSpPr txBox="1"/>
              <p:nvPr/>
            </p:nvSpPr>
            <p:spPr bwMode="auto">
              <a:xfrm>
                <a:off x="4644008" y="5151438"/>
                <a:ext cx="1431925" cy="6048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t-B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pt-B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sup>
                          </m:sSup>
                          <m:sSup>
                            <m:sSupPr>
                              <m:ctrlPr>
                                <a:rPr lang="pt-B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p>
                              <m:r>
                                <a:rPr lang="pt-B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num>
                        <m:den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28043" name="Object 43">
                <a:extLst>
                  <a:ext uri="{FF2B5EF4-FFF2-40B4-BE49-F238E27FC236}">
                    <a16:creationId xmlns:a16="http://schemas.microsoft.com/office/drawing/2014/main" id="{778F74DA-FAAB-9B96-4E1D-7E2B913445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44008" y="5151438"/>
                <a:ext cx="1431925" cy="60483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28044" name="Object 44">
            <a:extLst>
              <a:ext uri="{FF2B5EF4-FFF2-40B4-BE49-F238E27FC236}">
                <a16:creationId xmlns:a16="http://schemas.microsoft.com/office/drawing/2014/main" id="{7F5DF759-6ED1-CEC5-1446-3CB4E099E21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24400" y="6022975"/>
          <a:ext cx="869950" cy="293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609336" imgH="203112" progId="Equation.DSMT4">
                  <p:embed/>
                </p:oleObj>
              </mc:Choice>
              <mc:Fallback>
                <p:oleObj name="Equation" r:id="rId5" imgW="609336" imgH="203112" progId="Equation.DSMT4">
                  <p:embed/>
                  <p:pic>
                    <p:nvPicPr>
                      <p:cNvPr id="128044" name="Object 44">
                        <a:extLst>
                          <a:ext uri="{FF2B5EF4-FFF2-40B4-BE49-F238E27FC236}">
                            <a16:creationId xmlns:a16="http://schemas.microsoft.com/office/drawing/2014/main" id="{7F5DF759-6ED1-CEC5-1446-3CB4E099E21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6022975"/>
                        <a:ext cx="869950" cy="293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8045" name="Object 45">
            <a:extLst>
              <a:ext uri="{FF2B5EF4-FFF2-40B4-BE49-F238E27FC236}">
                <a16:creationId xmlns:a16="http://schemas.microsoft.com/office/drawing/2014/main" id="{B311ABF6-2EE1-FE97-5DB8-C5A9D0F8373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05563" y="6019800"/>
          <a:ext cx="1014412" cy="293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710891" imgH="203112" progId="Equation.DSMT4">
                  <p:embed/>
                </p:oleObj>
              </mc:Choice>
              <mc:Fallback>
                <p:oleObj name="Equation" r:id="rId7" imgW="710891" imgH="203112" progId="Equation.DSMT4">
                  <p:embed/>
                  <p:pic>
                    <p:nvPicPr>
                      <p:cNvPr id="128045" name="Object 45">
                        <a:extLst>
                          <a:ext uri="{FF2B5EF4-FFF2-40B4-BE49-F238E27FC236}">
                            <a16:creationId xmlns:a16="http://schemas.microsoft.com/office/drawing/2014/main" id="{B311ABF6-2EE1-FE97-5DB8-C5A9D0F8373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5563" y="6019800"/>
                        <a:ext cx="1014412" cy="293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8046" name="Text Box 46">
            <a:extLst>
              <a:ext uri="{FF2B5EF4-FFF2-40B4-BE49-F238E27FC236}">
                <a16:creationId xmlns:a16="http://schemas.microsoft.com/office/drawing/2014/main" id="{5DC26EF5-8100-BEB3-7725-C8DF4F71D5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6325" y="5322888"/>
            <a:ext cx="239373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(</a:t>
            </a:r>
            <a:r>
              <a:rPr lang="pt-BR" altLang="pt-BR" sz="1600" dirty="0">
                <a:solidFill>
                  <a:srgbClr val="FF3300"/>
                </a:solidFill>
                <a:latin typeface="Tahoma" panose="020B0604030504040204" pitchFamily="34" charset="0"/>
              </a:rPr>
              <a:t>distribuição de Poisson</a:t>
            </a:r>
            <a:r>
              <a:rPr lang="pt-BR" altLang="pt-BR" sz="1600" dirty="0">
                <a:latin typeface="Tahoma" panose="020B0604030504040204" pitchFamily="34" charset="0"/>
              </a:rPr>
              <a:t>)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A5DE8590-ABD7-B34E-44E3-63D9F90D4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AF5EB40-7552-47D5-B768-0630B16D50B2}" type="slidenum">
              <a:rPr lang="pt-BR"/>
              <a:pPr>
                <a:defRPr/>
              </a:pPr>
              <a:t>44</a:t>
            </a:fld>
            <a:endParaRPr lang="pt-BR"/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989D9C8B-1AEB-D2B4-F6CE-EC745BA412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600200"/>
            <a:ext cx="76200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Suponha que numa série temporal diária de dados de chuva observou-se 10 falhas (dados ausentes) em 100 dias de observação, ou seja, 0,1 falha por dia. Deseja-se calcular a probabilidade de que nos próximos 20 dias ocorram 0, 1, 2, </a:t>
            </a:r>
            <a:r>
              <a:rPr lang="pt-BR" altLang="pt-BR" sz="1600" dirty="0" err="1">
                <a:latin typeface="Tahoma" panose="020B0604030504040204" pitchFamily="34" charset="0"/>
              </a:rPr>
              <a:t>etc</a:t>
            </a:r>
            <a:r>
              <a:rPr lang="pt-BR" altLang="pt-BR" sz="1600" dirty="0">
                <a:latin typeface="Tahoma" panose="020B0604030504040204" pitchFamily="34" charset="0"/>
              </a:rPr>
              <a:t> falhas.</a:t>
            </a:r>
          </a:p>
        </p:txBody>
      </p:sp>
      <p:sp>
        <p:nvSpPr>
          <p:cNvPr id="5" name="Text Box 58">
            <a:extLst>
              <a:ext uri="{FF2B5EF4-FFF2-40B4-BE49-F238E27FC236}">
                <a16:creationId xmlns:a16="http://schemas.microsoft.com/office/drawing/2014/main" id="{2D4626C4-C71D-C1A2-CC92-ECC2ABFD82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2451100"/>
            <a:ext cx="7620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Considere que a qualquer instante, uma falha é tão provável de ocorrer como em qualquer outro instante e assim, a probabilidade permanece constante. </a:t>
            </a:r>
          </a:p>
        </p:txBody>
      </p:sp>
      <p:grpSp>
        <p:nvGrpSpPr>
          <p:cNvPr id="52" name="Agrupar 51">
            <a:extLst>
              <a:ext uri="{FF2B5EF4-FFF2-40B4-BE49-F238E27FC236}">
                <a16:creationId xmlns:a16="http://schemas.microsoft.com/office/drawing/2014/main" id="{6417C111-6EE2-633A-9972-312ECED62DDF}"/>
              </a:ext>
            </a:extLst>
          </p:cNvPr>
          <p:cNvGrpSpPr/>
          <p:nvPr/>
        </p:nvGrpSpPr>
        <p:grpSpPr>
          <a:xfrm>
            <a:off x="773113" y="3470275"/>
            <a:ext cx="3760787" cy="568325"/>
            <a:chOff x="773113" y="3470275"/>
            <a:chExt cx="3760787" cy="568325"/>
          </a:xfrm>
        </p:grpSpPr>
        <p:sp>
          <p:nvSpPr>
            <p:cNvPr id="53" name="Line 59">
              <a:extLst>
                <a:ext uri="{FF2B5EF4-FFF2-40B4-BE49-F238E27FC236}">
                  <a16:creationId xmlns:a16="http://schemas.microsoft.com/office/drawing/2014/main" id="{9461801C-BD02-B7C7-75CC-A70F9590EE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4401" y="3810000"/>
              <a:ext cx="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54" name="Line 68">
              <a:extLst>
                <a:ext uri="{FF2B5EF4-FFF2-40B4-BE49-F238E27FC236}">
                  <a16:creationId xmlns:a16="http://schemas.microsoft.com/office/drawing/2014/main" id="{91BF3BE2-8358-1E28-2811-CB0E5208A6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2401" y="3810000"/>
              <a:ext cx="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55" name="Line 70">
              <a:extLst>
                <a:ext uri="{FF2B5EF4-FFF2-40B4-BE49-F238E27FC236}">
                  <a16:creationId xmlns:a16="http://schemas.microsoft.com/office/drawing/2014/main" id="{A6CB1377-ACB1-5895-7EB1-8376DAC42F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4401" y="3924300"/>
              <a:ext cx="3048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56" name="Text Box 71">
              <a:extLst>
                <a:ext uri="{FF2B5EF4-FFF2-40B4-BE49-F238E27FC236}">
                  <a16:creationId xmlns:a16="http://schemas.microsoft.com/office/drawing/2014/main" id="{6B772CA1-BFF5-5B49-69E3-CCAE61650F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3113" y="3470275"/>
              <a:ext cx="28575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57" name="Text Box 75">
              <a:extLst>
                <a:ext uri="{FF2B5EF4-FFF2-40B4-BE49-F238E27FC236}">
                  <a16:creationId xmlns:a16="http://schemas.microsoft.com/office/drawing/2014/main" id="{6988F29F-5CDA-A107-2E5F-710CE60010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0931" y="3470275"/>
              <a:ext cx="772969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imes New Roman" pitchFamily="18" charset="0"/>
                </a:rPr>
                <a:t>20 dias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Object 78">
                <a:extLst>
                  <a:ext uri="{FF2B5EF4-FFF2-40B4-BE49-F238E27FC236}">
                    <a16:creationId xmlns:a16="http://schemas.microsoft.com/office/drawing/2014/main" id="{30E503BC-F4DA-ED0D-0347-E693309CEECD}"/>
                  </a:ext>
                </a:extLst>
              </p:cNvPr>
              <p:cNvSpPr txBox="1"/>
              <p:nvPr/>
            </p:nvSpPr>
            <p:spPr bwMode="auto">
              <a:xfrm>
                <a:off x="789559" y="4710315"/>
                <a:ext cx="3494407" cy="29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pt-BR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𝑛𝑝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8" name="Object 78">
                <a:extLst>
                  <a:ext uri="{FF2B5EF4-FFF2-40B4-BE49-F238E27FC236}">
                    <a16:creationId xmlns:a16="http://schemas.microsoft.com/office/drawing/2014/main" id="{30E503BC-F4DA-ED0D-0347-E693309CEE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89559" y="4710315"/>
                <a:ext cx="3494407" cy="292100"/>
              </a:xfrm>
              <a:prstGeom prst="rect">
                <a:avLst/>
              </a:prstGeom>
              <a:blipFill>
                <a:blip r:embed="rId9"/>
                <a:stretch>
                  <a:fillRect b="-2083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66819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006" grpId="0" autoUpdateAnimBg="0"/>
      <p:bldP spid="128008" grpId="0"/>
      <p:bldP spid="128009" grpId="0" autoUpdateAnimBg="0"/>
      <p:bldP spid="128042" grpId="0"/>
      <p:bldP spid="128043" grpId="0"/>
      <p:bldP spid="128046" grpId="0" autoUpdateAnimBg="0"/>
      <p:bldP spid="58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Resumo Distribuições Discretas</a:t>
            </a:r>
          </a:p>
        </p:txBody>
      </p:sp>
      <p:pic>
        <p:nvPicPr>
          <p:cNvPr id="36867" name="Picture 82" descr="DistribuicoesDiscretasResum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100" y="1333500"/>
            <a:ext cx="7099300" cy="529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Group 85"/>
          <p:cNvGrpSpPr>
            <a:grpSpLocks/>
          </p:cNvGrpSpPr>
          <p:nvPr/>
        </p:nvGrpSpPr>
        <p:grpSpPr bwMode="auto">
          <a:xfrm>
            <a:off x="101600" y="2514600"/>
            <a:ext cx="889000" cy="914400"/>
            <a:chOff x="64" y="1584"/>
            <a:chExt cx="560" cy="576"/>
          </a:xfrm>
        </p:grpSpPr>
        <p:sp>
          <p:nvSpPr>
            <p:cNvPr id="36879" name="AutoShape 83"/>
            <p:cNvSpPr>
              <a:spLocks noChangeArrowheads="1"/>
            </p:cNvSpPr>
            <p:nvPr/>
          </p:nvSpPr>
          <p:spPr bwMode="auto">
            <a:xfrm flipV="1">
              <a:off x="432" y="1584"/>
              <a:ext cx="192" cy="576"/>
            </a:xfrm>
            <a:prstGeom prst="curvedRightArrow">
              <a:avLst>
                <a:gd name="adj1" fmla="val 60000"/>
                <a:gd name="adj2" fmla="val 120000"/>
                <a:gd name="adj3" fmla="val 33333"/>
              </a:avLst>
            </a:prstGeom>
            <a:solidFill>
              <a:srgbClr val="FF33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36880" name="Text Box 84"/>
            <p:cNvSpPr txBox="1">
              <a:spLocks noChangeArrowheads="1"/>
            </p:cNvSpPr>
            <p:nvPr/>
          </p:nvSpPr>
          <p:spPr bwMode="auto">
            <a:xfrm>
              <a:off x="64" y="1719"/>
              <a:ext cx="38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i="1">
                  <a:latin typeface="Times New Roman" pitchFamily="18" charset="0"/>
                </a:rPr>
                <a:t>n</a:t>
              </a:r>
              <a:r>
                <a:rPr lang="pt-BR" altLang="pt-BR" sz="1600">
                  <a:latin typeface="Times New Roman" pitchFamily="18" charset="0"/>
                </a:rPr>
                <a:t> = 1</a:t>
              </a:r>
            </a:p>
          </p:txBody>
        </p:sp>
      </p:grpSp>
      <p:grpSp>
        <p:nvGrpSpPr>
          <p:cNvPr id="3" name="Group 86"/>
          <p:cNvGrpSpPr>
            <a:grpSpLocks/>
          </p:cNvGrpSpPr>
          <p:nvPr/>
        </p:nvGrpSpPr>
        <p:grpSpPr bwMode="auto">
          <a:xfrm>
            <a:off x="123825" y="3857625"/>
            <a:ext cx="866775" cy="914400"/>
            <a:chOff x="78" y="1584"/>
            <a:chExt cx="546" cy="576"/>
          </a:xfrm>
        </p:grpSpPr>
        <p:sp>
          <p:nvSpPr>
            <p:cNvPr id="36877" name="AutoShape 87"/>
            <p:cNvSpPr>
              <a:spLocks noChangeArrowheads="1"/>
            </p:cNvSpPr>
            <p:nvPr/>
          </p:nvSpPr>
          <p:spPr bwMode="auto">
            <a:xfrm flipV="1">
              <a:off x="432" y="1584"/>
              <a:ext cx="192" cy="576"/>
            </a:xfrm>
            <a:prstGeom prst="curvedRightArrow">
              <a:avLst>
                <a:gd name="adj1" fmla="val 60000"/>
                <a:gd name="adj2" fmla="val 120000"/>
                <a:gd name="adj3" fmla="val 33333"/>
              </a:avLst>
            </a:prstGeom>
            <a:solidFill>
              <a:srgbClr val="FF33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36878" name="Text Box 88"/>
            <p:cNvSpPr txBox="1">
              <a:spLocks noChangeArrowheads="1"/>
            </p:cNvSpPr>
            <p:nvPr/>
          </p:nvSpPr>
          <p:spPr bwMode="auto">
            <a:xfrm>
              <a:off x="78" y="1719"/>
              <a:ext cx="36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i="1">
                  <a:latin typeface="Times New Roman" pitchFamily="18" charset="0"/>
                </a:rPr>
                <a:t>r</a:t>
              </a:r>
              <a:r>
                <a:rPr lang="pt-BR" altLang="pt-BR" sz="1600">
                  <a:latin typeface="Times New Roman" pitchFamily="18" charset="0"/>
                </a:rPr>
                <a:t> = 1</a:t>
              </a:r>
            </a:p>
          </p:txBody>
        </p:sp>
      </p:grpSp>
      <p:grpSp>
        <p:nvGrpSpPr>
          <p:cNvPr id="4" name="Group 94"/>
          <p:cNvGrpSpPr>
            <a:grpSpLocks/>
          </p:cNvGrpSpPr>
          <p:nvPr/>
        </p:nvGrpSpPr>
        <p:grpSpPr bwMode="auto">
          <a:xfrm>
            <a:off x="1066800" y="1752600"/>
            <a:ext cx="1150938" cy="4676775"/>
            <a:chOff x="672" y="1104"/>
            <a:chExt cx="725" cy="2946"/>
          </a:xfrm>
        </p:grpSpPr>
        <p:sp>
          <p:nvSpPr>
            <p:cNvPr id="36872" name="Rectangle 89"/>
            <p:cNvSpPr>
              <a:spLocks noChangeArrowheads="1"/>
            </p:cNvSpPr>
            <p:nvPr/>
          </p:nvSpPr>
          <p:spPr bwMode="auto">
            <a:xfrm>
              <a:off x="672" y="1104"/>
              <a:ext cx="404" cy="192"/>
            </a:xfrm>
            <a:prstGeom prst="rect">
              <a:avLst/>
            </a:prstGeom>
            <a:noFill/>
            <a:ln w="19050">
              <a:solidFill>
                <a:srgbClr val="FF33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36873" name="Rectangle 90"/>
            <p:cNvSpPr>
              <a:spLocks noChangeArrowheads="1"/>
            </p:cNvSpPr>
            <p:nvPr/>
          </p:nvSpPr>
          <p:spPr bwMode="auto">
            <a:xfrm>
              <a:off x="672" y="1968"/>
              <a:ext cx="355" cy="192"/>
            </a:xfrm>
            <a:prstGeom prst="rect">
              <a:avLst/>
            </a:prstGeom>
            <a:noFill/>
            <a:ln w="19050">
              <a:solidFill>
                <a:srgbClr val="FF33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36874" name="Rectangle 91"/>
            <p:cNvSpPr>
              <a:spLocks noChangeArrowheads="1"/>
            </p:cNvSpPr>
            <p:nvPr/>
          </p:nvSpPr>
          <p:spPr bwMode="auto">
            <a:xfrm>
              <a:off x="672" y="2826"/>
              <a:ext cx="725" cy="192"/>
            </a:xfrm>
            <a:prstGeom prst="rect">
              <a:avLst/>
            </a:prstGeom>
            <a:noFill/>
            <a:ln w="19050">
              <a:solidFill>
                <a:srgbClr val="FF33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36875" name="Rectangle 92"/>
            <p:cNvSpPr>
              <a:spLocks noChangeArrowheads="1"/>
            </p:cNvSpPr>
            <p:nvPr/>
          </p:nvSpPr>
          <p:spPr bwMode="auto">
            <a:xfrm>
              <a:off x="672" y="3342"/>
              <a:ext cx="685" cy="192"/>
            </a:xfrm>
            <a:prstGeom prst="rect">
              <a:avLst/>
            </a:prstGeom>
            <a:noFill/>
            <a:ln w="19050">
              <a:solidFill>
                <a:srgbClr val="FF33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36876" name="Rectangle 93"/>
            <p:cNvSpPr>
              <a:spLocks noChangeArrowheads="1"/>
            </p:cNvSpPr>
            <p:nvPr/>
          </p:nvSpPr>
          <p:spPr bwMode="auto">
            <a:xfrm>
              <a:off x="672" y="3858"/>
              <a:ext cx="319" cy="192"/>
            </a:xfrm>
            <a:prstGeom prst="rect">
              <a:avLst/>
            </a:prstGeom>
            <a:noFill/>
            <a:ln w="19050">
              <a:solidFill>
                <a:srgbClr val="FF33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56CFF3-F343-409A-94CD-30C3684595E1}" type="slidenum">
              <a:rPr lang="pt-BR"/>
              <a:pPr>
                <a:defRPr/>
              </a:pPr>
              <a:t>45</a:t>
            </a:fld>
            <a:endParaRPr lang="pt-BR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upo 13"/>
          <p:cNvGrpSpPr>
            <a:grpSpLocks/>
          </p:cNvGrpSpPr>
          <p:nvPr/>
        </p:nvGrpSpPr>
        <p:grpSpPr bwMode="auto">
          <a:xfrm>
            <a:off x="5689600" y="2414588"/>
            <a:ext cx="2787650" cy="1268412"/>
            <a:chOff x="5580959" y="5105449"/>
            <a:chExt cx="2787948" cy="1268214"/>
          </a:xfrm>
        </p:grpSpPr>
        <p:sp>
          <p:nvSpPr>
            <p:cNvPr id="8" name="Retângulo 7"/>
            <p:cNvSpPr/>
            <p:nvPr/>
          </p:nvSpPr>
          <p:spPr>
            <a:xfrm>
              <a:off x="5580959" y="5611782"/>
              <a:ext cx="1386036" cy="761881"/>
            </a:xfrm>
            <a:prstGeom prst="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  <p:graphicFrame>
          <p:nvGraphicFramePr>
            <p:cNvPr id="37913" name="Objeto 36"/>
            <p:cNvGraphicFramePr>
              <a:graphicFrameLocks noChangeAspect="1"/>
            </p:cNvGraphicFramePr>
            <p:nvPr/>
          </p:nvGraphicFramePr>
          <p:xfrm>
            <a:off x="6881420" y="5105449"/>
            <a:ext cx="1487487" cy="292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040948" imgH="203112" progId="Equation.DSMT4">
                    <p:embed/>
                  </p:oleObj>
                </mc:Choice>
                <mc:Fallback>
                  <p:oleObj name="Equation" r:id="rId2" imgW="1040948" imgH="203112" progId="Equation.DSMT4">
                    <p:embed/>
                    <p:pic>
                      <p:nvPicPr>
                        <p:cNvPr id="37913" name="Objeto 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81420" y="5105449"/>
                          <a:ext cx="1487487" cy="2921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10" name="Conector de seta reta 9"/>
            <p:cNvCxnSpPr/>
            <p:nvPr/>
          </p:nvCxnSpPr>
          <p:spPr>
            <a:xfrm flipV="1">
              <a:off x="6266832" y="5349886"/>
              <a:ext cx="647769" cy="64283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2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Distribuição Uniforme (Contínua)</a:t>
            </a:r>
          </a:p>
        </p:txBody>
      </p:sp>
      <p:graphicFrame>
        <p:nvGraphicFramePr>
          <p:cNvPr id="18440" name="Object 15"/>
          <p:cNvGraphicFramePr>
            <a:graphicFrameLocks noChangeAspect="1"/>
          </p:cNvGraphicFramePr>
          <p:nvPr/>
        </p:nvGraphicFramePr>
        <p:xfrm>
          <a:off x="1116013" y="3997325"/>
          <a:ext cx="873125" cy="29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09336" imgH="203112" progId="Equation.DSMT4">
                  <p:embed/>
                </p:oleObj>
              </mc:Choice>
              <mc:Fallback>
                <p:oleObj name="Equation" r:id="rId4" imgW="609336" imgH="203112" progId="Equation.DSMT4">
                  <p:embed/>
                  <p:pic>
                    <p:nvPicPr>
                      <p:cNvPr id="1844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3997325"/>
                        <a:ext cx="873125" cy="290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1" name="Object 21"/>
          <p:cNvGraphicFramePr>
            <a:graphicFrameLocks noChangeAspect="1"/>
          </p:cNvGraphicFramePr>
          <p:nvPr/>
        </p:nvGraphicFramePr>
        <p:xfrm>
          <a:off x="1116013" y="4662488"/>
          <a:ext cx="1038225" cy="290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23586" imgH="203112" progId="Equation.DSMT4">
                  <p:embed/>
                </p:oleObj>
              </mc:Choice>
              <mc:Fallback>
                <p:oleObj name="Equation" r:id="rId6" imgW="723586" imgH="203112" progId="Equation.DSMT4">
                  <p:embed/>
                  <p:pic>
                    <p:nvPicPr>
                      <p:cNvPr id="18441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4662488"/>
                        <a:ext cx="1038225" cy="290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1279E1B-4123-4AA2-BEEC-4F29C2975B72}" type="slidenum">
              <a:rPr lang="pt-BR"/>
              <a:pPr>
                <a:defRPr/>
              </a:pPr>
              <a:t>46</a:t>
            </a:fld>
            <a:endParaRPr lang="pt-BR"/>
          </a:p>
        </p:txBody>
      </p:sp>
      <p:sp>
        <p:nvSpPr>
          <p:cNvPr id="37895" name="Retângulo 2"/>
          <p:cNvSpPr>
            <a:spLocks noChangeArrowheads="1"/>
          </p:cNvSpPr>
          <p:nvPr/>
        </p:nvSpPr>
        <p:spPr bwMode="auto">
          <a:xfrm>
            <a:off x="695325" y="1547813"/>
            <a:ext cx="7764463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55600" indent="-35560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Uma variável aleatória </a:t>
            </a:r>
            <a:r>
              <a:rPr lang="pt-BR" altLang="pt-BR" sz="1600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pt-BR" altLang="pt-BR" sz="1600" dirty="0">
                <a:latin typeface="Tahoma" panose="020B0604030504040204" pitchFamily="34" charset="0"/>
              </a:rPr>
              <a:t> tem distribuição Uniforme no intervalo </a:t>
            </a:r>
            <a:r>
              <a:rPr lang="pt-BR" altLang="pt-BR" sz="1600" dirty="0">
                <a:latin typeface="Times New Roman" pitchFamily="18" charset="0"/>
                <a:cs typeface="Times New Roman" pitchFamily="18" charset="0"/>
              </a:rPr>
              <a:t>[</a:t>
            </a:r>
            <a:r>
              <a:rPr lang="pt-BR" altLang="pt-BR" sz="1600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pt-BR" altLang="pt-BR" sz="16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pt-BR" altLang="pt-BR" sz="1600" i="1" dirty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pt-BR" altLang="pt-BR" sz="1600" dirty="0">
                <a:latin typeface="Times New Roman" pitchFamily="18" charset="0"/>
                <a:cs typeface="Times New Roman" pitchFamily="18" charset="0"/>
              </a:rPr>
              <a:t>]</a:t>
            </a:r>
            <a:r>
              <a:rPr lang="pt-BR" altLang="pt-BR" sz="1600" dirty="0">
                <a:latin typeface="Tahoma" panose="020B0604030504040204" pitchFamily="34" charset="0"/>
              </a:rPr>
              <a:t>  se sua função densidade de probabilidade for dada por:</a:t>
            </a:r>
          </a:p>
        </p:txBody>
      </p:sp>
      <p:grpSp>
        <p:nvGrpSpPr>
          <p:cNvPr id="6" name="Grupo 5"/>
          <p:cNvGrpSpPr>
            <a:grpSpLocks/>
          </p:cNvGrpSpPr>
          <p:nvPr/>
        </p:nvGrpSpPr>
        <p:grpSpPr bwMode="auto">
          <a:xfrm>
            <a:off x="1052513" y="2314575"/>
            <a:ext cx="2816350" cy="944563"/>
            <a:chOff x="1052513" y="2314575"/>
            <a:chExt cx="2816307" cy="944563"/>
          </a:xfrm>
        </p:grpSpPr>
        <p:sp>
          <p:nvSpPr>
            <p:cNvPr id="18438" name="Text Box 12"/>
            <p:cNvSpPr txBox="1">
              <a:spLocks noChangeArrowheads="1"/>
            </p:cNvSpPr>
            <p:nvPr/>
          </p:nvSpPr>
          <p:spPr bwMode="auto">
            <a:xfrm>
              <a:off x="2411392" y="2462213"/>
              <a:ext cx="1173701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pt-BR" altLang="pt-BR" sz="1600" dirty="0">
                  <a:latin typeface="Tahoma" panose="020B0604030504040204" pitchFamily="34" charset="0"/>
                </a:rPr>
                <a:t>se </a:t>
              </a:r>
              <a:r>
                <a:rPr lang="pt-BR" altLang="pt-BR" sz="1600" i="1" dirty="0">
                  <a:latin typeface="Times New Roman" charset="0"/>
                </a:rPr>
                <a:t>a </a:t>
              </a:r>
              <a:r>
                <a:rPr lang="pt-BR" altLang="pt-BR" sz="1600" dirty="0">
                  <a:latin typeface="Times New Roman" charset="0"/>
                </a:rPr>
                <a:t>≤</a:t>
              </a:r>
              <a:r>
                <a:rPr lang="pt-BR" altLang="pt-BR" sz="1600" i="1" dirty="0">
                  <a:latin typeface="Times New Roman" charset="0"/>
                </a:rPr>
                <a:t> x </a:t>
              </a:r>
              <a:r>
                <a:rPr lang="pt-BR" altLang="pt-BR" sz="1600" dirty="0">
                  <a:latin typeface="Times New Roman" charset="0"/>
                </a:rPr>
                <a:t>≤ </a:t>
              </a:r>
              <a:r>
                <a:rPr lang="pt-BR" altLang="pt-BR" sz="1600" i="1" dirty="0">
                  <a:latin typeface="Times New Roman" charset="0"/>
                </a:rPr>
                <a:t>b</a:t>
              </a:r>
            </a:p>
          </p:txBody>
        </p:sp>
        <p:graphicFrame>
          <p:nvGraphicFramePr>
            <p:cNvPr id="37910" name="Object 13"/>
            <p:cNvGraphicFramePr>
              <a:graphicFrameLocks noChangeAspect="1"/>
            </p:cNvGraphicFramePr>
            <p:nvPr/>
          </p:nvGraphicFramePr>
          <p:xfrm>
            <a:off x="1052513" y="2314575"/>
            <a:ext cx="1309687" cy="9445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914400" imgH="660400" progId="Equation.DSMT4">
                    <p:embed/>
                  </p:oleObj>
                </mc:Choice>
                <mc:Fallback>
                  <p:oleObj name="Equation" r:id="rId8" imgW="914400" imgH="660400" progId="Equation.DSMT4">
                    <p:embed/>
                    <p:pic>
                      <p:nvPicPr>
                        <p:cNvPr id="3791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52513" y="2314575"/>
                          <a:ext cx="1309687" cy="9445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" name="Text Box 12"/>
            <p:cNvSpPr txBox="1">
              <a:spLocks noChangeArrowheads="1"/>
            </p:cNvSpPr>
            <p:nvPr/>
          </p:nvSpPr>
          <p:spPr bwMode="auto">
            <a:xfrm>
              <a:off x="2411392" y="2898775"/>
              <a:ext cx="1457428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pt-BR" altLang="pt-BR" sz="1600" dirty="0">
                  <a:latin typeface="Tahoma" panose="020B0604030504040204" pitchFamily="34" charset="0"/>
                </a:rPr>
                <a:t>caso contrário</a:t>
              </a:r>
              <a:endParaRPr lang="pt-BR" altLang="pt-BR" sz="1600" i="1" dirty="0">
                <a:latin typeface="Times New Roman" charset="0"/>
              </a:endParaRPr>
            </a:p>
          </p:txBody>
        </p:sp>
      </p:grpSp>
      <p:grpSp>
        <p:nvGrpSpPr>
          <p:cNvPr id="18" name="Grupo 17"/>
          <p:cNvGrpSpPr>
            <a:grpSpLocks/>
          </p:cNvGrpSpPr>
          <p:nvPr/>
        </p:nvGrpSpPr>
        <p:grpSpPr bwMode="auto">
          <a:xfrm>
            <a:off x="4789488" y="2322513"/>
            <a:ext cx="2951162" cy="1682750"/>
            <a:chOff x="4789189" y="2322314"/>
            <a:chExt cx="2951163" cy="1682750"/>
          </a:xfrm>
        </p:grpSpPr>
        <p:grpSp>
          <p:nvGrpSpPr>
            <p:cNvPr id="37898" name="Grupo 4"/>
            <p:cNvGrpSpPr>
              <a:grpSpLocks/>
            </p:cNvGrpSpPr>
            <p:nvPr/>
          </p:nvGrpSpPr>
          <p:grpSpPr bwMode="auto">
            <a:xfrm>
              <a:off x="4789189" y="2322314"/>
              <a:ext cx="2951163" cy="1682750"/>
              <a:chOff x="5386198" y="2189346"/>
              <a:chExt cx="2951163" cy="1682750"/>
            </a:xfrm>
          </p:grpSpPr>
          <p:grpSp>
            <p:nvGrpSpPr>
              <p:cNvPr id="37901" name="Group 23"/>
              <p:cNvGrpSpPr>
                <a:grpSpLocks/>
              </p:cNvGrpSpPr>
              <p:nvPr/>
            </p:nvGrpSpPr>
            <p:grpSpPr bwMode="auto">
              <a:xfrm>
                <a:off x="5386198" y="2189346"/>
                <a:ext cx="2951163" cy="1682750"/>
                <a:chOff x="1830" y="1063"/>
                <a:chExt cx="1859" cy="1060"/>
              </a:xfrm>
            </p:grpSpPr>
            <p:sp>
              <p:nvSpPr>
                <p:cNvPr id="37906" name="Freeform 4"/>
                <p:cNvSpPr>
                  <a:spLocks/>
                </p:cNvSpPr>
                <p:nvPr/>
              </p:nvSpPr>
              <p:spPr bwMode="auto">
                <a:xfrm>
                  <a:off x="2113" y="1104"/>
                  <a:ext cx="1488" cy="816"/>
                </a:xfrm>
                <a:custGeom>
                  <a:avLst/>
                  <a:gdLst>
                    <a:gd name="T0" fmla="*/ 0 w 1488"/>
                    <a:gd name="T1" fmla="*/ 0 h 816"/>
                    <a:gd name="T2" fmla="*/ 0 w 1488"/>
                    <a:gd name="T3" fmla="*/ 816 h 816"/>
                    <a:gd name="T4" fmla="*/ 1488 w 1488"/>
                    <a:gd name="T5" fmla="*/ 816 h 816"/>
                    <a:gd name="T6" fmla="*/ 0 60000 65536"/>
                    <a:gd name="T7" fmla="*/ 0 60000 65536"/>
                    <a:gd name="T8" fmla="*/ 0 60000 65536"/>
                    <a:gd name="T9" fmla="*/ 0 w 1488"/>
                    <a:gd name="T10" fmla="*/ 0 h 816"/>
                    <a:gd name="T11" fmla="*/ 1488 w 1488"/>
                    <a:gd name="T12" fmla="*/ 816 h 81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488" h="816">
                      <a:moveTo>
                        <a:pt x="0" y="0"/>
                      </a:moveTo>
                      <a:lnTo>
                        <a:pt x="0" y="816"/>
                      </a:lnTo>
                      <a:lnTo>
                        <a:pt x="1488" y="816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 type="triangle" w="med" len="med"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pt-BR" dirty="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37907" name="Text Box 5"/>
                <p:cNvSpPr txBox="1">
                  <a:spLocks noChangeArrowheads="1"/>
                </p:cNvSpPr>
                <p:nvPr/>
              </p:nvSpPr>
              <p:spPr bwMode="auto">
                <a:xfrm>
                  <a:off x="1830" y="1063"/>
                  <a:ext cx="295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600" i="1">
                      <a:latin typeface="Times New Roman" pitchFamily="18" charset="0"/>
                    </a:rPr>
                    <a:t>f</a:t>
                  </a:r>
                  <a:r>
                    <a:rPr lang="pt-BR" altLang="pt-BR" sz="1600">
                      <a:latin typeface="Times New Roman" pitchFamily="18" charset="0"/>
                    </a:rPr>
                    <a:t>(</a:t>
                  </a:r>
                  <a:r>
                    <a:rPr lang="pt-BR" altLang="pt-BR" sz="1600" i="1">
                      <a:latin typeface="Times New Roman" pitchFamily="18" charset="0"/>
                    </a:rPr>
                    <a:t>x</a:t>
                  </a:r>
                  <a:r>
                    <a:rPr lang="pt-BR" altLang="pt-BR" sz="1600">
                      <a:latin typeface="Times New Roman" pitchFamily="18" charset="0"/>
                    </a:rPr>
                    <a:t>)</a:t>
                  </a:r>
                </a:p>
              </p:txBody>
            </p:sp>
            <p:sp>
              <p:nvSpPr>
                <p:cNvPr id="37908" name="Text Box 6"/>
                <p:cNvSpPr txBox="1">
                  <a:spLocks noChangeArrowheads="1"/>
                </p:cNvSpPr>
                <p:nvPr/>
              </p:nvSpPr>
              <p:spPr bwMode="auto">
                <a:xfrm>
                  <a:off x="3495" y="1911"/>
                  <a:ext cx="194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600" i="1">
                      <a:latin typeface="Times New Roman" pitchFamily="18" charset="0"/>
                    </a:rPr>
                    <a:t>X</a:t>
                  </a:r>
                </a:p>
              </p:txBody>
            </p:sp>
          </p:grpSp>
          <p:grpSp>
            <p:nvGrpSpPr>
              <p:cNvPr id="37902" name="Group 7"/>
              <p:cNvGrpSpPr>
                <a:grpSpLocks/>
              </p:cNvGrpSpPr>
              <p:nvPr/>
            </p:nvGrpSpPr>
            <p:grpSpPr bwMode="auto">
              <a:xfrm>
                <a:off x="6143436" y="3459346"/>
                <a:ext cx="1654175" cy="350837"/>
                <a:chOff x="1250" y="1863"/>
                <a:chExt cx="1042" cy="221"/>
              </a:xfrm>
            </p:grpSpPr>
            <p:sp>
              <p:nvSpPr>
                <p:cNvPr id="37904" name="Text Box 8"/>
                <p:cNvSpPr txBox="1">
                  <a:spLocks noChangeArrowheads="1"/>
                </p:cNvSpPr>
                <p:nvPr/>
              </p:nvSpPr>
              <p:spPr bwMode="auto">
                <a:xfrm>
                  <a:off x="1250" y="1863"/>
                  <a:ext cx="180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600" i="1">
                      <a:latin typeface="Times New Roman" pitchFamily="18" charset="0"/>
                    </a:rPr>
                    <a:t>a</a:t>
                  </a:r>
                </a:p>
              </p:txBody>
            </p:sp>
            <p:sp>
              <p:nvSpPr>
                <p:cNvPr id="37905" name="Text Box 9"/>
                <p:cNvSpPr txBox="1">
                  <a:spLocks noChangeArrowheads="1"/>
                </p:cNvSpPr>
                <p:nvPr/>
              </p:nvSpPr>
              <p:spPr bwMode="auto">
                <a:xfrm>
                  <a:off x="2112" y="1872"/>
                  <a:ext cx="180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600" i="1">
                      <a:latin typeface="Times New Roman" pitchFamily="18" charset="0"/>
                    </a:rPr>
                    <a:t>b</a:t>
                  </a:r>
                </a:p>
              </p:txBody>
            </p:sp>
          </p:grpSp>
          <p:sp>
            <p:nvSpPr>
              <p:cNvPr id="37903" name="Rectangle 10"/>
              <p:cNvSpPr>
                <a:spLocks noChangeArrowheads="1"/>
              </p:cNvSpPr>
              <p:nvPr/>
            </p:nvSpPr>
            <p:spPr bwMode="auto">
              <a:xfrm>
                <a:off x="6292661" y="2787833"/>
                <a:ext cx="1371600" cy="76200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</p:grpSp>
        <p:graphicFrame>
          <p:nvGraphicFramePr>
            <p:cNvPr id="37899" name="Objeto 53"/>
            <p:cNvGraphicFramePr>
              <a:graphicFrameLocks noChangeAspect="1"/>
            </p:cNvGraphicFramePr>
            <p:nvPr/>
          </p:nvGraphicFramePr>
          <p:xfrm>
            <a:off x="4851470" y="2724150"/>
            <a:ext cx="355600" cy="393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355292" imgH="393359" progId="Equation.DSMT4">
                    <p:embed/>
                  </p:oleObj>
                </mc:Choice>
                <mc:Fallback>
                  <p:oleObj name="Equation" r:id="rId10" imgW="355292" imgH="393359" progId="Equation.DSMT4">
                    <p:embed/>
                    <p:pic>
                      <p:nvPicPr>
                        <p:cNvPr id="37899" name="Objeto 5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51470" y="2724150"/>
                          <a:ext cx="355600" cy="3937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55" name="Conector reto 54"/>
            <p:cNvCxnSpPr/>
            <p:nvPr/>
          </p:nvCxnSpPr>
          <p:spPr>
            <a:xfrm flipH="1">
              <a:off x="5238451" y="2920801"/>
              <a:ext cx="450850" cy="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Distribuição Uniforme (Contínua)</a:t>
            </a:r>
          </a:p>
        </p:txBody>
      </p:sp>
      <p:grpSp>
        <p:nvGrpSpPr>
          <p:cNvPr id="38915" name="Group 36"/>
          <p:cNvGrpSpPr>
            <a:grpSpLocks/>
          </p:cNvGrpSpPr>
          <p:nvPr/>
        </p:nvGrpSpPr>
        <p:grpSpPr bwMode="auto">
          <a:xfrm>
            <a:off x="1227138" y="1687513"/>
            <a:ext cx="2951162" cy="1682750"/>
            <a:chOff x="773" y="1063"/>
            <a:chExt cx="1859" cy="1060"/>
          </a:xfrm>
        </p:grpSpPr>
        <p:sp>
          <p:nvSpPr>
            <p:cNvPr id="38933" name="Freeform 4"/>
            <p:cNvSpPr>
              <a:spLocks/>
            </p:cNvSpPr>
            <p:nvPr/>
          </p:nvSpPr>
          <p:spPr bwMode="auto">
            <a:xfrm>
              <a:off x="1056" y="1104"/>
              <a:ext cx="1488" cy="816"/>
            </a:xfrm>
            <a:custGeom>
              <a:avLst/>
              <a:gdLst>
                <a:gd name="T0" fmla="*/ 0 w 1488"/>
                <a:gd name="T1" fmla="*/ 0 h 816"/>
                <a:gd name="T2" fmla="*/ 0 w 1488"/>
                <a:gd name="T3" fmla="*/ 816 h 816"/>
                <a:gd name="T4" fmla="*/ 1488 w 1488"/>
                <a:gd name="T5" fmla="*/ 816 h 816"/>
                <a:gd name="T6" fmla="*/ 0 60000 65536"/>
                <a:gd name="T7" fmla="*/ 0 60000 65536"/>
                <a:gd name="T8" fmla="*/ 0 60000 65536"/>
                <a:gd name="T9" fmla="*/ 0 w 1488"/>
                <a:gd name="T10" fmla="*/ 0 h 816"/>
                <a:gd name="T11" fmla="*/ 1488 w 1488"/>
                <a:gd name="T12" fmla="*/ 816 h 81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88" h="816">
                  <a:moveTo>
                    <a:pt x="0" y="0"/>
                  </a:moveTo>
                  <a:lnTo>
                    <a:pt x="0" y="816"/>
                  </a:lnTo>
                  <a:lnTo>
                    <a:pt x="1488" y="816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38934" name="Text Box 5"/>
            <p:cNvSpPr txBox="1">
              <a:spLocks noChangeArrowheads="1"/>
            </p:cNvSpPr>
            <p:nvPr/>
          </p:nvSpPr>
          <p:spPr bwMode="auto">
            <a:xfrm>
              <a:off x="773" y="1063"/>
              <a:ext cx="295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i="1">
                  <a:latin typeface="Times New Roman" pitchFamily="18" charset="0"/>
                </a:rPr>
                <a:t>f</a:t>
              </a:r>
              <a:r>
                <a:rPr lang="pt-BR" altLang="pt-BR" sz="1600">
                  <a:latin typeface="Times New Roman" pitchFamily="18" charset="0"/>
                </a:rPr>
                <a:t>(</a:t>
              </a:r>
              <a:r>
                <a:rPr lang="pt-BR" altLang="pt-BR" sz="1600" i="1">
                  <a:latin typeface="Times New Roman" pitchFamily="18" charset="0"/>
                </a:rPr>
                <a:t>x</a:t>
              </a:r>
              <a:r>
                <a:rPr lang="pt-BR" altLang="pt-BR" sz="1600">
                  <a:latin typeface="Times New Roman" pitchFamily="18" charset="0"/>
                </a:rPr>
                <a:t>)</a:t>
              </a:r>
            </a:p>
          </p:txBody>
        </p:sp>
        <p:sp>
          <p:nvSpPr>
            <p:cNvPr id="38935" name="Text Box 6"/>
            <p:cNvSpPr txBox="1">
              <a:spLocks noChangeArrowheads="1"/>
            </p:cNvSpPr>
            <p:nvPr/>
          </p:nvSpPr>
          <p:spPr bwMode="auto">
            <a:xfrm>
              <a:off x="2438" y="1911"/>
              <a:ext cx="19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i="1">
                  <a:latin typeface="Times New Roman" pitchFamily="18" charset="0"/>
                </a:rPr>
                <a:t>X</a:t>
              </a:r>
            </a:p>
          </p:txBody>
        </p:sp>
      </p:grpSp>
      <p:grpSp>
        <p:nvGrpSpPr>
          <p:cNvPr id="38916" name="Group 7"/>
          <p:cNvGrpSpPr>
            <a:grpSpLocks/>
          </p:cNvGrpSpPr>
          <p:nvPr/>
        </p:nvGrpSpPr>
        <p:grpSpPr bwMode="auto">
          <a:xfrm>
            <a:off x="1984375" y="2957513"/>
            <a:ext cx="1654175" cy="350837"/>
            <a:chOff x="1250" y="1863"/>
            <a:chExt cx="1042" cy="221"/>
          </a:xfrm>
        </p:grpSpPr>
        <p:sp>
          <p:nvSpPr>
            <p:cNvPr id="38931" name="Text Box 8"/>
            <p:cNvSpPr txBox="1">
              <a:spLocks noChangeArrowheads="1"/>
            </p:cNvSpPr>
            <p:nvPr/>
          </p:nvSpPr>
          <p:spPr bwMode="auto">
            <a:xfrm>
              <a:off x="1250" y="1863"/>
              <a:ext cx="18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i="1">
                  <a:latin typeface="Times New Roman" pitchFamily="18" charset="0"/>
                </a:rPr>
                <a:t>a</a:t>
              </a:r>
            </a:p>
          </p:txBody>
        </p:sp>
        <p:sp>
          <p:nvSpPr>
            <p:cNvPr id="38932" name="Text Box 9"/>
            <p:cNvSpPr txBox="1">
              <a:spLocks noChangeArrowheads="1"/>
            </p:cNvSpPr>
            <p:nvPr/>
          </p:nvSpPr>
          <p:spPr bwMode="auto">
            <a:xfrm>
              <a:off x="2112" y="1872"/>
              <a:ext cx="18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i="1">
                  <a:latin typeface="Times New Roman" pitchFamily="18" charset="0"/>
                </a:rPr>
                <a:t>b</a:t>
              </a:r>
            </a:p>
          </p:txBody>
        </p:sp>
      </p:grpSp>
      <p:sp>
        <p:nvSpPr>
          <p:cNvPr id="38917" name="Rectangle 10"/>
          <p:cNvSpPr>
            <a:spLocks noChangeArrowheads="1"/>
          </p:cNvSpPr>
          <p:nvPr/>
        </p:nvSpPr>
        <p:spPr bwMode="auto">
          <a:xfrm>
            <a:off x="2133600" y="2286000"/>
            <a:ext cx="1371600" cy="762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38918" name="Text Box 11"/>
          <p:cNvSpPr txBox="1">
            <a:spLocks noChangeArrowheads="1"/>
          </p:cNvSpPr>
          <p:nvPr/>
        </p:nvSpPr>
        <p:spPr bwMode="auto">
          <a:xfrm>
            <a:off x="4733925" y="2133600"/>
            <a:ext cx="9112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a </a:t>
            </a:r>
            <a:r>
              <a:rPr lang="pt-BR" altLang="pt-BR" sz="1600">
                <a:latin typeface="Times New Roman" pitchFamily="18" charset="0"/>
              </a:rPr>
              <a:t>≤</a:t>
            </a:r>
            <a:r>
              <a:rPr lang="pt-BR" altLang="pt-BR" sz="1600" i="1">
                <a:latin typeface="Times New Roman" pitchFamily="18" charset="0"/>
              </a:rPr>
              <a:t> x </a:t>
            </a:r>
            <a:r>
              <a:rPr lang="pt-BR" altLang="pt-BR" sz="1600">
                <a:latin typeface="Times New Roman" pitchFamily="18" charset="0"/>
              </a:rPr>
              <a:t>≤ </a:t>
            </a:r>
            <a:r>
              <a:rPr lang="pt-BR" altLang="pt-BR" sz="1600" i="1">
                <a:latin typeface="Times New Roman" pitchFamily="18" charset="0"/>
              </a:rPr>
              <a:t>b</a:t>
            </a:r>
          </a:p>
        </p:txBody>
      </p:sp>
      <p:graphicFrame>
        <p:nvGraphicFramePr>
          <p:cNvPr id="38919" name="Object 24"/>
          <p:cNvGraphicFramePr>
            <a:graphicFrameLocks noChangeAspect="1"/>
          </p:cNvGraphicFramePr>
          <p:nvPr/>
        </p:nvGraphicFramePr>
        <p:xfrm>
          <a:off x="1660525" y="3581400"/>
          <a:ext cx="1182688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25500" imgH="393700" progId="Equation.DSMT4">
                  <p:embed/>
                </p:oleObj>
              </mc:Choice>
              <mc:Fallback>
                <p:oleObj name="Equation" r:id="rId2" imgW="825500" imgH="393700" progId="Equation.DSMT4">
                  <p:embed/>
                  <p:pic>
                    <p:nvPicPr>
                      <p:cNvPr id="38919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0525" y="3581400"/>
                        <a:ext cx="1182688" cy="563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354" name="Object 26"/>
          <p:cNvGraphicFramePr>
            <a:graphicFrameLocks noChangeAspect="1"/>
          </p:cNvGraphicFramePr>
          <p:nvPr/>
        </p:nvGraphicFramePr>
        <p:xfrm>
          <a:off x="4114800" y="3429000"/>
          <a:ext cx="1619250" cy="690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29810" imgH="482391" progId="Equation.DSMT4">
                  <p:embed/>
                </p:oleObj>
              </mc:Choice>
              <mc:Fallback>
                <p:oleObj name="Equation" r:id="rId4" imgW="1129810" imgH="482391" progId="Equation.DSMT4">
                  <p:embed/>
                  <p:pic>
                    <p:nvPicPr>
                      <p:cNvPr id="99354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3429000"/>
                        <a:ext cx="1619250" cy="690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355" name="Object 27"/>
          <p:cNvGraphicFramePr>
            <a:graphicFrameLocks noChangeAspect="1"/>
          </p:cNvGraphicFramePr>
          <p:nvPr/>
        </p:nvGraphicFramePr>
        <p:xfrm>
          <a:off x="4141788" y="4114800"/>
          <a:ext cx="2838450" cy="690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81200" imgH="482600" progId="Equation.DSMT4">
                  <p:embed/>
                </p:oleObj>
              </mc:Choice>
              <mc:Fallback>
                <p:oleObj name="Equation" r:id="rId6" imgW="1981200" imgH="482600" progId="Equation.DSMT4">
                  <p:embed/>
                  <p:pic>
                    <p:nvPicPr>
                      <p:cNvPr id="99355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1788" y="4114800"/>
                        <a:ext cx="2838450" cy="690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356" name="Object 28"/>
          <p:cNvGraphicFramePr>
            <a:graphicFrameLocks noChangeAspect="1"/>
          </p:cNvGraphicFramePr>
          <p:nvPr/>
        </p:nvGraphicFramePr>
        <p:xfrm>
          <a:off x="4114800" y="4800600"/>
          <a:ext cx="3219450" cy="72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247900" imgH="508000" progId="Equation.DSMT4">
                  <p:embed/>
                </p:oleObj>
              </mc:Choice>
              <mc:Fallback>
                <p:oleObj name="Equation" r:id="rId8" imgW="2247900" imgH="508000" progId="Equation.DSMT4">
                  <p:embed/>
                  <p:pic>
                    <p:nvPicPr>
                      <p:cNvPr id="99356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4800600"/>
                        <a:ext cx="3219450" cy="727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357" name="Object 29"/>
          <p:cNvGraphicFramePr>
            <a:graphicFrameLocks noChangeAspect="1"/>
          </p:cNvGraphicFramePr>
          <p:nvPr/>
        </p:nvGraphicFramePr>
        <p:xfrm>
          <a:off x="4114800" y="5611813"/>
          <a:ext cx="2947988" cy="636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057400" imgH="444500" progId="Equation.DSMT4">
                  <p:embed/>
                </p:oleObj>
              </mc:Choice>
              <mc:Fallback>
                <p:oleObj name="Equation" r:id="rId10" imgW="2057400" imgH="444500" progId="Equation.DSMT4">
                  <p:embed/>
                  <p:pic>
                    <p:nvPicPr>
                      <p:cNvPr id="99357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5611813"/>
                        <a:ext cx="2947988" cy="636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32"/>
          <p:cNvGrpSpPr>
            <a:grpSpLocks/>
          </p:cNvGrpSpPr>
          <p:nvPr/>
        </p:nvGrpSpPr>
        <p:grpSpPr bwMode="auto">
          <a:xfrm>
            <a:off x="5861050" y="5680075"/>
            <a:ext cx="909638" cy="512763"/>
            <a:chOff x="3637" y="3578"/>
            <a:chExt cx="573" cy="323"/>
          </a:xfrm>
        </p:grpSpPr>
        <p:sp>
          <p:nvSpPr>
            <p:cNvPr id="38929" name="Line 30"/>
            <p:cNvSpPr>
              <a:spLocks noChangeShapeType="1"/>
            </p:cNvSpPr>
            <p:nvPr/>
          </p:nvSpPr>
          <p:spPr bwMode="auto">
            <a:xfrm flipH="1">
              <a:off x="3637" y="3578"/>
              <a:ext cx="336" cy="144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38930" name="Line 31"/>
            <p:cNvSpPr>
              <a:spLocks noChangeShapeType="1"/>
            </p:cNvSpPr>
            <p:nvPr/>
          </p:nvSpPr>
          <p:spPr bwMode="auto">
            <a:xfrm flipH="1">
              <a:off x="3874" y="3757"/>
              <a:ext cx="336" cy="144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</p:grpSp>
      <p:graphicFrame>
        <p:nvGraphicFramePr>
          <p:cNvPr id="99361" name="Object 33"/>
          <p:cNvGraphicFramePr>
            <a:graphicFrameLocks noChangeAspect="1"/>
          </p:cNvGraphicFramePr>
          <p:nvPr/>
        </p:nvGraphicFramePr>
        <p:xfrm>
          <a:off x="7062788" y="5648325"/>
          <a:ext cx="709612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95085" imgH="393529" progId="Equation.DSMT4">
                  <p:embed/>
                </p:oleObj>
              </mc:Choice>
              <mc:Fallback>
                <p:oleObj name="Equation" r:id="rId12" imgW="495085" imgH="393529" progId="Equation.DSMT4">
                  <p:embed/>
                  <p:pic>
                    <p:nvPicPr>
                      <p:cNvPr id="99361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62788" y="5648325"/>
                        <a:ext cx="709612" cy="563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9362" name="Rectangle 34"/>
          <p:cNvSpPr>
            <a:spLocks noChangeArrowheads="1"/>
          </p:cNvSpPr>
          <p:nvPr/>
        </p:nvSpPr>
        <p:spPr bwMode="auto">
          <a:xfrm>
            <a:off x="7239000" y="5638800"/>
            <a:ext cx="533400" cy="609600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AD1130-8015-4016-BCFF-202A0733C204}" type="slidenum">
              <a:rPr lang="pt-BR"/>
              <a:pPr>
                <a:defRPr/>
              </a:pPr>
              <a:t>47</a:t>
            </a:fld>
            <a:endParaRPr lang="pt-BR"/>
          </a:p>
        </p:txBody>
      </p:sp>
      <p:graphicFrame>
        <p:nvGraphicFramePr>
          <p:cNvPr id="38928" name="Objeto 26"/>
          <p:cNvGraphicFramePr>
            <a:graphicFrameLocks noChangeAspect="1"/>
          </p:cNvGraphicFramePr>
          <p:nvPr/>
        </p:nvGraphicFramePr>
        <p:xfrm>
          <a:off x="1660525" y="4554538"/>
          <a:ext cx="873125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609336" imgH="203112" progId="Equation.DSMT4">
                  <p:embed/>
                </p:oleObj>
              </mc:Choice>
              <mc:Fallback>
                <p:oleObj name="Equation" r:id="rId14" imgW="609336" imgH="203112" progId="Equation.DSMT4">
                  <p:embed/>
                  <p:pic>
                    <p:nvPicPr>
                      <p:cNvPr id="38928" name="Objeto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0525" y="4554538"/>
                        <a:ext cx="873125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362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Distribuição Uniforme (Contínua)</a:t>
            </a:r>
          </a:p>
        </p:txBody>
      </p:sp>
      <p:grpSp>
        <p:nvGrpSpPr>
          <p:cNvPr id="39939" name="Group 26"/>
          <p:cNvGrpSpPr>
            <a:grpSpLocks/>
          </p:cNvGrpSpPr>
          <p:nvPr/>
        </p:nvGrpSpPr>
        <p:grpSpPr bwMode="auto">
          <a:xfrm>
            <a:off x="1227138" y="1687513"/>
            <a:ext cx="2951162" cy="1682750"/>
            <a:chOff x="773" y="1063"/>
            <a:chExt cx="1859" cy="1060"/>
          </a:xfrm>
        </p:grpSpPr>
        <p:sp>
          <p:nvSpPr>
            <p:cNvPr id="39954" name="Freeform 4"/>
            <p:cNvSpPr>
              <a:spLocks/>
            </p:cNvSpPr>
            <p:nvPr/>
          </p:nvSpPr>
          <p:spPr bwMode="auto">
            <a:xfrm>
              <a:off x="1056" y="1104"/>
              <a:ext cx="1488" cy="816"/>
            </a:xfrm>
            <a:custGeom>
              <a:avLst/>
              <a:gdLst>
                <a:gd name="T0" fmla="*/ 0 w 1488"/>
                <a:gd name="T1" fmla="*/ 0 h 816"/>
                <a:gd name="T2" fmla="*/ 0 w 1488"/>
                <a:gd name="T3" fmla="*/ 816 h 816"/>
                <a:gd name="T4" fmla="*/ 1488 w 1488"/>
                <a:gd name="T5" fmla="*/ 816 h 816"/>
                <a:gd name="T6" fmla="*/ 0 60000 65536"/>
                <a:gd name="T7" fmla="*/ 0 60000 65536"/>
                <a:gd name="T8" fmla="*/ 0 60000 65536"/>
                <a:gd name="T9" fmla="*/ 0 w 1488"/>
                <a:gd name="T10" fmla="*/ 0 h 816"/>
                <a:gd name="T11" fmla="*/ 1488 w 1488"/>
                <a:gd name="T12" fmla="*/ 816 h 81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88" h="816">
                  <a:moveTo>
                    <a:pt x="0" y="0"/>
                  </a:moveTo>
                  <a:lnTo>
                    <a:pt x="0" y="816"/>
                  </a:lnTo>
                  <a:lnTo>
                    <a:pt x="1488" y="816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39955" name="Text Box 5"/>
            <p:cNvSpPr txBox="1">
              <a:spLocks noChangeArrowheads="1"/>
            </p:cNvSpPr>
            <p:nvPr/>
          </p:nvSpPr>
          <p:spPr bwMode="auto">
            <a:xfrm>
              <a:off x="773" y="1063"/>
              <a:ext cx="295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i="1">
                  <a:latin typeface="Times New Roman" pitchFamily="18" charset="0"/>
                </a:rPr>
                <a:t>f</a:t>
              </a:r>
              <a:r>
                <a:rPr lang="pt-BR" altLang="pt-BR" sz="1600">
                  <a:latin typeface="Times New Roman" pitchFamily="18" charset="0"/>
                </a:rPr>
                <a:t>(</a:t>
              </a:r>
              <a:r>
                <a:rPr lang="pt-BR" altLang="pt-BR" sz="1600" i="1">
                  <a:latin typeface="Times New Roman" pitchFamily="18" charset="0"/>
                </a:rPr>
                <a:t>x</a:t>
              </a:r>
              <a:r>
                <a:rPr lang="pt-BR" altLang="pt-BR" sz="1600">
                  <a:latin typeface="Times New Roman" pitchFamily="18" charset="0"/>
                </a:rPr>
                <a:t>)</a:t>
              </a:r>
            </a:p>
          </p:txBody>
        </p:sp>
        <p:sp>
          <p:nvSpPr>
            <p:cNvPr id="39956" name="Text Box 6"/>
            <p:cNvSpPr txBox="1">
              <a:spLocks noChangeArrowheads="1"/>
            </p:cNvSpPr>
            <p:nvPr/>
          </p:nvSpPr>
          <p:spPr bwMode="auto">
            <a:xfrm>
              <a:off x="2438" y="1911"/>
              <a:ext cx="19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i="1">
                  <a:latin typeface="Times New Roman" pitchFamily="18" charset="0"/>
                </a:rPr>
                <a:t>X</a:t>
              </a:r>
            </a:p>
          </p:txBody>
        </p:sp>
      </p:grpSp>
      <p:grpSp>
        <p:nvGrpSpPr>
          <p:cNvPr id="39940" name="Group 7"/>
          <p:cNvGrpSpPr>
            <a:grpSpLocks/>
          </p:cNvGrpSpPr>
          <p:nvPr/>
        </p:nvGrpSpPr>
        <p:grpSpPr bwMode="auto">
          <a:xfrm>
            <a:off x="1984375" y="2957513"/>
            <a:ext cx="1654175" cy="350837"/>
            <a:chOff x="1250" y="1863"/>
            <a:chExt cx="1042" cy="221"/>
          </a:xfrm>
        </p:grpSpPr>
        <p:sp>
          <p:nvSpPr>
            <p:cNvPr id="39952" name="Text Box 8"/>
            <p:cNvSpPr txBox="1">
              <a:spLocks noChangeArrowheads="1"/>
            </p:cNvSpPr>
            <p:nvPr/>
          </p:nvSpPr>
          <p:spPr bwMode="auto">
            <a:xfrm>
              <a:off x="1250" y="1863"/>
              <a:ext cx="18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i="1">
                  <a:latin typeface="Times New Roman" pitchFamily="18" charset="0"/>
                </a:rPr>
                <a:t>a</a:t>
              </a:r>
            </a:p>
          </p:txBody>
        </p:sp>
        <p:sp>
          <p:nvSpPr>
            <p:cNvPr id="39953" name="Text Box 9"/>
            <p:cNvSpPr txBox="1">
              <a:spLocks noChangeArrowheads="1"/>
            </p:cNvSpPr>
            <p:nvPr/>
          </p:nvSpPr>
          <p:spPr bwMode="auto">
            <a:xfrm>
              <a:off x="2112" y="1872"/>
              <a:ext cx="18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i="1">
                  <a:latin typeface="Times New Roman" pitchFamily="18" charset="0"/>
                </a:rPr>
                <a:t>b</a:t>
              </a:r>
            </a:p>
          </p:txBody>
        </p:sp>
      </p:grpSp>
      <p:sp>
        <p:nvSpPr>
          <p:cNvPr id="39941" name="Rectangle 10"/>
          <p:cNvSpPr>
            <a:spLocks noChangeArrowheads="1"/>
          </p:cNvSpPr>
          <p:nvPr/>
        </p:nvSpPr>
        <p:spPr bwMode="auto">
          <a:xfrm>
            <a:off x="2133600" y="2286000"/>
            <a:ext cx="1371600" cy="762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39942" name="Text Box 11"/>
          <p:cNvSpPr txBox="1">
            <a:spLocks noChangeArrowheads="1"/>
          </p:cNvSpPr>
          <p:nvPr/>
        </p:nvSpPr>
        <p:spPr bwMode="auto">
          <a:xfrm>
            <a:off x="4733925" y="2133600"/>
            <a:ext cx="9112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a </a:t>
            </a:r>
            <a:r>
              <a:rPr lang="pt-BR" altLang="pt-BR" sz="1600">
                <a:latin typeface="Times New Roman" pitchFamily="18" charset="0"/>
              </a:rPr>
              <a:t>≤</a:t>
            </a:r>
            <a:r>
              <a:rPr lang="pt-BR" altLang="pt-BR" sz="1600" i="1">
                <a:latin typeface="Times New Roman" pitchFamily="18" charset="0"/>
              </a:rPr>
              <a:t> x </a:t>
            </a:r>
            <a:r>
              <a:rPr lang="pt-BR" altLang="pt-BR" sz="1600">
                <a:latin typeface="Times New Roman" pitchFamily="18" charset="0"/>
              </a:rPr>
              <a:t>≤ </a:t>
            </a:r>
            <a:r>
              <a:rPr lang="pt-BR" altLang="pt-BR" sz="1600" i="1">
                <a:latin typeface="Times New Roman" pitchFamily="18" charset="0"/>
              </a:rPr>
              <a:t>b</a:t>
            </a:r>
          </a:p>
        </p:txBody>
      </p:sp>
      <p:graphicFrame>
        <p:nvGraphicFramePr>
          <p:cNvPr id="39943" name="Object 13"/>
          <p:cNvGraphicFramePr>
            <a:graphicFrameLocks noChangeAspect="1"/>
          </p:cNvGraphicFramePr>
          <p:nvPr/>
        </p:nvGraphicFramePr>
        <p:xfrm>
          <a:off x="1660525" y="3581400"/>
          <a:ext cx="1182688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25500" imgH="393700" progId="Equation.DSMT4">
                  <p:embed/>
                </p:oleObj>
              </mc:Choice>
              <mc:Fallback>
                <p:oleObj name="Equation" r:id="rId2" imgW="825500" imgH="393700" progId="Equation.DSMT4">
                  <p:embed/>
                  <p:pic>
                    <p:nvPicPr>
                      <p:cNvPr id="39943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0525" y="3581400"/>
                        <a:ext cx="1182688" cy="563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367" name="Object 15"/>
          <p:cNvGraphicFramePr>
            <a:graphicFrameLocks noChangeAspect="1"/>
          </p:cNvGraphicFramePr>
          <p:nvPr/>
        </p:nvGraphicFramePr>
        <p:xfrm>
          <a:off x="4164013" y="3932238"/>
          <a:ext cx="1838325" cy="690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82700" imgH="482600" progId="Equation.DSMT4">
                  <p:embed/>
                </p:oleObj>
              </mc:Choice>
              <mc:Fallback>
                <p:oleObj name="Equation" r:id="rId4" imgW="1282700" imgH="482600" progId="Equation.DSMT4">
                  <p:embed/>
                  <p:pic>
                    <p:nvPicPr>
                      <p:cNvPr id="100367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64013" y="3932238"/>
                        <a:ext cx="1838325" cy="690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368" name="Object 16"/>
          <p:cNvGraphicFramePr>
            <a:graphicFrameLocks noChangeAspect="1"/>
          </p:cNvGraphicFramePr>
          <p:nvPr/>
        </p:nvGraphicFramePr>
        <p:xfrm>
          <a:off x="4181475" y="4632325"/>
          <a:ext cx="3111500" cy="690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171700" imgH="482600" progId="Equation.DSMT4">
                  <p:embed/>
                </p:oleObj>
              </mc:Choice>
              <mc:Fallback>
                <p:oleObj name="Equation" r:id="rId6" imgW="2171700" imgH="482600" progId="Equation.DSMT4">
                  <p:embed/>
                  <p:pic>
                    <p:nvPicPr>
                      <p:cNvPr id="100368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81475" y="4632325"/>
                        <a:ext cx="3111500" cy="690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369" name="Object 17"/>
          <p:cNvGraphicFramePr>
            <a:graphicFrameLocks noChangeAspect="1"/>
          </p:cNvGraphicFramePr>
          <p:nvPr/>
        </p:nvGraphicFramePr>
        <p:xfrm>
          <a:off x="4164013" y="5332413"/>
          <a:ext cx="3275012" cy="72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286000" imgH="508000" progId="Equation.DSMT4">
                  <p:embed/>
                </p:oleObj>
              </mc:Choice>
              <mc:Fallback>
                <p:oleObj name="Equation" r:id="rId8" imgW="2286000" imgH="508000" progId="Equation.DSMT4">
                  <p:embed/>
                  <p:pic>
                    <p:nvPicPr>
                      <p:cNvPr id="100369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64013" y="5332413"/>
                        <a:ext cx="3275012" cy="727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370" name="Object 18"/>
          <p:cNvGraphicFramePr>
            <a:graphicFrameLocks noChangeAspect="1"/>
          </p:cNvGraphicFramePr>
          <p:nvPr/>
        </p:nvGraphicFramePr>
        <p:xfrm>
          <a:off x="4164013" y="6069013"/>
          <a:ext cx="1601787" cy="636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117115" imgH="444307" progId="Equation.DSMT4">
                  <p:embed/>
                </p:oleObj>
              </mc:Choice>
              <mc:Fallback>
                <p:oleObj name="Equation" r:id="rId10" imgW="1117115" imgH="444307" progId="Equation.DSMT4">
                  <p:embed/>
                  <p:pic>
                    <p:nvPicPr>
                      <p:cNvPr id="10037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64013" y="6069013"/>
                        <a:ext cx="1601787" cy="636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8" name="Object 22"/>
          <p:cNvGraphicFramePr>
            <a:graphicFrameLocks noChangeAspect="1"/>
          </p:cNvGraphicFramePr>
          <p:nvPr/>
        </p:nvGraphicFramePr>
        <p:xfrm>
          <a:off x="1660525" y="4419600"/>
          <a:ext cx="1255713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875920" imgH="393529" progId="Equation.DSMT4">
                  <p:embed/>
                </p:oleObj>
              </mc:Choice>
              <mc:Fallback>
                <p:oleObj name="Equation" r:id="rId12" imgW="875920" imgH="393529" progId="Equation.DSMT4">
                  <p:embed/>
                  <p:pic>
                    <p:nvPicPr>
                      <p:cNvPr id="39948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0525" y="4419600"/>
                        <a:ext cx="1255713" cy="563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9" name="Object 24"/>
          <p:cNvGraphicFramePr>
            <a:graphicFrameLocks noChangeAspect="1"/>
          </p:cNvGraphicFramePr>
          <p:nvPr/>
        </p:nvGraphicFramePr>
        <p:xfrm>
          <a:off x="4164013" y="3597275"/>
          <a:ext cx="2433637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701800" imgH="228600" progId="Equation.DSMT4">
                  <p:embed/>
                </p:oleObj>
              </mc:Choice>
              <mc:Fallback>
                <p:oleObj name="Equation" r:id="rId14" imgW="1701800" imgH="228600" progId="Equation.DSMT4">
                  <p:embed/>
                  <p:pic>
                    <p:nvPicPr>
                      <p:cNvPr id="39949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64013" y="3597275"/>
                        <a:ext cx="2433637" cy="32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168FD9-2303-49F2-8893-43FC6BE5E568}" type="slidenum">
              <a:rPr lang="pt-BR"/>
              <a:pPr>
                <a:defRPr/>
              </a:pPr>
              <a:t>48</a:t>
            </a:fld>
            <a:endParaRPr lang="pt-BR"/>
          </a:p>
        </p:txBody>
      </p:sp>
      <p:graphicFrame>
        <p:nvGraphicFramePr>
          <p:cNvPr id="39951" name="Objeto 2"/>
          <p:cNvGraphicFramePr>
            <a:graphicFrameLocks noChangeAspect="1"/>
          </p:cNvGraphicFramePr>
          <p:nvPr/>
        </p:nvGraphicFramePr>
        <p:xfrm>
          <a:off x="1660525" y="5226050"/>
          <a:ext cx="1038225" cy="29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723586" imgH="203112" progId="Equation.DSMT4">
                  <p:embed/>
                </p:oleObj>
              </mc:Choice>
              <mc:Fallback>
                <p:oleObj name="Equation" r:id="rId16" imgW="723586" imgH="203112" progId="Equation.DSMT4">
                  <p:embed/>
                  <p:pic>
                    <p:nvPicPr>
                      <p:cNvPr id="39951" name="Objeto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0525" y="5226050"/>
                        <a:ext cx="1038225" cy="290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Distribuição Uniforme (Contínua)</a:t>
            </a:r>
          </a:p>
        </p:txBody>
      </p:sp>
      <p:grpSp>
        <p:nvGrpSpPr>
          <p:cNvPr id="40963" name="Group 32"/>
          <p:cNvGrpSpPr>
            <a:grpSpLocks/>
          </p:cNvGrpSpPr>
          <p:nvPr/>
        </p:nvGrpSpPr>
        <p:grpSpPr bwMode="auto">
          <a:xfrm>
            <a:off x="1227138" y="1687513"/>
            <a:ext cx="2951162" cy="1682750"/>
            <a:chOff x="773" y="1063"/>
            <a:chExt cx="1859" cy="1060"/>
          </a:xfrm>
        </p:grpSpPr>
        <p:sp>
          <p:nvSpPr>
            <p:cNvPr id="40984" name="Freeform 4"/>
            <p:cNvSpPr>
              <a:spLocks/>
            </p:cNvSpPr>
            <p:nvPr/>
          </p:nvSpPr>
          <p:spPr bwMode="auto">
            <a:xfrm>
              <a:off x="1056" y="1104"/>
              <a:ext cx="1488" cy="816"/>
            </a:xfrm>
            <a:custGeom>
              <a:avLst/>
              <a:gdLst>
                <a:gd name="T0" fmla="*/ 0 w 1488"/>
                <a:gd name="T1" fmla="*/ 0 h 816"/>
                <a:gd name="T2" fmla="*/ 0 w 1488"/>
                <a:gd name="T3" fmla="*/ 816 h 816"/>
                <a:gd name="T4" fmla="*/ 1488 w 1488"/>
                <a:gd name="T5" fmla="*/ 816 h 816"/>
                <a:gd name="T6" fmla="*/ 0 60000 65536"/>
                <a:gd name="T7" fmla="*/ 0 60000 65536"/>
                <a:gd name="T8" fmla="*/ 0 60000 65536"/>
                <a:gd name="T9" fmla="*/ 0 w 1488"/>
                <a:gd name="T10" fmla="*/ 0 h 816"/>
                <a:gd name="T11" fmla="*/ 1488 w 1488"/>
                <a:gd name="T12" fmla="*/ 816 h 81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88" h="816">
                  <a:moveTo>
                    <a:pt x="0" y="0"/>
                  </a:moveTo>
                  <a:lnTo>
                    <a:pt x="0" y="816"/>
                  </a:lnTo>
                  <a:lnTo>
                    <a:pt x="1488" y="816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40985" name="Text Box 5"/>
            <p:cNvSpPr txBox="1">
              <a:spLocks noChangeArrowheads="1"/>
            </p:cNvSpPr>
            <p:nvPr/>
          </p:nvSpPr>
          <p:spPr bwMode="auto">
            <a:xfrm>
              <a:off x="773" y="1063"/>
              <a:ext cx="295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i="1">
                  <a:latin typeface="Times New Roman" pitchFamily="18" charset="0"/>
                </a:rPr>
                <a:t>f</a:t>
              </a:r>
              <a:r>
                <a:rPr lang="pt-BR" altLang="pt-BR" sz="1600">
                  <a:latin typeface="Times New Roman" pitchFamily="18" charset="0"/>
                </a:rPr>
                <a:t>(</a:t>
              </a:r>
              <a:r>
                <a:rPr lang="pt-BR" altLang="pt-BR" sz="1600" i="1">
                  <a:latin typeface="Times New Roman" pitchFamily="18" charset="0"/>
                </a:rPr>
                <a:t>x</a:t>
              </a:r>
              <a:r>
                <a:rPr lang="pt-BR" altLang="pt-BR" sz="1600">
                  <a:latin typeface="Times New Roman" pitchFamily="18" charset="0"/>
                </a:rPr>
                <a:t>)</a:t>
              </a:r>
            </a:p>
          </p:txBody>
        </p:sp>
        <p:sp>
          <p:nvSpPr>
            <p:cNvPr id="40986" name="Text Box 6"/>
            <p:cNvSpPr txBox="1">
              <a:spLocks noChangeArrowheads="1"/>
            </p:cNvSpPr>
            <p:nvPr/>
          </p:nvSpPr>
          <p:spPr bwMode="auto">
            <a:xfrm>
              <a:off x="2438" y="1911"/>
              <a:ext cx="19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i="1">
                  <a:latin typeface="Times New Roman" pitchFamily="18" charset="0"/>
                </a:rPr>
                <a:t>X</a:t>
              </a:r>
            </a:p>
          </p:txBody>
        </p:sp>
      </p:grpSp>
      <p:grpSp>
        <p:nvGrpSpPr>
          <p:cNvPr id="40964" name="Group 7"/>
          <p:cNvGrpSpPr>
            <a:grpSpLocks/>
          </p:cNvGrpSpPr>
          <p:nvPr/>
        </p:nvGrpSpPr>
        <p:grpSpPr bwMode="auto">
          <a:xfrm>
            <a:off x="1984375" y="2957513"/>
            <a:ext cx="1654175" cy="350837"/>
            <a:chOff x="1250" y="1863"/>
            <a:chExt cx="1042" cy="221"/>
          </a:xfrm>
        </p:grpSpPr>
        <p:sp>
          <p:nvSpPr>
            <p:cNvPr id="40982" name="Text Box 8"/>
            <p:cNvSpPr txBox="1">
              <a:spLocks noChangeArrowheads="1"/>
            </p:cNvSpPr>
            <p:nvPr/>
          </p:nvSpPr>
          <p:spPr bwMode="auto">
            <a:xfrm>
              <a:off x="1250" y="1863"/>
              <a:ext cx="18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i="1">
                  <a:latin typeface="Times New Roman" pitchFamily="18" charset="0"/>
                </a:rPr>
                <a:t>a</a:t>
              </a:r>
            </a:p>
          </p:txBody>
        </p:sp>
        <p:sp>
          <p:nvSpPr>
            <p:cNvPr id="40983" name="Text Box 9"/>
            <p:cNvSpPr txBox="1">
              <a:spLocks noChangeArrowheads="1"/>
            </p:cNvSpPr>
            <p:nvPr/>
          </p:nvSpPr>
          <p:spPr bwMode="auto">
            <a:xfrm>
              <a:off x="2112" y="1872"/>
              <a:ext cx="18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i="1">
                  <a:latin typeface="Times New Roman" pitchFamily="18" charset="0"/>
                </a:rPr>
                <a:t>b</a:t>
              </a:r>
            </a:p>
          </p:txBody>
        </p:sp>
      </p:grpSp>
      <p:sp>
        <p:nvSpPr>
          <p:cNvPr id="40965" name="Rectangle 10"/>
          <p:cNvSpPr>
            <a:spLocks noChangeArrowheads="1"/>
          </p:cNvSpPr>
          <p:nvPr/>
        </p:nvSpPr>
        <p:spPr bwMode="auto">
          <a:xfrm>
            <a:off x="2133600" y="2286000"/>
            <a:ext cx="1371600" cy="762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40966" name="Text Box 11"/>
          <p:cNvSpPr txBox="1">
            <a:spLocks noChangeArrowheads="1"/>
          </p:cNvSpPr>
          <p:nvPr/>
        </p:nvSpPr>
        <p:spPr bwMode="auto">
          <a:xfrm>
            <a:off x="4733925" y="2133600"/>
            <a:ext cx="9112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a </a:t>
            </a:r>
            <a:r>
              <a:rPr lang="pt-BR" altLang="pt-BR" sz="1600">
                <a:latin typeface="Times New Roman" pitchFamily="18" charset="0"/>
              </a:rPr>
              <a:t>≤</a:t>
            </a:r>
            <a:r>
              <a:rPr lang="pt-BR" altLang="pt-BR" sz="1600" i="1">
                <a:latin typeface="Times New Roman" pitchFamily="18" charset="0"/>
              </a:rPr>
              <a:t> x </a:t>
            </a:r>
            <a:r>
              <a:rPr lang="pt-BR" altLang="pt-BR" sz="1600">
                <a:latin typeface="Times New Roman" pitchFamily="18" charset="0"/>
              </a:rPr>
              <a:t>≤ </a:t>
            </a:r>
            <a:r>
              <a:rPr lang="pt-BR" altLang="pt-BR" sz="1600" i="1">
                <a:latin typeface="Times New Roman" pitchFamily="18" charset="0"/>
              </a:rPr>
              <a:t>b</a:t>
            </a:r>
          </a:p>
        </p:txBody>
      </p:sp>
      <p:graphicFrame>
        <p:nvGraphicFramePr>
          <p:cNvPr id="40967" name="Object 13"/>
          <p:cNvGraphicFramePr>
            <a:graphicFrameLocks noChangeAspect="1"/>
          </p:cNvGraphicFramePr>
          <p:nvPr/>
        </p:nvGraphicFramePr>
        <p:xfrm>
          <a:off x="1660525" y="3581400"/>
          <a:ext cx="1182688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25500" imgH="393700" progId="Equation.DSMT4">
                  <p:embed/>
                </p:oleObj>
              </mc:Choice>
              <mc:Fallback>
                <p:oleObj name="Equation" r:id="rId2" imgW="825500" imgH="393700" progId="Equation.DSMT4">
                  <p:embed/>
                  <p:pic>
                    <p:nvPicPr>
                      <p:cNvPr id="40967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0525" y="3581400"/>
                        <a:ext cx="1182688" cy="563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8" name="Object 14"/>
          <p:cNvGraphicFramePr>
            <a:graphicFrameLocks noChangeAspect="1"/>
          </p:cNvGraphicFramePr>
          <p:nvPr/>
        </p:nvGraphicFramePr>
        <p:xfrm>
          <a:off x="4164013" y="3970338"/>
          <a:ext cx="2565400" cy="636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90700" imgH="444500" progId="Equation.DSMT4">
                  <p:embed/>
                </p:oleObj>
              </mc:Choice>
              <mc:Fallback>
                <p:oleObj name="Equation" r:id="rId4" imgW="1790700" imgH="444500" progId="Equation.DSMT4">
                  <p:embed/>
                  <p:pic>
                    <p:nvPicPr>
                      <p:cNvPr id="40968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64013" y="3970338"/>
                        <a:ext cx="2565400" cy="636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9" name="Object 18"/>
          <p:cNvGraphicFramePr>
            <a:graphicFrameLocks noChangeAspect="1"/>
          </p:cNvGraphicFramePr>
          <p:nvPr/>
        </p:nvGraphicFramePr>
        <p:xfrm>
          <a:off x="1660525" y="4419600"/>
          <a:ext cx="1255713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875920" imgH="393529" progId="Equation.DSMT4">
                  <p:embed/>
                </p:oleObj>
              </mc:Choice>
              <mc:Fallback>
                <p:oleObj name="Equation" r:id="rId6" imgW="875920" imgH="393529" progId="Equation.DSMT4">
                  <p:embed/>
                  <p:pic>
                    <p:nvPicPr>
                      <p:cNvPr id="40969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0525" y="4419600"/>
                        <a:ext cx="1255713" cy="563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70" name="Object 19"/>
          <p:cNvGraphicFramePr>
            <a:graphicFrameLocks noChangeAspect="1"/>
          </p:cNvGraphicFramePr>
          <p:nvPr/>
        </p:nvGraphicFramePr>
        <p:xfrm>
          <a:off x="4164013" y="3597275"/>
          <a:ext cx="2433637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701800" imgH="228600" progId="Equation.DSMT4">
                  <p:embed/>
                </p:oleObj>
              </mc:Choice>
              <mc:Fallback>
                <p:oleObj name="Equation" r:id="rId8" imgW="1701800" imgH="228600" progId="Equation.DSMT4">
                  <p:embed/>
                  <p:pic>
                    <p:nvPicPr>
                      <p:cNvPr id="4097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64013" y="3597275"/>
                        <a:ext cx="2433637" cy="32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396" name="Object 20"/>
          <p:cNvGraphicFramePr>
            <a:graphicFrameLocks noChangeAspect="1"/>
          </p:cNvGraphicFramePr>
          <p:nvPr/>
        </p:nvGraphicFramePr>
        <p:xfrm>
          <a:off x="4164013" y="4652963"/>
          <a:ext cx="3402012" cy="636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374900" imgH="444500" progId="Equation.DSMT4">
                  <p:embed/>
                </p:oleObj>
              </mc:Choice>
              <mc:Fallback>
                <p:oleObj name="Equation" r:id="rId10" imgW="2374900" imgH="444500" progId="Equation.DSMT4">
                  <p:embed/>
                  <p:pic>
                    <p:nvPicPr>
                      <p:cNvPr id="101396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64013" y="4652963"/>
                        <a:ext cx="3402012" cy="636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397" name="Object 21"/>
          <p:cNvGraphicFramePr>
            <a:graphicFrameLocks noChangeAspect="1"/>
          </p:cNvGraphicFramePr>
          <p:nvPr/>
        </p:nvGraphicFramePr>
        <p:xfrm>
          <a:off x="4164013" y="5335588"/>
          <a:ext cx="4003675" cy="636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794000" imgH="444500" progId="Equation.DSMT4">
                  <p:embed/>
                </p:oleObj>
              </mc:Choice>
              <mc:Fallback>
                <p:oleObj name="Equation" r:id="rId12" imgW="2794000" imgH="444500" progId="Equation.DSMT4">
                  <p:embed/>
                  <p:pic>
                    <p:nvPicPr>
                      <p:cNvPr id="101397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64013" y="5335588"/>
                        <a:ext cx="4003675" cy="636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398" name="Object 22"/>
          <p:cNvGraphicFramePr>
            <a:graphicFrameLocks noChangeAspect="1"/>
          </p:cNvGraphicFramePr>
          <p:nvPr/>
        </p:nvGraphicFramePr>
        <p:xfrm>
          <a:off x="4164013" y="6019800"/>
          <a:ext cx="2784475" cy="636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943100" imgH="444500" progId="Equation.DSMT4">
                  <p:embed/>
                </p:oleObj>
              </mc:Choice>
              <mc:Fallback>
                <p:oleObj name="Equation" r:id="rId14" imgW="1943100" imgH="444500" progId="Equation.DSMT4">
                  <p:embed/>
                  <p:pic>
                    <p:nvPicPr>
                      <p:cNvPr id="101398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64013" y="6019800"/>
                        <a:ext cx="2784475" cy="636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399" name="Object 23"/>
          <p:cNvGraphicFramePr>
            <a:graphicFrameLocks noChangeAspect="1"/>
          </p:cNvGraphicFramePr>
          <p:nvPr/>
        </p:nvGraphicFramePr>
        <p:xfrm>
          <a:off x="6934200" y="6019800"/>
          <a:ext cx="1055688" cy="636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736280" imgH="444307" progId="Equation.DSMT4">
                  <p:embed/>
                </p:oleObj>
              </mc:Choice>
              <mc:Fallback>
                <p:oleObj name="Equation" r:id="rId16" imgW="736280" imgH="444307" progId="Equation.DSMT4">
                  <p:embed/>
                  <p:pic>
                    <p:nvPicPr>
                      <p:cNvPr id="101399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4200" y="6019800"/>
                        <a:ext cx="1055688" cy="636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400" name="Object 24"/>
          <p:cNvGraphicFramePr>
            <a:graphicFrameLocks noChangeAspect="1"/>
          </p:cNvGraphicFramePr>
          <p:nvPr/>
        </p:nvGraphicFramePr>
        <p:xfrm>
          <a:off x="7978775" y="6037263"/>
          <a:ext cx="946150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660400" imgH="419100" progId="Equation.DSMT4">
                  <p:embed/>
                </p:oleObj>
              </mc:Choice>
              <mc:Fallback>
                <p:oleObj name="Equation" r:id="rId18" imgW="660400" imgH="419100" progId="Equation.DSMT4">
                  <p:embed/>
                  <p:pic>
                    <p:nvPicPr>
                      <p:cNvPr id="10140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78775" y="6037263"/>
                        <a:ext cx="946150" cy="600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401" name="Rectangle 25"/>
          <p:cNvSpPr>
            <a:spLocks noChangeArrowheads="1"/>
          </p:cNvSpPr>
          <p:nvPr/>
        </p:nvSpPr>
        <p:spPr bwMode="auto">
          <a:xfrm>
            <a:off x="8153400" y="5943600"/>
            <a:ext cx="762000" cy="762000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grpSp>
        <p:nvGrpSpPr>
          <p:cNvPr id="4" name="Group 31"/>
          <p:cNvGrpSpPr>
            <a:grpSpLocks/>
          </p:cNvGrpSpPr>
          <p:nvPr/>
        </p:nvGrpSpPr>
        <p:grpSpPr bwMode="auto">
          <a:xfrm>
            <a:off x="7391400" y="6088063"/>
            <a:ext cx="533400" cy="525462"/>
            <a:chOff x="4656" y="3835"/>
            <a:chExt cx="336" cy="331"/>
          </a:xfrm>
        </p:grpSpPr>
        <p:sp>
          <p:nvSpPr>
            <p:cNvPr id="40980" name="Line 28"/>
            <p:cNvSpPr>
              <a:spLocks noChangeShapeType="1"/>
            </p:cNvSpPr>
            <p:nvPr/>
          </p:nvSpPr>
          <p:spPr bwMode="auto">
            <a:xfrm flipH="1">
              <a:off x="4656" y="4022"/>
              <a:ext cx="336" cy="144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40981" name="Line 27"/>
            <p:cNvSpPr>
              <a:spLocks noChangeShapeType="1"/>
            </p:cNvSpPr>
            <p:nvPr/>
          </p:nvSpPr>
          <p:spPr bwMode="auto">
            <a:xfrm flipH="1">
              <a:off x="4896" y="3835"/>
              <a:ext cx="85" cy="36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</p:grp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D0BA49E-9B4D-4E14-B19C-8B2007D2450A}" type="slidenum">
              <a:rPr lang="pt-BR"/>
              <a:pPr>
                <a:defRPr/>
              </a:pPr>
              <a:t>49</a:t>
            </a:fld>
            <a:endParaRPr lang="pt-BR"/>
          </a:p>
        </p:txBody>
      </p:sp>
      <p:graphicFrame>
        <p:nvGraphicFramePr>
          <p:cNvPr id="40979" name="Objeto 2"/>
          <p:cNvGraphicFramePr>
            <a:graphicFrameLocks noChangeAspect="1"/>
          </p:cNvGraphicFramePr>
          <p:nvPr/>
        </p:nvGraphicFramePr>
        <p:xfrm>
          <a:off x="1660525" y="5226050"/>
          <a:ext cx="1038225" cy="29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723586" imgH="203112" progId="Equation.DSMT4">
                  <p:embed/>
                </p:oleObj>
              </mc:Choice>
              <mc:Fallback>
                <p:oleObj name="Equation" r:id="rId20" imgW="723586" imgH="203112" progId="Equation.DSMT4">
                  <p:embed/>
                  <p:pic>
                    <p:nvPicPr>
                      <p:cNvPr id="40979" name="Objeto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0525" y="5226050"/>
                        <a:ext cx="1038225" cy="290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1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1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1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1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1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1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401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86" name="Grupo 13"/>
          <p:cNvGrpSpPr>
            <a:grpSpLocks/>
          </p:cNvGrpSpPr>
          <p:nvPr/>
        </p:nvGrpSpPr>
        <p:grpSpPr bwMode="auto">
          <a:xfrm>
            <a:off x="5689600" y="2414588"/>
            <a:ext cx="2787650" cy="1268412"/>
            <a:chOff x="5580959" y="5105449"/>
            <a:chExt cx="2787948" cy="1268214"/>
          </a:xfrm>
        </p:grpSpPr>
        <p:sp>
          <p:nvSpPr>
            <p:cNvPr id="8" name="Retângulo 7"/>
            <p:cNvSpPr/>
            <p:nvPr/>
          </p:nvSpPr>
          <p:spPr>
            <a:xfrm>
              <a:off x="5580959" y="5611782"/>
              <a:ext cx="1386036" cy="761881"/>
            </a:xfrm>
            <a:prstGeom prst="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  <p:graphicFrame>
          <p:nvGraphicFramePr>
            <p:cNvPr id="42032" name="Objeto 36"/>
            <p:cNvGraphicFramePr>
              <a:graphicFrameLocks noChangeAspect="1"/>
            </p:cNvGraphicFramePr>
            <p:nvPr/>
          </p:nvGraphicFramePr>
          <p:xfrm>
            <a:off x="6881420" y="5105449"/>
            <a:ext cx="1487487" cy="292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040948" imgH="203112" progId="Equation.DSMT4">
                    <p:embed/>
                  </p:oleObj>
                </mc:Choice>
                <mc:Fallback>
                  <p:oleObj name="Equation" r:id="rId2" imgW="1040948" imgH="203112" progId="Equation.DSMT4">
                    <p:embed/>
                    <p:pic>
                      <p:nvPicPr>
                        <p:cNvPr id="42032" name="Objeto 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81420" y="5105449"/>
                          <a:ext cx="1487487" cy="2921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10" name="Conector de seta reta 9"/>
            <p:cNvCxnSpPr/>
            <p:nvPr/>
          </p:nvCxnSpPr>
          <p:spPr>
            <a:xfrm flipV="1">
              <a:off x="6266832" y="5349886"/>
              <a:ext cx="647769" cy="64283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2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Distribuição Uniforme (Contínua)</a:t>
            </a:r>
          </a:p>
        </p:txBody>
      </p:sp>
      <p:graphicFrame>
        <p:nvGraphicFramePr>
          <p:cNvPr id="41988" name="Object 15"/>
          <p:cNvGraphicFramePr>
            <a:graphicFrameLocks noChangeAspect="1"/>
          </p:cNvGraphicFramePr>
          <p:nvPr/>
        </p:nvGraphicFramePr>
        <p:xfrm>
          <a:off x="1116013" y="3860800"/>
          <a:ext cx="1255712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75920" imgH="393529" progId="Equation.DSMT4">
                  <p:embed/>
                </p:oleObj>
              </mc:Choice>
              <mc:Fallback>
                <p:oleObj name="Equation" r:id="rId4" imgW="875920" imgH="393529" progId="Equation.DSMT4">
                  <p:embed/>
                  <p:pic>
                    <p:nvPicPr>
                      <p:cNvPr id="41988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3860800"/>
                        <a:ext cx="1255712" cy="563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89" name="Object 21"/>
          <p:cNvGraphicFramePr>
            <a:graphicFrameLocks noChangeAspect="1"/>
          </p:cNvGraphicFramePr>
          <p:nvPr/>
        </p:nvGraphicFramePr>
        <p:xfrm>
          <a:off x="1116013" y="4508500"/>
          <a:ext cx="1655762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55700" imgH="419100" progId="Equation.DSMT4">
                  <p:embed/>
                </p:oleObj>
              </mc:Choice>
              <mc:Fallback>
                <p:oleObj name="Equation" r:id="rId6" imgW="1155700" imgH="419100" progId="Equation.DSMT4">
                  <p:embed/>
                  <p:pic>
                    <p:nvPicPr>
                      <p:cNvPr id="41989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4508500"/>
                        <a:ext cx="1655762" cy="600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5B798B-05FD-4DEB-82AD-CEDA4B07A4A6}" type="slidenum">
              <a:rPr lang="pt-BR"/>
              <a:pPr>
                <a:defRPr/>
              </a:pPr>
              <a:t>50</a:t>
            </a:fld>
            <a:endParaRPr lang="pt-BR"/>
          </a:p>
        </p:txBody>
      </p:sp>
      <p:sp>
        <p:nvSpPr>
          <p:cNvPr id="41991" name="Retângulo 2"/>
          <p:cNvSpPr>
            <a:spLocks noChangeArrowheads="1"/>
          </p:cNvSpPr>
          <p:nvPr/>
        </p:nvSpPr>
        <p:spPr bwMode="auto">
          <a:xfrm>
            <a:off x="695325" y="1547813"/>
            <a:ext cx="7764463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55600" indent="-35560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Uma variável aleatória </a:t>
            </a:r>
            <a:r>
              <a:rPr lang="pt-BR" altLang="pt-BR" sz="1600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pt-BR" altLang="pt-BR" sz="1600" dirty="0">
                <a:latin typeface="Tahoma" panose="020B0604030504040204" pitchFamily="34" charset="0"/>
              </a:rPr>
              <a:t> tem distribuição Uniforme no intervalo </a:t>
            </a:r>
            <a:r>
              <a:rPr lang="pt-BR" altLang="pt-BR" sz="1600" dirty="0">
                <a:latin typeface="Times New Roman" pitchFamily="18" charset="0"/>
                <a:cs typeface="Times New Roman" pitchFamily="18" charset="0"/>
              </a:rPr>
              <a:t>[</a:t>
            </a:r>
            <a:r>
              <a:rPr lang="pt-BR" altLang="pt-BR" sz="1600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pt-BR" altLang="pt-BR" sz="16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pt-BR" altLang="pt-BR" sz="1600" i="1" dirty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pt-BR" altLang="pt-BR" sz="1600" dirty="0">
                <a:latin typeface="Times New Roman" pitchFamily="18" charset="0"/>
                <a:cs typeface="Times New Roman" pitchFamily="18" charset="0"/>
              </a:rPr>
              <a:t>]</a:t>
            </a:r>
            <a:r>
              <a:rPr lang="pt-BR" altLang="pt-BR" sz="1600" dirty="0">
                <a:latin typeface="Tahoma" panose="020B0604030504040204" pitchFamily="34" charset="0"/>
              </a:rPr>
              <a:t>  se sua função densidade de probabilidade for dada por:</a:t>
            </a:r>
          </a:p>
        </p:txBody>
      </p:sp>
      <p:grpSp>
        <p:nvGrpSpPr>
          <p:cNvPr id="41992" name="Grupo 5"/>
          <p:cNvGrpSpPr>
            <a:grpSpLocks/>
          </p:cNvGrpSpPr>
          <p:nvPr/>
        </p:nvGrpSpPr>
        <p:grpSpPr bwMode="auto">
          <a:xfrm>
            <a:off x="1052513" y="2314575"/>
            <a:ext cx="2816350" cy="944563"/>
            <a:chOff x="1052513" y="2314575"/>
            <a:chExt cx="2816307" cy="944563"/>
          </a:xfrm>
        </p:grpSpPr>
        <p:sp>
          <p:nvSpPr>
            <p:cNvPr id="18438" name="Text Box 12"/>
            <p:cNvSpPr txBox="1">
              <a:spLocks noChangeArrowheads="1"/>
            </p:cNvSpPr>
            <p:nvPr/>
          </p:nvSpPr>
          <p:spPr bwMode="auto">
            <a:xfrm>
              <a:off x="2411392" y="2462213"/>
              <a:ext cx="1173701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pt-BR" altLang="pt-BR" sz="1600" dirty="0">
                  <a:latin typeface="Tahoma" panose="020B0604030504040204" pitchFamily="34" charset="0"/>
                </a:rPr>
                <a:t>se </a:t>
              </a:r>
              <a:r>
                <a:rPr lang="pt-BR" altLang="pt-BR" sz="1600" i="1" dirty="0">
                  <a:latin typeface="Times New Roman" charset="0"/>
                </a:rPr>
                <a:t>a </a:t>
              </a:r>
              <a:r>
                <a:rPr lang="pt-BR" altLang="pt-BR" sz="1600" dirty="0">
                  <a:latin typeface="Times New Roman" charset="0"/>
                </a:rPr>
                <a:t>≤</a:t>
              </a:r>
              <a:r>
                <a:rPr lang="pt-BR" altLang="pt-BR" sz="1600" i="1" dirty="0">
                  <a:latin typeface="Times New Roman" charset="0"/>
                </a:rPr>
                <a:t> x </a:t>
              </a:r>
              <a:r>
                <a:rPr lang="pt-BR" altLang="pt-BR" sz="1600" dirty="0">
                  <a:latin typeface="Times New Roman" charset="0"/>
                </a:rPr>
                <a:t>≤ </a:t>
              </a:r>
              <a:r>
                <a:rPr lang="pt-BR" altLang="pt-BR" sz="1600" i="1" dirty="0">
                  <a:latin typeface="Times New Roman" charset="0"/>
                </a:rPr>
                <a:t>b</a:t>
              </a:r>
            </a:p>
          </p:txBody>
        </p:sp>
        <p:graphicFrame>
          <p:nvGraphicFramePr>
            <p:cNvPr id="42029" name="Object 13"/>
            <p:cNvGraphicFramePr>
              <a:graphicFrameLocks noChangeAspect="1"/>
            </p:cNvGraphicFramePr>
            <p:nvPr/>
          </p:nvGraphicFramePr>
          <p:xfrm>
            <a:off x="1052513" y="2314575"/>
            <a:ext cx="1309687" cy="9445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914400" imgH="660400" progId="Equation.DSMT4">
                    <p:embed/>
                  </p:oleObj>
                </mc:Choice>
                <mc:Fallback>
                  <p:oleObj name="Equation" r:id="rId8" imgW="914400" imgH="660400" progId="Equation.DSMT4">
                    <p:embed/>
                    <p:pic>
                      <p:nvPicPr>
                        <p:cNvPr id="42029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52513" y="2314575"/>
                          <a:ext cx="1309687" cy="9445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" name="Text Box 12"/>
            <p:cNvSpPr txBox="1">
              <a:spLocks noChangeArrowheads="1"/>
            </p:cNvSpPr>
            <p:nvPr/>
          </p:nvSpPr>
          <p:spPr bwMode="auto">
            <a:xfrm>
              <a:off x="2411392" y="2898775"/>
              <a:ext cx="1457428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pt-BR" altLang="pt-BR" sz="1600" dirty="0">
                  <a:latin typeface="Tahoma" panose="020B0604030504040204" pitchFamily="34" charset="0"/>
                </a:rPr>
                <a:t>caso contrário</a:t>
              </a:r>
              <a:endParaRPr lang="pt-BR" altLang="pt-BR" sz="1600" i="1" dirty="0">
                <a:latin typeface="Times New Roman" charset="0"/>
              </a:endParaRPr>
            </a:p>
          </p:txBody>
        </p:sp>
      </p:grpSp>
      <p:graphicFrame>
        <p:nvGraphicFramePr>
          <p:cNvPr id="21" name="Object 22"/>
          <p:cNvGraphicFramePr>
            <a:graphicFrameLocks noChangeAspect="1"/>
          </p:cNvGraphicFramePr>
          <p:nvPr/>
        </p:nvGraphicFramePr>
        <p:xfrm>
          <a:off x="1108075" y="5845175"/>
          <a:ext cx="150495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054100" imgH="203200" progId="Equation.DSMT4">
                  <p:embed/>
                </p:oleObj>
              </mc:Choice>
              <mc:Fallback>
                <p:oleObj name="Equation" r:id="rId10" imgW="1054100" imgH="203200" progId="Equation.DSMT4">
                  <p:embed/>
                  <p:pic>
                    <p:nvPicPr>
                      <p:cNvPr id="21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8075" y="5845175"/>
                        <a:ext cx="1504950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1994" name="Group 44"/>
          <p:cNvGrpSpPr>
            <a:grpSpLocks/>
          </p:cNvGrpSpPr>
          <p:nvPr/>
        </p:nvGrpSpPr>
        <p:grpSpPr bwMode="auto">
          <a:xfrm>
            <a:off x="695325" y="5229225"/>
            <a:ext cx="2130425" cy="336550"/>
            <a:chOff x="566" y="2969"/>
            <a:chExt cx="1342" cy="212"/>
          </a:xfrm>
        </p:grpSpPr>
        <p:sp>
          <p:nvSpPr>
            <p:cNvPr id="42026" name="Text Box 24"/>
            <p:cNvSpPr txBox="1">
              <a:spLocks noChangeArrowheads="1"/>
            </p:cNvSpPr>
            <p:nvPr/>
          </p:nvSpPr>
          <p:spPr bwMode="auto">
            <a:xfrm>
              <a:off x="566" y="2969"/>
              <a:ext cx="649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Exemplo:</a:t>
              </a:r>
            </a:p>
          </p:txBody>
        </p:sp>
        <p:graphicFrame>
          <p:nvGraphicFramePr>
            <p:cNvPr id="42027" name="Object 25"/>
            <p:cNvGraphicFramePr>
              <a:graphicFrameLocks noChangeAspect="1"/>
            </p:cNvGraphicFramePr>
            <p:nvPr/>
          </p:nvGraphicFramePr>
          <p:xfrm>
            <a:off x="1176" y="2991"/>
            <a:ext cx="732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812447" imgH="203112" progId="Equation.DSMT4">
                    <p:embed/>
                  </p:oleObj>
                </mc:Choice>
                <mc:Fallback>
                  <p:oleObj name="Equation" r:id="rId12" imgW="812447" imgH="203112" progId="Equation.DSMT4">
                    <p:embed/>
                    <p:pic>
                      <p:nvPicPr>
                        <p:cNvPr id="42027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76" y="2991"/>
                          <a:ext cx="732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5" name="Object 26"/>
          <p:cNvGraphicFramePr>
            <a:graphicFrameLocks noChangeAspect="1"/>
          </p:cNvGraphicFramePr>
          <p:nvPr/>
        </p:nvGraphicFramePr>
        <p:xfrm>
          <a:off x="2484438" y="5614988"/>
          <a:ext cx="835025" cy="693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583947" imgH="482391" progId="Equation.DSMT4">
                  <p:embed/>
                </p:oleObj>
              </mc:Choice>
              <mc:Fallback>
                <p:oleObj name="Equation" r:id="rId14" imgW="583947" imgH="482391" progId="Equation.DSMT4">
                  <p:embed/>
                  <p:pic>
                    <p:nvPicPr>
                      <p:cNvPr id="25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438" y="5614988"/>
                        <a:ext cx="835025" cy="693737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to 6"/>
          <p:cNvGraphicFramePr>
            <a:graphicFrameLocks noChangeAspect="1"/>
          </p:cNvGraphicFramePr>
          <p:nvPr/>
        </p:nvGraphicFramePr>
        <p:xfrm>
          <a:off x="3200400" y="5245100"/>
          <a:ext cx="1160463" cy="255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812447" imgH="177723" progId="Equation.DSMT4">
                  <p:embed/>
                </p:oleObj>
              </mc:Choice>
              <mc:Fallback>
                <p:oleObj name="Equation" r:id="rId16" imgW="812447" imgH="177723" progId="Equation.DSMT4">
                  <p:embed/>
                  <p:pic>
                    <p:nvPicPr>
                      <p:cNvPr id="7" name="Objeto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5245100"/>
                        <a:ext cx="1160463" cy="255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" name="Grupo 16"/>
          <p:cNvGrpSpPr>
            <a:grpSpLocks/>
          </p:cNvGrpSpPr>
          <p:nvPr/>
        </p:nvGrpSpPr>
        <p:grpSpPr bwMode="auto">
          <a:xfrm>
            <a:off x="4786313" y="5013325"/>
            <a:ext cx="2951162" cy="1682750"/>
            <a:chOff x="4674496" y="5013176"/>
            <a:chExt cx="2951163" cy="1682750"/>
          </a:xfrm>
        </p:grpSpPr>
        <p:grpSp>
          <p:nvGrpSpPr>
            <p:cNvPr id="42015" name="Grupo 26"/>
            <p:cNvGrpSpPr>
              <a:grpSpLocks/>
            </p:cNvGrpSpPr>
            <p:nvPr/>
          </p:nvGrpSpPr>
          <p:grpSpPr bwMode="auto">
            <a:xfrm>
              <a:off x="4674496" y="5013176"/>
              <a:ext cx="2951163" cy="1682750"/>
              <a:chOff x="5386198" y="2189346"/>
              <a:chExt cx="2951163" cy="1682750"/>
            </a:xfrm>
          </p:grpSpPr>
          <p:grpSp>
            <p:nvGrpSpPr>
              <p:cNvPr id="42018" name="Group 23"/>
              <p:cNvGrpSpPr>
                <a:grpSpLocks/>
              </p:cNvGrpSpPr>
              <p:nvPr/>
            </p:nvGrpSpPr>
            <p:grpSpPr bwMode="auto">
              <a:xfrm>
                <a:off x="5386198" y="2189346"/>
                <a:ext cx="2951163" cy="1682750"/>
                <a:chOff x="1830" y="1063"/>
                <a:chExt cx="1859" cy="1060"/>
              </a:xfrm>
            </p:grpSpPr>
            <p:sp>
              <p:nvSpPr>
                <p:cNvPr id="42023" name="Freeform 4"/>
                <p:cNvSpPr>
                  <a:spLocks/>
                </p:cNvSpPr>
                <p:nvPr/>
              </p:nvSpPr>
              <p:spPr bwMode="auto">
                <a:xfrm>
                  <a:off x="2113" y="1104"/>
                  <a:ext cx="1488" cy="816"/>
                </a:xfrm>
                <a:custGeom>
                  <a:avLst/>
                  <a:gdLst>
                    <a:gd name="T0" fmla="*/ 0 w 1488"/>
                    <a:gd name="T1" fmla="*/ 0 h 816"/>
                    <a:gd name="T2" fmla="*/ 0 w 1488"/>
                    <a:gd name="T3" fmla="*/ 816 h 816"/>
                    <a:gd name="T4" fmla="*/ 1488 w 1488"/>
                    <a:gd name="T5" fmla="*/ 816 h 816"/>
                    <a:gd name="T6" fmla="*/ 0 60000 65536"/>
                    <a:gd name="T7" fmla="*/ 0 60000 65536"/>
                    <a:gd name="T8" fmla="*/ 0 60000 65536"/>
                    <a:gd name="T9" fmla="*/ 0 w 1488"/>
                    <a:gd name="T10" fmla="*/ 0 h 816"/>
                    <a:gd name="T11" fmla="*/ 1488 w 1488"/>
                    <a:gd name="T12" fmla="*/ 816 h 81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488" h="816">
                      <a:moveTo>
                        <a:pt x="0" y="0"/>
                      </a:moveTo>
                      <a:lnTo>
                        <a:pt x="0" y="816"/>
                      </a:lnTo>
                      <a:lnTo>
                        <a:pt x="1488" y="816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 type="triangle" w="med" len="med"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pt-BR" dirty="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42024" name="Text Box 5"/>
                <p:cNvSpPr txBox="1">
                  <a:spLocks noChangeArrowheads="1"/>
                </p:cNvSpPr>
                <p:nvPr/>
              </p:nvSpPr>
              <p:spPr bwMode="auto">
                <a:xfrm>
                  <a:off x="1830" y="1063"/>
                  <a:ext cx="295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600" i="1">
                      <a:latin typeface="Times New Roman" pitchFamily="18" charset="0"/>
                    </a:rPr>
                    <a:t>f</a:t>
                  </a:r>
                  <a:r>
                    <a:rPr lang="pt-BR" altLang="pt-BR" sz="1600">
                      <a:latin typeface="Times New Roman" pitchFamily="18" charset="0"/>
                    </a:rPr>
                    <a:t>(</a:t>
                  </a:r>
                  <a:r>
                    <a:rPr lang="pt-BR" altLang="pt-BR" sz="1600" i="1">
                      <a:latin typeface="Times New Roman" pitchFamily="18" charset="0"/>
                    </a:rPr>
                    <a:t>x</a:t>
                  </a:r>
                  <a:r>
                    <a:rPr lang="pt-BR" altLang="pt-BR" sz="1600">
                      <a:latin typeface="Times New Roman" pitchFamily="18" charset="0"/>
                    </a:rPr>
                    <a:t>)</a:t>
                  </a:r>
                </a:p>
              </p:txBody>
            </p:sp>
            <p:sp>
              <p:nvSpPr>
                <p:cNvPr id="42025" name="Text Box 6"/>
                <p:cNvSpPr txBox="1">
                  <a:spLocks noChangeArrowheads="1"/>
                </p:cNvSpPr>
                <p:nvPr/>
              </p:nvSpPr>
              <p:spPr bwMode="auto">
                <a:xfrm>
                  <a:off x="3495" y="1911"/>
                  <a:ext cx="194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600" i="1">
                      <a:latin typeface="Times New Roman" pitchFamily="18" charset="0"/>
                    </a:rPr>
                    <a:t>X</a:t>
                  </a:r>
                </a:p>
              </p:txBody>
            </p:sp>
          </p:grpSp>
          <p:grpSp>
            <p:nvGrpSpPr>
              <p:cNvPr id="42019" name="Group 7"/>
              <p:cNvGrpSpPr>
                <a:grpSpLocks/>
              </p:cNvGrpSpPr>
              <p:nvPr/>
            </p:nvGrpSpPr>
            <p:grpSpPr bwMode="auto">
              <a:xfrm>
                <a:off x="6143435" y="3502209"/>
                <a:ext cx="1730375" cy="350837"/>
                <a:chOff x="1250" y="1890"/>
                <a:chExt cx="1090" cy="221"/>
              </a:xfrm>
            </p:grpSpPr>
            <p:sp>
              <p:nvSpPr>
                <p:cNvPr id="42021" name="Text Box 8"/>
                <p:cNvSpPr txBox="1">
                  <a:spLocks noChangeArrowheads="1"/>
                </p:cNvSpPr>
                <p:nvPr/>
              </p:nvSpPr>
              <p:spPr bwMode="auto">
                <a:xfrm>
                  <a:off x="1250" y="1899"/>
                  <a:ext cx="180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600">
                      <a:latin typeface="Times New Roman" pitchFamily="18" charset="0"/>
                    </a:rPr>
                    <a:t>5</a:t>
                  </a:r>
                </a:p>
              </p:txBody>
            </p:sp>
            <p:sp>
              <p:nvSpPr>
                <p:cNvPr id="42022" name="Text Box 9"/>
                <p:cNvSpPr txBox="1">
                  <a:spLocks noChangeArrowheads="1"/>
                </p:cNvSpPr>
                <p:nvPr/>
              </p:nvSpPr>
              <p:spPr bwMode="auto">
                <a:xfrm>
                  <a:off x="2094" y="1890"/>
                  <a:ext cx="246" cy="21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600">
                      <a:latin typeface="Times New Roman" pitchFamily="18" charset="0"/>
                    </a:rPr>
                    <a:t>10</a:t>
                  </a:r>
                </a:p>
              </p:txBody>
            </p:sp>
          </p:grpSp>
          <p:sp>
            <p:nvSpPr>
              <p:cNvPr id="42020" name="Rectangle 10"/>
              <p:cNvSpPr>
                <a:spLocks noChangeArrowheads="1"/>
              </p:cNvSpPr>
              <p:nvPr/>
            </p:nvSpPr>
            <p:spPr bwMode="auto">
              <a:xfrm>
                <a:off x="6292661" y="2787833"/>
                <a:ext cx="1371600" cy="76200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</p:grpSp>
        <p:graphicFrame>
          <p:nvGraphicFramePr>
            <p:cNvPr id="42016" name="Objeto 49"/>
            <p:cNvGraphicFramePr>
              <a:graphicFrameLocks noChangeAspect="1"/>
            </p:cNvGraphicFramePr>
            <p:nvPr/>
          </p:nvGraphicFramePr>
          <p:xfrm>
            <a:off x="4957292" y="5414923"/>
            <a:ext cx="139680" cy="393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139639" imgH="393529" progId="Equation.DSMT4">
                    <p:embed/>
                  </p:oleObj>
                </mc:Choice>
                <mc:Fallback>
                  <p:oleObj name="Equation" r:id="rId18" imgW="139639" imgH="393529" progId="Equation.DSMT4">
                    <p:embed/>
                    <p:pic>
                      <p:nvPicPr>
                        <p:cNvPr id="42016" name="Objeto 4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57292" y="5414923"/>
                          <a:ext cx="139680" cy="3934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16" name="Conector reto 15"/>
            <p:cNvCxnSpPr/>
            <p:nvPr/>
          </p:nvCxnSpPr>
          <p:spPr>
            <a:xfrm flipH="1">
              <a:off x="5123758" y="5611664"/>
              <a:ext cx="450850" cy="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998" name="Grupo 17"/>
          <p:cNvGrpSpPr>
            <a:grpSpLocks/>
          </p:cNvGrpSpPr>
          <p:nvPr/>
        </p:nvGrpSpPr>
        <p:grpSpPr bwMode="auto">
          <a:xfrm>
            <a:off x="4789488" y="2322513"/>
            <a:ext cx="2951162" cy="1682750"/>
            <a:chOff x="4789189" y="2322314"/>
            <a:chExt cx="2951163" cy="1682750"/>
          </a:xfrm>
        </p:grpSpPr>
        <p:grpSp>
          <p:nvGrpSpPr>
            <p:cNvPr id="42004" name="Grupo 4"/>
            <p:cNvGrpSpPr>
              <a:grpSpLocks/>
            </p:cNvGrpSpPr>
            <p:nvPr/>
          </p:nvGrpSpPr>
          <p:grpSpPr bwMode="auto">
            <a:xfrm>
              <a:off x="4789189" y="2322314"/>
              <a:ext cx="2951163" cy="1682750"/>
              <a:chOff x="5386198" y="2189346"/>
              <a:chExt cx="2951163" cy="1682750"/>
            </a:xfrm>
          </p:grpSpPr>
          <p:grpSp>
            <p:nvGrpSpPr>
              <p:cNvPr id="42007" name="Group 23"/>
              <p:cNvGrpSpPr>
                <a:grpSpLocks/>
              </p:cNvGrpSpPr>
              <p:nvPr/>
            </p:nvGrpSpPr>
            <p:grpSpPr bwMode="auto">
              <a:xfrm>
                <a:off x="5386198" y="2189346"/>
                <a:ext cx="2951163" cy="1682750"/>
                <a:chOff x="1830" y="1063"/>
                <a:chExt cx="1859" cy="1060"/>
              </a:xfrm>
            </p:grpSpPr>
            <p:sp>
              <p:nvSpPr>
                <p:cNvPr id="42012" name="Freeform 4"/>
                <p:cNvSpPr>
                  <a:spLocks/>
                </p:cNvSpPr>
                <p:nvPr/>
              </p:nvSpPr>
              <p:spPr bwMode="auto">
                <a:xfrm>
                  <a:off x="2113" y="1104"/>
                  <a:ext cx="1488" cy="816"/>
                </a:xfrm>
                <a:custGeom>
                  <a:avLst/>
                  <a:gdLst>
                    <a:gd name="T0" fmla="*/ 0 w 1488"/>
                    <a:gd name="T1" fmla="*/ 0 h 816"/>
                    <a:gd name="T2" fmla="*/ 0 w 1488"/>
                    <a:gd name="T3" fmla="*/ 816 h 816"/>
                    <a:gd name="T4" fmla="*/ 1488 w 1488"/>
                    <a:gd name="T5" fmla="*/ 816 h 816"/>
                    <a:gd name="T6" fmla="*/ 0 60000 65536"/>
                    <a:gd name="T7" fmla="*/ 0 60000 65536"/>
                    <a:gd name="T8" fmla="*/ 0 60000 65536"/>
                    <a:gd name="T9" fmla="*/ 0 w 1488"/>
                    <a:gd name="T10" fmla="*/ 0 h 816"/>
                    <a:gd name="T11" fmla="*/ 1488 w 1488"/>
                    <a:gd name="T12" fmla="*/ 816 h 81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488" h="816">
                      <a:moveTo>
                        <a:pt x="0" y="0"/>
                      </a:moveTo>
                      <a:lnTo>
                        <a:pt x="0" y="816"/>
                      </a:lnTo>
                      <a:lnTo>
                        <a:pt x="1488" y="816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 type="triangle" w="med" len="med"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pt-BR" dirty="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42013" name="Text Box 5"/>
                <p:cNvSpPr txBox="1">
                  <a:spLocks noChangeArrowheads="1"/>
                </p:cNvSpPr>
                <p:nvPr/>
              </p:nvSpPr>
              <p:spPr bwMode="auto">
                <a:xfrm>
                  <a:off x="1830" y="1063"/>
                  <a:ext cx="295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600" i="1">
                      <a:latin typeface="Times New Roman" pitchFamily="18" charset="0"/>
                    </a:rPr>
                    <a:t>f</a:t>
                  </a:r>
                  <a:r>
                    <a:rPr lang="pt-BR" altLang="pt-BR" sz="1600">
                      <a:latin typeface="Times New Roman" pitchFamily="18" charset="0"/>
                    </a:rPr>
                    <a:t>(</a:t>
                  </a:r>
                  <a:r>
                    <a:rPr lang="pt-BR" altLang="pt-BR" sz="1600" i="1">
                      <a:latin typeface="Times New Roman" pitchFamily="18" charset="0"/>
                    </a:rPr>
                    <a:t>x</a:t>
                  </a:r>
                  <a:r>
                    <a:rPr lang="pt-BR" altLang="pt-BR" sz="1600">
                      <a:latin typeface="Times New Roman" pitchFamily="18" charset="0"/>
                    </a:rPr>
                    <a:t>)</a:t>
                  </a:r>
                </a:p>
              </p:txBody>
            </p:sp>
            <p:sp>
              <p:nvSpPr>
                <p:cNvPr id="42014" name="Text Box 6"/>
                <p:cNvSpPr txBox="1">
                  <a:spLocks noChangeArrowheads="1"/>
                </p:cNvSpPr>
                <p:nvPr/>
              </p:nvSpPr>
              <p:spPr bwMode="auto">
                <a:xfrm>
                  <a:off x="3495" y="1911"/>
                  <a:ext cx="194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600" i="1">
                      <a:latin typeface="Times New Roman" pitchFamily="18" charset="0"/>
                    </a:rPr>
                    <a:t>X</a:t>
                  </a:r>
                </a:p>
              </p:txBody>
            </p:sp>
          </p:grpSp>
          <p:grpSp>
            <p:nvGrpSpPr>
              <p:cNvPr id="42008" name="Group 7"/>
              <p:cNvGrpSpPr>
                <a:grpSpLocks/>
              </p:cNvGrpSpPr>
              <p:nvPr/>
            </p:nvGrpSpPr>
            <p:grpSpPr bwMode="auto">
              <a:xfrm>
                <a:off x="6143436" y="3459346"/>
                <a:ext cx="1654175" cy="350837"/>
                <a:chOff x="1250" y="1863"/>
                <a:chExt cx="1042" cy="221"/>
              </a:xfrm>
            </p:grpSpPr>
            <p:sp>
              <p:nvSpPr>
                <p:cNvPr id="42010" name="Text Box 8"/>
                <p:cNvSpPr txBox="1">
                  <a:spLocks noChangeArrowheads="1"/>
                </p:cNvSpPr>
                <p:nvPr/>
              </p:nvSpPr>
              <p:spPr bwMode="auto">
                <a:xfrm>
                  <a:off x="1250" y="1863"/>
                  <a:ext cx="180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600" i="1">
                      <a:latin typeface="Times New Roman" pitchFamily="18" charset="0"/>
                    </a:rPr>
                    <a:t>a</a:t>
                  </a:r>
                </a:p>
              </p:txBody>
            </p:sp>
            <p:sp>
              <p:nvSpPr>
                <p:cNvPr id="42011" name="Text Box 9"/>
                <p:cNvSpPr txBox="1">
                  <a:spLocks noChangeArrowheads="1"/>
                </p:cNvSpPr>
                <p:nvPr/>
              </p:nvSpPr>
              <p:spPr bwMode="auto">
                <a:xfrm>
                  <a:off x="2112" y="1872"/>
                  <a:ext cx="180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600" i="1">
                      <a:latin typeface="Times New Roman" pitchFamily="18" charset="0"/>
                    </a:rPr>
                    <a:t>b</a:t>
                  </a:r>
                </a:p>
              </p:txBody>
            </p:sp>
          </p:grpSp>
          <p:sp>
            <p:nvSpPr>
              <p:cNvPr id="42009" name="Rectangle 10"/>
              <p:cNvSpPr>
                <a:spLocks noChangeArrowheads="1"/>
              </p:cNvSpPr>
              <p:nvPr/>
            </p:nvSpPr>
            <p:spPr bwMode="auto">
              <a:xfrm>
                <a:off x="6292661" y="2787833"/>
                <a:ext cx="1371600" cy="76200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</p:grpSp>
        <p:graphicFrame>
          <p:nvGraphicFramePr>
            <p:cNvPr id="42005" name="Objeto 53"/>
            <p:cNvGraphicFramePr>
              <a:graphicFrameLocks noChangeAspect="1"/>
            </p:cNvGraphicFramePr>
            <p:nvPr/>
          </p:nvGraphicFramePr>
          <p:xfrm>
            <a:off x="4851470" y="2724150"/>
            <a:ext cx="355600" cy="393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355292" imgH="393359" progId="Equation.DSMT4">
                    <p:embed/>
                  </p:oleObj>
                </mc:Choice>
                <mc:Fallback>
                  <p:oleObj name="Equation" r:id="rId20" imgW="355292" imgH="393359" progId="Equation.DSMT4">
                    <p:embed/>
                    <p:pic>
                      <p:nvPicPr>
                        <p:cNvPr id="42005" name="Objeto 5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51470" y="2724150"/>
                          <a:ext cx="355600" cy="3937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55" name="Conector reto 54"/>
            <p:cNvCxnSpPr/>
            <p:nvPr/>
          </p:nvCxnSpPr>
          <p:spPr>
            <a:xfrm flipH="1">
              <a:off x="5238451" y="2920801"/>
              <a:ext cx="450850" cy="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upo 19"/>
          <p:cNvGrpSpPr>
            <a:grpSpLocks/>
          </p:cNvGrpSpPr>
          <p:nvPr/>
        </p:nvGrpSpPr>
        <p:grpSpPr bwMode="auto">
          <a:xfrm>
            <a:off x="6249988" y="4937125"/>
            <a:ext cx="2209800" cy="1436688"/>
            <a:chOff x="6139020" y="4937125"/>
            <a:chExt cx="2209643" cy="1436538"/>
          </a:xfrm>
        </p:grpSpPr>
        <p:sp>
          <p:nvSpPr>
            <p:cNvPr id="48" name="Retângulo 47"/>
            <p:cNvSpPr/>
            <p:nvPr/>
          </p:nvSpPr>
          <p:spPr>
            <a:xfrm flipH="1">
              <a:off x="6139020" y="5611743"/>
              <a:ext cx="550823" cy="761920"/>
            </a:xfrm>
            <a:prstGeom prst="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  <p:graphicFrame>
          <p:nvGraphicFramePr>
            <p:cNvPr id="42002" name="Objeto 57"/>
            <p:cNvGraphicFramePr>
              <a:graphicFrameLocks noChangeAspect="1"/>
            </p:cNvGraphicFramePr>
            <p:nvPr/>
          </p:nvGraphicFramePr>
          <p:xfrm>
            <a:off x="7151688" y="4937125"/>
            <a:ext cx="1196975" cy="292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837836" imgH="203112" progId="Equation.DSMT4">
                    <p:embed/>
                  </p:oleObj>
                </mc:Choice>
                <mc:Fallback>
                  <p:oleObj name="Equation" r:id="rId22" imgW="837836" imgH="203112" progId="Equation.DSMT4">
                    <p:embed/>
                    <p:pic>
                      <p:nvPicPr>
                        <p:cNvPr id="42002" name="Objeto 5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51688" y="4937125"/>
                          <a:ext cx="1196975" cy="2921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59" name="Conector de seta reta 58"/>
            <p:cNvCxnSpPr/>
            <p:nvPr/>
          </p:nvCxnSpPr>
          <p:spPr>
            <a:xfrm flipV="1">
              <a:off x="6393002" y="5181574"/>
              <a:ext cx="647654" cy="64287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61" name="Object 26"/>
          <p:cNvGraphicFramePr>
            <a:graphicFrameLocks noChangeAspect="1"/>
          </p:cNvGraphicFramePr>
          <p:nvPr/>
        </p:nvGraphicFramePr>
        <p:xfrm>
          <a:off x="2274888" y="6248400"/>
          <a:ext cx="1870075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307532" imgH="393529" progId="Equation.DSMT4">
                  <p:embed/>
                </p:oleObj>
              </mc:Choice>
              <mc:Fallback>
                <p:oleObj name="Equation" r:id="rId24" imgW="1307532" imgH="393529" progId="Equation.DSMT4">
                  <p:embed/>
                  <p:pic>
                    <p:nvPicPr>
                      <p:cNvPr id="61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4888" y="6248400"/>
                        <a:ext cx="1870075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Distribuição Normal ou Gaussiana</a:t>
            </a:r>
          </a:p>
        </p:txBody>
      </p:sp>
      <p:graphicFrame>
        <p:nvGraphicFramePr>
          <p:cNvPr id="18440" name="Object 15"/>
          <p:cNvGraphicFramePr>
            <a:graphicFrameLocks noChangeAspect="1"/>
          </p:cNvGraphicFramePr>
          <p:nvPr/>
        </p:nvGraphicFramePr>
        <p:xfrm>
          <a:off x="1116013" y="3997325"/>
          <a:ext cx="927100" cy="29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47419" imgH="203112" progId="Equation.DSMT4">
                  <p:embed/>
                </p:oleObj>
              </mc:Choice>
              <mc:Fallback>
                <p:oleObj name="Equation" r:id="rId2" imgW="647419" imgH="203112" progId="Equation.DSMT4">
                  <p:embed/>
                  <p:pic>
                    <p:nvPicPr>
                      <p:cNvPr id="1844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3997325"/>
                        <a:ext cx="927100" cy="290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1" name="Object 21"/>
          <p:cNvGraphicFramePr>
            <a:graphicFrameLocks noChangeAspect="1"/>
          </p:cNvGraphicFramePr>
          <p:nvPr/>
        </p:nvGraphicFramePr>
        <p:xfrm>
          <a:off x="1116013" y="4645025"/>
          <a:ext cx="1165225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12447" imgH="228501" progId="Equation.DSMT4">
                  <p:embed/>
                </p:oleObj>
              </mc:Choice>
              <mc:Fallback>
                <p:oleObj name="Equation" r:id="rId4" imgW="812447" imgH="228501" progId="Equation.DSMT4">
                  <p:embed/>
                  <p:pic>
                    <p:nvPicPr>
                      <p:cNvPr id="18441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4645025"/>
                        <a:ext cx="1165225" cy="32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0AF8A7B-8B9A-424A-9222-5FB54F895A52}" type="slidenum">
              <a:rPr lang="pt-BR"/>
              <a:pPr>
                <a:defRPr/>
              </a:pPr>
              <a:t>51</a:t>
            </a:fld>
            <a:endParaRPr lang="pt-BR"/>
          </a:p>
        </p:txBody>
      </p:sp>
      <p:sp>
        <p:nvSpPr>
          <p:cNvPr id="43014" name="Retângulo 2"/>
          <p:cNvSpPr>
            <a:spLocks noChangeArrowheads="1"/>
          </p:cNvSpPr>
          <p:nvPr/>
        </p:nvSpPr>
        <p:spPr bwMode="auto">
          <a:xfrm>
            <a:off x="695325" y="1547813"/>
            <a:ext cx="7764463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55600" indent="-35560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Uma variável aleatória </a:t>
            </a:r>
            <a:r>
              <a:rPr lang="pt-BR" altLang="pt-BR" sz="1600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pt-BR" altLang="pt-BR" sz="1600" dirty="0">
                <a:latin typeface="Tahoma" panose="020B0604030504040204" pitchFamily="34" charset="0"/>
              </a:rPr>
              <a:t> tem distribuição Normal se sua função densidade de probabilidade for dada por:</a:t>
            </a:r>
          </a:p>
        </p:txBody>
      </p:sp>
      <p:grpSp>
        <p:nvGrpSpPr>
          <p:cNvPr id="6" name="Grupo 5"/>
          <p:cNvGrpSpPr>
            <a:grpSpLocks/>
          </p:cNvGrpSpPr>
          <p:nvPr/>
        </p:nvGrpSpPr>
        <p:grpSpPr bwMode="auto">
          <a:xfrm>
            <a:off x="1206500" y="2414588"/>
            <a:ext cx="3322638" cy="744537"/>
            <a:chOff x="373360" y="2414588"/>
            <a:chExt cx="3323098" cy="744537"/>
          </a:xfrm>
        </p:grpSpPr>
        <p:sp>
          <p:nvSpPr>
            <p:cNvPr id="43045" name="Text Box 12"/>
            <p:cNvSpPr txBox="1">
              <a:spLocks noChangeArrowheads="1"/>
            </p:cNvSpPr>
            <p:nvPr/>
          </p:nvSpPr>
          <p:spPr bwMode="auto">
            <a:xfrm>
              <a:off x="2514724" y="2617579"/>
              <a:ext cx="1181734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Times New Roman" pitchFamily="18" charset="0"/>
                </a:rPr>
                <a:t>-</a:t>
              </a:r>
              <a:r>
                <a:rPr lang="pt-BR" altLang="pt-BR" sz="1600">
                  <a:latin typeface="Times New Roman" pitchFamily="18" charset="0"/>
                  <a:sym typeface="Symbol" pitchFamily="18" charset="2"/>
                </a:rPr>
                <a:t></a:t>
              </a:r>
              <a:r>
                <a:rPr lang="pt-BR" altLang="pt-BR" sz="1600" i="1">
                  <a:latin typeface="Times New Roman" pitchFamily="18" charset="0"/>
                </a:rPr>
                <a:t> </a:t>
              </a:r>
              <a:r>
                <a:rPr lang="pt-BR" altLang="pt-BR" sz="1600">
                  <a:latin typeface="Times New Roman" pitchFamily="18" charset="0"/>
                </a:rPr>
                <a:t>≤</a:t>
              </a:r>
              <a:r>
                <a:rPr lang="pt-BR" altLang="pt-BR" sz="1600" i="1">
                  <a:latin typeface="Times New Roman" pitchFamily="18" charset="0"/>
                </a:rPr>
                <a:t> x </a:t>
              </a:r>
              <a:r>
                <a:rPr lang="pt-BR" altLang="pt-BR" sz="1600">
                  <a:latin typeface="Times New Roman" pitchFamily="18" charset="0"/>
                </a:rPr>
                <a:t>≤ +</a:t>
              </a:r>
              <a:r>
                <a:rPr lang="pt-BR" altLang="pt-BR" sz="1600">
                  <a:latin typeface="Times New Roman" pitchFamily="18" charset="0"/>
                  <a:sym typeface="Symbol" pitchFamily="18" charset="2"/>
                </a:rPr>
                <a:t></a:t>
              </a:r>
              <a:endParaRPr lang="pt-BR" altLang="pt-BR" sz="1600" i="1">
                <a:latin typeface="Times New Roman" pitchFamily="18" charset="0"/>
              </a:endParaRPr>
            </a:p>
          </p:txBody>
        </p:sp>
        <p:graphicFrame>
          <p:nvGraphicFramePr>
            <p:cNvPr id="43046" name="Object 13"/>
            <p:cNvGraphicFramePr>
              <a:graphicFrameLocks noChangeAspect="1"/>
            </p:cNvGraphicFramePr>
            <p:nvPr/>
          </p:nvGraphicFramePr>
          <p:xfrm>
            <a:off x="373360" y="2414588"/>
            <a:ext cx="2090738" cy="7445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459866" imgH="520474" progId="Equation.DSMT4">
                    <p:embed/>
                  </p:oleObj>
                </mc:Choice>
                <mc:Fallback>
                  <p:oleObj name="Equation" r:id="rId6" imgW="1459866" imgH="520474" progId="Equation.DSMT4">
                    <p:embed/>
                    <p:pic>
                      <p:nvPicPr>
                        <p:cNvPr id="43046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3360" y="2414588"/>
                          <a:ext cx="2090738" cy="7445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1" name="Object 22"/>
          <p:cNvGraphicFramePr>
            <a:graphicFrameLocks noChangeAspect="1"/>
          </p:cNvGraphicFramePr>
          <p:nvPr/>
        </p:nvGraphicFramePr>
        <p:xfrm>
          <a:off x="1081088" y="5845175"/>
          <a:ext cx="1558925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091726" imgH="203112" progId="Equation.DSMT4">
                  <p:embed/>
                </p:oleObj>
              </mc:Choice>
              <mc:Fallback>
                <p:oleObj name="Equation" r:id="rId8" imgW="1091726" imgH="203112" progId="Equation.DSMT4">
                  <p:embed/>
                  <p:pic>
                    <p:nvPicPr>
                      <p:cNvPr id="21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1088" y="5845175"/>
                        <a:ext cx="1558925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2" name="Group 44"/>
          <p:cNvGrpSpPr>
            <a:grpSpLocks/>
          </p:cNvGrpSpPr>
          <p:nvPr/>
        </p:nvGrpSpPr>
        <p:grpSpPr bwMode="auto">
          <a:xfrm>
            <a:off x="695325" y="5229225"/>
            <a:ext cx="2149475" cy="336550"/>
            <a:chOff x="566" y="2969"/>
            <a:chExt cx="1354" cy="212"/>
          </a:xfrm>
        </p:grpSpPr>
        <p:sp>
          <p:nvSpPr>
            <p:cNvPr id="43043" name="Text Box 24"/>
            <p:cNvSpPr txBox="1">
              <a:spLocks noChangeArrowheads="1"/>
            </p:cNvSpPr>
            <p:nvPr/>
          </p:nvSpPr>
          <p:spPr bwMode="auto">
            <a:xfrm>
              <a:off x="566" y="2969"/>
              <a:ext cx="649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Exemplo:</a:t>
              </a:r>
            </a:p>
          </p:txBody>
        </p:sp>
        <p:graphicFrame>
          <p:nvGraphicFramePr>
            <p:cNvPr id="43044" name="Object 25"/>
            <p:cNvGraphicFramePr>
              <a:graphicFrameLocks noChangeAspect="1"/>
            </p:cNvGraphicFramePr>
            <p:nvPr/>
          </p:nvGraphicFramePr>
          <p:xfrm>
            <a:off x="1165" y="2991"/>
            <a:ext cx="755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837836" imgH="203112" progId="Equation.DSMT4">
                    <p:embed/>
                  </p:oleObj>
                </mc:Choice>
                <mc:Fallback>
                  <p:oleObj name="Equation" r:id="rId10" imgW="837836" imgH="203112" progId="Equation.DSMT4">
                    <p:embed/>
                    <p:pic>
                      <p:nvPicPr>
                        <p:cNvPr id="43044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65" y="2991"/>
                          <a:ext cx="755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5" name="Object 26"/>
          <p:cNvGraphicFramePr>
            <a:graphicFrameLocks noChangeAspect="1"/>
          </p:cNvGraphicFramePr>
          <p:nvPr/>
        </p:nvGraphicFramePr>
        <p:xfrm>
          <a:off x="2484438" y="5614988"/>
          <a:ext cx="835025" cy="693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583947" imgH="482391" progId="Equation.DSMT4">
                  <p:embed/>
                </p:oleObj>
              </mc:Choice>
              <mc:Fallback>
                <p:oleObj name="Equation" r:id="rId12" imgW="583947" imgH="482391" progId="Equation.DSMT4">
                  <p:embed/>
                  <p:pic>
                    <p:nvPicPr>
                      <p:cNvPr id="25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438" y="5614988"/>
                        <a:ext cx="835025" cy="693737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to 6"/>
          <p:cNvGraphicFramePr>
            <a:graphicFrameLocks noChangeAspect="1"/>
          </p:cNvGraphicFramePr>
          <p:nvPr/>
        </p:nvGraphicFramePr>
        <p:xfrm>
          <a:off x="2974975" y="5208588"/>
          <a:ext cx="1612900" cy="328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130300" imgH="228600" progId="Equation.DSMT4">
                  <p:embed/>
                </p:oleObj>
              </mc:Choice>
              <mc:Fallback>
                <p:oleObj name="Equation" r:id="rId14" imgW="1130300" imgH="228600" progId="Equation.DSMT4">
                  <p:embed/>
                  <p:pic>
                    <p:nvPicPr>
                      <p:cNvPr id="7" name="Objeto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4975" y="5208588"/>
                        <a:ext cx="1612900" cy="328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1" name="Group 16"/>
          <p:cNvGrpSpPr>
            <a:grpSpLocks/>
          </p:cNvGrpSpPr>
          <p:nvPr/>
        </p:nvGrpSpPr>
        <p:grpSpPr bwMode="auto">
          <a:xfrm>
            <a:off x="4876800" y="1974850"/>
            <a:ext cx="2960688" cy="1946275"/>
            <a:chOff x="3552" y="912"/>
            <a:chExt cx="1409" cy="1226"/>
          </a:xfrm>
        </p:grpSpPr>
        <p:pic>
          <p:nvPicPr>
            <p:cNvPr id="43040" name="Picture 17"/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296" t="9618" r="18376" b="11877"/>
            <a:stretch>
              <a:fillRect/>
            </a:stretch>
          </p:blipFill>
          <p:spPr bwMode="auto">
            <a:xfrm>
              <a:off x="3696" y="912"/>
              <a:ext cx="1200" cy="10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3041" name="Text Box 18"/>
            <p:cNvSpPr txBox="1">
              <a:spLocks noChangeArrowheads="1"/>
            </p:cNvSpPr>
            <p:nvPr/>
          </p:nvSpPr>
          <p:spPr bwMode="auto">
            <a:xfrm>
              <a:off x="3552" y="1907"/>
              <a:ext cx="20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800">
                  <a:latin typeface="Times New Roman" pitchFamily="18" charset="0"/>
                </a:rPr>
                <a:t>-</a:t>
              </a:r>
              <a:r>
                <a:rPr lang="pt-BR" altLang="pt-BR" sz="1800">
                  <a:latin typeface="Times New Roman" pitchFamily="18" charset="0"/>
                  <a:sym typeface="Symbol" pitchFamily="18" charset="2"/>
                </a:rPr>
                <a:t></a:t>
              </a:r>
              <a:endParaRPr lang="pt-BR" altLang="pt-BR" sz="1800">
                <a:latin typeface="Times New Roman" pitchFamily="18" charset="0"/>
              </a:endParaRPr>
            </a:p>
          </p:txBody>
        </p:sp>
        <p:sp>
          <p:nvSpPr>
            <p:cNvPr id="43042" name="Text Box 19"/>
            <p:cNvSpPr txBox="1">
              <a:spLocks noChangeArrowheads="1"/>
            </p:cNvSpPr>
            <p:nvPr/>
          </p:nvSpPr>
          <p:spPr bwMode="auto">
            <a:xfrm>
              <a:off x="4734" y="1907"/>
              <a:ext cx="22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800">
                  <a:latin typeface="Times New Roman" pitchFamily="18" charset="0"/>
                </a:rPr>
                <a:t>+</a:t>
              </a:r>
              <a:r>
                <a:rPr lang="pt-BR" altLang="pt-BR" sz="1800">
                  <a:latin typeface="Times New Roman" pitchFamily="18" charset="0"/>
                  <a:sym typeface="Symbol" pitchFamily="18" charset="2"/>
                </a:rPr>
                <a:t></a:t>
              </a:r>
              <a:endParaRPr lang="pt-BR" altLang="pt-BR" sz="1800">
                <a:latin typeface="Times New Roman" pitchFamily="18" charset="0"/>
              </a:endParaRPr>
            </a:p>
          </p:txBody>
        </p:sp>
      </p:grpSp>
      <p:sp>
        <p:nvSpPr>
          <p:cNvPr id="57" name="Text Box 27"/>
          <p:cNvSpPr txBox="1">
            <a:spLocks noChangeArrowheads="1"/>
          </p:cNvSpPr>
          <p:nvPr/>
        </p:nvSpPr>
        <p:spPr bwMode="auto">
          <a:xfrm>
            <a:off x="6299200" y="3611563"/>
            <a:ext cx="3016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</a:t>
            </a:r>
            <a:endParaRPr lang="pt-BR" altLang="pt-BR" sz="1600" i="1" dirty="0">
              <a:latin typeface="Tahoma" panose="020B0604030504040204" pitchFamily="34" charset="0"/>
            </a:endParaRPr>
          </a:p>
        </p:txBody>
      </p:sp>
      <p:grpSp>
        <p:nvGrpSpPr>
          <p:cNvPr id="60" name="Group 39"/>
          <p:cNvGrpSpPr>
            <a:grpSpLocks/>
          </p:cNvGrpSpPr>
          <p:nvPr/>
        </p:nvGrpSpPr>
        <p:grpSpPr bwMode="auto">
          <a:xfrm>
            <a:off x="6457950" y="2859088"/>
            <a:ext cx="381000" cy="1433512"/>
            <a:chOff x="4068" y="1469"/>
            <a:chExt cx="240" cy="903"/>
          </a:xfrm>
        </p:grpSpPr>
        <p:sp>
          <p:nvSpPr>
            <p:cNvPr id="43034" name="Text Box 28"/>
            <p:cNvSpPr txBox="1">
              <a:spLocks noChangeArrowheads="1"/>
            </p:cNvSpPr>
            <p:nvPr/>
          </p:nvSpPr>
          <p:spPr bwMode="auto">
            <a:xfrm>
              <a:off x="4080" y="2160"/>
              <a:ext cx="19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i="1" dirty="0">
                  <a:latin typeface="Tahoma" panose="020B0604030504040204" pitchFamily="34" charset="0"/>
                  <a:sym typeface="Symbol" pitchFamily="18" charset="2"/>
                </a:rPr>
                <a:t></a:t>
              </a:r>
              <a:endParaRPr lang="pt-BR" altLang="pt-BR" sz="1600" baseline="30000" dirty="0">
                <a:latin typeface="Times New Roman" pitchFamily="18" charset="0"/>
              </a:endParaRPr>
            </a:p>
          </p:txBody>
        </p:sp>
        <p:sp>
          <p:nvSpPr>
            <p:cNvPr id="43035" name="Line 31"/>
            <p:cNvSpPr>
              <a:spLocks noChangeShapeType="1"/>
            </p:cNvSpPr>
            <p:nvPr/>
          </p:nvSpPr>
          <p:spPr bwMode="auto">
            <a:xfrm>
              <a:off x="4308" y="1469"/>
              <a:ext cx="0" cy="4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grpSp>
          <p:nvGrpSpPr>
            <p:cNvPr id="43036" name="Group 37"/>
            <p:cNvGrpSpPr>
              <a:grpSpLocks/>
            </p:cNvGrpSpPr>
            <p:nvPr/>
          </p:nvGrpSpPr>
          <p:grpSpPr bwMode="auto">
            <a:xfrm>
              <a:off x="4068" y="2160"/>
              <a:ext cx="240" cy="48"/>
              <a:chOff x="4068" y="2208"/>
              <a:chExt cx="240" cy="48"/>
            </a:xfrm>
          </p:grpSpPr>
          <p:sp>
            <p:nvSpPr>
              <p:cNvPr id="43037" name="Line 34"/>
              <p:cNvSpPr>
                <a:spLocks noChangeShapeType="1"/>
              </p:cNvSpPr>
              <p:nvPr/>
            </p:nvSpPr>
            <p:spPr bwMode="auto">
              <a:xfrm>
                <a:off x="4068" y="2232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43038" name="Line 35"/>
              <p:cNvSpPr>
                <a:spLocks noChangeShapeType="1"/>
              </p:cNvSpPr>
              <p:nvPr/>
            </p:nvSpPr>
            <p:spPr bwMode="auto">
              <a:xfrm>
                <a:off x="4068" y="2208"/>
                <a:ext cx="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43039" name="Line 36"/>
              <p:cNvSpPr>
                <a:spLocks noChangeShapeType="1"/>
              </p:cNvSpPr>
              <p:nvPr/>
            </p:nvSpPr>
            <p:spPr bwMode="auto">
              <a:xfrm>
                <a:off x="4308" y="2208"/>
                <a:ext cx="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</p:grpSp>
      </p:grpSp>
      <p:graphicFrame>
        <p:nvGraphicFramePr>
          <p:cNvPr id="4" name="Objeto 3"/>
          <p:cNvGraphicFramePr>
            <a:graphicFrameLocks noChangeAspect="1"/>
          </p:cNvGraphicFramePr>
          <p:nvPr/>
        </p:nvGraphicFramePr>
        <p:xfrm>
          <a:off x="7162800" y="1992313"/>
          <a:ext cx="1198563" cy="693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837836" imgH="482391" progId="Equation.DSMT4">
                  <p:embed/>
                </p:oleObj>
              </mc:Choice>
              <mc:Fallback>
                <p:oleObj name="Equation" r:id="rId17" imgW="837836" imgH="482391" progId="Equation.DSMT4">
                  <p:embed/>
                  <p:pic>
                    <p:nvPicPr>
                      <p:cNvPr id="4" name="Objeto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2800" y="1992313"/>
                        <a:ext cx="1198563" cy="693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6" name="Grupo 25"/>
          <p:cNvGrpSpPr>
            <a:grpSpLocks/>
          </p:cNvGrpSpPr>
          <p:nvPr/>
        </p:nvGrpSpPr>
        <p:grpSpPr bwMode="auto">
          <a:xfrm>
            <a:off x="4876800" y="4592638"/>
            <a:ext cx="2960688" cy="2000250"/>
            <a:chOff x="4876800" y="4592612"/>
            <a:chExt cx="2960688" cy="2000670"/>
          </a:xfrm>
        </p:grpSpPr>
        <p:grpSp>
          <p:nvGrpSpPr>
            <p:cNvPr id="43029" name="Group 16"/>
            <p:cNvGrpSpPr>
              <a:grpSpLocks/>
            </p:cNvGrpSpPr>
            <p:nvPr/>
          </p:nvGrpSpPr>
          <p:grpSpPr bwMode="auto">
            <a:xfrm>
              <a:off x="4876800" y="4592612"/>
              <a:ext cx="2960688" cy="1946275"/>
              <a:chOff x="3552" y="912"/>
              <a:chExt cx="1409" cy="1226"/>
            </a:xfrm>
          </p:grpSpPr>
          <p:pic>
            <p:nvPicPr>
              <p:cNvPr id="43031" name="Picture 17"/>
              <p:cNvPicPr>
                <a:picLocks noChangeAspect="1" noChangeArrowheads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3296" t="9618" r="18376" b="11877"/>
              <a:stretch>
                <a:fillRect/>
              </a:stretch>
            </p:blipFill>
            <p:spPr bwMode="auto">
              <a:xfrm>
                <a:off x="3696" y="912"/>
                <a:ext cx="1200" cy="10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3032" name="Text Box 18"/>
              <p:cNvSpPr txBox="1">
                <a:spLocks noChangeArrowheads="1"/>
              </p:cNvSpPr>
              <p:nvPr/>
            </p:nvSpPr>
            <p:spPr bwMode="auto">
              <a:xfrm>
                <a:off x="3552" y="1907"/>
                <a:ext cx="202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800">
                    <a:latin typeface="Times New Roman" pitchFamily="18" charset="0"/>
                  </a:rPr>
                  <a:t>-</a:t>
                </a:r>
                <a:r>
                  <a:rPr lang="pt-BR" altLang="pt-BR" sz="1800">
                    <a:latin typeface="Times New Roman" pitchFamily="18" charset="0"/>
                    <a:sym typeface="Symbol" pitchFamily="18" charset="2"/>
                  </a:rPr>
                  <a:t></a:t>
                </a:r>
                <a:endParaRPr lang="pt-BR" altLang="pt-BR" sz="1800">
                  <a:latin typeface="Times New Roman" pitchFamily="18" charset="0"/>
                </a:endParaRPr>
              </a:p>
            </p:txBody>
          </p:sp>
          <p:sp>
            <p:nvSpPr>
              <p:cNvPr id="43033" name="Text Box 19"/>
              <p:cNvSpPr txBox="1">
                <a:spLocks noChangeArrowheads="1"/>
              </p:cNvSpPr>
              <p:nvPr/>
            </p:nvSpPr>
            <p:spPr bwMode="auto">
              <a:xfrm>
                <a:off x="4734" y="1907"/>
                <a:ext cx="227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800">
                    <a:latin typeface="Times New Roman" pitchFamily="18" charset="0"/>
                  </a:rPr>
                  <a:t>+</a:t>
                </a:r>
                <a:r>
                  <a:rPr lang="pt-BR" altLang="pt-BR" sz="1800">
                    <a:latin typeface="Times New Roman" pitchFamily="18" charset="0"/>
                    <a:sym typeface="Symbol" pitchFamily="18" charset="2"/>
                  </a:rPr>
                  <a:t></a:t>
                </a:r>
                <a:endParaRPr lang="pt-BR" altLang="pt-BR" sz="1800">
                  <a:latin typeface="Times New Roman" pitchFamily="18" charset="0"/>
                </a:endParaRPr>
              </a:p>
            </p:txBody>
          </p:sp>
        </p:grpSp>
        <p:sp>
          <p:nvSpPr>
            <p:cNvPr id="43030" name="CaixaDeTexto 8"/>
            <p:cNvSpPr txBox="1">
              <a:spLocks noChangeArrowheads="1"/>
            </p:cNvSpPr>
            <p:nvPr/>
          </p:nvSpPr>
          <p:spPr bwMode="auto">
            <a:xfrm>
              <a:off x="6269128" y="6254728"/>
              <a:ext cx="402674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Times New Roman" pitchFamily="18" charset="0"/>
                  <a:cs typeface="Times New Roman" pitchFamily="18" charset="0"/>
                </a:rPr>
                <a:t>10</a:t>
              </a:r>
            </a:p>
          </p:txBody>
        </p:sp>
      </p:grpSp>
      <p:grpSp>
        <p:nvGrpSpPr>
          <p:cNvPr id="15" name="Grupo 14"/>
          <p:cNvGrpSpPr>
            <a:grpSpLocks/>
          </p:cNvGrpSpPr>
          <p:nvPr/>
        </p:nvGrpSpPr>
        <p:grpSpPr bwMode="auto">
          <a:xfrm>
            <a:off x="6038850" y="4629150"/>
            <a:ext cx="2360613" cy="1628775"/>
            <a:chOff x="6039500" y="4629324"/>
            <a:chExt cx="2359963" cy="1628740"/>
          </a:xfrm>
        </p:grpSpPr>
        <p:sp>
          <p:nvSpPr>
            <p:cNvPr id="13" name="Forma livre 12"/>
            <p:cNvSpPr/>
            <p:nvPr/>
          </p:nvSpPr>
          <p:spPr>
            <a:xfrm>
              <a:off x="6039500" y="4648374"/>
              <a:ext cx="579278" cy="1609690"/>
            </a:xfrm>
            <a:custGeom>
              <a:avLst/>
              <a:gdLst>
                <a:gd name="connsiteX0" fmla="*/ 0 w 579864"/>
                <a:gd name="connsiteY0" fmla="*/ 1610236 h 1610236"/>
                <a:gd name="connsiteX1" fmla="*/ 0 w 579864"/>
                <a:gd name="connsiteY1" fmla="*/ 936703 h 1610236"/>
                <a:gd name="connsiteX2" fmla="*/ 44605 w 579864"/>
                <a:gd name="connsiteY2" fmla="*/ 838572 h 1610236"/>
                <a:gd name="connsiteX3" fmla="*/ 98131 w 579864"/>
                <a:gd name="connsiteY3" fmla="*/ 660152 h 1610236"/>
                <a:gd name="connsiteX4" fmla="*/ 151657 w 579864"/>
                <a:gd name="connsiteY4" fmla="*/ 486193 h 1610236"/>
                <a:gd name="connsiteX5" fmla="*/ 209643 w 579864"/>
                <a:gd name="connsiteY5" fmla="*/ 338997 h 1610236"/>
                <a:gd name="connsiteX6" fmla="*/ 258709 w 579864"/>
                <a:gd name="connsiteY6" fmla="*/ 205183 h 1610236"/>
                <a:gd name="connsiteX7" fmla="*/ 312235 w 579864"/>
                <a:gd name="connsiteY7" fmla="*/ 93671 h 1610236"/>
                <a:gd name="connsiteX8" fmla="*/ 365760 w 579864"/>
                <a:gd name="connsiteY8" fmla="*/ 26763 h 1610236"/>
                <a:gd name="connsiteX9" fmla="*/ 423747 w 579864"/>
                <a:gd name="connsiteY9" fmla="*/ 0 h 1610236"/>
                <a:gd name="connsiteX10" fmla="*/ 486194 w 579864"/>
                <a:gd name="connsiteY10" fmla="*/ 31224 h 1610236"/>
                <a:gd name="connsiteX11" fmla="*/ 539720 w 579864"/>
                <a:gd name="connsiteY11" fmla="*/ 102592 h 1610236"/>
                <a:gd name="connsiteX12" fmla="*/ 579864 w 579864"/>
                <a:gd name="connsiteY12" fmla="*/ 205183 h 1610236"/>
                <a:gd name="connsiteX13" fmla="*/ 575403 w 579864"/>
                <a:gd name="connsiteY13" fmla="*/ 1610236 h 1610236"/>
                <a:gd name="connsiteX14" fmla="*/ 0 w 579864"/>
                <a:gd name="connsiteY14" fmla="*/ 1610236 h 1610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79864" h="1610236">
                  <a:moveTo>
                    <a:pt x="0" y="1610236"/>
                  </a:moveTo>
                  <a:lnTo>
                    <a:pt x="0" y="936703"/>
                  </a:lnTo>
                  <a:lnTo>
                    <a:pt x="44605" y="838572"/>
                  </a:lnTo>
                  <a:lnTo>
                    <a:pt x="98131" y="660152"/>
                  </a:lnTo>
                  <a:lnTo>
                    <a:pt x="151657" y="486193"/>
                  </a:lnTo>
                  <a:lnTo>
                    <a:pt x="209643" y="338997"/>
                  </a:lnTo>
                  <a:lnTo>
                    <a:pt x="258709" y="205183"/>
                  </a:lnTo>
                  <a:lnTo>
                    <a:pt x="312235" y="93671"/>
                  </a:lnTo>
                  <a:lnTo>
                    <a:pt x="365760" y="26763"/>
                  </a:lnTo>
                  <a:lnTo>
                    <a:pt x="423747" y="0"/>
                  </a:lnTo>
                  <a:lnTo>
                    <a:pt x="486194" y="31224"/>
                  </a:lnTo>
                  <a:lnTo>
                    <a:pt x="539720" y="102592"/>
                  </a:lnTo>
                  <a:lnTo>
                    <a:pt x="579864" y="205183"/>
                  </a:lnTo>
                  <a:lnTo>
                    <a:pt x="575403" y="1610236"/>
                  </a:lnTo>
                  <a:lnTo>
                    <a:pt x="0" y="1610236"/>
                  </a:lnTo>
                  <a:close/>
                </a:path>
              </a:pathLst>
            </a:custGeom>
            <a:pattFill prst="ltUpDiag">
              <a:fgClr>
                <a:schemeClr val="tx1"/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  <p:graphicFrame>
          <p:nvGraphicFramePr>
            <p:cNvPr id="43027" name="Objeto 57"/>
            <p:cNvGraphicFramePr>
              <a:graphicFrameLocks noChangeAspect="1"/>
            </p:cNvGraphicFramePr>
            <p:nvPr/>
          </p:nvGraphicFramePr>
          <p:xfrm>
            <a:off x="7146925" y="4629324"/>
            <a:ext cx="1252538" cy="292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876300" imgH="203200" progId="Equation.DSMT4">
                    <p:embed/>
                  </p:oleObj>
                </mc:Choice>
                <mc:Fallback>
                  <p:oleObj name="Equation" r:id="rId19" imgW="876300" imgH="203200" progId="Equation.DSMT4">
                    <p:embed/>
                    <p:pic>
                      <p:nvPicPr>
                        <p:cNvPr id="43027" name="Objeto 5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46925" y="4629324"/>
                          <a:ext cx="1252538" cy="2921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59" name="Conector de seta reta 58"/>
            <p:cNvCxnSpPr/>
            <p:nvPr/>
          </p:nvCxnSpPr>
          <p:spPr>
            <a:xfrm flipV="1">
              <a:off x="6414047" y="4873794"/>
              <a:ext cx="649109" cy="64292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 autoUpdateAnimBg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Distribuição Normal ou Gaussiana</a:t>
            </a:r>
          </a:p>
        </p:txBody>
      </p:sp>
      <p:graphicFrame>
        <p:nvGraphicFramePr>
          <p:cNvPr id="104463" name="Object 15"/>
          <p:cNvGraphicFramePr>
            <a:graphicFrameLocks noChangeAspect="1"/>
          </p:cNvGraphicFramePr>
          <p:nvPr/>
        </p:nvGraphicFramePr>
        <p:xfrm>
          <a:off x="1098550" y="2609850"/>
          <a:ext cx="1016000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10891" imgH="393529" progId="Equation.DSMT4">
                  <p:embed/>
                </p:oleObj>
              </mc:Choice>
              <mc:Fallback>
                <p:oleObj name="Equation" r:id="rId2" imgW="710891" imgH="393529" progId="Equation.DSMT4">
                  <p:embed/>
                  <p:pic>
                    <p:nvPicPr>
                      <p:cNvPr id="104463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8550" y="2609850"/>
                        <a:ext cx="1016000" cy="566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64" name="Object 16"/>
          <p:cNvGraphicFramePr>
            <a:graphicFrameLocks noChangeAspect="1"/>
          </p:cNvGraphicFramePr>
          <p:nvPr/>
        </p:nvGraphicFramePr>
        <p:xfrm>
          <a:off x="1098550" y="3657600"/>
          <a:ext cx="708025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94870" imgH="203024" progId="Equation.DSMT4">
                  <p:embed/>
                </p:oleObj>
              </mc:Choice>
              <mc:Fallback>
                <p:oleObj name="Equation" r:id="rId4" imgW="494870" imgH="203024" progId="Equation.DSMT4">
                  <p:embed/>
                  <p:pic>
                    <p:nvPicPr>
                      <p:cNvPr id="104464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8550" y="3657600"/>
                        <a:ext cx="708025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65" name="Object 17"/>
          <p:cNvGraphicFramePr>
            <a:graphicFrameLocks noChangeAspect="1"/>
          </p:cNvGraphicFramePr>
          <p:nvPr/>
        </p:nvGraphicFramePr>
        <p:xfrm>
          <a:off x="1822450" y="3494088"/>
          <a:ext cx="1216025" cy="620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850531" imgH="431613" progId="Equation.DSMT4">
                  <p:embed/>
                </p:oleObj>
              </mc:Choice>
              <mc:Fallback>
                <p:oleObj name="Equation" r:id="rId6" imgW="850531" imgH="431613" progId="Equation.DSMT4">
                  <p:embed/>
                  <p:pic>
                    <p:nvPicPr>
                      <p:cNvPr id="104465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2450" y="3494088"/>
                        <a:ext cx="1216025" cy="620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66" name="Object 18"/>
          <p:cNvGraphicFramePr>
            <a:graphicFrameLocks noChangeAspect="1"/>
          </p:cNvGraphicFramePr>
          <p:nvPr/>
        </p:nvGraphicFramePr>
        <p:xfrm>
          <a:off x="3054350" y="3521075"/>
          <a:ext cx="1343025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939392" imgH="393529" progId="Equation.DSMT4">
                  <p:embed/>
                </p:oleObj>
              </mc:Choice>
              <mc:Fallback>
                <p:oleObj name="Equation" r:id="rId8" imgW="939392" imgH="393529" progId="Equation.DSMT4">
                  <p:embed/>
                  <p:pic>
                    <p:nvPicPr>
                      <p:cNvPr id="104466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4350" y="3521075"/>
                        <a:ext cx="1343025" cy="566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67" name="Object 19"/>
          <p:cNvGraphicFramePr>
            <a:graphicFrameLocks noChangeAspect="1"/>
          </p:cNvGraphicFramePr>
          <p:nvPr/>
        </p:nvGraphicFramePr>
        <p:xfrm>
          <a:off x="4413250" y="3521075"/>
          <a:ext cx="1470025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028254" imgH="393529" progId="Equation.DSMT4">
                  <p:embed/>
                </p:oleObj>
              </mc:Choice>
              <mc:Fallback>
                <p:oleObj name="Equation" r:id="rId10" imgW="1028254" imgH="393529" progId="Equation.DSMT4">
                  <p:embed/>
                  <p:pic>
                    <p:nvPicPr>
                      <p:cNvPr id="104467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3250" y="3521075"/>
                        <a:ext cx="1470025" cy="566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68" name="Object 20"/>
          <p:cNvGraphicFramePr>
            <a:graphicFrameLocks noChangeAspect="1"/>
          </p:cNvGraphicFramePr>
          <p:nvPr/>
        </p:nvGraphicFramePr>
        <p:xfrm>
          <a:off x="5899150" y="3521075"/>
          <a:ext cx="1270000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888614" imgH="393529" progId="Equation.DSMT4">
                  <p:embed/>
                </p:oleObj>
              </mc:Choice>
              <mc:Fallback>
                <p:oleObj name="Equation" r:id="rId12" imgW="888614" imgH="393529" progId="Equation.DSMT4">
                  <p:embed/>
                  <p:pic>
                    <p:nvPicPr>
                      <p:cNvPr id="104468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99150" y="3521075"/>
                        <a:ext cx="1270000" cy="566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69" name="Object 21"/>
          <p:cNvGraphicFramePr>
            <a:graphicFrameLocks noChangeAspect="1"/>
          </p:cNvGraphicFramePr>
          <p:nvPr/>
        </p:nvGraphicFramePr>
        <p:xfrm>
          <a:off x="1098550" y="4710113"/>
          <a:ext cx="854075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596641" imgH="203112" progId="Equation.DSMT4">
                  <p:embed/>
                </p:oleObj>
              </mc:Choice>
              <mc:Fallback>
                <p:oleObj name="Equation" r:id="rId14" imgW="596641" imgH="203112" progId="Equation.DSMT4">
                  <p:embed/>
                  <p:pic>
                    <p:nvPicPr>
                      <p:cNvPr id="104469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8550" y="4710113"/>
                        <a:ext cx="854075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70" name="Object 22"/>
          <p:cNvGraphicFramePr>
            <a:graphicFrameLocks noChangeAspect="1"/>
          </p:cNvGraphicFramePr>
          <p:nvPr/>
        </p:nvGraphicFramePr>
        <p:xfrm>
          <a:off x="1985963" y="4545013"/>
          <a:ext cx="1363662" cy="620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952087" imgH="431613" progId="Equation.DSMT4">
                  <p:embed/>
                </p:oleObj>
              </mc:Choice>
              <mc:Fallback>
                <p:oleObj name="Equation" r:id="rId16" imgW="952087" imgH="431613" progId="Equation.DSMT4">
                  <p:embed/>
                  <p:pic>
                    <p:nvPicPr>
                      <p:cNvPr id="10447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5963" y="4545013"/>
                        <a:ext cx="1363662" cy="620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71" name="Object 23"/>
          <p:cNvGraphicFramePr>
            <a:graphicFrameLocks noChangeAspect="1"/>
          </p:cNvGraphicFramePr>
          <p:nvPr/>
        </p:nvGraphicFramePr>
        <p:xfrm>
          <a:off x="3382963" y="4572000"/>
          <a:ext cx="1600200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117115" imgH="393529" progId="Equation.DSMT4">
                  <p:embed/>
                </p:oleObj>
              </mc:Choice>
              <mc:Fallback>
                <p:oleObj name="Equation" r:id="rId18" imgW="1117115" imgH="393529" progId="Equation.DSMT4">
                  <p:embed/>
                  <p:pic>
                    <p:nvPicPr>
                      <p:cNvPr id="104471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2963" y="4572000"/>
                        <a:ext cx="1600200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72" name="Object 24"/>
          <p:cNvGraphicFramePr>
            <a:graphicFrameLocks noChangeAspect="1"/>
          </p:cNvGraphicFramePr>
          <p:nvPr/>
        </p:nvGraphicFramePr>
        <p:xfrm>
          <a:off x="5026025" y="4572000"/>
          <a:ext cx="1073150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748975" imgH="393529" progId="Equation.DSMT4">
                  <p:embed/>
                </p:oleObj>
              </mc:Choice>
              <mc:Fallback>
                <p:oleObj name="Equation" r:id="rId20" imgW="748975" imgH="393529" progId="Equation.DSMT4">
                  <p:embed/>
                  <p:pic>
                    <p:nvPicPr>
                      <p:cNvPr id="104472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6025" y="4572000"/>
                        <a:ext cx="1073150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473" name="Text Box 25"/>
          <p:cNvSpPr txBox="1">
            <a:spLocks noChangeArrowheads="1"/>
          </p:cNvSpPr>
          <p:nvPr/>
        </p:nvSpPr>
        <p:spPr bwMode="auto">
          <a:xfrm>
            <a:off x="2393950" y="5670550"/>
            <a:ext cx="290669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 </a:t>
            </a: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  <a:sym typeface="Symbol" pitchFamily="18" charset="2"/>
              </a:rPr>
              <a:t>Distribuição Normal Padrão</a:t>
            </a:r>
            <a:endParaRPr lang="pt-BR" altLang="pt-BR" sz="1600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graphicFrame>
        <p:nvGraphicFramePr>
          <p:cNvPr id="104474" name="Object 26"/>
          <p:cNvGraphicFramePr>
            <a:graphicFrameLocks noChangeAspect="1"/>
          </p:cNvGraphicFramePr>
          <p:nvPr/>
        </p:nvGraphicFramePr>
        <p:xfrm>
          <a:off x="1114425" y="5715000"/>
          <a:ext cx="1036638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723586" imgH="203112" progId="Equation.DSMT4">
                  <p:embed/>
                </p:oleObj>
              </mc:Choice>
              <mc:Fallback>
                <p:oleObj name="Equation" r:id="rId22" imgW="723586" imgH="203112" progId="Equation.DSMT4">
                  <p:embed/>
                  <p:pic>
                    <p:nvPicPr>
                      <p:cNvPr id="104474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4425" y="5715000"/>
                        <a:ext cx="1036638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475" name="Rectangle 27"/>
          <p:cNvSpPr>
            <a:spLocks noChangeArrowheads="1"/>
          </p:cNvSpPr>
          <p:nvPr/>
        </p:nvSpPr>
        <p:spPr bwMode="auto">
          <a:xfrm>
            <a:off x="1022350" y="5594350"/>
            <a:ext cx="1219200" cy="533400"/>
          </a:xfrm>
          <a:prstGeom prst="rect">
            <a:avLst/>
          </a:prstGeom>
          <a:noFill/>
          <a:ln w="19050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graphicFrame>
        <p:nvGraphicFramePr>
          <p:cNvPr id="104479" name="Object 31"/>
          <p:cNvGraphicFramePr>
            <a:graphicFrameLocks noChangeAspect="1"/>
          </p:cNvGraphicFramePr>
          <p:nvPr/>
        </p:nvGraphicFramePr>
        <p:xfrm>
          <a:off x="6156325" y="4545013"/>
          <a:ext cx="800100" cy="601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558800" imgH="419100" progId="Equation.DSMT4">
                  <p:embed/>
                </p:oleObj>
              </mc:Choice>
              <mc:Fallback>
                <p:oleObj name="Equation" r:id="rId24" imgW="558800" imgH="419100" progId="Equation.DSMT4">
                  <p:embed/>
                  <p:pic>
                    <p:nvPicPr>
                      <p:cNvPr id="104479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6325" y="4545013"/>
                        <a:ext cx="800100" cy="601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upo 23"/>
          <p:cNvGrpSpPr>
            <a:grpSpLocks/>
          </p:cNvGrpSpPr>
          <p:nvPr/>
        </p:nvGrpSpPr>
        <p:grpSpPr bwMode="auto">
          <a:xfrm>
            <a:off x="1028700" y="1857375"/>
            <a:ext cx="5875338" cy="338138"/>
            <a:chOff x="1071538" y="1857364"/>
            <a:chExt cx="5875372" cy="338554"/>
          </a:xfrm>
        </p:grpSpPr>
        <p:sp>
          <p:nvSpPr>
            <p:cNvPr id="44053" name="Text Box 25"/>
            <p:cNvSpPr txBox="1">
              <a:spLocks noChangeArrowheads="1"/>
            </p:cNvSpPr>
            <p:nvPr/>
          </p:nvSpPr>
          <p:spPr bwMode="auto">
            <a:xfrm>
              <a:off x="1071538" y="1857364"/>
              <a:ext cx="1729961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  <a:sym typeface="Symbol" pitchFamily="18" charset="2"/>
                </a:rPr>
                <a:t>Propriedade: se 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graphicFrame>
          <p:nvGraphicFramePr>
            <p:cNvPr id="44054" name="Object 30"/>
            <p:cNvGraphicFramePr>
              <a:graphicFrameLocks noChangeAspect="1"/>
            </p:cNvGraphicFramePr>
            <p:nvPr/>
          </p:nvGraphicFramePr>
          <p:xfrm>
            <a:off x="2675448" y="1857370"/>
            <a:ext cx="1271588" cy="3286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889000" imgH="228600" progId="Equation.DSMT4">
                    <p:embed/>
                  </p:oleObj>
                </mc:Choice>
                <mc:Fallback>
                  <p:oleObj name="Equation" r:id="rId26" imgW="889000" imgH="228600" progId="Equation.DSMT4">
                    <p:embed/>
                    <p:pic>
                      <p:nvPicPr>
                        <p:cNvPr id="44054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75448" y="1857370"/>
                          <a:ext cx="1271588" cy="3286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4055" name="Text Box 25"/>
            <p:cNvSpPr txBox="1">
              <a:spLocks noChangeArrowheads="1"/>
            </p:cNvSpPr>
            <p:nvPr/>
          </p:nvSpPr>
          <p:spPr bwMode="auto">
            <a:xfrm>
              <a:off x="3929058" y="1857364"/>
              <a:ext cx="296876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  <a:sym typeface="Symbol" pitchFamily="18" charset="2"/>
                </a:rPr>
                <a:t>e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graphicFrame>
          <p:nvGraphicFramePr>
            <p:cNvPr id="44056" name="Object 33"/>
            <p:cNvGraphicFramePr>
              <a:graphicFrameLocks noChangeAspect="1"/>
            </p:cNvGraphicFramePr>
            <p:nvPr/>
          </p:nvGraphicFramePr>
          <p:xfrm>
            <a:off x="4232458" y="1893883"/>
            <a:ext cx="1000125" cy="2555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8" imgW="698197" imgH="177723" progId="Equation.DSMT4">
                    <p:embed/>
                  </p:oleObj>
                </mc:Choice>
                <mc:Fallback>
                  <p:oleObj name="Equation" r:id="rId28" imgW="698197" imgH="177723" progId="Equation.DSMT4">
                    <p:embed/>
                    <p:pic>
                      <p:nvPicPr>
                        <p:cNvPr id="44056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32458" y="1893883"/>
                          <a:ext cx="1000125" cy="2555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4057" name="Text Box 25"/>
            <p:cNvSpPr txBox="1">
              <a:spLocks noChangeArrowheads="1"/>
            </p:cNvSpPr>
            <p:nvPr/>
          </p:nvSpPr>
          <p:spPr bwMode="auto">
            <a:xfrm>
              <a:off x="5214942" y="1857364"/>
              <a:ext cx="713657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  <a:sym typeface="Symbol" pitchFamily="18" charset="2"/>
                </a:rPr>
                <a:t>então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graphicFrame>
          <p:nvGraphicFramePr>
            <p:cNvPr id="44058" name="Object 34"/>
            <p:cNvGraphicFramePr>
              <a:graphicFrameLocks noChangeAspect="1"/>
            </p:cNvGraphicFramePr>
            <p:nvPr/>
          </p:nvGraphicFramePr>
          <p:xfrm>
            <a:off x="5929322" y="1896354"/>
            <a:ext cx="1017588" cy="292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0" imgW="710891" imgH="203112" progId="Equation.DSMT4">
                    <p:embed/>
                  </p:oleObj>
                </mc:Choice>
                <mc:Fallback>
                  <p:oleObj name="Equation" r:id="rId30" imgW="710891" imgH="203112" progId="Equation.DSMT4">
                    <p:embed/>
                    <p:pic>
                      <p:nvPicPr>
                        <p:cNvPr id="44058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29322" y="1896354"/>
                          <a:ext cx="1017588" cy="2921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5" name="Object 35"/>
          <p:cNvGraphicFramePr>
            <a:graphicFrameLocks noChangeAspect="1"/>
          </p:cNvGraphicFramePr>
          <p:nvPr/>
        </p:nvGraphicFramePr>
        <p:xfrm>
          <a:off x="5886450" y="1857375"/>
          <a:ext cx="1835150" cy="328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1282700" imgH="228600" progId="Equation.DSMT4">
                  <p:embed/>
                </p:oleObj>
              </mc:Choice>
              <mc:Fallback>
                <p:oleObj name="Equation" r:id="rId32" imgW="1282700" imgH="228600" progId="Equation.DSMT4">
                  <p:embed/>
                  <p:pic>
                    <p:nvPicPr>
                      <p:cNvPr id="25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6450" y="1857375"/>
                        <a:ext cx="1835150" cy="32861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D3571E-64C1-4B86-812A-557970FF6559}" type="slidenum">
              <a:rPr lang="pt-BR"/>
              <a:pPr>
                <a:defRPr/>
              </a:pPr>
              <a:t>52</a:t>
            </a:fld>
            <a:endParaRPr lang="pt-BR"/>
          </a:p>
        </p:txBody>
      </p:sp>
      <p:sp>
        <p:nvSpPr>
          <p:cNvPr id="27" name="Text Box 25"/>
          <p:cNvSpPr txBox="1">
            <a:spLocks noChangeArrowheads="1"/>
          </p:cNvSpPr>
          <p:nvPr/>
        </p:nvSpPr>
        <p:spPr bwMode="auto">
          <a:xfrm>
            <a:off x="3052763" y="6000750"/>
            <a:ext cx="402385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400" dirty="0">
                <a:latin typeface="Tahoma" panose="020B0604030504040204" pitchFamily="34" charset="0"/>
                <a:sym typeface="Symbol" pitchFamily="18" charset="2"/>
              </a:rPr>
              <a:t>(valores de probabilidade podem ser tabelados!)</a:t>
            </a:r>
            <a:endParaRPr lang="pt-BR" altLang="pt-BR" sz="1400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473" grpId="0" autoUpdateAnimBg="0"/>
      <p:bldP spid="104475" grpId="0" animBg="1"/>
      <p:bldP spid="27" grpId="0" autoUpdateAnimBg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8" name="Picture 2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3175" y="1989138"/>
            <a:ext cx="4879975" cy="4554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5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Distribuição Normal Padrão</a:t>
            </a:r>
          </a:p>
        </p:txBody>
      </p:sp>
      <p:graphicFrame>
        <p:nvGraphicFramePr>
          <p:cNvPr id="105483" name="Object 11"/>
          <p:cNvGraphicFramePr>
            <a:graphicFrameLocks noChangeAspect="1"/>
          </p:cNvGraphicFramePr>
          <p:nvPr/>
        </p:nvGraphicFramePr>
        <p:xfrm>
          <a:off x="827088" y="3733800"/>
          <a:ext cx="1433512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02865" imgH="203112" progId="Equation.DSMT4">
                  <p:embed/>
                </p:oleObj>
              </mc:Choice>
              <mc:Fallback>
                <p:oleObj name="Equation" r:id="rId3" imgW="1002865" imgH="203112" progId="Equation.DSMT4">
                  <p:embed/>
                  <p:pic>
                    <p:nvPicPr>
                      <p:cNvPr id="105483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3733800"/>
                        <a:ext cx="1433512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484" name="Object 12"/>
          <p:cNvGraphicFramePr>
            <a:graphicFrameLocks noChangeAspect="1"/>
          </p:cNvGraphicFramePr>
          <p:nvPr/>
        </p:nvGraphicFramePr>
        <p:xfrm>
          <a:off x="827088" y="4267200"/>
          <a:ext cx="1958975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371600" imgH="203200" progId="Equation.DSMT4">
                  <p:embed/>
                </p:oleObj>
              </mc:Choice>
              <mc:Fallback>
                <p:oleObj name="Equation" r:id="rId5" imgW="1371600" imgH="203200" progId="Equation.DSMT4">
                  <p:embed/>
                  <p:pic>
                    <p:nvPicPr>
                      <p:cNvPr id="105484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4267200"/>
                        <a:ext cx="1958975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485" name="AutoShape 13"/>
          <p:cNvSpPr>
            <a:spLocks noChangeArrowheads="1"/>
          </p:cNvSpPr>
          <p:nvPr/>
        </p:nvSpPr>
        <p:spPr bwMode="auto">
          <a:xfrm>
            <a:off x="3444875" y="5111750"/>
            <a:ext cx="609600" cy="228600"/>
          </a:xfrm>
          <a:prstGeom prst="rightArrow">
            <a:avLst>
              <a:gd name="adj1" fmla="val 50000"/>
              <a:gd name="adj2" fmla="val 66667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105486" name="AutoShape 14"/>
          <p:cNvSpPr>
            <a:spLocks noChangeArrowheads="1"/>
          </p:cNvSpPr>
          <p:nvPr/>
        </p:nvSpPr>
        <p:spPr bwMode="auto">
          <a:xfrm rot="5400000">
            <a:off x="7353300" y="1506538"/>
            <a:ext cx="609600" cy="228600"/>
          </a:xfrm>
          <a:prstGeom prst="rightArrow">
            <a:avLst>
              <a:gd name="adj1" fmla="val 50000"/>
              <a:gd name="adj2" fmla="val 66667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105487" name="Rectangle 15"/>
          <p:cNvSpPr>
            <a:spLocks noChangeArrowheads="1"/>
          </p:cNvSpPr>
          <p:nvPr/>
        </p:nvSpPr>
        <p:spPr bwMode="auto">
          <a:xfrm>
            <a:off x="7416800" y="5137150"/>
            <a:ext cx="411163" cy="179388"/>
          </a:xfrm>
          <a:prstGeom prst="rect">
            <a:avLst/>
          </a:prstGeom>
          <a:noFill/>
          <a:ln w="28575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grpSp>
        <p:nvGrpSpPr>
          <p:cNvPr id="45065" name="Grupo 2"/>
          <p:cNvGrpSpPr>
            <a:grpSpLocks/>
          </p:cNvGrpSpPr>
          <p:nvPr/>
        </p:nvGrpSpPr>
        <p:grpSpPr bwMode="auto">
          <a:xfrm>
            <a:off x="684213" y="1600200"/>
            <a:ext cx="2698750" cy="1289050"/>
            <a:chOff x="684213" y="1600200"/>
            <a:chExt cx="2698751" cy="1289467"/>
          </a:xfrm>
        </p:grpSpPr>
        <p:pic>
          <p:nvPicPr>
            <p:cNvPr id="45073" name="Picture 18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296" t="9618" r="18376" b="11877"/>
            <a:stretch>
              <a:fillRect/>
            </a:stretch>
          </p:blipFill>
          <p:spPr bwMode="auto">
            <a:xfrm>
              <a:off x="771526" y="1600200"/>
              <a:ext cx="2506663" cy="10588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5074" name="Text Box 19"/>
            <p:cNvSpPr txBox="1">
              <a:spLocks noChangeArrowheads="1"/>
            </p:cNvSpPr>
            <p:nvPr/>
          </p:nvSpPr>
          <p:spPr bwMode="auto">
            <a:xfrm>
              <a:off x="684213" y="2551113"/>
              <a:ext cx="39687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Times New Roman" pitchFamily="18" charset="0"/>
                </a:rPr>
                <a:t>-</a:t>
              </a:r>
              <a:r>
                <a:rPr lang="pt-BR" altLang="pt-BR" sz="1600">
                  <a:latin typeface="Times New Roman" pitchFamily="18" charset="0"/>
                  <a:sym typeface="Symbol" pitchFamily="18" charset="2"/>
                </a:rPr>
                <a:t></a:t>
              </a:r>
              <a:endParaRPr lang="pt-BR" altLang="pt-BR" sz="1600">
                <a:latin typeface="Times New Roman" pitchFamily="18" charset="0"/>
              </a:endParaRPr>
            </a:p>
          </p:txBody>
        </p:sp>
        <p:sp>
          <p:nvSpPr>
            <p:cNvPr id="45075" name="Text Box 20"/>
            <p:cNvSpPr txBox="1">
              <a:spLocks noChangeArrowheads="1"/>
            </p:cNvSpPr>
            <p:nvPr/>
          </p:nvSpPr>
          <p:spPr bwMode="auto">
            <a:xfrm>
              <a:off x="2940051" y="2551113"/>
              <a:ext cx="442913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Times New Roman" pitchFamily="18" charset="0"/>
                </a:rPr>
                <a:t>+</a:t>
              </a:r>
              <a:r>
                <a:rPr lang="pt-BR" altLang="pt-BR" sz="1600">
                  <a:latin typeface="Times New Roman" pitchFamily="18" charset="0"/>
                  <a:sym typeface="Symbol" pitchFamily="18" charset="2"/>
                </a:rPr>
                <a:t></a:t>
              </a:r>
              <a:endParaRPr lang="pt-BR" altLang="pt-BR" sz="1600">
                <a:latin typeface="Times New Roman" pitchFamily="18" charset="0"/>
              </a:endParaRPr>
            </a:p>
          </p:txBody>
        </p:sp>
        <p:sp>
          <p:nvSpPr>
            <p:cNvPr id="45076" name="Text Box 25"/>
            <p:cNvSpPr txBox="1">
              <a:spLocks noChangeArrowheads="1"/>
            </p:cNvSpPr>
            <p:nvPr/>
          </p:nvSpPr>
          <p:spPr bwMode="auto">
            <a:xfrm>
              <a:off x="1900238" y="2551113"/>
              <a:ext cx="28575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45077" name="Text Box 26"/>
            <p:cNvSpPr txBox="1">
              <a:spLocks noChangeArrowheads="1"/>
            </p:cNvSpPr>
            <p:nvPr/>
          </p:nvSpPr>
          <p:spPr bwMode="auto">
            <a:xfrm>
              <a:off x="2385369" y="2551113"/>
              <a:ext cx="264816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i="1">
                  <a:latin typeface="Times New Roman" pitchFamily="18" charset="0"/>
                </a:rPr>
                <a:t>z</a:t>
              </a:r>
              <a:endParaRPr lang="pt-BR" altLang="pt-BR" sz="1600" i="1" baseline="-25000">
                <a:latin typeface="Times New Roman" pitchFamily="18" charset="0"/>
              </a:endParaRPr>
            </a:p>
          </p:txBody>
        </p:sp>
        <p:sp>
          <p:nvSpPr>
            <p:cNvPr id="45078" name="Freeform 16" descr="Diagonal para cima clara"/>
            <p:cNvSpPr>
              <a:spLocks/>
            </p:cNvSpPr>
            <p:nvPr/>
          </p:nvSpPr>
          <p:spPr bwMode="auto">
            <a:xfrm>
              <a:off x="2517775" y="2304854"/>
              <a:ext cx="657225" cy="325224"/>
            </a:xfrm>
            <a:custGeom>
              <a:avLst/>
              <a:gdLst>
                <a:gd name="T0" fmla="*/ 2147483647 w 414"/>
                <a:gd name="T1" fmla="*/ 2147483647 h 368"/>
                <a:gd name="T2" fmla="*/ 0 w 414"/>
                <a:gd name="T3" fmla="*/ 0 h 368"/>
                <a:gd name="T4" fmla="*/ 2147483647 w 414"/>
                <a:gd name="T5" fmla="*/ 2147483647 h 368"/>
                <a:gd name="T6" fmla="*/ 2147483647 w 414"/>
                <a:gd name="T7" fmla="*/ 2147483647 h 368"/>
                <a:gd name="T8" fmla="*/ 2147483647 w 414"/>
                <a:gd name="T9" fmla="*/ 2147483647 h 368"/>
                <a:gd name="T10" fmla="*/ 2147483647 w 414"/>
                <a:gd name="T11" fmla="*/ 2147483647 h 368"/>
                <a:gd name="T12" fmla="*/ 2147483647 w 414"/>
                <a:gd name="T13" fmla="*/ 2147483647 h 368"/>
                <a:gd name="T14" fmla="*/ 2147483647 w 414"/>
                <a:gd name="T15" fmla="*/ 2147483647 h 368"/>
                <a:gd name="T16" fmla="*/ 2147483647 w 414"/>
                <a:gd name="T17" fmla="*/ 2147483647 h 368"/>
                <a:gd name="T18" fmla="*/ 2147483647 w 414"/>
                <a:gd name="T19" fmla="*/ 2147483647 h 368"/>
                <a:gd name="T20" fmla="*/ 2147483647 w 414"/>
                <a:gd name="T21" fmla="*/ 2147483647 h 368"/>
                <a:gd name="T22" fmla="*/ 2147483647 w 414"/>
                <a:gd name="T23" fmla="*/ 2147483647 h 368"/>
                <a:gd name="T24" fmla="*/ 2147483647 w 414"/>
                <a:gd name="T25" fmla="*/ 2147483647 h 368"/>
                <a:gd name="T26" fmla="*/ 2147483647 w 414"/>
                <a:gd name="T27" fmla="*/ 2147483647 h 368"/>
                <a:gd name="T28" fmla="*/ 2147483647 w 414"/>
                <a:gd name="T29" fmla="*/ 2147483647 h 368"/>
                <a:gd name="T30" fmla="*/ 2147483647 w 414"/>
                <a:gd name="T31" fmla="*/ 2147483647 h 36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414"/>
                <a:gd name="T49" fmla="*/ 0 h 368"/>
                <a:gd name="T50" fmla="*/ 414 w 414"/>
                <a:gd name="T51" fmla="*/ 368 h 368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414" h="368">
                  <a:moveTo>
                    <a:pt x="1" y="366"/>
                  </a:moveTo>
                  <a:lnTo>
                    <a:pt x="0" y="0"/>
                  </a:lnTo>
                  <a:lnTo>
                    <a:pt x="24" y="45"/>
                  </a:lnTo>
                  <a:lnTo>
                    <a:pt x="48" y="86"/>
                  </a:lnTo>
                  <a:lnTo>
                    <a:pt x="68" y="129"/>
                  </a:lnTo>
                  <a:lnTo>
                    <a:pt x="92" y="163"/>
                  </a:lnTo>
                  <a:lnTo>
                    <a:pt x="128" y="217"/>
                  </a:lnTo>
                  <a:lnTo>
                    <a:pt x="164" y="265"/>
                  </a:lnTo>
                  <a:lnTo>
                    <a:pt x="205" y="301"/>
                  </a:lnTo>
                  <a:lnTo>
                    <a:pt x="234" y="320"/>
                  </a:lnTo>
                  <a:lnTo>
                    <a:pt x="270" y="335"/>
                  </a:lnTo>
                  <a:lnTo>
                    <a:pt x="301" y="351"/>
                  </a:lnTo>
                  <a:lnTo>
                    <a:pt x="354" y="361"/>
                  </a:lnTo>
                  <a:lnTo>
                    <a:pt x="414" y="368"/>
                  </a:lnTo>
                  <a:lnTo>
                    <a:pt x="92" y="366"/>
                  </a:lnTo>
                  <a:lnTo>
                    <a:pt x="1" y="366"/>
                  </a:lnTo>
                  <a:close/>
                </a:path>
              </a:pathLst>
            </a:custGeom>
            <a:pattFill prst="ltUpDiag">
              <a:fgClr>
                <a:schemeClr val="tx1"/>
              </a:fgClr>
              <a:bgClr>
                <a:schemeClr val="bg1"/>
              </a:bgClr>
            </a:pattFill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4" name="Group 29"/>
          <p:cNvGrpSpPr>
            <a:grpSpLocks/>
          </p:cNvGrpSpPr>
          <p:nvPr/>
        </p:nvGrpSpPr>
        <p:grpSpPr bwMode="auto">
          <a:xfrm>
            <a:off x="1935163" y="2141538"/>
            <a:ext cx="6759575" cy="4402137"/>
            <a:chOff x="1219" y="1349"/>
            <a:chExt cx="4258" cy="2773"/>
          </a:xfrm>
        </p:grpSpPr>
        <p:graphicFrame>
          <p:nvGraphicFramePr>
            <p:cNvPr id="45068" name="Object 6"/>
            <p:cNvGraphicFramePr>
              <a:graphicFrameLocks noChangeAspect="1"/>
            </p:cNvGraphicFramePr>
            <p:nvPr/>
          </p:nvGraphicFramePr>
          <p:xfrm>
            <a:off x="1219" y="2016"/>
            <a:ext cx="527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583947" imgH="203112" progId="Equation.DSMT4">
                    <p:embed/>
                  </p:oleObj>
                </mc:Choice>
                <mc:Fallback>
                  <p:oleObj name="Equation" r:id="rId8" imgW="583947" imgH="203112" progId="Equation.DSMT4">
                    <p:embed/>
                    <p:pic>
                      <p:nvPicPr>
                        <p:cNvPr id="45068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19" y="2016"/>
                          <a:ext cx="527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5069" name="Rectangle 8"/>
            <p:cNvSpPr>
              <a:spLocks noChangeArrowheads="1"/>
            </p:cNvSpPr>
            <p:nvPr/>
          </p:nvSpPr>
          <p:spPr bwMode="auto">
            <a:xfrm>
              <a:off x="2691" y="1349"/>
              <a:ext cx="2786" cy="2773"/>
            </a:xfrm>
            <a:prstGeom prst="rect">
              <a:avLst/>
            </a:prstGeom>
            <a:noFill/>
            <a:ln w="28575">
              <a:solidFill>
                <a:srgbClr val="FF33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grpSp>
          <p:nvGrpSpPr>
            <p:cNvPr id="45070" name="Group 28"/>
            <p:cNvGrpSpPr>
              <a:grpSpLocks/>
            </p:cNvGrpSpPr>
            <p:nvPr/>
          </p:nvGrpSpPr>
          <p:grpSpPr bwMode="auto">
            <a:xfrm>
              <a:off x="1519" y="1607"/>
              <a:ext cx="1274" cy="455"/>
              <a:chOff x="1628" y="1607"/>
              <a:chExt cx="1187" cy="455"/>
            </a:xfrm>
          </p:grpSpPr>
          <p:sp>
            <p:nvSpPr>
              <p:cNvPr id="45071" name="Line 9"/>
              <p:cNvSpPr>
                <a:spLocks noChangeShapeType="1"/>
              </p:cNvSpPr>
              <p:nvPr/>
            </p:nvSpPr>
            <p:spPr bwMode="auto">
              <a:xfrm flipH="1">
                <a:off x="1628" y="1607"/>
                <a:ext cx="141" cy="417"/>
              </a:xfrm>
              <a:prstGeom prst="line">
                <a:avLst/>
              </a:prstGeom>
              <a:noFill/>
              <a:ln w="28575">
                <a:solidFill>
                  <a:srgbClr val="FF33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45072" name="Line 10"/>
              <p:cNvSpPr>
                <a:spLocks noChangeShapeType="1"/>
              </p:cNvSpPr>
              <p:nvPr/>
            </p:nvSpPr>
            <p:spPr bwMode="auto">
              <a:xfrm>
                <a:off x="1769" y="1607"/>
                <a:ext cx="1046" cy="455"/>
              </a:xfrm>
              <a:prstGeom prst="line">
                <a:avLst/>
              </a:prstGeom>
              <a:noFill/>
              <a:ln w="28575">
                <a:solidFill>
                  <a:srgbClr val="FF33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</p:grpSp>
      </p:grp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5845F7-69E3-4B64-9195-DA89909C74A2}" type="slidenum">
              <a:rPr lang="pt-BR"/>
              <a:pPr>
                <a:defRPr/>
              </a:pPr>
              <a:t>53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85" grpId="0" animBg="1"/>
      <p:bldP spid="105486" grpId="0" animBg="1"/>
      <p:bldP spid="105487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9"/>
          <p:cNvGrpSpPr>
            <a:grpSpLocks/>
          </p:cNvGrpSpPr>
          <p:nvPr/>
        </p:nvGrpSpPr>
        <p:grpSpPr bwMode="auto">
          <a:xfrm>
            <a:off x="3349625" y="2514600"/>
            <a:ext cx="2698750" cy="1316038"/>
            <a:chOff x="432" y="1584"/>
            <a:chExt cx="1700" cy="829"/>
          </a:xfrm>
        </p:grpSpPr>
        <p:grpSp>
          <p:nvGrpSpPr>
            <p:cNvPr id="46100" name="Group 10"/>
            <p:cNvGrpSpPr>
              <a:grpSpLocks/>
            </p:cNvGrpSpPr>
            <p:nvPr/>
          </p:nvGrpSpPr>
          <p:grpSpPr bwMode="auto">
            <a:xfrm>
              <a:off x="432" y="1584"/>
              <a:ext cx="1700" cy="829"/>
              <a:chOff x="3561" y="941"/>
              <a:chExt cx="1700" cy="829"/>
            </a:xfrm>
          </p:grpSpPr>
          <p:pic>
            <p:nvPicPr>
              <p:cNvPr id="46103" name="Picture 11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3296" t="9618" r="18376" b="11877"/>
              <a:stretch>
                <a:fillRect/>
              </a:stretch>
            </p:blipFill>
            <p:spPr bwMode="auto">
              <a:xfrm>
                <a:off x="3616" y="941"/>
                <a:ext cx="1579" cy="6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6104" name="Text Box 12"/>
              <p:cNvSpPr txBox="1">
                <a:spLocks noChangeArrowheads="1"/>
              </p:cNvSpPr>
              <p:nvPr/>
            </p:nvSpPr>
            <p:spPr bwMode="auto">
              <a:xfrm>
                <a:off x="3561" y="1540"/>
                <a:ext cx="25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>
                    <a:latin typeface="Times New Roman" pitchFamily="18" charset="0"/>
                  </a:rPr>
                  <a:t>-</a:t>
                </a:r>
                <a:r>
                  <a:rPr lang="pt-BR" altLang="pt-BR" sz="1600">
                    <a:latin typeface="Times New Roman" pitchFamily="18" charset="0"/>
                    <a:sym typeface="Symbol" pitchFamily="18" charset="2"/>
                  </a:rPr>
                  <a:t></a:t>
                </a:r>
                <a:endParaRPr lang="pt-BR" altLang="pt-BR" sz="1600">
                  <a:latin typeface="Times New Roman" pitchFamily="18" charset="0"/>
                </a:endParaRPr>
              </a:p>
            </p:txBody>
          </p:sp>
          <p:sp>
            <p:nvSpPr>
              <p:cNvPr id="46105" name="Text Box 13"/>
              <p:cNvSpPr txBox="1">
                <a:spLocks noChangeArrowheads="1"/>
              </p:cNvSpPr>
              <p:nvPr/>
            </p:nvSpPr>
            <p:spPr bwMode="auto">
              <a:xfrm>
                <a:off x="4982" y="1540"/>
                <a:ext cx="279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>
                    <a:latin typeface="Times New Roman" pitchFamily="18" charset="0"/>
                  </a:rPr>
                  <a:t>+</a:t>
                </a:r>
                <a:r>
                  <a:rPr lang="pt-BR" altLang="pt-BR" sz="1600">
                    <a:latin typeface="Times New Roman" pitchFamily="18" charset="0"/>
                    <a:sym typeface="Symbol" pitchFamily="18" charset="2"/>
                  </a:rPr>
                  <a:t></a:t>
                </a:r>
                <a:endParaRPr lang="pt-BR" altLang="pt-BR" sz="1600">
                  <a:latin typeface="Times New Roman" pitchFamily="18" charset="0"/>
                </a:endParaRPr>
              </a:p>
            </p:txBody>
          </p:sp>
          <p:sp>
            <p:nvSpPr>
              <p:cNvPr id="46106" name="Text Box 14"/>
              <p:cNvSpPr txBox="1">
                <a:spLocks noChangeArrowheads="1"/>
              </p:cNvSpPr>
              <p:nvPr/>
            </p:nvSpPr>
            <p:spPr bwMode="auto">
              <a:xfrm>
                <a:off x="4327" y="1558"/>
                <a:ext cx="18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>
                    <a:latin typeface="Times New Roman" pitchFamily="18" charset="0"/>
                  </a:rPr>
                  <a:t>0</a:t>
                </a:r>
              </a:p>
            </p:txBody>
          </p:sp>
        </p:grpSp>
        <p:sp>
          <p:nvSpPr>
            <p:cNvPr id="46101" name="Text Box 15"/>
            <p:cNvSpPr txBox="1">
              <a:spLocks noChangeArrowheads="1"/>
            </p:cNvSpPr>
            <p:nvPr/>
          </p:nvSpPr>
          <p:spPr bwMode="auto">
            <a:xfrm>
              <a:off x="1368" y="2199"/>
              <a:ext cx="25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400">
                  <a:latin typeface="Times New Roman" pitchFamily="18" charset="0"/>
                </a:rPr>
                <a:t>1,5</a:t>
              </a:r>
            </a:p>
          </p:txBody>
        </p:sp>
        <p:sp>
          <p:nvSpPr>
            <p:cNvPr id="46102" name="Freeform 16" descr="Diagonal para cima clara"/>
            <p:cNvSpPr>
              <a:spLocks/>
            </p:cNvSpPr>
            <p:nvPr/>
          </p:nvSpPr>
          <p:spPr bwMode="auto">
            <a:xfrm>
              <a:off x="1492" y="1859"/>
              <a:ext cx="414" cy="368"/>
            </a:xfrm>
            <a:custGeom>
              <a:avLst/>
              <a:gdLst>
                <a:gd name="T0" fmla="*/ 1 w 414"/>
                <a:gd name="T1" fmla="*/ 366 h 368"/>
                <a:gd name="T2" fmla="*/ 0 w 414"/>
                <a:gd name="T3" fmla="*/ 0 h 368"/>
                <a:gd name="T4" fmla="*/ 24 w 414"/>
                <a:gd name="T5" fmla="*/ 45 h 368"/>
                <a:gd name="T6" fmla="*/ 48 w 414"/>
                <a:gd name="T7" fmla="*/ 86 h 368"/>
                <a:gd name="T8" fmla="*/ 68 w 414"/>
                <a:gd name="T9" fmla="*/ 129 h 368"/>
                <a:gd name="T10" fmla="*/ 92 w 414"/>
                <a:gd name="T11" fmla="*/ 163 h 368"/>
                <a:gd name="T12" fmla="*/ 128 w 414"/>
                <a:gd name="T13" fmla="*/ 217 h 368"/>
                <a:gd name="T14" fmla="*/ 164 w 414"/>
                <a:gd name="T15" fmla="*/ 265 h 368"/>
                <a:gd name="T16" fmla="*/ 205 w 414"/>
                <a:gd name="T17" fmla="*/ 301 h 368"/>
                <a:gd name="T18" fmla="*/ 234 w 414"/>
                <a:gd name="T19" fmla="*/ 320 h 368"/>
                <a:gd name="T20" fmla="*/ 270 w 414"/>
                <a:gd name="T21" fmla="*/ 335 h 368"/>
                <a:gd name="T22" fmla="*/ 301 w 414"/>
                <a:gd name="T23" fmla="*/ 351 h 368"/>
                <a:gd name="T24" fmla="*/ 354 w 414"/>
                <a:gd name="T25" fmla="*/ 361 h 368"/>
                <a:gd name="T26" fmla="*/ 414 w 414"/>
                <a:gd name="T27" fmla="*/ 368 h 368"/>
                <a:gd name="T28" fmla="*/ 92 w 414"/>
                <a:gd name="T29" fmla="*/ 366 h 368"/>
                <a:gd name="T30" fmla="*/ 1 w 414"/>
                <a:gd name="T31" fmla="*/ 366 h 36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414"/>
                <a:gd name="T49" fmla="*/ 0 h 368"/>
                <a:gd name="T50" fmla="*/ 414 w 414"/>
                <a:gd name="T51" fmla="*/ 368 h 368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414" h="368">
                  <a:moveTo>
                    <a:pt x="1" y="366"/>
                  </a:moveTo>
                  <a:lnTo>
                    <a:pt x="0" y="0"/>
                  </a:lnTo>
                  <a:lnTo>
                    <a:pt x="24" y="45"/>
                  </a:lnTo>
                  <a:lnTo>
                    <a:pt x="48" y="86"/>
                  </a:lnTo>
                  <a:lnTo>
                    <a:pt x="68" y="129"/>
                  </a:lnTo>
                  <a:lnTo>
                    <a:pt x="92" y="163"/>
                  </a:lnTo>
                  <a:lnTo>
                    <a:pt x="128" y="217"/>
                  </a:lnTo>
                  <a:lnTo>
                    <a:pt x="164" y="265"/>
                  </a:lnTo>
                  <a:lnTo>
                    <a:pt x="205" y="301"/>
                  </a:lnTo>
                  <a:lnTo>
                    <a:pt x="234" y="320"/>
                  </a:lnTo>
                  <a:lnTo>
                    <a:pt x="270" y="335"/>
                  </a:lnTo>
                  <a:lnTo>
                    <a:pt x="301" y="351"/>
                  </a:lnTo>
                  <a:lnTo>
                    <a:pt x="354" y="361"/>
                  </a:lnTo>
                  <a:lnTo>
                    <a:pt x="414" y="368"/>
                  </a:lnTo>
                  <a:lnTo>
                    <a:pt x="92" y="366"/>
                  </a:lnTo>
                  <a:lnTo>
                    <a:pt x="1" y="366"/>
                  </a:lnTo>
                  <a:close/>
                </a:path>
              </a:pathLst>
            </a:custGeom>
            <a:pattFill prst="ltUpDiag">
              <a:fgClr>
                <a:schemeClr val="tx1"/>
              </a:fgClr>
              <a:bgClr>
                <a:schemeClr val="bg1"/>
              </a:bgClr>
            </a:pattFill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</p:grpSp>
      <p:sp>
        <p:nvSpPr>
          <p:cNvPr id="115738" name="Rectangle 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Distribuição Normal Padrão (Exemplos)</a:t>
            </a:r>
          </a:p>
        </p:txBody>
      </p:sp>
      <p:graphicFrame>
        <p:nvGraphicFramePr>
          <p:cNvPr id="46084" name="Object 27"/>
          <p:cNvGraphicFramePr>
            <a:graphicFrameLocks noChangeAspect="1"/>
          </p:cNvGraphicFramePr>
          <p:nvPr/>
        </p:nvGraphicFramePr>
        <p:xfrm>
          <a:off x="684213" y="1676400"/>
          <a:ext cx="1431925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02865" imgH="203112" progId="Equation.DSMT4">
                  <p:embed/>
                </p:oleObj>
              </mc:Choice>
              <mc:Fallback>
                <p:oleObj name="Equation" r:id="rId3" imgW="1002865" imgH="203112" progId="Equation.DSMT4">
                  <p:embed/>
                  <p:pic>
                    <p:nvPicPr>
                      <p:cNvPr id="46084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1676400"/>
                        <a:ext cx="1431925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740" name="Object 28"/>
          <p:cNvGraphicFramePr>
            <a:graphicFrameLocks noChangeAspect="1"/>
          </p:cNvGraphicFramePr>
          <p:nvPr/>
        </p:nvGraphicFramePr>
        <p:xfrm>
          <a:off x="684213" y="4343400"/>
          <a:ext cx="30861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159000" imgH="203200" progId="Equation.DSMT4">
                  <p:embed/>
                </p:oleObj>
              </mc:Choice>
              <mc:Fallback>
                <p:oleObj name="Equation" r:id="rId5" imgW="2159000" imgH="203200" progId="Equation.DSMT4">
                  <p:embed/>
                  <p:pic>
                    <p:nvPicPr>
                      <p:cNvPr id="11574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4343400"/>
                        <a:ext cx="3086100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5741" name="Text Box 29"/>
          <p:cNvSpPr txBox="1">
            <a:spLocks noChangeArrowheads="1"/>
          </p:cNvSpPr>
          <p:nvPr/>
        </p:nvSpPr>
        <p:spPr bwMode="auto">
          <a:xfrm>
            <a:off x="3217863" y="2860675"/>
            <a:ext cx="2984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>
                <a:latin typeface="Times New Roman" pitchFamily="18" charset="0"/>
              </a:rPr>
              <a:t>=</a:t>
            </a:r>
          </a:p>
        </p:txBody>
      </p:sp>
      <p:grpSp>
        <p:nvGrpSpPr>
          <p:cNvPr id="9" name="Group 34"/>
          <p:cNvGrpSpPr>
            <a:grpSpLocks/>
          </p:cNvGrpSpPr>
          <p:nvPr/>
        </p:nvGrpSpPr>
        <p:grpSpPr bwMode="auto">
          <a:xfrm>
            <a:off x="5140325" y="2827338"/>
            <a:ext cx="977900" cy="457200"/>
            <a:chOff x="4944" y="912"/>
            <a:chExt cx="616" cy="288"/>
          </a:xfrm>
        </p:grpSpPr>
        <p:sp>
          <p:nvSpPr>
            <p:cNvPr id="46098" name="Text Box 35"/>
            <p:cNvSpPr txBox="1">
              <a:spLocks noChangeArrowheads="1"/>
            </p:cNvSpPr>
            <p:nvPr/>
          </p:nvSpPr>
          <p:spPr bwMode="auto">
            <a:xfrm>
              <a:off x="5088" y="912"/>
              <a:ext cx="472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Times New Roman" pitchFamily="18" charset="0"/>
                </a:rPr>
                <a:t>0,0668</a:t>
              </a:r>
            </a:p>
          </p:txBody>
        </p:sp>
        <p:sp>
          <p:nvSpPr>
            <p:cNvPr id="46099" name="Line 36"/>
            <p:cNvSpPr>
              <a:spLocks noChangeShapeType="1"/>
            </p:cNvSpPr>
            <p:nvPr/>
          </p:nvSpPr>
          <p:spPr bwMode="auto">
            <a:xfrm flipV="1">
              <a:off x="4944" y="1056"/>
              <a:ext cx="144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</p:grp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68A28FB-C838-42C5-B04F-9049501595DA}" type="slidenum">
              <a:rPr lang="pt-BR"/>
              <a:pPr>
                <a:defRPr/>
              </a:pPr>
              <a:t>54</a:t>
            </a:fld>
            <a:endParaRPr lang="pt-BR"/>
          </a:p>
        </p:txBody>
      </p:sp>
      <p:grpSp>
        <p:nvGrpSpPr>
          <p:cNvPr id="7" name="Grupo 6"/>
          <p:cNvGrpSpPr>
            <a:grpSpLocks/>
          </p:cNvGrpSpPr>
          <p:nvPr/>
        </p:nvGrpSpPr>
        <p:grpSpPr bwMode="auto">
          <a:xfrm>
            <a:off x="698500" y="2497138"/>
            <a:ext cx="2698750" cy="1316037"/>
            <a:chOff x="698500" y="2496463"/>
            <a:chExt cx="2698750" cy="1316039"/>
          </a:xfrm>
        </p:grpSpPr>
        <p:grpSp>
          <p:nvGrpSpPr>
            <p:cNvPr id="46090" name="Group 18"/>
            <p:cNvGrpSpPr>
              <a:grpSpLocks/>
            </p:cNvGrpSpPr>
            <p:nvPr/>
          </p:nvGrpSpPr>
          <p:grpSpPr bwMode="auto">
            <a:xfrm>
              <a:off x="698500" y="2496463"/>
              <a:ext cx="2698750" cy="1316039"/>
              <a:chOff x="3417" y="2573"/>
              <a:chExt cx="1700" cy="829"/>
            </a:xfrm>
          </p:grpSpPr>
          <p:grpSp>
            <p:nvGrpSpPr>
              <p:cNvPr id="46092" name="Group 19"/>
              <p:cNvGrpSpPr>
                <a:grpSpLocks/>
              </p:cNvGrpSpPr>
              <p:nvPr/>
            </p:nvGrpSpPr>
            <p:grpSpPr bwMode="auto">
              <a:xfrm>
                <a:off x="3417" y="2573"/>
                <a:ext cx="1700" cy="829"/>
                <a:chOff x="3561" y="941"/>
                <a:chExt cx="1700" cy="829"/>
              </a:xfrm>
            </p:grpSpPr>
            <p:pic>
              <p:nvPicPr>
                <p:cNvPr id="46094" name="Picture 20"/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3296" t="9618" r="18376" b="11877"/>
                <a:stretch>
                  <a:fillRect/>
                </a:stretch>
              </p:blipFill>
              <p:spPr bwMode="auto">
                <a:xfrm>
                  <a:off x="3616" y="941"/>
                  <a:ext cx="1579" cy="66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46095" name="Text Box 21"/>
                <p:cNvSpPr txBox="1">
                  <a:spLocks noChangeArrowheads="1"/>
                </p:cNvSpPr>
                <p:nvPr/>
              </p:nvSpPr>
              <p:spPr bwMode="auto">
                <a:xfrm>
                  <a:off x="3561" y="1540"/>
                  <a:ext cx="250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600">
                      <a:latin typeface="Times New Roman" pitchFamily="18" charset="0"/>
                    </a:rPr>
                    <a:t>-</a:t>
                  </a:r>
                  <a:r>
                    <a:rPr lang="pt-BR" altLang="pt-BR" sz="1600">
                      <a:latin typeface="Times New Roman" pitchFamily="18" charset="0"/>
                      <a:sym typeface="Symbol" pitchFamily="18" charset="2"/>
                    </a:rPr>
                    <a:t></a:t>
                  </a:r>
                  <a:endParaRPr lang="pt-BR" altLang="pt-BR" sz="1600">
                    <a:latin typeface="Times New Roman" pitchFamily="18" charset="0"/>
                  </a:endParaRPr>
                </a:p>
              </p:txBody>
            </p:sp>
            <p:sp>
              <p:nvSpPr>
                <p:cNvPr id="46096" name="Text Box 22"/>
                <p:cNvSpPr txBox="1">
                  <a:spLocks noChangeArrowheads="1"/>
                </p:cNvSpPr>
                <p:nvPr/>
              </p:nvSpPr>
              <p:spPr bwMode="auto">
                <a:xfrm>
                  <a:off x="4982" y="1540"/>
                  <a:ext cx="279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600">
                      <a:latin typeface="Times New Roman" pitchFamily="18" charset="0"/>
                    </a:rPr>
                    <a:t>+</a:t>
                  </a:r>
                  <a:r>
                    <a:rPr lang="pt-BR" altLang="pt-BR" sz="1600">
                      <a:latin typeface="Times New Roman" pitchFamily="18" charset="0"/>
                      <a:sym typeface="Symbol" pitchFamily="18" charset="2"/>
                    </a:rPr>
                    <a:t></a:t>
                  </a:r>
                  <a:endParaRPr lang="pt-BR" altLang="pt-BR" sz="1600">
                    <a:latin typeface="Times New Roman" pitchFamily="18" charset="0"/>
                  </a:endParaRPr>
                </a:p>
              </p:txBody>
            </p:sp>
            <p:sp>
              <p:nvSpPr>
                <p:cNvPr id="46097" name="Text Box 23"/>
                <p:cNvSpPr txBox="1">
                  <a:spLocks noChangeArrowheads="1"/>
                </p:cNvSpPr>
                <p:nvPr/>
              </p:nvSpPr>
              <p:spPr bwMode="auto">
                <a:xfrm>
                  <a:off x="4327" y="1558"/>
                  <a:ext cx="180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600">
                      <a:latin typeface="Times New Roman" pitchFamily="18" charset="0"/>
                    </a:rPr>
                    <a:t>0</a:t>
                  </a:r>
                </a:p>
              </p:txBody>
            </p:sp>
          </p:grpSp>
          <p:sp>
            <p:nvSpPr>
              <p:cNvPr id="46093" name="Text Box 25"/>
              <p:cNvSpPr txBox="1">
                <a:spLocks noChangeArrowheads="1"/>
              </p:cNvSpPr>
              <p:nvPr/>
            </p:nvSpPr>
            <p:spPr bwMode="auto">
              <a:xfrm>
                <a:off x="3920" y="3186"/>
                <a:ext cx="295" cy="1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400">
                    <a:latin typeface="Times New Roman" pitchFamily="18" charset="0"/>
                  </a:rPr>
                  <a:t>-1,5</a:t>
                </a:r>
              </a:p>
            </p:txBody>
          </p:sp>
        </p:grpSp>
        <p:sp>
          <p:nvSpPr>
            <p:cNvPr id="46091" name="Freeform 16" descr="Diagonal para cima clara"/>
            <p:cNvSpPr>
              <a:spLocks/>
            </p:cNvSpPr>
            <p:nvPr/>
          </p:nvSpPr>
          <p:spPr bwMode="auto">
            <a:xfrm flipH="1">
              <a:off x="1073207" y="2941806"/>
              <a:ext cx="657225" cy="584201"/>
            </a:xfrm>
            <a:custGeom>
              <a:avLst/>
              <a:gdLst>
                <a:gd name="T0" fmla="*/ 2147483647 w 414"/>
                <a:gd name="T1" fmla="*/ 2147483647 h 368"/>
                <a:gd name="T2" fmla="*/ 0 w 414"/>
                <a:gd name="T3" fmla="*/ 0 h 368"/>
                <a:gd name="T4" fmla="*/ 2147483647 w 414"/>
                <a:gd name="T5" fmla="*/ 2147483647 h 368"/>
                <a:gd name="T6" fmla="*/ 2147483647 w 414"/>
                <a:gd name="T7" fmla="*/ 2147483647 h 368"/>
                <a:gd name="T8" fmla="*/ 2147483647 w 414"/>
                <a:gd name="T9" fmla="*/ 2147483647 h 368"/>
                <a:gd name="T10" fmla="*/ 2147483647 w 414"/>
                <a:gd name="T11" fmla="*/ 2147483647 h 368"/>
                <a:gd name="T12" fmla="*/ 2147483647 w 414"/>
                <a:gd name="T13" fmla="*/ 2147483647 h 368"/>
                <a:gd name="T14" fmla="*/ 2147483647 w 414"/>
                <a:gd name="T15" fmla="*/ 2147483647 h 368"/>
                <a:gd name="T16" fmla="*/ 2147483647 w 414"/>
                <a:gd name="T17" fmla="*/ 2147483647 h 368"/>
                <a:gd name="T18" fmla="*/ 2147483647 w 414"/>
                <a:gd name="T19" fmla="*/ 2147483647 h 368"/>
                <a:gd name="T20" fmla="*/ 2147483647 w 414"/>
                <a:gd name="T21" fmla="*/ 2147483647 h 368"/>
                <a:gd name="T22" fmla="*/ 2147483647 w 414"/>
                <a:gd name="T23" fmla="*/ 2147483647 h 368"/>
                <a:gd name="T24" fmla="*/ 2147483647 w 414"/>
                <a:gd name="T25" fmla="*/ 2147483647 h 368"/>
                <a:gd name="T26" fmla="*/ 2147483647 w 414"/>
                <a:gd name="T27" fmla="*/ 2147483647 h 368"/>
                <a:gd name="T28" fmla="*/ 2147483647 w 414"/>
                <a:gd name="T29" fmla="*/ 2147483647 h 368"/>
                <a:gd name="T30" fmla="*/ 2147483647 w 414"/>
                <a:gd name="T31" fmla="*/ 2147483647 h 36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414"/>
                <a:gd name="T49" fmla="*/ 0 h 368"/>
                <a:gd name="T50" fmla="*/ 414 w 414"/>
                <a:gd name="T51" fmla="*/ 368 h 368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414" h="368">
                  <a:moveTo>
                    <a:pt x="1" y="366"/>
                  </a:moveTo>
                  <a:lnTo>
                    <a:pt x="0" y="0"/>
                  </a:lnTo>
                  <a:lnTo>
                    <a:pt x="24" y="45"/>
                  </a:lnTo>
                  <a:lnTo>
                    <a:pt x="48" y="86"/>
                  </a:lnTo>
                  <a:lnTo>
                    <a:pt x="68" y="129"/>
                  </a:lnTo>
                  <a:lnTo>
                    <a:pt x="92" y="163"/>
                  </a:lnTo>
                  <a:lnTo>
                    <a:pt x="128" y="217"/>
                  </a:lnTo>
                  <a:lnTo>
                    <a:pt x="164" y="265"/>
                  </a:lnTo>
                  <a:lnTo>
                    <a:pt x="205" y="301"/>
                  </a:lnTo>
                  <a:lnTo>
                    <a:pt x="234" y="320"/>
                  </a:lnTo>
                  <a:lnTo>
                    <a:pt x="270" y="335"/>
                  </a:lnTo>
                  <a:lnTo>
                    <a:pt x="301" y="351"/>
                  </a:lnTo>
                  <a:lnTo>
                    <a:pt x="354" y="361"/>
                  </a:lnTo>
                  <a:lnTo>
                    <a:pt x="414" y="368"/>
                  </a:lnTo>
                  <a:lnTo>
                    <a:pt x="92" y="366"/>
                  </a:lnTo>
                  <a:lnTo>
                    <a:pt x="1" y="366"/>
                  </a:lnTo>
                  <a:close/>
                </a:path>
              </a:pathLst>
            </a:custGeom>
            <a:pattFill prst="ltUpDiag">
              <a:fgClr>
                <a:schemeClr val="tx1"/>
              </a:fgClr>
              <a:bgClr>
                <a:schemeClr val="bg1"/>
              </a:bgClr>
            </a:pattFill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741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9"/>
          <p:cNvGrpSpPr>
            <a:grpSpLocks/>
          </p:cNvGrpSpPr>
          <p:nvPr/>
        </p:nvGrpSpPr>
        <p:grpSpPr bwMode="auto">
          <a:xfrm>
            <a:off x="6011863" y="2514600"/>
            <a:ext cx="2698750" cy="1316038"/>
            <a:chOff x="432" y="1584"/>
            <a:chExt cx="1700" cy="829"/>
          </a:xfrm>
        </p:grpSpPr>
        <p:grpSp>
          <p:nvGrpSpPr>
            <p:cNvPr id="47134" name="Group 10"/>
            <p:cNvGrpSpPr>
              <a:grpSpLocks/>
            </p:cNvGrpSpPr>
            <p:nvPr/>
          </p:nvGrpSpPr>
          <p:grpSpPr bwMode="auto">
            <a:xfrm>
              <a:off x="432" y="1584"/>
              <a:ext cx="1700" cy="829"/>
              <a:chOff x="3561" y="941"/>
              <a:chExt cx="1700" cy="829"/>
            </a:xfrm>
          </p:grpSpPr>
          <p:pic>
            <p:nvPicPr>
              <p:cNvPr id="47137" name="Picture 11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3296" t="9618" r="18376" b="11877"/>
              <a:stretch>
                <a:fillRect/>
              </a:stretch>
            </p:blipFill>
            <p:spPr bwMode="auto">
              <a:xfrm>
                <a:off x="3616" y="941"/>
                <a:ext cx="1579" cy="6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7138" name="Text Box 12"/>
              <p:cNvSpPr txBox="1">
                <a:spLocks noChangeArrowheads="1"/>
              </p:cNvSpPr>
              <p:nvPr/>
            </p:nvSpPr>
            <p:spPr bwMode="auto">
              <a:xfrm>
                <a:off x="3561" y="1540"/>
                <a:ext cx="25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>
                    <a:latin typeface="Times New Roman" pitchFamily="18" charset="0"/>
                  </a:rPr>
                  <a:t>-</a:t>
                </a:r>
                <a:r>
                  <a:rPr lang="pt-BR" altLang="pt-BR" sz="1600">
                    <a:latin typeface="Times New Roman" pitchFamily="18" charset="0"/>
                    <a:sym typeface="Symbol" pitchFamily="18" charset="2"/>
                  </a:rPr>
                  <a:t></a:t>
                </a:r>
                <a:endParaRPr lang="pt-BR" altLang="pt-BR" sz="1600">
                  <a:latin typeface="Times New Roman" pitchFamily="18" charset="0"/>
                </a:endParaRPr>
              </a:p>
            </p:txBody>
          </p:sp>
          <p:sp>
            <p:nvSpPr>
              <p:cNvPr id="47139" name="Text Box 13"/>
              <p:cNvSpPr txBox="1">
                <a:spLocks noChangeArrowheads="1"/>
              </p:cNvSpPr>
              <p:nvPr/>
            </p:nvSpPr>
            <p:spPr bwMode="auto">
              <a:xfrm>
                <a:off x="4982" y="1540"/>
                <a:ext cx="279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>
                    <a:latin typeface="Times New Roman" pitchFamily="18" charset="0"/>
                  </a:rPr>
                  <a:t>+</a:t>
                </a:r>
                <a:r>
                  <a:rPr lang="pt-BR" altLang="pt-BR" sz="1600">
                    <a:latin typeface="Times New Roman" pitchFamily="18" charset="0"/>
                    <a:sym typeface="Symbol" pitchFamily="18" charset="2"/>
                  </a:rPr>
                  <a:t></a:t>
                </a:r>
                <a:endParaRPr lang="pt-BR" altLang="pt-BR" sz="1600">
                  <a:latin typeface="Times New Roman" pitchFamily="18" charset="0"/>
                </a:endParaRPr>
              </a:p>
            </p:txBody>
          </p:sp>
          <p:sp>
            <p:nvSpPr>
              <p:cNvPr id="47140" name="Text Box 14"/>
              <p:cNvSpPr txBox="1">
                <a:spLocks noChangeArrowheads="1"/>
              </p:cNvSpPr>
              <p:nvPr/>
            </p:nvSpPr>
            <p:spPr bwMode="auto">
              <a:xfrm>
                <a:off x="4327" y="1558"/>
                <a:ext cx="18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>
                    <a:latin typeface="Times New Roman" pitchFamily="18" charset="0"/>
                  </a:rPr>
                  <a:t>0</a:t>
                </a:r>
              </a:p>
            </p:txBody>
          </p:sp>
        </p:grpSp>
        <p:sp>
          <p:nvSpPr>
            <p:cNvPr id="47135" name="Text Box 15"/>
            <p:cNvSpPr txBox="1">
              <a:spLocks noChangeArrowheads="1"/>
            </p:cNvSpPr>
            <p:nvPr/>
          </p:nvSpPr>
          <p:spPr bwMode="auto">
            <a:xfrm>
              <a:off x="1368" y="2199"/>
              <a:ext cx="25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400">
                  <a:latin typeface="Times New Roman" pitchFamily="18" charset="0"/>
                </a:rPr>
                <a:t>1,5</a:t>
              </a:r>
            </a:p>
          </p:txBody>
        </p:sp>
        <p:sp>
          <p:nvSpPr>
            <p:cNvPr id="47136" name="Freeform 16" descr="Diagonal para cima clara"/>
            <p:cNvSpPr>
              <a:spLocks/>
            </p:cNvSpPr>
            <p:nvPr/>
          </p:nvSpPr>
          <p:spPr bwMode="auto">
            <a:xfrm>
              <a:off x="1492" y="1859"/>
              <a:ext cx="414" cy="368"/>
            </a:xfrm>
            <a:custGeom>
              <a:avLst/>
              <a:gdLst>
                <a:gd name="T0" fmla="*/ 1 w 414"/>
                <a:gd name="T1" fmla="*/ 366 h 368"/>
                <a:gd name="T2" fmla="*/ 0 w 414"/>
                <a:gd name="T3" fmla="*/ 0 h 368"/>
                <a:gd name="T4" fmla="*/ 24 w 414"/>
                <a:gd name="T5" fmla="*/ 45 h 368"/>
                <a:gd name="T6" fmla="*/ 48 w 414"/>
                <a:gd name="T7" fmla="*/ 86 h 368"/>
                <a:gd name="T8" fmla="*/ 68 w 414"/>
                <a:gd name="T9" fmla="*/ 129 h 368"/>
                <a:gd name="T10" fmla="*/ 92 w 414"/>
                <a:gd name="T11" fmla="*/ 163 h 368"/>
                <a:gd name="T12" fmla="*/ 128 w 414"/>
                <a:gd name="T13" fmla="*/ 217 h 368"/>
                <a:gd name="T14" fmla="*/ 164 w 414"/>
                <a:gd name="T15" fmla="*/ 265 h 368"/>
                <a:gd name="T16" fmla="*/ 205 w 414"/>
                <a:gd name="T17" fmla="*/ 301 h 368"/>
                <a:gd name="T18" fmla="*/ 234 w 414"/>
                <a:gd name="T19" fmla="*/ 320 h 368"/>
                <a:gd name="T20" fmla="*/ 270 w 414"/>
                <a:gd name="T21" fmla="*/ 335 h 368"/>
                <a:gd name="T22" fmla="*/ 301 w 414"/>
                <a:gd name="T23" fmla="*/ 351 h 368"/>
                <a:gd name="T24" fmla="*/ 354 w 414"/>
                <a:gd name="T25" fmla="*/ 361 h 368"/>
                <a:gd name="T26" fmla="*/ 414 w 414"/>
                <a:gd name="T27" fmla="*/ 368 h 368"/>
                <a:gd name="T28" fmla="*/ 92 w 414"/>
                <a:gd name="T29" fmla="*/ 366 h 368"/>
                <a:gd name="T30" fmla="*/ 1 w 414"/>
                <a:gd name="T31" fmla="*/ 366 h 36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414"/>
                <a:gd name="T49" fmla="*/ 0 h 368"/>
                <a:gd name="T50" fmla="*/ 414 w 414"/>
                <a:gd name="T51" fmla="*/ 368 h 368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414" h="368">
                  <a:moveTo>
                    <a:pt x="1" y="366"/>
                  </a:moveTo>
                  <a:lnTo>
                    <a:pt x="0" y="0"/>
                  </a:lnTo>
                  <a:lnTo>
                    <a:pt x="24" y="45"/>
                  </a:lnTo>
                  <a:lnTo>
                    <a:pt x="48" y="86"/>
                  </a:lnTo>
                  <a:lnTo>
                    <a:pt x="68" y="129"/>
                  </a:lnTo>
                  <a:lnTo>
                    <a:pt x="92" y="163"/>
                  </a:lnTo>
                  <a:lnTo>
                    <a:pt x="128" y="217"/>
                  </a:lnTo>
                  <a:lnTo>
                    <a:pt x="164" y="265"/>
                  </a:lnTo>
                  <a:lnTo>
                    <a:pt x="205" y="301"/>
                  </a:lnTo>
                  <a:lnTo>
                    <a:pt x="234" y="320"/>
                  </a:lnTo>
                  <a:lnTo>
                    <a:pt x="270" y="335"/>
                  </a:lnTo>
                  <a:lnTo>
                    <a:pt x="301" y="351"/>
                  </a:lnTo>
                  <a:lnTo>
                    <a:pt x="354" y="361"/>
                  </a:lnTo>
                  <a:lnTo>
                    <a:pt x="414" y="368"/>
                  </a:lnTo>
                  <a:lnTo>
                    <a:pt x="92" y="366"/>
                  </a:lnTo>
                  <a:lnTo>
                    <a:pt x="1" y="366"/>
                  </a:lnTo>
                  <a:close/>
                </a:path>
              </a:pathLst>
            </a:custGeom>
            <a:pattFill prst="ltUpDiag">
              <a:fgClr>
                <a:schemeClr val="tx1"/>
              </a:fgClr>
              <a:bgClr>
                <a:schemeClr val="bg1"/>
              </a:bgClr>
            </a:pattFill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46" name="Group 18"/>
          <p:cNvGrpSpPr>
            <a:grpSpLocks/>
          </p:cNvGrpSpPr>
          <p:nvPr/>
        </p:nvGrpSpPr>
        <p:grpSpPr bwMode="auto">
          <a:xfrm>
            <a:off x="698500" y="2497138"/>
            <a:ext cx="2698750" cy="1316037"/>
            <a:chOff x="3417" y="2573"/>
            <a:chExt cx="1700" cy="829"/>
          </a:xfrm>
        </p:grpSpPr>
        <p:grpSp>
          <p:nvGrpSpPr>
            <p:cNvPr id="47127" name="Group 19"/>
            <p:cNvGrpSpPr>
              <a:grpSpLocks/>
            </p:cNvGrpSpPr>
            <p:nvPr/>
          </p:nvGrpSpPr>
          <p:grpSpPr bwMode="auto">
            <a:xfrm>
              <a:off x="3417" y="2573"/>
              <a:ext cx="1700" cy="829"/>
              <a:chOff x="3561" y="941"/>
              <a:chExt cx="1700" cy="829"/>
            </a:xfrm>
          </p:grpSpPr>
          <p:pic>
            <p:nvPicPr>
              <p:cNvPr id="47130" name="Picture 20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3296" t="9618" r="18376" b="11877"/>
              <a:stretch>
                <a:fillRect/>
              </a:stretch>
            </p:blipFill>
            <p:spPr bwMode="auto">
              <a:xfrm>
                <a:off x="3616" y="941"/>
                <a:ext cx="1579" cy="6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7131" name="Text Box 21"/>
              <p:cNvSpPr txBox="1">
                <a:spLocks noChangeArrowheads="1"/>
              </p:cNvSpPr>
              <p:nvPr/>
            </p:nvSpPr>
            <p:spPr bwMode="auto">
              <a:xfrm>
                <a:off x="3561" y="1540"/>
                <a:ext cx="25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>
                    <a:latin typeface="Times New Roman" pitchFamily="18" charset="0"/>
                  </a:rPr>
                  <a:t>-</a:t>
                </a:r>
                <a:r>
                  <a:rPr lang="pt-BR" altLang="pt-BR" sz="1600">
                    <a:latin typeface="Times New Roman" pitchFamily="18" charset="0"/>
                    <a:sym typeface="Symbol" pitchFamily="18" charset="2"/>
                  </a:rPr>
                  <a:t></a:t>
                </a:r>
                <a:endParaRPr lang="pt-BR" altLang="pt-BR" sz="1600">
                  <a:latin typeface="Times New Roman" pitchFamily="18" charset="0"/>
                </a:endParaRPr>
              </a:p>
            </p:txBody>
          </p:sp>
          <p:sp>
            <p:nvSpPr>
              <p:cNvPr id="47132" name="Text Box 22"/>
              <p:cNvSpPr txBox="1">
                <a:spLocks noChangeArrowheads="1"/>
              </p:cNvSpPr>
              <p:nvPr/>
            </p:nvSpPr>
            <p:spPr bwMode="auto">
              <a:xfrm>
                <a:off x="4982" y="1540"/>
                <a:ext cx="279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>
                    <a:latin typeface="Times New Roman" pitchFamily="18" charset="0"/>
                  </a:rPr>
                  <a:t>+</a:t>
                </a:r>
                <a:r>
                  <a:rPr lang="pt-BR" altLang="pt-BR" sz="1600">
                    <a:latin typeface="Times New Roman" pitchFamily="18" charset="0"/>
                    <a:sym typeface="Symbol" pitchFamily="18" charset="2"/>
                  </a:rPr>
                  <a:t></a:t>
                </a:r>
                <a:endParaRPr lang="pt-BR" altLang="pt-BR" sz="1600">
                  <a:latin typeface="Times New Roman" pitchFamily="18" charset="0"/>
                </a:endParaRPr>
              </a:p>
            </p:txBody>
          </p:sp>
          <p:sp>
            <p:nvSpPr>
              <p:cNvPr id="47133" name="Text Box 23"/>
              <p:cNvSpPr txBox="1">
                <a:spLocks noChangeArrowheads="1"/>
              </p:cNvSpPr>
              <p:nvPr/>
            </p:nvSpPr>
            <p:spPr bwMode="auto">
              <a:xfrm>
                <a:off x="4327" y="1558"/>
                <a:ext cx="18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>
                    <a:latin typeface="Times New Roman" pitchFamily="18" charset="0"/>
                  </a:rPr>
                  <a:t>0</a:t>
                </a:r>
              </a:p>
            </p:txBody>
          </p:sp>
        </p:grpSp>
        <p:sp>
          <p:nvSpPr>
            <p:cNvPr id="47128" name="Freeform 24" descr="Diagonal para cima clara"/>
            <p:cNvSpPr>
              <a:spLocks/>
            </p:cNvSpPr>
            <p:nvPr/>
          </p:nvSpPr>
          <p:spPr bwMode="auto">
            <a:xfrm>
              <a:off x="4272" y="2592"/>
              <a:ext cx="205" cy="629"/>
            </a:xfrm>
            <a:custGeom>
              <a:avLst/>
              <a:gdLst>
                <a:gd name="T0" fmla="*/ 1 w 205"/>
                <a:gd name="T1" fmla="*/ 703 h 622"/>
                <a:gd name="T2" fmla="*/ 0 w 205"/>
                <a:gd name="T3" fmla="*/ 0 h 622"/>
                <a:gd name="T4" fmla="*/ 33 w 205"/>
                <a:gd name="T5" fmla="*/ 8 h 622"/>
                <a:gd name="T6" fmla="*/ 59 w 205"/>
                <a:gd name="T7" fmla="*/ 26 h 622"/>
                <a:gd name="T8" fmla="*/ 81 w 205"/>
                <a:gd name="T9" fmla="*/ 61 h 622"/>
                <a:gd name="T10" fmla="*/ 104 w 205"/>
                <a:gd name="T11" fmla="*/ 89 h 622"/>
                <a:gd name="T12" fmla="*/ 133 w 205"/>
                <a:gd name="T13" fmla="*/ 142 h 622"/>
                <a:gd name="T14" fmla="*/ 158 w 205"/>
                <a:gd name="T15" fmla="*/ 191 h 622"/>
                <a:gd name="T16" fmla="*/ 182 w 205"/>
                <a:gd name="T17" fmla="*/ 247 h 622"/>
                <a:gd name="T18" fmla="*/ 205 w 205"/>
                <a:gd name="T19" fmla="*/ 289 h 622"/>
                <a:gd name="T20" fmla="*/ 204 w 205"/>
                <a:gd name="T21" fmla="*/ 703 h 622"/>
                <a:gd name="T22" fmla="*/ 1 w 205"/>
                <a:gd name="T23" fmla="*/ 703 h 62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205"/>
                <a:gd name="T37" fmla="*/ 0 h 622"/>
                <a:gd name="T38" fmla="*/ 205 w 205"/>
                <a:gd name="T39" fmla="*/ 622 h 622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205" h="622">
                  <a:moveTo>
                    <a:pt x="1" y="622"/>
                  </a:moveTo>
                  <a:lnTo>
                    <a:pt x="0" y="0"/>
                  </a:lnTo>
                  <a:lnTo>
                    <a:pt x="33" y="8"/>
                  </a:lnTo>
                  <a:lnTo>
                    <a:pt x="59" y="26"/>
                  </a:lnTo>
                  <a:lnTo>
                    <a:pt x="81" y="50"/>
                  </a:lnTo>
                  <a:lnTo>
                    <a:pt x="104" y="78"/>
                  </a:lnTo>
                  <a:lnTo>
                    <a:pt x="133" y="127"/>
                  </a:lnTo>
                  <a:lnTo>
                    <a:pt x="158" y="169"/>
                  </a:lnTo>
                  <a:lnTo>
                    <a:pt x="182" y="217"/>
                  </a:lnTo>
                  <a:lnTo>
                    <a:pt x="205" y="256"/>
                  </a:lnTo>
                  <a:lnTo>
                    <a:pt x="204" y="622"/>
                  </a:lnTo>
                  <a:lnTo>
                    <a:pt x="1" y="622"/>
                  </a:lnTo>
                  <a:close/>
                </a:path>
              </a:pathLst>
            </a:custGeom>
            <a:pattFill prst="ltUpDiag">
              <a:fgClr>
                <a:schemeClr val="tx1"/>
              </a:fgClr>
              <a:bgClr>
                <a:schemeClr val="bg1"/>
              </a:bgClr>
            </a:pattFill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47129" name="Text Box 25"/>
            <p:cNvSpPr txBox="1">
              <a:spLocks noChangeArrowheads="1"/>
            </p:cNvSpPr>
            <p:nvPr/>
          </p:nvSpPr>
          <p:spPr bwMode="auto">
            <a:xfrm>
              <a:off x="4344" y="3186"/>
              <a:ext cx="25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400">
                  <a:latin typeface="Times New Roman" pitchFamily="18" charset="0"/>
                </a:rPr>
                <a:t>1,5</a:t>
              </a:r>
            </a:p>
          </p:txBody>
        </p:sp>
      </p:grp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3352800" y="2514600"/>
            <a:ext cx="2698750" cy="1316038"/>
            <a:chOff x="3849" y="3341"/>
            <a:chExt cx="1700" cy="829"/>
          </a:xfrm>
        </p:grpSpPr>
        <p:grpSp>
          <p:nvGrpSpPr>
            <p:cNvPr id="47121" name="Group 3"/>
            <p:cNvGrpSpPr>
              <a:grpSpLocks/>
            </p:cNvGrpSpPr>
            <p:nvPr/>
          </p:nvGrpSpPr>
          <p:grpSpPr bwMode="auto">
            <a:xfrm>
              <a:off x="3849" y="3341"/>
              <a:ext cx="1700" cy="829"/>
              <a:chOff x="3561" y="941"/>
              <a:chExt cx="1700" cy="829"/>
            </a:xfrm>
          </p:grpSpPr>
          <p:pic>
            <p:nvPicPr>
              <p:cNvPr id="47123" name="Picture 4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3296" t="9618" r="18376" b="11877"/>
              <a:stretch>
                <a:fillRect/>
              </a:stretch>
            </p:blipFill>
            <p:spPr bwMode="auto">
              <a:xfrm>
                <a:off x="3616" y="941"/>
                <a:ext cx="1579" cy="6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7124" name="Text Box 5"/>
              <p:cNvSpPr txBox="1">
                <a:spLocks noChangeArrowheads="1"/>
              </p:cNvSpPr>
              <p:nvPr/>
            </p:nvSpPr>
            <p:spPr bwMode="auto">
              <a:xfrm>
                <a:off x="3561" y="1540"/>
                <a:ext cx="25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>
                    <a:latin typeface="Times New Roman" pitchFamily="18" charset="0"/>
                  </a:rPr>
                  <a:t>-</a:t>
                </a:r>
                <a:r>
                  <a:rPr lang="pt-BR" altLang="pt-BR" sz="1600">
                    <a:latin typeface="Times New Roman" pitchFamily="18" charset="0"/>
                    <a:sym typeface="Symbol" pitchFamily="18" charset="2"/>
                  </a:rPr>
                  <a:t></a:t>
                </a:r>
                <a:endParaRPr lang="pt-BR" altLang="pt-BR" sz="1600">
                  <a:latin typeface="Times New Roman" pitchFamily="18" charset="0"/>
                </a:endParaRPr>
              </a:p>
            </p:txBody>
          </p:sp>
          <p:sp>
            <p:nvSpPr>
              <p:cNvPr id="47125" name="Text Box 6"/>
              <p:cNvSpPr txBox="1">
                <a:spLocks noChangeArrowheads="1"/>
              </p:cNvSpPr>
              <p:nvPr/>
            </p:nvSpPr>
            <p:spPr bwMode="auto">
              <a:xfrm>
                <a:off x="4982" y="1540"/>
                <a:ext cx="279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>
                    <a:latin typeface="Times New Roman" pitchFamily="18" charset="0"/>
                  </a:rPr>
                  <a:t>+</a:t>
                </a:r>
                <a:r>
                  <a:rPr lang="pt-BR" altLang="pt-BR" sz="1600">
                    <a:latin typeface="Times New Roman" pitchFamily="18" charset="0"/>
                    <a:sym typeface="Symbol" pitchFamily="18" charset="2"/>
                  </a:rPr>
                  <a:t></a:t>
                </a:r>
                <a:endParaRPr lang="pt-BR" altLang="pt-BR" sz="1600">
                  <a:latin typeface="Times New Roman" pitchFamily="18" charset="0"/>
                </a:endParaRPr>
              </a:p>
            </p:txBody>
          </p:sp>
          <p:sp>
            <p:nvSpPr>
              <p:cNvPr id="47126" name="Text Box 7"/>
              <p:cNvSpPr txBox="1">
                <a:spLocks noChangeArrowheads="1"/>
              </p:cNvSpPr>
              <p:nvPr/>
            </p:nvSpPr>
            <p:spPr bwMode="auto">
              <a:xfrm>
                <a:off x="4327" y="1558"/>
                <a:ext cx="18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>
                    <a:latin typeface="Times New Roman" pitchFamily="18" charset="0"/>
                  </a:rPr>
                  <a:t>0</a:t>
                </a:r>
              </a:p>
            </p:txBody>
          </p:sp>
        </p:grpSp>
        <p:sp>
          <p:nvSpPr>
            <p:cNvPr id="47122" name="Freeform 8" descr="Diagonal para cima clara"/>
            <p:cNvSpPr>
              <a:spLocks/>
            </p:cNvSpPr>
            <p:nvPr/>
          </p:nvSpPr>
          <p:spPr bwMode="auto">
            <a:xfrm>
              <a:off x="4704" y="3360"/>
              <a:ext cx="619" cy="627"/>
            </a:xfrm>
            <a:custGeom>
              <a:avLst/>
              <a:gdLst>
                <a:gd name="T0" fmla="*/ 1 w 619"/>
                <a:gd name="T1" fmla="*/ 655 h 624"/>
                <a:gd name="T2" fmla="*/ 0 w 619"/>
                <a:gd name="T3" fmla="*/ 0 h 624"/>
                <a:gd name="T4" fmla="*/ 33 w 619"/>
                <a:gd name="T5" fmla="*/ 8 h 624"/>
                <a:gd name="T6" fmla="*/ 59 w 619"/>
                <a:gd name="T7" fmla="*/ 26 h 624"/>
                <a:gd name="T8" fmla="*/ 81 w 619"/>
                <a:gd name="T9" fmla="*/ 50 h 624"/>
                <a:gd name="T10" fmla="*/ 104 w 619"/>
                <a:gd name="T11" fmla="*/ 78 h 624"/>
                <a:gd name="T12" fmla="*/ 133 w 619"/>
                <a:gd name="T13" fmla="*/ 138 h 624"/>
                <a:gd name="T14" fmla="*/ 158 w 619"/>
                <a:gd name="T15" fmla="*/ 180 h 624"/>
                <a:gd name="T16" fmla="*/ 182 w 619"/>
                <a:gd name="T17" fmla="*/ 228 h 624"/>
                <a:gd name="T18" fmla="*/ 205 w 619"/>
                <a:gd name="T19" fmla="*/ 267 h 624"/>
                <a:gd name="T20" fmla="*/ 229 w 619"/>
                <a:gd name="T21" fmla="*/ 312 h 624"/>
                <a:gd name="T22" fmla="*/ 253 w 619"/>
                <a:gd name="T23" fmla="*/ 364 h 624"/>
                <a:gd name="T24" fmla="*/ 273 w 619"/>
                <a:gd name="T25" fmla="*/ 407 h 624"/>
                <a:gd name="T26" fmla="*/ 297 w 619"/>
                <a:gd name="T27" fmla="*/ 441 h 624"/>
                <a:gd name="T28" fmla="*/ 333 w 619"/>
                <a:gd name="T29" fmla="*/ 495 h 624"/>
                <a:gd name="T30" fmla="*/ 369 w 619"/>
                <a:gd name="T31" fmla="*/ 554 h 624"/>
                <a:gd name="T32" fmla="*/ 410 w 619"/>
                <a:gd name="T33" fmla="*/ 590 h 624"/>
                <a:gd name="T34" fmla="*/ 439 w 619"/>
                <a:gd name="T35" fmla="*/ 609 h 624"/>
                <a:gd name="T36" fmla="*/ 475 w 619"/>
                <a:gd name="T37" fmla="*/ 624 h 624"/>
                <a:gd name="T38" fmla="*/ 506 w 619"/>
                <a:gd name="T39" fmla="*/ 640 h 624"/>
                <a:gd name="T40" fmla="*/ 559 w 619"/>
                <a:gd name="T41" fmla="*/ 650 h 624"/>
                <a:gd name="T42" fmla="*/ 619 w 619"/>
                <a:gd name="T43" fmla="*/ 657 h 624"/>
                <a:gd name="T44" fmla="*/ 297 w 619"/>
                <a:gd name="T45" fmla="*/ 655 h 624"/>
                <a:gd name="T46" fmla="*/ 1 w 619"/>
                <a:gd name="T47" fmla="*/ 655 h 624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619"/>
                <a:gd name="T73" fmla="*/ 0 h 624"/>
                <a:gd name="T74" fmla="*/ 619 w 619"/>
                <a:gd name="T75" fmla="*/ 624 h 624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619" h="624">
                  <a:moveTo>
                    <a:pt x="1" y="622"/>
                  </a:moveTo>
                  <a:lnTo>
                    <a:pt x="0" y="0"/>
                  </a:lnTo>
                  <a:lnTo>
                    <a:pt x="33" y="8"/>
                  </a:lnTo>
                  <a:lnTo>
                    <a:pt x="59" y="26"/>
                  </a:lnTo>
                  <a:lnTo>
                    <a:pt x="81" y="50"/>
                  </a:lnTo>
                  <a:lnTo>
                    <a:pt x="104" y="78"/>
                  </a:lnTo>
                  <a:lnTo>
                    <a:pt x="133" y="127"/>
                  </a:lnTo>
                  <a:lnTo>
                    <a:pt x="158" y="169"/>
                  </a:lnTo>
                  <a:lnTo>
                    <a:pt x="182" y="217"/>
                  </a:lnTo>
                  <a:lnTo>
                    <a:pt x="205" y="256"/>
                  </a:lnTo>
                  <a:lnTo>
                    <a:pt x="229" y="301"/>
                  </a:lnTo>
                  <a:lnTo>
                    <a:pt x="253" y="342"/>
                  </a:lnTo>
                  <a:lnTo>
                    <a:pt x="273" y="385"/>
                  </a:lnTo>
                  <a:lnTo>
                    <a:pt x="297" y="419"/>
                  </a:lnTo>
                  <a:lnTo>
                    <a:pt x="333" y="473"/>
                  </a:lnTo>
                  <a:lnTo>
                    <a:pt x="369" y="521"/>
                  </a:lnTo>
                  <a:lnTo>
                    <a:pt x="410" y="557"/>
                  </a:lnTo>
                  <a:lnTo>
                    <a:pt x="439" y="576"/>
                  </a:lnTo>
                  <a:lnTo>
                    <a:pt x="475" y="591"/>
                  </a:lnTo>
                  <a:lnTo>
                    <a:pt x="506" y="607"/>
                  </a:lnTo>
                  <a:lnTo>
                    <a:pt x="559" y="617"/>
                  </a:lnTo>
                  <a:lnTo>
                    <a:pt x="619" y="624"/>
                  </a:lnTo>
                  <a:lnTo>
                    <a:pt x="297" y="622"/>
                  </a:lnTo>
                  <a:lnTo>
                    <a:pt x="1" y="622"/>
                  </a:lnTo>
                  <a:close/>
                </a:path>
              </a:pathLst>
            </a:custGeom>
            <a:pattFill prst="ltUpDiag">
              <a:fgClr>
                <a:schemeClr val="tx1"/>
              </a:fgClr>
              <a:bgClr>
                <a:schemeClr val="bg1"/>
              </a:bgClr>
            </a:pattFill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</p:grpSp>
      <p:sp>
        <p:nvSpPr>
          <p:cNvPr id="115738" name="Rectangle 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Distribuição Normal Padrão (Exemplos)</a:t>
            </a:r>
          </a:p>
        </p:txBody>
      </p:sp>
      <p:graphicFrame>
        <p:nvGraphicFramePr>
          <p:cNvPr id="47110" name="Object 27"/>
          <p:cNvGraphicFramePr>
            <a:graphicFrameLocks noChangeAspect="1"/>
          </p:cNvGraphicFramePr>
          <p:nvPr/>
        </p:nvGraphicFramePr>
        <p:xfrm>
          <a:off x="684213" y="1676400"/>
          <a:ext cx="1614487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29810" imgH="203112" progId="Equation.DSMT4">
                  <p:embed/>
                </p:oleObj>
              </mc:Choice>
              <mc:Fallback>
                <p:oleObj name="Equation" r:id="rId3" imgW="1129810" imgH="203112" progId="Equation.DSMT4">
                  <p:embed/>
                  <p:pic>
                    <p:nvPicPr>
                      <p:cNvPr id="4711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1676400"/>
                        <a:ext cx="1614487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740" name="Object 28"/>
          <p:cNvGraphicFramePr>
            <a:graphicFrameLocks noChangeAspect="1"/>
          </p:cNvGraphicFramePr>
          <p:nvPr/>
        </p:nvGraphicFramePr>
        <p:xfrm>
          <a:off x="674688" y="4343400"/>
          <a:ext cx="344805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413000" imgH="203200" progId="Equation.DSMT4">
                  <p:embed/>
                </p:oleObj>
              </mc:Choice>
              <mc:Fallback>
                <p:oleObj name="Equation" r:id="rId5" imgW="2413000" imgH="203200" progId="Equation.DSMT4">
                  <p:embed/>
                  <p:pic>
                    <p:nvPicPr>
                      <p:cNvPr id="11574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4688" y="4343400"/>
                        <a:ext cx="3448050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5741" name="Text Box 29"/>
          <p:cNvSpPr txBox="1">
            <a:spLocks noChangeArrowheads="1"/>
          </p:cNvSpPr>
          <p:nvPr/>
        </p:nvSpPr>
        <p:spPr bwMode="auto">
          <a:xfrm>
            <a:off x="3217863" y="2860675"/>
            <a:ext cx="2984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>
                <a:latin typeface="Times New Roman" pitchFamily="18" charset="0"/>
              </a:rPr>
              <a:t>=</a:t>
            </a:r>
          </a:p>
        </p:txBody>
      </p:sp>
      <p:grpSp>
        <p:nvGrpSpPr>
          <p:cNvPr id="8" name="Group 30"/>
          <p:cNvGrpSpPr>
            <a:grpSpLocks/>
          </p:cNvGrpSpPr>
          <p:nvPr/>
        </p:nvGrpSpPr>
        <p:grpSpPr bwMode="auto">
          <a:xfrm>
            <a:off x="4953000" y="2590800"/>
            <a:ext cx="666750" cy="457200"/>
            <a:chOff x="4944" y="912"/>
            <a:chExt cx="420" cy="288"/>
          </a:xfrm>
        </p:grpSpPr>
        <p:sp>
          <p:nvSpPr>
            <p:cNvPr id="47119" name="Text Box 31"/>
            <p:cNvSpPr txBox="1">
              <a:spLocks noChangeArrowheads="1"/>
            </p:cNvSpPr>
            <p:nvPr/>
          </p:nvSpPr>
          <p:spPr bwMode="auto">
            <a:xfrm>
              <a:off x="5088" y="912"/>
              <a:ext cx="27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Times New Roman" pitchFamily="18" charset="0"/>
                </a:rPr>
                <a:t>0,5</a:t>
              </a:r>
            </a:p>
          </p:txBody>
        </p:sp>
        <p:sp>
          <p:nvSpPr>
            <p:cNvPr id="47120" name="Line 32"/>
            <p:cNvSpPr>
              <a:spLocks noChangeShapeType="1"/>
            </p:cNvSpPr>
            <p:nvPr/>
          </p:nvSpPr>
          <p:spPr bwMode="auto">
            <a:xfrm flipV="1">
              <a:off x="4944" y="1056"/>
              <a:ext cx="144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</p:grpSp>
      <p:sp>
        <p:nvSpPr>
          <p:cNvPr id="115745" name="Text Box 33"/>
          <p:cNvSpPr txBox="1">
            <a:spLocks noChangeArrowheads="1"/>
          </p:cNvSpPr>
          <p:nvPr/>
        </p:nvSpPr>
        <p:spPr bwMode="auto">
          <a:xfrm>
            <a:off x="5903913" y="2719388"/>
            <a:ext cx="2857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>
                <a:latin typeface="Times New Roman" pitchFamily="18" charset="0"/>
              </a:rPr>
              <a:t>_</a:t>
            </a:r>
          </a:p>
        </p:txBody>
      </p:sp>
      <p:grpSp>
        <p:nvGrpSpPr>
          <p:cNvPr id="9" name="Group 34"/>
          <p:cNvGrpSpPr>
            <a:grpSpLocks/>
          </p:cNvGrpSpPr>
          <p:nvPr/>
        </p:nvGrpSpPr>
        <p:grpSpPr bwMode="auto">
          <a:xfrm>
            <a:off x="7781925" y="2827338"/>
            <a:ext cx="977900" cy="457200"/>
            <a:chOff x="4944" y="912"/>
            <a:chExt cx="616" cy="288"/>
          </a:xfrm>
        </p:grpSpPr>
        <p:sp>
          <p:nvSpPr>
            <p:cNvPr id="47117" name="Text Box 35"/>
            <p:cNvSpPr txBox="1">
              <a:spLocks noChangeArrowheads="1"/>
            </p:cNvSpPr>
            <p:nvPr/>
          </p:nvSpPr>
          <p:spPr bwMode="auto">
            <a:xfrm>
              <a:off x="5088" y="912"/>
              <a:ext cx="472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Times New Roman" pitchFamily="18" charset="0"/>
                </a:rPr>
                <a:t>0,0668</a:t>
              </a:r>
            </a:p>
          </p:txBody>
        </p:sp>
        <p:sp>
          <p:nvSpPr>
            <p:cNvPr id="47118" name="Line 36"/>
            <p:cNvSpPr>
              <a:spLocks noChangeShapeType="1"/>
            </p:cNvSpPr>
            <p:nvPr/>
          </p:nvSpPr>
          <p:spPr bwMode="auto">
            <a:xfrm flipV="1">
              <a:off x="4944" y="1056"/>
              <a:ext cx="144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</p:grp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CC64DF7-A552-49B2-B195-D074BA9F8F38}" type="slidenum">
              <a:rPr lang="pt-BR"/>
              <a:pPr>
                <a:defRPr/>
              </a:pPr>
              <a:t>55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741" grpId="0"/>
      <p:bldP spid="115745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Distribuição Normal Padrão (Exemplos)</a:t>
            </a:r>
          </a:p>
        </p:txBody>
      </p:sp>
      <p:graphicFrame>
        <p:nvGraphicFramePr>
          <p:cNvPr id="48131" name="Object 3"/>
          <p:cNvGraphicFramePr>
            <a:graphicFrameLocks noChangeAspect="1"/>
          </p:cNvGraphicFramePr>
          <p:nvPr/>
        </p:nvGraphicFramePr>
        <p:xfrm>
          <a:off x="684213" y="1676400"/>
          <a:ext cx="1433512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02865" imgH="203112" progId="Equation.DSMT4">
                  <p:embed/>
                </p:oleObj>
              </mc:Choice>
              <mc:Fallback>
                <p:oleObj name="Equation" r:id="rId2" imgW="1002865" imgH="203112" progId="Equation.DSMT4">
                  <p:embed/>
                  <p:pic>
                    <p:nvPicPr>
                      <p:cNvPr id="4813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1676400"/>
                        <a:ext cx="1433512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668" name="Object 4"/>
          <p:cNvGraphicFramePr>
            <a:graphicFrameLocks noChangeAspect="1"/>
          </p:cNvGraphicFramePr>
          <p:nvPr/>
        </p:nvGraphicFramePr>
        <p:xfrm>
          <a:off x="684213" y="4343400"/>
          <a:ext cx="3559175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489200" imgH="203200" progId="Equation.DSMT4">
                  <p:embed/>
                </p:oleObj>
              </mc:Choice>
              <mc:Fallback>
                <p:oleObj name="Equation" r:id="rId4" imgW="2489200" imgH="203200" progId="Equation.DSMT4">
                  <p:embed/>
                  <p:pic>
                    <p:nvPicPr>
                      <p:cNvPr id="11366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4343400"/>
                        <a:ext cx="3559175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686" name="Text Box 22"/>
          <p:cNvSpPr txBox="1">
            <a:spLocks noChangeArrowheads="1"/>
          </p:cNvSpPr>
          <p:nvPr/>
        </p:nvSpPr>
        <p:spPr bwMode="auto">
          <a:xfrm>
            <a:off x="3217863" y="2860675"/>
            <a:ext cx="2984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>
                <a:latin typeface="Times New Roman" pitchFamily="18" charset="0"/>
              </a:rPr>
              <a:t>=</a:t>
            </a:r>
          </a:p>
        </p:txBody>
      </p:sp>
      <p:grpSp>
        <p:nvGrpSpPr>
          <p:cNvPr id="2" name="Group 77"/>
          <p:cNvGrpSpPr>
            <a:grpSpLocks/>
          </p:cNvGrpSpPr>
          <p:nvPr/>
        </p:nvGrpSpPr>
        <p:grpSpPr bwMode="auto">
          <a:xfrm>
            <a:off x="685800" y="2514600"/>
            <a:ext cx="2698750" cy="1316038"/>
            <a:chOff x="432" y="1584"/>
            <a:chExt cx="1700" cy="829"/>
          </a:xfrm>
        </p:grpSpPr>
        <p:grpSp>
          <p:nvGrpSpPr>
            <p:cNvPr id="48159" name="Group 6"/>
            <p:cNvGrpSpPr>
              <a:grpSpLocks/>
            </p:cNvGrpSpPr>
            <p:nvPr/>
          </p:nvGrpSpPr>
          <p:grpSpPr bwMode="auto">
            <a:xfrm>
              <a:off x="432" y="1584"/>
              <a:ext cx="1700" cy="829"/>
              <a:chOff x="3561" y="941"/>
              <a:chExt cx="1700" cy="829"/>
            </a:xfrm>
          </p:grpSpPr>
          <p:pic>
            <p:nvPicPr>
              <p:cNvPr id="48163" name="Picture 7"/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3296" t="9618" r="18376" b="11877"/>
              <a:stretch>
                <a:fillRect/>
              </a:stretch>
            </p:blipFill>
            <p:spPr bwMode="auto">
              <a:xfrm>
                <a:off x="3616" y="941"/>
                <a:ext cx="1579" cy="6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8164" name="Text Box 8"/>
              <p:cNvSpPr txBox="1">
                <a:spLocks noChangeArrowheads="1"/>
              </p:cNvSpPr>
              <p:nvPr/>
            </p:nvSpPr>
            <p:spPr bwMode="auto">
              <a:xfrm>
                <a:off x="3561" y="1540"/>
                <a:ext cx="25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>
                    <a:latin typeface="Times New Roman" pitchFamily="18" charset="0"/>
                  </a:rPr>
                  <a:t>-</a:t>
                </a:r>
                <a:r>
                  <a:rPr lang="pt-BR" altLang="pt-BR" sz="1600">
                    <a:latin typeface="Times New Roman" pitchFamily="18" charset="0"/>
                    <a:sym typeface="Symbol" pitchFamily="18" charset="2"/>
                  </a:rPr>
                  <a:t></a:t>
                </a:r>
                <a:endParaRPr lang="pt-BR" altLang="pt-BR" sz="1600">
                  <a:latin typeface="Times New Roman" pitchFamily="18" charset="0"/>
                </a:endParaRPr>
              </a:p>
            </p:txBody>
          </p:sp>
          <p:sp>
            <p:nvSpPr>
              <p:cNvPr id="48165" name="Text Box 9"/>
              <p:cNvSpPr txBox="1">
                <a:spLocks noChangeArrowheads="1"/>
              </p:cNvSpPr>
              <p:nvPr/>
            </p:nvSpPr>
            <p:spPr bwMode="auto">
              <a:xfrm>
                <a:off x="4982" y="1540"/>
                <a:ext cx="279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>
                    <a:latin typeface="Times New Roman" pitchFamily="18" charset="0"/>
                  </a:rPr>
                  <a:t>+</a:t>
                </a:r>
                <a:r>
                  <a:rPr lang="pt-BR" altLang="pt-BR" sz="1600">
                    <a:latin typeface="Times New Roman" pitchFamily="18" charset="0"/>
                    <a:sym typeface="Symbol" pitchFamily="18" charset="2"/>
                  </a:rPr>
                  <a:t></a:t>
                </a:r>
                <a:endParaRPr lang="pt-BR" altLang="pt-BR" sz="1600">
                  <a:latin typeface="Times New Roman" pitchFamily="18" charset="0"/>
                </a:endParaRPr>
              </a:p>
            </p:txBody>
          </p:sp>
          <p:sp>
            <p:nvSpPr>
              <p:cNvPr id="48166" name="Text Box 10"/>
              <p:cNvSpPr txBox="1">
                <a:spLocks noChangeArrowheads="1"/>
              </p:cNvSpPr>
              <p:nvPr/>
            </p:nvSpPr>
            <p:spPr bwMode="auto">
              <a:xfrm>
                <a:off x="4327" y="1558"/>
                <a:ext cx="18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>
                    <a:latin typeface="Times New Roman" pitchFamily="18" charset="0"/>
                  </a:rPr>
                  <a:t>0</a:t>
                </a:r>
              </a:p>
            </p:txBody>
          </p:sp>
        </p:grpSp>
        <p:sp>
          <p:nvSpPr>
            <p:cNvPr id="48160" name="Text Box 12"/>
            <p:cNvSpPr txBox="1">
              <a:spLocks noChangeArrowheads="1"/>
            </p:cNvSpPr>
            <p:nvPr/>
          </p:nvSpPr>
          <p:spPr bwMode="auto">
            <a:xfrm>
              <a:off x="1500" y="2199"/>
              <a:ext cx="1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400"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48161" name="Freeform 70" descr="Diagonal para cima clara"/>
            <p:cNvSpPr>
              <a:spLocks/>
            </p:cNvSpPr>
            <p:nvPr/>
          </p:nvSpPr>
          <p:spPr bwMode="auto">
            <a:xfrm>
              <a:off x="1420" y="1735"/>
              <a:ext cx="164" cy="495"/>
            </a:xfrm>
            <a:custGeom>
              <a:avLst/>
              <a:gdLst>
                <a:gd name="T0" fmla="*/ 0 w 8498"/>
                <a:gd name="T1" fmla="*/ 0 h 9110"/>
                <a:gd name="T2" fmla="*/ 0 w 8498"/>
                <a:gd name="T3" fmla="*/ 0 h 9110"/>
                <a:gd name="T4" fmla="*/ 0 w 8498"/>
                <a:gd name="T5" fmla="*/ 0 h 9110"/>
                <a:gd name="T6" fmla="*/ 0 w 8498"/>
                <a:gd name="T7" fmla="*/ 0 h 9110"/>
                <a:gd name="T8" fmla="*/ 0 w 8498"/>
                <a:gd name="T9" fmla="*/ 0 h 9110"/>
                <a:gd name="T10" fmla="*/ 0 w 8498"/>
                <a:gd name="T11" fmla="*/ 0 h 9110"/>
                <a:gd name="T12" fmla="*/ 0 w 8498"/>
                <a:gd name="T13" fmla="*/ 0 h 9110"/>
                <a:gd name="T14" fmla="*/ 0 w 8498"/>
                <a:gd name="T15" fmla="*/ 0 h 9110"/>
                <a:gd name="T16" fmla="*/ 0 w 8498"/>
                <a:gd name="T17" fmla="*/ 0 h 9110"/>
                <a:gd name="T18" fmla="*/ 0 w 8498"/>
                <a:gd name="T19" fmla="*/ 0 h 9110"/>
                <a:gd name="T20" fmla="*/ 0 w 8498"/>
                <a:gd name="T21" fmla="*/ 0 h 911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8498" h="9110">
                  <a:moveTo>
                    <a:pt x="35" y="9110"/>
                  </a:moveTo>
                  <a:cubicBezTo>
                    <a:pt x="23" y="6073"/>
                    <a:pt x="12" y="3037"/>
                    <a:pt x="0" y="0"/>
                  </a:cubicBezTo>
                  <a:lnTo>
                    <a:pt x="1296" y="782"/>
                  </a:lnTo>
                  <a:lnTo>
                    <a:pt x="2539" y="1655"/>
                  </a:lnTo>
                  <a:lnTo>
                    <a:pt x="3730" y="2382"/>
                  </a:lnTo>
                  <a:lnTo>
                    <a:pt x="4975" y="3201"/>
                  </a:lnTo>
                  <a:lnTo>
                    <a:pt x="6219" y="3964"/>
                  </a:lnTo>
                  <a:lnTo>
                    <a:pt x="7255" y="4746"/>
                  </a:lnTo>
                  <a:lnTo>
                    <a:pt x="8498" y="5382"/>
                  </a:lnTo>
                  <a:lnTo>
                    <a:pt x="8498" y="9110"/>
                  </a:lnTo>
                  <a:lnTo>
                    <a:pt x="35" y="9110"/>
                  </a:lnTo>
                  <a:close/>
                </a:path>
              </a:pathLst>
            </a:custGeom>
            <a:pattFill prst="ltUpDiag">
              <a:fgClr>
                <a:schemeClr val="tx1"/>
              </a:fgClr>
              <a:bgClr>
                <a:schemeClr val="bg1"/>
              </a:bgClr>
            </a:pattFill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48162" name="Text Box 71"/>
            <p:cNvSpPr txBox="1">
              <a:spLocks noChangeArrowheads="1"/>
            </p:cNvSpPr>
            <p:nvPr/>
          </p:nvSpPr>
          <p:spPr bwMode="auto">
            <a:xfrm>
              <a:off x="1347" y="2196"/>
              <a:ext cx="173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400">
                  <a:latin typeface="Times New Roman" pitchFamily="18" charset="0"/>
                </a:rPr>
                <a:t>1</a:t>
              </a:r>
            </a:p>
          </p:txBody>
        </p:sp>
      </p:grp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C7DD02-2C5F-46D4-945A-5A7C0C2E4435}" type="slidenum">
              <a:rPr lang="pt-BR"/>
              <a:pPr>
                <a:defRPr/>
              </a:pPr>
              <a:t>56</a:t>
            </a:fld>
            <a:endParaRPr lang="pt-BR"/>
          </a:p>
        </p:txBody>
      </p:sp>
      <p:grpSp>
        <p:nvGrpSpPr>
          <p:cNvPr id="10" name="Grupo 9"/>
          <p:cNvGrpSpPr>
            <a:grpSpLocks/>
          </p:cNvGrpSpPr>
          <p:nvPr/>
        </p:nvGrpSpPr>
        <p:grpSpPr bwMode="auto">
          <a:xfrm>
            <a:off x="3352800" y="2514600"/>
            <a:ext cx="2698750" cy="1316038"/>
            <a:chOff x="3352800" y="2514602"/>
            <a:chExt cx="2698750" cy="1316039"/>
          </a:xfrm>
        </p:grpSpPr>
        <p:grpSp>
          <p:nvGrpSpPr>
            <p:cNvPr id="48152" name="Group 45"/>
            <p:cNvGrpSpPr>
              <a:grpSpLocks/>
            </p:cNvGrpSpPr>
            <p:nvPr/>
          </p:nvGrpSpPr>
          <p:grpSpPr bwMode="auto">
            <a:xfrm>
              <a:off x="3352800" y="2514602"/>
              <a:ext cx="2698750" cy="1316039"/>
              <a:chOff x="3561" y="941"/>
              <a:chExt cx="1700" cy="829"/>
            </a:xfrm>
          </p:grpSpPr>
          <p:pic>
            <p:nvPicPr>
              <p:cNvPr id="48155" name="Picture 46"/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3296" t="9618" r="18376" b="11877"/>
              <a:stretch>
                <a:fillRect/>
              </a:stretch>
            </p:blipFill>
            <p:spPr bwMode="auto">
              <a:xfrm>
                <a:off x="3616" y="941"/>
                <a:ext cx="1579" cy="6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8156" name="Text Box 47"/>
              <p:cNvSpPr txBox="1">
                <a:spLocks noChangeArrowheads="1"/>
              </p:cNvSpPr>
              <p:nvPr/>
            </p:nvSpPr>
            <p:spPr bwMode="auto">
              <a:xfrm>
                <a:off x="3561" y="1540"/>
                <a:ext cx="25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>
                    <a:latin typeface="Times New Roman" pitchFamily="18" charset="0"/>
                  </a:rPr>
                  <a:t>-</a:t>
                </a:r>
                <a:r>
                  <a:rPr lang="pt-BR" altLang="pt-BR" sz="1600">
                    <a:latin typeface="Times New Roman" pitchFamily="18" charset="0"/>
                    <a:sym typeface="Symbol" pitchFamily="18" charset="2"/>
                  </a:rPr>
                  <a:t></a:t>
                </a:r>
                <a:endParaRPr lang="pt-BR" altLang="pt-BR" sz="1600">
                  <a:latin typeface="Times New Roman" pitchFamily="18" charset="0"/>
                </a:endParaRPr>
              </a:p>
            </p:txBody>
          </p:sp>
          <p:sp>
            <p:nvSpPr>
              <p:cNvPr id="48157" name="Text Box 48"/>
              <p:cNvSpPr txBox="1">
                <a:spLocks noChangeArrowheads="1"/>
              </p:cNvSpPr>
              <p:nvPr/>
            </p:nvSpPr>
            <p:spPr bwMode="auto">
              <a:xfrm>
                <a:off x="4982" y="1540"/>
                <a:ext cx="279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>
                    <a:latin typeface="Times New Roman" pitchFamily="18" charset="0"/>
                  </a:rPr>
                  <a:t>+</a:t>
                </a:r>
                <a:r>
                  <a:rPr lang="pt-BR" altLang="pt-BR" sz="1600">
                    <a:latin typeface="Times New Roman" pitchFamily="18" charset="0"/>
                    <a:sym typeface="Symbol" pitchFamily="18" charset="2"/>
                  </a:rPr>
                  <a:t></a:t>
                </a:r>
                <a:endParaRPr lang="pt-BR" altLang="pt-BR" sz="1600">
                  <a:latin typeface="Times New Roman" pitchFamily="18" charset="0"/>
                </a:endParaRPr>
              </a:p>
            </p:txBody>
          </p:sp>
          <p:sp>
            <p:nvSpPr>
              <p:cNvPr id="48158" name="Text Box 49"/>
              <p:cNvSpPr txBox="1">
                <a:spLocks noChangeArrowheads="1"/>
              </p:cNvSpPr>
              <p:nvPr/>
            </p:nvSpPr>
            <p:spPr bwMode="auto">
              <a:xfrm>
                <a:off x="4327" y="1558"/>
                <a:ext cx="18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>
                    <a:latin typeface="Times New Roman" pitchFamily="18" charset="0"/>
                  </a:rPr>
                  <a:t>0</a:t>
                </a:r>
              </a:p>
            </p:txBody>
          </p:sp>
        </p:grpSp>
        <p:sp>
          <p:nvSpPr>
            <p:cNvPr id="48153" name="Freeform 70" descr="Diagonal para cima clara"/>
            <p:cNvSpPr>
              <a:spLocks/>
            </p:cNvSpPr>
            <p:nvPr/>
          </p:nvSpPr>
          <p:spPr bwMode="auto">
            <a:xfrm>
              <a:off x="4920499" y="2753734"/>
              <a:ext cx="871938" cy="793357"/>
            </a:xfrm>
            <a:custGeom>
              <a:avLst/>
              <a:gdLst>
                <a:gd name="T0" fmla="*/ 2147483647 w 33491"/>
                <a:gd name="T1" fmla="*/ 2147483647 h 10096"/>
                <a:gd name="T2" fmla="*/ 0 w 33491"/>
                <a:gd name="T3" fmla="*/ 0 h 10096"/>
                <a:gd name="T4" fmla="*/ 2147483647 w 33491"/>
                <a:gd name="T5" fmla="*/ 2147483647 h 10096"/>
                <a:gd name="T6" fmla="*/ 2147483647 w 33491"/>
                <a:gd name="T7" fmla="*/ 2147483647 h 10096"/>
                <a:gd name="T8" fmla="*/ 2147483647 w 33491"/>
                <a:gd name="T9" fmla="*/ 2147483647 h 10096"/>
                <a:gd name="T10" fmla="*/ 2147483647 w 33491"/>
                <a:gd name="T11" fmla="*/ 2147483647 h 10096"/>
                <a:gd name="T12" fmla="*/ 2147483647 w 33491"/>
                <a:gd name="T13" fmla="*/ 2147483647 h 10096"/>
                <a:gd name="T14" fmla="*/ 2147483647 w 33491"/>
                <a:gd name="T15" fmla="*/ 2147483647 h 10096"/>
                <a:gd name="T16" fmla="*/ 2147483647 w 33491"/>
                <a:gd name="T17" fmla="*/ 2147483647 h 10096"/>
                <a:gd name="T18" fmla="*/ 2147483647 w 33491"/>
                <a:gd name="T19" fmla="*/ 2147483647 h 10096"/>
                <a:gd name="T20" fmla="*/ 2147483647 w 33491"/>
                <a:gd name="T21" fmla="*/ 2147483647 h 10096"/>
                <a:gd name="T22" fmla="*/ 2147483647 w 33491"/>
                <a:gd name="T23" fmla="*/ 2147483647 h 10096"/>
                <a:gd name="T24" fmla="*/ 2147483647 w 33491"/>
                <a:gd name="T25" fmla="*/ 2147483647 h 10096"/>
                <a:gd name="T26" fmla="*/ 2147483647 w 33491"/>
                <a:gd name="T27" fmla="*/ 2147483647 h 10096"/>
                <a:gd name="T28" fmla="*/ 2147483647 w 33491"/>
                <a:gd name="T29" fmla="*/ 2147483647 h 10096"/>
                <a:gd name="T30" fmla="*/ 2147483647 w 33491"/>
                <a:gd name="T31" fmla="*/ 2147483647 h 1009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3491" h="10096">
                  <a:moveTo>
                    <a:pt x="41" y="10000"/>
                  </a:moveTo>
                  <a:cubicBezTo>
                    <a:pt x="27" y="6666"/>
                    <a:pt x="14" y="3334"/>
                    <a:pt x="0" y="0"/>
                  </a:cubicBezTo>
                  <a:lnTo>
                    <a:pt x="1525" y="858"/>
                  </a:lnTo>
                  <a:lnTo>
                    <a:pt x="2988" y="1817"/>
                  </a:lnTo>
                  <a:lnTo>
                    <a:pt x="4389" y="2615"/>
                  </a:lnTo>
                  <a:lnTo>
                    <a:pt x="5854" y="3514"/>
                  </a:lnTo>
                  <a:lnTo>
                    <a:pt x="7318" y="4351"/>
                  </a:lnTo>
                  <a:lnTo>
                    <a:pt x="8537" y="5210"/>
                  </a:lnTo>
                  <a:lnTo>
                    <a:pt x="10000" y="5908"/>
                  </a:lnTo>
                  <a:lnTo>
                    <a:pt x="12583" y="7200"/>
                  </a:lnTo>
                  <a:lnTo>
                    <a:pt x="14499" y="7906"/>
                  </a:lnTo>
                  <a:lnTo>
                    <a:pt x="17266" y="8681"/>
                  </a:lnTo>
                  <a:lnTo>
                    <a:pt x="19820" y="9246"/>
                  </a:lnTo>
                  <a:lnTo>
                    <a:pt x="23439" y="9669"/>
                  </a:lnTo>
                  <a:lnTo>
                    <a:pt x="33491" y="10096"/>
                  </a:lnTo>
                  <a:lnTo>
                    <a:pt x="41" y="10000"/>
                  </a:lnTo>
                  <a:close/>
                </a:path>
              </a:pathLst>
            </a:custGeom>
            <a:pattFill prst="ltUpDiag">
              <a:fgClr>
                <a:schemeClr val="tx1"/>
              </a:fgClr>
              <a:bgClr>
                <a:schemeClr val="bg1"/>
              </a:bgClr>
            </a:pattFill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48154" name="Text Box 71"/>
            <p:cNvSpPr txBox="1">
              <a:spLocks noChangeArrowheads="1"/>
            </p:cNvSpPr>
            <p:nvPr/>
          </p:nvSpPr>
          <p:spPr bwMode="auto">
            <a:xfrm>
              <a:off x="4804612" y="3485571"/>
              <a:ext cx="274638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400">
                  <a:latin typeface="Times New Roman" pitchFamily="18" charset="0"/>
                </a:rPr>
                <a:t>1</a:t>
              </a:r>
            </a:p>
          </p:txBody>
        </p:sp>
      </p:grpSp>
      <p:grpSp>
        <p:nvGrpSpPr>
          <p:cNvPr id="8" name="Group 23"/>
          <p:cNvGrpSpPr>
            <a:grpSpLocks/>
          </p:cNvGrpSpPr>
          <p:nvPr/>
        </p:nvGrpSpPr>
        <p:grpSpPr bwMode="auto">
          <a:xfrm>
            <a:off x="4989513" y="2525713"/>
            <a:ext cx="977900" cy="457200"/>
            <a:chOff x="4944" y="912"/>
            <a:chExt cx="616" cy="288"/>
          </a:xfrm>
        </p:grpSpPr>
        <p:sp>
          <p:nvSpPr>
            <p:cNvPr id="48150" name="Text Box 24"/>
            <p:cNvSpPr txBox="1">
              <a:spLocks noChangeArrowheads="1"/>
            </p:cNvSpPr>
            <p:nvPr/>
          </p:nvSpPr>
          <p:spPr bwMode="auto">
            <a:xfrm>
              <a:off x="5088" y="912"/>
              <a:ext cx="472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Times New Roman" pitchFamily="18" charset="0"/>
                </a:rPr>
                <a:t>0,1587</a:t>
              </a:r>
            </a:p>
          </p:txBody>
        </p:sp>
        <p:sp>
          <p:nvSpPr>
            <p:cNvPr id="48151" name="Line 25"/>
            <p:cNvSpPr>
              <a:spLocks noChangeShapeType="1"/>
            </p:cNvSpPr>
            <p:nvPr/>
          </p:nvSpPr>
          <p:spPr bwMode="auto">
            <a:xfrm flipV="1">
              <a:off x="4944" y="1056"/>
              <a:ext cx="144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7" name="Grupo 6"/>
          <p:cNvGrpSpPr>
            <a:grpSpLocks/>
          </p:cNvGrpSpPr>
          <p:nvPr/>
        </p:nvGrpSpPr>
        <p:grpSpPr bwMode="auto">
          <a:xfrm>
            <a:off x="6019800" y="2514600"/>
            <a:ext cx="2698750" cy="1316038"/>
            <a:chOff x="6019800" y="2514602"/>
            <a:chExt cx="2698750" cy="1316039"/>
          </a:xfrm>
        </p:grpSpPr>
        <p:grpSp>
          <p:nvGrpSpPr>
            <p:cNvPr id="48143" name="Group 52"/>
            <p:cNvGrpSpPr>
              <a:grpSpLocks/>
            </p:cNvGrpSpPr>
            <p:nvPr/>
          </p:nvGrpSpPr>
          <p:grpSpPr bwMode="auto">
            <a:xfrm>
              <a:off x="6019800" y="2514602"/>
              <a:ext cx="2698750" cy="1316039"/>
              <a:chOff x="3561" y="941"/>
              <a:chExt cx="1700" cy="829"/>
            </a:xfrm>
          </p:grpSpPr>
          <p:pic>
            <p:nvPicPr>
              <p:cNvPr id="48146" name="Picture 53"/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3296" t="9618" r="18376" b="11877"/>
              <a:stretch>
                <a:fillRect/>
              </a:stretch>
            </p:blipFill>
            <p:spPr bwMode="auto">
              <a:xfrm>
                <a:off x="3616" y="941"/>
                <a:ext cx="1579" cy="6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8147" name="Text Box 54"/>
              <p:cNvSpPr txBox="1">
                <a:spLocks noChangeArrowheads="1"/>
              </p:cNvSpPr>
              <p:nvPr/>
            </p:nvSpPr>
            <p:spPr bwMode="auto">
              <a:xfrm>
                <a:off x="3561" y="1540"/>
                <a:ext cx="25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>
                    <a:latin typeface="Times New Roman" pitchFamily="18" charset="0"/>
                  </a:rPr>
                  <a:t>-</a:t>
                </a:r>
                <a:r>
                  <a:rPr lang="pt-BR" altLang="pt-BR" sz="1600">
                    <a:latin typeface="Times New Roman" pitchFamily="18" charset="0"/>
                    <a:sym typeface="Symbol" pitchFamily="18" charset="2"/>
                  </a:rPr>
                  <a:t></a:t>
                </a:r>
                <a:endParaRPr lang="pt-BR" altLang="pt-BR" sz="1600">
                  <a:latin typeface="Times New Roman" pitchFamily="18" charset="0"/>
                </a:endParaRPr>
              </a:p>
            </p:txBody>
          </p:sp>
          <p:sp>
            <p:nvSpPr>
              <p:cNvPr id="48148" name="Text Box 55"/>
              <p:cNvSpPr txBox="1">
                <a:spLocks noChangeArrowheads="1"/>
              </p:cNvSpPr>
              <p:nvPr/>
            </p:nvSpPr>
            <p:spPr bwMode="auto">
              <a:xfrm>
                <a:off x="4982" y="1540"/>
                <a:ext cx="279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>
                    <a:latin typeface="Times New Roman" pitchFamily="18" charset="0"/>
                  </a:rPr>
                  <a:t>+</a:t>
                </a:r>
                <a:r>
                  <a:rPr lang="pt-BR" altLang="pt-BR" sz="1600">
                    <a:latin typeface="Times New Roman" pitchFamily="18" charset="0"/>
                    <a:sym typeface="Symbol" pitchFamily="18" charset="2"/>
                  </a:rPr>
                  <a:t></a:t>
                </a:r>
                <a:endParaRPr lang="pt-BR" altLang="pt-BR" sz="1600">
                  <a:latin typeface="Times New Roman" pitchFamily="18" charset="0"/>
                </a:endParaRPr>
              </a:p>
            </p:txBody>
          </p:sp>
          <p:sp>
            <p:nvSpPr>
              <p:cNvPr id="48149" name="Text Box 56"/>
              <p:cNvSpPr txBox="1">
                <a:spLocks noChangeArrowheads="1"/>
              </p:cNvSpPr>
              <p:nvPr/>
            </p:nvSpPr>
            <p:spPr bwMode="auto">
              <a:xfrm>
                <a:off x="4327" y="1558"/>
                <a:ext cx="18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>
                    <a:latin typeface="Times New Roman" pitchFamily="18" charset="0"/>
                  </a:rPr>
                  <a:t>0</a:t>
                </a:r>
              </a:p>
            </p:txBody>
          </p:sp>
        </p:grpSp>
        <p:sp>
          <p:nvSpPr>
            <p:cNvPr id="48144" name="Text Box 12"/>
            <p:cNvSpPr txBox="1">
              <a:spLocks noChangeArrowheads="1"/>
            </p:cNvSpPr>
            <p:nvPr/>
          </p:nvSpPr>
          <p:spPr bwMode="auto">
            <a:xfrm>
              <a:off x="7722120" y="3495675"/>
              <a:ext cx="273050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400"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48145" name="Forma livre 4"/>
            <p:cNvSpPr>
              <a:spLocks/>
            </p:cNvSpPr>
            <p:nvPr/>
          </p:nvSpPr>
          <p:spPr bwMode="auto">
            <a:xfrm>
              <a:off x="7854043" y="3216729"/>
              <a:ext cx="600891" cy="326571"/>
            </a:xfrm>
            <a:custGeom>
              <a:avLst/>
              <a:gdLst>
                <a:gd name="T0" fmla="*/ 0 w 600891"/>
                <a:gd name="T1" fmla="*/ 326571 h 326571"/>
                <a:gd name="T2" fmla="*/ 0 w 600891"/>
                <a:gd name="T3" fmla="*/ 0 h 326571"/>
                <a:gd name="T4" fmla="*/ 52251 w 600891"/>
                <a:gd name="T5" fmla="*/ 78377 h 326571"/>
                <a:gd name="T6" fmla="*/ 101237 w 600891"/>
                <a:gd name="T7" fmla="*/ 140425 h 326571"/>
                <a:gd name="T8" fmla="*/ 140426 w 600891"/>
                <a:gd name="T9" fmla="*/ 179614 h 326571"/>
                <a:gd name="T10" fmla="*/ 205740 w 600891"/>
                <a:gd name="T11" fmla="*/ 235131 h 326571"/>
                <a:gd name="T12" fmla="*/ 264523 w 600891"/>
                <a:gd name="T13" fmla="*/ 261257 h 326571"/>
                <a:gd name="T14" fmla="*/ 333103 w 600891"/>
                <a:gd name="T15" fmla="*/ 287382 h 326571"/>
                <a:gd name="T16" fmla="*/ 408214 w 600891"/>
                <a:gd name="T17" fmla="*/ 310242 h 326571"/>
                <a:gd name="T18" fmla="*/ 476794 w 600891"/>
                <a:gd name="T19" fmla="*/ 316774 h 326571"/>
                <a:gd name="T20" fmla="*/ 600891 w 600891"/>
                <a:gd name="T21" fmla="*/ 323305 h 326571"/>
                <a:gd name="T22" fmla="*/ 587828 w 600891"/>
                <a:gd name="T23" fmla="*/ 323305 h 326571"/>
                <a:gd name="T24" fmla="*/ 0 w 600891"/>
                <a:gd name="T25" fmla="*/ 326571 h 326571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600891" h="326571">
                  <a:moveTo>
                    <a:pt x="0" y="326571"/>
                  </a:moveTo>
                  <a:lnTo>
                    <a:pt x="0" y="0"/>
                  </a:lnTo>
                  <a:lnTo>
                    <a:pt x="52251" y="78377"/>
                  </a:lnTo>
                  <a:lnTo>
                    <a:pt x="101237" y="140425"/>
                  </a:lnTo>
                  <a:lnTo>
                    <a:pt x="140426" y="179614"/>
                  </a:lnTo>
                  <a:lnTo>
                    <a:pt x="205740" y="235131"/>
                  </a:lnTo>
                  <a:lnTo>
                    <a:pt x="264523" y="261257"/>
                  </a:lnTo>
                  <a:lnTo>
                    <a:pt x="333103" y="287382"/>
                  </a:lnTo>
                  <a:lnTo>
                    <a:pt x="408214" y="310242"/>
                  </a:lnTo>
                  <a:lnTo>
                    <a:pt x="476794" y="316774"/>
                  </a:lnTo>
                  <a:lnTo>
                    <a:pt x="600891" y="323305"/>
                  </a:lnTo>
                  <a:lnTo>
                    <a:pt x="587828" y="323305"/>
                  </a:lnTo>
                  <a:lnTo>
                    <a:pt x="0" y="326571"/>
                  </a:lnTo>
                  <a:close/>
                </a:path>
              </a:pathLst>
            </a:custGeom>
            <a:pattFill prst="ltUpDiag">
              <a:fgClr>
                <a:schemeClr val="tx1"/>
              </a:fgClr>
              <a:bgClr>
                <a:schemeClr val="bg1"/>
              </a:bgClr>
            </a:pattFill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9" name="Group 42"/>
          <p:cNvGrpSpPr>
            <a:grpSpLocks/>
          </p:cNvGrpSpPr>
          <p:nvPr/>
        </p:nvGrpSpPr>
        <p:grpSpPr bwMode="auto">
          <a:xfrm>
            <a:off x="7954963" y="2970213"/>
            <a:ext cx="977900" cy="457200"/>
            <a:chOff x="4944" y="912"/>
            <a:chExt cx="616" cy="288"/>
          </a:xfrm>
        </p:grpSpPr>
        <p:sp>
          <p:nvSpPr>
            <p:cNvPr id="48141" name="Text Box 43"/>
            <p:cNvSpPr txBox="1">
              <a:spLocks noChangeArrowheads="1"/>
            </p:cNvSpPr>
            <p:nvPr/>
          </p:nvSpPr>
          <p:spPr bwMode="auto">
            <a:xfrm>
              <a:off x="5088" y="912"/>
              <a:ext cx="472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Times New Roman" pitchFamily="18" charset="0"/>
                </a:rPr>
                <a:t>0,0228</a:t>
              </a:r>
            </a:p>
          </p:txBody>
        </p:sp>
        <p:sp>
          <p:nvSpPr>
            <p:cNvPr id="48142" name="Line 44"/>
            <p:cNvSpPr>
              <a:spLocks noChangeShapeType="1"/>
            </p:cNvSpPr>
            <p:nvPr/>
          </p:nvSpPr>
          <p:spPr bwMode="auto">
            <a:xfrm flipV="1">
              <a:off x="4944" y="1056"/>
              <a:ext cx="144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</p:grpSp>
      <p:sp>
        <p:nvSpPr>
          <p:cNvPr id="50" name="Text Box 33"/>
          <p:cNvSpPr txBox="1">
            <a:spLocks noChangeArrowheads="1"/>
          </p:cNvSpPr>
          <p:nvPr/>
        </p:nvSpPr>
        <p:spPr bwMode="auto">
          <a:xfrm>
            <a:off x="5903913" y="2719388"/>
            <a:ext cx="2857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>
                <a:latin typeface="Times New Roman" pitchFamily="18" charset="0"/>
              </a:rPr>
              <a:t>_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686" grpId="0"/>
      <p:bldP spid="50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14" name="Rectangle 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Distribuição Normal (Exemplos)</a:t>
            </a:r>
          </a:p>
        </p:txBody>
      </p:sp>
      <p:graphicFrame>
        <p:nvGraphicFramePr>
          <p:cNvPr id="49155" name="Object 27"/>
          <p:cNvGraphicFramePr>
            <a:graphicFrameLocks noChangeAspect="1"/>
          </p:cNvGraphicFramePr>
          <p:nvPr/>
        </p:nvGraphicFramePr>
        <p:xfrm>
          <a:off x="762000" y="1676400"/>
          <a:ext cx="1196975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37836" imgH="203112" progId="Equation.DSMT4">
                  <p:embed/>
                </p:oleObj>
              </mc:Choice>
              <mc:Fallback>
                <p:oleObj name="Equation" r:id="rId2" imgW="837836" imgH="203112" progId="Equation.DSMT4">
                  <p:embed/>
                  <p:pic>
                    <p:nvPicPr>
                      <p:cNvPr id="49155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1676400"/>
                        <a:ext cx="1196975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725" name="Object 37"/>
          <p:cNvGraphicFramePr>
            <a:graphicFrameLocks noChangeAspect="1"/>
          </p:cNvGraphicFramePr>
          <p:nvPr/>
        </p:nvGraphicFramePr>
        <p:xfrm>
          <a:off x="762000" y="2300288"/>
          <a:ext cx="1595438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17115" imgH="203112" progId="Equation.DSMT4">
                  <p:embed/>
                </p:oleObj>
              </mc:Choice>
              <mc:Fallback>
                <p:oleObj name="Equation" r:id="rId4" imgW="1117115" imgH="203112" progId="Equation.DSMT4">
                  <p:embed/>
                  <p:pic>
                    <p:nvPicPr>
                      <p:cNvPr id="114725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2300288"/>
                        <a:ext cx="1595438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726" name="Object 38"/>
          <p:cNvGraphicFramePr>
            <a:graphicFrameLocks noChangeAspect="1"/>
          </p:cNvGraphicFramePr>
          <p:nvPr/>
        </p:nvGraphicFramePr>
        <p:xfrm>
          <a:off x="762000" y="2924175"/>
          <a:ext cx="1016000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10891" imgH="393529" progId="Equation.DSMT4">
                  <p:embed/>
                </p:oleObj>
              </mc:Choice>
              <mc:Fallback>
                <p:oleObj name="Equation" r:id="rId6" imgW="710891" imgH="393529" progId="Equation.DSMT4">
                  <p:embed/>
                  <p:pic>
                    <p:nvPicPr>
                      <p:cNvPr id="114726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2924175"/>
                        <a:ext cx="1016000" cy="566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727" name="Object 39"/>
          <p:cNvGraphicFramePr>
            <a:graphicFrameLocks noChangeAspect="1"/>
          </p:cNvGraphicFramePr>
          <p:nvPr/>
        </p:nvGraphicFramePr>
        <p:xfrm>
          <a:off x="1781175" y="3070225"/>
          <a:ext cx="835025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83947" imgH="203112" progId="Equation.DSMT4">
                  <p:embed/>
                </p:oleObj>
              </mc:Choice>
              <mc:Fallback>
                <p:oleObj name="Equation" r:id="rId8" imgW="583947" imgH="203112" progId="Equation.DSMT4">
                  <p:embed/>
                  <p:pic>
                    <p:nvPicPr>
                      <p:cNvPr id="114727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1175" y="3070225"/>
                        <a:ext cx="835025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728" name="Object 40"/>
          <p:cNvGraphicFramePr>
            <a:graphicFrameLocks noChangeAspect="1"/>
          </p:cNvGraphicFramePr>
          <p:nvPr/>
        </p:nvGraphicFramePr>
        <p:xfrm>
          <a:off x="762000" y="3822700"/>
          <a:ext cx="2776538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943100" imgH="203200" progId="Equation.DSMT4">
                  <p:embed/>
                </p:oleObj>
              </mc:Choice>
              <mc:Fallback>
                <p:oleObj name="Equation" r:id="rId10" imgW="1943100" imgH="203200" progId="Equation.DSMT4">
                  <p:embed/>
                  <p:pic>
                    <p:nvPicPr>
                      <p:cNvPr id="114728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3822700"/>
                        <a:ext cx="2776538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729" name="Object 41"/>
          <p:cNvGraphicFramePr>
            <a:graphicFrameLocks noChangeAspect="1"/>
          </p:cNvGraphicFramePr>
          <p:nvPr/>
        </p:nvGraphicFramePr>
        <p:xfrm>
          <a:off x="762000" y="4446588"/>
          <a:ext cx="2884488" cy="566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019300" imgH="393700" progId="Equation.DSMT4">
                  <p:embed/>
                </p:oleObj>
              </mc:Choice>
              <mc:Fallback>
                <p:oleObj name="Equation" r:id="rId12" imgW="2019300" imgH="393700" progId="Equation.DSMT4">
                  <p:embed/>
                  <p:pic>
                    <p:nvPicPr>
                      <p:cNvPr id="114729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4446588"/>
                        <a:ext cx="2884488" cy="566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730" name="Object 42"/>
          <p:cNvGraphicFramePr>
            <a:graphicFrameLocks noChangeAspect="1"/>
          </p:cNvGraphicFramePr>
          <p:nvPr/>
        </p:nvGraphicFramePr>
        <p:xfrm>
          <a:off x="762000" y="5345113"/>
          <a:ext cx="1760538" cy="293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231366" imgH="203112" progId="Equation.DSMT4">
                  <p:embed/>
                </p:oleObj>
              </mc:Choice>
              <mc:Fallback>
                <p:oleObj name="Equation" r:id="rId14" imgW="1231366" imgH="203112" progId="Equation.DSMT4">
                  <p:embed/>
                  <p:pic>
                    <p:nvPicPr>
                      <p:cNvPr id="11473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5345113"/>
                        <a:ext cx="1760538" cy="293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5"/>
          <p:cNvGrpSpPr>
            <a:grpSpLocks/>
          </p:cNvGrpSpPr>
          <p:nvPr/>
        </p:nvGrpSpPr>
        <p:grpSpPr bwMode="auto">
          <a:xfrm>
            <a:off x="1743075" y="4343400"/>
            <a:ext cx="814388" cy="914400"/>
            <a:chOff x="1104" y="2544"/>
            <a:chExt cx="513" cy="576"/>
          </a:xfrm>
        </p:grpSpPr>
        <p:sp>
          <p:nvSpPr>
            <p:cNvPr id="49194" name="Oval 43"/>
            <p:cNvSpPr>
              <a:spLocks noChangeArrowheads="1"/>
            </p:cNvSpPr>
            <p:nvPr/>
          </p:nvSpPr>
          <p:spPr bwMode="auto">
            <a:xfrm>
              <a:off x="1104" y="2544"/>
              <a:ext cx="432" cy="432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49195" name="Text Box 44"/>
            <p:cNvSpPr txBox="1">
              <a:spLocks noChangeArrowheads="1"/>
            </p:cNvSpPr>
            <p:nvPr/>
          </p:nvSpPr>
          <p:spPr bwMode="auto">
            <a:xfrm>
              <a:off x="1430" y="2908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i="1">
                  <a:solidFill>
                    <a:srgbClr val="FF3300"/>
                  </a:solidFill>
                  <a:latin typeface="Times New Roman" pitchFamily="18" charset="0"/>
                </a:rPr>
                <a:t>Z</a:t>
              </a:r>
            </a:p>
          </p:txBody>
        </p:sp>
      </p:grpSp>
      <p:grpSp>
        <p:nvGrpSpPr>
          <p:cNvPr id="3" name="Group 89"/>
          <p:cNvGrpSpPr>
            <a:grpSpLocks/>
          </p:cNvGrpSpPr>
          <p:nvPr/>
        </p:nvGrpSpPr>
        <p:grpSpPr bwMode="auto">
          <a:xfrm>
            <a:off x="5465763" y="4648200"/>
            <a:ext cx="2698750" cy="1301750"/>
            <a:chOff x="3360" y="2871"/>
            <a:chExt cx="1700" cy="820"/>
          </a:xfrm>
        </p:grpSpPr>
        <p:grpSp>
          <p:nvGrpSpPr>
            <p:cNvPr id="49183" name="Group 57"/>
            <p:cNvGrpSpPr>
              <a:grpSpLocks/>
            </p:cNvGrpSpPr>
            <p:nvPr/>
          </p:nvGrpSpPr>
          <p:grpSpPr bwMode="auto">
            <a:xfrm>
              <a:off x="3360" y="2880"/>
              <a:ext cx="1700" cy="811"/>
              <a:chOff x="3561" y="941"/>
              <a:chExt cx="1700" cy="811"/>
            </a:xfrm>
          </p:grpSpPr>
          <p:pic>
            <p:nvPicPr>
              <p:cNvPr id="49190" name="Picture 58"/>
              <p:cNvPicPr>
                <a:picLocks noChangeAspect="1" noChangeArrowheads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3296" t="9618" r="18376" b="11877"/>
              <a:stretch>
                <a:fillRect/>
              </a:stretch>
            </p:blipFill>
            <p:spPr bwMode="auto">
              <a:xfrm>
                <a:off x="3616" y="941"/>
                <a:ext cx="1579" cy="6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9191" name="Text Box 59"/>
              <p:cNvSpPr txBox="1">
                <a:spLocks noChangeArrowheads="1"/>
              </p:cNvSpPr>
              <p:nvPr/>
            </p:nvSpPr>
            <p:spPr bwMode="auto">
              <a:xfrm>
                <a:off x="3561" y="1540"/>
                <a:ext cx="25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>
                    <a:latin typeface="Times New Roman" pitchFamily="18" charset="0"/>
                  </a:rPr>
                  <a:t>-</a:t>
                </a:r>
                <a:r>
                  <a:rPr lang="pt-BR" altLang="pt-BR" sz="1600">
                    <a:latin typeface="Times New Roman" pitchFamily="18" charset="0"/>
                    <a:sym typeface="Symbol" pitchFamily="18" charset="2"/>
                  </a:rPr>
                  <a:t></a:t>
                </a:r>
                <a:endParaRPr lang="pt-BR" altLang="pt-BR" sz="1600">
                  <a:latin typeface="Times New Roman" pitchFamily="18" charset="0"/>
                </a:endParaRPr>
              </a:p>
            </p:txBody>
          </p:sp>
          <p:sp>
            <p:nvSpPr>
              <p:cNvPr id="49192" name="Text Box 60"/>
              <p:cNvSpPr txBox="1">
                <a:spLocks noChangeArrowheads="1"/>
              </p:cNvSpPr>
              <p:nvPr/>
            </p:nvSpPr>
            <p:spPr bwMode="auto">
              <a:xfrm>
                <a:off x="4982" y="1540"/>
                <a:ext cx="279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>
                    <a:latin typeface="Times New Roman" pitchFamily="18" charset="0"/>
                  </a:rPr>
                  <a:t>+</a:t>
                </a:r>
                <a:r>
                  <a:rPr lang="pt-BR" altLang="pt-BR" sz="1600">
                    <a:latin typeface="Times New Roman" pitchFamily="18" charset="0"/>
                    <a:sym typeface="Symbol" pitchFamily="18" charset="2"/>
                  </a:rPr>
                  <a:t></a:t>
                </a:r>
                <a:endParaRPr lang="pt-BR" altLang="pt-BR" sz="1600">
                  <a:latin typeface="Times New Roman" pitchFamily="18" charset="0"/>
                </a:endParaRPr>
              </a:p>
            </p:txBody>
          </p:sp>
          <p:sp>
            <p:nvSpPr>
              <p:cNvPr id="49193" name="Text Box 61"/>
              <p:cNvSpPr txBox="1">
                <a:spLocks noChangeArrowheads="1"/>
              </p:cNvSpPr>
              <p:nvPr/>
            </p:nvSpPr>
            <p:spPr bwMode="auto">
              <a:xfrm>
                <a:off x="4327" y="1540"/>
                <a:ext cx="18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>
                    <a:latin typeface="Times New Roman" pitchFamily="18" charset="0"/>
                  </a:rPr>
                  <a:t>0</a:t>
                </a:r>
              </a:p>
            </p:txBody>
          </p:sp>
        </p:grpSp>
        <p:sp>
          <p:nvSpPr>
            <p:cNvPr id="49184" name="Text Box 62"/>
            <p:cNvSpPr txBox="1">
              <a:spLocks noChangeArrowheads="1"/>
            </p:cNvSpPr>
            <p:nvPr/>
          </p:nvSpPr>
          <p:spPr bwMode="auto">
            <a:xfrm>
              <a:off x="4272" y="3495"/>
              <a:ext cx="25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400">
                  <a:latin typeface="Times New Roman" pitchFamily="18" charset="0"/>
                </a:rPr>
                <a:t>0,5</a:t>
              </a:r>
            </a:p>
          </p:txBody>
        </p:sp>
        <p:grpSp>
          <p:nvGrpSpPr>
            <p:cNvPr id="49185" name="Group 66"/>
            <p:cNvGrpSpPr>
              <a:grpSpLocks/>
            </p:cNvGrpSpPr>
            <p:nvPr/>
          </p:nvGrpSpPr>
          <p:grpSpPr bwMode="auto">
            <a:xfrm flipH="1">
              <a:off x="3924" y="2898"/>
              <a:ext cx="473" cy="623"/>
              <a:chOff x="4039" y="2898"/>
              <a:chExt cx="473" cy="623"/>
            </a:xfrm>
          </p:grpSpPr>
          <p:sp>
            <p:nvSpPr>
              <p:cNvPr id="49188" name="Freeform 63" descr="Diagonal para cima clara"/>
              <p:cNvSpPr>
                <a:spLocks/>
              </p:cNvSpPr>
              <p:nvPr/>
            </p:nvSpPr>
            <p:spPr bwMode="auto">
              <a:xfrm>
                <a:off x="4039" y="2898"/>
                <a:ext cx="183" cy="623"/>
              </a:xfrm>
              <a:custGeom>
                <a:avLst/>
                <a:gdLst>
                  <a:gd name="T0" fmla="*/ 182 w 183"/>
                  <a:gd name="T1" fmla="*/ 622 h 623"/>
                  <a:gd name="T2" fmla="*/ 183 w 183"/>
                  <a:gd name="T3" fmla="*/ 0 h 623"/>
                  <a:gd name="T4" fmla="*/ 150 w 183"/>
                  <a:gd name="T5" fmla="*/ 8 h 623"/>
                  <a:gd name="T6" fmla="*/ 124 w 183"/>
                  <a:gd name="T7" fmla="*/ 26 h 623"/>
                  <a:gd name="T8" fmla="*/ 102 w 183"/>
                  <a:gd name="T9" fmla="*/ 50 h 623"/>
                  <a:gd name="T10" fmla="*/ 79 w 183"/>
                  <a:gd name="T11" fmla="*/ 78 h 623"/>
                  <a:gd name="T12" fmla="*/ 50 w 183"/>
                  <a:gd name="T13" fmla="*/ 127 h 623"/>
                  <a:gd name="T14" fmla="*/ 25 w 183"/>
                  <a:gd name="T15" fmla="*/ 169 h 623"/>
                  <a:gd name="T16" fmla="*/ 1 w 183"/>
                  <a:gd name="T17" fmla="*/ 217 h 623"/>
                  <a:gd name="T18" fmla="*/ 0 w 183"/>
                  <a:gd name="T19" fmla="*/ 623 h 623"/>
                  <a:gd name="T20" fmla="*/ 182 w 183"/>
                  <a:gd name="T21" fmla="*/ 622 h 623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83"/>
                  <a:gd name="T34" fmla="*/ 0 h 623"/>
                  <a:gd name="T35" fmla="*/ 183 w 183"/>
                  <a:gd name="T36" fmla="*/ 623 h 623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83" h="623">
                    <a:moveTo>
                      <a:pt x="182" y="622"/>
                    </a:moveTo>
                    <a:lnTo>
                      <a:pt x="183" y="0"/>
                    </a:lnTo>
                    <a:lnTo>
                      <a:pt x="150" y="8"/>
                    </a:lnTo>
                    <a:lnTo>
                      <a:pt x="124" y="26"/>
                    </a:lnTo>
                    <a:lnTo>
                      <a:pt x="102" y="50"/>
                    </a:lnTo>
                    <a:lnTo>
                      <a:pt x="79" y="78"/>
                    </a:lnTo>
                    <a:lnTo>
                      <a:pt x="50" y="127"/>
                    </a:lnTo>
                    <a:lnTo>
                      <a:pt x="25" y="169"/>
                    </a:lnTo>
                    <a:lnTo>
                      <a:pt x="1" y="217"/>
                    </a:lnTo>
                    <a:lnTo>
                      <a:pt x="0" y="623"/>
                    </a:lnTo>
                    <a:lnTo>
                      <a:pt x="182" y="622"/>
                    </a:lnTo>
                    <a:close/>
                  </a:path>
                </a:pathLst>
              </a:custGeom>
              <a:pattFill prst="ltUpDiag">
                <a:fgClr>
                  <a:schemeClr val="tx1"/>
                </a:fgClr>
                <a:bgClr>
                  <a:schemeClr val="bg1"/>
                </a:bgClr>
              </a:pattFill>
              <a:ln w="31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49189" name="Freeform 64" descr="Diagonal para cima clara"/>
              <p:cNvSpPr>
                <a:spLocks/>
              </p:cNvSpPr>
              <p:nvPr/>
            </p:nvSpPr>
            <p:spPr bwMode="auto">
              <a:xfrm>
                <a:off x="4215" y="2898"/>
                <a:ext cx="297" cy="622"/>
              </a:xfrm>
              <a:custGeom>
                <a:avLst/>
                <a:gdLst>
                  <a:gd name="T0" fmla="*/ 1 w 297"/>
                  <a:gd name="T1" fmla="*/ 490 h 629"/>
                  <a:gd name="T2" fmla="*/ 0 w 297"/>
                  <a:gd name="T3" fmla="*/ 0 h 629"/>
                  <a:gd name="T4" fmla="*/ 33 w 297"/>
                  <a:gd name="T5" fmla="*/ 8 h 629"/>
                  <a:gd name="T6" fmla="*/ 59 w 297"/>
                  <a:gd name="T7" fmla="*/ 26 h 629"/>
                  <a:gd name="T8" fmla="*/ 81 w 297"/>
                  <a:gd name="T9" fmla="*/ 44 h 629"/>
                  <a:gd name="T10" fmla="*/ 104 w 297"/>
                  <a:gd name="T11" fmla="*/ 57 h 629"/>
                  <a:gd name="T12" fmla="*/ 133 w 297"/>
                  <a:gd name="T13" fmla="*/ 106 h 629"/>
                  <a:gd name="T14" fmla="*/ 158 w 297"/>
                  <a:gd name="T15" fmla="*/ 130 h 629"/>
                  <a:gd name="T16" fmla="*/ 182 w 297"/>
                  <a:gd name="T17" fmla="*/ 175 h 629"/>
                  <a:gd name="T18" fmla="*/ 205 w 297"/>
                  <a:gd name="T19" fmla="*/ 203 h 629"/>
                  <a:gd name="T20" fmla="*/ 229 w 297"/>
                  <a:gd name="T21" fmla="*/ 238 h 629"/>
                  <a:gd name="T22" fmla="*/ 253 w 297"/>
                  <a:gd name="T23" fmla="*/ 272 h 629"/>
                  <a:gd name="T24" fmla="*/ 273 w 297"/>
                  <a:gd name="T25" fmla="*/ 304 h 629"/>
                  <a:gd name="T26" fmla="*/ 297 w 297"/>
                  <a:gd name="T27" fmla="*/ 332 h 629"/>
                  <a:gd name="T28" fmla="*/ 297 w 297"/>
                  <a:gd name="T29" fmla="*/ 490 h 629"/>
                  <a:gd name="T30" fmla="*/ 1 w 297"/>
                  <a:gd name="T31" fmla="*/ 490 h 629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297"/>
                  <a:gd name="T49" fmla="*/ 0 h 629"/>
                  <a:gd name="T50" fmla="*/ 297 w 297"/>
                  <a:gd name="T51" fmla="*/ 629 h 629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297" h="629">
                    <a:moveTo>
                      <a:pt x="1" y="629"/>
                    </a:moveTo>
                    <a:lnTo>
                      <a:pt x="0" y="0"/>
                    </a:lnTo>
                    <a:lnTo>
                      <a:pt x="33" y="8"/>
                    </a:lnTo>
                    <a:lnTo>
                      <a:pt x="59" y="26"/>
                    </a:lnTo>
                    <a:lnTo>
                      <a:pt x="81" y="51"/>
                    </a:lnTo>
                    <a:lnTo>
                      <a:pt x="104" y="79"/>
                    </a:lnTo>
                    <a:lnTo>
                      <a:pt x="133" y="128"/>
                    </a:lnTo>
                    <a:lnTo>
                      <a:pt x="158" y="171"/>
                    </a:lnTo>
                    <a:lnTo>
                      <a:pt x="182" y="219"/>
                    </a:lnTo>
                    <a:lnTo>
                      <a:pt x="205" y="259"/>
                    </a:lnTo>
                    <a:lnTo>
                      <a:pt x="229" y="304"/>
                    </a:lnTo>
                    <a:lnTo>
                      <a:pt x="253" y="346"/>
                    </a:lnTo>
                    <a:lnTo>
                      <a:pt x="273" y="389"/>
                    </a:lnTo>
                    <a:lnTo>
                      <a:pt x="297" y="424"/>
                    </a:lnTo>
                    <a:lnTo>
                      <a:pt x="297" y="629"/>
                    </a:lnTo>
                    <a:lnTo>
                      <a:pt x="1" y="629"/>
                    </a:lnTo>
                    <a:close/>
                  </a:path>
                </a:pathLst>
              </a:custGeom>
              <a:pattFill prst="ltUpDiag">
                <a:fgClr>
                  <a:schemeClr val="tx1"/>
                </a:fgClr>
                <a:bgClr>
                  <a:schemeClr val="bg1"/>
                </a:bgClr>
              </a:pattFill>
              <a:ln w="31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49186" name="Text Box 65"/>
            <p:cNvSpPr txBox="1">
              <a:spLocks noChangeArrowheads="1"/>
            </p:cNvSpPr>
            <p:nvPr/>
          </p:nvSpPr>
          <p:spPr bwMode="auto">
            <a:xfrm>
              <a:off x="3816" y="3492"/>
              <a:ext cx="20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400">
                  <a:latin typeface="Times New Roman" pitchFamily="18" charset="0"/>
                </a:rPr>
                <a:t>-1</a:t>
              </a:r>
            </a:p>
          </p:txBody>
        </p:sp>
        <p:sp>
          <p:nvSpPr>
            <p:cNvPr id="49187" name="Text Box 77"/>
            <p:cNvSpPr txBox="1">
              <a:spLocks noChangeArrowheads="1"/>
            </p:cNvSpPr>
            <p:nvPr/>
          </p:nvSpPr>
          <p:spPr bwMode="auto">
            <a:xfrm>
              <a:off x="4550" y="2871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i="1">
                  <a:latin typeface="Times New Roman" pitchFamily="18" charset="0"/>
                </a:rPr>
                <a:t>Z</a:t>
              </a:r>
            </a:p>
          </p:txBody>
        </p:sp>
      </p:grpSp>
      <p:grpSp>
        <p:nvGrpSpPr>
          <p:cNvPr id="6" name="Group 90"/>
          <p:cNvGrpSpPr>
            <a:grpSpLocks/>
          </p:cNvGrpSpPr>
          <p:nvPr/>
        </p:nvGrpSpPr>
        <p:grpSpPr bwMode="auto">
          <a:xfrm>
            <a:off x="5181600" y="1676400"/>
            <a:ext cx="3267075" cy="1138238"/>
            <a:chOff x="2918" y="1372"/>
            <a:chExt cx="2058" cy="717"/>
          </a:xfrm>
        </p:grpSpPr>
        <p:pic>
          <p:nvPicPr>
            <p:cNvPr id="49173" name="Picture 79"/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296" t="9618" r="18376" b="11877"/>
            <a:stretch>
              <a:fillRect/>
            </a:stretch>
          </p:blipFill>
          <p:spPr bwMode="auto">
            <a:xfrm>
              <a:off x="2976" y="1488"/>
              <a:ext cx="1934" cy="4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174" name="Text Box 80"/>
            <p:cNvSpPr txBox="1">
              <a:spLocks noChangeArrowheads="1"/>
            </p:cNvSpPr>
            <p:nvPr/>
          </p:nvSpPr>
          <p:spPr bwMode="auto">
            <a:xfrm>
              <a:off x="2918" y="1877"/>
              <a:ext cx="25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Times New Roman" pitchFamily="18" charset="0"/>
                </a:rPr>
                <a:t>-</a:t>
              </a:r>
              <a:r>
                <a:rPr lang="pt-BR" altLang="pt-BR" sz="1600">
                  <a:latin typeface="Times New Roman" pitchFamily="18" charset="0"/>
                  <a:sym typeface="Symbol" pitchFamily="18" charset="2"/>
                </a:rPr>
                <a:t></a:t>
              </a:r>
              <a:endParaRPr lang="pt-BR" altLang="pt-BR" sz="1600">
                <a:latin typeface="Times New Roman" pitchFamily="18" charset="0"/>
              </a:endParaRPr>
            </a:p>
          </p:txBody>
        </p:sp>
        <p:sp>
          <p:nvSpPr>
            <p:cNvPr id="49175" name="Text Box 81"/>
            <p:cNvSpPr txBox="1">
              <a:spLocks noChangeArrowheads="1"/>
            </p:cNvSpPr>
            <p:nvPr/>
          </p:nvSpPr>
          <p:spPr bwMode="auto">
            <a:xfrm>
              <a:off x="4697" y="1877"/>
              <a:ext cx="279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Times New Roman" pitchFamily="18" charset="0"/>
                </a:rPr>
                <a:t>+</a:t>
              </a:r>
              <a:r>
                <a:rPr lang="pt-BR" altLang="pt-BR" sz="1600">
                  <a:latin typeface="Times New Roman" pitchFamily="18" charset="0"/>
                  <a:sym typeface="Symbol" pitchFamily="18" charset="2"/>
                </a:rPr>
                <a:t></a:t>
              </a:r>
              <a:endParaRPr lang="pt-BR" altLang="pt-BR" sz="1600">
                <a:latin typeface="Times New Roman" pitchFamily="18" charset="0"/>
              </a:endParaRPr>
            </a:p>
          </p:txBody>
        </p:sp>
        <p:sp>
          <p:nvSpPr>
            <p:cNvPr id="49176" name="Text Box 82"/>
            <p:cNvSpPr txBox="1">
              <a:spLocks noChangeArrowheads="1"/>
            </p:cNvSpPr>
            <p:nvPr/>
          </p:nvSpPr>
          <p:spPr bwMode="auto">
            <a:xfrm>
              <a:off x="3838" y="1877"/>
              <a:ext cx="24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Times New Roman" pitchFamily="18" charset="0"/>
                </a:rPr>
                <a:t>10</a:t>
              </a:r>
            </a:p>
          </p:txBody>
        </p:sp>
        <p:sp>
          <p:nvSpPr>
            <p:cNvPr id="49177" name="Text Box 83"/>
            <p:cNvSpPr txBox="1">
              <a:spLocks noChangeArrowheads="1"/>
            </p:cNvSpPr>
            <p:nvPr/>
          </p:nvSpPr>
          <p:spPr bwMode="auto">
            <a:xfrm>
              <a:off x="4064" y="1893"/>
              <a:ext cx="22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400">
                  <a:latin typeface="Times New Roman" pitchFamily="18" charset="0"/>
                </a:rPr>
                <a:t>11</a:t>
              </a:r>
            </a:p>
          </p:txBody>
        </p:sp>
        <p:grpSp>
          <p:nvGrpSpPr>
            <p:cNvPr id="49178" name="Group 84"/>
            <p:cNvGrpSpPr>
              <a:grpSpLocks/>
            </p:cNvGrpSpPr>
            <p:nvPr/>
          </p:nvGrpSpPr>
          <p:grpSpPr bwMode="auto">
            <a:xfrm flipH="1">
              <a:off x="3606" y="1494"/>
              <a:ext cx="569" cy="431"/>
              <a:chOff x="4039" y="2898"/>
              <a:chExt cx="473" cy="623"/>
            </a:xfrm>
          </p:grpSpPr>
          <p:sp>
            <p:nvSpPr>
              <p:cNvPr id="49181" name="Freeform 85" descr="Diagonal para cima clara"/>
              <p:cNvSpPr>
                <a:spLocks/>
              </p:cNvSpPr>
              <p:nvPr/>
            </p:nvSpPr>
            <p:spPr bwMode="auto">
              <a:xfrm>
                <a:off x="4039" y="2898"/>
                <a:ext cx="183" cy="623"/>
              </a:xfrm>
              <a:custGeom>
                <a:avLst/>
                <a:gdLst>
                  <a:gd name="T0" fmla="*/ 182 w 183"/>
                  <a:gd name="T1" fmla="*/ 622 h 623"/>
                  <a:gd name="T2" fmla="*/ 183 w 183"/>
                  <a:gd name="T3" fmla="*/ 0 h 623"/>
                  <a:gd name="T4" fmla="*/ 150 w 183"/>
                  <a:gd name="T5" fmla="*/ 8 h 623"/>
                  <a:gd name="T6" fmla="*/ 124 w 183"/>
                  <a:gd name="T7" fmla="*/ 26 h 623"/>
                  <a:gd name="T8" fmla="*/ 102 w 183"/>
                  <a:gd name="T9" fmla="*/ 50 h 623"/>
                  <a:gd name="T10" fmla="*/ 79 w 183"/>
                  <a:gd name="T11" fmla="*/ 78 h 623"/>
                  <a:gd name="T12" fmla="*/ 50 w 183"/>
                  <a:gd name="T13" fmla="*/ 127 h 623"/>
                  <a:gd name="T14" fmla="*/ 25 w 183"/>
                  <a:gd name="T15" fmla="*/ 169 h 623"/>
                  <a:gd name="T16" fmla="*/ 1 w 183"/>
                  <a:gd name="T17" fmla="*/ 217 h 623"/>
                  <a:gd name="T18" fmla="*/ 0 w 183"/>
                  <a:gd name="T19" fmla="*/ 623 h 623"/>
                  <a:gd name="T20" fmla="*/ 182 w 183"/>
                  <a:gd name="T21" fmla="*/ 622 h 623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83"/>
                  <a:gd name="T34" fmla="*/ 0 h 623"/>
                  <a:gd name="T35" fmla="*/ 183 w 183"/>
                  <a:gd name="T36" fmla="*/ 623 h 623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83" h="623">
                    <a:moveTo>
                      <a:pt x="182" y="622"/>
                    </a:moveTo>
                    <a:lnTo>
                      <a:pt x="183" y="0"/>
                    </a:lnTo>
                    <a:lnTo>
                      <a:pt x="150" y="8"/>
                    </a:lnTo>
                    <a:lnTo>
                      <a:pt x="124" y="26"/>
                    </a:lnTo>
                    <a:lnTo>
                      <a:pt x="102" y="50"/>
                    </a:lnTo>
                    <a:lnTo>
                      <a:pt x="79" y="78"/>
                    </a:lnTo>
                    <a:lnTo>
                      <a:pt x="50" y="127"/>
                    </a:lnTo>
                    <a:lnTo>
                      <a:pt x="25" y="169"/>
                    </a:lnTo>
                    <a:lnTo>
                      <a:pt x="1" y="217"/>
                    </a:lnTo>
                    <a:lnTo>
                      <a:pt x="0" y="623"/>
                    </a:lnTo>
                    <a:lnTo>
                      <a:pt x="182" y="622"/>
                    </a:lnTo>
                    <a:close/>
                  </a:path>
                </a:pathLst>
              </a:custGeom>
              <a:pattFill prst="ltUpDiag">
                <a:fgClr>
                  <a:schemeClr val="tx1"/>
                </a:fgClr>
                <a:bgClr>
                  <a:schemeClr val="bg1"/>
                </a:bgClr>
              </a:pattFill>
              <a:ln w="31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49182" name="Freeform 86" descr="Diagonal para cima clara"/>
              <p:cNvSpPr>
                <a:spLocks/>
              </p:cNvSpPr>
              <p:nvPr/>
            </p:nvSpPr>
            <p:spPr bwMode="auto">
              <a:xfrm>
                <a:off x="4215" y="2898"/>
                <a:ext cx="297" cy="622"/>
              </a:xfrm>
              <a:custGeom>
                <a:avLst/>
                <a:gdLst>
                  <a:gd name="T0" fmla="*/ 1 w 297"/>
                  <a:gd name="T1" fmla="*/ 490 h 629"/>
                  <a:gd name="T2" fmla="*/ 0 w 297"/>
                  <a:gd name="T3" fmla="*/ 0 h 629"/>
                  <a:gd name="T4" fmla="*/ 33 w 297"/>
                  <a:gd name="T5" fmla="*/ 8 h 629"/>
                  <a:gd name="T6" fmla="*/ 59 w 297"/>
                  <a:gd name="T7" fmla="*/ 26 h 629"/>
                  <a:gd name="T8" fmla="*/ 81 w 297"/>
                  <a:gd name="T9" fmla="*/ 44 h 629"/>
                  <a:gd name="T10" fmla="*/ 104 w 297"/>
                  <a:gd name="T11" fmla="*/ 57 h 629"/>
                  <a:gd name="T12" fmla="*/ 133 w 297"/>
                  <a:gd name="T13" fmla="*/ 106 h 629"/>
                  <a:gd name="T14" fmla="*/ 158 w 297"/>
                  <a:gd name="T15" fmla="*/ 130 h 629"/>
                  <a:gd name="T16" fmla="*/ 182 w 297"/>
                  <a:gd name="T17" fmla="*/ 175 h 629"/>
                  <a:gd name="T18" fmla="*/ 205 w 297"/>
                  <a:gd name="T19" fmla="*/ 203 h 629"/>
                  <a:gd name="T20" fmla="*/ 229 w 297"/>
                  <a:gd name="T21" fmla="*/ 238 h 629"/>
                  <a:gd name="T22" fmla="*/ 253 w 297"/>
                  <a:gd name="T23" fmla="*/ 272 h 629"/>
                  <a:gd name="T24" fmla="*/ 273 w 297"/>
                  <a:gd name="T25" fmla="*/ 304 h 629"/>
                  <a:gd name="T26" fmla="*/ 297 w 297"/>
                  <a:gd name="T27" fmla="*/ 332 h 629"/>
                  <a:gd name="T28" fmla="*/ 297 w 297"/>
                  <a:gd name="T29" fmla="*/ 490 h 629"/>
                  <a:gd name="T30" fmla="*/ 1 w 297"/>
                  <a:gd name="T31" fmla="*/ 490 h 629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297"/>
                  <a:gd name="T49" fmla="*/ 0 h 629"/>
                  <a:gd name="T50" fmla="*/ 297 w 297"/>
                  <a:gd name="T51" fmla="*/ 629 h 629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297" h="629">
                    <a:moveTo>
                      <a:pt x="1" y="629"/>
                    </a:moveTo>
                    <a:lnTo>
                      <a:pt x="0" y="0"/>
                    </a:lnTo>
                    <a:lnTo>
                      <a:pt x="33" y="8"/>
                    </a:lnTo>
                    <a:lnTo>
                      <a:pt x="59" y="26"/>
                    </a:lnTo>
                    <a:lnTo>
                      <a:pt x="81" y="51"/>
                    </a:lnTo>
                    <a:lnTo>
                      <a:pt x="104" y="79"/>
                    </a:lnTo>
                    <a:lnTo>
                      <a:pt x="133" y="128"/>
                    </a:lnTo>
                    <a:lnTo>
                      <a:pt x="158" y="171"/>
                    </a:lnTo>
                    <a:lnTo>
                      <a:pt x="182" y="219"/>
                    </a:lnTo>
                    <a:lnTo>
                      <a:pt x="205" y="259"/>
                    </a:lnTo>
                    <a:lnTo>
                      <a:pt x="229" y="304"/>
                    </a:lnTo>
                    <a:lnTo>
                      <a:pt x="253" y="346"/>
                    </a:lnTo>
                    <a:lnTo>
                      <a:pt x="273" y="389"/>
                    </a:lnTo>
                    <a:lnTo>
                      <a:pt x="297" y="424"/>
                    </a:lnTo>
                    <a:lnTo>
                      <a:pt x="297" y="629"/>
                    </a:lnTo>
                    <a:lnTo>
                      <a:pt x="1" y="629"/>
                    </a:lnTo>
                    <a:close/>
                  </a:path>
                </a:pathLst>
              </a:custGeom>
              <a:pattFill prst="ltUpDiag">
                <a:fgClr>
                  <a:schemeClr val="tx1"/>
                </a:fgClr>
                <a:bgClr>
                  <a:schemeClr val="bg1"/>
                </a:bgClr>
              </a:pattFill>
              <a:ln w="31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49179" name="Text Box 87"/>
            <p:cNvSpPr txBox="1">
              <a:spLocks noChangeArrowheads="1"/>
            </p:cNvSpPr>
            <p:nvPr/>
          </p:nvSpPr>
          <p:spPr bwMode="auto">
            <a:xfrm>
              <a:off x="3516" y="1890"/>
              <a:ext cx="1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400"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49180" name="Text Box 88"/>
            <p:cNvSpPr txBox="1">
              <a:spLocks noChangeArrowheads="1"/>
            </p:cNvSpPr>
            <p:nvPr/>
          </p:nvSpPr>
          <p:spPr bwMode="auto">
            <a:xfrm>
              <a:off x="4320" y="1372"/>
              <a:ext cx="19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i="1">
                  <a:latin typeface="Times New Roman" pitchFamily="18" charset="0"/>
                </a:rPr>
                <a:t>X</a:t>
              </a:r>
            </a:p>
          </p:txBody>
        </p:sp>
      </p:grpSp>
      <p:sp>
        <p:nvSpPr>
          <p:cNvPr id="114779" name="AutoShape 91"/>
          <p:cNvSpPr>
            <a:spLocks noChangeArrowheads="1"/>
          </p:cNvSpPr>
          <p:nvPr/>
        </p:nvSpPr>
        <p:spPr bwMode="auto">
          <a:xfrm>
            <a:off x="6648450" y="3276600"/>
            <a:ext cx="381000" cy="1066800"/>
          </a:xfrm>
          <a:prstGeom prst="upDownArrow">
            <a:avLst>
              <a:gd name="adj1" fmla="val 50000"/>
              <a:gd name="adj2" fmla="val 56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grpSp>
        <p:nvGrpSpPr>
          <p:cNvPr id="8" name="Group 95"/>
          <p:cNvGrpSpPr>
            <a:grpSpLocks/>
          </p:cNvGrpSpPr>
          <p:nvPr/>
        </p:nvGrpSpPr>
        <p:grpSpPr bwMode="auto">
          <a:xfrm>
            <a:off x="5651500" y="4627563"/>
            <a:ext cx="949325" cy="457200"/>
            <a:chOff x="3923" y="2750"/>
            <a:chExt cx="598" cy="288"/>
          </a:xfrm>
        </p:grpSpPr>
        <p:sp>
          <p:nvSpPr>
            <p:cNvPr id="49171" name="Text Box 93"/>
            <p:cNvSpPr txBox="1">
              <a:spLocks noChangeArrowheads="1"/>
            </p:cNvSpPr>
            <p:nvPr/>
          </p:nvSpPr>
          <p:spPr bwMode="auto">
            <a:xfrm>
              <a:off x="3923" y="2750"/>
              <a:ext cx="46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Times New Roman" pitchFamily="18" charset="0"/>
                </a:rPr>
                <a:t>0,5328</a:t>
              </a:r>
            </a:p>
          </p:txBody>
        </p:sp>
        <p:sp>
          <p:nvSpPr>
            <p:cNvPr id="49172" name="Line 94"/>
            <p:cNvSpPr>
              <a:spLocks noChangeShapeType="1"/>
            </p:cNvSpPr>
            <p:nvPr/>
          </p:nvSpPr>
          <p:spPr bwMode="auto">
            <a:xfrm flipH="1" flipV="1">
              <a:off x="4377" y="2894"/>
              <a:ext cx="144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9" name="Group 96"/>
          <p:cNvGrpSpPr>
            <a:grpSpLocks/>
          </p:cNvGrpSpPr>
          <p:nvPr/>
        </p:nvGrpSpPr>
        <p:grpSpPr bwMode="auto">
          <a:xfrm>
            <a:off x="5637213" y="1685925"/>
            <a:ext cx="949325" cy="457200"/>
            <a:chOff x="3923" y="2750"/>
            <a:chExt cx="598" cy="288"/>
          </a:xfrm>
        </p:grpSpPr>
        <p:sp>
          <p:nvSpPr>
            <p:cNvPr id="49169" name="Text Box 97"/>
            <p:cNvSpPr txBox="1">
              <a:spLocks noChangeArrowheads="1"/>
            </p:cNvSpPr>
            <p:nvPr/>
          </p:nvSpPr>
          <p:spPr bwMode="auto">
            <a:xfrm>
              <a:off x="3923" y="2750"/>
              <a:ext cx="46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Times New Roman" pitchFamily="18" charset="0"/>
                </a:rPr>
                <a:t>0,5328</a:t>
              </a:r>
            </a:p>
          </p:txBody>
        </p:sp>
        <p:sp>
          <p:nvSpPr>
            <p:cNvPr id="49170" name="Line 98"/>
            <p:cNvSpPr>
              <a:spLocks noChangeShapeType="1"/>
            </p:cNvSpPr>
            <p:nvPr/>
          </p:nvSpPr>
          <p:spPr bwMode="auto">
            <a:xfrm flipH="1" flipV="1">
              <a:off x="4377" y="2894"/>
              <a:ext cx="144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</p:grp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97772C-0BDB-44F0-BFB6-8875EB0B1E0E}" type="slidenum">
              <a:rPr lang="pt-BR"/>
              <a:pPr>
                <a:defRPr/>
              </a:pPr>
              <a:t>57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779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9"/>
          <p:cNvGrpSpPr>
            <a:grpSpLocks/>
          </p:cNvGrpSpPr>
          <p:nvPr/>
        </p:nvGrpSpPr>
        <p:grpSpPr bwMode="auto">
          <a:xfrm>
            <a:off x="838200" y="4714875"/>
            <a:ext cx="996950" cy="744538"/>
            <a:chOff x="528" y="2970"/>
            <a:chExt cx="628" cy="469"/>
          </a:xfrm>
        </p:grpSpPr>
        <p:graphicFrame>
          <p:nvGraphicFramePr>
            <p:cNvPr id="26640" name="Object 42"/>
            <p:cNvGraphicFramePr>
              <a:graphicFrameLocks noChangeAspect="1"/>
            </p:cNvGraphicFramePr>
            <p:nvPr/>
          </p:nvGraphicFramePr>
          <p:xfrm>
            <a:off x="528" y="2970"/>
            <a:ext cx="525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583947" imgH="203112" progId="Equation.DSMT4">
                    <p:embed/>
                  </p:oleObj>
                </mc:Choice>
                <mc:Fallback>
                  <p:oleObj name="Equation" r:id="rId2" imgW="583947" imgH="203112" progId="Equation.DSMT4">
                    <p:embed/>
                    <p:pic>
                      <p:nvPicPr>
                        <p:cNvPr id="26640" name="Object 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8" y="2970"/>
                          <a:ext cx="525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641" name="Object 45"/>
            <p:cNvGraphicFramePr>
              <a:graphicFrameLocks noChangeAspect="1"/>
            </p:cNvGraphicFramePr>
            <p:nvPr/>
          </p:nvGraphicFramePr>
          <p:xfrm>
            <a:off x="528" y="3255"/>
            <a:ext cx="628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698197" imgH="203112" progId="Equation.DSMT4">
                    <p:embed/>
                  </p:oleObj>
                </mc:Choice>
                <mc:Fallback>
                  <p:oleObj name="Equation" r:id="rId4" imgW="698197" imgH="203112" progId="Equation.DSMT4">
                    <p:embed/>
                    <p:pic>
                      <p:nvPicPr>
                        <p:cNvPr id="26641" name="Object 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8" y="3255"/>
                          <a:ext cx="628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6738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609600"/>
            <a:ext cx="8763000" cy="685800"/>
          </a:xfrm>
        </p:spPr>
        <p:txBody>
          <a:bodyPr/>
          <a:lstStyle/>
          <a:p>
            <a:pPr eaLnBrk="1" hangingPunct="1">
              <a:defRPr/>
            </a:pPr>
            <a:r>
              <a:rPr lang="pt-BR"/>
              <a:t>Distribuição da Soma de Variáveis Aleatórias</a:t>
            </a:r>
          </a:p>
        </p:txBody>
      </p:sp>
      <p:graphicFrame>
        <p:nvGraphicFramePr>
          <p:cNvPr id="26628" name="Object 38"/>
          <p:cNvGraphicFramePr>
            <a:graphicFrameLocks noChangeAspect="1"/>
          </p:cNvGraphicFramePr>
          <p:nvPr/>
        </p:nvGraphicFramePr>
        <p:xfrm>
          <a:off x="785813" y="1541463"/>
          <a:ext cx="1576387" cy="173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04900" imgH="1206500" progId="Equation.DSMT4">
                  <p:embed/>
                </p:oleObj>
              </mc:Choice>
              <mc:Fallback>
                <p:oleObj name="Equation" r:id="rId6" imgW="1104900" imgH="1206500" progId="Equation.DSMT4">
                  <p:embed/>
                  <p:pic>
                    <p:nvPicPr>
                      <p:cNvPr id="26628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5813" y="1541463"/>
                        <a:ext cx="1576387" cy="1735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6776" name="Text Box 40"/>
          <p:cNvSpPr txBox="1">
            <a:spLocks noChangeArrowheads="1"/>
          </p:cNvSpPr>
          <p:nvPr/>
        </p:nvSpPr>
        <p:spPr bwMode="auto">
          <a:xfrm>
            <a:off x="714375" y="3581400"/>
            <a:ext cx="248497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Qual a distribuição de </a:t>
            </a:r>
            <a:r>
              <a:rPr lang="pt-BR" altLang="pt-BR" sz="1600" i="1" dirty="0">
                <a:latin typeface="Times New Roman" pitchFamily="18" charset="0"/>
              </a:rPr>
              <a:t>Y </a:t>
            </a:r>
            <a:r>
              <a:rPr lang="pt-BR" altLang="pt-BR" sz="1600" dirty="0">
                <a:latin typeface="Tahoma" panose="020B0604030504040204" pitchFamily="34" charset="0"/>
              </a:rPr>
              <a:t>?</a:t>
            </a:r>
          </a:p>
        </p:txBody>
      </p:sp>
      <p:graphicFrame>
        <p:nvGraphicFramePr>
          <p:cNvPr id="116777" name="Object 41"/>
          <p:cNvGraphicFramePr>
            <a:graphicFrameLocks noChangeAspect="1"/>
          </p:cNvGraphicFramePr>
          <p:nvPr/>
        </p:nvGraphicFramePr>
        <p:xfrm>
          <a:off x="828675" y="4238625"/>
          <a:ext cx="1031875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23586" imgH="203112" progId="Equation.DSMT4">
                  <p:embed/>
                </p:oleObj>
              </mc:Choice>
              <mc:Fallback>
                <p:oleObj name="Equation" r:id="rId8" imgW="723586" imgH="203112" progId="Equation.DSMT4">
                  <p:embed/>
                  <p:pic>
                    <p:nvPicPr>
                      <p:cNvPr id="116777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8675" y="4238625"/>
                        <a:ext cx="1031875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779" name="Object 43"/>
          <p:cNvGraphicFramePr>
            <a:graphicFrameLocks noChangeAspect="1"/>
          </p:cNvGraphicFramePr>
          <p:nvPr/>
        </p:nvGraphicFramePr>
        <p:xfrm>
          <a:off x="1485900" y="4697413"/>
          <a:ext cx="4022725" cy="328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819400" imgH="228600" progId="Equation.DSMT4">
                  <p:embed/>
                </p:oleObj>
              </mc:Choice>
              <mc:Fallback>
                <p:oleObj name="Equation" r:id="rId10" imgW="2819400" imgH="228600" progId="Equation.DSMT4">
                  <p:embed/>
                  <p:pic>
                    <p:nvPicPr>
                      <p:cNvPr id="116779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5900" y="4697413"/>
                        <a:ext cx="4022725" cy="32861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780" name="Object 44"/>
          <p:cNvGraphicFramePr>
            <a:graphicFrameLocks noChangeAspect="1"/>
          </p:cNvGraphicFramePr>
          <p:nvPr/>
        </p:nvGraphicFramePr>
        <p:xfrm>
          <a:off x="5467350" y="4695825"/>
          <a:ext cx="1087438" cy="328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761669" imgH="228501" progId="Equation.DSMT4">
                  <p:embed/>
                </p:oleObj>
              </mc:Choice>
              <mc:Fallback>
                <p:oleObj name="Equation" r:id="rId12" imgW="761669" imgH="228501" progId="Equation.DSMT4">
                  <p:embed/>
                  <p:pic>
                    <p:nvPicPr>
                      <p:cNvPr id="11678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7350" y="4695825"/>
                        <a:ext cx="1087438" cy="328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782" name="Object 46"/>
          <p:cNvGraphicFramePr>
            <a:graphicFrameLocks noChangeAspect="1"/>
          </p:cNvGraphicFramePr>
          <p:nvPr/>
        </p:nvGraphicFramePr>
        <p:xfrm>
          <a:off x="1676400" y="5138738"/>
          <a:ext cx="1177925" cy="347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825500" imgH="241300" progId="Equation.DSMT4">
                  <p:embed/>
                </p:oleObj>
              </mc:Choice>
              <mc:Fallback>
                <p:oleObj name="Equation" r:id="rId14" imgW="825500" imgH="241300" progId="Equation.DSMT4">
                  <p:embed/>
                  <p:pic>
                    <p:nvPicPr>
                      <p:cNvPr id="116782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5138738"/>
                        <a:ext cx="1177925" cy="34766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783" name="Object 47"/>
          <p:cNvGraphicFramePr>
            <a:graphicFrameLocks noChangeAspect="1"/>
          </p:cNvGraphicFramePr>
          <p:nvPr/>
        </p:nvGraphicFramePr>
        <p:xfrm>
          <a:off x="831850" y="4200525"/>
          <a:ext cx="3008313" cy="34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108200" imgH="241300" progId="Equation.DSMT4">
                  <p:embed/>
                </p:oleObj>
              </mc:Choice>
              <mc:Fallback>
                <p:oleObj name="Equation" r:id="rId16" imgW="2108200" imgH="241300" progId="Equation.DSMT4">
                  <p:embed/>
                  <p:pic>
                    <p:nvPicPr>
                      <p:cNvPr id="116783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1850" y="4200525"/>
                        <a:ext cx="3008313" cy="34766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6784" name="Rectangle 48"/>
          <p:cNvSpPr>
            <a:spLocks noChangeArrowheads="1"/>
          </p:cNvSpPr>
          <p:nvPr/>
        </p:nvSpPr>
        <p:spPr bwMode="auto">
          <a:xfrm>
            <a:off x="685800" y="4038600"/>
            <a:ext cx="3276600" cy="609600"/>
          </a:xfrm>
          <a:prstGeom prst="rect">
            <a:avLst/>
          </a:prstGeom>
          <a:noFill/>
          <a:ln w="19050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grpSp>
        <p:nvGrpSpPr>
          <p:cNvPr id="26636" name="Group 53"/>
          <p:cNvGrpSpPr>
            <a:grpSpLocks/>
          </p:cNvGrpSpPr>
          <p:nvPr/>
        </p:nvGrpSpPr>
        <p:grpSpPr bwMode="auto">
          <a:xfrm>
            <a:off x="2362200" y="1600200"/>
            <a:ext cx="4751388" cy="990600"/>
            <a:chOff x="1488" y="1008"/>
            <a:chExt cx="2993" cy="624"/>
          </a:xfrm>
        </p:grpSpPr>
        <p:sp>
          <p:nvSpPr>
            <p:cNvPr id="26638" name="AutoShape 51"/>
            <p:cNvSpPr>
              <a:spLocks/>
            </p:cNvSpPr>
            <p:nvPr/>
          </p:nvSpPr>
          <p:spPr bwMode="auto">
            <a:xfrm>
              <a:off x="1488" y="1008"/>
              <a:ext cx="96" cy="624"/>
            </a:xfrm>
            <a:prstGeom prst="rightBrace">
              <a:avLst>
                <a:gd name="adj1" fmla="val 5416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26639" name="Text Box 52"/>
            <p:cNvSpPr txBox="1">
              <a:spLocks noChangeArrowheads="1"/>
            </p:cNvSpPr>
            <p:nvPr/>
          </p:nvSpPr>
          <p:spPr bwMode="auto">
            <a:xfrm>
              <a:off x="1616" y="1216"/>
              <a:ext cx="2865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3 </a:t>
              </a:r>
              <a:r>
                <a:rPr lang="pt-BR" altLang="pt-BR" sz="1600" dirty="0" err="1">
                  <a:latin typeface="Tahoma" panose="020B0604030504040204" pitchFamily="34" charset="0"/>
                </a:rPr>
                <a:t>v.a</a:t>
              </a:r>
              <a:r>
                <a:rPr lang="pt-BR" altLang="pt-BR" sz="1600" dirty="0">
                  <a:latin typeface="Tahoma" panose="020B0604030504040204" pitchFamily="34" charset="0"/>
                </a:rPr>
                <a:t>. </a:t>
              </a:r>
              <a:r>
                <a:rPr lang="pt-BR" altLang="pt-BR" sz="1600" dirty="0">
                  <a:solidFill>
                    <a:srgbClr val="FF0000"/>
                  </a:solidFill>
                  <a:latin typeface="Tahoma" panose="020B0604030504040204" pitchFamily="34" charset="0"/>
                </a:rPr>
                <a:t>independentes</a:t>
              </a:r>
              <a:r>
                <a:rPr lang="pt-BR" altLang="pt-BR" sz="1600" dirty="0">
                  <a:latin typeface="Tahoma" panose="020B0604030504040204" pitchFamily="34" charset="0"/>
                </a:rPr>
                <a:t> com distribuições normal</a:t>
              </a:r>
            </a:p>
          </p:txBody>
        </p:sp>
      </p:grp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B3912D-195B-4F52-970A-CAA1A21AE0C1}" type="slidenum">
              <a:rPr lang="pt-BR"/>
              <a:pPr>
                <a:defRPr/>
              </a:pPr>
              <a:t>58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6774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776" grpId="0" autoUpdateAnimBg="0"/>
      <p:bldP spid="116784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9" name="Rectangle 5"/>
          <p:cNvSpPr>
            <a:spLocks noGrp="1" noChangeArrowheads="1"/>
          </p:cNvSpPr>
          <p:nvPr>
            <p:ph type="title"/>
          </p:nvPr>
        </p:nvSpPr>
        <p:spPr>
          <a:xfrm>
            <a:off x="152400" y="609600"/>
            <a:ext cx="8763000" cy="685800"/>
          </a:xfrm>
        </p:spPr>
        <p:txBody>
          <a:bodyPr/>
          <a:lstStyle/>
          <a:p>
            <a:pPr eaLnBrk="1" hangingPunct="1">
              <a:defRPr/>
            </a:pPr>
            <a:r>
              <a:rPr lang="pt-BR"/>
              <a:t>Distribuição da Soma de Variáveis Aleatórias</a:t>
            </a:r>
          </a:p>
        </p:txBody>
      </p:sp>
      <p:graphicFrame>
        <p:nvGraphicFramePr>
          <p:cNvPr id="27651" name="Object 6"/>
          <p:cNvGraphicFramePr>
            <a:graphicFrameLocks noChangeAspect="1"/>
          </p:cNvGraphicFramePr>
          <p:nvPr/>
        </p:nvGraphicFramePr>
        <p:xfrm>
          <a:off x="762000" y="1560513"/>
          <a:ext cx="2698750" cy="2301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92300" imgH="1600200" progId="Equation.DSMT4">
                  <p:embed/>
                </p:oleObj>
              </mc:Choice>
              <mc:Fallback>
                <p:oleObj name="Equation" r:id="rId2" imgW="1892300" imgH="1600200" progId="Equation.DSMT4">
                  <p:embed/>
                  <p:pic>
                    <p:nvPicPr>
                      <p:cNvPr id="27651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1560513"/>
                        <a:ext cx="2698750" cy="2301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8791" name="Text Box 7"/>
          <p:cNvSpPr txBox="1">
            <a:spLocks noChangeArrowheads="1"/>
          </p:cNvSpPr>
          <p:nvPr/>
        </p:nvSpPr>
        <p:spPr bwMode="auto">
          <a:xfrm>
            <a:off x="714375" y="3962400"/>
            <a:ext cx="248497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Qual a distribuição de </a:t>
            </a:r>
            <a:r>
              <a:rPr lang="pt-BR" altLang="pt-BR" sz="1600" i="1" dirty="0">
                <a:latin typeface="Times New Roman" pitchFamily="18" charset="0"/>
              </a:rPr>
              <a:t>Y </a:t>
            </a:r>
            <a:r>
              <a:rPr lang="pt-BR" altLang="pt-BR" sz="1600" dirty="0">
                <a:latin typeface="Tahoma" panose="020B0604030504040204" pitchFamily="34" charset="0"/>
              </a:rPr>
              <a:t>?</a:t>
            </a:r>
          </a:p>
        </p:txBody>
      </p:sp>
      <p:graphicFrame>
        <p:nvGraphicFramePr>
          <p:cNvPr id="118796" name="Object 12"/>
          <p:cNvGraphicFramePr>
            <a:graphicFrameLocks noChangeAspect="1"/>
          </p:cNvGraphicFramePr>
          <p:nvPr/>
        </p:nvGraphicFramePr>
        <p:xfrm>
          <a:off x="838200" y="4883150"/>
          <a:ext cx="1885950" cy="658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20800" imgH="457200" progId="Equation.DSMT4">
                  <p:embed/>
                </p:oleObj>
              </mc:Choice>
              <mc:Fallback>
                <p:oleObj name="Equation" r:id="rId4" imgW="1320800" imgH="457200" progId="Equation.DSMT4">
                  <p:embed/>
                  <p:pic>
                    <p:nvPicPr>
                      <p:cNvPr id="118796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4883150"/>
                        <a:ext cx="1885950" cy="65881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8797" name="Rectangle 13"/>
          <p:cNvSpPr>
            <a:spLocks noChangeArrowheads="1"/>
          </p:cNvSpPr>
          <p:nvPr/>
        </p:nvSpPr>
        <p:spPr bwMode="auto">
          <a:xfrm>
            <a:off x="685800" y="4800600"/>
            <a:ext cx="2209800" cy="838200"/>
          </a:xfrm>
          <a:prstGeom prst="rect">
            <a:avLst/>
          </a:prstGeom>
          <a:noFill/>
          <a:ln w="19050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grpSp>
        <p:nvGrpSpPr>
          <p:cNvPr id="27655" name="Group 18"/>
          <p:cNvGrpSpPr>
            <a:grpSpLocks/>
          </p:cNvGrpSpPr>
          <p:nvPr/>
        </p:nvGrpSpPr>
        <p:grpSpPr bwMode="auto">
          <a:xfrm>
            <a:off x="2362200" y="1524000"/>
            <a:ext cx="5256213" cy="1371600"/>
            <a:chOff x="1488" y="960"/>
            <a:chExt cx="3311" cy="864"/>
          </a:xfrm>
        </p:grpSpPr>
        <p:sp>
          <p:nvSpPr>
            <p:cNvPr id="27661" name="AutoShape 15"/>
            <p:cNvSpPr>
              <a:spLocks/>
            </p:cNvSpPr>
            <p:nvPr/>
          </p:nvSpPr>
          <p:spPr bwMode="auto">
            <a:xfrm>
              <a:off x="1488" y="960"/>
              <a:ext cx="96" cy="864"/>
            </a:xfrm>
            <a:prstGeom prst="rightBrace">
              <a:avLst>
                <a:gd name="adj1" fmla="val 75000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27662" name="Text Box 16"/>
            <p:cNvSpPr txBox="1">
              <a:spLocks noChangeArrowheads="1"/>
            </p:cNvSpPr>
            <p:nvPr/>
          </p:nvSpPr>
          <p:spPr bwMode="auto">
            <a:xfrm>
              <a:off x="1616" y="1282"/>
              <a:ext cx="3183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i="1" dirty="0">
                  <a:latin typeface="Times New Roman" pitchFamily="18" charset="0"/>
                </a:rPr>
                <a:t>n</a:t>
              </a:r>
              <a:r>
                <a:rPr lang="pt-BR" altLang="pt-BR" sz="1600" dirty="0">
                  <a:latin typeface="Tahoma" panose="020B0604030504040204" pitchFamily="34" charset="0"/>
                </a:rPr>
                <a:t> </a:t>
              </a:r>
              <a:r>
                <a:rPr lang="pt-BR" altLang="pt-BR" sz="1600" dirty="0" err="1">
                  <a:latin typeface="Tahoma" panose="020B0604030504040204" pitchFamily="34" charset="0"/>
                </a:rPr>
                <a:t>v.a</a:t>
              </a:r>
              <a:r>
                <a:rPr lang="pt-BR" altLang="pt-BR" sz="1600" dirty="0">
                  <a:latin typeface="Tahoma" panose="020B0604030504040204" pitchFamily="34" charset="0"/>
                </a:rPr>
                <a:t>. </a:t>
              </a:r>
              <a:r>
                <a:rPr lang="pt-BR" altLang="pt-BR" sz="1600" dirty="0">
                  <a:solidFill>
                    <a:srgbClr val="FF0000"/>
                  </a:solidFill>
                  <a:latin typeface="Tahoma" panose="020B0604030504040204" pitchFamily="34" charset="0"/>
                </a:rPr>
                <a:t>independentes</a:t>
              </a:r>
              <a:r>
                <a:rPr lang="pt-BR" altLang="pt-BR" sz="1600" dirty="0">
                  <a:latin typeface="Tahoma" panose="020B0604030504040204" pitchFamily="34" charset="0"/>
                </a:rPr>
                <a:t> com distribuições desconhecidas</a:t>
              </a:r>
            </a:p>
          </p:txBody>
        </p:sp>
      </p:grpSp>
      <p:sp>
        <p:nvSpPr>
          <p:cNvPr id="118801" name="Text Box 17"/>
          <p:cNvSpPr txBox="1">
            <a:spLocks noChangeArrowheads="1"/>
          </p:cNvSpPr>
          <p:nvPr/>
        </p:nvSpPr>
        <p:spPr bwMode="auto">
          <a:xfrm>
            <a:off x="3124200" y="5029200"/>
            <a:ext cx="292259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b="1" dirty="0">
                <a:solidFill>
                  <a:srgbClr val="FF3300"/>
                </a:solidFill>
                <a:latin typeface="Tahoma" panose="020B0604030504040204" pitchFamily="34" charset="0"/>
              </a:rPr>
              <a:t>Teorema do Limite Central</a:t>
            </a:r>
          </a:p>
        </p:txBody>
      </p:sp>
      <p:sp>
        <p:nvSpPr>
          <p:cNvPr id="118803" name="Text Box 19"/>
          <p:cNvSpPr txBox="1">
            <a:spLocks noChangeArrowheads="1"/>
          </p:cNvSpPr>
          <p:nvPr/>
        </p:nvSpPr>
        <p:spPr bwMode="auto">
          <a:xfrm>
            <a:off x="741363" y="4457700"/>
            <a:ext cx="162666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se </a:t>
            </a:r>
            <a:r>
              <a:rPr lang="pt-BR" altLang="pt-BR" sz="1600" i="1" dirty="0">
                <a:latin typeface="Times New Roman" pitchFamily="18" charset="0"/>
              </a:rPr>
              <a:t>n</a:t>
            </a:r>
            <a:r>
              <a:rPr lang="pt-BR" altLang="pt-BR" sz="1600" dirty="0">
                <a:latin typeface="Tahoma" panose="020B0604030504040204" pitchFamily="34" charset="0"/>
              </a:rPr>
              <a:t> for grande: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12ACFC-AA34-406C-B22E-3E0F80BEB0DF}" type="slidenum">
              <a:rPr lang="pt-BR"/>
              <a:pPr>
                <a:defRPr/>
              </a:pPr>
              <a:t>59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5353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791" grpId="0" autoUpdateAnimBg="0"/>
      <p:bldP spid="118797" grpId="0" animBg="1"/>
      <p:bldP spid="118801" grpId="0" autoUpdateAnimBg="0"/>
      <p:bldP spid="118803" grpId="0" autoUpdateAnimBg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9" name="Rectangle 5"/>
          <p:cNvSpPr>
            <a:spLocks noGrp="1" noChangeArrowheads="1"/>
          </p:cNvSpPr>
          <p:nvPr>
            <p:ph type="title"/>
          </p:nvPr>
        </p:nvSpPr>
        <p:spPr>
          <a:xfrm>
            <a:off x="152400" y="609600"/>
            <a:ext cx="8763000" cy="685800"/>
          </a:xfrm>
        </p:spPr>
        <p:txBody>
          <a:bodyPr/>
          <a:lstStyle/>
          <a:p>
            <a:pPr eaLnBrk="1" hangingPunct="1">
              <a:defRPr/>
            </a:pPr>
            <a:r>
              <a:rPr lang="pt-BR" dirty="0"/>
              <a:t>Teorema do Limite Central</a:t>
            </a:r>
          </a:p>
        </p:txBody>
      </p:sp>
      <p:sp>
        <p:nvSpPr>
          <p:cNvPr id="13" name="Text Box 11"/>
          <p:cNvSpPr txBox="1">
            <a:spLocks noChangeArrowheads="1"/>
          </p:cNvSpPr>
          <p:nvPr/>
        </p:nvSpPr>
        <p:spPr bwMode="auto">
          <a:xfrm>
            <a:off x="7235825" y="6381750"/>
            <a:ext cx="1728788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(ver TLC.xls)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12ACFC-AA34-406C-B22E-3E0F80BEB0DF}" type="slidenum">
              <a:rPr lang="pt-BR"/>
              <a:pPr>
                <a:defRPr/>
              </a:pPr>
              <a:t>60</a:t>
            </a:fld>
            <a:endParaRPr lang="pt-BR"/>
          </a:p>
        </p:txBody>
      </p:sp>
      <p:sp>
        <p:nvSpPr>
          <p:cNvPr id="15" name="Text Box 16"/>
          <p:cNvSpPr txBox="1">
            <a:spLocks noChangeArrowheads="1"/>
          </p:cNvSpPr>
          <p:nvPr/>
        </p:nvSpPr>
        <p:spPr bwMode="auto">
          <a:xfrm>
            <a:off x="685799" y="4509120"/>
            <a:ext cx="81946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82563" indent="-18256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Esta convergência acontece mais rapidamente quanto mais parecida for a forma da distribuição original (desconhecida) da normal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Box 16"/>
              <p:cNvSpPr txBox="1">
                <a:spLocks noChangeArrowheads="1"/>
              </p:cNvSpPr>
              <p:nvPr/>
            </p:nvSpPr>
            <p:spPr bwMode="auto">
              <a:xfrm>
                <a:off x="685800" y="1594114"/>
                <a:ext cx="8194675" cy="27977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marL="182563" indent="-182563"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dirty="0">
                    <a:latin typeface="Tahoma" panose="020B0604030504040204" pitchFamily="34" charset="0"/>
                  </a:rPr>
                  <a:t>A soma de </a:t>
                </a:r>
                <a:r>
                  <a:rPr lang="pt-BR" altLang="pt-BR" sz="1600" i="1" dirty="0">
                    <a:latin typeface="Times New Roman" pitchFamily="18" charset="0"/>
                  </a:rPr>
                  <a:t>n</a:t>
                </a:r>
                <a:r>
                  <a:rPr lang="pt-BR" altLang="pt-BR" sz="1600" dirty="0">
                    <a:latin typeface="Tahoma" panose="020B0604030504040204" pitchFamily="34" charset="0"/>
                  </a:rPr>
                  <a:t> v.a. </a:t>
                </a:r>
                <a:r>
                  <a:rPr lang="pt-BR" altLang="pt-BR" sz="1600" dirty="0">
                    <a:solidFill>
                      <a:srgbClr val="FF0000"/>
                    </a:solidFill>
                    <a:latin typeface="Tahoma" panose="020B0604030504040204" pitchFamily="34" charset="0"/>
                  </a:rPr>
                  <a:t>independentes</a:t>
                </a:r>
                <a:r>
                  <a:rPr lang="pt-BR" altLang="pt-BR" sz="1600" dirty="0">
                    <a:latin typeface="Tahoma" panose="020B0604030504040204" pitchFamily="34" charset="0"/>
                  </a:rPr>
                  <a:t> tende para uma Normal a medida que </a:t>
                </a:r>
                <a:r>
                  <a:rPr lang="pt-BR" altLang="pt-BR" sz="1600" i="1" dirty="0">
                    <a:latin typeface="Times New Roman" pitchFamily="18" charset="0"/>
                  </a:rPr>
                  <a:t>n </a:t>
                </a:r>
                <a:r>
                  <a:rPr lang="pt-BR" altLang="pt-BR" sz="1600" dirty="0">
                    <a:latin typeface="Times New Roman" pitchFamily="18" charset="0"/>
                    <a:sym typeface="Symbol" panose="05050102010706020507" pitchFamily="18" charset="2"/>
                  </a:rPr>
                  <a:t> ∞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imes New Roman" pitchFamily="18" charset="0"/>
                  <a:sym typeface="Symbol" panose="05050102010706020507" pitchFamily="18" charset="2"/>
                </a:endParaRP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altLang="pt-BR" sz="1600" b="0" i="1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𝑌</m:t>
                      </m:r>
                      <m:r>
                        <a:rPr lang="pt-BR" altLang="pt-BR" sz="1600" b="0" i="1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t-BR" altLang="pt-BR" sz="1600" b="0" i="1" smtClean="0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altLang="pt-BR" sz="1600" b="0" i="1" smtClean="0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𝑖</m:t>
                          </m:r>
                          <m:r>
                            <a:rPr lang="pt-BR" altLang="pt-BR" sz="1600" b="0" i="1" smtClean="0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=1</m:t>
                          </m:r>
                        </m:sub>
                        <m:sup>
                          <m:r>
                            <a:rPr lang="pt-BR" altLang="pt-BR" sz="1600" b="0" i="1" smtClean="0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pt-BR" altLang="pt-BR" sz="1600" b="0" i="1" smtClean="0"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</m:ctrlPr>
                            </m:sSubPr>
                            <m:e>
                              <m:r>
                                <a:rPr lang="pt-BR" altLang="pt-BR" sz="1600" b="0" i="1" smtClean="0"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pt-BR" altLang="pt-BR" sz="1600" b="0" i="1" smtClean="0"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pt-BR" altLang="pt-BR" sz="1600" dirty="0">
                  <a:latin typeface="Times New Roman" pitchFamily="18" charset="0"/>
                  <a:sym typeface="Symbol" panose="05050102010706020507" pitchFamily="18" charset="2"/>
                </a:endParaRP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imes New Roman" pitchFamily="18" charset="0"/>
                  <a:sym typeface="Symbol" panose="05050102010706020507" pitchFamily="18" charset="2"/>
                </a:endParaRP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dirty="0">
                    <a:latin typeface="Times New Roman" pitchFamily="18" charset="0"/>
                    <a:sym typeface="Symbol" panose="05050102010706020507" pitchFamily="18" charset="2"/>
                  </a:rPr>
                  <a:t>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altLang="pt-BR" sz="16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pt-BR" altLang="pt-BR" sz="16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𝑋</m:t>
                        </m:r>
                      </m:e>
                      <m:sub>
                        <m:r>
                          <a:rPr lang="pt-BR" altLang="pt-BR" sz="16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𝑖</m:t>
                        </m:r>
                      </m:sub>
                    </m:sSub>
                    <m:r>
                      <a:rPr lang="pt-BR" altLang="pt-BR" sz="1600" b="0" i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~</m:t>
                    </m:r>
                    <m:r>
                      <a:rPr lang="pt-BR" altLang="pt-BR" sz="1600" b="0" i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𝑁</m:t>
                    </m:r>
                    <m:d>
                      <m:dPr>
                        <m:ctrlPr>
                          <a:rPr lang="pt-BR" altLang="pt-BR" sz="16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altLang="pt-BR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sSubPr>
                          <m:e>
                            <m:r>
                              <a:rPr lang="pt-BR" altLang="pt-BR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𝜇</m:t>
                            </m:r>
                          </m:e>
                          <m:sub>
                            <m:r>
                              <a:rPr lang="pt-BR" altLang="pt-BR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𝑖</m:t>
                            </m:r>
                          </m:sub>
                        </m:sSub>
                        <m:r>
                          <a:rPr lang="pt-BR" altLang="pt-B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,</m:t>
                        </m:r>
                        <m:sSubSup>
                          <m:sSubSupPr>
                            <m:ctrlPr>
                              <a:rPr lang="pt-BR" altLang="pt-BR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sSubSupPr>
                          <m:e>
                            <m:r>
                              <a:rPr lang="pt-BR" altLang="pt-BR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𝜎</m:t>
                            </m:r>
                          </m:e>
                          <m:sub>
                            <m:r>
                              <a:rPr lang="pt-BR" altLang="pt-BR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𝑖</m:t>
                            </m:r>
                          </m:sub>
                          <m:sup>
                            <m:r>
                              <a:rPr lang="pt-BR" altLang="pt-BR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r>
                  <a:rPr lang="pt-BR" altLang="pt-BR" sz="1600" dirty="0">
                    <a:latin typeface="Times New Roman" pitchFamily="18" charset="0"/>
                    <a:sym typeface="Symbol" panose="05050102010706020507" pitchFamily="18" charset="2"/>
                  </a:rPr>
                  <a:t> então </a:t>
                </a:r>
                <a14:m>
                  <m:oMath xmlns:m="http://schemas.openxmlformats.org/officeDocument/2006/math">
                    <m:r>
                      <a:rPr lang="pt-BR" altLang="pt-BR" sz="1600" i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𝑌</m:t>
                    </m:r>
                    <m:r>
                      <a:rPr lang="pt-BR" altLang="pt-BR" sz="1600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~</m:t>
                    </m:r>
                    <m:r>
                      <a:rPr lang="pt-BR" altLang="pt-BR" sz="1600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𝑁</m:t>
                    </m:r>
                    <m:d>
                      <m:dPr>
                        <m:ctrlPr>
                          <a:rPr lang="pt-BR" altLang="pt-BR" sz="1600" i="1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limLoc m:val="subSup"/>
                            <m:ctrlPr>
                              <a:rPr lang="pt-BR" altLang="pt-BR" sz="1600" i="1" smtClean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pt-BR" altLang="pt-BR" sz="1600" b="0" i="1" smtClean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𝑖</m:t>
                            </m:r>
                            <m:r>
                              <a:rPr lang="pt-BR" altLang="pt-BR" sz="1600" b="0" i="1" smtClean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=1</m:t>
                            </m:r>
                          </m:sub>
                          <m:sup>
                            <m:r>
                              <a:rPr lang="pt-BR" altLang="pt-BR" sz="1600" b="0" i="1" smtClean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pt-BR" altLang="pt-BR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</m:ctrlPr>
                              </m:sSubPr>
                              <m:e>
                                <m:r>
                                  <a:rPr lang="pt-BR" altLang="pt-BR" sz="16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pt-BR" altLang="pt-BR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  <m:r>
                          <a:rPr lang="pt-BR" altLang="pt-BR" sz="16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,</m:t>
                        </m:r>
                        <m:nary>
                          <m:naryPr>
                            <m:chr m:val="∑"/>
                            <m:limLoc m:val="subSup"/>
                            <m:ctrlPr>
                              <a:rPr lang="pt-BR" altLang="pt-BR" sz="1600" i="1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pt-BR" altLang="pt-BR" sz="1600" i="1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𝑖</m:t>
                            </m:r>
                            <m:r>
                              <a:rPr lang="pt-BR" altLang="pt-BR" sz="1600" i="1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=1</m:t>
                            </m:r>
                          </m:sub>
                          <m:sup>
                            <m:r>
                              <a:rPr lang="pt-BR" altLang="pt-BR" sz="1600" i="1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𝑛</m:t>
                            </m:r>
                          </m:sup>
                          <m:e>
                            <m:sSubSup>
                              <m:sSubSupPr>
                                <m:ctrlPr>
                                  <a:rPr lang="pt-BR" altLang="pt-BR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</m:ctrlPr>
                              </m:sSubSupPr>
                              <m:e>
                                <m:r>
                                  <a:rPr lang="pt-BR" altLang="pt-BR" sz="16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pt-BR" altLang="pt-BR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pt-BR" altLang="pt-BR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  <m:t>2</m:t>
                                </m:r>
                              </m:sup>
                            </m:sSubSup>
                          </m:e>
                        </m:nary>
                      </m:e>
                    </m:d>
                  </m:oMath>
                </a14:m>
                <a:r>
                  <a:rPr lang="pt-BR" altLang="pt-BR" sz="1600" dirty="0">
                    <a:latin typeface="Times New Roman" pitchFamily="18" charset="0"/>
                    <a:sym typeface="Symbol" panose="05050102010706020507" pitchFamily="18" charset="2"/>
                  </a:rPr>
                  <a:t> para qualquer valor de </a:t>
                </a:r>
                <a:r>
                  <a:rPr lang="pt-BR" altLang="pt-BR" sz="1600" i="1" dirty="0">
                    <a:latin typeface="Times New Roman" pitchFamily="18" charset="0"/>
                  </a:rPr>
                  <a:t>n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imes New Roman" pitchFamily="18" charset="0"/>
                  <a:sym typeface="Symbol" panose="05050102010706020507" pitchFamily="18" charset="2"/>
                </a:endParaRPr>
              </a:p>
              <a:p>
                <a:pPr eaLnBrk="1" hangingPunct="1">
                  <a:spcBef>
                    <a:spcPct val="0"/>
                  </a:spcBef>
                  <a:buNone/>
                </a:pPr>
                <a:r>
                  <a:rPr lang="pt-BR" altLang="pt-BR" sz="1600" dirty="0">
                    <a:latin typeface="Times New Roman" pitchFamily="18" charset="0"/>
                    <a:sym typeface="Symbol" panose="05050102010706020507" pitchFamily="18" charset="2"/>
                  </a:rPr>
                  <a:t>	“A soma de normais independentes é sempre uma normal!”</a:t>
                </a:r>
              </a:p>
              <a:p>
                <a:pPr eaLnBrk="1" hangingPunct="1">
                  <a:spcBef>
                    <a:spcPct val="0"/>
                  </a:spcBef>
                  <a:buNone/>
                </a:pPr>
                <a:endParaRPr lang="pt-BR" altLang="pt-BR" sz="1600" dirty="0">
                  <a:latin typeface="Times New Roman" pitchFamily="18" charset="0"/>
                  <a:sym typeface="Symbol" panose="05050102010706020507" pitchFamily="18" charset="2"/>
                </a:endParaRPr>
              </a:p>
              <a:p>
                <a:pPr eaLnBrk="1" hangingPunct="1">
                  <a:spcBef>
                    <a:spcPct val="0"/>
                  </a:spcBef>
                  <a:buNone/>
                </a:pPr>
                <a:r>
                  <a:rPr lang="pt-BR" altLang="pt-BR" sz="1600" dirty="0">
                    <a:latin typeface="Times New Roman" pitchFamily="18" charset="0"/>
                    <a:sym typeface="Symbol" panose="05050102010706020507" pitchFamily="18" charset="2"/>
                  </a:rPr>
                  <a:t>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altLang="pt-BR" sz="16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pt-BR" altLang="pt-BR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𝑋</m:t>
                        </m:r>
                      </m:e>
                      <m:sub>
                        <m:r>
                          <a:rPr lang="pt-BR" altLang="pt-BR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𝑖</m:t>
                        </m:r>
                      </m:sub>
                    </m:sSub>
                    <m:r>
                      <a:rPr lang="pt-BR" altLang="pt-BR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~</m:t>
                    </m:r>
                    <m:r>
                      <a:rPr lang="pt-BR" altLang="pt-BR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?</m:t>
                    </m:r>
                    <m:d>
                      <m:dPr>
                        <m:ctrlPr>
                          <a:rPr lang="pt-BR" altLang="pt-BR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altLang="pt-BR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sSubPr>
                          <m:e>
                            <m:r>
                              <a:rPr lang="pt-BR" altLang="pt-BR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𝜇</m:t>
                            </m:r>
                          </m:e>
                          <m:sub>
                            <m:r>
                              <a:rPr lang="pt-BR" altLang="pt-BR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𝑖</m:t>
                            </m:r>
                          </m:sub>
                        </m:sSub>
                        <m:r>
                          <a:rPr lang="pt-BR" altLang="pt-BR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,</m:t>
                        </m:r>
                        <m:sSubSup>
                          <m:sSubSupPr>
                            <m:ctrlPr>
                              <a:rPr lang="pt-BR" altLang="pt-BR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sSubSupPr>
                          <m:e>
                            <m:r>
                              <a:rPr lang="pt-BR" altLang="pt-BR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𝜎</m:t>
                            </m:r>
                          </m:e>
                          <m:sub>
                            <m:r>
                              <a:rPr lang="pt-BR" altLang="pt-BR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𝑖</m:t>
                            </m:r>
                          </m:sub>
                          <m:sup>
                            <m:r>
                              <a:rPr lang="pt-BR" altLang="pt-BR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r>
                  <a:rPr lang="pt-BR" altLang="pt-BR" sz="1600" dirty="0">
                    <a:latin typeface="Times New Roman" pitchFamily="18" charset="0"/>
                    <a:sym typeface="Symbol" panose="05050102010706020507" pitchFamily="18" charset="2"/>
                  </a:rPr>
                  <a:t> então </a:t>
                </a:r>
                <a14:m>
                  <m:oMath xmlns:m="http://schemas.openxmlformats.org/officeDocument/2006/math">
                    <m:r>
                      <a:rPr lang="pt-BR" altLang="pt-BR" sz="1600" b="0" i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𝑌</m:t>
                    </m:r>
                    <m:r>
                      <a:rPr lang="pt-BR" altLang="pt-BR" sz="1600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~</m:t>
                    </m:r>
                    <m:r>
                      <a:rPr lang="pt-BR" altLang="pt-BR" sz="1600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𝑁</m:t>
                    </m:r>
                    <m:d>
                      <m:dPr>
                        <m:ctrlPr>
                          <a:rPr lang="pt-BR" altLang="pt-BR" sz="1600" i="1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limLoc m:val="subSup"/>
                            <m:ctrlPr>
                              <a:rPr lang="pt-BR" altLang="pt-BR" sz="1600" i="1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pt-BR" altLang="pt-BR" sz="1600" i="1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𝑖</m:t>
                            </m:r>
                            <m:r>
                              <a:rPr lang="pt-BR" altLang="pt-BR" sz="1600" i="1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=1</m:t>
                            </m:r>
                          </m:sub>
                          <m:sup>
                            <m:r>
                              <a:rPr lang="pt-BR" altLang="pt-BR" sz="1600" i="1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pt-BR" altLang="pt-BR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</m:ctrlPr>
                              </m:sSubPr>
                              <m:e>
                                <m:r>
                                  <a:rPr lang="pt-BR" altLang="pt-BR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pt-BR" altLang="pt-BR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  <m:r>
                          <a:rPr lang="pt-BR" altLang="pt-BR" sz="1600" i="1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,</m:t>
                        </m:r>
                        <m:nary>
                          <m:naryPr>
                            <m:chr m:val="∑"/>
                            <m:limLoc m:val="subSup"/>
                            <m:ctrlPr>
                              <a:rPr lang="pt-BR" altLang="pt-BR" sz="1600" i="1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pt-BR" altLang="pt-BR" sz="1600" i="1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𝑖</m:t>
                            </m:r>
                            <m:r>
                              <a:rPr lang="pt-BR" altLang="pt-BR" sz="1600" i="1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=1</m:t>
                            </m:r>
                          </m:sub>
                          <m:sup>
                            <m:r>
                              <a:rPr lang="pt-BR" altLang="pt-BR" sz="1600" i="1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𝑛</m:t>
                            </m:r>
                          </m:sup>
                          <m:e>
                            <m:sSubSup>
                              <m:sSubSupPr>
                                <m:ctrlPr>
                                  <a:rPr lang="pt-BR" altLang="pt-BR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</m:ctrlPr>
                              </m:sSubSupPr>
                              <m:e>
                                <m:r>
                                  <a:rPr lang="pt-BR" altLang="pt-BR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pt-BR" altLang="pt-BR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pt-BR" altLang="pt-BR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  <m:t>2</m:t>
                                </m:r>
                              </m:sup>
                            </m:sSubSup>
                          </m:e>
                        </m:nary>
                      </m:e>
                    </m:d>
                  </m:oMath>
                </a14:m>
                <a:r>
                  <a:rPr lang="pt-BR" altLang="pt-BR" sz="1600" dirty="0">
                    <a:latin typeface="Times New Roman" pitchFamily="18" charset="0"/>
                    <a:sym typeface="Symbol" panose="05050102010706020507" pitchFamily="18" charset="2"/>
                  </a:rPr>
                  <a:t> somente se </a:t>
                </a:r>
                <a:r>
                  <a:rPr lang="pt-BR" altLang="pt-BR" sz="1600" i="1" dirty="0">
                    <a:solidFill>
                      <a:srgbClr val="FF0000"/>
                    </a:solidFill>
                    <a:latin typeface="Times New Roman" pitchFamily="18" charset="0"/>
                  </a:rPr>
                  <a:t>n</a:t>
                </a:r>
                <a:r>
                  <a:rPr lang="pt-BR" altLang="pt-BR" sz="1600" dirty="0">
                    <a:solidFill>
                      <a:srgbClr val="FF0000"/>
                    </a:solidFill>
                    <a:latin typeface="Times New Roman" pitchFamily="18" charset="0"/>
                    <a:sym typeface="Symbol" panose="05050102010706020507" pitchFamily="18" charset="2"/>
                  </a:rPr>
                  <a:t> for grande</a:t>
                </a:r>
                <a:r>
                  <a:rPr lang="pt-BR" altLang="pt-BR" sz="1600" dirty="0">
                    <a:latin typeface="Times New Roman" pitchFamily="18" charset="0"/>
                    <a:sym typeface="Symbol" panose="05050102010706020507" pitchFamily="18" charset="2"/>
                  </a:rPr>
                  <a:t>!!!! </a:t>
                </a:r>
                <a:r>
                  <a:rPr lang="pt-BR" altLang="pt-BR" sz="1600" dirty="0">
                    <a:latin typeface="Times New Roman" pitchFamily="18" charset="0"/>
                  </a:rPr>
                  <a:t>(TLC válida)</a:t>
                </a:r>
                <a:endParaRPr lang="pt-BR" altLang="pt-BR" sz="1600" dirty="0">
                  <a:latin typeface="Times New Roman" pitchFamily="18" charset="0"/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16" name="Text 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5800" y="1594114"/>
                <a:ext cx="8194675" cy="2797754"/>
              </a:xfrm>
              <a:prstGeom prst="rect">
                <a:avLst/>
              </a:prstGeom>
              <a:blipFill>
                <a:blip r:embed="rId2"/>
                <a:stretch>
                  <a:fillRect l="-446" t="-873" b="-1965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91405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788" name="Picture 2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8875" y="3321050"/>
            <a:ext cx="4678363" cy="316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7789" name="Picture 2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19" t="5263" r="1932" b="4897"/>
          <a:stretch>
            <a:fillRect/>
          </a:stretch>
        </p:blipFill>
        <p:spPr bwMode="auto">
          <a:xfrm>
            <a:off x="4176713" y="3619500"/>
            <a:ext cx="4014787" cy="233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17790" name="Object 30"/>
          <p:cNvGraphicFramePr>
            <a:graphicFrameLocks noChangeAspect="1"/>
          </p:cNvGraphicFramePr>
          <p:nvPr/>
        </p:nvGraphicFramePr>
        <p:xfrm>
          <a:off x="7010400" y="3733800"/>
          <a:ext cx="728663" cy="620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08000" imgH="431800" progId="Equation.DSMT4">
                  <p:embed/>
                </p:oleObj>
              </mc:Choice>
              <mc:Fallback>
                <p:oleObj name="Equation" r:id="rId4" imgW="508000" imgH="431800" progId="Equation.DSMT4">
                  <p:embed/>
                  <p:pic>
                    <p:nvPicPr>
                      <p:cNvPr id="11779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0400" y="3733800"/>
                        <a:ext cx="728663" cy="62071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7773" name="Picture 1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3276600"/>
            <a:ext cx="4678363" cy="316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7774" name="Picture 14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20" t="5016" r="3365" b="17659"/>
          <a:stretch>
            <a:fillRect/>
          </a:stretch>
        </p:blipFill>
        <p:spPr bwMode="auto">
          <a:xfrm>
            <a:off x="4214813" y="3581400"/>
            <a:ext cx="3959225" cy="234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77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Aproximação da Binomial à Normal </a:t>
            </a:r>
          </a:p>
        </p:txBody>
      </p:sp>
      <p:graphicFrame>
        <p:nvGraphicFramePr>
          <p:cNvPr id="117765" name="Object 5"/>
          <p:cNvGraphicFramePr>
            <a:graphicFrameLocks noChangeAspect="1"/>
          </p:cNvGraphicFramePr>
          <p:nvPr/>
        </p:nvGraphicFramePr>
        <p:xfrm>
          <a:off x="1147763" y="2049463"/>
          <a:ext cx="928687" cy="617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47700" imgH="431800" progId="Equation.DSMT4">
                  <p:embed/>
                </p:oleObj>
              </mc:Choice>
              <mc:Fallback>
                <p:oleObj name="Equation" r:id="rId8" imgW="647700" imgH="431800" progId="Equation.DSMT4">
                  <p:embed/>
                  <p:pic>
                    <p:nvPicPr>
                      <p:cNvPr id="11776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7763" y="2049463"/>
                        <a:ext cx="928687" cy="61753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7766" name="Text Box 6"/>
          <p:cNvSpPr txBox="1">
            <a:spLocks noChangeArrowheads="1"/>
          </p:cNvSpPr>
          <p:nvPr/>
        </p:nvSpPr>
        <p:spPr bwMode="auto">
          <a:xfrm>
            <a:off x="2057400" y="2184400"/>
            <a:ext cx="676307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onde cada </a:t>
            </a:r>
            <a:r>
              <a:rPr lang="pt-BR" altLang="pt-BR" sz="1600" i="1" dirty="0">
                <a:latin typeface="Times New Roman" pitchFamily="18" charset="0"/>
              </a:rPr>
              <a:t>X</a:t>
            </a:r>
            <a:r>
              <a:rPr lang="pt-BR" altLang="pt-BR" sz="1600" i="1" baseline="-25000" dirty="0">
                <a:latin typeface="Times New Roman" pitchFamily="18" charset="0"/>
              </a:rPr>
              <a:t>i</a:t>
            </a:r>
            <a:r>
              <a:rPr lang="pt-BR" altLang="pt-BR" sz="1600" dirty="0">
                <a:latin typeface="Tahoma" panose="020B0604030504040204" pitchFamily="34" charset="0"/>
              </a:rPr>
              <a:t> tem distribuição Bernoulli (</a:t>
            </a:r>
            <a:r>
              <a:rPr lang="pt-BR" altLang="pt-BR" sz="1600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pt-BR" altLang="pt-BR" sz="1600" i="1" baseline="-25000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pt-BR" altLang="pt-BR" sz="1600" dirty="0">
                <a:latin typeface="Times New Roman" pitchFamily="18" charset="0"/>
                <a:cs typeface="Times New Roman" pitchFamily="18" charset="0"/>
              </a:rPr>
              <a:t>: {0, 1}</a:t>
            </a:r>
            <a:r>
              <a:rPr lang="pt-BR" altLang="pt-BR" sz="1600" dirty="0">
                <a:latin typeface="Tahoma" panose="020B0604030504040204" pitchFamily="34" charset="0"/>
              </a:rPr>
              <a:t>) com </a:t>
            </a:r>
            <a:r>
              <a:rPr lang="pt-BR" altLang="pt-BR" sz="1600" i="1" dirty="0">
                <a:latin typeface="Times New Roman" pitchFamily="18" charset="0"/>
                <a:sym typeface="Symbol"/>
              </a:rPr>
              <a:t> </a:t>
            </a:r>
            <a:r>
              <a:rPr lang="pt-BR" altLang="pt-BR" sz="1600" i="1" dirty="0">
                <a:latin typeface="Times New Roman" pitchFamily="18" charset="0"/>
              </a:rPr>
              <a:t>= p </a:t>
            </a:r>
            <a:r>
              <a:rPr lang="pt-BR" altLang="pt-BR" sz="1600" dirty="0">
                <a:latin typeface="Tahoma" panose="020B0604030504040204" pitchFamily="34" charset="0"/>
              </a:rPr>
              <a:t>e </a:t>
            </a:r>
            <a:r>
              <a:rPr lang="pt-BR" altLang="pt-BR" sz="1600" i="1" dirty="0">
                <a:latin typeface="Tahoma" panose="020B0604030504040204" pitchFamily="34" charset="0"/>
                <a:sym typeface="Symbol"/>
              </a:rPr>
              <a:t></a:t>
            </a:r>
            <a:r>
              <a:rPr lang="pt-BR" altLang="pt-BR" sz="16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2</a:t>
            </a:r>
            <a:r>
              <a:rPr lang="pt-BR" altLang="pt-BR" sz="16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 = </a:t>
            </a:r>
            <a:r>
              <a:rPr lang="pt-BR" altLang="pt-BR" sz="16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pq</a:t>
            </a:r>
            <a:endParaRPr lang="pt-BR" altLang="pt-BR" sz="1600" i="1" dirty="0">
              <a:latin typeface="Times New Roman" pitchFamily="18" charset="0"/>
              <a:cs typeface="Times New Roman" panose="02020603050405020304" pitchFamily="18" charset="0"/>
            </a:endParaRPr>
          </a:p>
        </p:txBody>
      </p:sp>
      <p:sp>
        <p:nvSpPr>
          <p:cNvPr id="117767" name="Text Box 7"/>
          <p:cNvSpPr txBox="1">
            <a:spLocks noChangeArrowheads="1"/>
          </p:cNvSpPr>
          <p:nvPr/>
        </p:nvSpPr>
        <p:spPr bwMode="auto">
          <a:xfrm>
            <a:off x="914400" y="1524000"/>
            <a:ext cx="5867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92088" indent="-192088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Se </a:t>
            </a:r>
            <a:r>
              <a:rPr lang="pt-BR" altLang="pt-BR" sz="1600" i="1" dirty="0">
                <a:latin typeface="Times New Roman" pitchFamily="18" charset="0"/>
              </a:rPr>
              <a:t>Y</a:t>
            </a:r>
            <a:r>
              <a:rPr lang="pt-BR" altLang="pt-BR" sz="1600" dirty="0">
                <a:latin typeface="Tahoma" panose="020B0604030504040204" pitchFamily="34" charset="0"/>
              </a:rPr>
              <a:t> tem uma distribuição binomial com parâmetros </a:t>
            </a:r>
            <a:r>
              <a:rPr lang="pt-BR" altLang="pt-BR" sz="1600" i="1" dirty="0">
                <a:latin typeface="Times New Roman" pitchFamily="18" charset="0"/>
              </a:rPr>
              <a:t>n</a:t>
            </a:r>
            <a:r>
              <a:rPr lang="pt-BR" altLang="pt-BR" sz="1600" dirty="0">
                <a:latin typeface="Tahoma" panose="020B0604030504040204" pitchFamily="34" charset="0"/>
              </a:rPr>
              <a:t> e </a:t>
            </a:r>
            <a:r>
              <a:rPr lang="pt-BR" altLang="pt-BR" sz="1600" i="1" dirty="0">
                <a:latin typeface="Times New Roman" pitchFamily="18" charset="0"/>
              </a:rPr>
              <a:t>p</a:t>
            </a:r>
            <a:r>
              <a:rPr lang="pt-BR" altLang="pt-BR" sz="1600" dirty="0">
                <a:latin typeface="Tahoma" panose="020B0604030504040204" pitchFamily="34" charset="0"/>
              </a:rPr>
              <a:t>:</a:t>
            </a:r>
          </a:p>
        </p:txBody>
      </p:sp>
      <p:sp>
        <p:nvSpPr>
          <p:cNvPr id="117768" name="Text Box 8"/>
          <p:cNvSpPr txBox="1">
            <a:spLocks noChangeArrowheads="1"/>
          </p:cNvSpPr>
          <p:nvPr/>
        </p:nvSpPr>
        <p:spPr bwMode="auto">
          <a:xfrm>
            <a:off x="914400" y="2895600"/>
            <a:ext cx="72771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92088" indent="-192088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Então, se </a:t>
            </a:r>
            <a:r>
              <a:rPr lang="pt-BR" altLang="pt-BR" sz="1600" i="1" dirty="0">
                <a:latin typeface="Times New Roman" pitchFamily="18" charset="0"/>
              </a:rPr>
              <a:t>n</a:t>
            </a:r>
            <a:r>
              <a:rPr lang="pt-BR" altLang="pt-BR" sz="1600" dirty="0">
                <a:latin typeface="Tahoma" panose="020B0604030504040204" pitchFamily="34" charset="0"/>
              </a:rPr>
              <a:t> for grande, pelo TLC, </a:t>
            </a:r>
            <a:r>
              <a:rPr lang="pt-BR" altLang="pt-BR" sz="1600" i="1" dirty="0">
                <a:latin typeface="Times New Roman" pitchFamily="18" charset="0"/>
              </a:rPr>
              <a:t>Y</a:t>
            </a:r>
            <a:r>
              <a:rPr lang="pt-BR" altLang="pt-BR" sz="1600" dirty="0">
                <a:latin typeface="Tahoma" panose="020B0604030504040204" pitchFamily="34" charset="0"/>
              </a:rPr>
              <a:t> tende a uma Normal, ou seja,</a:t>
            </a:r>
          </a:p>
        </p:txBody>
      </p:sp>
      <p:graphicFrame>
        <p:nvGraphicFramePr>
          <p:cNvPr id="117769" name="Object 9"/>
          <p:cNvGraphicFramePr>
            <a:graphicFrameLocks noChangeAspect="1"/>
          </p:cNvGraphicFramePr>
          <p:nvPr/>
        </p:nvGraphicFramePr>
        <p:xfrm>
          <a:off x="1143000" y="3505200"/>
          <a:ext cx="1038225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723586" imgH="203112" progId="Equation.DSMT4">
                  <p:embed/>
                </p:oleObj>
              </mc:Choice>
              <mc:Fallback>
                <p:oleObj name="Equation" r:id="rId10" imgW="723586" imgH="203112" progId="Equation.DSMT4">
                  <p:embed/>
                  <p:pic>
                    <p:nvPicPr>
                      <p:cNvPr id="117769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3505200"/>
                        <a:ext cx="1038225" cy="2921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770" name="Object 10"/>
          <p:cNvGraphicFramePr>
            <a:graphicFrameLocks noChangeAspect="1"/>
          </p:cNvGraphicFramePr>
          <p:nvPr/>
        </p:nvGraphicFramePr>
        <p:xfrm>
          <a:off x="1143000" y="3996556"/>
          <a:ext cx="81915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571320" imgH="203040" progId="Equation.DSMT4">
                  <p:embed/>
                </p:oleObj>
              </mc:Choice>
              <mc:Fallback>
                <p:oleObj name="Equation" r:id="rId12" imgW="571320" imgH="203040" progId="Equation.DSMT4">
                  <p:embed/>
                  <p:pic>
                    <p:nvPicPr>
                      <p:cNvPr id="11777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3996556"/>
                        <a:ext cx="819150" cy="2921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772" name="Object 12"/>
          <p:cNvGraphicFramePr>
            <a:graphicFrameLocks noChangeAspect="1"/>
          </p:cNvGraphicFramePr>
          <p:nvPr/>
        </p:nvGraphicFramePr>
        <p:xfrm>
          <a:off x="1143000" y="3933056"/>
          <a:ext cx="2205037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536480" imgH="291960" progId="Equation.DSMT4">
                  <p:embed/>
                </p:oleObj>
              </mc:Choice>
              <mc:Fallback>
                <p:oleObj name="Equation" r:id="rId14" imgW="1536480" imgH="291960" progId="Equation.DSMT4">
                  <p:embed/>
                  <p:pic>
                    <p:nvPicPr>
                      <p:cNvPr id="117772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3933056"/>
                        <a:ext cx="2205037" cy="4191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7779" name="Picture 19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3314700"/>
            <a:ext cx="4678363" cy="316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7780" name="Picture 20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92" t="8940" r="4483" b="16072"/>
          <a:stretch>
            <a:fillRect/>
          </a:stretch>
        </p:blipFill>
        <p:spPr bwMode="auto">
          <a:xfrm>
            <a:off x="4208463" y="3608388"/>
            <a:ext cx="3963987" cy="2370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17782" name="Object 22"/>
          <p:cNvGraphicFramePr>
            <a:graphicFrameLocks noChangeAspect="1"/>
          </p:cNvGraphicFramePr>
          <p:nvPr/>
        </p:nvGraphicFramePr>
        <p:xfrm>
          <a:off x="7010400" y="3733800"/>
          <a:ext cx="728663" cy="620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508000" imgH="431800" progId="Equation.DSMT4">
                  <p:embed/>
                </p:oleObj>
              </mc:Choice>
              <mc:Fallback>
                <p:oleObj name="Equation" r:id="rId18" imgW="508000" imgH="431800" progId="Equation.DSMT4">
                  <p:embed/>
                  <p:pic>
                    <p:nvPicPr>
                      <p:cNvPr id="117782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0400" y="3733800"/>
                        <a:ext cx="728663" cy="62071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783" name="Object 23"/>
          <p:cNvGraphicFramePr>
            <a:graphicFrameLocks noChangeAspect="1"/>
          </p:cNvGraphicFramePr>
          <p:nvPr/>
        </p:nvGraphicFramePr>
        <p:xfrm>
          <a:off x="7010400" y="3733800"/>
          <a:ext cx="728663" cy="620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508000" imgH="431800" progId="Equation.DSMT4">
                  <p:embed/>
                </p:oleObj>
              </mc:Choice>
              <mc:Fallback>
                <p:oleObj name="Equation" r:id="rId20" imgW="508000" imgH="431800" progId="Equation.DSMT4">
                  <p:embed/>
                  <p:pic>
                    <p:nvPicPr>
                      <p:cNvPr id="117783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0400" y="3733800"/>
                        <a:ext cx="728663" cy="62071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784" name="Object 24"/>
          <p:cNvGraphicFramePr>
            <a:graphicFrameLocks noChangeAspect="1"/>
          </p:cNvGraphicFramePr>
          <p:nvPr/>
        </p:nvGraphicFramePr>
        <p:xfrm>
          <a:off x="1143000" y="3501008"/>
          <a:ext cx="1401763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977476" imgH="203112" progId="Equation.DSMT4">
                  <p:embed/>
                </p:oleObj>
              </mc:Choice>
              <mc:Fallback>
                <p:oleObj name="Equation" r:id="rId22" imgW="977476" imgH="203112" progId="Equation.DSMT4">
                  <p:embed/>
                  <p:pic>
                    <p:nvPicPr>
                      <p:cNvPr id="117784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3501008"/>
                        <a:ext cx="1401763" cy="2921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4BC0222-7E6F-4341-9F00-F79C33C107B9}" type="slidenum">
              <a:rPr lang="pt-BR"/>
              <a:pPr>
                <a:defRPr/>
              </a:pPr>
              <a:t>61</a:t>
            </a:fld>
            <a:endParaRPr lang="pt-BR"/>
          </a:p>
        </p:txBody>
      </p:sp>
      <p:sp>
        <p:nvSpPr>
          <p:cNvPr id="22" name="Text Box 8"/>
          <p:cNvSpPr txBox="1">
            <a:spLocks noChangeArrowheads="1"/>
          </p:cNvSpPr>
          <p:nvPr/>
        </p:nvSpPr>
        <p:spPr bwMode="auto">
          <a:xfrm>
            <a:off x="179512" y="4869160"/>
            <a:ext cx="359658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92088" indent="-192088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OBS: Se </a:t>
            </a:r>
            <a:r>
              <a:rPr lang="pt-BR" altLang="pt-BR" sz="1600" i="1" dirty="0">
                <a:latin typeface="Times New Roman" pitchFamily="18" charset="0"/>
              </a:rPr>
              <a:t>p</a:t>
            </a:r>
            <a:r>
              <a:rPr lang="pt-BR" alt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0,5</a:t>
            </a:r>
            <a:r>
              <a:rPr lang="pt-BR" altLang="pt-BR" sz="1600" dirty="0">
                <a:latin typeface="Tahoma" panose="020B0604030504040204" pitchFamily="34" charset="0"/>
              </a:rPr>
              <a:t>, a distribuição Binomial é simétrica e, portanto, rapidamente converge para Normal.</a:t>
            </a:r>
          </a:p>
        </p:txBody>
      </p:sp>
      <p:graphicFrame>
        <p:nvGraphicFramePr>
          <p:cNvPr id="4" name="Objeto 3"/>
          <p:cNvGraphicFramePr>
            <a:graphicFrameLocks noChangeAspect="1"/>
          </p:cNvGraphicFramePr>
          <p:nvPr/>
        </p:nvGraphicFramePr>
        <p:xfrm>
          <a:off x="1143000" y="4441552"/>
          <a:ext cx="98425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685800" imgH="203040" progId="Equation.DSMT4">
                  <p:embed/>
                </p:oleObj>
              </mc:Choice>
              <mc:Fallback>
                <p:oleObj name="Equation" r:id="rId24" imgW="685800" imgH="203040" progId="Equation.DSMT4">
                  <p:embed/>
                  <p:pic>
                    <p:nvPicPr>
                      <p:cNvPr id="4" name="Objeto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4441552"/>
                        <a:ext cx="984250" cy="2921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to 2"/>
          <p:cNvGraphicFramePr>
            <a:graphicFrameLocks noChangeAspect="1"/>
          </p:cNvGraphicFramePr>
          <p:nvPr/>
        </p:nvGraphicFramePr>
        <p:xfrm>
          <a:off x="1143000" y="4378052"/>
          <a:ext cx="26416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841400" imgH="291960" progId="Equation.DSMT4">
                  <p:embed/>
                </p:oleObj>
              </mc:Choice>
              <mc:Fallback>
                <p:oleObj name="Equation" r:id="rId26" imgW="1841400" imgH="291960" progId="Equation.DSMT4">
                  <p:embed/>
                  <p:pic>
                    <p:nvPicPr>
                      <p:cNvPr id="3" name="Objeto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4378052"/>
                        <a:ext cx="2641600" cy="4191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29856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7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7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7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7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7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7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7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7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7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7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7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7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7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7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7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7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7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000"/>
                            </p:stCondLst>
                            <p:childTnLst>
                              <p:par>
                                <p:cTn id="6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7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766" grpId="0" autoUpdateAnimBg="0"/>
      <p:bldP spid="117767" grpId="0" autoUpdateAnimBg="0"/>
      <p:bldP spid="117768" grpId="0" autoUpdateAnimBg="0"/>
      <p:bldP spid="22" grpId="0" autoUpdateAnimBg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Aproximação da Binomial à Normal </a:t>
            </a:r>
          </a:p>
        </p:txBody>
      </p:sp>
      <p:sp>
        <p:nvSpPr>
          <p:cNvPr id="29699" name="Text Box 18"/>
          <p:cNvSpPr txBox="1">
            <a:spLocks noChangeArrowheads="1"/>
          </p:cNvSpPr>
          <p:nvPr/>
        </p:nvSpPr>
        <p:spPr bwMode="auto">
          <a:xfrm>
            <a:off x="1905000" y="1474788"/>
            <a:ext cx="7086600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Exemplo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Considere o experimento: retiram-se 100 bolas da urna (com reposição). Define-se uma </a:t>
            </a:r>
            <a:r>
              <a:rPr lang="pt-BR" altLang="pt-BR" sz="1600" dirty="0" err="1">
                <a:latin typeface="Tahoma" panose="020B0604030504040204" pitchFamily="34" charset="0"/>
              </a:rPr>
              <a:t>v.a</a:t>
            </a:r>
            <a:r>
              <a:rPr lang="pt-BR" altLang="pt-BR" sz="1600" dirty="0">
                <a:latin typeface="Tahoma" panose="020B0604030504040204" pitchFamily="34" charset="0"/>
              </a:rPr>
              <a:t>. </a:t>
            </a:r>
            <a:r>
              <a:rPr lang="pt-BR" altLang="pt-BR" sz="1600" i="1" dirty="0">
                <a:latin typeface="Times New Roman" pitchFamily="18" charset="0"/>
              </a:rPr>
              <a:t>X</a:t>
            </a:r>
            <a:r>
              <a:rPr lang="pt-BR" altLang="pt-BR" sz="1600" dirty="0">
                <a:latin typeface="Tahoma" panose="020B0604030504040204" pitchFamily="34" charset="0"/>
              </a:rPr>
              <a:t> cujos valores representam o número total de bolas vermelhas dentre as 100 escolhidas.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Calcule: </a:t>
            </a:r>
            <a:r>
              <a:rPr lang="pt-BR" altLang="pt-BR" sz="1600" i="1" dirty="0">
                <a:latin typeface="Times New Roman" pitchFamily="18" charset="0"/>
              </a:rPr>
              <a:t>P</a:t>
            </a:r>
            <a:r>
              <a:rPr lang="pt-BR" altLang="pt-BR" sz="1600" dirty="0">
                <a:latin typeface="Times New Roman" pitchFamily="18" charset="0"/>
              </a:rPr>
              <a:t>(30 </a:t>
            </a:r>
            <a:r>
              <a:rPr lang="pt-BR" altLang="pt-BR" sz="1600" dirty="0">
                <a:latin typeface="Times New Roman" pitchFamily="18" charset="0"/>
                <a:sym typeface="Symbol" pitchFamily="18" charset="2"/>
              </a:rPr>
              <a:t></a:t>
            </a:r>
            <a:r>
              <a:rPr lang="pt-BR" altLang="pt-BR" sz="1600" dirty="0">
                <a:latin typeface="Times New Roman" pitchFamily="18" charset="0"/>
              </a:rPr>
              <a:t> </a:t>
            </a:r>
            <a:r>
              <a:rPr lang="pt-BR" altLang="pt-BR" sz="1600" i="1" dirty="0">
                <a:latin typeface="Times New Roman" pitchFamily="18" charset="0"/>
              </a:rPr>
              <a:t>X</a:t>
            </a:r>
            <a:r>
              <a:rPr lang="pt-BR" altLang="pt-BR" sz="1600" dirty="0">
                <a:latin typeface="Times New Roman" pitchFamily="18" charset="0"/>
              </a:rPr>
              <a:t> </a:t>
            </a:r>
            <a:r>
              <a:rPr lang="pt-BR" altLang="pt-BR" sz="1600" dirty="0">
                <a:latin typeface="Times New Roman" pitchFamily="18" charset="0"/>
                <a:sym typeface="Symbol" pitchFamily="18" charset="2"/>
              </a:rPr>
              <a:t></a:t>
            </a:r>
            <a:r>
              <a:rPr lang="pt-BR" altLang="pt-BR" sz="1600" dirty="0">
                <a:latin typeface="Times New Roman" pitchFamily="18" charset="0"/>
              </a:rPr>
              <a:t> 51)</a:t>
            </a:r>
          </a:p>
        </p:txBody>
      </p:sp>
      <p:grpSp>
        <p:nvGrpSpPr>
          <p:cNvPr id="29700" name="Group 28"/>
          <p:cNvGrpSpPr>
            <a:grpSpLocks/>
          </p:cNvGrpSpPr>
          <p:nvPr/>
        </p:nvGrpSpPr>
        <p:grpSpPr bwMode="auto">
          <a:xfrm>
            <a:off x="838200" y="1447800"/>
            <a:ext cx="914400" cy="1295400"/>
            <a:chOff x="528" y="912"/>
            <a:chExt cx="576" cy="816"/>
          </a:xfrm>
        </p:grpSpPr>
        <p:sp>
          <p:nvSpPr>
            <p:cNvPr id="29709" name="Freeform 20"/>
            <p:cNvSpPr>
              <a:spLocks/>
            </p:cNvSpPr>
            <p:nvPr/>
          </p:nvSpPr>
          <p:spPr bwMode="auto">
            <a:xfrm>
              <a:off x="528" y="912"/>
              <a:ext cx="576" cy="816"/>
            </a:xfrm>
            <a:custGeom>
              <a:avLst/>
              <a:gdLst>
                <a:gd name="T0" fmla="*/ 0 w 576"/>
                <a:gd name="T1" fmla="*/ 0 h 816"/>
                <a:gd name="T2" fmla="*/ 0 w 576"/>
                <a:gd name="T3" fmla="*/ 816 h 816"/>
                <a:gd name="T4" fmla="*/ 576 w 576"/>
                <a:gd name="T5" fmla="*/ 816 h 816"/>
                <a:gd name="T6" fmla="*/ 576 w 576"/>
                <a:gd name="T7" fmla="*/ 0 h 8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"/>
                <a:gd name="T13" fmla="*/ 0 h 816"/>
                <a:gd name="T14" fmla="*/ 576 w 576"/>
                <a:gd name="T15" fmla="*/ 816 h 8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" h="816">
                  <a:moveTo>
                    <a:pt x="0" y="0"/>
                  </a:moveTo>
                  <a:lnTo>
                    <a:pt x="0" y="816"/>
                  </a:lnTo>
                  <a:lnTo>
                    <a:pt x="576" y="816"/>
                  </a:lnTo>
                  <a:lnTo>
                    <a:pt x="576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29710" name="Oval 21"/>
            <p:cNvSpPr>
              <a:spLocks noChangeArrowheads="1"/>
            </p:cNvSpPr>
            <p:nvPr/>
          </p:nvSpPr>
          <p:spPr bwMode="auto">
            <a:xfrm>
              <a:off x="624" y="1122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29711" name="Oval 22"/>
            <p:cNvSpPr>
              <a:spLocks noChangeArrowheads="1"/>
            </p:cNvSpPr>
            <p:nvPr/>
          </p:nvSpPr>
          <p:spPr bwMode="auto">
            <a:xfrm>
              <a:off x="864" y="1242"/>
              <a:ext cx="144" cy="14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29712" name="Oval 24"/>
            <p:cNvSpPr>
              <a:spLocks noChangeArrowheads="1"/>
            </p:cNvSpPr>
            <p:nvPr/>
          </p:nvSpPr>
          <p:spPr bwMode="auto">
            <a:xfrm>
              <a:off x="624" y="1362"/>
              <a:ext cx="144" cy="14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29713" name="Oval 25"/>
            <p:cNvSpPr>
              <a:spLocks noChangeArrowheads="1"/>
            </p:cNvSpPr>
            <p:nvPr/>
          </p:nvSpPr>
          <p:spPr bwMode="auto">
            <a:xfrm>
              <a:off x="864" y="1458"/>
              <a:ext cx="144" cy="14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29714" name="Oval 26"/>
            <p:cNvSpPr>
              <a:spLocks noChangeArrowheads="1"/>
            </p:cNvSpPr>
            <p:nvPr/>
          </p:nvSpPr>
          <p:spPr bwMode="auto">
            <a:xfrm>
              <a:off x="864" y="1026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graphicFrame>
        <p:nvGraphicFramePr>
          <p:cNvPr id="120861" name="Object 29"/>
          <p:cNvGraphicFramePr>
            <a:graphicFrameLocks noChangeAspect="1"/>
          </p:cNvGraphicFramePr>
          <p:nvPr/>
        </p:nvGraphicFramePr>
        <p:xfrm>
          <a:off x="850900" y="3095625"/>
          <a:ext cx="2349500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37589" imgH="393529" progId="Equation.DSMT4">
                  <p:embed/>
                </p:oleObj>
              </mc:Choice>
              <mc:Fallback>
                <p:oleObj name="Equation" r:id="rId2" imgW="1637589" imgH="393529" progId="Equation.DSMT4">
                  <p:embed/>
                  <p:pic>
                    <p:nvPicPr>
                      <p:cNvPr id="120861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0900" y="3095625"/>
                        <a:ext cx="2349500" cy="5619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62" name="Object 30"/>
          <p:cNvGraphicFramePr>
            <a:graphicFrameLocks noChangeAspect="1"/>
          </p:cNvGraphicFramePr>
          <p:nvPr/>
        </p:nvGraphicFramePr>
        <p:xfrm>
          <a:off x="838200" y="3886200"/>
          <a:ext cx="1639888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43000" imgH="457200" progId="Equation.DSMT4">
                  <p:embed/>
                </p:oleObj>
              </mc:Choice>
              <mc:Fallback>
                <p:oleObj name="Equation" r:id="rId4" imgW="1143000" imgH="457200" progId="Equation.DSMT4">
                  <p:embed/>
                  <p:pic>
                    <p:nvPicPr>
                      <p:cNvPr id="120862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3886200"/>
                        <a:ext cx="1639888" cy="6540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63" name="Object 31"/>
          <p:cNvGraphicFramePr>
            <a:graphicFrameLocks noChangeAspect="1"/>
          </p:cNvGraphicFramePr>
          <p:nvPr/>
        </p:nvGraphicFramePr>
        <p:xfrm>
          <a:off x="836613" y="3886200"/>
          <a:ext cx="2259012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74800" imgH="457200" progId="Equation.DSMT4">
                  <p:embed/>
                </p:oleObj>
              </mc:Choice>
              <mc:Fallback>
                <p:oleObj name="Equation" r:id="rId6" imgW="1574800" imgH="457200" progId="Equation.DSMT4">
                  <p:embed/>
                  <p:pic>
                    <p:nvPicPr>
                      <p:cNvPr id="120863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6613" y="3886200"/>
                        <a:ext cx="2259012" cy="6540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64" name="Object 32"/>
          <p:cNvGraphicFramePr>
            <a:graphicFrameLocks noChangeAspect="1"/>
          </p:cNvGraphicFramePr>
          <p:nvPr/>
        </p:nvGraphicFramePr>
        <p:xfrm>
          <a:off x="865188" y="4756150"/>
          <a:ext cx="3497262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438400" imgH="457200" progId="Equation.DSMT4">
                  <p:embed/>
                </p:oleObj>
              </mc:Choice>
              <mc:Fallback>
                <p:oleObj name="Equation" r:id="rId8" imgW="2438400" imgH="457200" progId="Equation.DSMT4">
                  <p:embed/>
                  <p:pic>
                    <p:nvPicPr>
                      <p:cNvPr id="120864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5188" y="4756150"/>
                        <a:ext cx="3497262" cy="6540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0866" name="Picture 34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2819400"/>
            <a:ext cx="3962400" cy="267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0867" name="Text Box 35"/>
          <p:cNvSpPr txBox="1">
            <a:spLocks noChangeArrowheads="1"/>
          </p:cNvSpPr>
          <p:nvPr/>
        </p:nvSpPr>
        <p:spPr bwMode="auto">
          <a:xfrm>
            <a:off x="5953125" y="6140450"/>
            <a:ext cx="27733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solidFill>
                  <a:srgbClr val="FF3300"/>
                </a:solidFill>
                <a:latin typeface="Tahoma" panose="020B0604030504040204" pitchFamily="34" charset="0"/>
              </a:rPr>
              <a:t>Aproximando-se à Normal...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DA72C12-FD7D-4E14-8320-344DD36FDDD0}" type="slidenum">
              <a:rPr lang="pt-BR"/>
              <a:pPr>
                <a:defRPr/>
              </a:pPr>
              <a:t>62</a:t>
            </a:fld>
            <a:endParaRPr lang="pt-BR"/>
          </a:p>
        </p:txBody>
      </p:sp>
      <p:sp>
        <p:nvSpPr>
          <p:cNvPr id="3" name="Retângulo 2"/>
          <p:cNvSpPr>
            <a:spLocks noChangeArrowheads="1"/>
          </p:cNvSpPr>
          <p:nvPr/>
        </p:nvSpPr>
        <p:spPr bwMode="auto">
          <a:xfrm>
            <a:off x="2600325" y="5497513"/>
            <a:ext cx="119757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400" dirty="0">
                <a:solidFill>
                  <a:srgbClr val="FF0000"/>
                </a:solidFill>
                <a:latin typeface="Tahoma" panose="020B0604030504040204" pitchFamily="34" charset="0"/>
              </a:rPr>
              <a:t>(valor exato)</a:t>
            </a:r>
          </a:p>
        </p:txBody>
      </p:sp>
    </p:spTree>
    <p:extLst>
      <p:ext uri="{BB962C8B-B14F-4D97-AF65-F5344CB8AC3E}">
        <p14:creationId xmlns:p14="http://schemas.microsoft.com/office/powerpoint/2010/main" val="1454401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867" grpId="0" autoUpdateAnimBg="0"/>
      <p:bldP spid="3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Aproximação da Binomial à Normal </a:t>
            </a:r>
          </a:p>
        </p:txBody>
      </p:sp>
      <p:grpSp>
        <p:nvGrpSpPr>
          <p:cNvPr id="30724" name="Group 4"/>
          <p:cNvGrpSpPr>
            <a:grpSpLocks/>
          </p:cNvGrpSpPr>
          <p:nvPr/>
        </p:nvGrpSpPr>
        <p:grpSpPr bwMode="auto">
          <a:xfrm>
            <a:off x="838200" y="1447800"/>
            <a:ext cx="914400" cy="1295400"/>
            <a:chOff x="528" y="912"/>
            <a:chExt cx="576" cy="816"/>
          </a:xfrm>
        </p:grpSpPr>
        <p:sp>
          <p:nvSpPr>
            <p:cNvPr id="30744" name="Freeform 5"/>
            <p:cNvSpPr>
              <a:spLocks/>
            </p:cNvSpPr>
            <p:nvPr/>
          </p:nvSpPr>
          <p:spPr bwMode="auto">
            <a:xfrm>
              <a:off x="528" y="912"/>
              <a:ext cx="576" cy="816"/>
            </a:xfrm>
            <a:custGeom>
              <a:avLst/>
              <a:gdLst>
                <a:gd name="T0" fmla="*/ 0 w 576"/>
                <a:gd name="T1" fmla="*/ 0 h 816"/>
                <a:gd name="T2" fmla="*/ 0 w 576"/>
                <a:gd name="T3" fmla="*/ 816 h 816"/>
                <a:gd name="T4" fmla="*/ 576 w 576"/>
                <a:gd name="T5" fmla="*/ 816 h 816"/>
                <a:gd name="T6" fmla="*/ 576 w 576"/>
                <a:gd name="T7" fmla="*/ 0 h 8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"/>
                <a:gd name="T13" fmla="*/ 0 h 816"/>
                <a:gd name="T14" fmla="*/ 576 w 576"/>
                <a:gd name="T15" fmla="*/ 816 h 8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" h="816">
                  <a:moveTo>
                    <a:pt x="0" y="0"/>
                  </a:moveTo>
                  <a:lnTo>
                    <a:pt x="0" y="816"/>
                  </a:lnTo>
                  <a:lnTo>
                    <a:pt x="576" y="816"/>
                  </a:lnTo>
                  <a:lnTo>
                    <a:pt x="576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30745" name="Oval 6"/>
            <p:cNvSpPr>
              <a:spLocks noChangeArrowheads="1"/>
            </p:cNvSpPr>
            <p:nvPr/>
          </p:nvSpPr>
          <p:spPr bwMode="auto">
            <a:xfrm>
              <a:off x="624" y="1122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30746" name="Oval 7"/>
            <p:cNvSpPr>
              <a:spLocks noChangeArrowheads="1"/>
            </p:cNvSpPr>
            <p:nvPr/>
          </p:nvSpPr>
          <p:spPr bwMode="auto">
            <a:xfrm>
              <a:off x="864" y="1242"/>
              <a:ext cx="144" cy="14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30747" name="Oval 8"/>
            <p:cNvSpPr>
              <a:spLocks noChangeArrowheads="1"/>
            </p:cNvSpPr>
            <p:nvPr/>
          </p:nvSpPr>
          <p:spPr bwMode="auto">
            <a:xfrm>
              <a:off x="624" y="1362"/>
              <a:ext cx="144" cy="14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30748" name="Oval 9"/>
            <p:cNvSpPr>
              <a:spLocks noChangeArrowheads="1"/>
            </p:cNvSpPr>
            <p:nvPr/>
          </p:nvSpPr>
          <p:spPr bwMode="auto">
            <a:xfrm>
              <a:off x="864" y="1458"/>
              <a:ext cx="144" cy="14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30749" name="Oval 10"/>
            <p:cNvSpPr>
              <a:spLocks noChangeArrowheads="1"/>
            </p:cNvSpPr>
            <p:nvPr/>
          </p:nvSpPr>
          <p:spPr bwMode="auto">
            <a:xfrm>
              <a:off x="864" y="1026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graphicFrame>
        <p:nvGraphicFramePr>
          <p:cNvPr id="30725" name="Object 11"/>
          <p:cNvGraphicFramePr>
            <a:graphicFrameLocks noChangeAspect="1"/>
          </p:cNvGraphicFramePr>
          <p:nvPr/>
        </p:nvGraphicFramePr>
        <p:xfrm>
          <a:off x="838200" y="3086100"/>
          <a:ext cx="3152775" cy="1214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97100" imgH="850900" progId="Equation.DSMT4">
                  <p:embed/>
                </p:oleObj>
              </mc:Choice>
              <mc:Fallback>
                <p:oleObj name="Equation" r:id="rId2" imgW="2197100" imgH="850900" progId="Equation.DSMT4">
                  <p:embed/>
                  <p:pic>
                    <p:nvPicPr>
                      <p:cNvPr id="30725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3086100"/>
                        <a:ext cx="3152775" cy="121443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869" name="Object 13"/>
          <p:cNvGraphicFramePr>
            <a:graphicFrameLocks noChangeAspect="1"/>
          </p:cNvGraphicFramePr>
          <p:nvPr/>
        </p:nvGraphicFramePr>
        <p:xfrm>
          <a:off x="1873250" y="4752975"/>
          <a:ext cx="1330325" cy="29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26698" imgH="203112" progId="Equation.DSMT4">
                  <p:embed/>
                </p:oleObj>
              </mc:Choice>
              <mc:Fallback>
                <p:oleObj name="Equation" r:id="rId4" imgW="926698" imgH="203112" progId="Equation.DSMT4">
                  <p:embed/>
                  <p:pic>
                    <p:nvPicPr>
                      <p:cNvPr id="121869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3250" y="4752975"/>
                        <a:ext cx="1330325" cy="29051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0727" name="Picture 1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2819400"/>
            <a:ext cx="3962400" cy="267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1874" name="Picture 18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80" t="8994" r="4463" b="16052"/>
          <a:stretch>
            <a:fillRect/>
          </a:stretch>
        </p:blipFill>
        <p:spPr bwMode="auto">
          <a:xfrm>
            <a:off x="5272088" y="3062288"/>
            <a:ext cx="3357562" cy="200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1876" name="Oval 20"/>
          <p:cNvSpPr>
            <a:spLocks noChangeArrowheads="1"/>
          </p:cNvSpPr>
          <p:nvPr/>
        </p:nvSpPr>
        <p:spPr bwMode="auto">
          <a:xfrm>
            <a:off x="6019800" y="4724400"/>
            <a:ext cx="533400" cy="6096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pic>
        <p:nvPicPr>
          <p:cNvPr id="121884" name="Picture 28"/>
          <p:cNvPicPr>
            <a:picLocks noChangeAspect="1" noChangeArrowheads="1"/>
          </p:cNvPicPr>
          <p:nvPr/>
        </p:nvPicPr>
        <p:blipFill>
          <a:blip r:embed="rId8">
            <a:clrChange>
              <a:clrFrom>
                <a:srgbClr val="FFFF00"/>
              </a:clrFrom>
              <a:clrTo>
                <a:srgbClr val="FFFF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2667000"/>
            <a:ext cx="2879725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21885" name="Object 29"/>
          <p:cNvGraphicFramePr>
            <a:graphicFrameLocks noChangeAspect="1"/>
          </p:cNvGraphicFramePr>
          <p:nvPr/>
        </p:nvGraphicFramePr>
        <p:xfrm>
          <a:off x="850900" y="5334000"/>
          <a:ext cx="1730375" cy="29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206500" imgH="203200" progId="Equation.DSMT4">
                  <p:embed/>
                </p:oleObj>
              </mc:Choice>
              <mc:Fallback>
                <p:oleObj name="Equation" r:id="rId9" imgW="1206500" imgH="203200" progId="Equation.DSMT4">
                  <p:embed/>
                  <p:pic>
                    <p:nvPicPr>
                      <p:cNvPr id="121885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0900" y="5334000"/>
                        <a:ext cx="1730375" cy="29051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1891" name="Freeform 35"/>
          <p:cNvSpPr>
            <a:spLocks/>
          </p:cNvSpPr>
          <p:nvPr/>
        </p:nvSpPr>
        <p:spPr bwMode="auto">
          <a:xfrm>
            <a:off x="6959600" y="2770188"/>
            <a:ext cx="1296988" cy="1652587"/>
          </a:xfrm>
          <a:custGeom>
            <a:avLst/>
            <a:gdLst>
              <a:gd name="T0" fmla="*/ 0 w 826"/>
              <a:gd name="T1" fmla="*/ 2147483647 h 1041"/>
              <a:gd name="T2" fmla="*/ 0 w 826"/>
              <a:gd name="T3" fmla="*/ 2147483647 h 1041"/>
              <a:gd name="T4" fmla="*/ 2147483647 w 826"/>
              <a:gd name="T5" fmla="*/ 2147483647 h 1041"/>
              <a:gd name="T6" fmla="*/ 2147483647 w 826"/>
              <a:gd name="T7" fmla="*/ 2147483647 h 1041"/>
              <a:gd name="T8" fmla="*/ 2147483647 w 826"/>
              <a:gd name="T9" fmla="*/ 0 h 1041"/>
              <a:gd name="T10" fmla="*/ 2147483647 w 826"/>
              <a:gd name="T11" fmla="*/ 2147483647 h 1041"/>
              <a:gd name="T12" fmla="*/ 2147483647 w 826"/>
              <a:gd name="T13" fmla="*/ 2147483647 h 1041"/>
              <a:gd name="T14" fmla="*/ 2147483647 w 826"/>
              <a:gd name="T15" fmla="*/ 2147483647 h 1041"/>
              <a:gd name="T16" fmla="*/ 2147483647 w 826"/>
              <a:gd name="T17" fmla="*/ 2147483647 h 1041"/>
              <a:gd name="T18" fmla="*/ 2147483647 w 826"/>
              <a:gd name="T19" fmla="*/ 2147483647 h 1041"/>
              <a:gd name="T20" fmla="*/ 2147483647 w 826"/>
              <a:gd name="T21" fmla="*/ 2147483647 h 1041"/>
              <a:gd name="T22" fmla="*/ 2147483647 w 826"/>
              <a:gd name="T23" fmla="*/ 2147483647 h 1041"/>
              <a:gd name="T24" fmla="*/ 2147483647 w 826"/>
              <a:gd name="T25" fmla="*/ 2147483647 h 1041"/>
              <a:gd name="T26" fmla="*/ 2147483647 w 826"/>
              <a:gd name="T27" fmla="*/ 2147483647 h 1041"/>
              <a:gd name="T28" fmla="*/ 2147483647 w 826"/>
              <a:gd name="T29" fmla="*/ 2147483647 h 1041"/>
              <a:gd name="T30" fmla="*/ 2147483647 w 826"/>
              <a:gd name="T31" fmla="*/ 2147483647 h 1041"/>
              <a:gd name="T32" fmla="*/ 0 w 826"/>
              <a:gd name="T33" fmla="*/ 2147483647 h 1041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w 826"/>
              <a:gd name="T52" fmla="*/ 0 h 1041"/>
              <a:gd name="T53" fmla="*/ 826 w 826"/>
              <a:gd name="T54" fmla="*/ 1041 h 1041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T51" t="T52" r="T53" b="T54"/>
            <a:pathLst>
              <a:path w="826" h="1041">
                <a:moveTo>
                  <a:pt x="0" y="1041"/>
                </a:moveTo>
                <a:lnTo>
                  <a:pt x="0" y="360"/>
                </a:lnTo>
                <a:lnTo>
                  <a:pt x="50" y="232"/>
                </a:lnTo>
                <a:lnTo>
                  <a:pt x="89" y="105"/>
                </a:lnTo>
                <a:lnTo>
                  <a:pt x="111" y="0"/>
                </a:lnTo>
                <a:lnTo>
                  <a:pt x="233" y="33"/>
                </a:lnTo>
                <a:lnTo>
                  <a:pt x="366" y="83"/>
                </a:lnTo>
                <a:lnTo>
                  <a:pt x="471" y="166"/>
                </a:lnTo>
                <a:lnTo>
                  <a:pt x="582" y="249"/>
                </a:lnTo>
                <a:lnTo>
                  <a:pt x="665" y="376"/>
                </a:lnTo>
                <a:lnTo>
                  <a:pt x="720" y="465"/>
                </a:lnTo>
                <a:lnTo>
                  <a:pt x="776" y="570"/>
                </a:lnTo>
                <a:lnTo>
                  <a:pt x="798" y="670"/>
                </a:lnTo>
                <a:lnTo>
                  <a:pt x="826" y="803"/>
                </a:lnTo>
                <a:lnTo>
                  <a:pt x="826" y="913"/>
                </a:lnTo>
                <a:lnTo>
                  <a:pt x="826" y="1041"/>
                </a:lnTo>
                <a:lnTo>
                  <a:pt x="0" y="1041"/>
                </a:lnTo>
                <a:close/>
              </a:path>
            </a:pathLst>
          </a:custGeom>
          <a:solidFill>
            <a:srgbClr val="FFFFFF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pt-BR" dirty="0">
              <a:latin typeface="Tahoma" panose="020B0604030504040204" pitchFamily="34" charset="0"/>
            </a:endParaRPr>
          </a:p>
        </p:txBody>
      </p:sp>
      <p:grpSp>
        <p:nvGrpSpPr>
          <p:cNvPr id="3" name="Group 34"/>
          <p:cNvGrpSpPr>
            <a:grpSpLocks/>
          </p:cNvGrpSpPr>
          <p:nvPr/>
        </p:nvGrpSpPr>
        <p:grpSpPr bwMode="auto">
          <a:xfrm>
            <a:off x="6757988" y="3352800"/>
            <a:ext cx="387350" cy="1981200"/>
            <a:chOff x="4252" y="2112"/>
            <a:chExt cx="244" cy="1248"/>
          </a:xfrm>
        </p:grpSpPr>
        <p:grpSp>
          <p:nvGrpSpPr>
            <p:cNvPr id="30740" name="Group 32"/>
            <p:cNvGrpSpPr>
              <a:grpSpLocks/>
            </p:cNvGrpSpPr>
            <p:nvPr/>
          </p:nvGrpSpPr>
          <p:grpSpPr bwMode="auto">
            <a:xfrm>
              <a:off x="4252" y="2784"/>
              <a:ext cx="244" cy="576"/>
              <a:chOff x="4252" y="2784"/>
              <a:chExt cx="244" cy="576"/>
            </a:xfrm>
          </p:grpSpPr>
          <p:sp>
            <p:nvSpPr>
              <p:cNvPr id="30742" name="Line 30"/>
              <p:cNvSpPr>
                <a:spLocks noChangeShapeType="1"/>
              </p:cNvSpPr>
              <p:nvPr/>
            </p:nvSpPr>
            <p:spPr bwMode="auto">
              <a:xfrm>
                <a:off x="4374" y="2784"/>
                <a:ext cx="0" cy="384"/>
              </a:xfrm>
              <a:prstGeom prst="line">
                <a:avLst/>
              </a:prstGeom>
              <a:noFill/>
              <a:ln w="28575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30743" name="Text Box 31"/>
              <p:cNvSpPr txBox="1">
                <a:spLocks noChangeArrowheads="1"/>
              </p:cNvSpPr>
              <p:nvPr/>
            </p:nvSpPr>
            <p:spPr bwMode="auto">
              <a:xfrm>
                <a:off x="4252" y="3148"/>
                <a:ext cx="244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>
                    <a:solidFill>
                      <a:srgbClr val="FF3300"/>
                    </a:solidFill>
                    <a:latin typeface="Times New Roman" pitchFamily="18" charset="0"/>
                  </a:rPr>
                  <a:t>30</a:t>
                </a:r>
              </a:p>
            </p:txBody>
          </p:sp>
        </p:grpSp>
        <p:sp>
          <p:nvSpPr>
            <p:cNvPr id="30741" name="Line 33"/>
            <p:cNvSpPr>
              <a:spLocks noChangeShapeType="1"/>
            </p:cNvSpPr>
            <p:nvPr/>
          </p:nvSpPr>
          <p:spPr bwMode="auto">
            <a:xfrm>
              <a:off x="4374" y="2112"/>
              <a:ext cx="0" cy="672"/>
            </a:xfrm>
            <a:prstGeom prst="line">
              <a:avLst/>
            </a:prstGeom>
            <a:noFill/>
            <a:ln w="28575" cap="rnd">
              <a:solidFill>
                <a:srgbClr val="FF33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</p:grpSp>
      <p:graphicFrame>
        <p:nvGraphicFramePr>
          <p:cNvPr id="121895" name="Object 39"/>
          <p:cNvGraphicFramePr>
            <a:graphicFrameLocks noChangeAspect="1"/>
          </p:cNvGraphicFramePr>
          <p:nvPr/>
        </p:nvGraphicFramePr>
        <p:xfrm>
          <a:off x="850900" y="5346700"/>
          <a:ext cx="2076450" cy="29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447172" imgH="203112" progId="Equation.DSMT4">
                  <p:embed/>
                </p:oleObj>
              </mc:Choice>
              <mc:Fallback>
                <p:oleObj name="Equation" r:id="rId11" imgW="1447172" imgH="203112" progId="Equation.DSMT4">
                  <p:embed/>
                  <p:pic>
                    <p:nvPicPr>
                      <p:cNvPr id="121895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0900" y="5346700"/>
                        <a:ext cx="2076450" cy="290513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1896" name="Text Box 40"/>
          <p:cNvSpPr txBox="1">
            <a:spLocks noChangeArrowheads="1"/>
          </p:cNvSpPr>
          <p:nvPr/>
        </p:nvSpPr>
        <p:spPr bwMode="auto">
          <a:xfrm>
            <a:off x="2865129" y="5314950"/>
            <a:ext cx="231736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400" dirty="0">
                <a:solidFill>
                  <a:srgbClr val="FF3300"/>
                </a:solidFill>
                <a:latin typeface="Tahoma" panose="020B0604030504040204" pitchFamily="34" charset="0"/>
              </a:rPr>
              <a:t>(correção de continuidade)</a:t>
            </a:r>
          </a:p>
        </p:txBody>
      </p:sp>
      <p:graphicFrame>
        <p:nvGraphicFramePr>
          <p:cNvPr id="121897" name="Object 41"/>
          <p:cNvGraphicFramePr>
            <a:graphicFrameLocks noChangeAspect="1"/>
          </p:cNvGraphicFramePr>
          <p:nvPr/>
        </p:nvGraphicFramePr>
        <p:xfrm>
          <a:off x="850900" y="5791200"/>
          <a:ext cx="2876550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006600" imgH="457200" progId="Equation.DSMT4">
                  <p:embed/>
                </p:oleObj>
              </mc:Choice>
              <mc:Fallback>
                <p:oleObj name="Equation" r:id="rId13" imgW="2006600" imgH="457200" progId="Equation.DSMT4">
                  <p:embed/>
                  <p:pic>
                    <p:nvPicPr>
                      <p:cNvPr id="121897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0900" y="5791200"/>
                        <a:ext cx="2876550" cy="65405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1899" name="Text Box 43"/>
          <p:cNvSpPr txBox="1">
            <a:spLocks noChangeArrowheads="1"/>
          </p:cNvSpPr>
          <p:nvPr/>
        </p:nvSpPr>
        <p:spPr bwMode="auto">
          <a:xfrm>
            <a:off x="5953800" y="5935632"/>
            <a:ext cx="3063659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700" dirty="0">
                <a:latin typeface="Times New Roman" pitchFamily="18" charset="0"/>
              </a:rPr>
              <a:t>0,9745</a:t>
            </a:r>
            <a:endParaRPr lang="pt-BR" altLang="pt-BR" sz="17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solidFill>
                  <a:srgbClr val="FF3300"/>
                </a:solidFill>
                <a:latin typeface="Tahoma" panose="020B0604030504040204" pitchFamily="34" charset="0"/>
              </a:rPr>
              <a:t>     </a:t>
            </a:r>
            <a:r>
              <a:rPr lang="pt-BR" altLang="pt-BR" sz="1200" dirty="0">
                <a:solidFill>
                  <a:srgbClr val="FF3300"/>
                </a:solidFill>
                <a:latin typeface="Tahoma" panose="020B0604030504040204" pitchFamily="34" charset="0"/>
              </a:rPr>
              <a:t>(valor exato para Binomial </a:t>
            </a:r>
            <a:r>
              <a:rPr lang="pt-BR" altLang="pt-BR" sz="1200" dirty="0">
                <a:solidFill>
                  <a:srgbClr val="FF3300"/>
                </a:solidFill>
                <a:latin typeface="Tahoma" panose="020B0604030504040204" pitchFamily="34" charset="0"/>
                <a:sym typeface="Symbol" pitchFamily="18" charset="2"/>
              </a:rPr>
              <a:t></a:t>
            </a:r>
            <a:r>
              <a:rPr lang="pt-BR" altLang="pt-BR" sz="1200" dirty="0">
                <a:solidFill>
                  <a:srgbClr val="FF3300"/>
                </a:solidFill>
                <a:latin typeface="Tahoma" panose="020B0604030504040204" pitchFamily="34" charset="0"/>
              </a:rPr>
              <a:t> </a:t>
            </a:r>
            <a:r>
              <a:rPr lang="pt-BR" altLang="pt-BR" sz="1200" dirty="0">
                <a:solidFill>
                  <a:srgbClr val="FF3300"/>
                </a:solidFill>
                <a:latin typeface="Times New Roman" pitchFamily="18" charset="0"/>
              </a:rPr>
              <a:t>0,9752</a:t>
            </a:r>
            <a:r>
              <a:rPr lang="pt-BR" altLang="pt-BR" sz="1200" dirty="0">
                <a:solidFill>
                  <a:srgbClr val="FF3300"/>
                </a:solidFill>
                <a:latin typeface="Tahoma" panose="020B0604030504040204" pitchFamily="34" charset="0"/>
              </a:rPr>
              <a:t>)</a:t>
            </a:r>
            <a:endParaRPr lang="pt-BR" altLang="pt-BR" sz="1600" dirty="0">
              <a:solidFill>
                <a:srgbClr val="FF3300"/>
              </a:solidFill>
              <a:latin typeface="Tahoma" panose="020B0604030504040204" pitchFamily="34" charset="0"/>
            </a:endParaRP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99D63B8-7C80-44DE-A535-4ECEDF6CC540}" type="slidenum">
              <a:rPr lang="pt-BR"/>
              <a:pPr>
                <a:defRPr/>
              </a:pPr>
              <a:t>63</a:t>
            </a:fld>
            <a:endParaRPr lang="pt-BR"/>
          </a:p>
        </p:txBody>
      </p:sp>
      <p:sp>
        <p:nvSpPr>
          <p:cNvPr id="4" name="Retângulo 3"/>
          <p:cNvSpPr>
            <a:spLocks noChangeArrowheads="1"/>
          </p:cNvSpPr>
          <p:nvPr/>
        </p:nvSpPr>
        <p:spPr bwMode="auto">
          <a:xfrm>
            <a:off x="852488" y="4710113"/>
            <a:ext cx="106680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Pelo TLC:</a:t>
            </a:r>
          </a:p>
        </p:txBody>
      </p:sp>
      <p:sp>
        <p:nvSpPr>
          <p:cNvPr id="30" name="Text Box 18"/>
          <p:cNvSpPr txBox="1">
            <a:spLocks noChangeArrowheads="1"/>
          </p:cNvSpPr>
          <p:nvPr/>
        </p:nvSpPr>
        <p:spPr bwMode="auto">
          <a:xfrm>
            <a:off x="1905000" y="1474788"/>
            <a:ext cx="7086600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Exemplo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Considere o experimento: retiram-se 100 bolas da urna (com reposição). Define-se uma </a:t>
            </a:r>
            <a:r>
              <a:rPr lang="pt-BR" altLang="pt-BR" sz="1600" dirty="0" err="1">
                <a:latin typeface="Tahoma" panose="020B0604030504040204" pitchFamily="34" charset="0"/>
              </a:rPr>
              <a:t>v.a</a:t>
            </a:r>
            <a:r>
              <a:rPr lang="pt-BR" altLang="pt-BR" sz="1600" dirty="0">
                <a:latin typeface="Tahoma" panose="020B0604030504040204" pitchFamily="34" charset="0"/>
              </a:rPr>
              <a:t>. </a:t>
            </a:r>
            <a:r>
              <a:rPr lang="pt-BR" altLang="pt-BR" sz="1600" i="1" dirty="0">
                <a:latin typeface="Times New Roman" pitchFamily="18" charset="0"/>
              </a:rPr>
              <a:t>X</a:t>
            </a:r>
            <a:r>
              <a:rPr lang="pt-BR" altLang="pt-BR" sz="1600" dirty="0">
                <a:latin typeface="Tahoma" panose="020B0604030504040204" pitchFamily="34" charset="0"/>
              </a:rPr>
              <a:t> cujos valores representam o número total de bolas vermelhas dentre as 100 escolhidas.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Calcule: </a:t>
            </a:r>
            <a:r>
              <a:rPr lang="pt-BR" altLang="pt-BR" sz="1600" i="1" dirty="0">
                <a:latin typeface="Times New Roman" pitchFamily="18" charset="0"/>
              </a:rPr>
              <a:t>P</a:t>
            </a:r>
            <a:r>
              <a:rPr lang="pt-BR" altLang="pt-BR" sz="1600" dirty="0">
                <a:latin typeface="Times New Roman" pitchFamily="18" charset="0"/>
              </a:rPr>
              <a:t>(30 </a:t>
            </a:r>
            <a:r>
              <a:rPr lang="pt-BR" altLang="pt-BR" sz="1600" dirty="0">
                <a:latin typeface="Times New Roman" pitchFamily="18" charset="0"/>
                <a:sym typeface="Symbol" pitchFamily="18" charset="2"/>
              </a:rPr>
              <a:t></a:t>
            </a:r>
            <a:r>
              <a:rPr lang="pt-BR" altLang="pt-BR" sz="1600" dirty="0">
                <a:latin typeface="Times New Roman" pitchFamily="18" charset="0"/>
              </a:rPr>
              <a:t> </a:t>
            </a:r>
            <a:r>
              <a:rPr lang="pt-BR" altLang="pt-BR" sz="1600" i="1" dirty="0">
                <a:latin typeface="Times New Roman" pitchFamily="18" charset="0"/>
              </a:rPr>
              <a:t>X</a:t>
            </a:r>
            <a:r>
              <a:rPr lang="pt-BR" altLang="pt-BR" sz="1600" dirty="0">
                <a:latin typeface="Times New Roman" pitchFamily="18" charset="0"/>
              </a:rPr>
              <a:t> </a:t>
            </a:r>
            <a:r>
              <a:rPr lang="pt-BR" altLang="pt-BR" sz="1600" dirty="0">
                <a:latin typeface="Times New Roman" pitchFamily="18" charset="0"/>
                <a:sym typeface="Symbol" pitchFamily="18" charset="2"/>
              </a:rPr>
              <a:t></a:t>
            </a:r>
            <a:r>
              <a:rPr lang="pt-BR" altLang="pt-BR" sz="1600" dirty="0">
                <a:latin typeface="Times New Roman" pitchFamily="18" charset="0"/>
              </a:rPr>
              <a:t> 51)</a:t>
            </a:r>
          </a:p>
        </p:txBody>
      </p:sp>
      <p:graphicFrame>
        <p:nvGraphicFramePr>
          <p:cNvPr id="31" name="Object 41"/>
          <p:cNvGraphicFramePr>
            <a:graphicFrameLocks noChangeAspect="1"/>
          </p:cNvGraphicFramePr>
          <p:nvPr/>
        </p:nvGraphicFramePr>
        <p:xfrm>
          <a:off x="3749333" y="5935632"/>
          <a:ext cx="2276475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587240" imgH="253800" progId="Equation.DSMT4">
                  <p:embed/>
                </p:oleObj>
              </mc:Choice>
              <mc:Fallback>
                <p:oleObj name="Equation" r:id="rId15" imgW="1587240" imgH="253800" progId="Equation.DSMT4">
                  <p:embed/>
                  <p:pic>
                    <p:nvPicPr>
                      <p:cNvPr id="31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49333" y="5935632"/>
                        <a:ext cx="2276475" cy="36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63925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876" grpId="0" animBg="1"/>
      <p:bldP spid="121891" grpId="0" animBg="1"/>
      <p:bldP spid="121896" grpId="0" autoUpdateAnimBg="0"/>
      <p:bldP spid="121899" grpId="0" autoUpdateAnimBg="0"/>
      <p:bldP spid="4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609600"/>
            <a:ext cx="8763000" cy="685800"/>
          </a:xfrm>
        </p:spPr>
        <p:txBody>
          <a:bodyPr/>
          <a:lstStyle/>
          <a:p>
            <a:pPr eaLnBrk="1" hangingPunct="1">
              <a:defRPr/>
            </a:pPr>
            <a:r>
              <a:rPr lang="pt-BR" dirty="0"/>
              <a:t>Distribuição Normal ou Gaussiana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6776" name="Text Box 40"/>
              <p:cNvSpPr txBox="1">
                <a:spLocks noChangeArrowheads="1"/>
              </p:cNvSpPr>
              <p:nvPr/>
            </p:nvSpPr>
            <p:spPr bwMode="auto">
              <a:xfrm>
                <a:off x="714375" y="1412776"/>
                <a:ext cx="7674049" cy="50447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dirty="0">
                    <a:latin typeface="Tahoma" panose="020B0604030504040204" pitchFamily="34" charset="0"/>
                  </a:rPr>
                  <a:t>Resumindo...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  <a:p>
                <a:pPr marL="625475" indent="-285750" eaLnBrk="1" hangingPunct="1">
                  <a:spcBef>
                    <a:spcPct val="0"/>
                  </a:spcBef>
                  <a:defRPr/>
                </a:pPr>
                <a:r>
                  <a:rPr lang="pt-BR" altLang="pt-BR" sz="1600" dirty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Transformações lineares de uma Normal não alteram sua distribuição, apenas sua média e variância</a:t>
                </a:r>
              </a:p>
              <a:p>
                <a:pPr marL="625475" indent="-285750" eaLnBrk="1" hangingPunct="1">
                  <a:spcBef>
                    <a:spcPct val="0"/>
                  </a:spcBef>
                  <a:defRPr/>
                </a:pPr>
                <a:endParaRPr lang="pt-BR" altLang="pt-BR" sz="1600" dirty="0">
                  <a:solidFill>
                    <a:srgbClr val="000000"/>
                  </a:solidFill>
                  <a:latin typeface="Tahoma" panose="020B0604030504040204" pitchFamily="34" charset="0"/>
                </a:endParaRPr>
              </a:p>
              <a:p>
                <a:pPr marL="339725" eaLnBrk="1" hangingPunct="1">
                  <a:spcBef>
                    <a:spcPct val="0"/>
                  </a:spcBef>
                  <a:buNone/>
                  <a:defRPr/>
                </a:pPr>
                <a14:m>
                  <m:oMath xmlns:m="http://schemas.openxmlformats.org/officeDocument/2006/math">
                    <m:r>
                      <a:rPr lang="pt-BR" altLang="pt-BR" sz="1600" b="0" i="1" smtClean="0">
                        <a:solidFill>
                          <a:srgbClr val="000000"/>
                        </a:solidFill>
                        <a:latin typeface="Cambria Math"/>
                      </a:rPr>
                      <m:t>𝑌</m:t>
                    </m:r>
                    <m:r>
                      <a:rPr lang="pt-BR" altLang="pt-BR" sz="1600" b="0" i="1" smtClean="0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r>
                      <a:rPr lang="pt-BR" altLang="pt-BR" sz="1600" b="0" i="1" smtClean="0">
                        <a:solidFill>
                          <a:srgbClr val="000000"/>
                        </a:solidFill>
                        <a:latin typeface="Cambria Math"/>
                      </a:rPr>
                      <m:t>𝑎𝑋</m:t>
                    </m:r>
                    <m:r>
                      <a:rPr lang="pt-BR" altLang="pt-BR" sz="1600" b="0" i="1" smtClean="0">
                        <a:solidFill>
                          <a:srgbClr val="000000"/>
                        </a:solidFill>
                        <a:latin typeface="Cambria Math"/>
                      </a:rPr>
                      <m:t>+</m:t>
                    </m:r>
                    <m:r>
                      <a:rPr lang="pt-BR" altLang="pt-BR" sz="1600" b="0" i="1" smtClean="0">
                        <a:solidFill>
                          <a:srgbClr val="000000"/>
                        </a:solidFill>
                        <a:latin typeface="Cambria Math"/>
                      </a:rPr>
                      <m:t>𝑏</m:t>
                    </m:r>
                  </m:oMath>
                </a14:m>
                <a:r>
                  <a:rPr lang="pt-BR" altLang="pt-BR" sz="1600" dirty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	Se </a:t>
                </a:r>
                <a14:m>
                  <m:oMath xmlns:m="http://schemas.openxmlformats.org/officeDocument/2006/math">
                    <m:r>
                      <a:rPr lang="pt-BR" altLang="pt-BR" sz="1600" b="0" i="1" smtClean="0">
                        <a:solidFill>
                          <a:srgbClr val="000000"/>
                        </a:solidFill>
                        <a:latin typeface="Cambria Math"/>
                      </a:rPr>
                      <m:t>𝑋</m:t>
                    </m:r>
                    <m:r>
                      <a:rPr lang="pt-BR" altLang="pt-BR" sz="1600" b="0" i="1" smtClean="0">
                        <a:solidFill>
                          <a:srgbClr val="000000"/>
                        </a:solidFill>
                        <a:latin typeface="Cambria Math"/>
                      </a:rPr>
                      <m:t>~</m:t>
                    </m:r>
                    <m:r>
                      <a:rPr lang="pt-BR" altLang="pt-BR" sz="1600" b="0" i="1" smtClean="0">
                        <a:solidFill>
                          <a:srgbClr val="000000"/>
                        </a:solidFill>
                        <a:latin typeface="Cambria Math"/>
                      </a:rPr>
                      <m:t>𝑁</m:t>
                    </m:r>
                    <m:r>
                      <a:rPr lang="pt-BR" altLang="pt-BR" sz="1600" b="0" i="1" smtClean="0">
                        <a:solidFill>
                          <a:srgbClr val="000000"/>
                        </a:solidFill>
                        <a:latin typeface="Cambria Math"/>
                      </a:rPr>
                      <m:t>(</m:t>
                    </m:r>
                    <m:r>
                      <a:rPr lang="pt-BR" altLang="pt-BR" sz="1600" b="0" i="1" smtClean="0">
                        <a:solidFill>
                          <a:srgbClr val="000000"/>
                        </a:solidFill>
                        <a:latin typeface="Cambria Math"/>
                        <a:ea typeface="Cambria Math"/>
                      </a:rPr>
                      <m:t>𝜇</m:t>
                    </m:r>
                    <m:r>
                      <a:rPr lang="pt-BR" altLang="pt-BR" sz="1600" b="0" i="1" smtClean="0">
                        <a:solidFill>
                          <a:srgbClr val="000000"/>
                        </a:solidFill>
                        <a:latin typeface="Cambria Math"/>
                        <a:ea typeface="Cambria Math"/>
                      </a:rPr>
                      <m:t>,</m:t>
                    </m:r>
                    <m:sSup>
                      <m:sSupPr>
                        <m:ctrlPr>
                          <a:rPr lang="pt-BR" altLang="pt-BR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pt-BR" altLang="pt-BR" sz="1600" b="0" i="1" smtClean="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</a:rPr>
                          <m:t>𝜎</m:t>
                        </m:r>
                      </m:e>
                      <m:sup>
                        <m:r>
                          <a:rPr lang="pt-BR" altLang="pt-BR" sz="1600" b="0" i="1" smtClean="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</a:rPr>
                          <m:t>2</m:t>
                        </m:r>
                      </m:sup>
                    </m:sSup>
                    <m:r>
                      <a:rPr lang="pt-BR" altLang="pt-BR" sz="1600" b="0" i="1" smtClean="0">
                        <a:solidFill>
                          <a:srgbClr val="000000"/>
                        </a:solidFill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pt-BR" altLang="pt-BR" sz="1600" dirty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    então    </a:t>
                </a:r>
                <a14:m>
                  <m:oMath xmlns:m="http://schemas.openxmlformats.org/officeDocument/2006/math">
                    <m:r>
                      <a:rPr lang="pt-BR" altLang="pt-BR" sz="1600" b="0" i="1" smtClean="0">
                        <a:solidFill>
                          <a:srgbClr val="000000"/>
                        </a:solidFill>
                        <a:latin typeface="Cambria Math"/>
                      </a:rPr>
                      <m:t>𝑌</m:t>
                    </m:r>
                    <m:r>
                      <a:rPr lang="pt-BR" altLang="pt-BR" sz="1600" i="1">
                        <a:solidFill>
                          <a:srgbClr val="000000"/>
                        </a:solidFill>
                        <a:latin typeface="Cambria Math"/>
                      </a:rPr>
                      <m:t>~</m:t>
                    </m:r>
                    <m:r>
                      <a:rPr lang="pt-BR" altLang="pt-BR" sz="1600" i="1">
                        <a:solidFill>
                          <a:srgbClr val="000000"/>
                        </a:solidFill>
                        <a:latin typeface="Cambria Math"/>
                      </a:rPr>
                      <m:t>𝑁</m:t>
                    </m:r>
                    <m:r>
                      <a:rPr lang="pt-BR" altLang="pt-BR" sz="1600" i="1">
                        <a:solidFill>
                          <a:srgbClr val="000000"/>
                        </a:solidFill>
                        <a:latin typeface="Cambria Math"/>
                      </a:rPr>
                      <m:t>(</m:t>
                    </m:r>
                    <m:r>
                      <a:rPr lang="pt-BR" altLang="pt-BR" sz="1600" b="0" i="1" smtClean="0">
                        <a:solidFill>
                          <a:srgbClr val="000000"/>
                        </a:solidFill>
                        <a:latin typeface="Cambria Math"/>
                      </a:rPr>
                      <m:t>𝑎</m:t>
                    </m:r>
                    <m:r>
                      <a:rPr lang="pt-BR" altLang="pt-BR" sz="1600" i="1">
                        <a:solidFill>
                          <a:srgbClr val="000000"/>
                        </a:solidFill>
                        <a:latin typeface="Cambria Math"/>
                        <a:ea typeface="Cambria Math"/>
                      </a:rPr>
                      <m:t>𝜇</m:t>
                    </m:r>
                    <m:r>
                      <a:rPr lang="pt-BR" altLang="pt-BR" sz="1600" b="0" i="1" smtClean="0">
                        <a:solidFill>
                          <a:srgbClr val="000000"/>
                        </a:solidFill>
                        <a:latin typeface="Cambria Math"/>
                        <a:ea typeface="Cambria Math"/>
                      </a:rPr>
                      <m:t>+</m:t>
                    </m:r>
                    <m:r>
                      <a:rPr lang="pt-BR" altLang="pt-BR" sz="1600" b="0" i="1" smtClean="0">
                        <a:solidFill>
                          <a:srgbClr val="000000"/>
                        </a:solidFill>
                        <a:latin typeface="Cambria Math"/>
                        <a:ea typeface="Cambria Math"/>
                      </a:rPr>
                      <m:t>𝑏</m:t>
                    </m:r>
                    <m:r>
                      <a:rPr lang="pt-BR" altLang="pt-BR" sz="1600" i="1">
                        <a:solidFill>
                          <a:srgbClr val="000000"/>
                        </a:solidFill>
                        <a:latin typeface="Cambria Math"/>
                        <a:ea typeface="Cambria Math"/>
                      </a:rPr>
                      <m:t>,</m:t>
                    </m:r>
                    <m:sSup>
                      <m:sSupPr>
                        <m:ctrlPr>
                          <a:rPr lang="pt-BR" altLang="pt-BR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pt-BR" altLang="pt-BR" sz="1600" b="0" i="1" smtClean="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</a:rPr>
                          <m:t>𝑎</m:t>
                        </m:r>
                      </m:e>
                      <m:sup>
                        <m:r>
                          <a:rPr lang="pt-BR" altLang="pt-BR" sz="1600" b="0" i="1" smtClean="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pt-BR" altLang="pt-BR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pt-BR" altLang="pt-BR" sz="1600" i="1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</a:rPr>
                          <m:t>𝜎</m:t>
                        </m:r>
                      </m:e>
                      <m:sup>
                        <m:r>
                          <a:rPr lang="pt-BR" altLang="pt-BR" sz="1600" i="1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</a:rPr>
                          <m:t>2</m:t>
                        </m:r>
                      </m:sup>
                    </m:sSup>
                    <m:r>
                      <a:rPr lang="pt-BR" altLang="pt-BR" sz="1600" i="1">
                        <a:solidFill>
                          <a:srgbClr val="000000"/>
                        </a:solidFill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endParaRPr lang="pt-BR" altLang="pt-BR" sz="1600" dirty="0">
                  <a:solidFill>
                    <a:srgbClr val="000000"/>
                  </a:solidFill>
                  <a:latin typeface="Tahoma" panose="020B0604030504040204" pitchFamily="34" charset="0"/>
                </a:endParaRPr>
              </a:p>
              <a:p>
                <a:pPr marL="625475" indent="-285750" eaLnBrk="1" hangingPunct="1">
                  <a:spcBef>
                    <a:spcPct val="0"/>
                  </a:spcBef>
                  <a:defRPr/>
                </a:pPr>
                <a:endParaRPr lang="pt-BR" altLang="pt-BR" sz="1600" dirty="0">
                  <a:solidFill>
                    <a:srgbClr val="000000"/>
                  </a:solidFill>
                  <a:latin typeface="Tahoma" panose="020B0604030504040204" pitchFamily="34" charset="0"/>
                </a:endParaRPr>
              </a:p>
              <a:p>
                <a:pPr marL="625475" indent="-285750" eaLnBrk="1" hangingPunct="1">
                  <a:spcBef>
                    <a:spcPct val="0"/>
                  </a:spcBef>
                  <a:defRPr/>
                </a:pPr>
                <a:r>
                  <a:rPr lang="pt-BR" altLang="pt-BR" sz="1600" dirty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A soma de v.a. </a:t>
                </a:r>
                <a:r>
                  <a:rPr lang="pt-BR" altLang="pt-BR" sz="1600" dirty="0">
                    <a:solidFill>
                      <a:srgbClr val="FF0000"/>
                    </a:solidFill>
                    <a:latin typeface="Tahoma" panose="020B0604030504040204" pitchFamily="34" charset="0"/>
                  </a:rPr>
                  <a:t>independentes</a:t>
                </a:r>
                <a:r>
                  <a:rPr lang="pt-BR" altLang="pt-BR" sz="1600" dirty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 com distribuição Normal resulta numa nova v.a. cuja distribuição também é Normal com média igual a soma das médias e variância igual a soma das variâncias</a:t>
                </a:r>
              </a:p>
              <a:p>
                <a:pPr marL="625475" indent="-285750" eaLnBrk="1" hangingPunct="1">
                  <a:spcBef>
                    <a:spcPct val="0"/>
                  </a:spcBef>
                  <a:defRPr/>
                </a:pPr>
                <a:endParaRPr lang="pt-BR" altLang="pt-BR" sz="1600" dirty="0">
                  <a:solidFill>
                    <a:srgbClr val="000000"/>
                  </a:solidFill>
                  <a:latin typeface="Tahoma" panose="020B0604030504040204" pitchFamily="34" charset="0"/>
                </a:endParaRPr>
              </a:p>
              <a:p>
                <a:pPr marL="339725" eaLnBrk="1" hangingPunct="1">
                  <a:spcBef>
                    <a:spcPct val="0"/>
                  </a:spcBef>
                  <a:buNone/>
                  <a:defRPr/>
                </a:pPr>
                <a:r>
                  <a:rPr lang="pt-BR" altLang="pt-BR" sz="1600" dirty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altLang="pt-BR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altLang="pt-BR" sz="1600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pt-BR" altLang="pt-BR" sz="1600" b="0" i="1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pt-BR" altLang="pt-BR" sz="1600" i="1">
                        <a:solidFill>
                          <a:srgbClr val="000000"/>
                        </a:solidFill>
                        <a:latin typeface="Cambria Math"/>
                      </a:rPr>
                      <m:t>~</m:t>
                    </m:r>
                    <m:r>
                      <a:rPr lang="pt-BR" altLang="pt-BR" sz="1600" i="1">
                        <a:solidFill>
                          <a:srgbClr val="000000"/>
                        </a:solidFill>
                        <a:latin typeface="Cambria Math"/>
                      </a:rPr>
                      <m:t>𝑁</m:t>
                    </m:r>
                    <m:r>
                      <a:rPr lang="pt-BR" altLang="pt-BR" sz="1600" i="1">
                        <a:solidFill>
                          <a:srgbClr val="000000"/>
                        </a:solidFill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pt-BR" altLang="pt-BR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pt-BR" altLang="pt-BR" sz="1600" i="1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</a:rPr>
                          <m:t>𝜇</m:t>
                        </m:r>
                      </m:e>
                      <m:sub>
                        <m:r>
                          <a:rPr lang="pt-BR" altLang="pt-BR" sz="1600" b="0" i="1" smtClean="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</a:rPr>
                          <m:t>𝑖</m:t>
                        </m:r>
                      </m:sub>
                    </m:sSub>
                    <m:r>
                      <a:rPr lang="pt-BR" altLang="pt-BR" sz="1600" i="1">
                        <a:solidFill>
                          <a:srgbClr val="000000"/>
                        </a:solidFill>
                        <a:latin typeface="Cambria Math"/>
                        <a:ea typeface="Cambria Math"/>
                      </a:rPr>
                      <m:t>,</m:t>
                    </m:r>
                    <m:sSubSup>
                      <m:sSubSupPr>
                        <m:ctrlPr>
                          <a:rPr lang="pt-BR" altLang="pt-BR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SupPr>
                      <m:e>
                        <m:r>
                          <a:rPr lang="pt-BR" altLang="pt-BR" sz="1600" i="1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</a:rPr>
                          <m:t>𝜎</m:t>
                        </m:r>
                      </m:e>
                      <m:sub>
                        <m:r>
                          <a:rPr lang="pt-BR" altLang="pt-BR" sz="1600" b="0" i="1" smtClean="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</a:rPr>
                          <m:t>𝑖</m:t>
                        </m:r>
                      </m:sub>
                      <m:sup>
                        <m:r>
                          <a:rPr lang="pt-BR" altLang="pt-BR" sz="1600" i="1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</a:rPr>
                          <m:t>2</m:t>
                        </m:r>
                      </m:sup>
                    </m:sSubSup>
                    <m:r>
                      <a:rPr lang="pt-BR" altLang="pt-BR" sz="1600" i="1">
                        <a:solidFill>
                          <a:srgbClr val="000000"/>
                        </a:solidFill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pt-BR" altLang="pt-BR" sz="1600" dirty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    então    </a:t>
                </a:r>
                <a14:m>
                  <m:oMath xmlns:m="http://schemas.openxmlformats.org/officeDocument/2006/math">
                    <m:r>
                      <a:rPr lang="pt-BR" altLang="pt-BR" sz="1600" i="1">
                        <a:solidFill>
                          <a:srgbClr val="000000"/>
                        </a:solidFill>
                        <a:latin typeface="Cambria Math"/>
                      </a:rPr>
                      <m:t>𝑌</m:t>
                    </m:r>
                    <m:r>
                      <a:rPr lang="pt-BR" altLang="pt-BR" sz="1600" i="1">
                        <a:solidFill>
                          <a:srgbClr val="000000"/>
                        </a:solidFill>
                        <a:latin typeface="Cambria Math"/>
                      </a:rPr>
                      <m:t>~</m:t>
                    </m:r>
                    <m:nary>
                      <m:naryPr>
                        <m:chr m:val="∑"/>
                        <m:limLoc m:val="subSup"/>
                        <m:ctrlPr>
                          <a:rPr lang="pt-BR" altLang="pt-BR" sz="16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pt-BR" altLang="pt-BR" sz="1600" b="0" i="1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𝑖</m:t>
                        </m:r>
                        <m:r>
                          <a:rPr lang="pt-BR" altLang="pt-BR" sz="1600" b="0" i="1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pt-BR" altLang="pt-BR" sz="1600" b="0" i="1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pt-BR" altLang="pt-BR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altLang="pt-BR" sz="1600" b="0" i="1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𝑋</m:t>
                            </m:r>
                          </m:e>
                          <m:sub>
                            <m:r>
                              <a:rPr lang="pt-BR" altLang="pt-BR" sz="1600" b="0" i="1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pt-BR" altLang="pt-BR" sz="1600" b="0" i="1" smtClean="0">
                        <a:solidFill>
                          <a:srgbClr val="000000"/>
                        </a:solidFill>
                        <a:latin typeface="Cambria Math"/>
                      </a:rPr>
                      <m:t>~</m:t>
                    </m:r>
                    <m:r>
                      <a:rPr lang="pt-BR" altLang="pt-BR" sz="1600" i="1">
                        <a:solidFill>
                          <a:srgbClr val="000000"/>
                        </a:solidFill>
                        <a:latin typeface="Cambria Math"/>
                      </a:rPr>
                      <m:t>𝑁</m:t>
                    </m:r>
                    <m:r>
                      <a:rPr lang="pt-BR" altLang="pt-BR" sz="1600" i="1">
                        <a:solidFill>
                          <a:srgbClr val="000000"/>
                        </a:solidFill>
                        <a:latin typeface="Cambria Math"/>
                      </a:rPr>
                      <m:t>(</m:t>
                    </m:r>
                    <m:nary>
                      <m:naryPr>
                        <m:chr m:val="∑"/>
                        <m:limLoc m:val="subSup"/>
                        <m:ctrlPr>
                          <a:rPr lang="pt-BR" altLang="pt-BR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pt-BR" altLang="pt-BR" sz="1600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𝑖</m:t>
                        </m:r>
                        <m:r>
                          <a:rPr lang="pt-BR" altLang="pt-BR" sz="1600" i="1">
                            <a:solidFill>
                              <a:srgbClr val="000000"/>
                            </a:solidFill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pt-BR" altLang="pt-BR" sz="1600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pt-BR" altLang="pt-BR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altLang="pt-BR" sz="1600" i="1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  <m:t>𝜇</m:t>
                            </m:r>
                          </m:e>
                          <m:sub>
                            <m:r>
                              <a:rPr lang="pt-BR" altLang="pt-BR" sz="16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pt-BR" altLang="pt-BR" sz="1600" i="1">
                        <a:solidFill>
                          <a:srgbClr val="000000"/>
                        </a:solidFill>
                        <a:latin typeface="Cambria Math"/>
                        <a:ea typeface="Cambria Math"/>
                      </a:rPr>
                      <m:t>,</m:t>
                    </m:r>
                    <m:nary>
                      <m:naryPr>
                        <m:chr m:val="∑"/>
                        <m:limLoc m:val="subSup"/>
                        <m:ctrlPr>
                          <a:rPr lang="pt-BR" altLang="pt-BR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pt-BR" altLang="pt-BR" sz="1600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𝑖</m:t>
                        </m:r>
                        <m:r>
                          <a:rPr lang="pt-BR" altLang="pt-BR" sz="1600" i="1">
                            <a:solidFill>
                              <a:srgbClr val="000000"/>
                            </a:solidFill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pt-BR" altLang="pt-BR" sz="1600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𝑛</m:t>
                        </m:r>
                      </m:sup>
                      <m:e>
                        <m:sSubSup>
                          <m:sSubSupPr>
                            <m:ctrlPr>
                              <a:rPr lang="pt-BR" altLang="pt-BR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SupPr>
                          <m:e>
                            <m:r>
                              <a:rPr lang="pt-BR" altLang="pt-BR" sz="1600" i="1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  <m:t>𝜎</m:t>
                            </m:r>
                          </m:e>
                          <m:sub>
                            <m:r>
                              <a:rPr lang="pt-BR" altLang="pt-BR" sz="1600" i="1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  <m:t>𝑖</m:t>
                            </m:r>
                          </m:sub>
                          <m:sup>
                            <m:r>
                              <a:rPr lang="pt-BR" altLang="pt-BR" sz="1600" i="1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  <m:t>2</m:t>
                            </m:r>
                          </m:sup>
                        </m:sSubSup>
                      </m:e>
                    </m:nary>
                    <m:r>
                      <a:rPr lang="pt-BR" altLang="pt-BR" sz="1600" i="1">
                        <a:solidFill>
                          <a:srgbClr val="000000"/>
                        </a:solidFill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endParaRPr lang="pt-BR" altLang="pt-BR" sz="1600" dirty="0">
                  <a:solidFill>
                    <a:srgbClr val="000000"/>
                  </a:solidFill>
                  <a:latin typeface="Tahoma" panose="020B0604030504040204" pitchFamily="34" charset="0"/>
                </a:endParaRPr>
              </a:p>
              <a:p>
                <a:pPr marL="625475" indent="-285750" eaLnBrk="1" hangingPunct="1">
                  <a:spcBef>
                    <a:spcPct val="0"/>
                  </a:spcBef>
                  <a:defRPr/>
                </a:pPr>
                <a:endParaRPr lang="pt-BR" altLang="pt-BR" sz="1600" dirty="0">
                  <a:solidFill>
                    <a:srgbClr val="000000"/>
                  </a:solidFill>
                  <a:latin typeface="Tahoma" panose="020B0604030504040204" pitchFamily="34" charset="0"/>
                </a:endParaRPr>
              </a:p>
              <a:p>
                <a:pPr marL="625475" indent="-285750" eaLnBrk="1" hangingPunct="1">
                  <a:spcBef>
                    <a:spcPct val="0"/>
                  </a:spcBef>
                  <a:defRPr/>
                </a:pPr>
                <a:r>
                  <a:rPr lang="pt-BR" altLang="pt-BR" sz="1600" dirty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A soma  de um grande número de v.a. </a:t>
                </a:r>
                <a:r>
                  <a:rPr lang="pt-BR" altLang="pt-BR" sz="1600" dirty="0">
                    <a:solidFill>
                      <a:srgbClr val="FF0000"/>
                    </a:solidFill>
                    <a:latin typeface="Tahoma" panose="020B0604030504040204" pitchFamily="34" charset="0"/>
                  </a:rPr>
                  <a:t>independentes</a:t>
                </a:r>
                <a:r>
                  <a:rPr lang="pt-BR" altLang="pt-BR" sz="1600" dirty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 com distribuição desconhecida resulta numa nova v.a. cuja distribuição tende a uma Normal com média igual a soma das médias e variância igual a soma das variâncias</a:t>
                </a:r>
              </a:p>
              <a:p>
                <a:pPr marL="625475" indent="-285750" eaLnBrk="1" hangingPunct="1">
                  <a:spcBef>
                    <a:spcPct val="0"/>
                  </a:spcBef>
                  <a:defRPr/>
                </a:pPr>
                <a:endParaRPr lang="pt-BR" altLang="pt-BR" sz="1600" dirty="0">
                  <a:solidFill>
                    <a:srgbClr val="000000"/>
                  </a:solidFill>
                  <a:latin typeface="Tahoma" panose="020B0604030504040204" pitchFamily="34" charset="0"/>
                </a:endParaRPr>
              </a:p>
              <a:p>
                <a:pPr marL="339725" eaLnBrk="1" hangingPunct="1">
                  <a:spcBef>
                    <a:spcPct val="0"/>
                  </a:spcBef>
                  <a:buNone/>
                  <a:defRPr/>
                </a:pPr>
                <a:r>
                  <a:rPr lang="pt-BR" altLang="pt-BR" sz="1600" dirty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altLang="pt-BR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altLang="pt-BR" sz="1600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pt-BR" altLang="pt-BR" sz="1600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pt-BR" altLang="pt-BR" sz="1600" i="1">
                        <a:solidFill>
                          <a:srgbClr val="000000"/>
                        </a:solidFill>
                        <a:latin typeface="Cambria Math"/>
                      </a:rPr>
                      <m:t>~</m:t>
                    </m:r>
                    <m:r>
                      <a:rPr lang="pt-BR" altLang="pt-BR" sz="1600" b="0" i="1" smtClean="0">
                        <a:solidFill>
                          <a:srgbClr val="000000"/>
                        </a:solidFill>
                        <a:latin typeface="Cambria Math"/>
                      </a:rPr>
                      <m:t>?</m:t>
                    </m:r>
                    <m:r>
                      <a:rPr lang="pt-BR" altLang="pt-BR" sz="1600" i="1">
                        <a:solidFill>
                          <a:srgbClr val="000000"/>
                        </a:solidFill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pt-BR" altLang="pt-BR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pt-BR" altLang="pt-BR" sz="1600" i="1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</a:rPr>
                          <m:t>𝜇</m:t>
                        </m:r>
                      </m:e>
                      <m:sub>
                        <m:r>
                          <a:rPr lang="pt-BR" altLang="pt-BR" sz="1600" i="1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</a:rPr>
                          <m:t>𝑖</m:t>
                        </m:r>
                      </m:sub>
                    </m:sSub>
                    <m:r>
                      <a:rPr lang="pt-BR" altLang="pt-BR" sz="1600" i="1">
                        <a:solidFill>
                          <a:srgbClr val="000000"/>
                        </a:solidFill>
                        <a:latin typeface="Cambria Math"/>
                        <a:ea typeface="Cambria Math"/>
                      </a:rPr>
                      <m:t>,</m:t>
                    </m:r>
                    <m:sSubSup>
                      <m:sSubSupPr>
                        <m:ctrlPr>
                          <a:rPr lang="pt-BR" altLang="pt-BR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SupPr>
                      <m:e>
                        <m:r>
                          <a:rPr lang="pt-BR" altLang="pt-BR" sz="1600" i="1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</a:rPr>
                          <m:t>𝜎</m:t>
                        </m:r>
                      </m:e>
                      <m:sub>
                        <m:r>
                          <a:rPr lang="pt-BR" altLang="pt-BR" sz="1600" i="1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</a:rPr>
                          <m:t>𝑖</m:t>
                        </m:r>
                      </m:sub>
                      <m:sup>
                        <m:r>
                          <a:rPr lang="pt-BR" altLang="pt-BR" sz="1600" i="1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</a:rPr>
                          <m:t>2</m:t>
                        </m:r>
                      </m:sup>
                    </m:sSubSup>
                    <m:r>
                      <a:rPr lang="pt-BR" altLang="pt-BR" sz="1600" i="1">
                        <a:solidFill>
                          <a:srgbClr val="000000"/>
                        </a:solidFill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pt-BR" altLang="pt-BR" sz="1600" dirty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    então    </a:t>
                </a:r>
                <a14:m>
                  <m:oMath xmlns:m="http://schemas.openxmlformats.org/officeDocument/2006/math">
                    <m:r>
                      <a:rPr lang="pt-BR" altLang="pt-BR" sz="1600" i="1">
                        <a:solidFill>
                          <a:srgbClr val="000000"/>
                        </a:solidFill>
                        <a:latin typeface="Cambria Math"/>
                      </a:rPr>
                      <m:t>𝑌</m:t>
                    </m:r>
                    <m:r>
                      <a:rPr lang="pt-BR" altLang="pt-BR" sz="1600" i="1">
                        <a:solidFill>
                          <a:srgbClr val="000000"/>
                        </a:solidFill>
                        <a:latin typeface="Cambria Math"/>
                      </a:rPr>
                      <m:t>~</m:t>
                    </m:r>
                    <m:nary>
                      <m:naryPr>
                        <m:chr m:val="∑"/>
                        <m:limLoc m:val="subSup"/>
                        <m:ctrlPr>
                          <a:rPr lang="pt-BR" altLang="pt-BR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pt-BR" altLang="pt-BR" sz="1600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𝑖</m:t>
                        </m:r>
                        <m:r>
                          <a:rPr lang="pt-BR" altLang="pt-BR" sz="1600" i="1">
                            <a:solidFill>
                              <a:srgbClr val="000000"/>
                            </a:solidFill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pt-BR" altLang="pt-BR" sz="1600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pt-BR" altLang="pt-BR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altLang="pt-BR" sz="16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𝑋</m:t>
                            </m:r>
                          </m:e>
                          <m:sub>
                            <m:r>
                              <a:rPr lang="pt-BR" altLang="pt-BR" sz="16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pt-BR" altLang="pt-BR" sz="1600" i="1">
                        <a:solidFill>
                          <a:srgbClr val="000000"/>
                        </a:solidFill>
                        <a:latin typeface="Cambria Math"/>
                      </a:rPr>
                      <m:t>~</m:t>
                    </m:r>
                    <m:r>
                      <a:rPr lang="pt-BR" altLang="pt-BR" sz="1600" i="1">
                        <a:solidFill>
                          <a:srgbClr val="000000"/>
                        </a:solidFill>
                        <a:latin typeface="Cambria Math"/>
                      </a:rPr>
                      <m:t>𝑁</m:t>
                    </m:r>
                    <m:r>
                      <a:rPr lang="pt-BR" altLang="pt-BR" sz="1600" i="1">
                        <a:solidFill>
                          <a:srgbClr val="000000"/>
                        </a:solidFill>
                        <a:latin typeface="Cambria Math"/>
                      </a:rPr>
                      <m:t>(</m:t>
                    </m:r>
                    <m:nary>
                      <m:naryPr>
                        <m:chr m:val="∑"/>
                        <m:limLoc m:val="subSup"/>
                        <m:ctrlPr>
                          <a:rPr lang="pt-BR" altLang="pt-BR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pt-BR" altLang="pt-BR" sz="1600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𝑖</m:t>
                        </m:r>
                        <m:r>
                          <a:rPr lang="pt-BR" altLang="pt-BR" sz="1600" i="1">
                            <a:solidFill>
                              <a:srgbClr val="000000"/>
                            </a:solidFill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pt-BR" altLang="pt-BR" sz="1600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pt-BR" altLang="pt-BR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altLang="pt-BR" sz="1600" i="1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  <m:t>𝜇</m:t>
                            </m:r>
                          </m:e>
                          <m:sub>
                            <m:r>
                              <a:rPr lang="pt-BR" altLang="pt-BR" sz="16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pt-BR" altLang="pt-BR" sz="1600" i="1">
                        <a:solidFill>
                          <a:srgbClr val="000000"/>
                        </a:solidFill>
                        <a:latin typeface="Cambria Math"/>
                        <a:ea typeface="Cambria Math"/>
                      </a:rPr>
                      <m:t>,</m:t>
                    </m:r>
                    <m:nary>
                      <m:naryPr>
                        <m:chr m:val="∑"/>
                        <m:limLoc m:val="subSup"/>
                        <m:ctrlPr>
                          <a:rPr lang="pt-BR" altLang="pt-BR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pt-BR" altLang="pt-BR" sz="1600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𝑖</m:t>
                        </m:r>
                        <m:r>
                          <a:rPr lang="pt-BR" altLang="pt-BR" sz="1600" i="1">
                            <a:solidFill>
                              <a:srgbClr val="000000"/>
                            </a:solidFill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pt-BR" altLang="pt-BR" sz="1600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𝑛</m:t>
                        </m:r>
                      </m:sup>
                      <m:e>
                        <m:sSubSup>
                          <m:sSubSupPr>
                            <m:ctrlPr>
                              <a:rPr lang="pt-BR" altLang="pt-BR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SupPr>
                          <m:e>
                            <m:r>
                              <a:rPr lang="pt-BR" altLang="pt-BR" sz="1600" i="1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  <m:t>𝜎</m:t>
                            </m:r>
                          </m:e>
                          <m:sub>
                            <m:r>
                              <a:rPr lang="pt-BR" altLang="pt-BR" sz="1600" i="1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  <m:t>𝑖</m:t>
                            </m:r>
                          </m:sub>
                          <m:sup>
                            <m:r>
                              <a:rPr lang="pt-BR" altLang="pt-BR" sz="1600" i="1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  <m:t>2</m:t>
                            </m:r>
                          </m:sup>
                        </m:sSubSup>
                      </m:e>
                    </m:nary>
                    <m:r>
                      <a:rPr lang="pt-BR" altLang="pt-BR" sz="1600" i="1">
                        <a:solidFill>
                          <a:srgbClr val="000000"/>
                        </a:solidFill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pt-BR" altLang="pt-BR" sz="1600" dirty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    se   </a:t>
                </a:r>
                <a14:m>
                  <m:oMath xmlns:m="http://schemas.openxmlformats.org/officeDocument/2006/math">
                    <m:r>
                      <a:rPr lang="pt-BR" altLang="pt-BR" sz="1600" b="0" i="1" smtClean="0">
                        <a:solidFill>
                          <a:srgbClr val="00000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pt-BR" altLang="pt-BR" sz="1600" dirty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 grande</a:t>
                </a:r>
              </a:p>
              <a:p>
                <a:pPr marL="339725" eaLnBrk="1" hangingPunct="1">
                  <a:spcBef>
                    <a:spcPct val="0"/>
                  </a:spcBef>
                  <a:buNone/>
                  <a:defRPr/>
                </a:pPr>
                <a:endParaRPr lang="pt-BR" altLang="pt-BR" sz="1600" dirty="0">
                  <a:solidFill>
                    <a:srgbClr val="000000"/>
                  </a:solidFill>
                  <a:latin typeface="Tahoma" panose="020B0604030504040204" pitchFamily="34" charset="0"/>
                </a:endParaRPr>
              </a:p>
              <a:p>
                <a:pPr marL="339725" algn="ctr" eaLnBrk="1" hangingPunct="1">
                  <a:spcBef>
                    <a:spcPct val="0"/>
                  </a:spcBef>
                  <a:buNone/>
                  <a:defRPr/>
                </a:pPr>
                <a:r>
                  <a:rPr lang="pt-BR" altLang="pt-BR" sz="1600" dirty="0">
                    <a:solidFill>
                      <a:srgbClr val="FF0000"/>
                    </a:solidFill>
                    <a:latin typeface="Tahoma" panose="020B0604030504040204" pitchFamily="34" charset="0"/>
                  </a:rPr>
                  <a:t>Teorema do Limite Central</a:t>
                </a:r>
              </a:p>
            </p:txBody>
          </p:sp>
        </mc:Choice>
        <mc:Fallback xmlns="">
          <p:sp>
            <p:nvSpPr>
              <p:cNvPr id="116776" name="Text 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14375" y="1412776"/>
                <a:ext cx="7674049" cy="5044714"/>
              </a:xfrm>
              <a:prstGeom prst="rect">
                <a:avLst/>
              </a:prstGeom>
              <a:blipFill>
                <a:blip r:embed="rId2"/>
                <a:stretch>
                  <a:fillRect l="-397" t="-363" r="-794" b="-96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B3912D-195B-4F52-970A-CAA1A21AE0C1}" type="slidenum">
              <a:rPr lang="pt-BR"/>
              <a:pPr>
                <a:defRPr/>
              </a:pPr>
              <a:t>64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36842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7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7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7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Distribuição </a:t>
            </a:r>
            <a:r>
              <a:rPr lang="pt-BR" dirty="0">
                <a:sym typeface="Symbol" pitchFamily="18" charset="2"/>
              </a:rPr>
              <a:t></a:t>
            </a:r>
            <a:r>
              <a:rPr lang="pt-BR" baseline="30000" dirty="0">
                <a:latin typeface="Times New Roman" pitchFamily="18" charset="0"/>
                <a:sym typeface="Symbol" pitchFamily="18" charset="2"/>
              </a:rPr>
              <a:t>2</a:t>
            </a:r>
            <a:endParaRPr lang="pt-BR" i="1" dirty="0"/>
          </a:p>
        </p:txBody>
      </p:sp>
      <p:graphicFrame>
        <p:nvGraphicFramePr>
          <p:cNvPr id="136196" name="Object 4"/>
          <p:cNvGraphicFramePr>
            <a:graphicFrameLocks noChangeAspect="1"/>
          </p:cNvGraphicFramePr>
          <p:nvPr/>
        </p:nvGraphicFramePr>
        <p:xfrm>
          <a:off x="950913" y="2549574"/>
          <a:ext cx="3314700" cy="623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311400" imgH="431800" progId="">
                  <p:embed/>
                </p:oleObj>
              </mc:Choice>
              <mc:Fallback>
                <p:oleObj name="Equation" r:id="rId3" imgW="2311400" imgH="431800" progId="">
                  <p:embed/>
                  <p:pic>
                    <p:nvPicPr>
                      <p:cNvPr id="13619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0913" y="2549574"/>
                        <a:ext cx="3314700" cy="6238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6197" name="Object 5"/>
          <p:cNvGraphicFramePr>
            <a:graphicFrameLocks noChangeAspect="1"/>
          </p:cNvGraphicFramePr>
          <p:nvPr/>
        </p:nvGraphicFramePr>
        <p:xfrm>
          <a:off x="950913" y="3790999"/>
          <a:ext cx="9271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647419" imgH="203112" progId="">
                  <p:embed/>
                </p:oleObj>
              </mc:Choice>
              <mc:Fallback>
                <p:oleObj name="Equation" r:id="rId5" imgW="647419" imgH="203112" progId="">
                  <p:embed/>
                  <p:pic>
                    <p:nvPicPr>
                      <p:cNvPr id="13619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0913" y="3790999"/>
                        <a:ext cx="927100" cy="292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6198" name="Object 6"/>
          <p:cNvGraphicFramePr>
            <a:graphicFrameLocks noChangeAspect="1"/>
          </p:cNvGraphicFramePr>
          <p:nvPr/>
        </p:nvGraphicFramePr>
        <p:xfrm>
          <a:off x="950913" y="4108499"/>
          <a:ext cx="1198562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837836" imgH="203112" progId="">
                  <p:embed/>
                </p:oleObj>
              </mc:Choice>
              <mc:Fallback>
                <p:oleObj name="Equation" r:id="rId7" imgW="837836" imgH="203112" progId="">
                  <p:embed/>
                  <p:pic>
                    <p:nvPicPr>
                      <p:cNvPr id="13619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0913" y="4108499"/>
                        <a:ext cx="1198562" cy="292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2209800" y="3790999"/>
            <a:ext cx="936625" cy="609600"/>
            <a:chOff x="1536" y="1920"/>
            <a:chExt cx="590" cy="384"/>
          </a:xfrm>
        </p:grpSpPr>
        <p:sp>
          <p:nvSpPr>
            <p:cNvPr id="11295" name="AutoShape 8"/>
            <p:cNvSpPr>
              <a:spLocks/>
            </p:cNvSpPr>
            <p:nvPr/>
          </p:nvSpPr>
          <p:spPr bwMode="auto">
            <a:xfrm>
              <a:off x="1536" y="1920"/>
              <a:ext cx="48" cy="384"/>
            </a:xfrm>
            <a:prstGeom prst="rightBrace">
              <a:avLst>
                <a:gd name="adj1" fmla="val 6666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graphicFrame>
          <p:nvGraphicFramePr>
            <p:cNvPr id="11296" name="Object 9"/>
            <p:cNvGraphicFramePr>
              <a:graphicFrameLocks noChangeAspect="1"/>
            </p:cNvGraphicFramePr>
            <p:nvPr/>
          </p:nvGraphicFramePr>
          <p:xfrm>
            <a:off x="1680" y="2005"/>
            <a:ext cx="446" cy="2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494870" imgH="253780" progId="">
                    <p:embed/>
                  </p:oleObj>
                </mc:Choice>
                <mc:Fallback>
                  <p:oleObj name="Equation" r:id="rId9" imgW="494870" imgH="253780" progId="">
                    <p:embed/>
                    <p:pic>
                      <p:nvPicPr>
                        <p:cNvPr id="11296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80" y="2005"/>
                          <a:ext cx="446" cy="23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6202" name="Text Box 10"/>
          <p:cNvSpPr txBox="1">
            <a:spLocks noChangeArrowheads="1"/>
          </p:cNvSpPr>
          <p:nvPr/>
        </p:nvSpPr>
        <p:spPr bwMode="auto">
          <a:xfrm>
            <a:off x="3336925" y="3856087"/>
            <a:ext cx="504507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5763" indent="-38576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(lê-se: </a:t>
            </a:r>
            <a:r>
              <a:rPr lang="pt-BR" altLang="pt-BR" sz="1600" i="1" dirty="0">
                <a:latin typeface="Times New Roman" charset="0"/>
              </a:rPr>
              <a:t>X</a:t>
            </a:r>
            <a:r>
              <a:rPr lang="pt-BR" altLang="pt-BR" sz="1600" dirty="0">
                <a:latin typeface="Tahoma" panose="020B0604030504040204" pitchFamily="34" charset="0"/>
              </a:rPr>
              <a:t> tem distribuição </a:t>
            </a:r>
            <a:r>
              <a:rPr lang="pt-BR" altLang="pt-BR" sz="1600" dirty="0" err="1">
                <a:latin typeface="Tahoma" panose="020B0604030504040204" pitchFamily="34" charset="0"/>
              </a:rPr>
              <a:t>qui</a:t>
            </a:r>
            <a:r>
              <a:rPr lang="pt-BR" altLang="pt-BR" sz="1600" dirty="0">
                <a:latin typeface="Tahoma" panose="020B0604030504040204" pitchFamily="34" charset="0"/>
              </a:rPr>
              <a:t>-quadrado com </a:t>
            </a:r>
            <a:r>
              <a:rPr lang="pt-BR" altLang="pt-BR" sz="1600" i="1" dirty="0">
                <a:latin typeface="Times New Roman" charset="0"/>
              </a:rPr>
              <a:t>g</a:t>
            </a:r>
            <a:r>
              <a:rPr lang="pt-BR" altLang="pt-BR" sz="1600" dirty="0">
                <a:latin typeface="Tahoma" panose="020B0604030504040204" pitchFamily="34" charset="0"/>
              </a:rPr>
              <a:t> graus de liberdade*)</a:t>
            </a:r>
          </a:p>
        </p:txBody>
      </p:sp>
      <p:grpSp>
        <p:nvGrpSpPr>
          <p:cNvPr id="3" name="Group 11"/>
          <p:cNvGrpSpPr>
            <a:grpSpLocks/>
          </p:cNvGrpSpPr>
          <p:nvPr/>
        </p:nvGrpSpPr>
        <p:grpSpPr bwMode="auto">
          <a:xfrm>
            <a:off x="5257800" y="2266999"/>
            <a:ext cx="2049463" cy="1557338"/>
            <a:chOff x="2358" y="2736"/>
            <a:chExt cx="1291" cy="981"/>
          </a:xfrm>
        </p:grpSpPr>
        <p:sp>
          <p:nvSpPr>
            <p:cNvPr id="11290" name="Freeform 12"/>
            <p:cNvSpPr>
              <a:spLocks/>
            </p:cNvSpPr>
            <p:nvPr/>
          </p:nvSpPr>
          <p:spPr bwMode="auto">
            <a:xfrm>
              <a:off x="2448" y="2736"/>
              <a:ext cx="1104" cy="768"/>
            </a:xfrm>
            <a:custGeom>
              <a:avLst/>
              <a:gdLst>
                <a:gd name="T0" fmla="*/ 0 w 1104"/>
                <a:gd name="T1" fmla="*/ 0 h 768"/>
                <a:gd name="T2" fmla="*/ 0 w 1104"/>
                <a:gd name="T3" fmla="*/ 768 h 768"/>
                <a:gd name="T4" fmla="*/ 1104 w 1104"/>
                <a:gd name="T5" fmla="*/ 768 h 768"/>
                <a:gd name="T6" fmla="*/ 0 60000 65536"/>
                <a:gd name="T7" fmla="*/ 0 60000 65536"/>
                <a:gd name="T8" fmla="*/ 0 60000 65536"/>
                <a:gd name="T9" fmla="*/ 0 w 1104"/>
                <a:gd name="T10" fmla="*/ 0 h 768"/>
                <a:gd name="T11" fmla="*/ 1104 w 1104"/>
                <a:gd name="T12" fmla="*/ 768 h 76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04" h="768">
                  <a:moveTo>
                    <a:pt x="0" y="0"/>
                  </a:moveTo>
                  <a:lnTo>
                    <a:pt x="0" y="768"/>
                  </a:lnTo>
                  <a:lnTo>
                    <a:pt x="1104" y="768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11291" name="Freeform 13"/>
            <p:cNvSpPr>
              <a:spLocks/>
            </p:cNvSpPr>
            <p:nvPr/>
          </p:nvSpPr>
          <p:spPr bwMode="auto">
            <a:xfrm>
              <a:off x="2454" y="2784"/>
              <a:ext cx="1030" cy="715"/>
            </a:xfrm>
            <a:custGeom>
              <a:avLst/>
              <a:gdLst>
                <a:gd name="T0" fmla="*/ 0 w 1030"/>
                <a:gd name="T1" fmla="*/ 0 h 715"/>
                <a:gd name="T2" fmla="*/ 192 w 1030"/>
                <a:gd name="T3" fmla="*/ 528 h 715"/>
                <a:gd name="T4" fmla="*/ 1030 w 1030"/>
                <a:gd name="T5" fmla="*/ 715 h 715"/>
                <a:gd name="T6" fmla="*/ 0 60000 65536"/>
                <a:gd name="T7" fmla="*/ 0 60000 65536"/>
                <a:gd name="T8" fmla="*/ 0 60000 65536"/>
                <a:gd name="T9" fmla="*/ 0 w 1030"/>
                <a:gd name="T10" fmla="*/ 0 h 715"/>
                <a:gd name="T11" fmla="*/ 1030 w 1030"/>
                <a:gd name="T12" fmla="*/ 715 h 71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30" h="715">
                  <a:moveTo>
                    <a:pt x="0" y="0"/>
                  </a:moveTo>
                  <a:cubicBezTo>
                    <a:pt x="10" y="204"/>
                    <a:pt x="20" y="409"/>
                    <a:pt x="192" y="528"/>
                  </a:cubicBezTo>
                  <a:cubicBezTo>
                    <a:pt x="364" y="647"/>
                    <a:pt x="697" y="681"/>
                    <a:pt x="1030" y="715"/>
                  </a:cubicBezTo>
                </a:path>
              </a:pathLst>
            </a:custGeom>
            <a:noFill/>
            <a:ln w="1905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11292" name="Text Box 14"/>
            <p:cNvSpPr txBox="1">
              <a:spLocks noChangeArrowheads="1"/>
            </p:cNvSpPr>
            <p:nvPr/>
          </p:nvSpPr>
          <p:spPr bwMode="auto">
            <a:xfrm>
              <a:off x="2358" y="3495"/>
              <a:ext cx="18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Times New Roman" charset="0"/>
                </a:rPr>
                <a:t>0</a:t>
              </a:r>
            </a:p>
          </p:txBody>
        </p:sp>
        <p:sp>
          <p:nvSpPr>
            <p:cNvPr id="11293" name="Text Box 15"/>
            <p:cNvSpPr txBox="1">
              <a:spLocks noChangeArrowheads="1"/>
            </p:cNvSpPr>
            <p:nvPr/>
          </p:nvSpPr>
          <p:spPr bwMode="auto">
            <a:xfrm>
              <a:off x="3349" y="3486"/>
              <a:ext cx="30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800">
                  <a:latin typeface="Times New Roman" charset="0"/>
                </a:rPr>
                <a:t>+</a:t>
              </a:r>
              <a:r>
                <a:rPr lang="pt-BR" altLang="pt-BR" sz="1800">
                  <a:latin typeface="Times New Roman" charset="0"/>
                  <a:sym typeface="Symbol" pitchFamily="18" charset="2"/>
                </a:rPr>
                <a:t></a:t>
              </a:r>
              <a:endParaRPr lang="pt-BR" altLang="pt-BR" sz="1800">
                <a:latin typeface="Times New Roman" charset="0"/>
              </a:endParaRPr>
            </a:p>
          </p:txBody>
        </p:sp>
        <p:sp>
          <p:nvSpPr>
            <p:cNvPr id="11294" name="Text Box 16"/>
            <p:cNvSpPr txBox="1">
              <a:spLocks noChangeArrowheads="1"/>
            </p:cNvSpPr>
            <p:nvPr/>
          </p:nvSpPr>
          <p:spPr bwMode="auto">
            <a:xfrm>
              <a:off x="2592" y="3060"/>
              <a:ext cx="37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i="1">
                  <a:latin typeface="Times New Roman" charset="0"/>
                </a:rPr>
                <a:t>g</a:t>
              </a:r>
              <a:r>
                <a:rPr lang="pt-BR" altLang="pt-BR" sz="1600">
                  <a:latin typeface="Times New Roman" charset="0"/>
                </a:rPr>
                <a:t> </a:t>
              </a:r>
              <a:r>
                <a:rPr lang="pt-BR" altLang="pt-BR" sz="1600">
                  <a:latin typeface="Times New Roman" charset="0"/>
                  <a:sym typeface="Symbol" pitchFamily="18" charset="2"/>
                </a:rPr>
                <a:t> 2</a:t>
              </a:r>
              <a:endParaRPr lang="pt-BR" altLang="pt-BR" sz="1600">
                <a:latin typeface="Times New Roman" charset="0"/>
              </a:endParaRPr>
            </a:p>
          </p:txBody>
        </p:sp>
      </p:grpSp>
      <p:grpSp>
        <p:nvGrpSpPr>
          <p:cNvPr id="4" name="Group 17"/>
          <p:cNvGrpSpPr>
            <a:grpSpLocks/>
          </p:cNvGrpSpPr>
          <p:nvPr/>
        </p:nvGrpSpPr>
        <p:grpSpPr bwMode="auto">
          <a:xfrm>
            <a:off x="5257800" y="2266999"/>
            <a:ext cx="2049463" cy="1557338"/>
            <a:chOff x="3120" y="2592"/>
            <a:chExt cx="1291" cy="981"/>
          </a:xfrm>
        </p:grpSpPr>
        <p:sp>
          <p:nvSpPr>
            <p:cNvPr id="11285" name="Freeform 18"/>
            <p:cNvSpPr>
              <a:spLocks/>
            </p:cNvSpPr>
            <p:nvPr/>
          </p:nvSpPr>
          <p:spPr bwMode="auto">
            <a:xfrm>
              <a:off x="3210" y="2592"/>
              <a:ext cx="1104" cy="768"/>
            </a:xfrm>
            <a:custGeom>
              <a:avLst/>
              <a:gdLst>
                <a:gd name="T0" fmla="*/ 0 w 1104"/>
                <a:gd name="T1" fmla="*/ 0 h 768"/>
                <a:gd name="T2" fmla="*/ 0 w 1104"/>
                <a:gd name="T3" fmla="*/ 768 h 768"/>
                <a:gd name="T4" fmla="*/ 1104 w 1104"/>
                <a:gd name="T5" fmla="*/ 768 h 768"/>
                <a:gd name="T6" fmla="*/ 0 60000 65536"/>
                <a:gd name="T7" fmla="*/ 0 60000 65536"/>
                <a:gd name="T8" fmla="*/ 0 60000 65536"/>
                <a:gd name="T9" fmla="*/ 0 w 1104"/>
                <a:gd name="T10" fmla="*/ 0 h 768"/>
                <a:gd name="T11" fmla="*/ 1104 w 1104"/>
                <a:gd name="T12" fmla="*/ 768 h 76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04" h="768">
                  <a:moveTo>
                    <a:pt x="0" y="0"/>
                  </a:moveTo>
                  <a:lnTo>
                    <a:pt x="0" y="768"/>
                  </a:lnTo>
                  <a:lnTo>
                    <a:pt x="1104" y="768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11286" name="Freeform 19"/>
            <p:cNvSpPr>
              <a:spLocks/>
            </p:cNvSpPr>
            <p:nvPr/>
          </p:nvSpPr>
          <p:spPr bwMode="auto">
            <a:xfrm>
              <a:off x="3206" y="2741"/>
              <a:ext cx="1034" cy="645"/>
            </a:xfrm>
            <a:custGeom>
              <a:avLst/>
              <a:gdLst>
                <a:gd name="T0" fmla="*/ 0 w 1034"/>
                <a:gd name="T1" fmla="*/ 617 h 645"/>
                <a:gd name="T2" fmla="*/ 274 w 1034"/>
                <a:gd name="T3" fmla="*/ 12 h 645"/>
                <a:gd name="T4" fmla="*/ 773 w 1034"/>
                <a:gd name="T5" fmla="*/ 545 h 645"/>
                <a:gd name="T6" fmla="*/ 1034 w 1034"/>
                <a:gd name="T7" fmla="*/ 614 h 64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34"/>
                <a:gd name="T13" fmla="*/ 0 h 645"/>
                <a:gd name="T14" fmla="*/ 1034 w 1034"/>
                <a:gd name="T15" fmla="*/ 645 h 64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34" h="645">
                  <a:moveTo>
                    <a:pt x="0" y="617"/>
                  </a:moveTo>
                  <a:cubicBezTo>
                    <a:pt x="46" y="516"/>
                    <a:pt x="145" y="24"/>
                    <a:pt x="274" y="12"/>
                  </a:cubicBezTo>
                  <a:cubicBezTo>
                    <a:pt x="403" y="0"/>
                    <a:pt x="646" y="445"/>
                    <a:pt x="773" y="545"/>
                  </a:cubicBezTo>
                  <a:cubicBezTo>
                    <a:pt x="900" y="645"/>
                    <a:pt x="980" y="600"/>
                    <a:pt x="1034" y="614"/>
                  </a:cubicBezTo>
                </a:path>
              </a:pathLst>
            </a:custGeom>
            <a:noFill/>
            <a:ln w="1905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11287" name="Text Box 20"/>
            <p:cNvSpPr txBox="1">
              <a:spLocks noChangeArrowheads="1"/>
            </p:cNvSpPr>
            <p:nvPr/>
          </p:nvSpPr>
          <p:spPr bwMode="auto">
            <a:xfrm>
              <a:off x="3120" y="3351"/>
              <a:ext cx="18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Times New Roman" charset="0"/>
                </a:rPr>
                <a:t>0</a:t>
              </a:r>
            </a:p>
          </p:txBody>
        </p:sp>
        <p:sp>
          <p:nvSpPr>
            <p:cNvPr id="11288" name="Text Box 21"/>
            <p:cNvSpPr txBox="1">
              <a:spLocks noChangeArrowheads="1"/>
            </p:cNvSpPr>
            <p:nvPr/>
          </p:nvSpPr>
          <p:spPr bwMode="auto">
            <a:xfrm>
              <a:off x="4111" y="3342"/>
              <a:ext cx="30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800">
                  <a:latin typeface="Times New Roman" charset="0"/>
                </a:rPr>
                <a:t>+</a:t>
              </a:r>
              <a:r>
                <a:rPr lang="pt-BR" altLang="pt-BR" sz="1800">
                  <a:latin typeface="Times New Roman" charset="0"/>
                  <a:sym typeface="Symbol" pitchFamily="18" charset="2"/>
                </a:rPr>
                <a:t></a:t>
              </a:r>
              <a:endParaRPr lang="pt-BR" altLang="pt-BR" sz="1800">
                <a:latin typeface="Times New Roman" charset="0"/>
              </a:endParaRPr>
            </a:p>
          </p:txBody>
        </p:sp>
        <p:sp>
          <p:nvSpPr>
            <p:cNvPr id="11289" name="Text Box 22"/>
            <p:cNvSpPr txBox="1">
              <a:spLocks noChangeArrowheads="1"/>
            </p:cNvSpPr>
            <p:nvPr/>
          </p:nvSpPr>
          <p:spPr bwMode="auto">
            <a:xfrm>
              <a:off x="3695" y="2739"/>
              <a:ext cx="38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i="1">
                  <a:latin typeface="Times New Roman" charset="0"/>
                </a:rPr>
                <a:t>g</a:t>
              </a:r>
              <a:r>
                <a:rPr lang="pt-BR" altLang="pt-BR" sz="1600">
                  <a:latin typeface="Times New Roman" charset="0"/>
                </a:rPr>
                <a:t> </a:t>
              </a:r>
              <a:r>
                <a:rPr lang="pt-BR" altLang="pt-BR" sz="1600">
                  <a:latin typeface="Times New Roman" charset="0"/>
                  <a:sym typeface="Symbol" pitchFamily="18" charset="2"/>
                </a:rPr>
                <a:t>&gt; 2</a:t>
              </a:r>
              <a:endParaRPr lang="pt-BR" altLang="pt-BR" sz="1600">
                <a:latin typeface="Times New Roman" charset="0"/>
              </a:endParaRPr>
            </a:p>
          </p:txBody>
        </p:sp>
      </p:grpSp>
      <p:sp>
        <p:nvSpPr>
          <p:cNvPr id="136215" name="Text Box 23"/>
          <p:cNvSpPr txBox="1">
            <a:spLocks noChangeArrowheads="1"/>
          </p:cNvSpPr>
          <p:nvPr/>
        </p:nvSpPr>
        <p:spPr bwMode="auto">
          <a:xfrm>
            <a:off x="822325" y="5002808"/>
            <a:ext cx="14827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Propriedades:</a:t>
            </a:r>
          </a:p>
        </p:txBody>
      </p:sp>
      <p:grpSp>
        <p:nvGrpSpPr>
          <p:cNvPr id="5" name="Group 24"/>
          <p:cNvGrpSpPr>
            <a:grpSpLocks/>
          </p:cNvGrpSpPr>
          <p:nvPr/>
        </p:nvGrpSpPr>
        <p:grpSpPr bwMode="auto">
          <a:xfrm>
            <a:off x="825500" y="5369520"/>
            <a:ext cx="3006725" cy="352425"/>
            <a:chOff x="520" y="2928"/>
            <a:chExt cx="1894" cy="222"/>
          </a:xfrm>
        </p:grpSpPr>
        <p:sp>
          <p:nvSpPr>
            <p:cNvPr id="11282" name="Text Box 25"/>
            <p:cNvSpPr txBox="1">
              <a:spLocks noChangeArrowheads="1"/>
            </p:cNvSpPr>
            <p:nvPr/>
          </p:nvSpPr>
          <p:spPr bwMode="auto">
            <a:xfrm>
              <a:off x="520" y="2928"/>
              <a:ext cx="144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a) se </a:t>
              </a:r>
              <a:r>
                <a:rPr lang="pt-BR" altLang="pt-BR" sz="1600" dirty="0">
                  <a:latin typeface="Times New Roman" charset="0"/>
                </a:rPr>
                <a:t>                   </a:t>
              </a:r>
              <a:r>
                <a:rPr lang="pt-BR" altLang="pt-BR" sz="1600" dirty="0">
                  <a:latin typeface="Tahoma" panose="020B0604030504040204" pitchFamily="34" charset="0"/>
                </a:rPr>
                <a:t>, então</a:t>
              </a:r>
            </a:p>
          </p:txBody>
        </p:sp>
        <p:graphicFrame>
          <p:nvGraphicFramePr>
            <p:cNvPr id="11283" name="Object 26"/>
            <p:cNvGraphicFramePr>
              <a:graphicFrameLocks noChangeAspect="1"/>
            </p:cNvGraphicFramePr>
            <p:nvPr/>
          </p:nvGraphicFramePr>
          <p:xfrm>
            <a:off x="1933" y="2931"/>
            <a:ext cx="481" cy="2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533169" imgH="241195" progId="">
                    <p:embed/>
                  </p:oleObj>
                </mc:Choice>
                <mc:Fallback>
                  <p:oleObj name="Equation" r:id="rId11" imgW="533169" imgH="241195" progId="">
                    <p:embed/>
                    <p:pic>
                      <p:nvPicPr>
                        <p:cNvPr id="11283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33" y="2931"/>
                          <a:ext cx="481" cy="21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84" name="Object 27"/>
            <p:cNvGraphicFramePr>
              <a:graphicFrameLocks noChangeAspect="1"/>
            </p:cNvGraphicFramePr>
            <p:nvPr/>
          </p:nvGraphicFramePr>
          <p:xfrm>
            <a:off x="888" y="2956"/>
            <a:ext cx="653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723586" imgH="203112" progId="">
                    <p:embed/>
                  </p:oleObj>
                </mc:Choice>
                <mc:Fallback>
                  <p:oleObj name="Equation" r:id="rId13" imgW="723586" imgH="203112" progId="">
                    <p:embed/>
                    <p:pic>
                      <p:nvPicPr>
                        <p:cNvPr id="11284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88" y="2956"/>
                          <a:ext cx="653" cy="18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Group 28"/>
          <p:cNvGrpSpPr>
            <a:grpSpLocks/>
          </p:cNvGrpSpPr>
          <p:nvPr/>
        </p:nvGrpSpPr>
        <p:grpSpPr bwMode="auto">
          <a:xfrm>
            <a:off x="825500" y="5687020"/>
            <a:ext cx="2971800" cy="622300"/>
            <a:chOff x="528" y="3128"/>
            <a:chExt cx="1872" cy="392"/>
          </a:xfrm>
        </p:grpSpPr>
        <p:sp>
          <p:nvSpPr>
            <p:cNvPr id="11279" name="Text Box 29"/>
            <p:cNvSpPr txBox="1">
              <a:spLocks noChangeArrowheads="1"/>
            </p:cNvSpPr>
            <p:nvPr/>
          </p:nvSpPr>
          <p:spPr bwMode="auto">
            <a:xfrm>
              <a:off x="528" y="3216"/>
              <a:ext cx="129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b) se </a:t>
              </a:r>
              <a:r>
                <a:rPr lang="pt-BR" altLang="pt-BR" sz="1600" dirty="0">
                  <a:latin typeface="Times New Roman" charset="0"/>
                </a:rPr>
                <a:t>              </a:t>
              </a:r>
              <a:r>
                <a:rPr lang="pt-BR" altLang="pt-BR" sz="1600" dirty="0">
                  <a:latin typeface="Tahoma" panose="020B0604030504040204" pitchFamily="34" charset="0"/>
                </a:rPr>
                <a:t>, então</a:t>
              </a:r>
            </a:p>
          </p:txBody>
        </p:sp>
        <p:graphicFrame>
          <p:nvGraphicFramePr>
            <p:cNvPr id="11280" name="Object 30"/>
            <p:cNvGraphicFramePr>
              <a:graphicFrameLocks noChangeAspect="1"/>
            </p:cNvGraphicFramePr>
            <p:nvPr/>
          </p:nvGraphicFramePr>
          <p:xfrm>
            <a:off x="1770" y="3128"/>
            <a:ext cx="630" cy="3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698197" imgH="431613" progId="">
                    <p:embed/>
                  </p:oleObj>
                </mc:Choice>
                <mc:Fallback>
                  <p:oleObj name="Equation" r:id="rId15" imgW="698197" imgH="431613" progId="">
                    <p:embed/>
                    <p:pic>
                      <p:nvPicPr>
                        <p:cNvPr id="1128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70" y="3128"/>
                          <a:ext cx="630" cy="39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81" name="Object 31"/>
            <p:cNvGraphicFramePr>
              <a:graphicFrameLocks noChangeAspect="1"/>
            </p:cNvGraphicFramePr>
            <p:nvPr/>
          </p:nvGraphicFramePr>
          <p:xfrm>
            <a:off x="910" y="3212"/>
            <a:ext cx="470" cy="2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520474" imgH="241195" progId="">
                    <p:embed/>
                  </p:oleObj>
                </mc:Choice>
                <mc:Fallback>
                  <p:oleObj name="Equation" r:id="rId17" imgW="520474" imgH="241195" progId="">
                    <p:embed/>
                    <p:pic>
                      <p:nvPicPr>
                        <p:cNvPr id="11281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0" y="3212"/>
                          <a:ext cx="470" cy="21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78D3EE-C3A3-4295-8527-CDB3A41570BB}" type="slidenum">
              <a:rPr lang="pt-BR"/>
              <a:pPr>
                <a:defRPr/>
              </a:pPr>
              <a:t>65</a:t>
            </a:fld>
            <a:endParaRPr lang="pt-BR"/>
          </a:p>
        </p:txBody>
      </p:sp>
      <p:graphicFrame>
        <p:nvGraphicFramePr>
          <p:cNvPr id="33" name="Object 4"/>
          <p:cNvGraphicFramePr>
            <a:graphicFrameLocks noChangeAspect="1"/>
          </p:cNvGraphicFramePr>
          <p:nvPr/>
        </p:nvGraphicFramePr>
        <p:xfrm>
          <a:off x="3746748" y="3027863"/>
          <a:ext cx="1257300" cy="293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876240" imgH="203040" progId="">
                  <p:embed/>
                </p:oleObj>
              </mc:Choice>
              <mc:Fallback>
                <p:oleObj name="Equation" r:id="rId19" imgW="876240" imgH="203040" progId="">
                  <p:embed/>
                  <p:pic>
                    <p:nvPicPr>
                      <p:cNvPr id="33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46748" y="3027863"/>
                        <a:ext cx="1257300" cy="2936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Retângulo 2"/>
          <p:cNvSpPr>
            <a:spLocks noChangeArrowheads="1"/>
          </p:cNvSpPr>
          <p:nvPr/>
        </p:nvSpPr>
        <p:spPr bwMode="auto">
          <a:xfrm>
            <a:off x="695325" y="1547813"/>
            <a:ext cx="7764463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55600" indent="-35560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Uma variável aleatória </a:t>
            </a:r>
            <a:r>
              <a:rPr lang="pt-BR" altLang="pt-BR" sz="1600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pt-BR" altLang="pt-BR" sz="1600" dirty="0">
                <a:latin typeface="Tahoma" panose="020B0604030504040204" pitchFamily="34" charset="0"/>
              </a:rPr>
              <a:t> tem distribuição </a:t>
            </a:r>
            <a:r>
              <a:rPr lang="pt-BR" altLang="pt-BR" sz="1600" dirty="0">
                <a:latin typeface="Tahoma" panose="020B0604030504040204" pitchFamily="34" charset="0"/>
                <a:sym typeface="Symbol"/>
              </a:rPr>
              <a:t></a:t>
            </a:r>
            <a:r>
              <a:rPr lang="pt-BR" altLang="pt-BR" sz="16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2</a:t>
            </a:r>
            <a:r>
              <a:rPr lang="pt-BR" altLang="pt-BR" sz="1600" dirty="0">
                <a:latin typeface="Tahoma" panose="020B0604030504040204" pitchFamily="34" charset="0"/>
              </a:rPr>
              <a:t>  se sua função densidade de probabilidade for dada por:</a:t>
            </a:r>
          </a:p>
        </p:txBody>
      </p:sp>
      <p:sp>
        <p:nvSpPr>
          <p:cNvPr id="8" name="Text Box 10">
            <a:extLst>
              <a:ext uri="{FF2B5EF4-FFF2-40B4-BE49-F238E27FC236}">
                <a16:creationId xmlns:a16="http://schemas.microsoft.com/office/drawing/2014/main" id="{4B309721-CBA5-A0B7-8F2D-082B7C88AF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6531" y="6597764"/>
            <a:ext cx="669674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85763" indent="-38576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200" dirty="0">
                <a:latin typeface="Tahoma" panose="020B0604030504040204" pitchFamily="34" charset="0"/>
              </a:rPr>
              <a:t>*O conceito de “graus de liberdade” será discutido em 05InfEstat_EstimPontual (slide 42)</a:t>
            </a:r>
          </a:p>
        </p:txBody>
      </p:sp>
    </p:spTree>
    <p:extLst>
      <p:ext uri="{BB962C8B-B14F-4D97-AF65-F5344CB8AC3E}">
        <p14:creationId xmlns:p14="http://schemas.microsoft.com/office/powerpoint/2010/main" val="6130748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6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6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6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6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6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202" grpId="0" autoUpdateAnimBg="0"/>
      <p:bldP spid="136215" grpId="0" autoUpdateAnimBg="0"/>
      <p:bldP spid="8" grpId="0" autoUpdateAnimBg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36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6100" y="1589088"/>
            <a:ext cx="4549775" cy="4983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0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Distribuição </a:t>
            </a:r>
            <a:r>
              <a:rPr lang="pt-BR">
                <a:sym typeface="Symbol" pitchFamily="18" charset="2"/>
              </a:rPr>
              <a:t></a:t>
            </a:r>
            <a:r>
              <a:rPr lang="pt-BR" baseline="30000">
                <a:latin typeface="Times New Roman" pitchFamily="18" charset="0"/>
                <a:sym typeface="Symbol" pitchFamily="18" charset="2"/>
              </a:rPr>
              <a:t>2</a:t>
            </a:r>
            <a:endParaRPr lang="pt-BR" i="1"/>
          </a:p>
        </p:txBody>
      </p:sp>
      <p:grpSp>
        <p:nvGrpSpPr>
          <p:cNvPr id="12292" name="Group 6"/>
          <p:cNvGrpSpPr>
            <a:grpSpLocks/>
          </p:cNvGrpSpPr>
          <p:nvPr/>
        </p:nvGrpSpPr>
        <p:grpSpPr bwMode="auto">
          <a:xfrm>
            <a:off x="838200" y="1600200"/>
            <a:ext cx="2049463" cy="1565275"/>
            <a:chOff x="528" y="1008"/>
            <a:chExt cx="1291" cy="986"/>
          </a:xfrm>
        </p:grpSpPr>
        <p:sp>
          <p:nvSpPr>
            <p:cNvPr id="12315" name="Freeform 7" descr="Diagonal para cima clara"/>
            <p:cNvSpPr>
              <a:spLocks/>
            </p:cNvSpPr>
            <p:nvPr/>
          </p:nvSpPr>
          <p:spPr bwMode="auto">
            <a:xfrm>
              <a:off x="1152" y="1409"/>
              <a:ext cx="432" cy="367"/>
            </a:xfrm>
            <a:custGeom>
              <a:avLst/>
              <a:gdLst>
                <a:gd name="T0" fmla="*/ 0 w 432"/>
                <a:gd name="T1" fmla="*/ 0 h 367"/>
                <a:gd name="T2" fmla="*/ 0 w 432"/>
                <a:gd name="T3" fmla="*/ 367 h 367"/>
                <a:gd name="T4" fmla="*/ 432 w 432"/>
                <a:gd name="T5" fmla="*/ 367 h 367"/>
                <a:gd name="T6" fmla="*/ 360 w 432"/>
                <a:gd name="T7" fmla="*/ 355 h 367"/>
                <a:gd name="T8" fmla="*/ 310 w 432"/>
                <a:gd name="T9" fmla="*/ 338 h 367"/>
                <a:gd name="T10" fmla="*/ 250 w 432"/>
                <a:gd name="T11" fmla="*/ 305 h 367"/>
                <a:gd name="T12" fmla="*/ 202 w 432"/>
                <a:gd name="T13" fmla="*/ 261 h 367"/>
                <a:gd name="T14" fmla="*/ 154 w 432"/>
                <a:gd name="T15" fmla="*/ 204 h 367"/>
                <a:gd name="T16" fmla="*/ 103 w 432"/>
                <a:gd name="T17" fmla="*/ 141 h 367"/>
                <a:gd name="T18" fmla="*/ 58 w 432"/>
                <a:gd name="T19" fmla="*/ 79 h 367"/>
                <a:gd name="T20" fmla="*/ 14 w 432"/>
                <a:gd name="T21" fmla="*/ 21 h 367"/>
                <a:gd name="T22" fmla="*/ 0 w 432"/>
                <a:gd name="T23" fmla="*/ 0 h 367"/>
                <a:gd name="T24" fmla="*/ 0 w 432"/>
                <a:gd name="T25" fmla="*/ 0 h 36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432"/>
                <a:gd name="T40" fmla="*/ 0 h 367"/>
                <a:gd name="T41" fmla="*/ 432 w 432"/>
                <a:gd name="T42" fmla="*/ 367 h 367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432" h="367">
                  <a:moveTo>
                    <a:pt x="0" y="0"/>
                  </a:moveTo>
                  <a:lnTo>
                    <a:pt x="0" y="367"/>
                  </a:lnTo>
                  <a:lnTo>
                    <a:pt x="432" y="367"/>
                  </a:lnTo>
                  <a:lnTo>
                    <a:pt x="360" y="355"/>
                  </a:lnTo>
                  <a:lnTo>
                    <a:pt x="310" y="338"/>
                  </a:lnTo>
                  <a:lnTo>
                    <a:pt x="250" y="305"/>
                  </a:lnTo>
                  <a:lnTo>
                    <a:pt x="202" y="261"/>
                  </a:lnTo>
                  <a:lnTo>
                    <a:pt x="154" y="204"/>
                  </a:lnTo>
                  <a:lnTo>
                    <a:pt x="103" y="141"/>
                  </a:lnTo>
                  <a:lnTo>
                    <a:pt x="58" y="79"/>
                  </a:lnTo>
                  <a:lnTo>
                    <a:pt x="14" y="21"/>
                  </a:lnTo>
                  <a:lnTo>
                    <a:pt x="0" y="0"/>
                  </a:lnTo>
                  <a:close/>
                </a:path>
              </a:pathLst>
            </a:custGeom>
            <a:pattFill prst="ltUpDiag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12316" name="Freeform 8"/>
            <p:cNvSpPr>
              <a:spLocks/>
            </p:cNvSpPr>
            <p:nvPr/>
          </p:nvSpPr>
          <p:spPr bwMode="auto">
            <a:xfrm>
              <a:off x="618" y="1008"/>
              <a:ext cx="1104" cy="768"/>
            </a:xfrm>
            <a:custGeom>
              <a:avLst/>
              <a:gdLst>
                <a:gd name="T0" fmla="*/ 0 w 1104"/>
                <a:gd name="T1" fmla="*/ 0 h 768"/>
                <a:gd name="T2" fmla="*/ 0 w 1104"/>
                <a:gd name="T3" fmla="*/ 768 h 768"/>
                <a:gd name="T4" fmla="*/ 1104 w 1104"/>
                <a:gd name="T5" fmla="*/ 768 h 768"/>
                <a:gd name="T6" fmla="*/ 0 60000 65536"/>
                <a:gd name="T7" fmla="*/ 0 60000 65536"/>
                <a:gd name="T8" fmla="*/ 0 60000 65536"/>
                <a:gd name="T9" fmla="*/ 0 w 1104"/>
                <a:gd name="T10" fmla="*/ 0 h 768"/>
                <a:gd name="T11" fmla="*/ 1104 w 1104"/>
                <a:gd name="T12" fmla="*/ 768 h 76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04" h="768">
                  <a:moveTo>
                    <a:pt x="0" y="0"/>
                  </a:moveTo>
                  <a:lnTo>
                    <a:pt x="0" y="768"/>
                  </a:lnTo>
                  <a:lnTo>
                    <a:pt x="1104" y="768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12317" name="Freeform 9"/>
            <p:cNvSpPr>
              <a:spLocks/>
            </p:cNvSpPr>
            <p:nvPr/>
          </p:nvSpPr>
          <p:spPr bwMode="auto">
            <a:xfrm>
              <a:off x="614" y="1157"/>
              <a:ext cx="1034" cy="645"/>
            </a:xfrm>
            <a:custGeom>
              <a:avLst/>
              <a:gdLst>
                <a:gd name="T0" fmla="*/ 0 w 1034"/>
                <a:gd name="T1" fmla="*/ 617 h 645"/>
                <a:gd name="T2" fmla="*/ 274 w 1034"/>
                <a:gd name="T3" fmla="*/ 12 h 645"/>
                <a:gd name="T4" fmla="*/ 773 w 1034"/>
                <a:gd name="T5" fmla="*/ 545 h 645"/>
                <a:gd name="T6" fmla="*/ 1034 w 1034"/>
                <a:gd name="T7" fmla="*/ 614 h 64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34"/>
                <a:gd name="T13" fmla="*/ 0 h 645"/>
                <a:gd name="T14" fmla="*/ 1034 w 1034"/>
                <a:gd name="T15" fmla="*/ 645 h 64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34" h="645">
                  <a:moveTo>
                    <a:pt x="0" y="617"/>
                  </a:moveTo>
                  <a:cubicBezTo>
                    <a:pt x="46" y="516"/>
                    <a:pt x="145" y="24"/>
                    <a:pt x="274" y="12"/>
                  </a:cubicBezTo>
                  <a:cubicBezTo>
                    <a:pt x="403" y="0"/>
                    <a:pt x="646" y="445"/>
                    <a:pt x="773" y="545"/>
                  </a:cubicBezTo>
                  <a:cubicBezTo>
                    <a:pt x="900" y="645"/>
                    <a:pt x="980" y="600"/>
                    <a:pt x="1034" y="614"/>
                  </a:cubicBezTo>
                </a:path>
              </a:pathLst>
            </a:custGeom>
            <a:noFill/>
            <a:ln w="1905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12318" name="Text Box 10"/>
            <p:cNvSpPr txBox="1">
              <a:spLocks noChangeArrowheads="1"/>
            </p:cNvSpPr>
            <p:nvPr/>
          </p:nvSpPr>
          <p:spPr bwMode="auto">
            <a:xfrm>
              <a:off x="528" y="1767"/>
              <a:ext cx="18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Times New Roman" charset="0"/>
                </a:rPr>
                <a:t>0</a:t>
              </a:r>
            </a:p>
          </p:txBody>
        </p:sp>
        <p:sp>
          <p:nvSpPr>
            <p:cNvPr id="12319" name="Text Box 11"/>
            <p:cNvSpPr txBox="1">
              <a:spLocks noChangeArrowheads="1"/>
            </p:cNvSpPr>
            <p:nvPr/>
          </p:nvSpPr>
          <p:spPr bwMode="auto">
            <a:xfrm>
              <a:off x="1519" y="1758"/>
              <a:ext cx="30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800">
                  <a:latin typeface="Times New Roman" charset="0"/>
                </a:rPr>
                <a:t>+</a:t>
              </a:r>
              <a:r>
                <a:rPr lang="pt-BR" altLang="pt-BR" sz="1800">
                  <a:latin typeface="Times New Roman" charset="0"/>
                  <a:sym typeface="Symbol" pitchFamily="18" charset="2"/>
                </a:rPr>
                <a:t></a:t>
              </a:r>
              <a:endParaRPr lang="pt-BR" altLang="pt-BR" sz="1800">
                <a:latin typeface="Times New Roman" charset="0"/>
              </a:endParaRPr>
            </a:p>
          </p:txBody>
        </p:sp>
        <p:graphicFrame>
          <p:nvGraphicFramePr>
            <p:cNvPr id="12320" name="Object 12"/>
            <p:cNvGraphicFramePr>
              <a:graphicFrameLocks noChangeAspect="1"/>
            </p:cNvGraphicFramePr>
            <p:nvPr/>
          </p:nvGraphicFramePr>
          <p:xfrm>
            <a:off x="1056" y="1776"/>
            <a:ext cx="183" cy="2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203112" imgH="241195" progId="">
                    <p:embed/>
                  </p:oleObj>
                </mc:Choice>
                <mc:Fallback>
                  <p:oleObj name="Equation" r:id="rId3" imgW="203112" imgH="241195" progId="">
                    <p:embed/>
                    <p:pic>
                      <p:nvPicPr>
                        <p:cNvPr id="1232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56" y="1776"/>
                          <a:ext cx="183" cy="21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13"/>
          <p:cNvGrpSpPr>
            <a:grpSpLocks/>
          </p:cNvGrpSpPr>
          <p:nvPr/>
        </p:nvGrpSpPr>
        <p:grpSpPr bwMode="auto">
          <a:xfrm>
            <a:off x="1995488" y="2667000"/>
            <a:ext cx="1284287" cy="1277938"/>
            <a:chOff x="1257" y="1680"/>
            <a:chExt cx="809" cy="805"/>
          </a:xfrm>
        </p:grpSpPr>
        <p:graphicFrame>
          <p:nvGraphicFramePr>
            <p:cNvPr id="12313" name="Object 14"/>
            <p:cNvGraphicFramePr>
              <a:graphicFrameLocks noChangeAspect="1"/>
            </p:cNvGraphicFramePr>
            <p:nvPr/>
          </p:nvGraphicFramePr>
          <p:xfrm>
            <a:off x="1392" y="2256"/>
            <a:ext cx="674" cy="2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748975" imgH="253890" progId="">
                    <p:embed/>
                  </p:oleObj>
                </mc:Choice>
                <mc:Fallback>
                  <p:oleObj name="Equation" r:id="rId5" imgW="748975" imgH="253890" progId="">
                    <p:embed/>
                    <p:pic>
                      <p:nvPicPr>
                        <p:cNvPr id="12313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2" y="2256"/>
                          <a:ext cx="674" cy="22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14" name="Line 15"/>
            <p:cNvSpPr>
              <a:spLocks noChangeShapeType="1"/>
            </p:cNvSpPr>
            <p:nvPr/>
          </p:nvSpPr>
          <p:spPr bwMode="auto">
            <a:xfrm>
              <a:off x="1257" y="1680"/>
              <a:ext cx="279" cy="528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4" name="Group 38"/>
          <p:cNvGrpSpPr>
            <a:grpSpLocks/>
          </p:cNvGrpSpPr>
          <p:nvPr/>
        </p:nvGrpSpPr>
        <p:grpSpPr bwMode="auto">
          <a:xfrm>
            <a:off x="2895600" y="1752600"/>
            <a:ext cx="5997575" cy="4800600"/>
            <a:chOff x="1824" y="1104"/>
            <a:chExt cx="3778" cy="3024"/>
          </a:xfrm>
        </p:grpSpPr>
        <p:sp>
          <p:nvSpPr>
            <p:cNvPr id="12309" name="Rectangle 17"/>
            <p:cNvSpPr>
              <a:spLocks noChangeArrowheads="1"/>
            </p:cNvSpPr>
            <p:nvPr/>
          </p:nvSpPr>
          <p:spPr bwMode="auto">
            <a:xfrm>
              <a:off x="2928" y="1104"/>
              <a:ext cx="2674" cy="3024"/>
            </a:xfrm>
            <a:prstGeom prst="rect">
              <a:avLst/>
            </a:prstGeom>
            <a:noFill/>
            <a:ln w="19050">
              <a:solidFill>
                <a:srgbClr val="FF33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grpSp>
          <p:nvGrpSpPr>
            <p:cNvPr id="12310" name="Group 18"/>
            <p:cNvGrpSpPr>
              <a:grpSpLocks/>
            </p:cNvGrpSpPr>
            <p:nvPr/>
          </p:nvGrpSpPr>
          <p:grpSpPr bwMode="auto">
            <a:xfrm>
              <a:off x="1824" y="2183"/>
              <a:ext cx="1096" cy="361"/>
              <a:chOff x="1824" y="2183"/>
              <a:chExt cx="1096" cy="361"/>
            </a:xfrm>
          </p:grpSpPr>
          <p:sp>
            <p:nvSpPr>
              <p:cNvPr id="12311" name="Oval 19"/>
              <p:cNvSpPr>
                <a:spLocks noChangeArrowheads="1"/>
              </p:cNvSpPr>
              <p:nvPr/>
            </p:nvSpPr>
            <p:spPr bwMode="auto">
              <a:xfrm>
                <a:off x="1824" y="2208"/>
                <a:ext cx="192" cy="336"/>
              </a:xfrm>
              <a:prstGeom prst="ellipse">
                <a:avLst/>
              </a:prstGeom>
              <a:noFill/>
              <a:ln w="19050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2312" name="Line 20"/>
              <p:cNvSpPr>
                <a:spLocks noChangeShapeType="1"/>
              </p:cNvSpPr>
              <p:nvPr/>
            </p:nvSpPr>
            <p:spPr bwMode="auto">
              <a:xfrm flipV="1">
                <a:off x="2016" y="2183"/>
                <a:ext cx="904" cy="184"/>
              </a:xfrm>
              <a:prstGeom prst="line">
                <a:avLst/>
              </a:prstGeom>
              <a:noFill/>
              <a:ln w="19050">
                <a:solidFill>
                  <a:srgbClr val="FF33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</p:grpSp>
      </p:grpSp>
      <p:graphicFrame>
        <p:nvGraphicFramePr>
          <p:cNvPr id="140309" name="Object 21"/>
          <p:cNvGraphicFramePr>
            <a:graphicFrameLocks noChangeAspect="1"/>
          </p:cNvGraphicFramePr>
          <p:nvPr/>
        </p:nvGraphicFramePr>
        <p:xfrm>
          <a:off x="868363" y="4376738"/>
          <a:ext cx="1560512" cy="347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091726" imgH="241195" progId="">
                  <p:embed/>
                </p:oleObj>
              </mc:Choice>
              <mc:Fallback>
                <p:oleObj name="Equation" r:id="rId7" imgW="1091726" imgH="241195" progId="">
                  <p:embed/>
                  <p:pic>
                    <p:nvPicPr>
                      <p:cNvPr id="140309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8363" y="4376738"/>
                        <a:ext cx="1560512" cy="3476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0310" name="Object 22"/>
          <p:cNvGraphicFramePr>
            <a:graphicFrameLocks noChangeAspect="1"/>
          </p:cNvGraphicFramePr>
          <p:nvPr/>
        </p:nvGraphicFramePr>
        <p:xfrm>
          <a:off x="868363" y="4876800"/>
          <a:ext cx="1958975" cy="34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371600" imgH="241300" progId="">
                  <p:embed/>
                </p:oleObj>
              </mc:Choice>
              <mc:Fallback>
                <p:oleObj name="Equation" r:id="rId9" imgW="1371600" imgH="241300" progId="">
                  <p:embed/>
                  <p:pic>
                    <p:nvPicPr>
                      <p:cNvPr id="14031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8363" y="4876800"/>
                        <a:ext cx="1958975" cy="3476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23"/>
          <p:cNvGrpSpPr>
            <a:grpSpLocks/>
          </p:cNvGrpSpPr>
          <p:nvPr/>
        </p:nvGrpSpPr>
        <p:grpSpPr bwMode="auto">
          <a:xfrm>
            <a:off x="2571750" y="1590675"/>
            <a:ext cx="2063750" cy="4956175"/>
            <a:chOff x="1620" y="1002"/>
            <a:chExt cx="1300" cy="3122"/>
          </a:xfrm>
        </p:grpSpPr>
        <p:sp>
          <p:nvSpPr>
            <p:cNvPr id="12306" name="Oval 24"/>
            <p:cNvSpPr>
              <a:spLocks noChangeArrowheads="1"/>
            </p:cNvSpPr>
            <p:nvPr/>
          </p:nvSpPr>
          <p:spPr bwMode="auto">
            <a:xfrm>
              <a:off x="1620" y="2352"/>
              <a:ext cx="96" cy="144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2307" name="Line 25"/>
            <p:cNvSpPr>
              <a:spLocks noChangeShapeType="1"/>
            </p:cNvSpPr>
            <p:nvPr/>
          </p:nvSpPr>
          <p:spPr bwMode="auto">
            <a:xfrm flipV="1">
              <a:off x="1716" y="2339"/>
              <a:ext cx="1008" cy="8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12308" name="Rectangle 26"/>
            <p:cNvSpPr>
              <a:spLocks noChangeArrowheads="1"/>
            </p:cNvSpPr>
            <p:nvPr/>
          </p:nvSpPr>
          <p:spPr bwMode="auto">
            <a:xfrm>
              <a:off x="2736" y="1002"/>
              <a:ext cx="184" cy="3122"/>
            </a:xfrm>
            <a:prstGeom prst="rect">
              <a:avLst/>
            </a:prstGeom>
            <a:noFill/>
            <a:ln w="19050">
              <a:solidFill>
                <a:srgbClr val="FF33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7" name="Group 37"/>
          <p:cNvGrpSpPr>
            <a:grpSpLocks/>
          </p:cNvGrpSpPr>
          <p:nvPr/>
        </p:nvGrpSpPr>
        <p:grpSpPr bwMode="auto">
          <a:xfrm>
            <a:off x="2003425" y="1595438"/>
            <a:ext cx="6889750" cy="1065212"/>
            <a:chOff x="1262" y="1005"/>
            <a:chExt cx="4340" cy="671"/>
          </a:xfrm>
        </p:grpSpPr>
        <p:sp>
          <p:nvSpPr>
            <p:cNvPr id="12304" name="Line 28"/>
            <p:cNvSpPr>
              <a:spLocks noChangeShapeType="1"/>
            </p:cNvSpPr>
            <p:nvPr/>
          </p:nvSpPr>
          <p:spPr bwMode="auto">
            <a:xfrm flipV="1">
              <a:off x="1262" y="1059"/>
              <a:ext cx="1652" cy="617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12305" name="Rectangle 29"/>
            <p:cNvSpPr>
              <a:spLocks noChangeArrowheads="1"/>
            </p:cNvSpPr>
            <p:nvPr/>
          </p:nvSpPr>
          <p:spPr bwMode="auto">
            <a:xfrm>
              <a:off x="2920" y="1005"/>
              <a:ext cx="2682" cy="103"/>
            </a:xfrm>
            <a:prstGeom prst="rect">
              <a:avLst/>
            </a:prstGeom>
            <a:noFill/>
            <a:ln w="19050">
              <a:solidFill>
                <a:srgbClr val="FF33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sp>
        <p:nvSpPr>
          <p:cNvPr id="140318" name="AutoShape 30"/>
          <p:cNvSpPr>
            <a:spLocks noChangeArrowheads="1"/>
          </p:cNvSpPr>
          <p:nvPr/>
        </p:nvSpPr>
        <p:spPr bwMode="auto">
          <a:xfrm>
            <a:off x="3781425" y="2860675"/>
            <a:ext cx="609600" cy="228600"/>
          </a:xfrm>
          <a:prstGeom prst="rightArrow">
            <a:avLst>
              <a:gd name="adj1" fmla="val 50000"/>
              <a:gd name="adj2" fmla="val 66667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140319" name="Rectangle 31"/>
          <p:cNvSpPr>
            <a:spLocks noChangeArrowheads="1"/>
          </p:cNvSpPr>
          <p:nvPr/>
        </p:nvSpPr>
        <p:spPr bwMode="auto">
          <a:xfrm>
            <a:off x="7773988" y="2911475"/>
            <a:ext cx="271462" cy="146050"/>
          </a:xfrm>
          <a:prstGeom prst="rect">
            <a:avLst/>
          </a:prstGeom>
          <a:noFill/>
          <a:ln w="19050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140320" name="AutoShape 32"/>
          <p:cNvSpPr>
            <a:spLocks noChangeArrowheads="1"/>
          </p:cNvSpPr>
          <p:nvPr/>
        </p:nvSpPr>
        <p:spPr bwMode="auto">
          <a:xfrm rot="-5400000">
            <a:off x="7608888" y="2251075"/>
            <a:ext cx="609600" cy="228600"/>
          </a:xfrm>
          <a:prstGeom prst="rightArrow">
            <a:avLst>
              <a:gd name="adj1" fmla="val 50000"/>
              <a:gd name="adj2" fmla="val 66667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140321" name="Rectangle 33"/>
          <p:cNvSpPr>
            <a:spLocks noChangeArrowheads="1"/>
          </p:cNvSpPr>
          <p:nvPr/>
        </p:nvSpPr>
        <p:spPr bwMode="auto">
          <a:xfrm>
            <a:off x="7756525" y="1600200"/>
            <a:ext cx="271463" cy="146050"/>
          </a:xfrm>
          <a:prstGeom prst="rect">
            <a:avLst/>
          </a:prstGeom>
          <a:noFill/>
          <a:ln w="19050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8FA1C6B-920C-4858-A0CC-8D38BEB5B5DB}" type="slidenum">
              <a:rPr lang="pt-BR"/>
              <a:pPr>
                <a:defRPr/>
              </a:pPr>
              <a:t>66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384343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0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0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0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0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0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0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318" grpId="0" animBg="1"/>
      <p:bldP spid="140319" grpId="0" animBg="1"/>
      <p:bldP spid="140320" grpId="0" animBg="1"/>
      <p:bldP spid="140321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66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6100" y="1589088"/>
            <a:ext cx="4549775" cy="4983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7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Distribuição </a:t>
            </a:r>
            <a:r>
              <a:rPr lang="pt-BR">
                <a:sym typeface="Symbol" pitchFamily="18" charset="2"/>
              </a:rPr>
              <a:t></a:t>
            </a:r>
            <a:r>
              <a:rPr lang="pt-BR" baseline="30000">
                <a:latin typeface="Times New Roman" pitchFamily="18" charset="0"/>
                <a:sym typeface="Symbol" pitchFamily="18" charset="2"/>
              </a:rPr>
              <a:t>2</a:t>
            </a:r>
            <a:endParaRPr lang="pt-BR" i="1"/>
          </a:p>
        </p:txBody>
      </p:sp>
      <p:grpSp>
        <p:nvGrpSpPr>
          <p:cNvPr id="13316" name="Group 46"/>
          <p:cNvGrpSpPr>
            <a:grpSpLocks/>
          </p:cNvGrpSpPr>
          <p:nvPr/>
        </p:nvGrpSpPr>
        <p:grpSpPr bwMode="auto">
          <a:xfrm>
            <a:off x="838200" y="1600200"/>
            <a:ext cx="2049463" cy="1565275"/>
            <a:chOff x="528" y="1008"/>
            <a:chExt cx="1291" cy="986"/>
          </a:xfrm>
        </p:grpSpPr>
        <p:sp>
          <p:nvSpPr>
            <p:cNvPr id="13329" name="Freeform 29" descr="Diagonal para cima clara"/>
            <p:cNvSpPr>
              <a:spLocks/>
            </p:cNvSpPr>
            <p:nvPr/>
          </p:nvSpPr>
          <p:spPr bwMode="auto">
            <a:xfrm>
              <a:off x="1152" y="1409"/>
              <a:ext cx="432" cy="367"/>
            </a:xfrm>
            <a:custGeom>
              <a:avLst/>
              <a:gdLst>
                <a:gd name="T0" fmla="*/ 0 w 432"/>
                <a:gd name="T1" fmla="*/ 0 h 367"/>
                <a:gd name="T2" fmla="*/ 0 w 432"/>
                <a:gd name="T3" fmla="*/ 367 h 367"/>
                <a:gd name="T4" fmla="*/ 432 w 432"/>
                <a:gd name="T5" fmla="*/ 367 h 367"/>
                <a:gd name="T6" fmla="*/ 360 w 432"/>
                <a:gd name="T7" fmla="*/ 355 h 367"/>
                <a:gd name="T8" fmla="*/ 310 w 432"/>
                <a:gd name="T9" fmla="*/ 338 h 367"/>
                <a:gd name="T10" fmla="*/ 250 w 432"/>
                <a:gd name="T11" fmla="*/ 305 h 367"/>
                <a:gd name="T12" fmla="*/ 202 w 432"/>
                <a:gd name="T13" fmla="*/ 261 h 367"/>
                <a:gd name="T14" fmla="*/ 154 w 432"/>
                <a:gd name="T15" fmla="*/ 204 h 367"/>
                <a:gd name="T16" fmla="*/ 103 w 432"/>
                <a:gd name="T17" fmla="*/ 141 h 367"/>
                <a:gd name="T18" fmla="*/ 58 w 432"/>
                <a:gd name="T19" fmla="*/ 79 h 367"/>
                <a:gd name="T20" fmla="*/ 14 w 432"/>
                <a:gd name="T21" fmla="*/ 21 h 367"/>
                <a:gd name="T22" fmla="*/ 0 w 432"/>
                <a:gd name="T23" fmla="*/ 0 h 367"/>
                <a:gd name="T24" fmla="*/ 0 w 432"/>
                <a:gd name="T25" fmla="*/ 0 h 36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432"/>
                <a:gd name="T40" fmla="*/ 0 h 367"/>
                <a:gd name="T41" fmla="*/ 432 w 432"/>
                <a:gd name="T42" fmla="*/ 367 h 367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432" h="367">
                  <a:moveTo>
                    <a:pt x="0" y="0"/>
                  </a:moveTo>
                  <a:lnTo>
                    <a:pt x="0" y="367"/>
                  </a:lnTo>
                  <a:lnTo>
                    <a:pt x="432" y="367"/>
                  </a:lnTo>
                  <a:lnTo>
                    <a:pt x="360" y="355"/>
                  </a:lnTo>
                  <a:lnTo>
                    <a:pt x="310" y="338"/>
                  </a:lnTo>
                  <a:lnTo>
                    <a:pt x="250" y="305"/>
                  </a:lnTo>
                  <a:lnTo>
                    <a:pt x="202" y="261"/>
                  </a:lnTo>
                  <a:lnTo>
                    <a:pt x="154" y="204"/>
                  </a:lnTo>
                  <a:lnTo>
                    <a:pt x="103" y="141"/>
                  </a:lnTo>
                  <a:lnTo>
                    <a:pt x="58" y="79"/>
                  </a:lnTo>
                  <a:lnTo>
                    <a:pt x="14" y="21"/>
                  </a:lnTo>
                  <a:lnTo>
                    <a:pt x="0" y="0"/>
                  </a:lnTo>
                  <a:close/>
                </a:path>
              </a:pathLst>
            </a:custGeom>
            <a:pattFill prst="ltUpDiag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13330" name="Freeform 24"/>
            <p:cNvSpPr>
              <a:spLocks/>
            </p:cNvSpPr>
            <p:nvPr/>
          </p:nvSpPr>
          <p:spPr bwMode="auto">
            <a:xfrm>
              <a:off x="618" y="1008"/>
              <a:ext cx="1104" cy="768"/>
            </a:xfrm>
            <a:custGeom>
              <a:avLst/>
              <a:gdLst>
                <a:gd name="T0" fmla="*/ 0 w 1104"/>
                <a:gd name="T1" fmla="*/ 0 h 768"/>
                <a:gd name="T2" fmla="*/ 0 w 1104"/>
                <a:gd name="T3" fmla="*/ 768 h 768"/>
                <a:gd name="T4" fmla="*/ 1104 w 1104"/>
                <a:gd name="T5" fmla="*/ 768 h 768"/>
                <a:gd name="T6" fmla="*/ 0 60000 65536"/>
                <a:gd name="T7" fmla="*/ 0 60000 65536"/>
                <a:gd name="T8" fmla="*/ 0 60000 65536"/>
                <a:gd name="T9" fmla="*/ 0 w 1104"/>
                <a:gd name="T10" fmla="*/ 0 h 768"/>
                <a:gd name="T11" fmla="*/ 1104 w 1104"/>
                <a:gd name="T12" fmla="*/ 768 h 76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04" h="768">
                  <a:moveTo>
                    <a:pt x="0" y="0"/>
                  </a:moveTo>
                  <a:lnTo>
                    <a:pt x="0" y="768"/>
                  </a:lnTo>
                  <a:lnTo>
                    <a:pt x="1104" y="768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13331" name="Freeform 25"/>
            <p:cNvSpPr>
              <a:spLocks/>
            </p:cNvSpPr>
            <p:nvPr/>
          </p:nvSpPr>
          <p:spPr bwMode="auto">
            <a:xfrm>
              <a:off x="614" y="1157"/>
              <a:ext cx="1034" cy="645"/>
            </a:xfrm>
            <a:custGeom>
              <a:avLst/>
              <a:gdLst>
                <a:gd name="T0" fmla="*/ 0 w 1034"/>
                <a:gd name="T1" fmla="*/ 617 h 645"/>
                <a:gd name="T2" fmla="*/ 274 w 1034"/>
                <a:gd name="T3" fmla="*/ 12 h 645"/>
                <a:gd name="T4" fmla="*/ 773 w 1034"/>
                <a:gd name="T5" fmla="*/ 545 h 645"/>
                <a:gd name="T6" fmla="*/ 1034 w 1034"/>
                <a:gd name="T7" fmla="*/ 614 h 64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34"/>
                <a:gd name="T13" fmla="*/ 0 h 645"/>
                <a:gd name="T14" fmla="*/ 1034 w 1034"/>
                <a:gd name="T15" fmla="*/ 645 h 64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34" h="645">
                  <a:moveTo>
                    <a:pt x="0" y="617"/>
                  </a:moveTo>
                  <a:cubicBezTo>
                    <a:pt x="46" y="516"/>
                    <a:pt x="145" y="24"/>
                    <a:pt x="274" y="12"/>
                  </a:cubicBezTo>
                  <a:cubicBezTo>
                    <a:pt x="403" y="0"/>
                    <a:pt x="646" y="445"/>
                    <a:pt x="773" y="545"/>
                  </a:cubicBezTo>
                  <a:cubicBezTo>
                    <a:pt x="900" y="645"/>
                    <a:pt x="980" y="600"/>
                    <a:pt x="1034" y="614"/>
                  </a:cubicBezTo>
                </a:path>
              </a:pathLst>
            </a:custGeom>
            <a:noFill/>
            <a:ln w="1905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13332" name="Text Box 26"/>
            <p:cNvSpPr txBox="1">
              <a:spLocks noChangeArrowheads="1"/>
            </p:cNvSpPr>
            <p:nvPr/>
          </p:nvSpPr>
          <p:spPr bwMode="auto">
            <a:xfrm>
              <a:off x="528" y="1767"/>
              <a:ext cx="18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Times New Roman" charset="0"/>
                </a:rPr>
                <a:t>0</a:t>
              </a:r>
            </a:p>
          </p:txBody>
        </p:sp>
        <p:sp>
          <p:nvSpPr>
            <p:cNvPr id="13333" name="Text Box 27"/>
            <p:cNvSpPr txBox="1">
              <a:spLocks noChangeArrowheads="1"/>
            </p:cNvSpPr>
            <p:nvPr/>
          </p:nvSpPr>
          <p:spPr bwMode="auto">
            <a:xfrm>
              <a:off x="1519" y="1758"/>
              <a:ext cx="30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800">
                  <a:latin typeface="Times New Roman" charset="0"/>
                </a:rPr>
                <a:t>+</a:t>
              </a:r>
              <a:r>
                <a:rPr lang="pt-BR" altLang="pt-BR" sz="1800">
                  <a:latin typeface="Times New Roman" charset="0"/>
                  <a:sym typeface="Symbol" pitchFamily="18" charset="2"/>
                </a:rPr>
                <a:t></a:t>
              </a:r>
              <a:endParaRPr lang="pt-BR" altLang="pt-BR" sz="1800">
                <a:latin typeface="Times New Roman" charset="0"/>
              </a:endParaRPr>
            </a:p>
          </p:txBody>
        </p:sp>
        <p:graphicFrame>
          <p:nvGraphicFramePr>
            <p:cNvPr id="13334" name="Object 33"/>
            <p:cNvGraphicFramePr>
              <a:graphicFrameLocks noChangeAspect="1"/>
            </p:cNvGraphicFramePr>
            <p:nvPr/>
          </p:nvGraphicFramePr>
          <p:xfrm>
            <a:off x="1056" y="1776"/>
            <a:ext cx="183" cy="2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203112" imgH="241195" progId="">
                    <p:embed/>
                  </p:oleObj>
                </mc:Choice>
                <mc:Fallback>
                  <p:oleObj name="Equation" r:id="rId3" imgW="203112" imgH="241195" progId="">
                    <p:embed/>
                    <p:pic>
                      <p:nvPicPr>
                        <p:cNvPr id="13334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56" y="1776"/>
                          <a:ext cx="183" cy="21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317" name="Group 56"/>
          <p:cNvGrpSpPr>
            <a:grpSpLocks/>
          </p:cNvGrpSpPr>
          <p:nvPr/>
        </p:nvGrpSpPr>
        <p:grpSpPr bwMode="auto">
          <a:xfrm>
            <a:off x="1995488" y="2667000"/>
            <a:ext cx="1284287" cy="1277938"/>
            <a:chOff x="1257" y="1680"/>
            <a:chExt cx="809" cy="805"/>
          </a:xfrm>
        </p:grpSpPr>
        <p:graphicFrame>
          <p:nvGraphicFramePr>
            <p:cNvPr id="13327" name="Object 34"/>
            <p:cNvGraphicFramePr>
              <a:graphicFrameLocks noChangeAspect="1"/>
            </p:cNvGraphicFramePr>
            <p:nvPr/>
          </p:nvGraphicFramePr>
          <p:xfrm>
            <a:off x="1392" y="2256"/>
            <a:ext cx="674" cy="2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748975" imgH="253890" progId="">
                    <p:embed/>
                  </p:oleObj>
                </mc:Choice>
                <mc:Fallback>
                  <p:oleObj name="Equation" r:id="rId5" imgW="748975" imgH="253890" progId="">
                    <p:embed/>
                    <p:pic>
                      <p:nvPicPr>
                        <p:cNvPr id="13327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2" y="2256"/>
                          <a:ext cx="674" cy="22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28" name="Line 35"/>
            <p:cNvSpPr>
              <a:spLocks noChangeShapeType="1"/>
            </p:cNvSpPr>
            <p:nvPr/>
          </p:nvSpPr>
          <p:spPr bwMode="auto">
            <a:xfrm>
              <a:off x="1257" y="1680"/>
              <a:ext cx="279" cy="528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</p:grpSp>
      <p:graphicFrame>
        <p:nvGraphicFramePr>
          <p:cNvPr id="13318" name="Object 43"/>
          <p:cNvGraphicFramePr>
            <a:graphicFrameLocks noChangeAspect="1"/>
          </p:cNvGraphicFramePr>
          <p:nvPr/>
        </p:nvGraphicFramePr>
        <p:xfrm>
          <a:off x="868363" y="4376738"/>
          <a:ext cx="1560512" cy="347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091726" imgH="241195" progId="">
                  <p:embed/>
                </p:oleObj>
              </mc:Choice>
              <mc:Fallback>
                <p:oleObj name="Equation" r:id="rId7" imgW="1091726" imgH="241195" progId="">
                  <p:embed/>
                  <p:pic>
                    <p:nvPicPr>
                      <p:cNvPr id="13318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8363" y="4376738"/>
                        <a:ext cx="1560512" cy="3476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9" name="Object 45"/>
          <p:cNvGraphicFramePr>
            <a:graphicFrameLocks noChangeAspect="1"/>
          </p:cNvGraphicFramePr>
          <p:nvPr/>
        </p:nvGraphicFramePr>
        <p:xfrm>
          <a:off x="868363" y="4833938"/>
          <a:ext cx="1958975" cy="347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371600" imgH="241300" progId="">
                  <p:embed/>
                </p:oleObj>
              </mc:Choice>
              <mc:Fallback>
                <p:oleObj name="Equation" r:id="rId9" imgW="1371600" imgH="241300" progId="">
                  <p:embed/>
                  <p:pic>
                    <p:nvPicPr>
                      <p:cNvPr id="13319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8363" y="4833938"/>
                        <a:ext cx="1958975" cy="3476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7274" name="AutoShape 58"/>
          <p:cNvSpPr>
            <a:spLocks noChangeArrowheads="1"/>
          </p:cNvSpPr>
          <p:nvPr/>
        </p:nvSpPr>
        <p:spPr bwMode="auto">
          <a:xfrm>
            <a:off x="3781425" y="3500438"/>
            <a:ext cx="609600" cy="228600"/>
          </a:xfrm>
          <a:prstGeom prst="rightArrow">
            <a:avLst>
              <a:gd name="adj1" fmla="val 50000"/>
              <a:gd name="adj2" fmla="val 66667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137275" name="Rectangle 59"/>
          <p:cNvSpPr>
            <a:spLocks noChangeArrowheads="1"/>
          </p:cNvSpPr>
          <p:nvPr/>
        </p:nvSpPr>
        <p:spPr bwMode="auto">
          <a:xfrm>
            <a:off x="6918325" y="3538538"/>
            <a:ext cx="271463" cy="146050"/>
          </a:xfrm>
          <a:prstGeom prst="rect">
            <a:avLst/>
          </a:prstGeom>
          <a:noFill/>
          <a:ln w="19050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137276" name="AutoShape 60"/>
          <p:cNvSpPr>
            <a:spLocks noChangeArrowheads="1"/>
          </p:cNvSpPr>
          <p:nvPr/>
        </p:nvSpPr>
        <p:spPr bwMode="auto">
          <a:xfrm rot="5400000" flipV="1">
            <a:off x="6745288" y="2584450"/>
            <a:ext cx="609600" cy="228600"/>
          </a:xfrm>
          <a:prstGeom prst="rightArrow">
            <a:avLst>
              <a:gd name="adj1" fmla="val 50000"/>
              <a:gd name="adj2" fmla="val 66667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137277" name="Rectangle 61"/>
          <p:cNvSpPr>
            <a:spLocks noChangeArrowheads="1"/>
          </p:cNvSpPr>
          <p:nvPr/>
        </p:nvSpPr>
        <p:spPr bwMode="auto">
          <a:xfrm>
            <a:off x="6892925" y="1600200"/>
            <a:ext cx="271463" cy="146050"/>
          </a:xfrm>
          <a:prstGeom prst="rect">
            <a:avLst/>
          </a:prstGeom>
          <a:noFill/>
          <a:ln w="19050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graphicFrame>
        <p:nvGraphicFramePr>
          <p:cNvPr id="13324" name="Object 62"/>
          <p:cNvGraphicFramePr>
            <a:graphicFrameLocks noChangeAspect="1"/>
          </p:cNvGraphicFramePr>
          <p:nvPr/>
        </p:nvGraphicFramePr>
        <p:xfrm>
          <a:off x="868363" y="5291138"/>
          <a:ext cx="1470025" cy="347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028254" imgH="241195" progId="">
                  <p:embed/>
                </p:oleObj>
              </mc:Choice>
              <mc:Fallback>
                <p:oleObj name="Equation" r:id="rId11" imgW="1028254" imgH="241195" progId="">
                  <p:embed/>
                  <p:pic>
                    <p:nvPicPr>
                      <p:cNvPr id="13324" name="Object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8363" y="5291138"/>
                        <a:ext cx="1470025" cy="3476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279" name="Object 63"/>
          <p:cNvGraphicFramePr>
            <a:graphicFrameLocks noChangeAspect="1"/>
          </p:cNvGraphicFramePr>
          <p:nvPr/>
        </p:nvGraphicFramePr>
        <p:xfrm>
          <a:off x="868363" y="5748338"/>
          <a:ext cx="1743075" cy="347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218671" imgH="241195" progId="">
                  <p:embed/>
                </p:oleObj>
              </mc:Choice>
              <mc:Fallback>
                <p:oleObj name="Equation" r:id="rId13" imgW="1218671" imgH="241195" progId="">
                  <p:embed/>
                  <p:pic>
                    <p:nvPicPr>
                      <p:cNvPr id="137279" name="Object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8363" y="5748338"/>
                        <a:ext cx="1743075" cy="3476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3261237-D022-413B-B8C3-A7D36136AC52}" type="slidenum">
              <a:rPr lang="pt-BR"/>
              <a:pPr>
                <a:defRPr/>
              </a:pPr>
              <a:t>67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799880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7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7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7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7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7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274" grpId="0" animBg="1"/>
      <p:bldP spid="137275" grpId="0" animBg="1"/>
      <p:bldP spid="137276" grpId="0" animBg="1"/>
      <p:bldP spid="137277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Distribuição </a:t>
            </a:r>
            <a:r>
              <a:rPr lang="pt-BR" sz="4000" i="1" dirty="0">
                <a:latin typeface="Times New Roman" pitchFamily="18" charset="0"/>
                <a:sym typeface="Symbol" pitchFamily="18" charset="2"/>
              </a:rPr>
              <a:t>t</a:t>
            </a:r>
            <a:r>
              <a:rPr lang="pt-BR" i="1" dirty="0">
                <a:latin typeface="Times New Roman" pitchFamily="18" charset="0"/>
                <a:sym typeface="Symbol" pitchFamily="18" charset="2"/>
              </a:rPr>
              <a:t> de </a:t>
            </a:r>
            <a:r>
              <a:rPr lang="pt-BR" i="1" dirty="0" err="1">
                <a:latin typeface="Times New Roman" pitchFamily="18" charset="0"/>
                <a:sym typeface="Symbol" pitchFamily="18" charset="2"/>
              </a:rPr>
              <a:t>Student</a:t>
            </a:r>
            <a:endParaRPr lang="pt-BR" i="1" dirty="0">
              <a:latin typeface="Times New Roman" pitchFamily="18" charset="0"/>
            </a:endParaRPr>
          </a:p>
        </p:txBody>
      </p:sp>
      <p:graphicFrame>
        <p:nvGraphicFramePr>
          <p:cNvPr id="142340" name="Object 4"/>
          <p:cNvGraphicFramePr>
            <a:graphicFrameLocks noChangeAspect="1"/>
          </p:cNvGraphicFramePr>
          <p:nvPr/>
        </p:nvGraphicFramePr>
        <p:xfrm>
          <a:off x="914400" y="2505472"/>
          <a:ext cx="4462463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111500" imgH="508000" progId="">
                  <p:embed/>
                </p:oleObj>
              </mc:Choice>
              <mc:Fallback>
                <p:oleObj name="Equation" r:id="rId2" imgW="3111500" imgH="508000" progId="">
                  <p:embed/>
                  <p:pic>
                    <p:nvPicPr>
                      <p:cNvPr id="14234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505472"/>
                        <a:ext cx="4462463" cy="733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2341" name="Object 5"/>
          <p:cNvGraphicFramePr>
            <a:graphicFrameLocks noChangeAspect="1"/>
          </p:cNvGraphicFramePr>
          <p:nvPr/>
        </p:nvGraphicFramePr>
        <p:xfrm>
          <a:off x="950913" y="3590752"/>
          <a:ext cx="890587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22030" imgH="203112" progId="">
                  <p:embed/>
                </p:oleObj>
              </mc:Choice>
              <mc:Fallback>
                <p:oleObj name="Equation" r:id="rId4" imgW="622030" imgH="203112" progId="">
                  <p:embed/>
                  <p:pic>
                    <p:nvPicPr>
                      <p:cNvPr id="14234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0913" y="3590752"/>
                        <a:ext cx="890587" cy="292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2342" name="Object 6"/>
          <p:cNvGraphicFramePr>
            <a:graphicFrameLocks noChangeAspect="1"/>
          </p:cNvGraphicFramePr>
          <p:nvPr/>
        </p:nvGraphicFramePr>
        <p:xfrm>
          <a:off x="950913" y="3754265"/>
          <a:ext cx="1435100" cy="601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02865" imgH="418918" progId="">
                  <p:embed/>
                </p:oleObj>
              </mc:Choice>
              <mc:Fallback>
                <p:oleObj name="Equation" r:id="rId6" imgW="1002865" imgH="418918" progId="">
                  <p:embed/>
                  <p:pic>
                    <p:nvPicPr>
                      <p:cNvPr id="14234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0913" y="3754265"/>
                        <a:ext cx="1435100" cy="6016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3"/>
          <p:cNvGrpSpPr>
            <a:grpSpLocks/>
          </p:cNvGrpSpPr>
          <p:nvPr/>
        </p:nvGrpSpPr>
        <p:grpSpPr bwMode="auto">
          <a:xfrm>
            <a:off x="2462213" y="3590752"/>
            <a:ext cx="890587" cy="609600"/>
            <a:chOff x="1392" y="1920"/>
            <a:chExt cx="561" cy="384"/>
          </a:xfrm>
        </p:grpSpPr>
        <p:sp>
          <p:nvSpPr>
            <p:cNvPr id="20509" name="AutoShape 8"/>
            <p:cNvSpPr>
              <a:spLocks/>
            </p:cNvSpPr>
            <p:nvPr/>
          </p:nvSpPr>
          <p:spPr bwMode="auto">
            <a:xfrm>
              <a:off x="1392" y="1920"/>
              <a:ext cx="48" cy="384"/>
            </a:xfrm>
            <a:prstGeom prst="rightBrace">
              <a:avLst>
                <a:gd name="adj1" fmla="val 6666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graphicFrame>
          <p:nvGraphicFramePr>
            <p:cNvPr id="20510" name="Object 9"/>
            <p:cNvGraphicFramePr>
              <a:graphicFrameLocks noChangeAspect="1"/>
            </p:cNvGraphicFramePr>
            <p:nvPr/>
          </p:nvGraphicFramePr>
          <p:xfrm>
            <a:off x="1564" y="2011"/>
            <a:ext cx="389" cy="2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431613" imgH="241195" progId="">
                    <p:embed/>
                  </p:oleObj>
                </mc:Choice>
                <mc:Fallback>
                  <p:oleObj name="Equation" r:id="rId8" imgW="431613" imgH="241195" progId="">
                    <p:embed/>
                    <p:pic>
                      <p:nvPicPr>
                        <p:cNvPr id="2051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64" y="2011"/>
                          <a:ext cx="389" cy="21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2346" name="Text Box 10"/>
          <p:cNvSpPr txBox="1">
            <a:spLocks noChangeArrowheads="1"/>
          </p:cNvSpPr>
          <p:nvPr/>
        </p:nvSpPr>
        <p:spPr bwMode="auto">
          <a:xfrm>
            <a:off x="3489325" y="3655840"/>
            <a:ext cx="504507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5763" indent="-38576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(lê-se: </a:t>
            </a:r>
            <a:r>
              <a:rPr lang="pt-BR" altLang="pt-BR" sz="1600" i="1" dirty="0">
                <a:latin typeface="Times New Roman" charset="0"/>
              </a:rPr>
              <a:t>X</a:t>
            </a:r>
            <a:r>
              <a:rPr lang="pt-BR" altLang="pt-BR" sz="1600" dirty="0">
                <a:latin typeface="Tahoma" panose="020B0604030504040204" pitchFamily="34" charset="0"/>
              </a:rPr>
              <a:t> tem distribuição </a:t>
            </a:r>
            <a:r>
              <a:rPr lang="pt-BR" altLang="pt-BR" sz="1600" i="1" dirty="0">
                <a:latin typeface="Times New Roman" charset="0"/>
              </a:rPr>
              <a:t>t de </a:t>
            </a:r>
            <a:r>
              <a:rPr lang="pt-BR" altLang="pt-BR" sz="1600" i="1" dirty="0" err="1">
                <a:latin typeface="Times New Roman" charset="0"/>
              </a:rPr>
              <a:t>Student</a:t>
            </a:r>
            <a:r>
              <a:rPr lang="pt-BR" altLang="pt-BR" sz="1600" dirty="0">
                <a:latin typeface="Tahoma" panose="020B0604030504040204" pitchFamily="34" charset="0"/>
              </a:rPr>
              <a:t> com </a:t>
            </a:r>
            <a:r>
              <a:rPr lang="pt-BR" altLang="pt-BR" sz="1600" i="1" dirty="0">
                <a:latin typeface="Times New Roman" charset="0"/>
              </a:rPr>
              <a:t>g</a:t>
            </a:r>
            <a:r>
              <a:rPr lang="pt-BR" altLang="pt-BR" sz="1600" dirty="0">
                <a:latin typeface="Tahoma" panose="020B0604030504040204" pitchFamily="34" charset="0"/>
              </a:rPr>
              <a:t> graus de liberdade)</a:t>
            </a:r>
          </a:p>
        </p:txBody>
      </p:sp>
      <p:sp>
        <p:nvSpPr>
          <p:cNvPr id="142359" name="Text Box 23"/>
          <p:cNvSpPr txBox="1">
            <a:spLocks noChangeArrowheads="1"/>
          </p:cNvSpPr>
          <p:nvPr/>
        </p:nvSpPr>
        <p:spPr bwMode="auto">
          <a:xfrm>
            <a:off x="822325" y="4522342"/>
            <a:ext cx="14827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Propriedades:</a:t>
            </a:r>
          </a:p>
        </p:txBody>
      </p:sp>
      <p:graphicFrame>
        <p:nvGraphicFramePr>
          <p:cNvPr id="142362" name="Object 26"/>
          <p:cNvGraphicFramePr>
            <a:graphicFrameLocks noChangeAspect="1"/>
          </p:cNvGraphicFramePr>
          <p:nvPr/>
        </p:nvGraphicFramePr>
        <p:xfrm>
          <a:off x="4122738" y="4773167"/>
          <a:ext cx="854075" cy="950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596900" imgH="660400" progId="">
                  <p:embed/>
                </p:oleObj>
              </mc:Choice>
              <mc:Fallback>
                <p:oleObj name="Equation" r:id="rId10" imgW="596900" imgH="660400" progId="">
                  <p:embed/>
                  <p:pic>
                    <p:nvPicPr>
                      <p:cNvPr id="142362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2738" y="4773167"/>
                        <a:ext cx="854075" cy="9509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42"/>
          <p:cNvGrpSpPr>
            <a:grpSpLocks/>
          </p:cNvGrpSpPr>
          <p:nvPr/>
        </p:nvGrpSpPr>
        <p:grpSpPr bwMode="auto">
          <a:xfrm>
            <a:off x="5943600" y="2276872"/>
            <a:ext cx="1981200" cy="1385888"/>
            <a:chOff x="3840" y="2448"/>
            <a:chExt cx="1248" cy="873"/>
          </a:xfrm>
        </p:grpSpPr>
        <p:sp>
          <p:nvSpPr>
            <p:cNvPr id="20503" name="Text Box 22"/>
            <p:cNvSpPr txBox="1">
              <a:spLocks noChangeArrowheads="1"/>
            </p:cNvSpPr>
            <p:nvPr/>
          </p:nvSpPr>
          <p:spPr bwMode="auto">
            <a:xfrm>
              <a:off x="4608" y="2448"/>
              <a:ext cx="19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i="1">
                  <a:latin typeface="Times New Roman" charset="0"/>
                </a:rPr>
                <a:t>t</a:t>
              </a:r>
              <a:r>
                <a:rPr lang="pt-BR" altLang="pt-BR" sz="1600" i="1" baseline="-25000">
                  <a:latin typeface="Times New Roman" charset="0"/>
                </a:rPr>
                <a:t>g</a:t>
              </a:r>
              <a:endParaRPr lang="pt-BR" altLang="pt-BR" sz="1600" baseline="-25000">
                <a:latin typeface="Times New Roman" charset="0"/>
              </a:endParaRPr>
            </a:p>
          </p:txBody>
        </p:sp>
        <p:sp>
          <p:nvSpPr>
            <p:cNvPr id="20504" name="Text Box 35"/>
            <p:cNvSpPr txBox="1">
              <a:spLocks noChangeArrowheads="1"/>
            </p:cNvSpPr>
            <p:nvPr/>
          </p:nvSpPr>
          <p:spPr bwMode="auto">
            <a:xfrm>
              <a:off x="3840" y="3058"/>
              <a:ext cx="26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800">
                  <a:latin typeface="Times New Roman" charset="0"/>
                </a:rPr>
                <a:t>-</a:t>
              </a:r>
              <a:r>
                <a:rPr lang="pt-BR" altLang="pt-BR" sz="1800">
                  <a:latin typeface="Times New Roman" charset="0"/>
                  <a:sym typeface="Symbol" pitchFamily="18" charset="2"/>
                </a:rPr>
                <a:t></a:t>
              </a:r>
              <a:endParaRPr lang="pt-BR" altLang="pt-BR" sz="1800">
                <a:latin typeface="Times New Roman" charset="0"/>
              </a:endParaRPr>
            </a:p>
          </p:txBody>
        </p:sp>
        <p:sp>
          <p:nvSpPr>
            <p:cNvPr id="20505" name="Text Box 36"/>
            <p:cNvSpPr txBox="1">
              <a:spLocks noChangeArrowheads="1"/>
            </p:cNvSpPr>
            <p:nvPr/>
          </p:nvSpPr>
          <p:spPr bwMode="auto">
            <a:xfrm>
              <a:off x="4788" y="3060"/>
              <a:ext cx="30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800">
                  <a:latin typeface="Times New Roman" charset="0"/>
                </a:rPr>
                <a:t>+</a:t>
              </a:r>
              <a:r>
                <a:rPr lang="pt-BR" altLang="pt-BR" sz="1800">
                  <a:latin typeface="Times New Roman" charset="0"/>
                  <a:sym typeface="Symbol" pitchFamily="18" charset="2"/>
                </a:rPr>
                <a:t></a:t>
              </a:r>
              <a:endParaRPr lang="pt-BR" altLang="pt-BR" sz="1800">
                <a:latin typeface="Times New Roman" charset="0"/>
              </a:endParaRPr>
            </a:p>
          </p:txBody>
        </p:sp>
        <p:sp>
          <p:nvSpPr>
            <p:cNvPr id="20506" name="Text Box 37"/>
            <p:cNvSpPr txBox="1">
              <a:spLocks noChangeArrowheads="1"/>
            </p:cNvSpPr>
            <p:nvPr/>
          </p:nvSpPr>
          <p:spPr bwMode="auto">
            <a:xfrm>
              <a:off x="4366" y="3109"/>
              <a:ext cx="18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Times New Roman" charset="0"/>
                </a:rPr>
                <a:t>0</a:t>
              </a:r>
            </a:p>
          </p:txBody>
        </p:sp>
        <p:sp>
          <p:nvSpPr>
            <p:cNvPr id="20507" name="Line 38"/>
            <p:cNvSpPr>
              <a:spLocks noChangeShapeType="1"/>
            </p:cNvSpPr>
            <p:nvPr/>
          </p:nvSpPr>
          <p:spPr bwMode="auto">
            <a:xfrm>
              <a:off x="3904" y="3104"/>
              <a:ext cx="110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20508" name="Freeform 41"/>
            <p:cNvSpPr>
              <a:spLocks/>
            </p:cNvSpPr>
            <p:nvPr/>
          </p:nvSpPr>
          <p:spPr bwMode="auto">
            <a:xfrm>
              <a:off x="3984" y="2508"/>
              <a:ext cx="950" cy="590"/>
            </a:xfrm>
            <a:custGeom>
              <a:avLst/>
              <a:gdLst>
                <a:gd name="T0" fmla="*/ 0 w 950"/>
                <a:gd name="T1" fmla="*/ 590 h 590"/>
                <a:gd name="T2" fmla="*/ 46 w 950"/>
                <a:gd name="T3" fmla="*/ 588 h 590"/>
                <a:gd name="T4" fmla="*/ 94 w 950"/>
                <a:gd name="T5" fmla="*/ 583 h 590"/>
                <a:gd name="T6" fmla="*/ 134 w 950"/>
                <a:gd name="T7" fmla="*/ 569 h 590"/>
                <a:gd name="T8" fmla="*/ 168 w 950"/>
                <a:gd name="T9" fmla="*/ 547 h 590"/>
                <a:gd name="T10" fmla="*/ 194 w 950"/>
                <a:gd name="T11" fmla="*/ 521 h 590"/>
                <a:gd name="T12" fmla="*/ 230 w 950"/>
                <a:gd name="T13" fmla="*/ 480 h 590"/>
                <a:gd name="T14" fmla="*/ 264 w 950"/>
                <a:gd name="T15" fmla="*/ 420 h 590"/>
                <a:gd name="T16" fmla="*/ 298 w 950"/>
                <a:gd name="T17" fmla="*/ 348 h 590"/>
                <a:gd name="T18" fmla="*/ 338 w 950"/>
                <a:gd name="T19" fmla="*/ 238 h 590"/>
                <a:gd name="T20" fmla="*/ 377 w 950"/>
                <a:gd name="T21" fmla="*/ 142 h 590"/>
                <a:gd name="T22" fmla="*/ 406 w 950"/>
                <a:gd name="T23" fmla="*/ 79 h 590"/>
                <a:gd name="T24" fmla="*/ 427 w 950"/>
                <a:gd name="T25" fmla="*/ 41 h 590"/>
                <a:gd name="T26" fmla="*/ 449 w 950"/>
                <a:gd name="T27" fmla="*/ 12 h 590"/>
                <a:gd name="T28" fmla="*/ 468 w 950"/>
                <a:gd name="T29" fmla="*/ 2 h 590"/>
                <a:gd name="T30" fmla="*/ 490 w 950"/>
                <a:gd name="T31" fmla="*/ 0 h 590"/>
                <a:gd name="T32" fmla="*/ 518 w 950"/>
                <a:gd name="T33" fmla="*/ 24 h 590"/>
                <a:gd name="T34" fmla="*/ 540 w 950"/>
                <a:gd name="T35" fmla="*/ 53 h 590"/>
                <a:gd name="T36" fmla="*/ 559 w 950"/>
                <a:gd name="T37" fmla="*/ 98 h 590"/>
                <a:gd name="T38" fmla="*/ 590 w 950"/>
                <a:gd name="T39" fmla="*/ 166 h 590"/>
                <a:gd name="T40" fmla="*/ 617 w 950"/>
                <a:gd name="T41" fmla="*/ 238 h 590"/>
                <a:gd name="T42" fmla="*/ 658 w 950"/>
                <a:gd name="T43" fmla="*/ 346 h 590"/>
                <a:gd name="T44" fmla="*/ 701 w 950"/>
                <a:gd name="T45" fmla="*/ 439 h 590"/>
                <a:gd name="T46" fmla="*/ 734 w 950"/>
                <a:gd name="T47" fmla="*/ 490 h 590"/>
                <a:gd name="T48" fmla="*/ 770 w 950"/>
                <a:gd name="T49" fmla="*/ 530 h 590"/>
                <a:gd name="T50" fmla="*/ 814 w 950"/>
                <a:gd name="T51" fmla="*/ 559 h 590"/>
                <a:gd name="T52" fmla="*/ 854 w 950"/>
                <a:gd name="T53" fmla="*/ 578 h 590"/>
                <a:gd name="T54" fmla="*/ 900 w 950"/>
                <a:gd name="T55" fmla="*/ 586 h 590"/>
                <a:gd name="T56" fmla="*/ 950 w 950"/>
                <a:gd name="T57" fmla="*/ 588 h 590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950"/>
                <a:gd name="T88" fmla="*/ 0 h 590"/>
                <a:gd name="T89" fmla="*/ 950 w 950"/>
                <a:gd name="T90" fmla="*/ 590 h 590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950" h="590">
                  <a:moveTo>
                    <a:pt x="0" y="590"/>
                  </a:moveTo>
                  <a:lnTo>
                    <a:pt x="46" y="588"/>
                  </a:lnTo>
                  <a:lnTo>
                    <a:pt x="94" y="583"/>
                  </a:lnTo>
                  <a:lnTo>
                    <a:pt x="134" y="569"/>
                  </a:lnTo>
                  <a:lnTo>
                    <a:pt x="168" y="547"/>
                  </a:lnTo>
                  <a:lnTo>
                    <a:pt x="194" y="521"/>
                  </a:lnTo>
                  <a:lnTo>
                    <a:pt x="230" y="480"/>
                  </a:lnTo>
                  <a:lnTo>
                    <a:pt x="264" y="420"/>
                  </a:lnTo>
                  <a:lnTo>
                    <a:pt x="298" y="348"/>
                  </a:lnTo>
                  <a:lnTo>
                    <a:pt x="338" y="238"/>
                  </a:lnTo>
                  <a:lnTo>
                    <a:pt x="377" y="142"/>
                  </a:lnTo>
                  <a:lnTo>
                    <a:pt x="406" y="79"/>
                  </a:lnTo>
                  <a:lnTo>
                    <a:pt x="427" y="41"/>
                  </a:lnTo>
                  <a:lnTo>
                    <a:pt x="449" y="12"/>
                  </a:lnTo>
                  <a:lnTo>
                    <a:pt x="468" y="2"/>
                  </a:lnTo>
                  <a:lnTo>
                    <a:pt x="490" y="0"/>
                  </a:lnTo>
                  <a:lnTo>
                    <a:pt x="518" y="24"/>
                  </a:lnTo>
                  <a:lnTo>
                    <a:pt x="540" y="53"/>
                  </a:lnTo>
                  <a:lnTo>
                    <a:pt x="559" y="98"/>
                  </a:lnTo>
                  <a:lnTo>
                    <a:pt x="590" y="166"/>
                  </a:lnTo>
                  <a:lnTo>
                    <a:pt x="617" y="238"/>
                  </a:lnTo>
                  <a:lnTo>
                    <a:pt x="658" y="346"/>
                  </a:lnTo>
                  <a:lnTo>
                    <a:pt x="701" y="439"/>
                  </a:lnTo>
                  <a:lnTo>
                    <a:pt x="734" y="490"/>
                  </a:lnTo>
                  <a:lnTo>
                    <a:pt x="770" y="530"/>
                  </a:lnTo>
                  <a:lnTo>
                    <a:pt x="814" y="559"/>
                  </a:lnTo>
                  <a:lnTo>
                    <a:pt x="854" y="578"/>
                  </a:lnTo>
                  <a:lnTo>
                    <a:pt x="900" y="586"/>
                  </a:lnTo>
                  <a:lnTo>
                    <a:pt x="950" y="588"/>
                  </a:ln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4" name="Group 48"/>
          <p:cNvGrpSpPr>
            <a:grpSpLocks/>
          </p:cNvGrpSpPr>
          <p:nvPr/>
        </p:nvGrpSpPr>
        <p:grpSpPr bwMode="auto">
          <a:xfrm>
            <a:off x="825500" y="4889054"/>
            <a:ext cx="3282950" cy="374650"/>
            <a:chOff x="520" y="3008"/>
            <a:chExt cx="2068" cy="236"/>
          </a:xfrm>
        </p:grpSpPr>
        <p:sp>
          <p:nvSpPr>
            <p:cNvPr id="20498" name="Text Box 25"/>
            <p:cNvSpPr txBox="1">
              <a:spLocks noChangeArrowheads="1"/>
            </p:cNvSpPr>
            <p:nvPr/>
          </p:nvSpPr>
          <p:spPr bwMode="auto">
            <a:xfrm>
              <a:off x="520" y="3008"/>
              <a:ext cx="399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a) se</a:t>
              </a:r>
            </a:p>
          </p:txBody>
        </p:sp>
        <p:graphicFrame>
          <p:nvGraphicFramePr>
            <p:cNvPr id="20499" name="Object 27"/>
            <p:cNvGraphicFramePr>
              <a:graphicFrameLocks noChangeAspect="1"/>
            </p:cNvGraphicFramePr>
            <p:nvPr/>
          </p:nvGraphicFramePr>
          <p:xfrm>
            <a:off x="894" y="3034"/>
            <a:ext cx="653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723586" imgH="203112" progId="">
                    <p:embed/>
                  </p:oleObj>
                </mc:Choice>
                <mc:Fallback>
                  <p:oleObj name="Equation" r:id="rId12" imgW="723586" imgH="203112" progId="">
                    <p:embed/>
                    <p:pic>
                      <p:nvPicPr>
                        <p:cNvPr id="20499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94" y="3034"/>
                          <a:ext cx="653" cy="18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00" name="Object 44"/>
            <p:cNvGraphicFramePr>
              <a:graphicFrameLocks noChangeAspect="1"/>
            </p:cNvGraphicFramePr>
            <p:nvPr/>
          </p:nvGraphicFramePr>
          <p:xfrm>
            <a:off x="1710" y="3014"/>
            <a:ext cx="447" cy="2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494870" imgH="253780" progId="">
                    <p:embed/>
                  </p:oleObj>
                </mc:Choice>
                <mc:Fallback>
                  <p:oleObj name="Equation" r:id="rId14" imgW="494870" imgH="253780" progId="">
                    <p:embed/>
                    <p:pic>
                      <p:nvPicPr>
                        <p:cNvPr id="20500" name="Object 4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10" y="3014"/>
                          <a:ext cx="447" cy="23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501" name="Text Box 45"/>
            <p:cNvSpPr txBox="1">
              <a:spLocks noChangeArrowheads="1"/>
            </p:cNvSpPr>
            <p:nvPr/>
          </p:nvSpPr>
          <p:spPr bwMode="auto">
            <a:xfrm>
              <a:off x="1526" y="3008"/>
              <a:ext cx="18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e</a:t>
              </a:r>
            </a:p>
          </p:txBody>
        </p:sp>
        <p:sp>
          <p:nvSpPr>
            <p:cNvPr id="20502" name="Text Box 46"/>
            <p:cNvSpPr txBox="1">
              <a:spLocks noChangeArrowheads="1"/>
            </p:cNvSpPr>
            <p:nvPr/>
          </p:nvSpPr>
          <p:spPr bwMode="auto">
            <a:xfrm>
              <a:off x="2142" y="3008"/>
              <a:ext cx="44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então</a:t>
              </a:r>
            </a:p>
          </p:txBody>
        </p:sp>
      </p:grpSp>
      <p:grpSp>
        <p:nvGrpSpPr>
          <p:cNvPr id="5" name="Group 55"/>
          <p:cNvGrpSpPr>
            <a:grpSpLocks/>
          </p:cNvGrpSpPr>
          <p:nvPr/>
        </p:nvGrpSpPr>
        <p:grpSpPr bwMode="auto">
          <a:xfrm>
            <a:off x="825500" y="5664448"/>
            <a:ext cx="2003425" cy="336550"/>
            <a:chOff x="576" y="3648"/>
            <a:chExt cx="1262" cy="212"/>
          </a:xfrm>
        </p:grpSpPr>
        <p:sp>
          <p:nvSpPr>
            <p:cNvPr id="20495" name="Text Box 50"/>
            <p:cNvSpPr txBox="1">
              <a:spLocks noChangeArrowheads="1"/>
            </p:cNvSpPr>
            <p:nvPr/>
          </p:nvSpPr>
          <p:spPr bwMode="auto">
            <a:xfrm>
              <a:off x="576" y="3648"/>
              <a:ext cx="409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b) se</a:t>
              </a:r>
            </a:p>
          </p:txBody>
        </p:sp>
        <p:graphicFrame>
          <p:nvGraphicFramePr>
            <p:cNvPr id="20496" name="Object 51"/>
            <p:cNvGraphicFramePr>
              <a:graphicFrameLocks noChangeAspect="1"/>
            </p:cNvGraphicFramePr>
            <p:nvPr/>
          </p:nvGraphicFramePr>
          <p:xfrm>
            <a:off x="960" y="3685"/>
            <a:ext cx="424" cy="1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469696" imgH="177723" progId="">
                    <p:embed/>
                  </p:oleObj>
                </mc:Choice>
                <mc:Fallback>
                  <p:oleObj name="Equation" r:id="rId16" imgW="469696" imgH="177723" progId="">
                    <p:embed/>
                    <p:pic>
                      <p:nvPicPr>
                        <p:cNvPr id="20496" name="Object 5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60" y="3685"/>
                          <a:ext cx="424" cy="16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497" name="Text Box 54"/>
            <p:cNvSpPr txBox="1">
              <a:spLocks noChangeArrowheads="1"/>
            </p:cNvSpPr>
            <p:nvPr/>
          </p:nvSpPr>
          <p:spPr bwMode="auto">
            <a:xfrm>
              <a:off x="1392" y="3648"/>
              <a:ext cx="44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então</a:t>
              </a:r>
            </a:p>
          </p:txBody>
        </p:sp>
      </p:grpSp>
      <p:graphicFrame>
        <p:nvGraphicFramePr>
          <p:cNvPr id="142392" name="Object 56"/>
          <p:cNvGraphicFramePr>
            <a:graphicFrameLocks noChangeAspect="1"/>
          </p:cNvGraphicFramePr>
          <p:nvPr/>
        </p:nvGraphicFramePr>
        <p:xfrm>
          <a:off x="2855913" y="5664448"/>
          <a:ext cx="1125537" cy="34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787400" imgH="241300" progId="">
                  <p:embed/>
                </p:oleObj>
              </mc:Choice>
              <mc:Fallback>
                <p:oleObj name="Equation" r:id="rId18" imgW="787400" imgH="241300" progId="">
                  <p:embed/>
                  <p:pic>
                    <p:nvPicPr>
                      <p:cNvPr id="142392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5913" y="5664448"/>
                        <a:ext cx="1125537" cy="3476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2E4C08-7E87-4B70-8D65-19AAF73BE0BF}" type="slidenum">
              <a:rPr lang="pt-BR"/>
              <a:pPr>
                <a:defRPr/>
              </a:pPr>
              <a:t>68</a:t>
            </a:fld>
            <a:endParaRPr lang="pt-BR"/>
          </a:p>
        </p:txBody>
      </p:sp>
      <p:graphicFrame>
        <p:nvGraphicFramePr>
          <p:cNvPr id="7" name="Objeto 6"/>
          <p:cNvGraphicFramePr>
            <a:graphicFrameLocks noChangeAspect="1"/>
          </p:cNvGraphicFramePr>
          <p:nvPr/>
        </p:nvGraphicFramePr>
        <p:xfrm>
          <a:off x="4240213" y="3064272"/>
          <a:ext cx="1255712" cy="293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876240" imgH="203040" progId="">
                  <p:embed/>
                </p:oleObj>
              </mc:Choice>
              <mc:Fallback>
                <p:oleObj name="Equation" r:id="rId20" imgW="876240" imgH="203040" progId="">
                  <p:embed/>
                  <p:pic>
                    <p:nvPicPr>
                      <p:cNvPr id="7" name="Objeto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0213" y="3064272"/>
                        <a:ext cx="1255712" cy="2936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Retângulo 2"/>
          <p:cNvSpPr>
            <a:spLocks noChangeArrowheads="1"/>
          </p:cNvSpPr>
          <p:nvPr/>
        </p:nvSpPr>
        <p:spPr bwMode="auto">
          <a:xfrm>
            <a:off x="695325" y="1547813"/>
            <a:ext cx="7764463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55600" indent="-35560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Uma variável aleatória </a:t>
            </a:r>
            <a:r>
              <a:rPr lang="pt-BR" altLang="pt-BR" sz="1600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pt-BR" altLang="pt-BR" sz="1600" dirty="0">
                <a:latin typeface="Tahoma" panose="020B0604030504040204" pitchFamily="34" charset="0"/>
              </a:rPr>
              <a:t> tem distribuição </a:t>
            </a:r>
            <a:r>
              <a:rPr lang="pt-BR" altLang="pt-BR" sz="16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t de </a:t>
            </a:r>
            <a:r>
              <a:rPr lang="pt-BR" altLang="pt-BR" sz="16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Student</a:t>
            </a:r>
            <a:r>
              <a:rPr lang="pt-BR" altLang="pt-BR" sz="1600" dirty="0">
                <a:latin typeface="Tahoma" panose="020B0604030504040204" pitchFamily="34" charset="0"/>
              </a:rPr>
              <a:t>  se sua função densidade de probabilidade for dada por:</a:t>
            </a:r>
          </a:p>
        </p:txBody>
      </p:sp>
    </p:spTree>
    <p:extLst>
      <p:ext uri="{BB962C8B-B14F-4D97-AF65-F5344CB8AC3E}">
        <p14:creationId xmlns:p14="http://schemas.microsoft.com/office/powerpoint/2010/main" val="71976356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346" grpId="0" autoUpdateAnimBg="0"/>
      <p:bldP spid="142359" grpId="0" autoUpdateAnimBg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Distribuição </a:t>
            </a:r>
            <a:r>
              <a:rPr lang="pt-BR" sz="4000" i="1" dirty="0">
                <a:latin typeface="Times New Roman" pitchFamily="18" charset="0"/>
                <a:sym typeface="Symbol" pitchFamily="18" charset="2"/>
              </a:rPr>
              <a:t>t</a:t>
            </a:r>
            <a:r>
              <a:rPr lang="pt-BR" i="1" dirty="0">
                <a:latin typeface="Times New Roman" pitchFamily="18" charset="0"/>
                <a:sym typeface="Symbol" pitchFamily="18" charset="2"/>
              </a:rPr>
              <a:t> de </a:t>
            </a:r>
            <a:r>
              <a:rPr lang="pt-BR" i="1" dirty="0" err="1">
                <a:latin typeface="Times New Roman" pitchFamily="18" charset="0"/>
                <a:sym typeface="Symbol" pitchFamily="18" charset="2"/>
              </a:rPr>
              <a:t>Student</a:t>
            </a:r>
            <a:endParaRPr lang="pt-BR" i="1" dirty="0">
              <a:latin typeface="Times New Roman" pitchFamily="18" charset="0"/>
              <a:sym typeface="Symbol" pitchFamily="18" charset="2"/>
            </a:endParaRPr>
          </a:p>
        </p:txBody>
      </p:sp>
      <p:pic>
        <p:nvPicPr>
          <p:cNvPr id="21507" name="Picture 4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296" t="9618" r="18376" b="11877"/>
          <a:stretch>
            <a:fillRect/>
          </a:stretch>
        </p:blipFill>
        <p:spPr bwMode="auto">
          <a:xfrm>
            <a:off x="1306513" y="1600200"/>
            <a:ext cx="2506662" cy="1058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8" name="Freeform 43" descr="Diagonal para cima clara"/>
          <p:cNvSpPr>
            <a:spLocks/>
          </p:cNvSpPr>
          <p:nvPr/>
        </p:nvSpPr>
        <p:spPr bwMode="auto">
          <a:xfrm>
            <a:off x="3067050" y="2327275"/>
            <a:ext cx="525463" cy="301625"/>
          </a:xfrm>
          <a:custGeom>
            <a:avLst/>
            <a:gdLst>
              <a:gd name="T0" fmla="*/ 0 w 331"/>
              <a:gd name="T1" fmla="*/ 2147483647 h 190"/>
              <a:gd name="T2" fmla="*/ 0 w 331"/>
              <a:gd name="T3" fmla="*/ 0 h 190"/>
              <a:gd name="T4" fmla="*/ 2147483647 w 331"/>
              <a:gd name="T5" fmla="*/ 2147483647 h 190"/>
              <a:gd name="T6" fmla="*/ 2147483647 w 331"/>
              <a:gd name="T7" fmla="*/ 2147483647 h 190"/>
              <a:gd name="T8" fmla="*/ 2147483647 w 331"/>
              <a:gd name="T9" fmla="*/ 2147483647 h 190"/>
              <a:gd name="T10" fmla="*/ 2147483647 w 331"/>
              <a:gd name="T11" fmla="*/ 2147483647 h 190"/>
              <a:gd name="T12" fmla="*/ 2147483647 w 331"/>
              <a:gd name="T13" fmla="*/ 2147483647 h 190"/>
              <a:gd name="T14" fmla="*/ 2147483647 w 331"/>
              <a:gd name="T15" fmla="*/ 2147483647 h 190"/>
              <a:gd name="T16" fmla="*/ 2147483647 w 331"/>
              <a:gd name="T17" fmla="*/ 2147483647 h 190"/>
              <a:gd name="T18" fmla="*/ 2147483647 w 331"/>
              <a:gd name="T19" fmla="*/ 2147483647 h 190"/>
              <a:gd name="T20" fmla="*/ 2147483647 w 331"/>
              <a:gd name="T21" fmla="*/ 2147483647 h 190"/>
              <a:gd name="T22" fmla="*/ 0 w 331"/>
              <a:gd name="T23" fmla="*/ 2147483647 h 190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331"/>
              <a:gd name="T37" fmla="*/ 0 h 190"/>
              <a:gd name="T38" fmla="*/ 331 w 331"/>
              <a:gd name="T39" fmla="*/ 190 h 190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331" h="190">
                <a:moveTo>
                  <a:pt x="0" y="190"/>
                </a:moveTo>
                <a:lnTo>
                  <a:pt x="0" y="0"/>
                </a:lnTo>
                <a:lnTo>
                  <a:pt x="24" y="36"/>
                </a:lnTo>
                <a:lnTo>
                  <a:pt x="53" y="77"/>
                </a:lnTo>
                <a:lnTo>
                  <a:pt x="77" y="104"/>
                </a:lnTo>
                <a:lnTo>
                  <a:pt x="108" y="123"/>
                </a:lnTo>
                <a:lnTo>
                  <a:pt x="137" y="144"/>
                </a:lnTo>
                <a:lnTo>
                  <a:pt x="173" y="159"/>
                </a:lnTo>
                <a:lnTo>
                  <a:pt x="221" y="176"/>
                </a:lnTo>
                <a:lnTo>
                  <a:pt x="269" y="183"/>
                </a:lnTo>
                <a:lnTo>
                  <a:pt x="331" y="190"/>
                </a:lnTo>
                <a:lnTo>
                  <a:pt x="0" y="190"/>
                </a:lnTo>
                <a:close/>
              </a:path>
            </a:pathLst>
          </a:custGeom>
          <a:pattFill prst="ltUpDiag">
            <a:fgClr>
              <a:schemeClr val="tx1"/>
            </a:fgClr>
            <a:bgClr>
              <a:schemeClr val="bg1"/>
            </a:bgClr>
          </a:pattFill>
          <a:ln w="31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BR" dirty="0">
              <a:latin typeface="Tahoma" panose="020B0604030504040204" pitchFamily="34" charset="0"/>
            </a:endParaRPr>
          </a:p>
        </p:txBody>
      </p:sp>
      <p:sp>
        <p:nvSpPr>
          <p:cNvPr id="21509" name="Text Box 44"/>
          <p:cNvSpPr txBox="1">
            <a:spLocks noChangeArrowheads="1"/>
          </p:cNvSpPr>
          <p:nvPr/>
        </p:nvSpPr>
        <p:spPr bwMode="auto">
          <a:xfrm>
            <a:off x="1219200" y="2551113"/>
            <a:ext cx="3968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>
                <a:latin typeface="Times New Roman" charset="0"/>
              </a:rPr>
              <a:t>-</a:t>
            </a:r>
            <a:r>
              <a:rPr lang="pt-BR" altLang="pt-BR" sz="1600">
                <a:latin typeface="Times New Roman" charset="0"/>
                <a:sym typeface="Symbol" pitchFamily="18" charset="2"/>
              </a:rPr>
              <a:t></a:t>
            </a:r>
            <a:endParaRPr lang="pt-BR" altLang="pt-BR" sz="1600">
              <a:latin typeface="Times New Roman" charset="0"/>
            </a:endParaRPr>
          </a:p>
        </p:txBody>
      </p:sp>
      <p:sp>
        <p:nvSpPr>
          <p:cNvPr id="21510" name="Text Box 45"/>
          <p:cNvSpPr txBox="1">
            <a:spLocks noChangeArrowheads="1"/>
          </p:cNvSpPr>
          <p:nvPr/>
        </p:nvSpPr>
        <p:spPr bwMode="auto">
          <a:xfrm>
            <a:off x="3475038" y="2551113"/>
            <a:ext cx="4429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>
                <a:latin typeface="Times New Roman" charset="0"/>
              </a:rPr>
              <a:t>+</a:t>
            </a:r>
            <a:r>
              <a:rPr lang="pt-BR" altLang="pt-BR" sz="1600">
                <a:latin typeface="Times New Roman" charset="0"/>
                <a:sym typeface="Symbol" pitchFamily="18" charset="2"/>
              </a:rPr>
              <a:t></a:t>
            </a:r>
            <a:endParaRPr lang="pt-BR" altLang="pt-BR" sz="1600">
              <a:latin typeface="Times New Roman" charset="0"/>
            </a:endParaRPr>
          </a:p>
        </p:txBody>
      </p:sp>
      <p:sp>
        <p:nvSpPr>
          <p:cNvPr id="21511" name="Text Box 46"/>
          <p:cNvSpPr txBox="1">
            <a:spLocks noChangeArrowheads="1"/>
          </p:cNvSpPr>
          <p:nvPr/>
        </p:nvSpPr>
        <p:spPr bwMode="auto">
          <a:xfrm>
            <a:off x="2435225" y="2551113"/>
            <a:ext cx="2857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600">
                <a:latin typeface="Times New Roman" charset="0"/>
              </a:rPr>
              <a:t>0</a:t>
            </a:r>
          </a:p>
        </p:txBody>
      </p:sp>
      <p:sp>
        <p:nvSpPr>
          <p:cNvPr id="21512" name="Text Box 47"/>
          <p:cNvSpPr txBox="1">
            <a:spLocks noChangeArrowheads="1"/>
          </p:cNvSpPr>
          <p:nvPr/>
        </p:nvSpPr>
        <p:spPr bwMode="auto">
          <a:xfrm>
            <a:off x="2932113" y="2551113"/>
            <a:ext cx="2413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charset="0"/>
              </a:rPr>
              <a:t>t</a:t>
            </a:r>
          </a:p>
        </p:txBody>
      </p:sp>
      <p:grpSp>
        <p:nvGrpSpPr>
          <p:cNvPr id="2" name="Group 82"/>
          <p:cNvGrpSpPr>
            <a:grpSpLocks/>
          </p:cNvGrpSpPr>
          <p:nvPr/>
        </p:nvGrpSpPr>
        <p:grpSpPr bwMode="auto">
          <a:xfrm>
            <a:off x="2444750" y="2514600"/>
            <a:ext cx="852488" cy="1017588"/>
            <a:chOff x="1540" y="1584"/>
            <a:chExt cx="537" cy="641"/>
          </a:xfrm>
        </p:grpSpPr>
        <p:graphicFrame>
          <p:nvGraphicFramePr>
            <p:cNvPr id="21534" name="Object 49"/>
            <p:cNvGraphicFramePr>
              <a:graphicFrameLocks noChangeAspect="1"/>
            </p:cNvGraphicFramePr>
            <p:nvPr/>
          </p:nvGraphicFramePr>
          <p:xfrm>
            <a:off x="1540" y="2006"/>
            <a:ext cx="537" cy="2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596900" imgH="241300" progId="">
                    <p:embed/>
                  </p:oleObj>
                </mc:Choice>
                <mc:Fallback>
                  <p:oleObj name="Equation" r:id="rId3" imgW="596900" imgH="241300" progId="">
                    <p:embed/>
                    <p:pic>
                      <p:nvPicPr>
                        <p:cNvPr id="21534" name="Object 4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40" y="2006"/>
                          <a:ext cx="537" cy="21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35" name="Line 52"/>
            <p:cNvSpPr>
              <a:spLocks noChangeShapeType="1"/>
            </p:cNvSpPr>
            <p:nvPr/>
          </p:nvSpPr>
          <p:spPr bwMode="auto">
            <a:xfrm flipH="1">
              <a:off x="1728" y="1584"/>
              <a:ext cx="240" cy="381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</p:grpSp>
      <p:pic>
        <p:nvPicPr>
          <p:cNvPr id="21514" name="Picture 54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22" r="28639"/>
          <a:stretch>
            <a:fillRect/>
          </a:stretch>
        </p:blipFill>
        <p:spPr bwMode="auto">
          <a:xfrm>
            <a:off x="5105400" y="1371600"/>
            <a:ext cx="2362200" cy="548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" name="Group 72"/>
          <p:cNvGrpSpPr>
            <a:grpSpLocks/>
          </p:cNvGrpSpPr>
          <p:nvPr/>
        </p:nvGrpSpPr>
        <p:grpSpPr bwMode="auto">
          <a:xfrm>
            <a:off x="3016250" y="1530350"/>
            <a:ext cx="4365625" cy="5141913"/>
            <a:chOff x="1900" y="964"/>
            <a:chExt cx="2750" cy="3239"/>
          </a:xfrm>
        </p:grpSpPr>
        <p:sp>
          <p:nvSpPr>
            <p:cNvPr id="21530" name="Rectangle 59"/>
            <p:cNvSpPr>
              <a:spLocks noChangeArrowheads="1"/>
            </p:cNvSpPr>
            <p:nvPr/>
          </p:nvSpPr>
          <p:spPr bwMode="auto">
            <a:xfrm>
              <a:off x="3418" y="964"/>
              <a:ext cx="1232" cy="3239"/>
            </a:xfrm>
            <a:prstGeom prst="rect">
              <a:avLst/>
            </a:prstGeom>
            <a:noFill/>
            <a:ln w="19050">
              <a:solidFill>
                <a:srgbClr val="FF33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grpSp>
          <p:nvGrpSpPr>
            <p:cNvPr id="21531" name="Group 71"/>
            <p:cNvGrpSpPr>
              <a:grpSpLocks/>
            </p:cNvGrpSpPr>
            <p:nvPr/>
          </p:nvGrpSpPr>
          <p:grpSpPr bwMode="auto">
            <a:xfrm>
              <a:off x="1900" y="1993"/>
              <a:ext cx="1508" cy="215"/>
              <a:chOff x="1900" y="1993"/>
              <a:chExt cx="1508" cy="215"/>
            </a:xfrm>
          </p:grpSpPr>
          <p:sp>
            <p:nvSpPr>
              <p:cNvPr id="21532" name="Oval 61"/>
              <p:cNvSpPr>
                <a:spLocks noChangeArrowheads="1"/>
              </p:cNvSpPr>
              <p:nvPr/>
            </p:nvSpPr>
            <p:spPr bwMode="auto">
              <a:xfrm>
                <a:off x="1900" y="1993"/>
                <a:ext cx="144" cy="215"/>
              </a:xfrm>
              <a:prstGeom prst="ellipse">
                <a:avLst/>
              </a:prstGeom>
              <a:noFill/>
              <a:ln w="19050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21533" name="Line 62"/>
              <p:cNvSpPr>
                <a:spLocks noChangeShapeType="1"/>
              </p:cNvSpPr>
              <p:nvPr/>
            </p:nvSpPr>
            <p:spPr bwMode="auto">
              <a:xfrm flipV="1">
                <a:off x="2044" y="2064"/>
                <a:ext cx="1364" cy="40"/>
              </a:xfrm>
              <a:prstGeom prst="line">
                <a:avLst/>
              </a:prstGeom>
              <a:noFill/>
              <a:ln w="19050">
                <a:solidFill>
                  <a:srgbClr val="FF33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</p:grpSp>
      </p:grpSp>
      <p:grpSp>
        <p:nvGrpSpPr>
          <p:cNvPr id="5" name="Group 81"/>
          <p:cNvGrpSpPr>
            <a:grpSpLocks/>
          </p:cNvGrpSpPr>
          <p:nvPr/>
        </p:nvGrpSpPr>
        <p:grpSpPr bwMode="auto">
          <a:xfrm>
            <a:off x="3124200" y="1371600"/>
            <a:ext cx="4191000" cy="1143000"/>
            <a:chOff x="1968" y="864"/>
            <a:chExt cx="2640" cy="720"/>
          </a:xfrm>
        </p:grpSpPr>
        <p:sp>
          <p:nvSpPr>
            <p:cNvPr id="21528" name="Line 64"/>
            <p:cNvSpPr>
              <a:spLocks noChangeShapeType="1"/>
            </p:cNvSpPr>
            <p:nvPr/>
          </p:nvSpPr>
          <p:spPr bwMode="auto">
            <a:xfrm flipV="1">
              <a:off x="1968" y="918"/>
              <a:ext cx="1463" cy="666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21529" name="Rectangle 65"/>
            <p:cNvSpPr>
              <a:spLocks noChangeArrowheads="1"/>
            </p:cNvSpPr>
            <p:nvPr/>
          </p:nvSpPr>
          <p:spPr bwMode="auto">
            <a:xfrm>
              <a:off x="3446" y="864"/>
              <a:ext cx="1162" cy="93"/>
            </a:xfrm>
            <a:prstGeom prst="rect">
              <a:avLst/>
            </a:prstGeom>
            <a:noFill/>
            <a:ln w="19050">
              <a:solidFill>
                <a:srgbClr val="FF33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6" name="Group 73"/>
          <p:cNvGrpSpPr>
            <a:grpSpLocks/>
          </p:cNvGrpSpPr>
          <p:nvPr/>
        </p:nvGrpSpPr>
        <p:grpSpPr bwMode="auto">
          <a:xfrm>
            <a:off x="2760663" y="1530350"/>
            <a:ext cx="2665412" cy="5145088"/>
            <a:chOff x="1739" y="964"/>
            <a:chExt cx="1679" cy="3241"/>
          </a:xfrm>
        </p:grpSpPr>
        <p:sp>
          <p:nvSpPr>
            <p:cNvPr id="21525" name="Oval 67"/>
            <p:cNvSpPr>
              <a:spLocks noChangeArrowheads="1"/>
            </p:cNvSpPr>
            <p:nvPr/>
          </p:nvSpPr>
          <p:spPr bwMode="auto">
            <a:xfrm>
              <a:off x="1739" y="2095"/>
              <a:ext cx="96" cy="144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21526" name="Line 68"/>
            <p:cNvSpPr>
              <a:spLocks noChangeShapeType="1"/>
            </p:cNvSpPr>
            <p:nvPr/>
          </p:nvSpPr>
          <p:spPr bwMode="auto">
            <a:xfrm>
              <a:off x="1835" y="2162"/>
              <a:ext cx="1481" cy="58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21527" name="Rectangle 69"/>
            <p:cNvSpPr>
              <a:spLocks noChangeArrowheads="1"/>
            </p:cNvSpPr>
            <p:nvPr/>
          </p:nvSpPr>
          <p:spPr bwMode="auto">
            <a:xfrm>
              <a:off x="3310" y="964"/>
              <a:ext cx="108" cy="3241"/>
            </a:xfrm>
            <a:prstGeom prst="rect">
              <a:avLst/>
            </a:prstGeom>
            <a:noFill/>
            <a:ln w="19050">
              <a:solidFill>
                <a:srgbClr val="FF33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graphicFrame>
        <p:nvGraphicFramePr>
          <p:cNvPr id="143435" name="Object 75"/>
          <p:cNvGraphicFramePr>
            <a:graphicFrameLocks noChangeAspect="1"/>
          </p:cNvGraphicFramePr>
          <p:nvPr/>
        </p:nvGraphicFramePr>
        <p:xfrm>
          <a:off x="823913" y="4386263"/>
          <a:ext cx="1506538" cy="328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54080" imgH="228600" progId="">
                  <p:embed/>
                </p:oleObj>
              </mc:Choice>
              <mc:Fallback>
                <p:oleObj name="Equation" r:id="rId6" imgW="1054080" imgH="228600" progId="">
                  <p:embed/>
                  <p:pic>
                    <p:nvPicPr>
                      <p:cNvPr id="143435" name="Object 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3913" y="4386263"/>
                        <a:ext cx="1506538" cy="3286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36" name="Object 76"/>
          <p:cNvGraphicFramePr>
            <a:graphicFrameLocks noChangeAspect="1"/>
          </p:cNvGraphicFramePr>
          <p:nvPr/>
        </p:nvGraphicFramePr>
        <p:xfrm>
          <a:off x="823913" y="4884738"/>
          <a:ext cx="1939925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358900" imgH="228600" progId="">
                  <p:embed/>
                </p:oleObj>
              </mc:Choice>
              <mc:Fallback>
                <p:oleObj name="Equation" r:id="rId8" imgW="1358900" imgH="228600" progId="">
                  <p:embed/>
                  <p:pic>
                    <p:nvPicPr>
                      <p:cNvPr id="143436" name="Object 7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3913" y="4884738"/>
                        <a:ext cx="1939925" cy="330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37" name="AutoShape 77"/>
          <p:cNvSpPr>
            <a:spLocks noChangeArrowheads="1"/>
          </p:cNvSpPr>
          <p:nvPr/>
        </p:nvSpPr>
        <p:spPr bwMode="auto">
          <a:xfrm>
            <a:off x="4635500" y="2787650"/>
            <a:ext cx="609600" cy="228600"/>
          </a:xfrm>
          <a:prstGeom prst="rightArrow">
            <a:avLst>
              <a:gd name="adj1" fmla="val 50000"/>
              <a:gd name="adj2" fmla="val 66667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143438" name="Rectangle 78"/>
          <p:cNvSpPr>
            <a:spLocks noChangeArrowheads="1"/>
          </p:cNvSpPr>
          <p:nvPr/>
        </p:nvSpPr>
        <p:spPr bwMode="auto">
          <a:xfrm>
            <a:off x="6591300" y="2838450"/>
            <a:ext cx="347663" cy="153988"/>
          </a:xfrm>
          <a:prstGeom prst="rect">
            <a:avLst/>
          </a:prstGeom>
          <a:noFill/>
          <a:ln w="19050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143439" name="AutoShape 79"/>
          <p:cNvSpPr>
            <a:spLocks noChangeArrowheads="1"/>
          </p:cNvSpPr>
          <p:nvPr/>
        </p:nvSpPr>
        <p:spPr bwMode="auto">
          <a:xfrm rot="5400000" flipV="1">
            <a:off x="6457950" y="2114550"/>
            <a:ext cx="609600" cy="228600"/>
          </a:xfrm>
          <a:prstGeom prst="rightArrow">
            <a:avLst>
              <a:gd name="adj1" fmla="val 50000"/>
              <a:gd name="adj2" fmla="val 66667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143440" name="Rectangle 80"/>
          <p:cNvSpPr>
            <a:spLocks noChangeArrowheads="1"/>
          </p:cNvSpPr>
          <p:nvPr/>
        </p:nvSpPr>
        <p:spPr bwMode="auto">
          <a:xfrm>
            <a:off x="6581775" y="1377950"/>
            <a:ext cx="271463" cy="146050"/>
          </a:xfrm>
          <a:prstGeom prst="rect">
            <a:avLst/>
          </a:prstGeom>
          <a:noFill/>
          <a:ln w="19050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12BBF69-1A08-4462-9DC2-528202869134}" type="slidenum">
              <a:rPr lang="pt-BR"/>
              <a:pPr>
                <a:defRPr/>
              </a:pPr>
              <a:t>69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296831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37" grpId="0" animBg="1"/>
      <p:bldP spid="143438" grpId="0" animBg="1"/>
      <p:bldP spid="143439" grpId="0" animBg="1"/>
      <p:bldP spid="143440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Distribuição </a:t>
            </a:r>
            <a:r>
              <a:rPr lang="pt-BR" sz="4000" i="1">
                <a:latin typeface="Times New Roman" pitchFamily="18" charset="0"/>
                <a:sym typeface="Symbol" pitchFamily="18" charset="2"/>
              </a:rPr>
              <a:t>F </a:t>
            </a:r>
            <a:r>
              <a:rPr lang="pt-BR" sz="4000">
                <a:latin typeface="Times New Roman" pitchFamily="18" charset="0"/>
                <a:sym typeface="Symbol" pitchFamily="18" charset="2"/>
              </a:rPr>
              <a:t>(</a:t>
            </a:r>
            <a:r>
              <a:rPr lang="pt-BR" sz="4000" i="1">
                <a:latin typeface="Times New Roman" pitchFamily="18" charset="0"/>
                <a:sym typeface="Symbol" pitchFamily="18" charset="2"/>
              </a:rPr>
              <a:t>de Snedecor</a:t>
            </a:r>
            <a:r>
              <a:rPr lang="pt-BR" sz="4000">
                <a:latin typeface="Times New Roman" pitchFamily="18" charset="0"/>
                <a:sym typeface="Symbol" pitchFamily="18" charset="2"/>
              </a:rPr>
              <a:t>)</a:t>
            </a:r>
            <a:endParaRPr lang="pt-BR">
              <a:latin typeface="Times New Roman" pitchFamily="18" charset="0"/>
            </a:endParaRPr>
          </a:p>
        </p:txBody>
      </p:sp>
      <p:graphicFrame>
        <p:nvGraphicFramePr>
          <p:cNvPr id="150532" name="Object 4"/>
          <p:cNvGraphicFramePr>
            <a:graphicFrameLocks noChangeAspect="1"/>
          </p:cNvGraphicFramePr>
          <p:nvPr/>
        </p:nvGraphicFramePr>
        <p:xfrm>
          <a:off x="736600" y="3270643"/>
          <a:ext cx="1344613" cy="620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39392" imgH="431613" progId="">
                  <p:embed/>
                </p:oleObj>
              </mc:Choice>
              <mc:Fallback>
                <p:oleObj name="Equation" r:id="rId2" imgW="939392" imgH="431613" progId="">
                  <p:embed/>
                  <p:pic>
                    <p:nvPicPr>
                      <p:cNvPr id="15053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6600" y="3270643"/>
                        <a:ext cx="1344613" cy="6207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0533" name="Object 5"/>
          <p:cNvGraphicFramePr>
            <a:graphicFrameLocks noChangeAspect="1"/>
          </p:cNvGraphicFramePr>
          <p:nvPr/>
        </p:nvGraphicFramePr>
        <p:xfrm>
          <a:off x="736600" y="3824883"/>
          <a:ext cx="2616200" cy="655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828800" imgH="457200" progId="">
                  <p:embed/>
                </p:oleObj>
              </mc:Choice>
              <mc:Fallback>
                <p:oleObj name="Equation" r:id="rId4" imgW="1828800" imgH="457200" progId="">
                  <p:embed/>
                  <p:pic>
                    <p:nvPicPr>
                      <p:cNvPr id="15053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6600" y="3824883"/>
                        <a:ext cx="2616200" cy="6556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3"/>
          <p:cNvGrpSpPr>
            <a:grpSpLocks/>
          </p:cNvGrpSpPr>
          <p:nvPr/>
        </p:nvGrpSpPr>
        <p:grpSpPr bwMode="auto">
          <a:xfrm>
            <a:off x="3452813" y="3434155"/>
            <a:ext cx="1042987" cy="990600"/>
            <a:chOff x="2175" y="1920"/>
            <a:chExt cx="657" cy="624"/>
          </a:xfrm>
        </p:grpSpPr>
        <p:sp>
          <p:nvSpPr>
            <p:cNvPr id="10288" name="AutoShape 7"/>
            <p:cNvSpPr>
              <a:spLocks/>
            </p:cNvSpPr>
            <p:nvPr/>
          </p:nvSpPr>
          <p:spPr bwMode="auto">
            <a:xfrm>
              <a:off x="2175" y="1920"/>
              <a:ext cx="53" cy="624"/>
            </a:xfrm>
            <a:prstGeom prst="rightBrace">
              <a:avLst>
                <a:gd name="adj1" fmla="val 98113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graphicFrame>
          <p:nvGraphicFramePr>
            <p:cNvPr id="10289" name="Object 8"/>
            <p:cNvGraphicFramePr>
              <a:graphicFrameLocks noChangeAspect="1"/>
            </p:cNvGraphicFramePr>
            <p:nvPr/>
          </p:nvGraphicFramePr>
          <p:xfrm>
            <a:off x="2271" y="2137"/>
            <a:ext cx="561" cy="2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622030" imgH="241195" progId="">
                    <p:embed/>
                  </p:oleObj>
                </mc:Choice>
                <mc:Fallback>
                  <p:oleObj name="Equation" r:id="rId6" imgW="622030" imgH="241195" progId="">
                    <p:embed/>
                    <p:pic>
                      <p:nvPicPr>
                        <p:cNvPr id="10289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71" y="2137"/>
                          <a:ext cx="561" cy="21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0537" name="Text Box 9"/>
          <p:cNvSpPr txBox="1">
            <a:spLocks noChangeArrowheads="1"/>
          </p:cNvSpPr>
          <p:nvPr/>
        </p:nvSpPr>
        <p:spPr bwMode="auto">
          <a:xfrm>
            <a:off x="4495800" y="3747095"/>
            <a:ext cx="44196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5763" indent="-38576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(lê-se: </a:t>
            </a:r>
            <a:r>
              <a:rPr lang="pt-BR" altLang="pt-BR" sz="1600" i="1" dirty="0">
                <a:latin typeface="Times New Roman" charset="0"/>
              </a:rPr>
              <a:t>X</a:t>
            </a:r>
            <a:r>
              <a:rPr lang="pt-BR" altLang="pt-BR" sz="1600" dirty="0">
                <a:latin typeface="Tahoma" panose="020B0604030504040204" pitchFamily="34" charset="0"/>
              </a:rPr>
              <a:t> tem distribuição </a:t>
            </a:r>
            <a:r>
              <a:rPr lang="pt-BR" altLang="pt-BR" sz="1600" i="1" dirty="0">
                <a:latin typeface="Times New Roman" charset="0"/>
              </a:rPr>
              <a:t>F</a:t>
            </a:r>
            <a:r>
              <a:rPr lang="pt-BR" altLang="pt-BR" sz="1600" dirty="0">
                <a:latin typeface="Tahoma" panose="020B0604030504040204" pitchFamily="34" charset="0"/>
              </a:rPr>
              <a:t> com </a:t>
            </a:r>
            <a:r>
              <a:rPr lang="pt-BR" altLang="pt-BR" sz="1600" i="1" dirty="0">
                <a:latin typeface="Times New Roman" charset="0"/>
              </a:rPr>
              <a:t>g</a:t>
            </a:r>
            <a:r>
              <a:rPr lang="pt-BR" altLang="pt-BR" sz="1600" baseline="-25000" dirty="0">
                <a:latin typeface="Times New Roman" charset="0"/>
              </a:rPr>
              <a:t>1</a:t>
            </a:r>
            <a:r>
              <a:rPr lang="pt-BR" altLang="pt-BR" sz="1600" dirty="0">
                <a:latin typeface="Tahoma" panose="020B0604030504040204" pitchFamily="34" charset="0"/>
              </a:rPr>
              <a:t> e </a:t>
            </a:r>
            <a:r>
              <a:rPr lang="pt-BR" altLang="pt-BR" sz="1600" i="1" dirty="0">
                <a:latin typeface="Times New Roman" charset="0"/>
              </a:rPr>
              <a:t>g</a:t>
            </a:r>
            <a:r>
              <a:rPr lang="pt-BR" altLang="pt-BR" sz="1600" baseline="-25000" dirty="0">
                <a:latin typeface="Times New Roman" charset="0"/>
              </a:rPr>
              <a:t>2</a:t>
            </a:r>
            <a:r>
              <a:rPr lang="pt-BR" altLang="pt-BR" sz="1600" dirty="0">
                <a:latin typeface="Tahoma" panose="020B0604030504040204" pitchFamily="34" charset="0"/>
              </a:rPr>
              <a:t> graus de liberdade)</a:t>
            </a:r>
          </a:p>
        </p:txBody>
      </p:sp>
      <p:sp>
        <p:nvSpPr>
          <p:cNvPr id="150538" name="Text Box 10"/>
          <p:cNvSpPr txBox="1">
            <a:spLocks noChangeArrowheads="1"/>
          </p:cNvSpPr>
          <p:nvPr/>
        </p:nvSpPr>
        <p:spPr bwMode="auto">
          <a:xfrm>
            <a:off x="685800" y="4774208"/>
            <a:ext cx="14827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Propriedades:</a:t>
            </a:r>
          </a:p>
        </p:txBody>
      </p:sp>
      <p:graphicFrame>
        <p:nvGraphicFramePr>
          <p:cNvPr id="150539" name="Object 11"/>
          <p:cNvGraphicFramePr>
            <a:graphicFrameLocks noChangeAspect="1"/>
          </p:cNvGraphicFramePr>
          <p:nvPr/>
        </p:nvGraphicFramePr>
        <p:xfrm>
          <a:off x="3582988" y="5153620"/>
          <a:ext cx="1217612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850531" imgH="431613" progId="">
                  <p:embed/>
                </p:oleObj>
              </mc:Choice>
              <mc:Fallback>
                <p:oleObj name="Equation" r:id="rId8" imgW="850531" imgH="431613" progId="">
                  <p:embed/>
                  <p:pic>
                    <p:nvPicPr>
                      <p:cNvPr id="150539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2988" y="5153620"/>
                        <a:ext cx="1217612" cy="622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39"/>
          <p:cNvGrpSpPr>
            <a:grpSpLocks/>
          </p:cNvGrpSpPr>
          <p:nvPr/>
        </p:nvGrpSpPr>
        <p:grpSpPr bwMode="auto">
          <a:xfrm>
            <a:off x="688975" y="5256808"/>
            <a:ext cx="2854325" cy="374650"/>
            <a:chOff x="520" y="3008"/>
            <a:chExt cx="1798" cy="236"/>
          </a:xfrm>
        </p:grpSpPr>
        <p:sp>
          <p:nvSpPr>
            <p:cNvPr id="10283" name="Text Box 20"/>
            <p:cNvSpPr txBox="1">
              <a:spLocks noChangeArrowheads="1"/>
            </p:cNvSpPr>
            <p:nvPr/>
          </p:nvSpPr>
          <p:spPr bwMode="auto">
            <a:xfrm>
              <a:off x="520" y="3008"/>
              <a:ext cx="399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a) se</a:t>
              </a:r>
            </a:p>
          </p:txBody>
        </p:sp>
        <p:graphicFrame>
          <p:nvGraphicFramePr>
            <p:cNvPr id="10284" name="Object 21"/>
            <p:cNvGraphicFramePr>
              <a:graphicFrameLocks noChangeAspect="1"/>
            </p:cNvGraphicFramePr>
            <p:nvPr/>
          </p:nvGraphicFramePr>
          <p:xfrm>
            <a:off x="898" y="3011"/>
            <a:ext cx="446" cy="2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494870" imgH="253780" progId="">
                    <p:embed/>
                  </p:oleObj>
                </mc:Choice>
                <mc:Fallback>
                  <p:oleObj name="Equation" r:id="rId10" imgW="494870" imgH="253780" progId="">
                    <p:embed/>
                    <p:pic>
                      <p:nvPicPr>
                        <p:cNvPr id="10284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98" y="3011"/>
                          <a:ext cx="446" cy="23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85" name="Object 22"/>
            <p:cNvGraphicFramePr>
              <a:graphicFrameLocks noChangeAspect="1"/>
            </p:cNvGraphicFramePr>
            <p:nvPr/>
          </p:nvGraphicFramePr>
          <p:xfrm>
            <a:off x="1473" y="3014"/>
            <a:ext cx="447" cy="2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494870" imgH="253780" progId="">
                    <p:embed/>
                  </p:oleObj>
                </mc:Choice>
                <mc:Fallback>
                  <p:oleObj name="Equation" r:id="rId12" imgW="494870" imgH="253780" progId="">
                    <p:embed/>
                    <p:pic>
                      <p:nvPicPr>
                        <p:cNvPr id="10285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73" y="3014"/>
                          <a:ext cx="447" cy="23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86" name="Text Box 23"/>
            <p:cNvSpPr txBox="1">
              <a:spLocks noChangeArrowheads="1"/>
            </p:cNvSpPr>
            <p:nvPr/>
          </p:nvSpPr>
          <p:spPr bwMode="auto">
            <a:xfrm>
              <a:off x="1296" y="3008"/>
              <a:ext cx="18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e</a:t>
              </a:r>
            </a:p>
          </p:txBody>
        </p:sp>
        <p:sp>
          <p:nvSpPr>
            <p:cNvPr id="10287" name="Text Box 24"/>
            <p:cNvSpPr txBox="1">
              <a:spLocks noChangeArrowheads="1"/>
            </p:cNvSpPr>
            <p:nvPr/>
          </p:nvSpPr>
          <p:spPr bwMode="auto">
            <a:xfrm>
              <a:off x="1872" y="3008"/>
              <a:ext cx="44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então</a:t>
              </a:r>
            </a:p>
          </p:txBody>
        </p:sp>
      </p:grpSp>
      <p:grpSp>
        <p:nvGrpSpPr>
          <p:cNvPr id="4" name="Group 37"/>
          <p:cNvGrpSpPr>
            <a:grpSpLocks/>
          </p:cNvGrpSpPr>
          <p:nvPr/>
        </p:nvGrpSpPr>
        <p:grpSpPr bwMode="auto">
          <a:xfrm>
            <a:off x="6713541" y="2159695"/>
            <a:ext cx="2049463" cy="1557340"/>
            <a:chOff x="4128" y="960"/>
            <a:chExt cx="1291" cy="981"/>
          </a:xfrm>
        </p:grpSpPr>
        <p:sp>
          <p:nvSpPr>
            <p:cNvPr id="10279" name="Freeform 32"/>
            <p:cNvSpPr>
              <a:spLocks/>
            </p:cNvSpPr>
            <p:nvPr/>
          </p:nvSpPr>
          <p:spPr bwMode="auto">
            <a:xfrm>
              <a:off x="4218" y="960"/>
              <a:ext cx="1104" cy="768"/>
            </a:xfrm>
            <a:custGeom>
              <a:avLst/>
              <a:gdLst>
                <a:gd name="T0" fmla="*/ 0 w 1104"/>
                <a:gd name="T1" fmla="*/ 0 h 768"/>
                <a:gd name="T2" fmla="*/ 0 w 1104"/>
                <a:gd name="T3" fmla="*/ 768 h 768"/>
                <a:gd name="T4" fmla="*/ 1104 w 1104"/>
                <a:gd name="T5" fmla="*/ 768 h 768"/>
                <a:gd name="T6" fmla="*/ 0 60000 65536"/>
                <a:gd name="T7" fmla="*/ 0 60000 65536"/>
                <a:gd name="T8" fmla="*/ 0 60000 65536"/>
                <a:gd name="T9" fmla="*/ 0 w 1104"/>
                <a:gd name="T10" fmla="*/ 0 h 768"/>
                <a:gd name="T11" fmla="*/ 1104 w 1104"/>
                <a:gd name="T12" fmla="*/ 768 h 76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04" h="768">
                  <a:moveTo>
                    <a:pt x="0" y="0"/>
                  </a:moveTo>
                  <a:lnTo>
                    <a:pt x="0" y="768"/>
                  </a:lnTo>
                  <a:lnTo>
                    <a:pt x="1104" y="768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10280" name="Freeform 33"/>
            <p:cNvSpPr>
              <a:spLocks/>
            </p:cNvSpPr>
            <p:nvPr/>
          </p:nvSpPr>
          <p:spPr bwMode="auto">
            <a:xfrm>
              <a:off x="4214" y="1109"/>
              <a:ext cx="1034" cy="645"/>
            </a:xfrm>
            <a:custGeom>
              <a:avLst/>
              <a:gdLst>
                <a:gd name="T0" fmla="*/ 0 w 1034"/>
                <a:gd name="T1" fmla="*/ 617 h 645"/>
                <a:gd name="T2" fmla="*/ 274 w 1034"/>
                <a:gd name="T3" fmla="*/ 12 h 645"/>
                <a:gd name="T4" fmla="*/ 773 w 1034"/>
                <a:gd name="T5" fmla="*/ 545 h 645"/>
                <a:gd name="T6" fmla="*/ 1034 w 1034"/>
                <a:gd name="T7" fmla="*/ 614 h 64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34"/>
                <a:gd name="T13" fmla="*/ 0 h 645"/>
                <a:gd name="T14" fmla="*/ 1034 w 1034"/>
                <a:gd name="T15" fmla="*/ 645 h 64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34" h="645">
                  <a:moveTo>
                    <a:pt x="0" y="617"/>
                  </a:moveTo>
                  <a:cubicBezTo>
                    <a:pt x="46" y="516"/>
                    <a:pt x="145" y="24"/>
                    <a:pt x="274" y="12"/>
                  </a:cubicBezTo>
                  <a:cubicBezTo>
                    <a:pt x="403" y="0"/>
                    <a:pt x="646" y="445"/>
                    <a:pt x="773" y="545"/>
                  </a:cubicBezTo>
                  <a:cubicBezTo>
                    <a:pt x="900" y="645"/>
                    <a:pt x="980" y="600"/>
                    <a:pt x="1034" y="614"/>
                  </a:cubicBezTo>
                </a:path>
              </a:pathLst>
            </a:custGeom>
            <a:noFill/>
            <a:ln w="1905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10281" name="Text Box 34"/>
            <p:cNvSpPr txBox="1">
              <a:spLocks noChangeArrowheads="1"/>
            </p:cNvSpPr>
            <p:nvPr/>
          </p:nvSpPr>
          <p:spPr bwMode="auto">
            <a:xfrm>
              <a:off x="4128" y="1719"/>
              <a:ext cx="18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imes New Roman" charset="0"/>
                </a:rPr>
                <a:t>0</a:t>
              </a:r>
            </a:p>
          </p:txBody>
        </p:sp>
        <p:sp>
          <p:nvSpPr>
            <p:cNvPr id="10282" name="Text Box 35"/>
            <p:cNvSpPr txBox="1">
              <a:spLocks noChangeArrowheads="1"/>
            </p:cNvSpPr>
            <p:nvPr/>
          </p:nvSpPr>
          <p:spPr bwMode="auto">
            <a:xfrm>
              <a:off x="5119" y="1710"/>
              <a:ext cx="30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800" dirty="0">
                  <a:latin typeface="Times New Roman" charset="0"/>
                </a:rPr>
                <a:t>+</a:t>
              </a:r>
              <a:r>
                <a:rPr lang="pt-BR" altLang="pt-BR" sz="1800" dirty="0">
                  <a:latin typeface="Times New Roman" charset="0"/>
                  <a:sym typeface="Symbol" pitchFamily="18" charset="2"/>
                </a:rPr>
                <a:t></a:t>
              </a:r>
              <a:endParaRPr lang="pt-BR" altLang="pt-BR" sz="1800" dirty="0">
                <a:latin typeface="Times New Roman" charset="0"/>
              </a:endParaRPr>
            </a:p>
          </p:txBody>
        </p:sp>
      </p:grpSp>
      <p:grpSp>
        <p:nvGrpSpPr>
          <p:cNvPr id="5" name="Group 42"/>
          <p:cNvGrpSpPr>
            <a:grpSpLocks/>
          </p:cNvGrpSpPr>
          <p:nvPr/>
        </p:nvGrpSpPr>
        <p:grpSpPr bwMode="auto">
          <a:xfrm>
            <a:off x="688975" y="5742583"/>
            <a:ext cx="3060700" cy="566737"/>
            <a:chOff x="520" y="3585"/>
            <a:chExt cx="1928" cy="357"/>
          </a:xfrm>
        </p:grpSpPr>
        <p:sp>
          <p:nvSpPr>
            <p:cNvPr id="10275" name="Text Box 26"/>
            <p:cNvSpPr txBox="1">
              <a:spLocks noChangeArrowheads="1"/>
            </p:cNvSpPr>
            <p:nvPr/>
          </p:nvSpPr>
          <p:spPr bwMode="auto">
            <a:xfrm>
              <a:off x="520" y="3648"/>
              <a:ext cx="409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b) se</a:t>
              </a:r>
            </a:p>
          </p:txBody>
        </p:sp>
        <p:graphicFrame>
          <p:nvGraphicFramePr>
            <p:cNvPr id="10276" name="Object 27"/>
            <p:cNvGraphicFramePr>
              <a:graphicFrameLocks noChangeAspect="1"/>
            </p:cNvGraphicFramePr>
            <p:nvPr/>
          </p:nvGraphicFramePr>
          <p:xfrm>
            <a:off x="885" y="3661"/>
            <a:ext cx="562" cy="2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622030" imgH="241195" progId="">
                    <p:embed/>
                  </p:oleObj>
                </mc:Choice>
                <mc:Fallback>
                  <p:oleObj name="Equation" r:id="rId14" imgW="622030" imgH="241195" progId="">
                    <p:embed/>
                    <p:pic>
                      <p:nvPicPr>
                        <p:cNvPr id="10276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85" y="3661"/>
                          <a:ext cx="562" cy="21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77" name="Text Box 28"/>
            <p:cNvSpPr txBox="1">
              <a:spLocks noChangeArrowheads="1"/>
            </p:cNvSpPr>
            <p:nvPr/>
          </p:nvSpPr>
          <p:spPr bwMode="auto">
            <a:xfrm>
              <a:off x="1431" y="3648"/>
              <a:ext cx="44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então</a:t>
              </a:r>
            </a:p>
          </p:txBody>
        </p:sp>
        <p:graphicFrame>
          <p:nvGraphicFramePr>
            <p:cNvPr id="10278" name="Object 40"/>
            <p:cNvGraphicFramePr>
              <a:graphicFrameLocks noChangeAspect="1"/>
            </p:cNvGraphicFramePr>
            <p:nvPr/>
          </p:nvGraphicFramePr>
          <p:xfrm>
            <a:off x="1863" y="3585"/>
            <a:ext cx="585" cy="3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647419" imgH="393529" progId="">
                    <p:embed/>
                  </p:oleObj>
                </mc:Choice>
                <mc:Fallback>
                  <p:oleObj name="Equation" r:id="rId15" imgW="647419" imgH="393529" progId="">
                    <p:embed/>
                    <p:pic>
                      <p:nvPicPr>
                        <p:cNvPr id="10278" name="Object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63" y="3585"/>
                          <a:ext cx="585" cy="35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50569" name="Object 41"/>
          <p:cNvGraphicFramePr>
            <a:graphicFrameLocks noChangeAspect="1"/>
          </p:cNvGraphicFramePr>
          <p:nvPr/>
        </p:nvGraphicFramePr>
        <p:xfrm>
          <a:off x="3963988" y="5740995"/>
          <a:ext cx="2843212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981200" imgH="393700" progId="">
                  <p:embed/>
                </p:oleObj>
              </mc:Choice>
              <mc:Fallback>
                <p:oleObj name="Equation" r:id="rId17" imgW="1981200" imgH="393700" progId="">
                  <p:embed/>
                  <p:pic>
                    <p:nvPicPr>
                      <p:cNvPr id="150569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3988" y="5740995"/>
                        <a:ext cx="2843212" cy="5667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67"/>
          <p:cNvGrpSpPr>
            <a:grpSpLocks/>
          </p:cNvGrpSpPr>
          <p:nvPr/>
        </p:nvGrpSpPr>
        <p:grpSpPr bwMode="auto">
          <a:xfrm>
            <a:off x="7251700" y="4529138"/>
            <a:ext cx="1266825" cy="969962"/>
            <a:chOff x="4568" y="2853"/>
            <a:chExt cx="798" cy="611"/>
          </a:xfrm>
        </p:grpSpPr>
        <p:grpSp>
          <p:nvGrpSpPr>
            <p:cNvPr id="10266" name="Group 66"/>
            <p:cNvGrpSpPr>
              <a:grpSpLocks/>
            </p:cNvGrpSpPr>
            <p:nvPr/>
          </p:nvGrpSpPr>
          <p:grpSpPr bwMode="auto">
            <a:xfrm>
              <a:off x="4568" y="2880"/>
              <a:ext cx="798" cy="584"/>
              <a:chOff x="4568" y="2880"/>
              <a:chExt cx="798" cy="584"/>
            </a:xfrm>
          </p:grpSpPr>
          <p:sp>
            <p:nvSpPr>
              <p:cNvPr id="10268" name="Freeform 55" descr="Diagonal para cima clara"/>
              <p:cNvSpPr>
                <a:spLocks/>
              </p:cNvSpPr>
              <p:nvPr/>
            </p:nvSpPr>
            <p:spPr bwMode="auto">
              <a:xfrm>
                <a:off x="4990" y="3161"/>
                <a:ext cx="194" cy="146"/>
              </a:xfrm>
              <a:custGeom>
                <a:avLst/>
                <a:gdLst>
                  <a:gd name="T0" fmla="*/ 0 w 194"/>
                  <a:gd name="T1" fmla="*/ 146 h 146"/>
                  <a:gd name="T2" fmla="*/ 0 w 194"/>
                  <a:gd name="T3" fmla="*/ 0 h 146"/>
                  <a:gd name="T4" fmla="*/ 26 w 194"/>
                  <a:gd name="T5" fmla="*/ 31 h 146"/>
                  <a:gd name="T6" fmla="*/ 50 w 194"/>
                  <a:gd name="T7" fmla="*/ 62 h 146"/>
                  <a:gd name="T8" fmla="*/ 74 w 194"/>
                  <a:gd name="T9" fmla="*/ 89 h 146"/>
                  <a:gd name="T10" fmla="*/ 98 w 194"/>
                  <a:gd name="T11" fmla="*/ 115 h 146"/>
                  <a:gd name="T12" fmla="*/ 122 w 194"/>
                  <a:gd name="T13" fmla="*/ 127 h 146"/>
                  <a:gd name="T14" fmla="*/ 151 w 194"/>
                  <a:gd name="T15" fmla="*/ 137 h 146"/>
                  <a:gd name="T16" fmla="*/ 168 w 194"/>
                  <a:gd name="T17" fmla="*/ 141 h 146"/>
                  <a:gd name="T18" fmla="*/ 194 w 194"/>
                  <a:gd name="T19" fmla="*/ 141 h 146"/>
                  <a:gd name="T20" fmla="*/ 0 w 194"/>
                  <a:gd name="T21" fmla="*/ 146 h 14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94"/>
                  <a:gd name="T34" fmla="*/ 0 h 146"/>
                  <a:gd name="T35" fmla="*/ 194 w 194"/>
                  <a:gd name="T36" fmla="*/ 146 h 14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94" h="146">
                    <a:moveTo>
                      <a:pt x="0" y="146"/>
                    </a:moveTo>
                    <a:lnTo>
                      <a:pt x="0" y="0"/>
                    </a:lnTo>
                    <a:lnTo>
                      <a:pt x="26" y="31"/>
                    </a:lnTo>
                    <a:lnTo>
                      <a:pt x="50" y="62"/>
                    </a:lnTo>
                    <a:lnTo>
                      <a:pt x="74" y="89"/>
                    </a:lnTo>
                    <a:lnTo>
                      <a:pt x="98" y="115"/>
                    </a:lnTo>
                    <a:lnTo>
                      <a:pt x="122" y="127"/>
                    </a:lnTo>
                    <a:lnTo>
                      <a:pt x="151" y="137"/>
                    </a:lnTo>
                    <a:lnTo>
                      <a:pt x="168" y="141"/>
                    </a:lnTo>
                    <a:lnTo>
                      <a:pt x="194" y="141"/>
                    </a:lnTo>
                    <a:lnTo>
                      <a:pt x="0" y="146"/>
                    </a:lnTo>
                    <a:close/>
                  </a:path>
                </a:pathLst>
              </a:custGeom>
              <a:pattFill prst="ltUpDiag">
                <a:fgClr>
                  <a:schemeClr val="tx1"/>
                </a:fgClr>
                <a:bgClr>
                  <a:schemeClr val="bg1"/>
                </a:bgClr>
              </a:patt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grpSp>
            <p:nvGrpSpPr>
              <p:cNvPr id="10269" name="Group 49"/>
              <p:cNvGrpSpPr>
                <a:grpSpLocks/>
              </p:cNvGrpSpPr>
              <p:nvPr/>
            </p:nvGrpSpPr>
            <p:grpSpPr bwMode="auto">
              <a:xfrm>
                <a:off x="4568" y="2880"/>
                <a:ext cx="798" cy="584"/>
                <a:chOff x="4568" y="2880"/>
                <a:chExt cx="798" cy="584"/>
              </a:xfrm>
            </p:grpSpPr>
            <p:sp>
              <p:nvSpPr>
                <p:cNvPr id="10271" name="Freeform 45"/>
                <p:cNvSpPr>
                  <a:spLocks/>
                </p:cNvSpPr>
                <p:nvPr/>
              </p:nvSpPr>
              <p:spPr bwMode="auto">
                <a:xfrm>
                  <a:off x="4651" y="2880"/>
                  <a:ext cx="615" cy="428"/>
                </a:xfrm>
                <a:custGeom>
                  <a:avLst/>
                  <a:gdLst>
                    <a:gd name="T0" fmla="*/ 0 w 1104"/>
                    <a:gd name="T1" fmla="*/ 0 h 768"/>
                    <a:gd name="T2" fmla="*/ 0 w 1104"/>
                    <a:gd name="T3" fmla="*/ 1 h 768"/>
                    <a:gd name="T4" fmla="*/ 1 w 1104"/>
                    <a:gd name="T5" fmla="*/ 1 h 768"/>
                    <a:gd name="T6" fmla="*/ 0 60000 65536"/>
                    <a:gd name="T7" fmla="*/ 0 60000 65536"/>
                    <a:gd name="T8" fmla="*/ 0 60000 65536"/>
                    <a:gd name="T9" fmla="*/ 0 w 1104"/>
                    <a:gd name="T10" fmla="*/ 0 h 768"/>
                    <a:gd name="T11" fmla="*/ 1104 w 1104"/>
                    <a:gd name="T12" fmla="*/ 768 h 76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104" h="768">
                      <a:moveTo>
                        <a:pt x="0" y="0"/>
                      </a:moveTo>
                      <a:lnTo>
                        <a:pt x="0" y="768"/>
                      </a:lnTo>
                      <a:lnTo>
                        <a:pt x="1104" y="768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pt-BR" dirty="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10272" name="Freeform 46"/>
                <p:cNvSpPr>
                  <a:spLocks/>
                </p:cNvSpPr>
                <p:nvPr/>
              </p:nvSpPr>
              <p:spPr bwMode="auto">
                <a:xfrm>
                  <a:off x="4648" y="2963"/>
                  <a:ext cx="577" cy="359"/>
                </a:xfrm>
                <a:custGeom>
                  <a:avLst/>
                  <a:gdLst>
                    <a:gd name="T0" fmla="*/ 0 w 1034"/>
                    <a:gd name="T1" fmla="*/ 1 h 645"/>
                    <a:gd name="T2" fmla="*/ 1 w 1034"/>
                    <a:gd name="T3" fmla="*/ 1 h 645"/>
                    <a:gd name="T4" fmla="*/ 1 w 1034"/>
                    <a:gd name="T5" fmla="*/ 1 h 645"/>
                    <a:gd name="T6" fmla="*/ 1 w 1034"/>
                    <a:gd name="T7" fmla="*/ 1 h 64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034"/>
                    <a:gd name="T13" fmla="*/ 0 h 645"/>
                    <a:gd name="T14" fmla="*/ 1034 w 1034"/>
                    <a:gd name="T15" fmla="*/ 645 h 64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034" h="645">
                      <a:moveTo>
                        <a:pt x="0" y="617"/>
                      </a:moveTo>
                      <a:cubicBezTo>
                        <a:pt x="46" y="516"/>
                        <a:pt x="145" y="24"/>
                        <a:pt x="274" y="12"/>
                      </a:cubicBezTo>
                      <a:cubicBezTo>
                        <a:pt x="403" y="0"/>
                        <a:pt x="646" y="445"/>
                        <a:pt x="773" y="545"/>
                      </a:cubicBezTo>
                      <a:cubicBezTo>
                        <a:pt x="900" y="645"/>
                        <a:pt x="980" y="600"/>
                        <a:pt x="1034" y="614"/>
                      </a:cubicBez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pt-BR" dirty="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10273" name="Text Box 47"/>
                <p:cNvSpPr txBox="1">
                  <a:spLocks noChangeArrowheads="1"/>
                </p:cNvSpPr>
                <p:nvPr/>
              </p:nvSpPr>
              <p:spPr bwMode="auto">
                <a:xfrm>
                  <a:off x="4568" y="3277"/>
                  <a:ext cx="164" cy="17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200">
                      <a:latin typeface="Times New Roman" charset="0"/>
                    </a:rPr>
                    <a:t>0</a:t>
                  </a:r>
                </a:p>
              </p:txBody>
            </p:sp>
            <p:sp>
              <p:nvSpPr>
                <p:cNvPr id="10274" name="Text Box 48"/>
                <p:cNvSpPr txBox="1">
                  <a:spLocks noChangeArrowheads="1"/>
                </p:cNvSpPr>
                <p:nvPr/>
              </p:nvSpPr>
              <p:spPr bwMode="auto">
                <a:xfrm>
                  <a:off x="5107" y="3272"/>
                  <a:ext cx="259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400">
                      <a:latin typeface="Times New Roman" charset="0"/>
                    </a:rPr>
                    <a:t>+</a:t>
                  </a:r>
                  <a:r>
                    <a:rPr lang="pt-BR" altLang="pt-BR" sz="1400">
                      <a:latin typeface="Times New Roman" charset="0"/>
                      <a:sym typeface="Symbol" pitchFamily="18" charset="2"/>
                    </a:rPr>
                    <a:t></a:t>
                  </a:r>
                  <a:endParaRPr lang="pt-BR" altLang="pt-BR" sz="1400">
                    <a:latin typeface="Times New Roman" charset="0"/>
                  </a:endParaRPr>
                </a:p>
              </p:txBody>
            </p:sp>
          </p:grpSp>
          <p:graphicFrame>
            <p:nvGraphicFramePr>
              <p:cNvPr id="10270" name="Object 59"/>
              <p:cNvGraphicFramePr>
                <a:graphicFrameLocks noChangeAspect="1"/>
              </p:cNvGraphicFramePr>
              <p:nvPr/>
            </p:nvGraphicFramePr>
            <p:xfrm>
              <a:off x="4945" y="3314"/>
              <a:ext cx="89" cy="8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9" imgW="164957" imgH="152268" progId="">
                      <p:embed/>
                    </p:oleObj>
                  </mc:Choice>
                  <mc:Fallback>
                    <p:oleObj name="Equation" r:id="rId19" imgW="164957" imgH="152268" progId="">
                      <p:embed/>
                      <p:pic>
                        <p:nvPicPr>
                          <p:cNvPr id="10270" name="Object 5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45" y="3314"/>
                            <a:ext cx="89" cy="8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10267" name="Object 62"/>
            <p:cNvGraphicFramePr>
              <a:graphicFrameLocks noChangeAspect="1"/>
            </p:cNvGraphicFramePr>
            <p:nvPr/>
          </p:nvGraphicFramePr>
          <p:xfrm>
            <a:off x="4896" y="2853"/>
            <a:ext cx="309" cy="2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1" imgW="342751" imgH="241195" progId="">
                    <p:embed/>
                  </p:oleObj>
                </mc:Choice>
                <mc:Fallback>
                  <p:oleObj name="Equation" r:id="rId21" imgW="342751" imgH="241195" progId="">
                    <p:embed/>
                    <p:pic>
                      <p:nvPicPr>
                        <p:cNvPr id="10267" name="Object 6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96" y="2853"/>
                          <a:ext cx="309" cy="21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Group 69"/>
          <p:cNvGrpSpPr>
            <a:grpSpLocks/>
          </p:cNvGrpSpPr>
          <p:nvPr/>
        </p:nvGrpSpPr>
        <p:grpSpPr bwMode="auto">
          <a:xfrm>
            <a:off x="7239000" y="5715000"/>
            <a:ext cx="1266825" cy="1023938"/>
            <a:chOff x="4560" y="3600"/>
            <a:chExt cx="798" cy="645"/>
          </a:xfrm>
        </p:grpSpPr>
        <p:grpSp>
          <p:nvGrpSpPr>
            <p:cNvPr id="10257" name="Group 68"/>
            <p:cNvGrpSpPr>
              <a:grpSpLocks/>
            </p:cNvGrpSpPr>
            <p:nvPr/>
          </p:nvGrpSpPr>
          <p:grpSpPr bwMode="auto">
            <a:xfrm>
              <a:off x="4560" y="3600"/>
              <a:ext cx="798" cy="645"/>
              <a:chOff x="4560" y="3600"/>
              <a:chExt cx="798" cy="645"/>
            </a:xfrm>
          </p:grpSpPr>
          <p:sp>
            <p:nvSpPr>
              <p:cNvPr id="10259" name="Freeform 57" descr="Diagonal para cima clara"/>
              <p:cNvSpPr>
                <a:spLocks/>
              </p:cNvSpPr>
              <p:nvPr/>
            </p:nvSpPr>
            <p:spPr bwMode="auto">
              <a:xfrm>
                <a:off x="4642" y="3744"/>
                <a:ext cx="96" cy="281"/>
              </a:xfrm>
              <a:custGeom>
                <a:avLst/>
                <a:gdLst>
                  <a:gd name="T0" fmla="*/ 0 w 96"/>
                  <a:gd name="T1" fmla="*/ 281 h 281"/>
                  <a:gd name="T2" fmla="*/ 14 w 96"/>
                  <a:gd name="T3" fmla="*/ 252 h 281"/>
                  <a:gd name="T4" fmla="*/ 24 w 96"/>
                  <a:gd name="T5" fmla="*/ 214 h 281"/>
                  <a:gd name="T6" fmla="*/ 33 w 96"/>
                  <a:gd name="T7" fmla="*/ 175 h 281"/>
                  <a:gd name="T8" fmla="*/ 48 w 96"/>
                  <a:gd name="T9" fmla="*/ 125 h 281"/>
                  <a:gd name="T10" fmla="*/ 57 w 96"/>
                  <a:gd name="T11" fmla="*/ 89 h 281"/>
                  <a:gd name="T12" fmla="*/ 74 w 96"/>
                  <a:gd name="T13" fmla="*/ 46 h 281"/>
                  <a:gd name="T14" fmla="*/ 96 w 96"/>
                  <a:gd name="T15" fmla="*/ 0 h 281"/>
                  <a:gd name="T16" fmla="*/ 96 w 96"/>
                  <a:gd name="T17" fmla="*/ 281 h 281"/>
                  <a:gd name="T18" fmla="*/ 0 w 96"/>
                  <a:gd name="T19" fmla="*/ 281 h 28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96"/>
                  <a:gd name="T31" fmla="*/ 0 h 281"/>
                  <a:gd name="T32" fmla="*/ 96 w 96"/>
                  <a:gd name="T33" fmla="*/ 281 h 281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96" h="281">
                    <a:moveTo>
                      <a:pt x="0" y="281"/>
                    </a:moveTo>
                    <a:lnTo>
                      <a:pt x="14" y="252"/>
                    </a:lnTo>
                    <a:lnTo>
                      <a:pt x="24" y="214"/>
                    </a:lnTo>
                    <a:lnTo>
                      <a:pt x="33" y="175"/>
                    </a:lnTo>
                    <a:lnTo>
                      <a:pt x="48" y="125"/>
                    </a:lnTo>
                    <a:lnTo>
                      <a:pt x="57" y="89"/>
                    </a:lnTo>
                    <a:lnTo>
                      <a:pt x="74" y="46"/>
                    </a:lnTo>
                    <a:lnTo>
                      <a:pt x="96" y="0"/>
                    </a:lnTo>
                    <a:lnTo>
                      <a:pt x="96" y="281"/>
                    </a:lnTo>
                    <a:lnTo>
                      <a:pt x="0" y="281"/>
                    </a:lnTo>
                    <a:close/>
                  </a:path>
                </a:pathLst>
              </a:custGeom>
              <a:pattFill prst="ltUpDiag">
                <a:fgClr>
                  <a:schemeClr val="tx1"/>
                </a:fgClr>
                <a:bgClr>
                  <a:schemeClr val="bg1"/>
                </a:bgClr>
              </a:patt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grpSp>
            <p:nvGrpSpPr>
              <p:cNvPr id="10260" name="Group 50"/>
              <p:cNvGrpSpPr>
                <a:grpSpLocks/>
              </p:cNvGrpSpPr>
              <p:nvPr/>
            </p:nvGrpSpPr>
            <p:grpSpPr bwMode="auto">
              <a:xfrm>
                <a:off x="4560" y="3600"/>
                <a:ext cx="798" cy="584"/>
                <a:chOff x="4568" y="2880"/>
                <a:chExt cx="798" cy="584"/>
              </a:xfrm>
            </p:grpSpPr>
            <p:sp>
              <p:nvSpPr>
                <p:cNvPr id="10262" name="Freeform 51"/>
                <p:cNvSpPr>
                  <a:spLocks/>
                </p:cNvSpPr>
                <p:nvPr/>
              </p:nvSpPr>
              <p:spPr bwMode="auto">
                <a:xfrm>
                  <a:off x="4651" y="2880"/>
                  <a:ext cx="615" cy="428"/>
                </a:xfrm>
                <a:custGeom>
                  <a:avLst/>
                  <a:gdLst>
                    <a:gd name="T0" fmla="*/ 0 w 1104"/>
                    <a:gd name="T1" fmla="*/ 0 h 768"/>
                    <a:gd name="T2" fmla="*/ 0 w 1104"/>
                    <a:gd name="T3" fmla="*/ 1 h 768"/>
                    <a:gd name="T4" fmla="*/ 1 w 1104"/>
                    <a:gd name="T5" fmla="*/ 1 h 768"/>
                    <a:gd name="T6" fmla="*/ 0 60000 65536"/>
                    <a:gd name="T7" fmla="*/ 0 60000 65536"/>
                    <a:gd name="T8" fmla="*/ 0 60000 65536"/>
                    <a:gd name="T9" fmla="*/ 0 w 1104"/>
                    <a:gd name="T10" fmla="*/ 0 h 768"/>
                    <a:gd name="T11" fmla="*/ 1104 w 1104"/>
                    <a:gd name="T12" fmla="*/ 768 h 76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104" h="768">
                      <a:moveTo>
                        <a:pt x="0" y="0"/>
                      </a:moveTo>
                      <a:lnTo>
                        <a:pt x="0" y="768"/>
                      </a:lnTo>
                      <a:lnTo>
                        <a:pt x="1104" y="768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pt-BR" dirty="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10263" name="Freeform 52"/>
                <p:cNvSpPr>
                  <a:spLocks/>
                </p:cNvSpPr>
                <p:nvPr/>
              </p:nvSpPr>
              <p:spPr bwMode="auto">
                <a:xfrm>
                  <a:off x="4648" y="2963"/>
                  <a:ext cx="577" cy="359"/>
                </a:xfrm>
                <a:custGeom>
                  <a:avLst/>
                  <a:gdLst>
                    <a:gd name="T0" fmla="*/ 0 w 1034"/>
                    <a:gd name="T1" fmla="*/ 1 h 645"/>
                    <a:gd name="T2" fmla="*/ 1 w 1034"/>
                    <a:gd name="T3" fmla="*/ 1 h 645"/>
                    <a:gd name="T4" fmla="*/ 1 w 1034"/>
                    <a:gd name="T5" fmla="*/ 1 h 645"/>
                    <a:gd name="T6" fmla="*/ 1 w 1034"/>
                    <a:gd name="T7" fmla="*/ 1 h 64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034"/>
                    <a:gd name="T13" fmla="*/ 0 h 645"/>
                    <a:gd name="T14" fmla="*/ 1034 w 1034"/>
                    <a:gd name="T15" fmla="*/ 645 h 64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034" h="645">
                      <a:moveTo>
                        <a:pt x="0" y="617"/>
                      </a:moveTo>
                      <a:cubicBezTo>
                        <a:pt x="46" y="516"/>
                        <a:pt x="145" y="24"/>
                        <a:pt x="274" y="12"/>
                      </a:cubicBezTo>
                      <a:cubicBezTo>
                        <a:pt x="403" y="0"/>
                        <a:pt x="646" y="445"/>
                        <a:pt x="773" y="545"/>
                      </a:cubicBezTo>
                      <a:cubicBezTo>
                        <a:pt x="900" y="645"/>
                        <a:pt x="980" y="600"/>
                        <a:pt x="1034" y="614"/>
                      </a:cubicBez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pt-BR" dirty="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10264" name="Text Box 53"/>
                <p:cNvSpPr txBox="1">
                  <a:spLocks noChangeArrowheads="1"/>
                </p:cNvSpPr>
                <p:nvPr/>
              </p:nvSpPr>
              <p:spPr bwMode="auto">
                <a:xfrm>
                  <a:off x="4568" y="3277"/>
                  <a:ext cx="164" cy="17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200">
                      <a:latin typeface="Times New Roman" charset="0"/>
                    </a:rPr>
                    <a:t>0</a:t>
                  </a:r>
                </a:p>
              </p:txBody>
            </p:sp>
            <p:sp>
              <p:nvSpPr>
                <p:cNvPr id="10265" name="Text Box 54"/>
                <p:cNvSpPr txBox="1">
                  <a:spLocks noChangeArrowheads="1"/>
                </p:cNvSpPr>
                <p:nvPr/>
              </p:nvSpPr>
              <p:spPr bwMode="auto">
                <a:xfrm>
                  <a:off x="5107" y="3272"/>
                  <a:ext cx="259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400">
                      <a:latin typeface="Times New Roman" charset="0"/>
                    </a:rPr>
                    <a:t>+</a:t>
                  </a:r>
                  <a:r>
                    <a:rPr lang="pt-BR" altLang="pt-BR" sz="1400">
                      <a:latin typeface="Times New Roman" charset="0"/>
                      <a:sym typeface="Symbol" pitchFamily="18" charset="2"/>
                    </a:rPr>
                    <a:t></a:t>
                  </a:r>
                  <a:endParaRPr lang="pt-BR" altLang="pt-BR" sz="1400">
                    <a:latin typeface="Times New Roman" charset="0"/>
                  </a:endParaRPr>
                </a:p>
              </p:txBody>
            </p:sp>
          </p:grpSp>
          <p:graphicFrame>
            <p:nvGraphicFramePr>
              <p:cNvPr id="10261" name="Object 58"/>
              <p:cNvGraphicFramePr>
                <a:graphicFrameLocks noChangeAspect="1"/>
              </p:cNvGraphicFramePr>
              <p:nvPr/>
            </p:nvGraphicFramePr>
            <p:xfrm>
              <a:off x="4685" y="4032"/>
              <a:ext cx="104" cy="2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3" imgW="190417" imgH="393529" progId="">
                      <p:embed/>
                    </p:oleObj>
                  </mc:Choice>
                  <mc:Fallback>
                    <p:oleObj name="Equation" r:id="rId23" imgW="190417" imgH="393529" progId="">
                      <p:embed/>
                      <p:pic>
                        <p:nvPicPr>
                          <p:cNvPr id="10261" name="Object 5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685" y="4032"/>
                            <a:ext cx="104" cy="21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10258" name="Object 63"/>
            <p:cNvGraphicFramePr>
              <a:graphicFrameLocks noChangeAspect="1"/>
            </p:cNvGraphicFramePr>
            <p:nvPr/>
          </p:nvGraphicFramePr>
          <p:xfrm>
            <a:off x="4896" y="3600"/>
            <a:ext cx="309" cy="2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5" imgW="342751" imgH="241195" progId="">
                    <p:embed/>
                  </p:oleObj>
                </mc:Choice>
                <mc:Fallback>
                  <p:oleObj name="Equation" r:id="rId25" imgW="342751" imgH="241195" progId="">
                    <p:embed/>
                    <p:pic>
                      <p:nvPicPr>
                        <p:cNvPr id="10258" name="Object 6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96" y="3600"/>
                          <a:ext cx="309" cy="21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20ED5E9-AED2-4CCF-92F2-8D0582A0B681}" type="slidenum">
              <a:rPr lang="pt-BR"/>
              <a:pPr>
                <a:defRPr/>
              </a:pPr>
              <a:t>70</a:t>
            </a:fld>
            <a:endParaRPr lang="pt-BR"/>
          </a:p>
        </p:txBody>
      </p:sp>
      <p:sp>
        <p:nvSpPr>
          <p:cNvPr id="53" name="Retângulo 2"/>
          <p:cNvSpPr>
            <a:spLocks noChangeArrowheads="1"/>
          </p:cNvSpPr>
          <p:nvPr/>
        </p:nvSpPr>
        <p:spPr bwMode="auto">
          <a:xfrm>
            <a:off x="695325" y="1547813"/>
            <a:ext cx="7764463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55600" indent="-35560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Uma variável aleatória </a:t>
            </a:r>
            <a:r>
              <a:rPr lang="pt-BR" altLang="pt-BR" sz="1600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pt-BR" altLang="pt-BR" sz="1600" dirty="0">
                <a:latin typeface="Tahoma" panose="020B0604030504040204" pitchFamily="34" charset="0"/>
              </a:rPr>
              <a:t> tem distribuição </a:t>
            </a:r>
            <a:r>
              <a:rPr lang="pt-BR" altLang="pt-BR" sz="16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F </a:t>
            </a:r>
            <a:r>
              <a:rPr lang="pt-BR" altLang="pt-BR" sz="1600" dirty="0">
                <a:latin typeface="Tahoma" panose="020B0604030504040204" pitchFamily="34" charset="0"/>
              </a:rPr>
              <a:t>se sua função densidade de probabilidade for dada por:</a:t>
            </a:r>
          </a:p>
        </p:txBody>
      </p:sp>
      <p:grpSp>
        <p:nvGrpSpPr>
          <p:cNvPr id="10" name="Grupo 9"/>
          <p:cNvGrpSpPr/>
          <p:nvPr/>
        </p:nvGrpSpPr>
        <p:grpSpPr>
          <a:xfrm>
            <a:off x="736600" y="2388294"/>
            <a:ext cx="5923632" cy="1085819"/>
            <a:chOff x="736600" y="2388294"/>
            <a:chExt cx="5923632" cy="1085819"/>
          </a:xfrm>
        </p:grpSpPr>
        <p:graphicFrame>
          <p:nvGraphicFramePr>
            <p:cNvPr id="150531" name="Object 3"/>
            <p:cNvGraphicFramePr>
              <a:graphicFrameLocks noChangeAspect="1"/>
            </p:cNvGraphicFramePr>
            <p:nvPr/>
          </p:nvGraphicFramePr>
          <p:xfrm>
            <a:off x="736600" y="2388294"/>
            <a:ext cx="5792788" cy="733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7" imgW="4038600" imgH="508000" progId="">
                    <p:embed/>
                  </p:oleObj>
                </mc:Choice>
                <mc:Fallback>
                  <p:oleObj name="Equation" r:id="rId27" imgW="4038600" imgH="508000" progId="">
                    <p:embed/>
                    <p:pic>
                      <p:nvPicPr>
                        <p:cNvPr id="150531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36600" y="2388294"/>
                          <a:ext cx="5792788" cy="7334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Objeto 7"/>
            <p:cNvGraphicFramePr>
              <a:graphicFrameLocks noChangeAspect="1"/>
            </p:cNvGraphicFramePr>
            <p:nvPr/>
          </p:nvGraphicFramePr>
          <p:xfrm>
            <a:off x="5501308" y="2901950"/>
            <a:ext cx="1142308" cy="288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9" imgW="914400" imgH="228600" progId="">
                    <p:embed/>
                  </p:oleObj>
                </mc:Choice>
                <mc:Fallback>
                  <p:oleObj name="Equation" r:id="rId29" imgW="914400" imgH="228600" progId="">
                    <p:embed/>
                    <p:pic>
                      <p:nvPicPr>
                        <p:cNvPr id="8" name="Objeto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01308" y="2901950"/>
                          <a:ext cx="1142308" cy="288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2" name="Objeto 51"/>
            <p:cNvGraphicFramePr>
              <a:graphicFrameLocks noChangeAspect="1"/>
            </p:cNvGraphicFramePr>
            <p:nvPr/>
          </p:nvGraphicFramePr>
          <p:xfrm>
            <a:off x="5501308" y="3186113"/>
            <a:ext cx="1158924" cy="288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1" imgW="927000" imgH="228600" progId="">
                    <p:embed/>
                  </p:oleObj>
                </mc:Choice>
                <mc:Fallback>
                  <p:oleObj name="Equation" r:id="rId31" imgW="927000" imgH="228600" progId="">
                    <p:embed/>
                    <p:pic>
                      <p:nvPicPr>
                        <p:cNvPr id="52" name="Objeto 5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01308" y="3186113"/>
                          <a:ext cx="1158924" cy="288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40189432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0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0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0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0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0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0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0537" grpId="0" autoUpdateAnimBg="0"/>
      <p:bldP spid="150538" grpId="0" autoUpdateAnimBg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31" descr="tab2b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4" t="17700"/>
          <a:stretch>
            <a:fillRect/>
          </a:stretch>
        </p:blipFill>
        <p:spPr bwMode="auto">
          <a:xfrm>
            <a:off x="2590800" y="1981200"/>
            <a:ext cx="6400800" cy="4367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2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Distribuição </a:t>
            </a:r>
            <a:r>
              <a:rPr lang="pt-BR" sz="4000" i="1">
                <a:latin typeface="Times New Roman" pitchFamily="18" charset="0"/>
                <a:sym typeface="Symbol" pitchFamily="18" charset="2"/>
              </a:rPr>
              <a:t>F</a:t>
            </a:r>
            <a:endParaRPr lang="pt-BR" i="1">
              <a:latin typeface="Times New Roman" pitchFamily="18" charset="0"/>
              <a:sym typeface="Symbol" pitchFamily="18" charset="2"/>
            </a:endParaRPr>
          </a:p>
        </p:txBody>
      </p:sp>
      <p:grpSp>
        <p:nvGrpSpPr>
          <p:cNvPr id="11268" name="Group 43"/>
          <p:cNvGrpSpPr>
            <a:grpSpLocks/>
          </p:cNvGrpSpPr>
          <p:nvPr/>
        </p:nvGrpSpPr>
        <p:grpSpPr bwMode="auto">
          <a:xfrm>
            <a:off x="609600" y="1600200"/>
            <a:ext cx="1704975" cy="1311275"/>
            <a:chOff x="266" y="1142"/>
            <a:chExt cx="1074" cy="826"/>
          </a:xfrm>
        </p:grpSpPr>
        <p:sp>
          <p:nvSpPr>
            <p:cNvPr id="11293" name="Freeform 34" descr="Diagonal para cima clara"/>
            <p:cNvSpPr>
              <a:spLocks/>
            </p:cNvSpPr>
            <p:nvPr/>
          </p:nvSpPr>
          <p:spPr bwMode="auto">
            <a:xfrm>
              <a:off x="840" y="1541"/>
              <a:ext cx="276" cy="208"/>
            </a:xfrm>
            <a:custGeom>
              <a:avLst/>
              <a:gdLst>
                <a:gd name="T0" fmla="*/ 0 w 194"/>
                <a:gd name="T1" fmla="*/ 121482 h 146"/>
                <a:gd name="T2" fmla="*/ 0 w 194"/>
                <a:gd name="T3" fmla="*/ 0 h 146"/>
                <a:gd name="T4" fmla="*/ 21127 w 194"/>
                <a:gd name="T5" fmla="*/ 25786 h 146"/>
                <a:gd name="T6" fmla="*/ 40569 w 194"/>
                <a:gd name="T7" fmla="*/ 51395 h 146"/>
                <a:gd name="T8" fmla="*/ 59885 w 194"/>
                <a:gd name="T9" fmla="*/ 74397 h 146"/>
                <a:gd name="T10" fmla="*/ 79343 w 194"/>
                <a:gd name="T11" fmla="*/ 95820 h 146"/>
                <a:gd name="T12" fmla="*/ 99353 w 194"/>
                <a:gd name="T13" fmla="*/ 105990 h 146"/>
                <a:gd name="T14" fmla="*/ 122572 w 194"/>
                <a:gd name="T15" fmla="*/ 114042 h 146"/>
                <a:gd name="T16" fmla="*/ 136304 w 194"/>
                <a:gd name="T17" fmla="*/ 117252 h 146"/>
                <a:gd name="T18" fmla="*/ 157427 w 194"/>
                <a:gd name="T19" fmla="*/ 117252 h 146"/>
                <a:gd name="T20" fmla="*/ 0 w 194"/>
                <a:gd name="T21" fmla="*/ 121482 h 14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94"/>
                <a:gd name="T34" fmla="*/ 0 h 146"/>
                <a:gd name="T35" fmla="*/ 194 w 194"/>
                <a:gd name="T36" fmla="*/ 146 h 14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94" h="146">
                  <a:moveTo>
                    <a:pt x="0" y="146"/>
                  </a:moveTo>
                  <a:lnTo>
                    <a:pt x="0" y="0"/>
                  </a:lnTo>
                  <a:lnTo>
                    <a:pt x="26" y="31"/>
                  </a:lnTo>
                  <a:lnTo>
                    <a:pt x="50" y="62"/>
                  </a:lnTo>
                  <a:lnTo>
                    <a:pt x="74" y="89"/>
                  </a:lnTo>
                  <a:lnTo>
                    <a:pt x="98" y="115"/>
                  </a:lnTo>
                  <a:lnTo>
                    <a:pt x="122" y="127"/>
                  </a:lnTo>
                  <a:lnTo>
                    <a:pt x="151" y="137"/>
                  </a:lnTo>
                  <a:lnTo>
                    <a:pt x="168" y="141"/>
                  </a:lnTo>
                  <a:lnTo>
                    <a:pt x="194" y="141"/>
                  </a:lnTo>
                  <a:lnTo>
                    <a:pt x="0" y="146"/>
                  </a:lnTo>
                  <a:close/>
                </a:path>
              </a:pathLst>
            </a:custGeom>
            <a:pattFill prst="ltUp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11294" name="Freeform 36"/>
            <p:cNvSpPr>
              <a:spLocks/>
            </p:cNvSpPr>
            <p:nvPr/>
          </p:nvSpPr>
          <p:spPr bwMode="auto">
            <a:xfrm>
              <a:off x="358" y="1142"/>
              <a:ext cx="874" cy="608"/>
            </a:xfrm>
            <a:custGeom>
              <a:avLst/>
              <a:gdLst>
                <a:gd name="T0" fmla="*/ 0 w 1104"/>
                <a:gd name="T1" fmla="*/ 0 h 768"/>
                <a:gd name="T2" fmla="*/ 0 w 1104"/>
                <a:gd name="T3" fmla="*/ 9 h 768"/>
                <a:gd name="T4" fmla="*/ 13 w 1104"/>
                <a:gd name="T5" fmla="*/ 9 h 768"/>
                <a:gd name="T6" fmla="*/ 0 60000 65536"/>
                <a:gd name="T7" fmla="*/ 0 60000 65536"/>
                <a:gd name="T8" fmla="*/ 0 60000 65536"/>
                <a:gd name="T9" fmla="*/ 0 w 1104"/>
                <a:gd name="T10" fmla="*/ 0 h 768"/>
                <a:gd name="T11" fmla="*/ 1104 w 1104"/>
                <a:gd name="T12" fmla="*/ 768 h 76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04" h="768">
                  <a:moveTo>
                    <a:pt x="0" y="0"/>
                  </a:moveTo>
                  <a:lnTo>
                    <a:pt x="0" y="768"/>
                  </a:lnTo>
                  <a:lnTo>
                    <a:pt x="1104" y="768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11295" name="Freeform 37"/>
            <p:cNvSpPr>
              <a:spLocks/>
            </p:cNvSpPr>
            <p:nvPr/>
          </p:nvSpPr>
          <p:spPr bwMode="auto">
            <a:xfrm>
              <a:off x="354" y="1260"/>
              <a:ext cx="820" cy="510"/>
            </a:xfrm>
            <a:custGeom>
              <a:avLst/>
              <a:gdLst>
                <a:gd name="T0" fmla="*/ 0 w 1034"/>
                <a:gd name="T1" fmla="*/ 7 h 645"/>
                <a:gd name="T2" fmla="*/ 3 w 1034"/>
                <a:gd name="T3" fmla="*/ 2 h 645"/>
                <a:gd name="T4" fmla="*/ 10 w 1034"/>
                <a:gd name="T5" fmla="*/ 6 h 645"/>
                <a:gd name="T6" fmla="*/ 13 w 1034"/>
                <a:gd name="T7" fmla="*/ 7 h 64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34"/>
                <a:gd name="T13" fmla="*/ 0 h 645"/>
                <a:gd name="T14" fmla="*/ 1034 w 1034"/>
                <a:gd name="T15" fmla="*/ 645 h 64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34" h="645">
                  <a:moveTo>
                    <a:pt x="0" y="617"/>
                  </a:moveTo>
                  <a:cubicBezTo>
                    <a:pt x="46" y="516"/>
                    <a:pt x="145" y="24"/>
                    <a:pt x="274" y="12"/>
                  </a:cubicBezTo>
                  <a:cubicBezTo>
                    <a:pt x="403" y="0"/>
                    <a:pt x="646" y="445"/>
                    <a:pt x="773" y="545"/>
                  </a:cubicBezTo>
                  <a:cubicBezTo>
                    <a:pt x="900" y="645"/>
                    <a:pt x="980" y="600"/>
                    <a:pt x="1034" y="614"/>
                  </a:cubicBezTo>
                </a:path>
              </a:pathLst>
            </a:custGeom>
            <a:noFill/>
            <a:ln w="1905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11296" name="Text Box 38"/>
            <p:cNvSpPr txBox="1">
              <a:spLocks noChangeArrowheads="1"/>
            </p:cNvSpPr>
            <p:nvPr/>
          </p:nvSpPr>
          <p:spPr bwMode="auto">
            <a:xfrm>
              <a:off x="266" y="1725"/>
              <a:ext cx="18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Times New Roman" charset="0"/>
                </a:rPr>
                <a:t>0</a:t>
              </a:r>
            </a:p>
          </p:txBody>
        </p:sp>
        <p:sp>
          <p:nvSpPr>
            <p:cNvPr id="11297" name="Text Box 39"/>
            <p:cNvSpPr txBox="1">
              <a:spLocks noChangeArrowheads="1"/>
            </p:cNvSpPr>
            <p:nvPr/>
          </p:nvSpPr>
          <p:spPr bwMode="auto">
            <a:xfrm>
              <a:off x="1040" y="1718"/>
              <a:ext cx="300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800">
                  <a:latin typeface="Times New Roman" charset="0"/>
                </a:rPr>
                <a:t>+</a:t>
              </a:r>
              <a:r>
                <a:rPr lang="pt-BR" altLang="pt-BR" sz="1800">
                  <a:latin typeface="Times New Roman" charset="0"/>
                  <a:sym typeface="Symbol" pitchFamily="18" charset="2"/>
                </a:rPr>
                <a:t></a:t>
              </a:r>
              <a:endParaRPr lang="pt-BR" altLang="pt-BR" sz="1800">
                <a:latin typeface="Times New Roman" charset="0"/>
              </a:endParaRPr>
            </a:p>
          </p:txBody>
        </p:sp>
        <p:sp>
          <p:nvSpPr>
            <p:cNvPr id="11298" name="Text Box 42"/>
            <p:cNvSpPr txBox="1">
              <a:spLocks noChangeArrowheads="1"/>
            </p:cNvSpPr>
            <p:nvPr/>
          </p:nvSpPr>
          <p:spPr bwMode="auto">
            <a:xfrm>
              <a:off x="720" y="1756"/>
              <a:ext cx="19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i="1">
                  <a:latin typeface="Times New Roman" charset="0"/>
                </a:rPr>
                <a:t>F</a:t>
              </a:r>
              <a:endParaRPr lang="pt-BR" altLang="pt-BR" sz="1600" i="1" baseline="-25000">
                <a:latin typeface="Times New Roman" charset="0"/>
              </a:endParaRPr>
            </a:p>
          </p:txBody>
        </p:sp>
      </p:grpSp>
      <p:grpSp>
        <p:nvGrpSpPr>
          <p:cNvPr id="3" name="Group 63"/>
          <p:cNvGrpSpPr>
            <a:grpSpLocks/>
          </p:cNvGrpSpPr>
          <p:nvPr/>
        </p:nvGrpSpPr>
        <p:grpSpPr bwMode="auto">
          <a:xfrm>
            <a:off x="457200" y="2520950"/>
            <a:ext cx="1903413" cy="1027113"/>
            <a:chOff x="288" y="1588"/>
            <a:chExt cx="1199" cy="647"/>
          </a:xfrm>
        </p:grpSpPr>
        <p:graphicFrame>
          <p:nvGraphicFramePr>
            <p:cNvPr id="11291" name="Object 45"/>
            <p:cNvGraphicFramePr>
              <a:graphicFrameLocks noChangeAspect="1"/>
            </p:cNvGraphicFramePr>
            <p:nvPr/>
          </p:nvGraphicFramePr>
          <p:xfrm>
            <a:off x="288" y="2016"/>
            <a:ext cx="1199" cy="2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1333500" imgH="241300" progId="">
                    <p:embed/>
                  </p:oleObj>
                </mc:Choice>
                <mc:Fallback>
                  <p:oleObj name="Equation" r:id="rId3" imgW="1333500" imgH="241300" progId="">
                    <p:embed/>
                    <p:pic>
                      <p:nvPicPr>
                        <p:cNvPr id="11291" name="Object 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" y="2016"/>
                          <a:ext cx="1199" cy="21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292" name="Line 46"/>
            <p:cNvSpPr>
              <a:spLocks noChangeShapeType="1"/>
            </p:cNvSpPr>
            <p:nvPr/>
          </p:nvSpPr>
          <p:spPr bwMode="auto">
            <a:xfrm>
              <a:off x="1060" y="1588"/>
              <a:ext cx="188" cy="428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4" name="Group 64"/>
          <p:cNvGrpSpPr>
            <a:grpSpLocks/>
          </p:cNvGrpSpPr>
          <p:nvPr/>
        </p:nvGrpSpPr>
        <p:grpSpPr bwMode="auto">
          <a:xfrm>
            <a:off x="1335088" y="2127250"/>
            <a:ext cx="7634287" cy="4125913"/>
            <a:chOff x="841" y="1340"/>
            <a:chExt cx="4809" cy="2599"/>
          </a:xfrm>
        </p:grpSpPr>
        <p:grpSp>
          <p:nvGrpSpPr>
            <p:cNvPr id="11287" name="Group 61"/>
            <p:cNvGrpSpPr>
              <a:grpSpLocks/>
            </p:cNvGrpSpPr>
            <p:nvPr/>
          </p:nvGrpSpPr>
          <p:grpSpPr bwMode="auto">
            <a:xfrm>
              <a:off x="841" y="2009"/>
              <a:ext cx="906" cy="413"/>
              <a:chOff x="841" y="2009"/>
              <a:chExt cx="906" cy="413"/>
            </a:xfrm>
          </p:grpSpPr>
          <p:sp>
            <p:nvSpPr>
              <p:cNvPr id="11289" name="Oval 50"/>
              <p:cNvSpPr>
                <a:spLocks noChangeArrowheads="1"/>
              </p:cNvSpPr>
              <p:nvPr/>
            </p:nvSpPr>
            <p:spPr bwMode="auto">
              <a:xfrm>
                <a:off x="841" y="2009"/>
                <a:ext cx="144" cy="215"/>
              </a:xfrm>
              <a:prstGeom prst="ellipse">
                <a:avLst/>
              </a:prstGeom>
              <a:noFill/>
              <a:ln w="19050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1290" name="Line 51"/>
              <p:cNvSpPr>
                <a:spLocks noChangeShapeType="1"/>
              </p:cNvSpPr>
              <p:nvPr/>
            </p:nvSpPr>
            <p:spPr bwMode="auto">
              <a:xfrm>
                <a:off x="985" y="2120"/>
                <a:ext cx="762" cy="302"/>
              </a:xfrm>
              <a:prstGeom prst="line">
                <a:avLst/>
              </a:prstGeom>
              <a:noFill/>
              <a:ln w="19050">
                <a:solidFill>
                  <a:srgbClr val="FF33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11288" name="Rectangle 48"/>
            <p:cNvSpPr>
              <a:spLocks noChangeArrowheads="1"/>
            </p:cNvSpPr>
            <p:nvPr/>
          </p:nvSpPr>
          <p:spPr bwMode="auto">
            <a:xfrm>
              <a:off x="1742" y="1340"/>
              <a:ext cx="3908" cy="2599"/>
            </a:xfrm>
            <a:prstGeom prst="rect">
              <a:avLst/>
            </a:prstGeom>
            <a:noFill/>
            <a:ln w="19050">
              <a:solidFill>
                <a:srgbClr val="FF33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6" name="Group 59"/>
          <p:cNvGrpSpPr>
            <a:grpSpLocks/>
          </p:cNvGrpSpPr>
          <p:nvPr/>
        </p:nvGrpSpPr>
        <p:grpSpPr bwMode="auto">
          <a:xfrm>
            <a:off x="811213" y="1939925"/>
            <a:ext cx="8164512" cy="1641475"/>
            <a:chOff x="511" y="1222"/>
            <a:chExt cx="5143" cy="1034"/>
          </a:xfrm>
        </p:grpSpPr>
        <p:sp>
          <p:nvSpPr>
            <p:cNvPr id="11284" name="Oval 53"/>
            <p:cNvSpPr>
              <a:spLocks noChangeArrowheads="1"/>
            </p:cNvSpPr>
            <p:nvPr/>
          </p:nvSpPr>
          <p:spPr bwMode="auto">
            <a:xfrm>
              <a:off x="511" y="2112"/>
              <a:ext cx="96" cy="144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1285" name="Line 54"/>
            <p:cNvSpPr>
              <a:spLocks noChangeShapeType="1"/>
            </p:cNvSpPr>
            <p:nvPr/>
          </p:nvSpPr>
          <p:spPr bwMode="auto">
            <a:xfrm flipV="1">
              <a:off x="608" y="1270"/>
              <a:ext cx="1152" cy="921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11286" name="Rectangle 56"/>
            <p:cNvSpPr>
              <a:spLocks noChangeArrowheads="1"/>
            </p:cNvSpPr>
            <p:nvPr/>
          </p:nvSpPr>
          <p:spPr bwMode="auto">
            <a:xfrm>
              <a:off x="1752" y="1222"/>
              <a:ext cx="3902" cy="117"/>
            </a:xfrm>
            <a:prstGeom prst="rect">
              <a:avLst/>
            </a:prstGeom>
            <a:noFill/>
            <a:ln w="19050">
              <a:solidFill>
                <a:srgbClr val="FF33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7" name="Group 60"/>
          <p:cNvGrpSpPr>
            <a:grpSpLocks/>
          </p:cNvGrpSpPr>
          <p:nvPr/>
        </p:nvGrpSpPr>
        <p:grpSpPr bwMode="auto">
          <a:xfrm>
            <a:off x="982663" y="2133600"/>
            <a:ext cx="1795462" cy="4087813"/>
            <a:chOff x="619" y="1344"/>
            <a:chExt cx="1131" cy="2575"/>
          </a:xfrm>
        </p:grpSpPr>
        <p:sp>
          <p:nvSpPr>
            <p:cNvPr id="11281" name="Rectangle 55"/>
            <p:cNvSpPr>
              <a:spLocks noChangeArrowheads="1"/>
            </p:cNvSpPr>
            <p:nvPr/>
          </p:nvSpPr>
          <p:spPr bwMode="auto">
            <a:xfrm>
              <a:off x="1632" y="1344"/>
              <a:ext cx="118" cy="2575"/>
            </a:xfrm>
            <a:prstGeom prst="rect">
              <a:avLst/>
            </a:prstGeom>
            <a:noFill/>
            <a:ln w="19050">
              <a:solidFill>
                <a:srgbClr val="FF33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1282" name="Oval 57"/>
            <p:cNvSpPr>
              <a:spLocks noChangeArrowheads="1"/>
            </p:cNvSpPr>
            <p:nvPr/>
          </p:nvSpPr>
          <p:spPr bwMode="auto">
            <a:xfrm>
              <a:off x="619" y="2115"/>
              <a:ext cx="96" cy="144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1283" name="Line 58"/>
            <p:cNvSpPr>
              <a:spLocks noChangeShapeType="1"/>
            </p:cNvSpPr>
            <p:nvPr/>
          </p:nvSpPr>
          <p:spPr bwMode="auto">
            <a:xfrm>
              <a:off x="716" y="2194"/>
              <a:ext cx="906" cy="329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</p:grpSp>
      <p:sp>
        <p:nvSpPr>
          <p:cNvPr id="11273" name="Text Box 65"/>
          <p:cNvSpPr txBox="1">
            <a:spLocks noChangeArrowheads="1"/>
          </p:cNvSpPr>
          <p:nvPr/>
        </p:nvSpPr>
        <p:spPr bwMode="auto">
          <a:xfrm>
            <a:off x="5851525" y="1568450"/>
            <a:ext cx="355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charset="0"/>
              </a:rPr>
              <a:t>g</a:t>
            </a:r>
            <a:r>
              <a:rPr lang="pt-BR" altLang="pt-BR" sz="1600" baseline="-25000">
                <a:latin typeface="Times New Roman" charset="0"/>
              </a:rPr>
              <a:t>1</a:t>
            </a:r>
          </a:p>
        </p:txBody>
      </p:sp>
      <p:sp>
        <p:nvSpPr>
          <p:cNvPr id="11274" name="Text Box 66"/>
          <p:cNvSpPr txBox="1">
            <a:spLocks noChangeArrowheads="1"/>
          </p:cNvSpPr>
          <p:nvPr/>
        </p:nvSpPr>
        <p:spPr bwMode="auto">
          <a:xfrm>
            <a:off x="2241550" y="3990975"/>
            <a:ext cx="355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charset="0"/>
              </a:rPr>
              <a:t>g</a:t>
            </a:r>
            <a:r>
              <a:rPr lang="pt-BR" altLang="pt-BR" sz="1600" baseline="-25000">
                <a:latin typeface="Times New Roman" charset="0"/>
              </a:rPr>
              <a:t>2</a:t>
            </a:r>
          </a:p>
        </p:txBody>
      </p:sp>
      <p:graphicFrame>
        <p:nvGraphicFramePr>
          <p:cNvPr id="152643" name="Object 67"/>
          <p:cNvGraphicFramePr>
            <a:graphicFrameLocks noChangeAspect="1"/>
          </p:cNvGraphicFramePr>
          <p:nvPr/>
        </p:nvGraphicFramePr>
        <p:xfrm>
          <a:off x="303213" y="4452938"/>
          <a:ext cx="1814512" cy="347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269449" imgH="241195" progId="">
                  <p:embed/>
                </p:oleObj>
              </mc:Choice>
              <mc:Fallback>
                <p:oleObj name="Equation" r:id="rId5" imgW="1269449" imgH="241195" progId="">
                  <p:embed/>
                  <p:pic>
                    <p:nvPicPr>
                      <p:cNvPr id="152643" name="Object 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213" y="4452938"/>
                        <a:ext cx="1814512" cy="3476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2644" name="AutoShape 68"/>
          <p:cNvSpPr>
            <a:spLocks noChangeArrowheads="1"/>
          </p:cNvSpPr>
          <p:nvPr/>
        </p:nvSpPr>
        <p:spPr bwMode="auto">
          <a:xfrm>
            <a:off x="1990725" y="4762500"/>
            <a:ext cx="609600" cy="228600"/>
          </a:xfrm>
          <a:prstGeom prst="rightArrow">
            <a:avLst>
              <a:gd name="adj1" fmla="val 50000"/>
              <a:gd name="adj2" fmla="val 66667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152645" name="Rectangle 69"/>
          <p:cNvSpPr>
            <a:spLocks noChangeArrowheads="1"/>
          </p:cNvSpPr>
          <p:nvPr/>
        </p:nvSpPr>
        <p:spPr bwMode="auto">
          <a:xfrm>
            <a:off x="6753225" y="4819650"/>
            <a:ext cx="347663" cy="153988"/>
          </a:xfrm>
          <a:prstGeom prst="rect">
            <a:avLst/>
          </a:prstGeom>
          <a:noFill/>
          <a:ln w="19050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152646" name="AutoShape 70"/>
          <p:cNvSpPr>
            <a:spLocks noChangeArrowheads="1"/>
          </p:cNvSpPr>
          <p:nvPr/>
        </p:nvSpPr>
        <p:spPr bwMode="auto">
          <a:xfrm rot="5400000" flipV="1">
            <a:off x="6597650" y="1519238"/>
            <a:ext cx="609600" cy="228600"/>
          </a:xfrm>
          <a:prstGeom prst="rightArrow">
            <a:avLst>
              <a:gd name="adj1" fmla="val 50000"/>
              <a:gd name="adj2" fmla="val 66667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graphicFrame>
        <p:nvGraphicFramePr>
          <p:cNvPr id="152648" name="Object 72"/>
          <p:cNvGraphicFramePr>
            <a:graphicFrameLocks noChangeAspect="1"/>
          </p:cNvGraphicFramePr>
          <p:nvPr/>
        </p:nvGraphicFramePr>
        <p:xfrm>
          <a:off x="303213" y="5029200"/>
          <a:ext cx="2122487" cy="34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485900" imgH="241300" progId="">
                  <p:embed/>
                </p:oleObj>
              </mc:Choice>
              <mc:Fallback>
                <p:oleObj name="Equation" r:id="rId7" imgW="1485900" imgH="241300" progId="">
                  <p:embed/>
                  <p:pic>
                    <p:nvPicPr>
                      <p:cNvPr id="152648" name="Object 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213" y="5029200"/>
                        <a:ext cx="2122487" cy="3476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2DBBE1D-73DB-4015-92C1-02ED367A6DB3}" type="slidenum">
              <a:rPr lang="pt-BR"/>
              <a:pPr>
                <a:defRPr/>
              </a:pPr>
              <a:t>71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6267250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2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2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2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2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2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2644" grpId="0" animBg="1"/>
      <p:bldP spid="152645" grpId="0" animBg="1"/>
      <p:bldP spid="152646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tab2b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4" t="17700"/>
          <a:stretch>
            <a:fillRect/>
          </a:stretch>
        </p:blipFill>
        <p:spPr bwMode="auto">
          <a:xfrm>
            <a:off x="2590800" y="1981200"/>
            <a:ext cx="6400800" cy="4367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974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Distribuição </a:t>
            </a:r>
            <a:r>
              <a:rPr lang="pt-BR" sz="4000" i="1">
                <a:latin typeface="Times New Roman" pitchFamily="18" charset="0"/>
                <a:sym typeface="Symbol" pitchFamily="18" charset="2"/>
              </a:rPr>
              <a:t>F</a:t>
            </a:r>
            <a:endParaRPr lang="pt-BR" i="1">
              <a:latin typeface="Times New Roman" pitchFamily="18" charset="0"/>
              <a:sym typeface="Symbol" pitchFamily="18" charset="2"/>
            </a:endParaRPr>
          </a:p>
        </p:txBody>
      </p:sp>
      <p:grpSp>
        <p:nvGrpSpPr>
          <p:cNvPr id="12292" name="Group 4"/>
          <p:cNvGrpSpPr>
            <a:grpSpLocks/>
          </p:cNvGrpSpPr>
          <p:nvPr/>
        </p:nvGrpSpPr>
        <p:grpSpPr bwMode="auto">
          <a:xfrm>
            <a:off x="609600" y="1600200"/>
            <a:ext cx="1704975" cy="1311275"/>
            <a:chOff x="266" y="1142"/>
            <a:chExt cx="1074" cy="826"/>
          </a:xfrm>
        </p:grpSpPr>
        <p:sp>
          <p:nvSpPr>
            <p:cNvPr id="12304" name="Freeform 5" descr="Diagonal para cima clara"/>
            <p:cNvSpPr>
              <a:spLocks/>
            </p:cNvSpPr>
            <p:nvPr/>
          </p:nvSpPr>
          <p:spPr bwMode="auto">
            <a:xfrm>
              <a:off x="840" y="1541"/>
              <a:ext cx="276" cy="208"/>
            </a:xfrm>
            <a:custGeom>
              <a:avLst/>
              <a:gdLst>
                <a:gd name="T0" fmla="*/ 0 w 194"/>
                <a:gd name="T1" fmla="*/ 121482 h 146"/>
                <a:gd name="T2" fmla="*/ 0 w 194"/>
                <a:gd name="T3" fmla="*/ 0 h 146"/>
                <a:gd name="T4" fmla="*/ 21127 w 194"/>
                <a:gd name="T5" fmla="*/ 25786 h 146"/>
                <a:gd name="T6" fmla="*/ 40569 w 194"/>
                <a:gd name="T7" fmla="*/ 51395 h 146"/>
                <a:gd name="T8" fmla="*/ 59885 w 194"/>
                <a:gd name="T9" fmla="*/ 74397 h 146"/>
                <a:gd name="T10" fmla="*/ 79343 w 194"/>
                <a:gd name="T11" fmla="*/ 95820 h 146"/>
                <a:gd name="T12" fmla="*/ 99353 w 194"/>
                <a:gd name="T13" fmla="*/ 105990 h 146"/>
                <a:gd name="T14" fmla="*/ 122572 w 194"/>
                <a:gd name="T15" fmla="*/ 114042 h 146"/>
                <a:gd name="T16" fmla="*/ 136304 w 194"/>
                <a:gd name="T17" fmla="*/ 117252 h 146"/>
                <a:gd name="T18" fmla="*/ 157427 w 194"/>
                <a:gd name="T19" fmla="*/ 117252 h 146"/>
                <a:gd name="T20" fmla="*/ 0 w 194"/>
                <a:gd name="T21" fmla="*/ 121482 h 14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94"/>
                <a:gd name="T34" fmla="*/ 0 h 146"/>
                <a:gd name="T35" fmla="*/ 194 w 194"/>
                <a:gd name="T36" fmla="*/ 146 h 14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94" h="146">
                  <a:moveTo>
                    <a:pt x="0" y="146"/>
                  </a:moveTo>
                  <a:lnTo>
                    <a:pt x="0" y="0"/>
                  </a:lnTo>
                  <a:lnTo>
                    <a:pt x="26" y="31"/>
                  </a:lnTo>
                  <a:lnTo>
                    <a:pt x="50" y="62"/>
                  </a:lnTo>
                  <a:lnTo>
                    <a:pt x="74" y="89"/>
                  </a:lnTo>
                  <a:lnTo>
                    <a:pt x="98" y="115"/>
                  </a:lnTo>
                  <a:lnTo>
                    <a:pt x="122" y="127"/>
                  </a:lnTo>
                  <a:lnTo>
                    <a:pt x="151" y="137"/>
                  </a:lnTo>
                  <a:lnTo>
                    <a:pt x="168" y="141"/>
                  </a:lnTo>
                  <a:lnTo>
                    <a:pt x="194" y="141"/>
                  </a:lnTo>
                  <a:lnTo>
                    <a:pt x="0" y="146"/>
                  </a:lnTo>
                  <a:close/>
                </a:path>
              </a:pathLst>
            </a:custGeom>
            <a:pattFill prst="ltUp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12305" name="Freeform 6"/>
            <p:cNvSpPr>
              <a:spLocks/>
            </p:cNvSpPr>
            <p:nvPr/>
          </p:nvSpPr>
          <p:spPr bwMode="auto">
            <a:xfrm>
              <a:off x="358" y="1142"/>
              <a:ext cx="874" cy="608"/>
            </a:xfrm>
            <a:custGeom>
              <a:avLst/>
              <a:gdLst>
                <a:gd name="T0" fmla="*/ 0 w 1104"/>
                <a:gd name="T1" fmla="*/ 0 h 768"/>
                <a:gd name="T2" fmla="*/ 0 w 1104"/>
                <a:gd name="T3" fmla="*/ 9 h 768"/>
                <a:gd name="T4" fmla="*/ 13 w 1104"/>
                <a:gd name="T5" fmla="*/ 9 h 768"/>
                <a:gd name="T6" fmla="*/ 0 60000 65536"/>
                <a:gd name="T7" fmla="*/ 0 60000 65536"/>
                <a:gd name="T8" fmla="*/ 0 60000 65536"/>
                <a:gd name="T9" fmla="*/ 0 w 1104"/>
                <a:gd name="T10" fmla="*/ 0 h 768"/>
                <a:gd name="T11" fmla="*/ 1104 w 1104"/>
                <a:gd name="T12" fmla="*/ 768 h 76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04" h="768">
                  <a:moveTo>
                    <a:pt x="0" y="0"/>
                  </a:moveTo>
                  <a:lnTo>
                    <a:pt x="0" y="768"/>
                  </a:lnTo>
                  <a:lnTo>
                    <a:pt x="1104" y="768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12306" name="Freeform 7"/>
            <p:cNvSpPr>
              <a:spLocks/>
            </p:cNvSpPr>
            <p:nvPr/>
          </p:nvSpPr>
          <p:spPr bwMode="auto">
            <a:xfrm>
              <a:off x="354" y="1260"/>
              <a:ext cx="820" cy="510"/>
            </a:xfrm>
            <a:custGeom>
              <a:avLst/>
              <a:gdLst>
                <a:gd name="T0" fmla="*/ 0 w 1034"/>
                <a:gd name="T1" fmla="*/ 7 h 645"/>
                <a:gd name="T2" fmla="*/ 3 w 1034"/>
                <a:gd name="T3" fmla="*/ 2 h 645"/>
                <a:gd name="T4" fmla="*/ 10 w 1034"/>
                <a:gd name="T5" fmla="*/ 6 h 645"/>
                <a:gd name="T6" fmla="*/ 13 w 1034"/>
                <a:gd name="T7" fmla="*/ 7 h 64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34"/>
                <a:gd name="T13" fmla="*/ 0 h 645"/>
                <a:gd name="T14" fmla="*/ 1034 w 1034"/>
                <a:gd name="T15" fmla="*/ 645 h 64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34" h="645">
                  <a:moveTo>
                    <a:pt x="0" y="617"/>
                  </a:moveTo>
                  <a:cubicBezTo>
                    <a:pt x="46" y="516"/>
                    <a:pt x="145" y="24"/>
                    <a:pt x="274" y="12"/>
                  </a:cubicBezTo>
                  <a:cubicBezTo>
                    <a:pt x="403" y="0"/>
                    <a:pt x="646" y="445"/>
                    <a:pt x="773" y="545"/>
                  </a:cubicBezTo>
                  <a:cubicBezTo>
                    <a:pt x="900" y="645"/>
                    <a:pt x="980" y="600"/>
                    <a:pt x="1034" y="614"/>
                  </a:cubicBezTo>
                </a:path>
              </a:pathLst>
            </a:custGeom>
            <a:noFill/>
            <a:ln w="1905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12307" name="Text Box 8"/>
            <p:cNvSpPr txBox="1">
              <a:spLocks noChangeArrowheads="1"/>
            </p:cNvSpPr>
            <p:nvPr/>
          </p:nvSpPr>
          <p:spPr bwMode="auto">
            <a:xfrm>
              <a:off x="266" y="1725"/>
              <a:ext cx="18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Times New Roman" charset="0"/>
                </a:rPr>
                <a:t>0</a:t>
              </a:r>
            </a:p>
          </p:txBody>
        </p:sp>
        <p:sp>
          <p:nvSpPr>
            <p:cNvPr id="12308" name="Text Box 9"/>
            <p:cNvSpPr txBox="1">
              <a:spLocks noChangeArrowheads="1"/>
            </p:cNvSpPr>
            <p:nvPr/>
          </p:nvSpPr>
          <p:spPr bwMode="auto">
            <a:xfrm>
              <a:off x="1040" y="1718"/>
              <a:ext cx="300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800">
                  <a:latin typeface="Times New Roman" charset="0"/>
                </a:rPr>
                <a:t>+</a:t>
              </a:r>
              <a:r>
                <a:rPr lang="pt-BR" altLang="pt-BR" sz="1800">
                  <a:latin typeface="Times New Roman" charset="0"/>
                  <a:sym typeface="Symbol" pitchFamily="18" charset="2"/>
                </a:rPr>
                <a:t></a:t>
              </a:r>
              <a:endParaRPr lang="pt-BR" altLang="pt-BR" sz="1800">
                <a:latin typeface="Times New Roman" charset="0"/>
              </a:endParaRPr>
            </a:p>
          </p:txBody>
        </p:sp>
        <p:sp>
          <p:nvSpPr>
            <p:cNvPr id="12309" name="Text Box 10"/>
            <p:cNvSpPr txBox="1">
              <a:spLocks noChangeArrowheads="1"/>
            </p:cNvSpPr>
            <p:nvPr/>
          </p:nvSpPr>
          <p:spPr bwMode="auto">
            <a:xfrm>
              <a:off x="720" y="1756"/>
              <a:ext cx="19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i="1">
                  <a:latin typeface="Times New Roman" charset="0"/>
                </a:rPr>
                <a:t>F</a:t>
              </a:r>
              <a:endParaRPr lang="pt-BR" altLang="pt-BR" sz="1600" i="1" baseline="-25000">
                <a:latin typeface="Times New Roman" charset="0"/>
              </a:endParaRPr>
            </a:p>
          </p:txBody>
        </p:sp>
      </p:grpSp>
      <p:grpSp>
        <p:nvGrpSpPr>
          <p:cNvPr id="12293" name="Group 11"/>
          <p:cNvGrpSpPr>
            <a:grpSpLocks/>
          </p:cNvGrpSpPr>
          <p:nvPr/>
        </p:nvGrpSpPr>
        <p:grpSpPr bwMode="auto">
          <a:xfrm>
            <a:off x="457200" y="2520950"/>
            <a:ext cx="1903413" cy="1027113"/>
            <a:chOff x="288" y="1588"/>
            <a:chExt cx="1199" cy="647"/>
          </a:xfrm>
        </p:grpSpPr>
        <p:graphicFrame>
          <p:nvGraphicFramePr>
            <p:cNvPr id="12302" name="Object 12"/>
            <p:cNvGraphicFramePr>
              <a:graphicFrameLocks noChangeAspect="1"/>
            </p:cNvGraphicFramePr>
            <p:nvPr/>
          </p:nvGraphicFramePr>
          <p:xfrm>
            <a:off x="288" y="2016"/>
            <a:ext cx="1199" cy="2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1333500" imgH="241300" progId="">
                    <p:embed/>
                  </p:oleObj>
                </mc:Choice>
                <mc:Fallback>
                  <p:oleObj name="Equation" r:id="rId3" imgW="1333500" imgH="241300" progId="">
                    <p:embed/>
                    <p:pic>
                      <p:nvPicPr>
                        <p:cNvPr id="12302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" y="2016"/>
                          <a:ext cx="1199" cy="21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03" name="Line 13"/>
            <p:cNvSpPr>
              <a:spLocks noChangeShapeType="1"/>
            </p:cNvSpPr>
            <p:nvPr/>
          </p:nvSpPr>
          <p:spPr bwMode="auto">
            <a:xfrm>
              <a:off x="1060" y="1588"/>
              <a:ext cx="188" cy="428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</p:grpSp>
      <p:sp>
        <p:nvSpPr>
          <p:cNvPr id="12294" name="Text Box 27"/>
          <p:cNvSpPr txBox="1">
            <a:spLocks noChangeArrowheads="1"/>
          </p:cNvSpPr>
          <p:nvPr/>
        </p:nvSpPr>
        <p:spPr bwMode="auto">
          <a:xfrm>
            <a:off x="5851525" y="1568450"/>
            <a:ext cx="355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charset="0"/>
              </a:rPr>
              <a:t>g</a:t>
            </a:r>
            <a:r>
              <a:rPr lang="pt-BR" altLang="pt-BR" sz="1600" baseline="-25000">
                <a:latin typeface="Times New Roman" charset="0"/>
              </a:rPr>
              <a:t>1</a:t>
            </a:r>
          </a:p>
        </p:txBody>
      </p:sp>
      <p:sp>
        <p:nvSpPr>
          <p:cNvPr id="12295" name="Text Box 28"/>
          <p:cNvSpPr txBox="1">
            <a:spLocks noChangeArrowheads="1"/>
          </p:cNvSpPr>
          <p:nvPr/>
        </p:nvSpPr>
        <p:spPr bwMode="auto">
          <a:xfrm>
            <a:off x="2241550" y="3990975"/>
            <a:ext cx="355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charset="0"/>
              </a:rPr>
              <a:t>g</a:t>
            </a:r>
            <a:r>
              <a:rPr lang="pt-BR" altLang="pt-BR" sz="1600" baseline="-25000">
                <a:latin typeface="Times New Roman" charset="0"/>
              </a:rPr>
              <a:t>2</a:t>
            </a:r>
          </a:p>
        </p:txBody>
      </p:sp>
      <p:graphicFrame>
        <p:nvGraphicFramePr>
          <p:cNvPr id="159773" name="Object 29"/>
          <p:cNvGraphicFramePr>
            <a:graphicFrameLocks noChangeAspect="1"/>
          </p:cNvGraphicFramePr>
          <p:nvPr/>
        </p:nvGraphicFramePr>
        <p:xfrm>
          <a:off x="330200" y="4452938"/>
          <a:ext cx="1760538" cy="347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231366" imgH="241195" progId="">
                  <p:embed/>
                </p:oleObj>
              </mc:Choice>
              <mc:Fallback>
                <p:oleObj name="Equation" r:id="rId5" imgW="1231366" imgH="241195" progId="">
                  <p:embed/>
                  <p:pic>
                    <p:nvPicPr>
                      <p:cNvPr id="159773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200" y="4452938"/>
                        <a:ext cx="1760538" cy="3476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9774" name="AutoShape 30"/>
          <p:cNvSpPr>
            <a:spLocks noChangeArrowheads="1"/>
          </p:cNvSpPr>
          <p:nvPr/>
        </p:nvSpPr>
        <p:spPr bwMode="auto">
          <a:xfrm>
            <a:off x="1990725" y="5462588"/>
            <a:ext cx="609600" cy="228600"/>
          </a:xfrm>
          <a:prstGeom prst="rightArrow">
            <a:avLst>
              <a:gd name="adj1" fmla="val 50000"/>
              <a:gd name="adj2" fmla="val 66667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159775" name="Rectangle 31"/>
          <p:cNvSpPr>
            <a:spLocks noChangeArrowheads="1"/>
          </p:cNvSpPr>
          <p:nvPr/>
        </p:nvSpPr>
        <p:spPr bwMode="auto">
          <a:xfrm>
            <a:off x="4114800" y="5508625"/>
            <a:ext cx="347663" cy="153988"/>
          </a:xfrm>
          <a:prstGeom prst="rect">
            <a:avLst/>
          </a:prstGeom>
          <a:noFill/>
          <a:ln w="19050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159776" name="AutoShape 32"/>
          <p:cNvSpPr>
            <a:spLocks noChangeArrowheads="1"/>
          </p:cNvSpPr>
          <p:nvPr/>
        </p:nvSpPr>
        <p:spPr bwMode="auto">
          <a:xfrm rot="5400000" flipV="1">
            <a:off x="3956050" y="1519238"/>
            <a:ext cx="609600" cy="228600"/>
          </a:xfrm>
          <a:prstGeom prst="rightArrow">
            <a:avLst>
              <a:gd name="adj1" fmla="val 50000"/>
              <a:gd name="adj2" fmla="val 66667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graphicFrame>
        <p:nvGraphicFramePr>
          <p:cNvPr id="159778" name="Object 34"/>
          <p:cNvGraphicFramePr>
            <a:graphicFrameLocks noChangeAspect="1"/>
          </p:cNvGraphicFramePr>
          <p:nvPr/>
        </p:nvGraphicFramePr>
        <p:xfrm>
          <a:off x="330200" y="4876800"/>
          <a:ext cx="1760538" cy="34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231366" imgH="241195" progId="">
                  <p:embed/>
                </p:oleObj>
              </mc:Choice>
              <mc:Fallback>
                <p:oleObj name="Equation" r:id="rId7" imgW="1231366" imgH="241195" progId="">
                  <p:embed/>
                  <p:pic>
                    <p:nvPicPr>
                      <p:cNvPr id="159778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200" y="4876800"/>
                        <a:ext cx="1760538" cy="3476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E5BCBF7-E221-4748-B773-5B4122207BEF}" type="slidenum">
              <a:rPr lang="pt-BR"/>
              <a:pPr>
                <a:defRPr/>
              </a:pPr>
              <a:t>72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399675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9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9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9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9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9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9774" grpId="0" animBg="1"/>
      <p:bldP spid="159775" grpId="0" animBg="1"/>
      <p:bldP spid="159776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 descr="tab2b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4" t="17700"/>
          <a:stretch>
            <a:fillRect/>
          </a:stretch>
        </p:blipFill>
        <p:spPr bwMode="auto">
          <a:xfrm>
            <a:off x="2590800" y="1981200"/>
            <a:ext cx="6400800" cy="4367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077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Distribuição </a:t>
            </a:r>
            <a:r>
              <a:rPr lang="pt-BR" sz="4000" i="1">
                <a:latin typeface="Times New Roman" pitchFamily="18" charset="0"/>
                <a:sym typeface="Symbol" pitchFamily="18" charset="2"/>
              </a:rPr>
              <a:t>F</a:t>
            </a:r>
            <a:endParaRPr lang="pt-BR" i="1">
              <a:latin typeface="Times New Roman" pitchFamily="18" charset="0"/>
              <a:sym typeface="Symbol" pitchFamily="18" charset="2"/>
            </a:endParaRPr>
          </a:p>
        </p:txBody>
      </p:sp>
      <p:grpSp>
        <p:nvGrpSpPr>
          <p:cNvPr id="13316" name="Group 4"/>
          <p:cNvGrpSpPr>
            <a:grpSpLocks/>
          </p:cNvGrpSpPr>
          <p:nvPr/>
        </p:nvGrpSpPr>
        <p:grpSpPr bwMode="auto">
          <a:xfrm>
            <a:off x="609600" y="1600200"/>
            <a:ext cx="1704975" cy="1311275"/>
            <a:chOff x="266" y="1142"/>
            <a:chExt cx="1074" cy="826"/>
          </a:xfrm>
        </p:grpSpPr>
        <p:sp>
          <p:nvSpPr>
            <p:cNvPr id="13329" name="Freeform 5" descr="Diagonal para cima clara"/>
            <p:cNvSpPr>
              <a:spLocks/>
            </p:cNvSpPr>
            <p:nvPr/>
          </p:nvSpPr>
          <p:spPr bwMode="auto">
            <a:xfrm>
              <a:off x="840" y="1541"/>
              <a:ext cx="276" cy="208"/>
            </a:xfrm>
            <a:custGeom>
              <a:avLst/>
              <a:gdLst>
                <a:gd name="T0" fmla="*/ 0 w 194"/>
                <a:gd name="T1" fmla="*/ 121482 h 146"/>
                <a:gd name="T2" fmla="*/ 0 w 194"/>
                <a:gd name="T3" fmla="*/ 0 h 146"/>
                <a:gd name="T4" fmla="*/ 21127 w 194"/>
                <a:gd name="T5" fmla="*/ 25786 h 146"/>
                <a:gd name="T6" fmla="*/ 40569 w 194"/>
                <a:gd name="T7" fmla="*/ 51395 h 146"/>
                <a:gd name="T8" fmla="*/ 59885 w 194"/>
                <a:gd name="T9" fmla="*/ 74397 h 146"/>
                <a:gd name="T10" fmla="*/ 79343 w 194"/>
                <a:gd name="T11" fmla="*/ 95820 h 146"/>
                <a:gd name="T12" fmla="*/ 99353 w 194"/>
                <a:gd name="T13" fmla="*/ 105990 h 146"/>
                <a:gd name="T14" fmla="*/ 122572 w 194"/>
                <a:gd name="T15" fmla="*/ 114042 h 146"/>
                <a:gd name="T16" fmla="*/ 136304 w 194"/>
                <a:gd name="T17" fmla="*/ 117252 h 146"/>
                <a:gd name="T18" fmla="*/ 157427 w 194"/>
                <a:gd name="T19" fmla="*/ 117252 h 146"/>
                <a:gd name="T20" fmla="*/ 0 w 194"/>
                <a:gd name="T21" fmla="*/ 121482 h 14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94"/>
                <a:gd name="T34" fmla="*/ 0 h 146"/>
                <a:gd name="T35" fmla="*/ 194 w 194"/>
                <a:gd name="T36" fmla="*/ 146 h 14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94" h="146">
                  <a:moveTo>
                    <a:pt x="0" y="146"/>
                  </a:moveTo>
                  <a:lnTo>
                    <a:pt x="0" y="0"/>
                  </a:lnTo>
                  <a:lnTo>
                    <a:pt x="26" y="31"/>
                  </a:lnTo>
                  <a:lnTo>
                    <a:pt x="50" y="62"/>
                  </a:lnTo>
                  <a:lnTo>
                    <a:pt x="74" y="89"/>
                  </a:lnTo>
                  <a:lnTo>
                    <a:pt x="98" y="115"/>
                  </a:lnTo>
                  <a:lnTo>
                    <a:pt x="122" y="127"/>
                  </a:lnTo>
                  <a:lnTo>
                    <a:pt x="151" y="137"/>
                  </a:lnTo>
                  <a:lnTo>
                    <a:pt x="168" y="141"/>
                  </a:lnTo>
                  <a:lnTo>
                    <a:pt x="194" y="141"/>
                  </a:lnTo>
                  <a:lnTo>
                    <a:pt x="0" y="146"/>
                  </a:lnTo>
                  <a:close/>
                </a:path>
              </a:pathLst>
            </a:custGeom>
            <a:pattFill prst="ltUp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13330" name="Freeform 6"/>
            <p:cNvSpPr>
              <a:spLocks/>
            </p:cNvSpPr>
            <p:nvPr/>
          </p:nvSpPr>
          <p:spPr bwMode="auto">
            <a:xfrm>
              <a:off x="358" y="1142"/>
              <a:ext cx="874" cy="608"/>
            </a:xfrm>
            <a:custGeom>
              <a:avLst/>
              <a:gdLst>
                <a:gd name="T0" fmla="*/ 0 w 1104"/>
                <a:gd name="T1" fmla="*/ 0 h 768"/>
                <a:gd name="T2" fmla="*/ 0 w 1104"/>
                <a:gd name="T3" fmla="*/ 9 h 768"/>
                <a:gd name="T4" fmla="*/ 13 w 1104"/>
                <a:gd name="T5" fmla="*/ 9 h 768"/>
                <a:gd name="T6" fmla="*/ 0 60000 65536"/>
                <a:gd name="T7" fmla="*/ 0 60000 65536"/>
                <a:gd name="T8" fmla="*/ 0 60000 65536"/>
                <a:gd name="T9" fmla="*/ 0 w 1104"/>
                <a:gd name="T10" fmla="*/ 0 h 768"/>
                <a:gd name="T11" fmla="*/ 1104 w 1104"/>
                <a:gd name="T12" fmla="*/ 768 h 76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04" h="768">
                  <a:moveTo>
                    <a:pt x="0" y="0"/>
                  </a:moveTo>
                  <a:lnTo>
                    <a:pt x="0" y="768"/>
                  </a:lnTo>
                  <a:lnTo>
                    <a:pt x="1104" y="768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13331" name="Freeform 7"/>
            <p:cNvSpPr>
              <a:spLocks/>
            </p:cNvSpPr>
            <p:nvPr/>
          </p:nvSpPr>
          <p:spPr bwMode="auto">
            <a:xfrm>
              <a:off x="354" y="1260"/>
              <a:ext cx="820" cy="510"/>
            </a:xfrm>
            <a:custGeom>
              <a:avLst/>
              <a:gdLst>
                <a:gd name="T0" fmla="*/ 0 w 1034"/>
                <a:gd name="T1" fmla="*/ 7 h 645"/>
                <a:gd name="T2" fmla="*/ 3 w 1034"/>
                <a:gd name="T3" fmla="*/ 2 h 645"/>
                <a:gd name="T4" fmla="*/ 10 w 1034"/>
                <a:gd name="T5" fmla="*/ 6 h 645"/>
                <a:gd name="T6" fmla="*/ 13 w 1034"/>
                <a:gd name="T7" fmla="*/ 7 h 64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34"/>
                <a:gd name="T13" fmla="*/ 0 h 645"/>
                <a:gd name="T14" fmla="*/ 1034 w 1034"/>
                <a:gd name="T15" fmla="*/ 645 h 64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34" h="645">
                  <a:moveTo>
                    <a:pt x="0" y="617"/>
                  </a:moveTo>
                  <a:cubicBezTo>
                    <a:pt x="46" y="516"/>
                    <a:pt x="145" y="24"/>
                    <a:pt x="274" y="12"/>
                  </a:cubicBezTo>
                  <a:cubicBezTo>
                    <a:pt x="403" y="0"/>
                    <a:pt x="646" y="445"/>
                    <a:pt x="773" y="545"/>
                  </a:cubicBezTo>
                  <a:cubicBezTo>
                    <a:pt x="900" y="645"/>
                    <a:pt x="980" y="600"/>
                    <a:pt x="1034" y="614"/>
                  </a:cubicBezTo>
                </a:path>
              </a:pathLst>
            </a:custGeom>
            <a:noFill/>
            <a:ln w="1905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13332" name="Text Box 8"/>
            <p:cNvSpPr txBox="1">
              <a:spLocks noChangeArrowheads="1"/>
            </p:cNvSpPr>
            <p:nvPr/>
          </p:nvSpPr>
          <p:spPr bwMode="auto">
            <a:xfrm>
              <a:off x="266" y="1725"/>
              <a:ext cx="18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Times New Roman" charset="0"/>
                </a:rPr>
                <a:t>0</a:t>
              </a:r>
            </a:p>
          </p:txBody>
        </p:sp>
        <p:sp>
          <p:nvSpPr>
            <p:cNvPr id="13333" name="Text Box 9"/>
            <p:cNvSpPr txBox="1">
              <a:spLocks noChangeArrowheads="1"/>
            </p:cNvSpPr>
            <p:nvPr/>
          </p:nvSpPr>
          <p:spPr bwMode="auto">
            <a:xfrm>
              <a:off x="1040" y="1718"/>
              <a:ext cx="300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800">
                  <a:latin typeface="Times New Roman" charset="0"/>
                </a:rPr>
                <a:t>+</a:t>
              </a:r>
              <a:r>
                <a:rPr lang="pt-BR" altLang="pt-BR" sz="1800">
                  <a:latin typeface="Times New Roman" charset="0"/>
                  <a:sym typeface="Symbol" pitchFamily="18" charset="2"/>
                </a:rPr>
                <a:t></a:t>
              </a:r>
              <a:endParaRPr lang="pt-BR" altLang="pt-BR" sz="1800">
                <a:latin typeface="Times New Roman" charset="0"/>
              </a:endParaRPr>
            </a:p>
          </p:txBody>
        </p:sp>
        <p:sp>
          <p:nvSpPr>
            <p:cNvPr id="13334" name="Text Box 10"/>
            <p:cNvSpPr txBox="1">
              <a:spLocks noChangeArrowheads="1"/>
            </p:cNvSpPr>
            <p:nvPr/>
          </p:nvSpPr>
          <p:spPr bwMode="auto">
            <a:xfrm>
              <a:off x="720" y="1756"/>
              <a:ext cx="19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i="1">
                  <a:latin typeface="Times New Roman" charset="0"/>
                </a:rPr>
                <a:t>F</a:t>
              </a:r>
              <a:endParaRPr lang="pt-BR" altLang="pt-BR" sz="1600" i="1" baseline="-25000">
                <a:latin typeface="Times New Roman" charset="0"/>
              </a:endParaRPr>
            </a:p>
          </p:txBody>
        </p:sp>
      </p:grpSp>
      <p:grpSp>
        <p:nvGrpSpPr>
          <p:cNvPr id="13317" name="Group 11"/>
          <p:cNvGrpSpPr>
            <a:grpSpLocks/>
          </p:cNvGrpSpPr>
          <p:nvPr/>
        </p:nvGrpSpPr>
        <p:grpSpPr bwMode="auto">
          <a:xfrm>
            <a:off x="457200" y="2520950"/>
            <a:ext cx="1903413" cy="1027113"/>
            <a:chOff x="288" y="1588"/>
            <a:chExt cx="1199" cy="647"/>
          </a:xfrm>
        </p:grpSpPr>
        <p:graphicFrame>
          <p:nvGraphicFramePr>
            <p:cNvPr id="13327" name="Object 12"/>
            <p:cNvGraphicFramePr>
              <a:graphicFrameLocks noChangeAspect="1"/>
            </p:cNvGraphicFramePr>
            <p:nvPr/>
          </p:nvGraphicFramePr>
          <p:xfrm>
            <a:off x="288" y="2016"/>
            <a:ext cx="1199" cy="2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1333500" imgH="241300" progId="">
                    <p:embed/>
                  </p:oleObj>
                </mc:Choice>
                <mc:Fallback>
                  <p:oleObj name="Equation" r:id="rId3" imgW="1333500" imgH="241300" progId="">
                    <p:embed/>
                    <p:pic>
                      <p:nvPicPr>
                        <p:cNvPr id="13327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" y="2016"/>
                          <a:ext cx="1199" cy="21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28" name="Line 13"/>
            <p:cNvSpPr>
              <a:spLocks noChangeShapeType="1"/>
            </p:cNvSpPr>
            <p:nvPr/>
          </p:nvSpPr>
          <p:spPr bwMode="auto">
            <a:xfrm>
              <a:off x="1060" y="1588"/>
              <a:ext cx="188" cy="428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</p:grpSp>
      <p:sp>
        <p:nvSpPr>
          <p:cNvPr id="13318" name="Text Box 14"/>
          <p:cNvSpPr txBox="1">
            <a:spLocks noChangeArrowheads="1"/>
          </p:cNvSpPr>
          <p:nvPr/>
        </p:nvSpPr>
        <p:spPr bwMode="auto">
          <a:xfrm>
            <a:off x="5851525" y="1568450"/>
            <a:ext cx="355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charset="0"/>
              </a:rPr>
              <a:t>g</a:t>
            </a:r>
            <a:r>
              <a:rPr lang="pt-BR" altLang="pt-BR" sz="1600" baseline="-25000">
                <a:latin typeface="Times New Roman" charset="0"/>
              </a:rPr>
              <a:t>1</a:t>
            </a:r>
          </a:p>
        </p:txBody>
      </p:sp>
      <p:sp>
        <p:nvSpPr>
          <p:cNvPr id="13319" name="Text Box 15"/>
          <p:cNvSpPr txBox="1">
            <a:spLocks noChangeArrowheads="1"/>
          </p:cNvSpPr>
          <p:nvPr/>
        </p:nvSpPr>
        <p:spPr bwMode="auto">
          <a:xfrm>
            <a:off x="2241550" y="3990975"/>
            <a:ext cx="355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charset="0"/>
              </a:rPr>
              <a:t>g</a:t>
            </a:r>
            <a:r>
              <a:rPr lang="pt-BR" altLang="pt-BR" sz="1600" baseline="-25000">
                <a:latin typeface="Times New Roman" charset="0"/>
              </a:rPr>
              <a:t>2</a:t>
            </a:r>
          </a:p>
        </p:txBody>
      </p:sp>
      <p:graphicFrame>
        <p:nvGraphicFramePr>
          <p:cNvPr id="13320" name="Object 16"/>
          <p:cNvGraphicFramePr>
            <a:graphicFrameLocks noChangeAspect="1"/>
          </p:cNvGraphicFramePr>
          <p:nvPr/>
        </p:nvGraphicFramePr>
        <p:xfrm>
          <a:off x="330200" y="4452938"/>
          <a:ext cx="1760538" cy="347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231366" imgH="241195" progId="">
                  <p:embed/>
                </p:oleObj>
              </mc:Choice>
              <mc:Fallback>
                <p:oleObj name="Equation" r:id="rId5" imgW="1231366" imgH="241195" progId="">
                  <p:embed/>
                  <p:pic>
                    <p:nvPicPr>
                      <p:cNvPr id="1332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200" y="4452938"/>
                        <a:ext cx="1760538" cy="3476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1" name="Rectangle 18"/>
          <p:cNvSpPr>
            <a:spLocks noChangeArrowheads="1"/>
          </p:cNvSpPr>
          <p:nvPr/>
        </p:nvSpPr>
        <p:spPr bwMode="auto">
          <a:xfrm>
            <a:off x="4114800" y="5508625"/>
            <a:ext cx="347663" cy="153988"/>
          </a:xfrm>
          <a:prstGeom prst="rect">
            <a:avLst/>
          </a:prstGeom>
          <a:noFill/>
          <a:ln w="19050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graphicFrame>
        <p:nvGraphicFramePr>
          <p:cNvPr id="13322" name="Object 20"/>
          <p:cNvGraphicFramePr>
            <a:graphicFrameLocks noChangeAspect="1"/>
          </p:cNvGraphicFramePr>
          <p:nvPr/>
        </p:nvGraphicFramePr>
        <p:xfrm>
          <a:off x="330200" y="5291138"/>
          <a:ext cx="2032000" cy="347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422400" imgH="241300" progId="">
                  <p:embed/>
                </p:oleObj>
              </mc:Choice>
              <mc:Fallback>
                <p:oleObj name="Equation" r:id="rId7" imgW="1422400" imgH="241300" progId="">
                  <p:embed/>
                  <p:pic>
                    <p:nvPicPr>
                      <p:cNvPr id="13322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200" y="5291138"/>
                        <a:ext cx="2032000" cy="3476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3" name="Object 21"/>
          <p:cNvGraphicFramePr>
            <a:graphicFrameLocks noChangeAspect="1"/>
          </p:cNvGraphicFramePr>
          <p:nvPr/>
        </p:nvGraphicFramePr>
        <p:xfrm>
          <a:off x="330200" y="4876800"/>
          <a:ext cx="1760538" cy="34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231366" imgH="241195" progId="">
                  <p:embed/>
                </p:oleObj>
              </mc:Choice>
              <mc:Fallback>
                <p:oleObj name="Equation" r:id="rId9" imgW="1231366" imgH="241195" progId="">
                  <p:embed/>
                  <p:pic>
                    <p:nvPicPr>
                      <p:cNvPr id="13323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200" y="4876800"/>
                        <a:ext cx="1760538" cy="3476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0790" name="Object 22"/>
          <p:cNvGraphicFramePr>
            <a:graphicFrameLocks noChangeAspect="1"/>
          </p:cNvGraphicFramePr>
          <p:nvPr/>
        </p:nvGraphicFramePr>
        <p:xfrm>
          <a:off x="330200" y="5588000"/>
          <a:ext cx="2068513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447800" imgH="419100" progId="">
                  <p:embed/>
                </p:oleObj>
              </mc:Choice>
              <mc:Fallback>
                <p:oleObj name="Equation" r:id="rId11" imgW="1447800" imgH="419100" progId="">
                  <p:embed/>
                  <p:pic>
                    <p:nvPicPr>
                      <p:cNvPr id="16079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200" y="5588000"/>
                        <a:ext cx="2068513" cy="603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0791" name="Object 23"/>
          <p:cNvGraphicFramePr>
            <a:graphicFrameLocks noChangeAspect="1"/>
          </p:cNvGraphicFramePr>
          <p:nvPr/>
        </p:nvGraphicFramePr>
        <p:xfrm>
          <a:off x="330200" y="6223000"/>
          <a:ext cx="2178050" cy="34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524000" imgH="241300" progId="">
                  <p:embed/>
                </p:oleObj>
              </mc:Choice>
              <mc:Fallback>
                <p:oleObj name="Equation" r:id="rId13" imgW="1524000" imgH="241300" progId="">
                  <p:embed/>
                  <p:pic>
                    <p:nvPicPr>
                      <p:cNvPr id="160791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200" y="6223000"/>
                        <a:ext cx="2178050" cy="3476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AC926EA-43A7-4AE9-82A6-55282371C626}" type="slidenum">
              <a:rPr lang="pt-BR"/>
              <a:pPr>
                <a:defRPr/>
              </a:pPr>
              <a:t>73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948648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0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0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13">
                <a:extLst>
                  <a:ext uri="{FF2B5EF4-FFF2-40B4-BE49-F238E27FC236}">
                    <a16:creationId xmlns:a16="http://schemas.microsoft.com/office/drawing/2014/main" id="{0077288C-ACBC-1612-9431-60B4C5D5A716}"/>
                  </a:ext>
                </a:extLst>
              </p:cNvPr>
              <p:cNvSpPr txBox="1"/>
              <p:nvPr/>
            </p:nvSpPr>
            <p:spPr bwMode="auto">
              <a:xfrm>
                <a:off x="889784" y="3808447"/>
                <a:ext cx="1702569" cy="7357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1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pt-BR" sz="1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1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pt-BR" sz="1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pt-BR" sz="1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1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</m:t>
                          </m:r>
                        </m:den>
                      </m:f>
                    </m:oMath>
                  </m:oMathPara>
                </a14:m>
                <a:endParaRPr lang="pt-BR" sz="1800" dirty="0">
                  <a:latin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15" name="Object 13">
                <a:extLst>
                  <a:ext uri="{FF2B5EF4-FFF2-40B4-BE49-F238E27FC236}">
                    <a16:creationId xmlns:a16="http://schemas.microsoft.com/office/drawing/2014/main" id="{0077288C-ACBC-1612-9431-60B4C5D5A7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9784" y="3808447"/>
                <a:ext cx="1702569" cy="73575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13">
                <a:extLst>
                  <a:ext uri="{FF2B5EF4-FFF2-40B4-BE49-F238E27FC236}">
                    <a16:creationId xmlns:a16="http://schemas.microsoft.com/office/drawing/2014/main" id="{8D0D632B-E2AB-43BB-AD8A-C47F0B0BA8F5}"/>
                  </a:ext>
                </a:extLst>
              </p:cNvPr>
              <p:cNvSpPr txBox="1"/>
              <p:nvPr/>
            </p:nvSpPr>
            <p:spPr bwMode="auto">
              <a:xfrm>
                <a:off x="873757" y="4277421"/>
                <a:ext cx="1702569" cy="7357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1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𝑉𝑎𝑟</m:t>
                      </m:r>
                      <m:r>
                        <a:rPr lang="pt-BR" sz="1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1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pt-BR" sz="1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pt-BR" sz="1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1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pt-BR" sz="1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</m:ctrlPr>
                            </m:sSupPr>
                            <m:e>
                              <m:r>
                                <a:rPr lang="pt-BR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</m:t>
                              </m:r>
                            </m:e>
                            <m:sup>
                              <m:r>
                                <a:rPr lang="pt-BR" sz="1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pt-BR" sz="1800" dirty="0">
                  <a:latin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16" name="Object 13">
                <a:extLst>
                  <a:ext uri="{FF2B5EF4-FFF2-40B4-BE49-F238E27FC236}">
                    <a16:creationId xmlns:a16="http://schemas.microsoft.com/office/drawing/2014/main" id="{8D0D632B-E2AB-43BB-AD8A-C47F0B0BA8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73757" y="4277421"/>
                <a:ext cx="1702569" cy="73575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2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Distribuição </a:t>
            </a:r>
            <a:r>
              <a:rPr lang="pt-BR" dirty="0">
                <a:sym typeface="Symbol" pitchFamily="18" charset="2"/>
              </a:rPr>
              <a:t>Exponencial</a:t>
            </a:r>
            <a:endParaRPr lang="pt-BR" dirty="0"/>
          </a:p>
        </p:txBody>
      </p:sp>
      <p:grpSp>
        <p:nvGrpSpPr>
          <p:cNvPr id="142347" name="Agrupar 142346">
            <a:extLst>
              <a:ext uri="{FF2B5EF4-FFF2-40B4-BE49-F238E27FC236}">
                <a16:creationId xmlns:a16="http://schemas.microsoft.com/office/drawing/2014/main" id="{3300FF3C-B0E4-99D3-3099-CD13FCD32DE2}"/>
              </a:ext>
            </a:extLst>
          </p:cNvPr>
          <p:cNvGrpSpPr/>
          <p:nvPr/>
        </p:nvGrpSpPr>
        <p:grpSpPr>
          <a:xfrm>
            <a:off x="2462213" y="3980455"/>
            <a:ext cx="5710187" cy="800825"/>
            <a:chOff x="2462213" y="3753120"/>
            <a:chExt cx="5710187" cy="80082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Object 13">
                  <a:extLst>
                    <a:ext uri="{FF2B5EF4-FFF2-40B4-BE49-F238E27FC236}">
                      <a16:creationId xmlns:a16="http://schemas.microsoft.com/office/drawing/2014/main" id="{AD4E72B1-B31B-824B-EA7C-54A5761B2EE1}"/>
                    </a:ext>
                  </a:extLst>
                </p:cNvPr>
                <p:cNvSpPr txBox="1"/>
                <p:nvPr/>
              </p:nvSpPr>
              <p:spPr bwMode="auto">
                <a:xfrm>
                  <a:off x="2620026" y="3962703"/>
                  <a:ext cx="1702569" cy="47106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pt-BR" sz="1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pt-BR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~</m:t>
                        </m:r>
                        <m:r>
                          <a:rPr lang="pt-BR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𝐸𝑥𝑝</m:t>
                        </m:r>
                        <m:r>
                          <a:rPr lang="pt-BR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()</m:t>
                        </m:r>
                      </m:oMath>
                    </m:oMathPara>
                  </a14:m>
                  <a:endParaRPr lang="pt-BR" sz="1800" dirty="0">
                    <a:latin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18" name="Object 13">
                  <a:extLst>
                    <a:ext uri="{FF2B5EF4-FFF2-40B4-BE49-F238E27FC236}">
                      <a16:creationId xmlns:a16="http://schemas.microsoft.com/office/drawing/2014/main" id="{AD4E72B1-B31B-824B-EA7C-54A5761B2E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620026" y="3962703"/>
                  <a:ext cx="1702569" cy="471066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509" name="AutoShape 8"/>
            <p:cNvSpPr>
              <a:spLocks/>
            </p:cNvSpPr>
            <p:nvPr/>
          </p:nvSpPr>
          <p:spPr bwMode="auto">
            <a:xfrm>
              <a:off x="2462213" y="3753120"/>
              <a:ext cx="76200" cy="756000"/>
            </a:xfrm>
            <a:prstGeom prst="rightBrace">
              <a:avLst>
                <a:gd name="adj1" fmla="val 6666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42346" name="Text Box 10"/>
            <p:cNvSpPr txBox="1">
              <a:spLocks noChangeArrowheads="1"/>
            </p:cNvSpPr>
            <p:nvPr/>
          </p:nvSpPr>
          <p:spPr bwMode="auto">
            <a:xfrm>
              <a:off x="3851920" y="3972920"/>
              <a:ext cx="4320480" cy="581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385763" indent="-385763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(lê-se: </a:t>
              </a:r>
              <a:r>
                <a:rPr lang="pt-BR" altLang="pt-BR" sz="1600" i="1" dirty="0">
                  <a:latin typeface="Times New Roman" charset="0"/>
                </a:rPr>
                <a:t>X</a:t>
              </a:r>
              <a:r>
                <a:rPr lang="pt-BR" altLang="pt-BR" sz="1600" dirty="0">
                  <a:latin typeface="Tahoma" panose="020B0604030504040204" pitchFamily="34" charset="0"/>
                </a:rPr>
                <a:t> tem distribuição exponencial com parâmetro </a:t>
              </a:r>
              <a:r>
                <a:rPr lang="pt-BR" altLang="pt-BR" sz="1600" dirty="0">
                  <a:latin typeface="Tahoma" panose="020B0604030504040204" pitchFamily="34" charset="0"/>
                  <a:sym typeface="Symbol" panose="05050102010706020507" pitchFamily="18" charset="2"/>
                </a:rPr>
                <a:t></a:t>
              </a:r>
              <a:r>
                <a:rPr lang="pt-BR" altLang="pt-BR" sz="1600" dirty="0">
                  <a:latin typeface="Tahoma" panose="020B0604030504040204" pitchFamily="34" charset="0"/>
                </a:rPr>
                <a:t>)</a:t>
              </a:r>
            </a:p>
          </p:txBody>
        </p:sp>
      </p:grpSp>
      <p:sp>
        <p:nvSpPr>
          <p:cNvPr id="142359" name="Text Box 23"/>
          <p:cNvSpPr txBox="1">
            <a:spLocks noChangeArrowheads="1"/>
          </p:cNvSpPr>
          <p:nvPr/>
        </p:nvSpPr>
        <p:spPr bwMode="auto">
          <a:xfrm>
            <a:off x="822325" y="5275275"/>
            <a:ext cx="133940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Propriedade: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2E4C08-7E87-4B70-8D65-19AAF73BE0BF}" type="slidenum">
              <a:rPr lang="pt-BR"/>
              <a:pPr>
                <a:defRPr/>
              </a:pPr>
              <a:t>74</a:t>
            </a:fld>
            <a:endParaRPr lang="pt-BR"/>
          </a:p>
        </p:txBody>
      </p:sp>
      <p:sp>
        <p:nvSpPr>
          <p:cNvPr id="38" name="Retângulo 2"/>
          <p:cNvSpPr>
            <a:spLocks noChangeArrowheads="1"/>
          </p:cNvSpPr>
          <p:nvPr/>
        </p:nvSpPr>
        <p:spPr bwMode="auto">
          <a:xfrm>
            <a:off x="695325" y="1547813"/>
            <a:ext cx="7764463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55600" indent="-35560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Uma variável aleatória </a:t>
            </a:r>
            <a:r>
              <a:rPr lang="pt-BR" altLang="pt-BR" sz="1600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pt-BR" altLang="pt-BR" sz="1600" dirty="0">
                <a:latin typeface="Tahoma" panose="020B0604030504040204" pitchFamily="34" charset="0"/>
              </a:rPr>
              <a:t> tem distribuição Exponencial se sua função densidade de probabilidade for dada por: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13">
                <a:extLst>
                  <a:ext uri="{FF2B5EF4-FFF2-40B4-BE49-F238E27FC236}">
                    <a16:creationId xmlns:a16="http://schemas.microsoft.com/office/drawing/2014/main" id="{975EF850-B58E-8CF5-65D3-3E1FE941B875}"/>
                  </a:ext>
                </a:extLst>
              </p:cNvPr>
              <p:cNvSpPr txBox="1"/>
              <p:nvPr/>
            </p:nvSpPr>
            <p:spPr bwMode="auto">
              <a:xfrm>
                <a:off x="867593" y="2564274"/>
                <a:ext cx="1702569" cy="471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1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pt-BR" sz="1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1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BR" sz="1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)=</m:t>
                      </m:r>
                      <m:sSup>
                        <m:sSupPr>
                          <m:ctrlPr>
                            <a:rPr lang="pt-BR" sz="1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a:rPr lang="pt-BR" sz="1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𝑒</m:t>
                          </m:r>
                        </m:e>
                        <m:sup>
                          <m:r>
                            <a:rPr lang="pt-BR" sz="1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−</m:t>
                          </m:r>
                          <m:r>
                            <a:rPr lang="pt-BR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</m:t>
                          </m:r>
                          <m:r>
                            <a:rPr lang="pt-BR" sz="1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pt-BR" sz="1800" dirty="0">
                  <a:latin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Object 13">
                <a:extLst>
                  <a:ext uri="{FF2B5EF4-FFF2-40B4-BE49-F238E27FC236}">
                    <a16:creationId xmlns:a16="http://schemas.microsoft.com/office/drawing/2014/main" id="{975EF850-B58E-8CF5-65D3-3E1FE941B8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67593" y="2564274"/>
                <a:ext cx="1702569" cy="471066"/>
              </a:xfrm>
              <a:prstGeom prst="rect">
                <a:avLst/>
              </a:prstGeom>
              <a:blipFill>
                <a:blip r:embed="rId5"/>
                <a:stretch>
                  <a:fillRect l="-1071" b="-129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6AD01939-3328-7B99-06B7-5228F843A021}"/>
                  </a:ext>
                </a:extLst>
              </p:cNvPr>
              <p:cNvSpPr txBox="1"/>
              <p:nvPr/>
            </p:nvSpPr>
            <p:spPr>
              <a:xfrm>
                <a:off x="2828925" y="2510249"/>
                <a:ext cx="792444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1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B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pt-BR" dirty="0">
                  <a:latin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6AD01939-3328-7B99-06B7-5228F843A0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8925" y="2510249"/>
                <a:ext cx="792444" cy="3385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20C015A1-4E7B-C256-33E1-665E8829ABC5}"/>
                  </a:ext>
                </a:extLst>
              </p:cNvPr>
              <p:cNvSpPr txBox="1"/>
              <p:nvPr/>
            </p:nvSpPr>
            <p:spPr>
              <a:xfrm>
                <a:off x="2827710" y="2802414"/>
                <a:ext cx="792444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1600" b="0" i="1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</m:t>
                      </m:r>
                      <m:r>
                        <a:rPr lang="pt-B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pt-BR" dirty="0">
                  <a:latin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20C015A1-4E7B-C256-33E1-665E8829AB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7710" y="2802414"/>
                <a:ext cx="792444" cy="3385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" name="Agrupar 30">
            <a:extLst>
              <a:ext uri="{FF2B5EF4-FFF2-40B4-BE49-F238E27FC236}">
                <a16:creationId xmlns:a16="http://schemas.microsoft.com/office/drawing/2014/main" id="{55DEBB90-9FEC-714C-01D0-B77B7388646E}"/>
              </a:ext>
            </a:extLst>
          </p:cNvPr>
          <p:cNvGrpSpPr/>
          <p:nvPr/>
        </p:nvGrpSpPr>
        <p:grpSpPr>
          <a:xfrm>
            <a:off x="3923928" y="2199478"/>
            <a:ext cx="2855767" cy="1805586"/>
            <a:chOff x="5218575" y="1911446"/>
            <a:chExt cx="2855767" cy="1805586"/>
          </a:xfrm>
        </p:grpSpPr>
        <p:grpSp>
          <p:nvGrpSpPr>
            <p:cNvPr id="20" name="Agrupar 19">
              <a:extLst>
                <a:ext uri="{FF2B5EF4-FFF2-40B4-BE49-F238E27FC236}">
                  <a16:creationId xmlns:a16="http://schemas.microsoft.com/office/drawing/2014/main" id="{4DFD785C-D3E0-386A-B75E-F2A29F1ADB83}"/>
                </a:ext>
              </a:extLst>
            </p:cNvPr>
            <p:cNvGrpSpPr/>
            <p:nvPr/>
          </p:nvGrpSpPr>
          <p:grpSpPr>
            <a:xfrm>
              <a:off x="5868144" y="1911446"/>
              <a:ext cx="2206198" cy="1805586"/>
              <a:chOff x="6691179" y="1894453"/>
              <a:chExt cx="2206198" cy="1805586"/>
            </a:xfrm>
          </p:grpSpPr>
          <p:pic>
            <p:nvPicPr>
              <p:cNvPr id="21" name="Imagem 20">
                <a:extLst>
                  <a:ext uri="{FF2B5EF4-FFF2-40B4-BE49-F238E27FC236}">
                    <a16:creationId xmlns:a16="http://schemas.microsoft.com/office/drawing/2014/main" id="{EC7E8A80-EDBF-2AB6-E6EA-AF396B394B1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751826" y="1894453"/>
                <a:ext cx="2068596" cy="1558800"/>
              </a:xfrm>
              <a:prstGeom prst="rect">
                <a:avLst/>
              </a:prstGeom>
            </p:spPr>
          </p:pic>
          <p:sp>
            <p:nvSpPr>
              <p:cNvPr id="22" name="Text Box 34">
                <a:extLst>
                  <a:ext uri="{FF2B5EF4-FFF2-40B4-BE49-F238E27FC236}">
                    <a16:creationId xmlns:a16="http://schemas.microsoft.com/office/drawing/2014/main" id="{81E8914F-9255-DAE1-2807-7B948B2FECB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691179" y="3363489"/>
                <a:ext cx="285750" cy="336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dirty="0">
                    <a:latin typeface="Times New Roman" charset="0"/>
                  </a:rPr>
                  <a:t>0</a:t>
                </a:r>
              </a:p>
            </p:txBody>
          </p:sp>
          <p:sp>
            <p:nvSpPr>
              <p:cNvPr id="23" name="Text Box 34">
                <a:extLst>
                  <a:ext uri="{FF2B5EF4-FFF2-40B4-BE49-F238E27FC236}">
                    <a16:creationId xmlns:a16="http://schemas.microsoft.com/office/drawing/2014/main" id="{0548CD21-34F3-D483-EBC0-25D264304DC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075269" y="3363489"/>
                <a:ext cx="285750" cy="336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dirty="0">
                    <a:latin typeface="Times New Roman" charset="0"/>
                  </a:rPr>
                  <a:t>1</a:t>
                </a:r>
              </a:p>
            </p:txBody>
          </p:sp>
          <p:sp>
            <p:nvSpPr>
              <p:cNvPr id="24" name="Text Box 34">
                <a:extLst>
                  <a:ext uri="{FF2B5EF4-FFF2-40B4-BE49-F238E27FC236}">
                    <a16:creationId xmlns:a16="http://schemas.microsoft.com/office/drawing/2014/main" id="{D1EC9166-1784-26D4-DCF9-8A4CB6435DE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459359" y="3363489"/>
                <a:ext cx="285750" cy="336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dirty="0">
                    <a:latin typeface="Times New Roman" charset="0"/>
                  </a:rPr>
                  <a:t>2</a:t>
                </a:r>
              </a:p>
            </p:txBody>
          </p:sp>
          <p:sp>
            <p:nvSpPr>
              <p:cNvPr id="25" name="Text Box 34">
                <a:extLst>
                  <a:ext uri="{FF2B5EF4-FFF2-40B4-BE49-F238E27FC236}">
                    <a16:creationId xmlns:a16="http://schemas.microsoft.com/office/drawing/2014/main" id="{94D9AADE-1D2C-A8C9-EE55-FF19E396FD4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843449" y="3363489"/>
                <a:ext cx="285750" cy="336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dirty="0">
                    <a:latin typeface="Times New Roman" charset="0"/>
                  </a:rPr>
                  <a:t>3</a:t>
                </a:r>
              </a:p>
            </p:txBody>
          </p:sp>
          <p:sp>
            <p:nvSpPr>
              <p:cNvPr id="26" name="Text Box 34">
                <a:extLst>
                  <a:ext uri="{FF2B5EF4-FFF2-40B4-BE49-F238E27FC236}">
                    <a16:creationId xmlns:a16="http://schemas.microsoft.com/office/drawing/2014/main" id="{458AB36A-7C0C-277F-C888-8BAA6D0DEB1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227539" y="3363489"/>
                <a:ext cx="285750" cy="336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dirty="0">
                    <a:latin typeface="Times New Roman" charset="0"/>
                  </a:rPr>
                  <a:t>4</a:t>
                </a:r>
              </a:p>
            </p:txBody>
          </p:sp>
          <p:sp>
            <p:nvSpPr>
              <p:cNvPr id="27" name="Text Box 34">
                <a:extLst>
                  <a:ext uri="{FF2B5EF4-FFF2-40B4-BE49-F238E27FC236}">
                    <a16:creationId xmlns:a16="http://schemas.microsoft.com/office/drawing/2014/main" id="{BB398555-B997-2B79-E686-A6E086605E7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611627" y="3363489"/>
                <a:ext cx="285750" cy="336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dirty="0">
                    <a:latin typeface="Times New Roman" charset="0"/>
                  </a:rPr>
                  <a:t>5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CaixaDeTexto 27">
                  <a:extLst>
                    <a:ext uri="{FF2B5EF4-FFF2-40B4-BE49-F238E27FC236}">
                      <a16:creationId xmlns:a16="http://schemas.microsoft.com/office/drawing/2014/main" id="{B6D01215-DB09-0519-F7AC-034A4CB3AA71}"/>
                    </a:ext>
                  </a:extLst>
                </p:cNvPr>
                <p:cNvSpPr txBox="1"/>
                <p:nvPr/>
              </p:nvSpPr>
              <p:spPr>
                <a:xfrm>
                  <a:off x="5562584" y="3088626"/>
                  <a:ext cx="792444" cy="2616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r>
                          <a:rPr lang="pt-BR" sz="11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</m:t>
                        </m:r>
                        <m:r>
                          <a:rPr lang="pt-BR" sz="11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=0,5</m:t>
                        </m:r>
                      </m:oMath>
                    </m:oMathPara>
                  </a14:m>
                  <a:endParaRPr lang="pt-BR" sz="1100" dirty="0">
                    <a:solidFill>
                      <a:srgbClr val="0070C0"/>
                    </a:solidFill>
                    <a:latin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28" name="CaixaDeTexto 27">
                  <a:extLst>
                    <a:ext uri="{FF2B5EF4-FFF2-40B4-BE49-F238E27FC236}">
                      <a16:creationId xmlns:a16="http://schemas.microsoft.com/office/drawing/2014/main" id="{B6D01215-DB09-0519-F7AC-034A4CB3AA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62584" y="3088626"/>
                  <a:ext cx="792444" cy="26161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CaixaDeTexto 28">
                  <a:extLst>
                    <a:ext uri="{FF2B5EF4-FFF2-40B4-BE49-F238E27FC236}">
                      <a16:creationId xmlns:a16="http://schemas.microsoft.com/office/drawing/2014/main" id="{C3E5F66E-0F4D-5449-5EE5-9C2113C4DEDD}"/>
                    </a:ext>
                  </a:extLst>
                </p:cNvPr>
                <p:cNvSpPr txBox="1"/>
                <p:nvPr/>
              </p:nvSpPr>
              <p:spPr>
                <a:xfrm>
                  <a:off x="5218575" y="2444874"/>
                  <a:ext cx="792444" cy="2616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r>
                          <a:rPr lang="pt-BR" sz="11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</m:t>
                        </m:r>
                        <m:r>
                          <a:rPr lang="pt-BR" sz="11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oMath>
                    </m:oMathPara>
                  </a14:m>
                  <a:endParaRPr lang="pt-BR" sz="1100" dirty="0">
                    <a:solidFill>
                      <a:srgbClr val="00B050"/>
                    </a:solidFill>
                    <a:latin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29" name="CaixaDeTexto 28">
                  <a:extLst>
                    <a:ext uri="{FF2B5EF4-FFF2-40B4-BE49-F238E27FC236}">
                      <a16:creationId xmlns:a16="http://schemas.microsoft.com/office/drawing/2014/main" id="{C3E5F66E-0F4D-5449-5EE5-9C2113C4DE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18575" y="2444874"/>
                  <a:ext cx="792444" cy="26161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CaixaDeTexto 29">
                  <a:extLst>
                    <a:ext uri="{FF2B5EF4-FFF2-40B4-BE49-F238E27FC236}">
                      <a16:creationId xmlns:a16="http://schemas.microsoft.com/office/drawing/2014/main" id="{68A0587C-0B28-1434-C170-D7D09F35870A}"/>
                    </a:ext>
                  </a:extLst>
                </p:cNvPr>
                <p:cNvSpPr txBox="1"/>
                <p:nvPr/>
              </p:nvSpPr>
              <p:spPr>
                <a:xfrm>
                  <a:off x="5868144" y="2147808"/>
                  <a:ext cx="792444" cy="2616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r>
                          <a:rPr lang="pt-BR" sz="11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</m:t>
                        </m:r>
                        <m:r>
                          <a:rPr lang="pt-BR" sz="11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=1,5</m:t>
                        </m:r>
                      </m:oMath>
                    </m:oMathPara>
                  </a14:m>
                  <a:endParaRPr lang="pt-BR" sz="1100" dirty="0">
                    <a:solidFill>
                      <a:srgbClr val="FF0000"/>
                    </a:solidFill>
                    <a:latin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30" name="CaixaDeTexto 29">
                  <a:extLst>
                    <a:ext uri="{FF2B5EF4-FFF2-40B4-BE49-F238E27FC236}">
                      <a16:creationId xmlns:a16="http://schemas.microsoft.com/office/drawing/2014/main" id="{68A0587C-0B28-1434-C170-D7D09F3587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68144" y="2147808"/>
                  <a:ext cx="792444" cy="26161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2357" name="Text Box 20">
                <a:extLst>
                  <a:ext uri="{FF2B5EF4-FFF2-40B4-BE49-F238E27FC236}">
                    <a16:creationId xmlns:a16="http://schemas.microsoft.com/office/drawing/2014/main" id="{A3AA1248-2533-66DA-0485-C49F7575841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22325" y="5738457"/>
                <a:ext cx="5115696" cy="4988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dirty="0">
                    <a:latin typeface="Tahoma" panose="020B0604030504040204" pitchFamily="34" charset="0"/>
                  </a:rPr>
                  <a:t>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altLang="pt-B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altLang="pt-BR" sz="1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pt-BR" altLang="pt-BR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pt-BR" altLang="pt-BR" sz="16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pt-BR" altLang="pt-B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altLang="pt-BR" sz="1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pt-BR" altLang="pt-BR" sz="16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pt-BR" altLang="pt-BR" sz="1600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pt-BR" altLang="pt-BR" sz="1600" b="0" i="1" smtClean="0">
                        <a:latin typeface="Cambria Math" panose="02040503050406030204" pitchFamily="18" charset="0"/>
                      </a:rPr>
                      <m:t>𝐸𝑥𝑝</m:t>
                    </m:r>
                    <m:r>
                      <a:rPr lang="pt-BR" altLang="pt-BR" sz="1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altLang="pt-B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pt-BR" altLang="pt-BR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altLang="pt-BR" sz="1600" dirty="0">
                    <a:latin typeface="Tahoma" panose="020B0604030504040204" pitchFamily="34" charset="0"/>
                  </a:rPr>
                  <a:t> independentes então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altLang="pt-BR" sz="1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pt-BR" altLang="pt-B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altLang="pt-BR" sz="16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pt-BR" altLang="pt-BR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pt-BR" altLang="pt-B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altLang="pt-BR" sz="16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pt-BR" altLang="pt-BR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pt-BR" altLang="pt-BR" sz="1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pt-BR" altLang="pt-B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altLang="pt-BR" sz="16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pt-BR" altLang="pt-BR" sz="16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den>
                    </m:f>
                    <m:r>
                      <a:rPr lang="pt-BR" altLang="pt-BR" sz="1600" b="0" i="1" smtClean="0">
                        <a:latin typeface="Cambria Math" panose="02040503050406030204" pitchFamily="18" charset="0"/>
                      </a:rPr>
                      <m:t> ~ </m:t>
                    </m:r>
                    <m:r>
                      <a:rPr lang="pt-BR" altLang="pt-BR" sz="1600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pt-BR" altLang="pt-BR" sz="1600" b="0" i="1" smtClean="0">
                        <a:latin typeface="Cambria Math" panose="02040503050406030204" pitchFamily="18" charset="0"/>
                      </a:rPr>
                      <m:t>(0,1)</m:t>
                    </m:r>
                  </m:oMath>
                </a14:m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2357" name="Text Box 20">
                <a:extLst>
                  <a:ext uri="{FF2B5EF4-FFF2-40B4-BE49-F238E27FC236}">
                    <a16:creationId xmlns:a16="http://schemas.microsoft.com/office/drawing/2014/main" id="{A3AA1248-2533-66DA-0485-C49F757584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2325" y="5738457"/>
                <a:ext cx="5115696" cy="498855"/>
              </a:xfrm>
              <a:prstGeom prst="rect">
                <a:avLst/>
              </a:prstGeom>
              <a:blipFill>
                <a:blip r:embed="rId12"/>
                <a:stretch>
                  <a:fillRect l="-715" b="-122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21011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42359" grpId="0"/>
      <p:bldP spid="142357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13">
                <a:extLst>
                  <a:ext uri="{FF2B5EF4-FFF2-40B4-BE49-F238E27FC236}">
                    <a16:creationId xmlns:a16="http://schemas.microsoft.com/office/drawing/2014/main" id="{0077288C-ACBC-1612-9431-60B4C5D5A716}"/>
                  </a:ext>
                </a:extLst>
              </p:cNvPr>
              <p:cNvSpPr txBox="1"/>
              <p:nvPr/>
            </p:nvSpPr>
            <p:spPr bwMode="auto">
              <a:xfrm>
                <a:off x="889784" y="3645024"/>
                <a:ext cx="1702569" cy="7357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1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pt-BR" sz="1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1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pt-BR" sz="1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pt-BR" sz="1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ad>
                        <m:radPr>
                          <m:degHide m:val="on"/>
                          <m:ctrlPr>
                            <a:rPr lang="pt-BR" sz="1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pt-BR" sz="18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18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pt-BR" sz="1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pt-BR" sz="1800" dirty="0">
                  <a:latin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15" name="Object 13">
                <a:extLst>
                  <a:ext uri="{FF2B5EF4-FFF2-40B4-BE49-F238E27FC236}">
                    <a16:creationId xmlns:a16="http://schemas.microsoft.com/office/drawing/2014/main" id="{0077288C-ACBC-1612-9431-60B4C5D5A7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9784" y="3645024"/>
                <a:ext cx="1702569" cy="73575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13">
                <a:extLst>
                  <a:ext uri="{FF2B5EF4-FFF2-40B4-BE49-F238E27FC236}">
                    <a16:creationId xmlns:a16="http://schemas.microsoft.com/office/drawing/2014/main" id="{8D0D632B-E2AB-43BB-AD8A-C47F0B0BA8F5}"/>
                  </a:ext>
                </a:extLst>
              </p:cNvPr>
              <p:cNvSpPr txBox="1"/>
              <p:nvPr/>
            </p:nvSpPr>
            <p:spPr bwMode="auto">
              <a:xfrm>
                <a:off x="873757" y="4212613"/>
                <a:ext cx="2365650" cy="7357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1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𝑉𝑎𝑟</m:t>
                      </m:r>
                      <m:r>
                        <a:rPr lang="pt-BR" sz="1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1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pt-BR" sz="1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ctrlPr>
                            <a:rPr lang="pt-BR" sz="1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1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2−</m:t>
                          </m:r>
                          <m:f>
                            <m:fPr>
                              <m:ctrlPr>
                                <a:rPr lang="pt-BR" sz="1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1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pt-BR" sz="1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sSup>
                        <m:sSupPr>
                          <m:ctrlPr>
                            <a:rPr lang="pt-BR" sz="1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1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p>
                          <m:r>
                            <a:rPr lang="pt-BR" sz="1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pt-BR" sz="1800" dirty="0">
                  <a:latin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16" name="Object 13">
                <a:extLst>
                  <a:ext uri="{FF2B5EF4-FFF2-40B4-BE49-F238E27FC236}">
                    <a16:creationId xmlns:a16="http://schemas.microsoft.com/office/drawing/2014/main" id="{8D0D632B-E2AB-43BB-AD8A-C47F0B0BA8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73757" y="4212613"/>
                <a:ext cx="2365650" cy="73575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2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Distribuição </a:t>
            </a:r>
            <a:r>
              <a:rPr lang="pt-BR" i="1" dirty="0">
                <a:sym typeface="Symbol" pitchFamily="18" charset="2"/>
              </a:rPr>
              <a:t>Rayleigh</a:t>
            </a:r>
            <a:endParaRPr lang="pt-BR" i="1" dirty="0"/>
          </a:p>
        </p:txBody>
      </p:sp>
      <p:grpSp>
        <p:nvGrpSpPr>
          <p:cNvPr id="142347" name="Agrupar 142346">
            <a:extLst>
              <a:ext uri="{FF2B5EF4-FFF2-40B4-BE49-F238E27FC236}">
                <a16:creationId xmlns:a16="http://schemas.microsoft.com/office/drawing/2014/main" id="{3300FF3C-B0E4-99D3-3099-CD13FCD32DE2}"/>
              </a:ext>
            </a:extLst>
          </p:cNvPr>
          <p:cNvGrpSpPr/>
          <p:nvPr/>
        </p:nvGrpSpPr>
        <p:grpSpPr>
          <a:xfrm>
            <a:off x="3182293" y="3817032"/>
            <a:ext cx="5854203" cy="800825"/>
            <a:chOff x="2462213" y="3753120"/>
            <a:chExt cx="5854203" cy="80082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Object 13">
                  <a:extLst>
                    <a:ext uri="{FF2B5EF4-FFF2-40B4-BE49-F238E27FC236}">
                      <a16:creationId xmlns:a16="http://schemas.microsoft.com/office/drawing/2014/main" id="{AD4E72B1-B31B-824B-EA7C-54A5761B2EE1}"/>
                    </a:ext>
                  </a:extLst>
                </p:cNvPr>
                <p:cNvSpPr txBox="1"/>
                <p:nvPr/>
              </p:nvSpPr>
              <p:spPr bwMode="auto">
                <a:xfrm>
                  <a:off x="2627784" y="3962703"/>
                  <a:ext cx="1702569" cy="47106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pt-BR" sz="1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pt-BR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~</m:t>
                        </m:r>
                        <m:r>
                          <a:rPr lang="pt-BR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𝑅𝑎𝑦𝑙𝑒𝑖𝑔h</m:t>
                        </m:r>
                        <m:r>
                          <a:rPr lang="pt-BR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r>
                          <a:rPr lang="pt-BR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pt-BR" sz="1800" dirty="0">
                    <a:latin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18" name="Object 13">
                  <a:extLst>
                    <a:ext uri="{FF2B5EF4-FFF2-40B4-BE49-F238E27FC236}">
                      <a16:creationId xmlns:a16="http://schemas.microsoft.com/office/drawing/2014/main" id="{AD4E72B1-B31B-824B-EA7C-54A5761B2E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627784" y="3962703"/>
                  <a:ext cx="1702569" cy="471066"/>
                </a:xfrm>
                <a:prstGeom prst="rect">
                  <a:avLst/>
                </a:prstGeom>
                <a:blipFill>
                  <a:blip r:embed="rId4"/>
                  <a:stretch>
                    <a:fillRect r="-5018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509" name="AutoShape 8"/>
            <p:cNvSpPr>
              <a:spLocks/>
            </p:cNvSpPr>
            <p:nvPr/>
          </p:nvSpPr>
          <p:spPr bwMode="auto">
            <a:xfrm>
              <a:off x="2462213" y="3753120"/>
              <a:ext cx="76200" cy="756000"/>
            </a:xfrm>
            <a:prstGeom prst="rightBrace">
              <a:avLst>
                <a:gd name="adj1" fmla="val 6666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42346" name="Text Box 10"/>
            <p:cNvSpPr txBox="1">
              <a:spLocks noChangeArrowheads="1"/>
            </p:cNvSpPr>
            <p:nvPr/>
          </p:nvSpPr>
          <p:spPr bwMode="auto">
            <a:xfrm>
              <a:off x="4355976" y="3972920"/>
              <a:ext cx="3960440" cy="581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385763" indent="-385763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(lê-se: </a:t>
              </a:r>
              <a:r>
                <a:rPr lang="pt-BR" altLang="pt-BR" sz="1600" i="1" dirty="0">
                  <a:latin typeface="Times New Roman" charset="0"/>
                </a:rPr>
                <a:t>X</a:t>
              </a:r>
              <a:r>
                <a:rPr lang="pt-BR" altLang="pt-BR" sz="1600" dirty="0">
                  <a:latin typeface="Tahoma" panose="020B0604030504040204" pitchFamily="34" charset="0"/>
                </a:rPr>
                <a:t> tem distribuição </a:t>
              </a:r>
              <a:r>
                <a:rPr lang="pt-BR" altLang="pt-BR" sz="1600" i="1" dirty="0">
                  <a:latin typeface="Tahoma" panose="020B0604030504040204" pitchFamily="34" charset="0"/>
                </a:rPr>
                <a:t>Rayleigh</a:t>
              </a:r>
              <a:r>
                <a:rPr lang="pt-BR" altLang="pt-BR" sz="1600" dirty="0">
                  <a:latin typeface="Tahoma" panose="020B0604030504040204" pitchFamily="34" charset="0"/>
                </a:rPr>
                <a:t> com parâmetro </a:t>
              </a:r>
              <a:r>
                <a:rPr lang="pt-BR" altLang="pt-BR" sz="1600" i="1" dirty="0">
                  <a:latin typeface="Tahoma" panose="020B0604030504040204" pitchFamily="34" charset="0"/>
                  <a:sym typeface="Symbol" panose="05050102010706020507" pitchFamily="18" charset="2"/>
                </a:rPr>
                <a:t></a:t>
              </a:r>
              <a:r>
                <a:rPr lang="pt-BR" altLang="pt-BR" sz="1600" dirty="0">
                  <a:latin typeface="Tahoma" panose="020B0604030504040204" pitchFamily="34" charset="0"/>
                </a:rPr>
                <a:t>)</a:t>
              </a:r>
            </a:p>
          </p:txBody>
        </p:sp>
      </p:grpSp>
      <p:sp>
        <p:nvSpPr>
          <p:cNvPr id="142359" name="Text Box 23"/>
          <p:cNvSpPr txBox="1">
            <a:spLocks noChangeArrowheads="1"/>
          </p:cNvSpPr>
          <p:nvPr/>
        </p:nvSpPr>
        <p:spPr bwMode="auto">
          <a:xfrm>
            <a:off x="822325" y="5085184"/>
            <a:ext cx="143077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Propriedades: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2E4C08-7E87-4B70-8D65-19AAF73BE0BF}" type="slidenum">
              <a:rPr lang="pt-BR"/>
              <a:pPr>
                <a:defRPr/>
              </a:pPr>
              <a:t>75</a:t>
            </a:fld>
            <a:endParaRPr lang="pt-BR"/>
          </a:p>
        </p:txBody>
      </p:sp>
      <p:sp>
        <p:nvSpPr>
          <p:cNvPr id="38" name="Retângulo 2"/>
          <p:cNvSpPr>
            <a:spLocks noChangeArrowheads="1"/>
          </p:cNvSpPr>
          <p:nvPr/>
        </p:nvSpPr>
        <p:spPr bwMode="auto">
          <a:xfrm>
            <a:off x="695325" y="1547813"/>
            <a:ext cx="7764463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55600" indent="-35560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Uma variável aleatória </a:t>
            </a:r>
            <a:r>
              <a:rPr lang="pt-BR" altLang="pt-BR" sz="1600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pt-BR" altLang="pt-BR" sz="1600" dirty="0">
                <a:latin typeface="Tahoma" panose="020B0604030504040204" pitchFamily="34" charset="0"/>
              </a:rPr>
              <a:t> tem distribuição </a:t>
            </a:r>
            <a:r>
              <a:rPr lang="pt-BR" altLang="pt-BR" sz="1600" i="1" dirty="0">
                <a:latin typeface="Tahoma" panose="020B0604030504040204" pitchFamily="34" charset="0"/>
              </a:rPr>
              <a:t>Rayleigh</a:t>
            </a:r>
            <a:r>
              <a:rPr lang="pt-BR" altLang="pt-BR" sz="1600" dirty="0">
                <a:latin typeface="Tahoma" panose="020B0604030504040204" pitchFamily="34" charset="0"/>
              </a:rPr>
              <a:t> se sua função densidade de probabilidade for dada por: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13">
                <a:extLst>
                  <a:ext uri="{FF2B5EF4-FFF2-40B4-BE49-F238E27FC236}">
                    <a16:creationId xmlns:a16="http://schemas.microsoft.com/office/drawing/2014/main" id="{975EF850-B58E-8CF5-65D3-3E1FE941B875}"/>
                  </a:ext>
                </a:extLst>
              </p:cNvPr>
              <p:cNvSpPr txBox="1"/>
              <p:nvPr/>
            </p:nvSpPr>
            <p:spPr bwMode="auto">
              <a:xfrm>
                <a:off x="867593" y="2402905"/>
                <a:ext cx="1702569" cy="471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1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pt-BR" sz="1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1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BR" sz="1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pt-BR" sz="1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1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sSup>
                            <m:sSupPr>
                              <m:ctrlPr>
                                <a:rPr lang="pt-BR" sz="1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18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p>
                              <m:r>
                                <a:rPr lang="pt-BR" sz="1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sSup>
                        <m:sSupPr>
                          <m:ctrlPr>
                            <a:rPr lang="pt-BR" sz="1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a:rPr lang="pt-BR" sz="1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𝑒</m:t>
                          </m:r>
                        </m:e>
                        <m:sup>
                          <m:f>
                            <m:fPr>
                              <m:ctrlPr>
                                <a:rPr lang="pt-BR" sz="1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</m:ctrlPr>
                            </m:fPr>
                            <m:num>
                              <m:r>
                                <a:rPr lang="pt-BR" sz="1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pt-BR" sz="18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</m:ctrlPr>
                                </m:sSupPr>
                                <m:e>
                                  <m:r>
                                    <a:rPr lang="pt-BR" sz="18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pt-BR" sz="18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pt-BR" sz="1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pt-BR" sz="18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</m:ctrlPr>
                                </m:sSupPr>
                                <m:e>
                                  <m:r>
                                    <a:rPr lang="pt-BR" sz="18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𝛼</m:t>
                                  </m:r>
                                </m:e>
                                <m:sup>
                                  <m:r>
                                    <a:rPr lang="pt-BR" sz="18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sup>
                      </m:sSup>
                    </m:oMath>
                  </m:oMathPara>
                </a14:m>
                <a:endParaRPr lang="pt-BR" sz="1800" dirty="0">
                  <a:latin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Object 13">
                <a:extLst>
                  <a:ext uri="{FF2B5EF4-FFF2-40B4-BE49-F238E27FC236}">
                    <a16:creationId xmlns:a16="http://schemas.microsoft.com/office/drawing/2014/main" id="{975EF850-B58E-8CF5-65D3-3E1FE941B8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67593" y="2402905"/>
                <a:ext cx="1702569" cy="471066"/>
              </a:xfrm>
              <a:prstGeom prst="rect">
                <a:avLst/>
              </a:prstGeom>
              <a:blipFill>
                <a:blip r:embed="rId5"/>
                <a:stretch>
                  <a:fillRect b="-2857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6AD01939-3328-7B99-06B7-5228F843A021}"/>
                  </a:ext>
                </a:extLst>
              </p:cNvPr>
              <p:cNvSpPr txBox="1"/>
              <p:nvPr/>
            </p:nvSpPr>
            <p:spPr>
              <a:xfrm>
                <a:off x="2828925" y="2348880"/>
                <a:ext cx="792444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1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B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pt-BR" dirty="0">
                  <a:latin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6AD01939-3328-7B99-06B7-5228F843A0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8925" y="2348880"/>
                <a:ext cx="792444" cy="3385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20C015A1-4E7B-C256-33E1-665E8829ABC5}"/>
                  </a:ext>
                </a:extLst>
              </p:cNvPr>
              <p:cNvSpPr txBox="1"/>
              <p:nvPr/>
            </p:nvSpPr>
            <p:spPr>
              <a:xfrm>
                <a:off x="2827710" y="2641045"/>
                <a:ext cx="792444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pt-B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pt-BR" dirty="0">
                  <a:latin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20C015A1-4E7B-C256-33E1-665E8829AB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7710" y="2641045"/>
                <a:ext cx="792444" cy="3385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Agrupar 4">
            <a:extLst>
              <a:ext uri="{FF2B5EF4-FFF2-40B4-BE49-F238E27FC236}">
                <a16:creationId xmlns:a16="http://schemas.microsoft.com/office/drawing/2014/main" id="{409AAF1C-9964-3FAA-DB47-DF0F3130EA18}"/>
              </a:ext>
            </a:extLst>
          </p:cNvPr>
          <p:cNvGrpSpPr/>
          <p:nvPr/>
        </p:nvGrpSpPr>
        <p:grpSpPr>
          <a:xfrm>
            <a:off x="4499992" y="1988840"/>
            <a:ext cx="2283803" cy="1817643"/>
            <a:chOff x="4573497" y="1899389"/>
            <a:chExt cx="2283803" cy="1817643"/>
          </a:xfrm>
        </p:grpSpPr>
        <p:pic>
          <p:nvPicPr>
            <p:cNvPr id="4" name="Imagem 3">
              <a:extLst>
                <a:ext uri="{FF2B5EF4-FFF2-40B4-BE49-F238E27FC236}">
                  <a16:creationId xmlns:a16="http://schemas.microsoft.com/office/drawing/2014/main" id="{BC5CCD49-3DBD-BAF1-C540-68CDD015F04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631694" y="1899389"/>
              <a:ext cx="2086139" cy="1558800"/>
            </a:xfrm>
            <a:prstGeom prst="rect">
              <a:avLst/>
            </a:prstGeom>
          </p:spPr>
        </p:pic>
        <p:grpSp>
          <p:nvGrpSpPr>
            <p:cNvPr id="20" name="Agrupar 19">
              <a:extLst>
                <a:ext uri="{FF2B5EF4-FFF2-40B4-BE49-F238E27FC236}">
                  <a16:creationId xmlns:a16="http://schemas.microsoft.com/office/drawing/2014/main" id="{4DFD785C-D3E0-386A-B75E-F2A29F1ADB83}"/>
                </a:ext>
              </a:extLst>
            </p:cNvPr>
            <p:cNvGrpSpPr/>
            <p:nvPr/>
          </p:nvGrpSpPr>
          <p:grpSpPr>
            <a:xfrm>
              <a:off x="4573497" y="3380482"/>
              <a:ext cx="2206198" cy="336550"/>
              <a:chOff x="6691179" y="3363489"/>
              <a:chExt cx="2206198" cy="336550"/>
            </a:xfrm>
          </p:grpSpPr>
          <p:sp>
            <p:nvSpPr>
              <p:cNvPr id="22" name="Text Box 34">
                <a:extLst>
                  <a:ext uri="{FF2B5EF4-FFF2-40B4-BE49-F238E27FC236}">
                    <a16:creationId xmlns:a16="http://schemas.microsoft.com/office/drawing/2014/main" id="{81E8914F-9255-DAE1-2807-7B948B2FECB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691179" y="3363489"/>
                <a:ext cx="285750" cy="336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dirty="0">
                    <a:latin typeface="Times New Roman" charset="0"/>
                  </a:rPr>
                  <a:t>0</a:t>
                </a:r>
              </a:p>
            </p:txBody>
          </p:sp>
          <p:sp>
            <p:nvSpPr>
              <p:cNvPr id="23" name="Text Box 34">
                <a:extLst>
                  <a:ext uri="{FF2B5EF4-FFF2-40B4-BE49-F238E27FC236}">
                    <a16:creationId xmlns:a16="http://schemas.microsoft.com/office/drawing/2014/main" id="{0548CD21-34F3-D483-EBC0-25D264304DC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075269" y="3363489"/>
                <a:ext cx="285750" cy="336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dirty="0">
                    <a:latin typeface="Times New Roman" charset="0"/>
                  </a:rPr>
                  <a:t>1</a:t>
                </a:r>
              </a:p>
            </p:txBody>
          </p:sp>
          <p:sp>
            <p:nvSpPr>
              <p:cNvPr id="24" name="Text Box 34">
                <a:extLst>
                  <a:ext uri="{FF2B5EF4-FFF2-40B4-BE49-F238E27FC236}">
                    <a16:creationId xmlns:a16="http://schemas.microsoft.com/office/drawing/2014/main" id="{D1EC9166-1784-26D4-DCF9-8A4CB6435DE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459359" y="3363489"/>
                <a:ext cx="285750" cy="336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dirty="0">
                    <a:latin typeface="Times New Roman" charset="0"/>
                  </a:rPr>
                  <a:t>2</a:t>
                </a:r>
              </a:p>
            </p:txBody>
          </p:sp>
          <p:sp>
            <p:nvSpPr>
              <p:cNvPr id="25" name="Text Box 34">
                <a:extLst>
                  <a:ext uri="{FF2B5EF4-FFF2-40B4-BE49-F238E27FC236}">
                    <a16:creationId xmlns:a16="http://schemas.microsoft.com/office/drawing/2014/main" id="{94D9AADE-1D2C-A8C9-EE55-FF19E396FD4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843449" y="3363489"/>
                <a:ext cx="285750" cy="336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dirty="0">
                    <a:latin typeface="Times New Roman" charset="0"/>
                  </a:rPr>
                  <a:t>3</a:t>
                </a:r>
              </a:p>
            </p:txBody>
          </p:sp>
          <p:sp>
            <p:nvSpPr>
              <p:cNvPr id="26" name="Text Box 34">
                <a:extLst>
                  <a:ext uri="{FF2B5EF4-FFF2-40B4-BE49-F238E27FC236}">
                    <a16:creationId xmlns:a16="http://schemas.microsoft.com/office/drawing/2014/main" id="{458AB36A-7C0C-277F-C888-8BAA6D0DEB1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227539" y="3363489"/>
                <a:ext cx="285750" cy="336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dirty="0">
                    <a:latin typeface="Times New Roman" charset="0"/>
                  </a:rPr>
                  <a:t>4</a:t>
                </a:r>
              </a:p>
            </p:txBody>
          </p:sp>
          <p:sp>
            <p:nvSpPr>
              <p:cNvPr id="27" name="Text Box 34">
                <a:extLst>
                  <a:ext uri="{FF2B5EF4-FFF2-40B4-BE49-F238E27FC236}">
                    <a16:creationId xmlns:a16="http://schemas.microsoft.com/office/drawing/2014/main" id="{BB398555-B997-2B79-E686-A6E086605E7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611627" y="3363489"/>
                <a:ext cx="285750" cy="336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dirty="0">
                    <a:latin typeface="Times New Roman" charset="0"/>
                  </a:rPr>
                  <a:t>5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CaixaDeTexto 27">
                  <a:extLst>
                    <a:ext uri="{FF2B5EF4-FFF2-40B4-BE49-F238E27FC236}">
                      <a16:creationId xmlns:a16="http://schemas.microsoft.com/office/drawing/2014/main" id="{B6D01215-DB09-0519-F7AC-034A4CB3AA71}"/>
                    </a:ext>
                  </a:extLst>
                </p:cNvPr>
                <p:cNvSpPr txBox="1"/>
                <p:nvPr/>
              </p:nvSpPr>
              <p:spPr>
                <a:xfrm>
                  <a:off x="4944778" y="2151772"/>
                  <a:ext cx="792444" cy="2616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pt-BR" sz="11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𝛼</m:t>
                        </m:r>
                        <m:r>
                          <a:rPr lang="pt-BR" sz="11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=0,5</m:t>
                        </m:r>
                      </m:oMath>
                    </m:oMathPara>
                  </a14:m>
                  <a:endParaRPr lang="pt-BR" sz="1100" dirty="0">
                    <a:solidFill>
                      <a:srgbClr val="0070C0"/>
                    </a:solidFill>
                    <a:latin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28" name="CaixaDeTexto 27">
                  <a:extLst>
                    <a:ext uri="{FF2B5EF4-FFF2-40B4-BE49-F238E27FC236}">
                      <a16:creationId xmlns:a16="http://schemas.microsoft.com/office/drawing/2014/main" id="{B6D01215-DB09-0519-F7AC-034A4CB3AA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44778" y="2151772"/>
                  <a:ext cx="792444" cy="26161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CaixaDeTexto 28">
                  <a:extLst>
                    <a:ext uri="{FF2B5EF4-FFF2-40B4-BE49-F238E27FC236}">
                      <a16:creationId xmlns:a16="http://schemas.microsoft.com/office/drawing/2014/main" id="{C3E5F66E-0F4D-5449-5EE5-9C2113C4DEDD}"/>
                    </a:ext>
                  </a:extLst>
                </p:cNvPr>
                <p:cNvSpPr txBox="1"/>
                <p:nvPr/>
              </p:nvSpPr>
              <p:spPr>
                <a:xfrm>
                  <a:off x="5272412" y="2698978"/>
                  <a:ext cx="792444" cy="2616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pt-BR" sz="11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𝛼</m:t>
                        </m:r>
                        <m:r>
                          <a:rPr lang="pt-BR" sz="11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oMath>
                    </m:oMathPara>
                  </a14:m>
                  <a:endParaRPr lang="pt-BR" sz="1100" dirty="0">
                    <a:solidFill>
                      <a:srgbClr val="00B050"/>
                    </a:solidFill>
                    <a:latin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29" name="CaixaDeTexto 28">
                  <a:extLst>
                    <a:ext uri="{FF2B5EF4-FFF2-40B4-BE49-F238E27FC236}">
                      <a16:creationId xmlns:a16="http://schemas.microsoft.com/office/drawing/2014/main" id="{C3E5F66E-0F4D-5449-5EE5-9C2113C4DE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72412" y="2698978"/>
                  <a:ext cx="792444" cy="26161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CaixaDeTexto 29">
                  <a:extLst>
                    <a:ext uri="{FF2B5EF4-FFF2-40B4-BE49-F238E27FC236}">
                      <a16:creationId xmlns:a16="http://schemas.microsoft.com/office/drawing/2014/main" id="{68A0587C-0B28-1434-C170-D7D09F35870A}"/>
                    </a:ext>
                  </a:extLst>
                </p:cNvPr>
                <p:cNvSpPr txBox="1"/>
                <p:nvPr/>
              </p:nvSpPr>
              <p:spPr>
                <a:xfrm>
                  <a:off x="6064856" y="2990834"/>
                  <a:ext cx="792444" cy="2616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pt-BR" sz="11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𝛼</m:t>
                        </m:r>
                        <m:r>
                          <a:rPr lang="pt-BR" sz="11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=2</m:t>
                        </m:r>
                      </m:oMath>
                    </m:oMathPara>
                  </a14:m>
                  <a:endParaRPr lang="pt-BR" sz="1100" dirty="0">
                    <a:solidFill>
                      <a:srgbClr val="FF0000"/>
                    </a:solidFill>
                    <a:latin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30" name="CaixaDeTexto 29">
                  <a:extLst>
                    <a:ext uri="{FF2B5EF4-FFF2-40B4-BE49-F238E27FC236}">
                      <a16:creationId xmlns:a16="http://schemas.microsoft.com/office/drawing/2014/main" id="{68A0587C-0B28-1434-C170-D7D09F3587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64856" y="2990834"/>
                  <a:ext cx="792444" cy="26161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Box 20">
                <a:extLst>
                  <a:ext uri="{FF2B5EF4-FFF2-40B4-BE49-F238E27FC236}">
                    <a16:creationId xmlns:a16="http://schemas.microsoft.com/office/drawing/2014/main" id="{24C658BB-0476-36AB-3552-A857CBC5DC4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40175" y="5415454"/>
                <a:ext cx="6283067" cy="5934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dirty="0">
                    <a:latin typeface="Tahoma" panose="020B0604030504040204" pitchFamily="34" charset="0"/>
                  </a:rPr>
                  <a:t>a) 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altLang="pt-B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altLang="pt-BR" sz="16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pt-BR" altLang="pt-BR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pt-BR" altLang="pt-BR" sz="16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pt-BR" altLang="pt-B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altLang="pt-BR" sz="16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pt-BR" altLang="pt-BR" sz="16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pt-BR" altLang="pt-BR" sz="1600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pt-BR" altLang="pt-BR" sz="16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pt-BR" altLang="pt-BR" sz="1600" b="0" i="1" smtClean="0">
                        <a:latin typeface="Cambria Math" panose="02040503050406030204" pitchFamily="18" charset="0"/>
                      </a:rPr>
                      <m:t>(0,</m:t>
                    </m:r>
                    <m:sSup>
                      <m:sSupPr>
                        <m:ctrlPr>
                          <a:rPr lang="pt-BR" altLang="pt-B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altLang="pt-B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pt-BR" altLang="pt-B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t-BR" altLang="pt-BR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altLang="pt-BR" sz="1600" dirty="0">
                    <a:latin typeface="Tahoma" panose="020B0604030504040204" pitchFamily="34" charset="0"/>
                  </a:rPr>
                  <a:t> independentes então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pt-BR" altLang="pt-BR" sz="16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Sup>
                          <m:sSubSupPr>
                            <m:ctrlPr>
                              <a:rPr lang="pt-BR" altLang="pt-BR" sz="16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pt-BR" altLang="pt-BR" sz="16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pt-BR" altLang="pt-BR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pt-BR" altLang="pt-BR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pt-BR" altLang="pt-BR" sz="1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pt-BR" altLang="pt-BR" sz="16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pt-BR" altLang="pt-BR" sz="16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pt-BR" altLang="pt-BR" sz="16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pt-BR" altLang="pt-BR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rad>
                    <m:r>
                      <a:rPr lang="pt-BR" altLang="pt-BR" sz="1600" b="0" i="1" smtClean="0">
                        <a:latin typeface="Cambria Math" panose="02040503050406030204" pitchFamily="18" charset="0"/>
                      </a:rPr>
                      <m:t>~ </m:t>
                    </m:r>
                    <m:r>
                      <a:rPr lang="pt-BR" altLang="pt-BR" sz="1600" b="0" i="1" smtClean="0">
                        <a:latin typeface="Cambria Math" panose="02040503050406030204" pitchFamily="18" charset="0"/>
                      </a:rPr>
                      <m:t>𝑅𝑎𝑦𝑙𝑒𝑖𝑔h</m:t>
                    </m:r>
                    <m:r>
                      <a:rPr lang="pt-BR" altLang="pt-BR" sz="1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altLang="pt-B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r>
                      <a:rPr lang="pt-BR" altLang="pt-BR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Text Box 20">
                <a:extLst>
                  <a:ext uri="{FF2B5EF4-FFF2-40B4-BE49-F238E27FC236}">
                    <a16:creationId xmlns:a16="http://schemas.microsoft.com/office/drawing/2014/main" id="{24C658BB-0476-36AB-3552-A857CBC5DC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40175" y="5415454"/>
                <a:ext cx="6283067" cy="593432"/>
              </a:xfrm>
              <a:prstGeom prst="rect">
                <a:avLst/>
              </a:prstGeom>
              <a:blipFill>
                <a:blip r:embed="rId12"/>
                <a:stretch>
                  <a:fillRect l="-58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Box 20">
                <a:extLst>
                  <a:ext uri="{FF2B5EF4-FFF2-40B4-BE49-F238E27FC236}">
                    <a16:creationId xmlns:a16="http://schemas.microsoft.com/office/drawing/2014/main" id="{0AD9E5DD-1D3E-FC48-22D8-2092B5A67BE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40175" y="5988283"/>
                <a:ext cx="4090094" cy="4654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dirty="0">
                    <a:latin typeface="Tahoma" panose="020B0604030504040204" pitchFamily="34" charset="0"/>
                  </a:rPr>
                  <a:t>b) Se </a:t>
                </a:r>
                <a14:m>
                  <m:oMath xmlns:m="http://schemas.openxmlformats.org/officeDocument/2006/math">
                    <m:r>
                      <a:rPr lang="pt-BR" altLang="pt-BR" sz="16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pt-BR" altLang="pt-BR" sz="1600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pt-BR" altLang="pt-BR" sz="1600" b="0" i="1" smtClean="0">
                        <a:latin typeface="Cambria Math" panose="02040503050406030204" pitchFamily="18" charset="0"/>
                      </a:rPr>
                      <m:t>𝐸𝑥𝑝</m:t>
                    </m:r>
                    <m:r>
                      <a:rPr lang="pt-BR" altLang="pt-BR" sz="1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altLang="pt-B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pt-BR" altLang="pt-BR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altLang="pt-BR" sz="1600" dirty="0">
                    <a:latin typeface="Tahoma" panose="020B0604030504040204" pitchFamily="34" charset="0"/>
                  </a:rPr>
                  <a:t> então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pt-BR" altLang="pt-BR" sz="16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pt-BR" altLang="pt-BR" sz="1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rad>
                    <m:r>
                      <a:rPr lang="pt-BR" altLang="pt-BR" sz="1600" b="0" i="1" smtClean="0">
                        <a:latin typeface="Cambria Math" panose="02040503050406030204" pitchFamily="18" charset="0"/>
                      </a:rPr>
                      <m:t>~ </m:t>
                    </m:r>
                    <m:r>
                      <a:rPr lang="pt-BR" altLang="pt-BR" sz="1600" b="0" i="1" smtClean="0">
                        <a:latin typeface="Cambria Math" panose="02040503050406030204" pitchFamily="18" charset="0"/>
                      </a:rPr>
                      <m:t>𝑅𝑎𝑦𝑙𝑒𝑖𝑔h</m:t>
                    </m:r>
                    <m:d>
                      <m:dPr>
                        <m:ctrlPr>
                          <a:rPr lang="pt-BR" altLang="pt-B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pt-BR" altLang="pt-BR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 altLang="pt-BR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pt-BR" altLang="pt-BR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pt-BR" altLang="pt-BR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pt-BR" altLang="pt-BR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Text Box 20">
                <a:extLst>
                  <a:ext uri="{FF2B5EF4-FFF2-40B4-BE49-F238E27FC236}">
                    <a16:creationId xmlns:a16="http://schemas.microsoft.com/office/drawing/2014/main" id="{0AD9E5DD-1D3E-FC48-22D8-2092B5A67B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40175" y="5988283"/>
                <a:ext cx="4090094" cy="465448"/>
              </a:xfrm>
              <a:prstGeom prst="rect">
                <a:avLst/>
              </a:prstGeom>
              <a:blipFill>
                <a:blip r:embed="rId13"/>
                <a:stretch>
                  <a:fillRect l="-89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955843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42359" grpId="0"/>
      <p:bldP spid="2" grpId="0"/>
      <p:bldP spid="3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13">
                <a:extLst>
                  <a:ext uri="{FF2B5EF4-FFF2-40B4-BE49-F238E27FC236}">
                    <a16:creationId xmlns:a16="http://schemas.microsoft.com/office/drawing/2014/main" id="{0077288C-ACBC-1612-9431-60B4C5D5A716}"/>
                  </a:ext>
                </a:extLst>
              </p:cNvPr>
              <p:cNvSpPr txBox="1"/>
              <p:nvPr/>
            </p:nvSpPr>
            <p:spPr bwMode="auto">
              <a:xfrm>
                <a:off x="889784" y="3645024"/>
                <a:ext cx="1702569" cy="7357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1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pt-BR" sz="1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1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pt-BR" sz="1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pt-BR" sz="1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1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num>
                        <m:den>
                          <m:r>
                            <a:rPr lang="pt-BR" sz="1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den>
                      </m:f>
                    </m:oMath>
                  </m:oMathPara>
                </a14:m>
                <a:endParaRPr lang="pt-BR" sz="1800" dirty="0">
                  <a:latin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15" name="Object 13">
                <a:extLst>
                  <a:ext uri="{FF2B5EF4-FFF2-40B4-BE49-F238E27FC236}">
                    <a16:creationId xmlns:a16="http://schemas.microsoft.com/office/drawing/2014/main" id="{0077288C-ACBC-1612-9431-60B4C5D5A7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9784" y="3645024"/>
                <a:ext cx="1702569" cy="73575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13">
                <a:extLst>
                  <a:ext uri="{FF2B5EF4-FFF2-40B4-BE49-F238E27FC236}">
                    <a16:creationId xmlns:a16="http://schemas.microsoft.com/office/drawing/2014/main" id="{8D0D632B-E2AB-43BB-AD8A-C47F0B0BA8F5}"/>
                  </a:ext>
                </a:extLst>
              </p:cNvPr>
              <p:cNvSpPr txBox="1"/>
              <p:nvPr/>
            </p:nvSpPr>
            <p:spPr bwMode="auto">
              <a:xfrm>
                <a:off x="873757" y="4212613"/>
                <a:ext cx="2365650" cy="7357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1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𝑉𝑎𝑟</m:t>
                      </m:r>
                      <m:r>
                        <a:rPr lang="pt-BR" sz="1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1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pt-BR" sz="1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pt-BR" sz="1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1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num>
                        <m:den>
                          <m:sSup>
                            <m:sSupPr>
                              <m:ctrlPr>
                                <a:rPr lang="pt-BR" sz="1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18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pt-BR" sz="1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pt-BR" sz="1800" dirty="0">
                  <a:latin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16" name="Object 13">
                <a:extLst>
                  <a:ext uri="{FF2B5EF4-FFF2-40B4-BE49-F238E27FC236}">
                    <a16:creationId xmlns:a16="http://schemas.microsoft.com/office/drawing/2014/main" id="{8D0D632B-E2AB-43BB-AD8A-C47F0B0BA8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73757" y="4212613"/>
                <a:ext cx="2365650" cy="73575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2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Distribuição </a:t>
            </a:r>
            <a:r>
              <a:rPr lang="pt-BR" i="1" dirty="0">
                <a:sym typeface="Symbol" pitchFamily="18" charset="2"/>
              </a:rPr>
              <a:t>Gamma</a:t>
            </a:r>
            <a:endParaRPr lang="pt-BR" i="1" dirty="0"/>
          </a:p>
        </p:txBody>
      </p:sp>
      <p:grpSp>
        <p:nvGrpSpPr>
          <p:cNvPr id="142347" name="Agrupar 142346">
            <a:extLst>
              <a:ext uri="{FF2B5EF4-FFF2-40B4-BE49-F238E27FC236}">
                <a16:creationId xmlns:a16="http://schemas.microsoft.com/office/drawing/2014/main" id="{3300FF3C-B0E4-99D3-3099-CD13FCD32DE2}"/>
              </a:ext>
            </a:extLst>
          </p:cNvPr>
          <p:cNvGrpSpPr/>
          <p:nvPr/>
        </p:nvGrpSpPr>
        <p:grpSpPr>
          <a:xfrm>
            <a:off x="2483768" y="3817032"/>
            <a:ext cx="5976664" cy="800825"/>
            <a:chOff x="2462213" y="3753120"/>
            <a:chExt cx="5976664" cy="80082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Object 13">
                  <a:extLst>
                    <a:ext uri="{FF2B5EF4-FFF2-40B4-BE49-F238E27FC236}">
                      <a16:creationId xmlns:a16="http://schemas.microsoft.com/office/drawing/2014/main" id="{AD4E72B1-B31B-824B-EA7C-54A5761B2EE1}"/>
                    </a:ext>
                  </a:extLst>
                </p:cNvPr>
                <p:cNvSpPr txBox="1"/>
                <p:nvPr/>
              </p:nvSpPr>
              <p:spPr bwMode="auto">
                <a:xfrm>
                  <a:off x="2627784" y="3962703"/>
                  <a:ext cx="1702569" cy="47106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pt-BR" sz="1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pt-BR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~</m:t>
                        </m:r>
                        <m:r>
                          <a:rPr lang="pt-BR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𝐺𝑎𝑚𝑚𝑎</m:t>
                        </m:r>
                        <m:r>
                          <a:rPr lang="pt-BR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r>
                          <a:rPr lang="pt-BR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pt-BR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  <m:r>
                          <a:rPr lang="pt-BR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pt-BR" sz="1800" dirty="0">
                    <a:latin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18" name="Object 13">
                  <a:extLst>
                    <a:ext uri="{FF2B5EF4-FFF2-40B4-BE49-F238E27FC236}">
                      <a16:creationId xmlns:a16="http://schemas.microsoft.com/office/drawing/2014/main" id="{AD4E72B1-B31B-824B-EA7C-54A5761B2E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627784" y="3962703"/>
                  <a:ext cx="1702569" cy="471066"/>
                </a:xfrm>
                <a:prstGeom prst="rect">
                  <a:avLst/>
                </a:prstGeom>
                <a:blipFill>
                  <a:blip r:embed="rId4"/>
                  <a:stretch>
                    <a:fillRect r="-10036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509" name="AutoShape 8"/>
            <p:cNvSpPr>
              <a:spLocks/>
            </p:cNvSpPr>
            <p:nvPr/>
          </p:nvSpPr>
          <p:spPr bwMode="auto">
            <a:xfrm>
              <a:off x="2462213" y="3753120"/>
              <a:ext cx="76200" cy="756000"/>
            </a:xfrm>
            <a:prstGeom prst="rightBrace">
              <a:avLst>
                <a:gd name="adj1" fmla="val 6666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42346" name="Text Box 10"/>
            <p:cNvSpPr txBox="1">
              <a:spLocks noChangeArrowheads="1"/>
            </p:cNvSpPr>
            <p:nvPr/>
          </p:nvSpPr>
          <p:spPr bwMode="auto">
            <a:xfrm>
              <a:off x="4478437" y="3972920"/>
              <a:ext cx="3960440" cy="581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385763" indent="-385763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(lê-se: </a:t>
              </a:r>
              <a:r>
                <a:rPr lang="pt-BR" altLang="pt-BR" sz="1600" i="1" dirty="0">
                  <a:latin typeface="Times New Roman" charset="0"/>
                </a:rPr>
                <a:t>X</a:t>
              </a:r>
              <a:r>
                <a:rPr lang="pt-BR" altLang="pt-BR" sz="1600" dirty="0">
                  <a:latin typeface="Tahoma" panose="020B0604030504040204" pitchFamily="34" charset="0"/>
                </a:rPr>
                <a:t> tem distribuição </a:t>
              </a:r>
              <a:r>
                <a:rPr lang="pt-BR" altLang="pt-BR" sz="1600" i="1" dirty="0">
                  <a:latin typeface="Tahoma" panose="020B0604030504040204" pitchFamily="34" charset="0"/>
                </a:rPr>
                <a:t>Gamma</a:t>
              </a:r>
              <a:r>
                <a:rPr lang="pt-BR" altLang="pt-BR" sz="1600" dirty="0">
                  <a:latin typeface="Tahoma" panose="020B0604030504040204" pitchFamily="34" charset="0"/>
                </a:rPr>
                <a:t> com parâmetros </a:t>
              </a:r>
              <a:r>
                <a:rPr lang="pt-BR" altLang="pt-BR" sz="1600" i="1" dirty="0">
                  <a:latin typeface="Tahoma" panose="020B0604030504040204" pitchFamily="34" charset="0"/>
                  <a:sym typeface="Symbol" panose="05050102010706020507" pitchFamily="18" charset="2"/>
                </a:rPr>
                <a:t></a:t>
              </a:r>
              <a:r>
                <a:rPr lang="pt-BR" altLang="pt-BR" sz="1600" dirty="0">
                  <a:latin typeface="Tahoma" panose="020B0604030504040204" pitchFamily="34" charset="0"/>
                  <a:sym typeface="Symbol" panose="05050102010706020507" pitchFamily="18" charset="2"/>
                </a:rPr>
                <a:t> e </a:t>
              </a:r>
              <a:r>
                <a:rPr lang="pt-BR" altLang="pt-BR" sz="1600" i="1" dirty="0">
                  <a:latin typeface="Tahoma" panose="020B0604030504040204" pitchFamily="34" charset="0"/>
                  <a:sym typeface="Symbol" panose="05050102010706020507" pitchFamily="18" charset="2"/>
                </a:rPr>
                <a:t></a:t>
              </a:r>
              <a:r>
                <a:rPr lang="pt-BR" altLang="pt-BR" sz="1600" dirty="0">
                  <a:latin typeface="Tahoma" panose="020B0604030504040204" pitchFamily="34" charset="0"/>
                </a:rPr>
                <a:t>)</a:t>
              </a:r>
            </a:p>
          </p:txBody>
        </p:sp>
      </p:grpSp>
      <p:sp>
        <p:nvSpPr>
          <p:cNvPr id="142359" name="Text Box 23"/>
          <p:cNvSpPr txBox="1">
            <a:spLocks noChangeArrowheads="1"/>
          </p:cNvSpPr>
          <p:nvPr/>
        </p:nvSpPr>
        <p:spPr bwMode="auto">
          <a:xfrm>
            <a:off x="822325" y="4962654"/>
            <a:ext cx="143077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Propriedades: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2E4C08-7E87-4B70-8D65-19AAF73BE0BF}" type="slidenum">
              <a:rPr lang="pt-BR"/>
              <a:pPr>
                <a:defRPr/>
              </a:pPr>
              <a:t>76</a:t>
            </a:fld>
            <a:endParaRPr lang="pt-BR" dirty="0"/>
          </a:p>
        </p:txBody>
      </p:sp>
      <p:sp>
        <p:nvSpPr>
          <p:cNvPr id="38" name="Retângulo 2"/>
          <p:cNvSpPr>
            <a:spLocks noChangeArrowheads="1"/>
          </p:cNvSpPr>
          <p:nvPr/>
        </p:nvSpPr>
        <p:spPr bwMode="auto">
          <a:xfrm>
            <a:off x="695325" y="1547813"/>
            <a:ext cx="7764463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55600" indent="-35560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Uma variável aleatória </a:t>
            </a:r>
            <a:r>
              <a:rPr lang="pt-BR" altLang="pt-BR" sz="1600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pt-BR" altLang="pt-BR" sz="1600" dirty="0">
                <a:latin typeface="Tahoma" panose="020B0604030504040204" pitchFamily="34" charset="0"/>
              </a:rPr>
              <a:t> tem distribuição </a:t>
            </a:r>
            <a:r>
              <a:rPr lang="pt-BR" altLang="pt-BR" sz="1600" i="1" dirty="0">
                <a:latin typeface="Tahoma" panose="020B0604030504040204" pitchFamily="34" charset="0"/>
              </a:rPr>
              <a:t>Gamma</a:t>
            </a:r>
            <a:r>
              <a:rPr lang="pt-BR" altLang="pt-BR" sz="1600" dirty="0">
                <a:latin typeface="Tahoma" panose="020B0604030504040204" pitchFamily="34" charset="0"/>
              </a:rPr>
              <a:t> se sua função densidade de probabilidade for dada por: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13">
                <a:extLst>
                  <a:ext uri="{FF2B5EF4-FFF2-40B4-BE49-F238E27FC236}">
                    <a16:creationId xmlns:a16="http://schemas.microsoft.com/office/drawing/2014/main" id="{975EF850-B58E-8CF5-65D3-3E1FE941B875}"/>
                  </a:ext>
                </a:extLst>
              </p:cNvPr>
              <p:cNvSpPr txBox="1"/>
              <p:nvPr/>
            </p:nvSpPr>
            <p:spPr bwMode="auto">
              <a:xfrm>
                <a:off x="867593" y="2402905"/>
                <a:ext cx="3628734" cy="471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1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pt-BR" sz="1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1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BR" sz="1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pt-BR" sz="1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t-BR" sz="1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1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pt-BR" sz="1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pt-BR" sz="1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sSup>
                            <m:sSupPr>
                              <m:ctrlPr>
                                <a:rPr lang="pt-BR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</m:ctrlPr>
                            </m:sSupPr>
                            <m:e>
                              <m:r>
                                <a:rPr lang="pt-BR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pt-BR" sz="1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−</m:t>
                              </m:r>
                              <m:r>
                                <a:rPr lang="pt-BR" sz="1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𝛽</m:t>
                              </m:r>
                              <m:r>
                                <a:rPr lang="pt-BR" sz="1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𝑥</m:t>
                              </m:r>
                            </m:sup>
                          </m:sSup>
                          <m:sSup>
                            <m:sSupPr>
                              <m:ctrlPr>
                                <a:rPr lang="pt-BR" sz="1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</m:ctrlPr>
                            </m:sSupPr>
                            <m:e>
                              <m:r>
                                <a:rPr lang="pt-BR" sz="18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pt-BR" sz="1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𝛼</m:t>
                              </m:r>
                            </m:sup>
                          </m:sSup>
                        </m:num>
                        <m:den>
                          <m:r>
                            <a:rPr lang="pt-BR" sz="1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(</m:t>
                          </m:r>
                          <m:r>
                            <a:rPr lang="pt-BR" sz="1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  <m:t>𝛼</m:t>
                          </m:r>
                          <m:r>
                            <a:rPr lang="pt-BR" sz="1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pt-BR" sz="1800" dirty="0">
                  <a:latin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Object 13">
                <a:extLst>
                  <a:ext uri="{FF2B5EF4-FFF2-40B4-BE49-F238E27FC236}">
                    <a16:creationId xmlns:a16="http://schemas.microsoft.com/office/drawing/2014/main" id="{975EF850-B58E-8CF5-65D3-3E1FE941B8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67593" y="2402905"/>
                <a:ext cx="3628734" cy="471066"/>
              </a:xfrm>
              <a:prstGeom prst="rect">
                <a:avLst/>
              </a:prstGeom>
              <a:blipFill>
                <a:blip r:embed="rId5"/>
                <a:stretch>
                  <a:fillRect b="-4155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6AD01939-3328-7B99-06B7-5228F843A021}"/>
                  </a:ext>
                </a:extLst>
              </p:cNvPr>
              <p:cNvSpPr txBox="1"/>
              <p:nvPr/>
            </p:nvSpPr>
            <p:spPr>
              <a:xfrm>
                <a:off x="3371652" y="2438241"/>
                <a:ext cx="792444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pt-BR" sz="1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B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pt-BR" dirty="0">
                  <a:latin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6AD01939-3328-7B99-06B7-5228F843A0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1652" y="2438241"/>
                <a:ext cx="792444" cy="3385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20C015A1-4E7B-C256-33E1-665E8829ABC5}"/>
                  </a:ext>
                </a:extLst>
              </p:cNvPr>
              <p:cNvSpPr txBox="1"/>
              <p:nvPr/>
            </p:nvSpPr>
            <p:spPr>
              <a:xfrm>
                <a:off x="3131840" y="2730406"/>
                <a:ext cx="1032256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pt-B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pt-B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pt-B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pt-B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pt-BR" dirty="0">
                  <a:latin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20C015A1-4E7B-C256-33E1-665E8829AB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2730406"/>
                <a:ext cx="1032256" cy="338554"/>
              </a:xfrm>
              <a:prstGeom prst="rect">
                <a:avLst/>
              </a:prstGeom>
              <a:blipFill>
                <a:blip r:embed="rId7"/>
                <a:stretch>
                  <a:fillRect b="-1454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Agrupar 18">
            <a:extLst>
              <a:ext uri="{FF2B5EF4-FFF2-40B4-BE49-F238E27FC236}">
                <a16:creationId xmlns:a16="http://schemas.microsoft.com/office/drawing/2014/main" id="{20085460-7201-A4D6-52CD-598819EFF0DA}"/>
              </a:ext>
            </a:extLst>
          </p:cNvPr>
          <p:cNvGrpSpPr/>
          <p:nvPr/>
        </p:nvGrpSpPr>
        <p:grpSpPr>
          <a:xfrm>
            <a:off x="4499992" y="1988840"/>
            <a:ext cx="2351593" cy="1817643"/>
            <a:chOff x="4499992" y="1988840"/>
            <a:chExt cx="2351593" cy="1817643"/>
          </a:xfrm>
        </p:grpSpPr>
        <p:pic>
          <p:nvPicPr>
            <p:cNvPr id="17" name="Imagem 16">
              <a:extLst>
                <a:ext uri="{FF2B5EF4-FFF2-40B4-BE49-F238E27FC236}">
                  <a16:creationId xmlns:a16="http://schemas.microsoft.com/office/drawing/2014/main" id="{BFBF4F0D-CF89-E3D8-5B1D-50FE15CC9B4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558189" y="1988840"/>
              <a:ext cx="2081709" cy="1558800"/>
            </a:xfrm>
            <a:prstGeom prst="rect">
              <a:avLst/>
            </a:prstGeom>
          </p:spPr>
        </p:pic>
        <p:grpSp>
          <p:nvGrpSpPr>
            <p:cNvPr id="20" name="Agrupar 19">
              <a:extLst>
                <a:ext uri="{FF2B5EF4-FFF2-40B4-BE49-F238E27FC236}">
                  <a16:creationId xmlns:a16="http://schemas.microsoft.com/office/drawing/2014/main" id="{4DFD785C-D3E0-386A-B75E-F2A29F1ADB83}"/>
                </a:ext>
              </a:extLst>
            </p:cNvPr>
            <p:cNvGrpSpPr/>
            <p:nvPr/>
          </p:nvGrpSpPr>
          <p:grpSpPr>
            <a:xfrm>
              <a:off x="4499992" y="3469933"/>
              <a:ext cx="2206198" cy="336550"/>
              <a:chOff x="6691179" y="3363489"/>
              <a:chExt cx="2206198" cy="336550"/>
            </a:xfrm>
          </p:grpSpPr>
          <p:sp>
            <p:nvSpPr>
              <p:cNvPr id="22" name="Text Box 34">
                <a:extLst>
                  <a:ext uri="{FF2B5EF4-FFF2-40B4-BE49-F238E27FC236}">
                    <a16:creationId xmlns:a16="http://schemas.microsoft.com/office/drawing/2014/main" id="{81E8914F-9255-DAE1-2807-7B948B2FECB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691179" y="3363489"/>
                <a:ext cx="285750" cy="336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dirty="0">
                    <a:latin typeface="Times New Roman" charset="0"/>
                  </a:rPr>
                  <a:t>0</a:t>
                </a:r>
              </a:p>
            </p:txBody>
          </p:sp>
          <p:sp>
            <p:nvSpPr>
              <p:cNvPr id="23" name="Text Box 34">
                <a:extLst>
                  <a:ext uri="{FF2B5EF4-FFF2-40B4-BE49-F238E27FC236}">
                    <a16:creationId xmlns:a16="http://schemas.microsoft.com/office/drawing/2014/main" id="{0548CD21-34F3-D483-EBC0-25D264304DC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075269" y="3363489"/>
                <a:ext cx="285750" cy="336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dirty="0">
                    <a:latin typeface="Times New Roman" charset="0"/>
                  </a:rPr>
                  <a:t>1</a:t>
                </a:r>
              </a:p>
            </p:txBody>
          </p:sp>
          <p:sp>
            <p:nvSpPr>
              <p:cNvPr id="24" name="Text Box 34">
                <a:extLst>
                  <a:ext uri="{FF2B5EF4-FFF2-40B4-BE49-F238E27FC236}">
                    <a16:creationId xmlns:a16="http://schemas.microsoft.com/office/drawing/2014/main" id="{D1EC9166-1784-26D4-DCF9-8A4CB6435DE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459359" y="3363489"/>
                <a:ext cx="285750" cy="336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dirty="0">
                    <a:latin typeface="Times New Roman" charset="0"/>
                  </a:rPr>
                  <a:t>2</a:t>
                </a:r>
              </a:p>
            </p:txBody>
          </p:sp>
          <p:sp>
            <p:nvSpPr>
              <p:cNvPr id="25" name="Text Box 34">
                <a:extLst>
                  <a:ext uri="{FF2B5EF4-FFF2-40B4-BE49-F238E27FC236}">
                    <a16:creationId xmlns:a16="http://schemas.microsoft.com/office/drawing/2014/main" id="{94D9AADE-1D2C-A8C9-EE55-FF19E396FD4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843449" y="3363489"/>
                <a:ext cx="285750" cy="336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dirty="0">
                    <a:latin typeface="Times New Roman" charset="0"/>
                  </a:rPr>
                  <a:t>3</a:t>
                </a:r>
              </a:p>
            </p:txBody>
          </p:sp>
          <p:sp>
            <p:nvSpPr>
              <p:cNvPr id="26" name="Text Box 34">
                <a:extLst>
                  <a:ext uri="{FF2B5EF4-FFF2-40B4-BE49-F238E27FC236}">
                    <a16:creationId xmlns:a16="http://schemas.microsoft.com/office/drawing/2014/main" id="{458AB36A-7C0C-277F-C888-8BAA6D0DEB1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227539" y="3363489"/>
                <a:ext cx="285750" cy="336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dirty="0">
                    <a:latin typeface="Times New Roman" charset="0"/>
                  </a:rPr>
                  <a:t>4</a:t>
                </a:r>
              </a:p>
            </p:txBody>
          </p:sp>
          <p:sp>
            <p:nvSpPr>
              <p:cNvPr id="27" name="Text Box 34">
                <a:extLst>
                  <a:ext uri="{FF2B5EF4-FFF2-40B4-BE49-F238E27FC236}">
                    <a16:creationId xmlns:a16="http://schemas.microsoft.com/office/drawing/2014/main" id="{BB398555-B997-2B79-E686-A6E086605E7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611627" y="3363489"/>
                <a:ext cx="285750" cy="336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dirty="0">
                    <a:latin typeface="Times New Roman" charset="0"/>
                  </a:rPr>
                  <a:t>5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CaixaDeTexto 27">
                  <a:extLst>
                    <a:ext uri="{FF2B5EF4-FFF2-40B4-BE49-F238E27FC236}">
                      <a16:creationId xmlns:a16="http://schemas.microsoft.com/office/drawing/2014/main" id="{B6D01215-DB09-0519-F7AC-034A4CB3AA71}"/>
                    </a:ext>
                  </a:extLst>
                </p:cNvPr>
                <p:cNvSpPr txBox="1"/>
                <p:nvPr/>
              </p:nvSpPr>
              <p:spPr>
                <a:xfrm>
                  <a:off x="4654680" y="2068599"/>
                  <a:ext cx="1725618" cy="2616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pt-BR" sz="11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𝛼</m:t>
                        </m:r>
                        <m:r>
                          <a:rPr lang="pt-BR" sz="11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   </m:t>
                        </m:r>
                        <m:r>
                          <a:rPr lang="pt-BR" sz="11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  <m:r>
                          <a:rPr lang="pt-BR" sz="11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=2</m:t>
                        </m:r>
                      </m:oMath>
                    </m:oMathPara>
                  </a14:m>
                  <a:endParaRPr lang="pt-BR" sz="1100" dirty="0">
                    <a:solidFill>
                      <a:srgbClr val="0070C0"/>
                    </a:solidFill>
                    <a:latin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28" name="CaixaDeTexto 27">
                  <a:extLst>
                    <a:ext uri="{FF2B5EF4-FFF2-40B4-BE49-F238E27FC236}">
                      <a16:creationId xmlns:a16="http://schemas.microsoft.com/office/drawing/2014/main" id="{B6D01215-DB09-0519-F7AC-034A4CB3AA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54680" y="2068599"/>
                  <a:ext cx="1725618" cy="261610"/>
                </a:xfrm>
                <a:prstGeom prst="rect">
                  <a:avLst/>
                </a:prstGeom>
                <a:blipFill>
                  <a:blip r:embed="rId9"/>
                  <a:stretch>
                    <a:fillRect b="-6977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CaixaDeTexto 28">
                  <a:extLst>
                    <a:ext uri="{FF2B5EF4-FFF2-40B4-BE49-F238E27FC236}">
                      <a16:creationId xmlns:a16="http://schemas.microsoft.com/office/drawing/2014/main" id="{C3E5F66E-0F4D-5449-5EE5-9C2113C4DEDD}"/>
                    </a:ext>
                  </a:extLst>
                </p:cNvPr>
                <p:cNvSpPr txBox="1"/>
                <p:nvPr/>
              </p:nvSpPr>
              <p:spPr>
                <a:xfrm>
                  <a:off x="5011836" y="2343261"/>
                  <a:ext cx="1280851" cy="2616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pt-BR" sz="11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𝛼</m:t>
                        </m:r>
                        <m:r>
                          <a:rPr lang="pt-BR" sz="11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pt-BR" sz="1100" b="0" i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3   </m:t>
                        </m:r>
                        <m:r>
                          <m:rPr>
                            <m:sty m:val="p"/>
                          </m:rPr>
                          <a:rPr lang="el-GR" sz="11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β</m:t>
                        </m:r>
                        <m:r>
                          <a:rPr lang="pt-BR" sz="11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=0,7</m:t>
                        </m:r>
                      </m:oMath>
                    </m:oMathPara>
                  </a14:m>
                  <a:endParaRPr lang="pt-BR" sz="1100" dirty="0">
                    <a:solidFill>
                      <a:srgbClr val="00B050"/>
                    </a:solidFill>
                    <a:latin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29" name="CaixaDeTexto 28">
                  <a:extLst>
                    <a:ext uri="{FF2B5EF4-FFF2-40B4-BE49-F238E27FC236}">
                      <a16:creationId xmlns:a16="http://schemas.microsoft.com/office/drawing/2014/main" id="{C3E5F66E-0F4D-5449-5EE5-9C2113C4DE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11836" y="2343261"/>
                  <a:ext cx="1280851" cy="261610"/>
                </a:xfrm>
                <a:prstGeom prst="rect">
                  <a:avLst/>
                </a:prstGeom>
                <a:blipFill>
                  <a:blip r:embed="rId10"/>
                  <a:stretch>
                    <a:fillRect b="-6977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CaixaDeTexto 29">
                  <a:extLst>
                    <a:ext uri="{FF2B5EF4-FFF2-40B4-BE49-F238E27FC236}">
                      <a16:creationId xmlns:a16="http://schemas.microsoft.com/office/drawing/2014/main" id="{68A0587C-0B28-1434-C170-D7D09F35870A}"/>
                    </a:ext>
                  </a:extLst>
                </p:cNvPr>
                <p:cNvSpPr txBox="1"/>
                <p:nvPr/>
              </p:nvSpPr>
              <p:spPr>
                <a:xfrm>
                  <a:off x="5652261" y="2728585"/>
                  <a:ext cx="1199324" cy="2616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pt-BR" sz="11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𝛼</m:t>
                        </m:r>
                        <m:r>
                          <a:rPr lang="pt-BR" sz="11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=9   </m:t>
                        </m:r>
                        <m:r>
                          <a:rPr lang="pt-BR" sz="11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  <m:r>
                          <a:rPr lang="pt-BR" sz="11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=0,5</m:t>
                        </m:r>
                      </m:oMath>
                    </m:oMathPara>
                  </a14:m>
                  <a:endParaRPr lang="pt-BR" sz="1100" dirty="0">
                    <a:solidFill>
                      <a:srgbClr val="FF0000"/>
                    </a:solidFill>
                    <a:latin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30" name="CaixaDeTexto 29">
                  <a:extLst>
                    <a:ext uri="{FF2B5EF4-FFF2-40B4-BE49-F238E27FC236}">
                      <a16:creationId xmlns:a16="http://schemas.microsoft.com/office/drawing/2014/main" id="{68A0587C-0B28-1434-C170-D7D09F3587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52261" y="2728585"/>
                  <a:ext cx="1199324" cy="261610"/>
                </a:xfrm>
                <a:prstGeom prst="rect">
                  <a:avLst/>
                </a:prstGeom>
                <a:blipFill>
                  <a:blip r:embed="rId11"/>
                  <a:stretch>
                    <a:fillRect b="-4651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F2A01ED0-2B14-AECE-5342-616A1F8B0F03}"/>
              </a:ext>
            </a:extLst>
          </p:cNvPr>
          <p:cNvGrpSpPr/>
          <p:nvPr/>
        </p:nvGrpSpPr>
        <p:grpSpPr>
          <a:xfrm>
            <a:off x="840175" y="5190392"/>
            <a:ext cx="5757352" cy="784638"/>
            <a:chOff x="840175" y="5190392"/>
            <a:chExt cx="5757352" cy="78463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Text Box 20">
                  <a:extLst>
                    <a:ext uri="{FF2B5EF4-FFF2-40B4-BE49-F238E27FC236}">
                      <a16:creationId xmlns:a16="http://schemas.microsoft.com/office/drawing/2014/main" id="{24C658BB-0476-36AB-3552-A857CBC5DC4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40175" y="5415454"/>
                  <a:ext cx="3739229" cy="33855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600" dirty="0">
                      <a:latin typeface="Tahoma" panose="020B0604030504040204" pitchFamily="34" charset="0"/>
                    </a:rPr>
                    <a:t>a) Se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pt-BR" altLang="pt-B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altLang="pt-BR" sz="1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pt-BR" altLang="pt-BR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pt-BR" altLang="pt-BR" sz="1600" b="0" i="1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pt-BR" altLang="pt-BR" sz="1600" b="0" i="1" smtClean="0">
                          <a:latin typeface="Cambria Math" panose="02040503050406030204" pitchFamily="18" charset="0"/>
                        </a:rPr>
                        <m:t>𝐸𝑥𝑝</m:t>
                      </m:r>
                      <m:r>
                        <a:rPr lang="pt-BR" altLang="pt-BR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altLang="pt-B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pt-BR" altLang="pt-BR" sz="1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pt-BR" altLang="pt-BR" sz="1600" dirty="0">
                      <a:latin typeface="Tahoma" panose="020B0604030504040204" pitchFamily="34" charset="0"/>
                    </a:rPr>
                    <a:t> independentes então</a:t>
                  </a:r>
                </a:p>
              </p:txBody>
            </p:sp>
          </mc:Choice>
          <mc:Fallback xmlns="">
            <p:sp>
              <p:nvSpPr>
                <p:cNvPr id="2" name="Text Box 20">
                  <a:extLst>
                    <a:ext uri="{FF2B5EF4-FFF2-40B4-BE49-F238E27FC236}">
                      <a16:creationId xmlns:a16="http://schemas.microsoft.com/office/drawing/2014/main" id="{24C658BB-0476-36AB-3552-A857CBC5DC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40175" y="5415454"/>
                  <a:ext cx="3739229" cy="338554"/>
                </a:xfrm>
                <a:prstGeom prst="rect">
                  <a:avLst/>
                </a:prstGeom>
                <a:blipFill>
                  <a:blip r:embed="rId12"/>
                  <a:stretch>
                    <a:fillRect l="-979" t="-5357" b="-21429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CaixaDeTexto 8">
                  <a:extLst>
                    <a:ext uri="{FF2B5EF4-FFF2-40B4-BE49-F238E27FC236}">
                      <a16:creationId xmlns:a16="http://schemas.microsoft.com/office/drawing/2014/main" id="{4A8BD02D-148F-D6DC-1250-E8CC34F2C843}"/>
                    </a:ext>
                  </a:extLst>
                </p:cNvPr>
                <p:cNvSpPr txBox="1"/>
                <p:nvPr/>
              </p:nvSpPr>
              <p:spPr>
                <a:xfrm>
                  <a:off x="4433219" y="5190392"/>
                  <a:ext cx="2164308" cy="78463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nary>
                          <m:naryPr>
                            <m:chr m:val="∑"/>
                            <m:ctrlPr>
                              <a:rPr lang="pt-BR" altLang="pt-BR" sz="16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pt-BR" altLang="pt-BR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pt-BR" altLang="pt-BR" sz="1600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pt-BR" altLang="pt-BR" sz="16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  <m:e>
                            <m:sSub>
                              <m:sSubPr>
                                <m:ctrlPr>
                                  <a:rPr lang="pt-BR" altLang="pt-BR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altLang="pt-BR" sz="1600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pt-BR" altLang="pt-BR" sz="16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  <m:r>
                          <a:rPr lang="pt-BR" altLang="pt-BR" sz="1600" b="0" i="1" smtClean="0">
                            <a:latin typeface="Cambria Math" panose="02040503050406030204" pitchFamily="18" charset="0"/>
                          </a:rPr>
                          <m:t>~ </m:t>
                        </m:r>
                        <m:r>
                          <a:rPr lang="pt-BR" altLang="pt-BR" sz="1600" b="0" i="1" smtClean="0">
                            <a:latin typeface="Cambria Math" panose="02040503050406030204" pitchFamily="18" charset="0"/>
                          </a:rPr>
                          <m:t>𝐺𝑎𝑚𝑚𝑎</m:t>
                        </m:r>
                        <m:r>
                          <a:rPr lang="pt-BR" altLang="pt-BR" sz="16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altLang="pt-B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  <m:r>
                          <a:rPr lang="pt-BR" altLang="pt-B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pt-B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</m:t>
                        </m:r>
                        <m:r>
                          <a:rPr lang="pt-BR" altLang="pt-B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pt-BR" dirty="0">
                    <a:latin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9" name="CaixaDeTexto 8">
                  <a:extLst>
                    <a:ext uri="{FF2B5EF4-FFF2-40B4-BE49-F238E27FC236}">
                      <a16:creationId xmlns:a16="http://schemas.microsoft.com/office/drawing/2014/main" id="{4A8BD02D-148F-D6DC-1250-E8CC34F2C8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3219" y="5190392"/>
                  <a:ext cx="2164308" cy="784638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3DCA7434-5390-5541-6A8C-B25927A50FF3}"/>
              </a:ext>
            </a:extLst>
          </p:cNvPr>
          <p:cNvGrpSpPr/>
          <p:nvPr/>
        </p:nvGrpSpPr>
        <p:grpSpPr>
          <a:xfrm>
            <a:off x="840175" y="5805264"/>
            <a:ext cx="6278331" cy="784638"/>
            <a:chOff x="840175" y="5805264"/>
            <a:chExt cx="6278331" cy="78463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 Box 20">
                  <a:extLst>
                    <a:ext uri="{FF2B5EF4-FFF2-40B4-BE49-F238E27FC236}">
                      <a16:creationId xmlns:a16="http://schemas.microsoft.com/office/drawing/2014/main" id="{0AD9E5DD-1D3E-FC48-22D8-2092B5A67BE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40175" y="6028306"/>
                  <a:ext cx="4254626" cy="33855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600" dirty="0">
                      <a:latin typeface="Tahoma" panose="020B0604030504040204" pitchFamily="34" charset="0"/>
                    </a:rPr>
                    <a:t>b) Se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pt-BR" altLang="pt-B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altLang="pt-BR" sz="1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pt-BR" altLang="pt-BR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pt-BR" altLang="pt-BR" sz="1600" b="0" i="1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pt-BR" altLang="pt-BR" sz="1600" b="0" i="1" smtClean="0">
                          <a:latin typeface="Cambria Math" panose="02040503050406030204" pitchFamily="18" charset="0"/>
                        </a:rPr>
                        <m:t>𝑅𝑎𝑦𝑙𝑒𝑖𝑔h</m:t>
                      </m:r>
                      <m:r>
                        <a:rPr lang="pt-BR" altLang="pt-BR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16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𝛼</m:t>
                      </m:r>
                      <m:r>
                        <a:rPr lang="pt-BR" altLang="pt-BR" sz="1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pt-BR" altLang="pt-BR" sz="1600" dirty="0">
                      <a:latin typeface="Tahoma" panose="020B0604030504040204" pitchFamily="34" charset="0"/>
                    </a:rPr>
                    <a:t> independentes então</a:t>
                  </a:r>
                </a:p>
              </p:txBody>
            </p:sp>
          </mc:Choice>
          <mc:Fallback xmlns="">
            <p:sp>
              <p:nvSpPr>
                <p:cNvPr id="3" name="Text Box 20">
                  <a:extLst>
                    <a:ext uri="{FF2B5EF4-FFF2-40B4-BE49-F238E27FC236}">
                      <a16:creationId xmlns:a16="http://schemas.microsoft.com/office/drawing/2014/main" id="{0AD9E5DD-1D3E-FC48-22D8-2092B5A67B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40175" y="6028306"/>
                  <a:ext cx="4254626" cy="338554"/>
                </a:xfrm>
                <a:prstGeom prst="rect">
                  <a:avLst/>
                </a:prstGeom>
                <a:blipFill>
                  <a:blip r:embed="rId14"/>
                  <a:stretch>
                    <a:fillRect l="-860" t="-5455" b="-23636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CaixaDeTexto 9">
                  <a:extLst>
                    <a:ext uri="{FF2B5EF4-FFF2-40B4-BE49-F238E27FC236}">
                      <a16:creationId xmlns:a16="http://schemas.microsoft.com/office/drawing/2014/main" id="{82696A4D-D3D7-6660-FF89-A985EFC11EE8}"/>
                    </a:ext>
                  </a:extLst>
                </p:cNvPr>
                <p:cNvSpPr txBox="1"/>
                <p:nvPr/>
              </p:nvSpPr>
              <p:spPr>
                <a:xfrm>
                  <a:off x="4954198" y="5805264"/>
                  <a:ext cx="2164308" cy="78463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nary>
                          <m:naryPr>
                            <m:chr m:val="∑"/>
                            <m:ctrlPr>
                              <a:rPr lang="pt-BR" altLang="pt-BR" sz="16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pt-BR" altLang="pt-BR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pt-BR" altLang="pt-BR" sz="1600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pt-BR" altLang="pt-BR" sz="16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  <m:e>
                            <m:sSubSup>
                              <m:sSubSupPr>
                                <m:ctrlPr>
                                  <a:rPr lang="pt-BR" altLang="pt-BR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pt-BR" altLang="pt-BR" sz="1600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pt-BR" altLang="pt-BR" sz="16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pt-BR" altLang="pt-BR" sz="1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nary>
                        <m:r>
                          <a:rPr lang="pt-BR" altLang="pt-BR" sz="1600" b="0" i="1" smtClean="0">
                            <a:latin typeface="Cambria Math" panose="02040503050406030204" pitchFamily="18" charset="0"/>
                          </a:rPr>
                          <m:t>~ </m:t>
                        </m:r>
                        <m:r>
                          <a:rPr lang="pt-BR" altLang="pt-BR" sz="1600" b="0" i="1" smtClean="0">
                            <a:latin typeface="Cambria Math" panose="02040503050406030204" pitchFamily="18" charset="0"/>
                          </a:rPr>
                          <m:t>𝐺𝑎𝑚𝑚𝑎</m:t>
                        </m:r>
                        <m:d>
                          <m:dPr>
                            <m:ctrlPr>
                              <a:rPr lang="pt-BR" altLang="pt-BR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alt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pt-BR" alt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f>
                              <m:fPr>
                                <m:ctrlPr>
                                  <a:rPr lang="pt-BR" altLang="pt-B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pt-BR" altLang="pt-B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pt-BR" altLang="pt-B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  <m:sSup>
                                  <m:sSupPr>
                                    <m:ctrlPr>
                                      <a:rPr lang="pt-BR" altLang="pt-B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pt-BR" altLang="pt-B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p>
                                    <m:r>
                                      <a:rPr lang="pt-BR" altLang="pt-B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oMath>
                    </m:oMathPara>
                  </a14:m>
                  <a:endParaRPr lang="pt-BR" dirty="0">
                    <a:latin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10" name="CaixaDeTexto 9">
                  <a:extLst>
                    <a:ext uri="{FF2B5EF4-FFF2-40B4-BE49-F238E27FC236}">
                      <a16:creationId xmlns:a16="http://schemas.microsoft.com/office/drawing/2014/main" id="{82696A4D-D3D7-6660-FF89-A985EFC11E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54198" y="5805264"/>
                  <a:ext cx="2164308" cy="784638"/>
                </a:xfrm>
                <a:prstGeom prst="rect">
                  <a:avLst/>
                </a:prstGeom>
                <a:blipFill>
                  <a:blip r:embed="rId15"/>
                  <a:stretch>
                    <a:fillRect r="-9577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82438017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42359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C4988-1CFB-85F0-8983-994B0DE13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>
            <a:extLst>
              <a:ext uri="{FF2B5EF4-FFF2-40B4-BE49-F238E27FC236}">
                <a16:creationId xmlns:a16="http://schemas.microsoft.com/office/drawing/2014/main" id="{39B30500-0693-B60D-A538-0C348B7E3B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Distribuições Multivariadas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70382A9-779E-FE3B-0560-E91276FA3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2E4C08-7E87-4B70-8D65-19AAF73BE0BF}" type="slidenum">
              <a:rPr lang="pt-BR"/>
              <a:pPr>
                <a:defRPr/>
              </a:pPr>
              <a:t>77</a:t>
            </a:fld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tângulo 2">
                <a:extLst>
                  <a:ext uri="{FF2B5EF4-FFF2-40B4-BE49-F238E27FC236}">
                    <a16:creationId xmlns:a16="http://schemas.microsoft.com/office/drawing/2014/main" id="{17BD2976-0FF1-FB9F-9EAD-38E47D066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5325" y="1444744"/>
                <a:ext cx="7764463" cy="25905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marL="355600" indent="-355600"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dirty="0">
                    <a:latin typeface="Tahoma" panose="020B0604030504040204" pitchFamily="34" charset="0"/>
                  </a:rPr>
                  <a:t>Considere que </a:t>
                </a:r>
                <a14:m>
                  <m:oMath xmlns:m="http://schemas.openxmlformats.org/officeDocument/2006/math">
                    <m:r>
                      <a:rPr lang="pt-BR" altLang="pt-BR" sz="1600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pt-BR" altLang="pt-BR" sz="1600" dirty="0">
                    <a:latin typeface="Tahoma" panose="020B0604030504040204" pitchFamily="34" charset="0"/>
                  </a:rPr>
                  <a:t> representa um vetor de </a:t>
                </a:r>
                <a14:m>
                  <m:oMath xmlns:m="http://schemas.openxmlformats.org/officeDocument/2006/math">
                    <m:r>
                      <a:rPr lang="pt-BR" altLang="pt-BR" sz="16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pt-BR" altLang="pt-BR" sz="1600" dirty="0">
                    <a:latin typeface="Tahoma" panose="020B0604030504040204" pitchFamily="34" charset="0"/>
                  </a:rPr>
                  <a:t> variáveis aleatórias relacionadas, ou seja, </a:t>
                </a:r>
                <a14:m>
                  <m:oMath xmlns:m="http://schemas.openxmlformats.org/officeDocument/2006/math">
                    <m:r>
                      <a:rPr lang="pt-BR" altLang="pt-BR" sz="1600" b="1" i="1">
                        <a:latin typeface="Cambria Math" panose="02040503050406030204" pitchFamily="18" charset="0"/>
                      </a:rPr>
                      <m:t>𝑿</m:t>
                    </m:r>
                    <m:r>
                      <a:rPr lang="pt-BR" altLang="pt-BR" sz="1600" i="1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pt-BR" altLang="pt-B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altLang="pt-B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altLang="pt-BR" sz="16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pt-BR" altLang="pt-BR" sz="1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pt-BR" altLang="pt-BR" sz="16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pt-BR" altLang="pt-B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altLang="pt-BR" sz="16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pt-BR" altLang="pt-BR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pt-BR" altLang="pt-BR" sz="1600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pt-BR" altLang="pt-B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altLang="pt-BR" sz="16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pt-BR" altLang="pt-BR" sz="16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e>
                    </m:d>
                  </m:oMath>
                </a14:m>
                <a:endParaRPr lang="pt-BR" altLang="pt-BR" sz="1600" dirty="0">
                  <a:latin typeface="Tahoma" panose="020B0604030504040204" pitchFamily="34" charset="0"/>
                </a:endParaRP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dirty="0">
                    <a:latin typeface="Tahoma" panose="020B0604030504040204" pitchFamily="34" charset="0"/>
                  </a:rPr>
                  <a:t>A obtenção da distribuição de probabilidade multivariada (ou conjunta) depende do conhecimento da natureza da relação entre cada uma das </a:t>
                </a:r>
                <a14:m>
                  <m:oMath xmlns:m="http://schemas.openxmlformats.org/officeDocument/2006/math">
                    <m:r>
                      <a:rPr lang="pt-BR" altLang="pt-BR" sz="160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pt-BR" altLang="pt-BR" sz="1600" dirty="0">
                    <a:latin typeface="Tahoma" panose="020B0604030504040204" pitchFamily="34" charset="0"/>
                  </a:rPr>
                  <a:t> variáveis aleatórias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dirty="0">
                    <a:latin typeface="Tahoma" panose="020B0604030504040204" pitchFamily="34" charset="0"/>
                  </a:rPr>
                  <a:t>Alguns exemplos podem ser citados como as distribuições de </a:t>
                </a:r>
                <a:r>
                  <a:rPr lang="pt-BR" altLang="pt-BR" sz="1600" dirty="0" err="1">
                    <a:latin typeface="Tahoma" panose="020B0604030504040204" pitchFamily="34" charset="0"/>
                  </a:rPr>
                  <a:t>Wishard</a:t>
                </a:r>
                <a:r>
                  <a:rPr lang="pt-BR" altLang="pt-BR" sz="1600" dirty="0">
                    <a:latin typeface="Tahoma" panose="020B0604030504040204" pitchFamily="34" charset="0"/>
                  </a:rPr>
                  <a:t>, </a:t>
                </a:r>
                <a:r>
                  <a:rPr lang="pt-BR" altLang="pt-BR" sz="1600" dirty="0" err="1">
                    <a:latin typeface="Tahoma" panose="020B0604030504040204" pitchFamily="34" charset="0"/>
                  </a:rPr>
                  <a:t>Multinomial</a:t>
                </a:r>
                <a:r>
                  <a:rPr lang="pt-BR" altLang="pt-BR" sz="1600" dirty="0">
                    <a:latin typeface="Tahoma" panose="020B0604030504040204" pitchFamily="34" charset="0"/>
                  </a:rPr>
                  <a:t>, Poisson Multivariada e outras mais específicas usadas em aplicações de radar (Par de intensidades </a:t>
                </a:r>
                <a:r>
                  <a:rPr lang="pt-BR" altLang="pt-BR" sz="1600" i="1" dirty="0" err="1">
                    <a:latin typeface="Tahoma" panose="020B0604030504040204" pitchFamily="34" charset="0"/>
                  </a:rPr>
                  <a:t>Multi-look</a:t>
                </a:r>
                <a:r>
                  <a:rPr lang="pt-BR" altLang="pt-BR" sz="1600" dirty="0">
                    <a:latin typeface="Tahoma" panose="020B0604030504040204" pitchFamily="34" charset="0"/>
                  </a:rPr>
                  <a:t>, por exemplo). Há também outras mais complexas baseadas em teoria de Cópula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dirty="0">
                    <a:latin typeface="Tahoma" panose="020B0604030504040204" pitchFamily="34" charset="0"/>
                  </a:rPr>
                  <a:t>Mas a mais conhecida e utilizada é a Distribuição Normal Multivariada, cuja FDP é dada por:</a:t>
                </a:r>
              </a:p>
            </p:txBody>
          </p:sp>
        </mc:Choice>
        <mc:Fallback xmlns="">
          <p:sp>
            <p:nvSpPr>
              <p:cNvPr id="38" name="Retângulo 2">
                <a:extLst>
                  <a:ext uri="{FF2B5EF4-FFF2-40B4-BE49-F238E27FC236}">
                    <a16:creationId xmlns:a16="http://schemas.microsoft.com/office/drawing/2014/main" id="{17BD2976-0FF1-FB9F-9EAD-38E47D0666D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95325" y="1444744"/>
                <a:ext cx="7764463" cy="2590517"/>
              </a:xfrm>
              <a:prstGeom prst="rect">
                <a:avLst/>
              </a:prstGeom>
              <a:blipFill>
                <a:blip r:embed="rId2"/>
                <a:stretch>
                  <a:fillRect l="-392" t="-706" b="-211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upo 5">
            <a:extLst>
              <a:ext uri="{FF2B5EF4-FFF2-40B4-BE49-F238E27FC236}">
                <a16:creationId xmlns:a16="http://schemas.microsoft.com/office/drawing/2014/main" id="{68F38237-6BA3-F2F9-B821-EE90F4EE4E12}"/>
              </a:ext>
            </a:extLst>
          </p:cNvPr>
          <p:cNvGrpSpPr>
            <a:grpSpLocks/>
          </p:cNvGrpSpPr>
          <p:nvPr/>
        </p:nvGrpSpPr>
        <p:grpSpPr bwMode="auto">
          <a:xfrm>
            <a:off x="711299" y="4005064"/>
            <a:ext cx="4392218" cy="744538"/>
            <a:chOff x="373262" y="2414439"/>
            <a:chExt cx="2965237" cy="744538"/>
          </a:xfrm>
        </p:grpSpPr>
        <p:sp>
          <p:nvSpPr>
            <p:cNvPr id="21" name="Text Box 12">
              <a:extLst>
                <a:ext uri="{FF2B5EF4-FFF2-40B4-BE49-F238E27FC236}">
                  <a16:creationId xmlns:a16="http://schemas.microsoft.com/office/drawing/2014/main" id="{C4965024-2A73-6608-820A-6E9D3A9A86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14724" y="2617579"/>
              <a:ext cx="823775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imes New Roman" pitchFamily="18" charset="0"/>
                </a:rPr>
                <a:t>-</a:t>
              </a:r>
              <a:r>
                <a:rPr lang="pt-BR" altLang="pt-BR" sz="1600" dirty="0">
                  <a:latin typeface="Times New Roman" pitchFamily="18" charset="0"/>
                  <a:sym typeface="Symbol" pitchFamily="18" charset="2"/>
                </a:rPr>
                <a:t></a:t>
              </a:r>
              <a:r>
                <a:rPr lang="pt-BR" altLang="pt-BR" sz="1600" i="1" dirty="0">
                  <a:latin typeface="Times New Roman" pitchFamily="18" charset="0"/>
                </a:rPr>
                <a:t> </a:t>
              </a:r>
              <a:r>
                <a:rPr lang="pt-BR" altLang="pt-BR" sz="1600" dirty="0">
                  <a:latin typeface="Times New Roman" pitchFamily="18" charset="0"/>
                </a:rPr>
                <a:t>≤</a:t>
              </a:r>
              <a:r>
                <a:rPr lang="pt-BR" altLang="pt-BR" sz="1600" i="1" dirty="0">
                  <a:latin typeface="Times New Roman" pitchFamily="18" charset="0"/>
                </a:rPr>
                <a:t> x</a:t>
              </a:r>
              <a:r>
                <a:rPr lang="pt-BR" altLang="pt-BR" sz="1600" i="1" baseline="-25000" dirty="0">
                  <a:latin typeface="Times New Roman" pitchFamily="18" charset="0"/>
                </a:rPr>
                <a:t>i</a:t>
              </a:r>
              <a:r>
                <a:rPr lang="pt-BR" altLang="pt-BR" sz="1600" i="1" dirty="0">
                  <a:latin typeface="Times New Roman" pitchFamily="18" charset="0"/>
                </a:rPr>
                <a:t> </a:t>
              </a:r>
              <a:r>
                <a:rPr lang="pt-BR" altLang="pt-BR" sz="1600" dirty="0">
                  <a:latin typeface="Times New Roman" pitchFamily="18" charset="0"/>
                </a:rPr>
                <a:t>≤ +</a:t>
              </a:r>
              <a:r>
                <a:rPr lang="pt-BR" altLang="pt-BR" sz="1600" dirty="0">
                  <a:latin typeface="Times New Roman" pitchFamily="18" charset="0"/>
                  <a:sym typeface="Symbol" pitchFamily="18" charset="2"/>
                </a:rPr>
                <a:t></a:t>
              </a:r>
              <a:endParaRPr lang="pt-BR" altLang="pt-BR" sz="1600" i="1" dirty="0">
                <a:latin typeface="Times New Roman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Object 13">
                  <a:extLst>
                    <a:ext uri="{FF2B5EF4-FFF2-40B4-BE49-F238E27FC236}">
                      <a16:creationId xmlns:a16="http://schemas.microsoft.com/office/drawing/2014/main" id="{A3A45AEE-93C5-B2E8-4C5C-6FEBC636AB09}"/>
                    </a:ext>
                  </a:extLst>
                </p:cNvPr>
                <p:cNvSpPr txBox="1"/>
                <p:nvPr/>
              </p:nvSpPr>
              <p:spPr bwMode="auto">
                <a:xfrm>
                  <a:off x="373262" y="2414439"/>
                  <a:ext cx="2091026" cy="7445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 fontScale="925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pt-BR" sz="15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pt-BR" sz="15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15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pt-BR" sz="15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)=</m:t>
                        </m:r>
                        <m:f>
                          <m:fPr>
                            <m:ctrlPr>
                              <a:rPr lang="pt-BR" sz="15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 sz="15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pt-BR" sz="15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sSupPr>
                                    <m:ctrlPr>
                                      <a:rPr lang="pt-BR" sz="15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pt-BR" sz="150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pt-BR" sz="15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  <m:r>
                                          <a:rPr lang="pt-BR" sz="15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pt-BR" sz="15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p>
                                </m:sSup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pt-BR" sz="15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l-GR" sz="15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𝜮</m:t>
                                    </m:r>
                                  </m:e>
                                </m:d>
                              </m:e>
                            </m:rad>
                            <m:r>
                              <a:rPr lang="pt-BR" sz="15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 </m:t>
                            </m:r>
                          </m:den>
                        </m:f>
                        <m:sSup>
                          <m:sSupPr>
                            <m:ctrlPr>
                              <a:rPr lang="pt-BR" sz="15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15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pt-BR" sz="15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pt-BR" sz="15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pt-BR" sz="15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pt-BR" sz="15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sSup>
                              <m:sSupPr>
                                <m:ctrlPr>
                                  <a:rPr lang="pt-BR" sz="15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pt-BR" sz="150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15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  <m:r>
                                      <a:rPr lang="pt-BR" sz="15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pt-BR" sz="15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𝝁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pt-BR" sz="15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pt-BR" sz="15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l-GR" sz="15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Σ</m:t>
                                </m:r>
                              </m:e>
                              <m:sup>
                                <m:r>
                                  <a:rPr lang="pt-BR" sz="15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pt-BR" sz="15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pt-BR" sz="15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pt-BR" sz="15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pt-BR" sz="1500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𝝁</m:t>
                                </m:r>
                              </m:e>
                            </m:d>
                          </m:sup>
                        </m:sSup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31" name="Object 13">
                  <a:extLst>
                    <a:ext uri="{FF2B5EF4-FFF2-40B4-BE49-F238E27FC236}">
                      <a16:creationId xmlns:a16="http://schemas.microsoft.com/office/drawing/2014/main" id="{A3A45AEE-93C5-B2E8-4C5C-6FEBC636AB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73262" y="2414439"/>
                  <a:ext cx="2091026" cy="744538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etângulo 2">
                <a:extLst>
                  <a:ext uri="{FF2B5EF4-FFF2-40B4-BE49-F238E27FC236}">
                    <a16:creationId xmlns:a16="http://schemas.microsoft.com/office/drawing/2014/main" id="{A5DFE8A7-F47A-E982-0C38-2B27BD0B89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8238" y="4782666"/>
                <a:ext cx="7764463" cy="3745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marL="355600" indent="-355600"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14:m>
                  <m:oMath xmlns:m="http://schemas.openxmlformats.org/officeDocument/2006/math">
                    <m:r>
                      <a:rPr lang="pt-BR" sz="16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𝝁</m:t>
                    </m:r>
                  </m:oMath>
                </a14:m>
                <a:r>
                  <a:rPr lang="pt-BR" altLang="pt-BR" sz="1600" dirty="0">
                    <a:latin typeface="Tahoma" panose="020B0604030504040204" pitchFamily="34" charset="0"/>
                  </a:rPr>
                  <a:t> representa o vetor de médias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t-BR" altLang="pt-B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altLang="pt-B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altLang="pt-BR" sz="16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pt-BR" altLang="pt-BR" sz="1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pt-BR" altLang="pt-BR" sz="16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pt-BR" altLang="pt-B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altLang="pt-BR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pt-BR" altLang="pt-BR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pt-BR" altLang="pt-BR" sz="1600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pt-BR" altLang="pt-B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altLang="pt-BR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pt-BR" altLang="pt-BR" sz="16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e>
                    </m:d>
                  </m:oMath>
                </a14:m>
                <a:r>
                  <a:rPr lang="pt-BR" altLang="pt-BR" sz="1600" dirty="0">
                    <a:latin typeface="Tahoma" panose="020B060403050404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9" name="Retângulo 2">
                <a:extLst>
                  <a:ext uri="{FF2B5EF4-FFF2-40B4-BE49-F238E27FC236}">
                    <a16:creationId xmlns:a16="http://schemas.microsoft.com/office/drawing/2014/main" id="{A5DFE8A7-F47A-E982-0C38-2B27BD0B89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68238" y="4782666"/>
                <a:ext cx="7764463" cy="374526"/>
              </a:xfrm>
              <a:prstGeom prst="rect">
                <a:avLst/>
              </a:prstGeom>
              <a:blipFill>
                <a:blip r:embed="rId4"/>
                <a:stretch>
                  <a:fillRect t="-3279" b="-1311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tângulo 2">
                <a:extLst>
                  <a:ext uri="{FF2B5EF4-FFF2-40B4-BE49-F238E27FC236}">
                    <a16:creationId xmlns:a16="http://schemas.microsoft.com/office/drawing/2014/main" id="{E8A0B0C2-792B-C768-5254-D7AFB00CC3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1668" y="5111323"/>
                <a:ext cx="7764463" cy="13673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marL="355600" indent="-355600"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14:m>
                  <m:oMath xmlns:m="http://schemas.openxmlformats.org/officeDocument/2006/math">
                    <m:r>
                      <a:rPr lang="pt-BR" sz="16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𝜮</m:t>
                    </m:r>
                  </m:oMath>
                </a14:m>
                <a:r>
                  <a:rPr lang="pt-BR" altLang="pt-BR" sz="1600" dirty="0">
                    <a:latin typeface="Tahoma" panose="020B0604030504040204" pitchFamily="34" charset="0"/>
                  </a:rPr>
                  <a:t> representa a matriz de variância/covariância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l-GR" altLang="pt-BR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𝜮</m:t>
                      </m:r>
                      <m:r>
                        <a:rPr lang="pt-BR" altLang="pt-B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altLang="pt-BR" sz="1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altLang="pt-BR" sz="16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pt-BR" altLang="pt-BR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𝑉𝑎𝑟</m:t>
                                </m:r>
                                <m:r>
                                  <a:rPr lang="pt-BR" altLang="pt-BR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pt-BR" altLang="pt-BR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altLang="pt-BR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pt-BR" altLang="pt-BR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pt-BR" altLang="pt-BR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pt-BR" altLang="pt-BR" sz="160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pt-BR" altLang="pt-BR" sz="1600" b="0" i="1" smtClean="0">
                                    <a:latin typeface="Cambria Math" panose="02040503050406030204" pitchFamily="18" charset="0"/>
                                  </a:rPr>
                                  <m:t>𝐶𝑜𝑣</m:t>
                                </m:r>
                                <m:r>
                                  <a:rPr lang="pt-BR" altLang="pt-BR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pt-BR" altLang="pt-BR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altLang="pt-BR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pt-BR" altLang="pt-BR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pt-BR" altLang="pt-BR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pt-BR" altLang="pt-BR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altLang="pt-BR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pt-BR" altLang="pt-BR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  <m:r>
                                  <a:rPr lang="pt-BR" altLang="pt-BR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altLang="pt-BR" sz="160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pt-BR" altLang="pt-BR" sz="1600" i="1" smtClean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pt-BR" altLang="pt-BR" sz="160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altLang="pt-BR" sz="1600" i="1">
                                    <a:latin typeface="Cambria Math" panose="02040503050406030204" pitchFamily="18" charset="0"/>
                                  </a:rPr>
                                  <m:t>𝐶𝑜𝑣</m:t>
                                </m:r>
                                <m:r>
                                  <a:rPr lang="pt-BR" altLang="pt-BR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pt-BR" altLang="pt-BR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altLang="pt-BR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pt-BR" altLang="pt-BR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pt-BR" altLang="pt-BR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pt-BR" altLang="pt-BR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altLang="pt-BR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pt-BR" altLang="pt-BR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  <m:r>
                                  <a:rPr lang="pt-BR" altLang="pt-BR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pt-BR" altLang="pt-BR" sz="160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pt-BR" altLang="pt-BR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𝑉𝑎𝑟</m:t>
                                </m:r>
                                <m:r>
                                  <a:rPr lang="pt-BR" altLang="pt-BR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pt-BR" altLang="pt-BR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altLang="pt-BR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pt-BR" altLang="pt-BR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  <m:r>
                                  <a:rPr lang="pt-BR" altLang="pt-BR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40" name="Retângulo 2">
                <a:extLst>
                  <a:ext uri="{FF2B5EF4-FFF2-40B4-BE49-F238E27FC236}">
                    <a16:creationId xmlns:a16="http://schemas.microsoft.com/office/drawing/2014/main" id="{E8A0B0C2-792B-C768-5254-D7AFB00CC3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1668" y="5111323"/>
                <a:ext cx="7764463" cy="1367362"/>
              </a:xfrm>
              <a:prstGeom prst="rect">
                <a:avLst/>
              </a:prstGeom>
              <a:blipFill>
                <a:blip r:embed="rId5"/>
                <a:stretch>
                  <a:fillRect t="-133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9" name="Agrupar 48">
            <a:extLst>
              <a:ext uri="{FF2B5EF4-FFF2-40B4-BE49-F238E27FC236}">
                <a16:creationId xmlns:a16="http://schemas.microsoft.com/office/drawing/2014/main" id="{1D6337B5-EE0D-7556-84E9-A13B25E1AA01}"/>
              </a:ext>
            </a:extLst>
          </p:cNvPr>
          <p:cNvGrpSpPr/>
          <p:nvPr/>
        </p:nvGrpSpPr>
        <p:grpSpPr>
          <a:xfrm>
            <a:off x="4644008" y="3861048"/>
            <a:ext cx="4287458" cy="3005612"/>
            <a:chOff x="4644008" y="3861048"/>
            <a:chExt cx="4287458" cy="3005612"/>
          </a:xfrm>
        </p:grpSpPr>
        <p:pic>
          <p:nvPicPr>
            <p:cNvPr id="42" name="Imagem 41">
              <a:extLst>
                <a:ext uri="{FF2B5EF4-FFF2-40B4-BE49-F238E27FC236}">
                  <a16:creationId xmlns:a16="http://schemas.microsoft.com/office/drawing/2014/main" id="{EC89E697-DB92-7E01-2C6B-CD000CB1C1C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4" t="13713" r="17055" b="9680"/>
            <a:stretch/>
          </p:blipFill>
          <p:spPr>
            <a:xfrm>
              <a:off x="5508104" y="4049688"/>
              <a:ext cx="3312368" cy="2736304"/>
            </a:xfrm>
            <a:prstGeom prst="rect">
              <a:avLst/>
            </a:prstGeom>
          </p:spPr>
        </p:pic>
        <p:sp>
          <p:nvSpPr>
            <p:cNvPr id="46" name="CaixaDeTexto 45">
              <a:extLst>
                <a:ext uri="{FF2B5EF4-FFF2-40B4-BE49-F238E27FC236}">
                  <a16:creationId xmlns:a16="http://schemas.microsoft.com/office/drawing/2014/main" id="{ED7C6170-3E3A-E035-58ED-1F09E5FFF05C}"/>
                </a:ext>
              </a:extLst>
            </p:cNvPr>
            <p:cNvSpPr txBox="1"/>
            <p:nvPr/>
          </p:nvSpPr>
          <p:spPr>
            <a:xfrm>
              <a:off x="4644008" y="6635828"/>
              <a:ext cx="4287458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900" dirty="0">
                  <a:solidFill>
                    <a:schemeClr val="bg1">
                      <a:lumMod val="6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http://www.leg.ufpr.br/~paulojus/estbas/slides/407_modelos_multivariados.pdf</a:t>
              </a:r>
            </a:p>
          </p:txBody>
        </p:sp>
        <p:sp>
          <p:nvSpPr>
            <p:cNvPr id="48" name="CaixaDeTexto 47">
              <a:extLst>
                <a:ext uri="{FF2B5EF4-FFF2-40B4-BE49-F238E27FC236}">
                  <a16:creationId xmlns:a16="http://schemas.microsoft.com/office/drawing/2014/main" id="{89CCCC1C-69C4-7526-81F4-BA1A5575FFB2}"/>
                </a:ext>
              </a:extLst>
            </p:cNvPr>
            <p:cNvSpPr txBox="1"/>
            <p:nvPr/>
          </p:nvSpPr>
          <p:spPr>
            <a:xfrm>
              <a:off x="5972995" y="3861048"/>
              <a:ext cx="29523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altLang="pt-BR" sz="1200" dirty="0">
                  <a:latin typeface="Tahoma" panose="020B0604030504040204" pitchFamily="34" charset="0"/>
                </a:rPr>
                <a:t>Distribuição Normal Bivariada</a:t>
              </a:r>
              <a:endParaRPr lang="pt-BR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195612605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</p:bldLst>
  </p:timing>
</p:sld>
</file>

<file path=ppt/theme/theme1.xml><?xml version="1.0" encoding="utf-8"?>
<a:theme xmlns:a="http://schemas.openxmlformats.org/drawingml/2006/main" name="Estrutura padrão">
  <a:themeElements>
    <a:clrScheme name="Estrutura padrão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Estrutura padrão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Estrutura padrão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strutura padrão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5883</TotalTime>
  <Words>5552</Words>
  <Application>Microsoft Office PowerPoint</Application>
  <PresentationFormat>Apresentação na tela (4:3)</PresentationFormat>
  <Paragraphs>817</Paragraphs>
  <Slides>77</Slides>
  <Notes>1</Notes>
  <HiddenSlides>0</HiddenSlides>
  <MMClips>0</MMClips>
  <ScaleCrop>false</ScaleCrop>
  <HeadingPairs>
    <vt:vector size="8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77</vt:i4>
      </vt:variant>
    </vt:vector>
  </HeadingPairs>
  <TitlesOfParts>
    <vt:vector size="87" baseType="lpstr">
      <vt:lpstr>Arial</vt:lpstr>
      <vt:lpstr>Arial Unicode MS</vt:lpstr>
      <vt:lpstr>Calibri</vt:lpstr>
      <vt:lpstr>Cambria Math</vt:lpstr>
      <vt:lpstr>Comic Sans MS</vt:lpstr>
      <vt:lpstr>Symbol</vt:lpstr>
      <vt:lpstr>Tahoma</vt:lpstr>
      <vt:lpstr>Times New Roman</vt:lpstr>
      <vt:lpstr>Estrutura padrão</vt:lpstr>
      <vt:lpstr>Equation</vt:lpstr>
      <vt:lpstr>Estatística: Aplicação ao Sensoriamento Remoto  SER 204  Distribuições de Probabilidade</vt:lpstr>
      <vt:lpstr>Distribuições de Probabilidade</vt:lpstr>
      <vt:lpstr>Distribuições de Probabilidade</vt:lpstr>
      <vt:lpstr>Distribuição Uniforme Discreta</vt:lpstr>
      <vt:lpstr>Distribuição Uniforme Discreta</vt:lpstr>
      <vt:lpstr>Distribuição Uniforme Discreta</vt:lpstr>
      <vt:lpstr>Distribuição Uniforme Discreta</vt:lpstr>
      <vt:lpstr>Distribuição Uniforme Discreta</vt:lpstr>
      <vt:lpstr>Distribuição Uniforme Discreta</vt:lpstr>
      <vt:lpstr>Distribuição Uniforme Discreta</vt:lpstr>
      <vt:lpstr>Distribuição Uniforme Discreta</vt:lpstr>
      <vt:lpstr>Distribuição Binomial</vt:lpstr>
      <vt:lpstr>Distribuição Binomial</vt:lpstr>
      <vt:lpstr>Distribuição Binomial</vt:lpstr>
      <vt:lpstr>Distribuição Bernoulli</vt:lpstr>
      <vt:lpstr>Distribuição Bernoulli</vt:lpstr>
      <vt:lpstr>Distribuição Bernoulli</vt:lpstr>
      <vt:lpstr>Distribuição Bernoulli</vt:lpstr>
      <vt:lpstr>Distribuição Bernoulli</vt:lpstr>
      <vt:lpstr>Distribuição Bernoulli</vt:lpstr>
      <vt:lpstr>Distribuição Binomial</vt:lpstr>
      <vt:lpstr>Distribuição Binomial</vt:lpstr>
      <vt:lpstr>Distribuição Binomial</vt:lpstr>
      <vt:lpstr>Distribuição Binomial</vt:lpstr>
      <vt:lpstr>Distribuição Geométrica</vt:lpstr>
      <vt:lpstr>Distribuição Geométrica</vt:lpstr>
      <vt:lpstr>Distribuição Geométrica</vt:lpstr>
      <vt:lpstr>Distribuição Geométrica</vt:lpstr>
      <vt:lpstr>Distribuição Geométrica</vt:lpstr>
      <vt:lpstr>Distribuição Geométrica</vt:lpstr>
      <vt:lpstr>Distribuição Geométrica</vt:lpstr>
      <vt:lpstr>Distribuição Geométrica</vt:lpstr>
      <vt:lpstr>Distribuição Binomial Negativa (Pascal)</vt:lpstr>
      <vt:lpstr>Distribuição Binomial Negativa (Pascal)</vt:lpstr>
      <vt:lpstr>Distribuição Binomial Negativa (Pascal)</vt:lpstr>
      <vt:lpstr>Distribuição Binomial Negativa (Pascal)</vt:lpstr>
      <vt:lpstr>Distribuição Binomial Negativa</vt:lpstr>
      <vt:lpstr>Distribuição Hipergeométrica</vt:lpstr>
      <vt:lpstr>Distribuição Hipergeométrica</vt:lpstr>
      <vt:lpstr>Distribuição Hipergeométrica</vt:lpstr>
      <vt:lpstr>Distribuição Hipergeométrica</vt:lpstr>
      <vt:lpstr>Distribuição de Poisson</vt:lpstr>
      <vt:lpstr>Distribuição de Poisson</vt:lpstr>
      <vt:lpstr>Distribuição de Poisson</vt:lpstr>
      <vt:lpstr>Resumo Distribuições Discretas</vt:lpstr>
      <vt:lpstr>Distribuição Uniforme (Contínua)</vt:lpstr>
      <vt:lpstr>Distribuição Uniforme (Contínua)</vt:lpstr>
      <vt:lpstr>Distribuição Uniforme (Contínua)</vt:lpstr>
      <vt:lpstr>Distribuição Uniforme (Contínua)</vt:lpstr>
      <vt:lpstr>Distribuição Uniforme (Contínua)</vt:lpstr>
      <vt:lpstr>Distribuição Normal ou Gaussiana</vt:lpstr>
      <vt:lpstr>Distribuição Normal ou Gaussiana</vt:lpstr>
      <vt:lpstr>Distribuição Normal Padrão</vt:lpstr>
      <vt:lpstr>Distribuição Normal Padrão (Exemplos)</vt:lpstr>
      <vt:lpstr>Distribuição Normal Padrão (Exemplos)</vt:lpstr>
      <vt:lpstr>Distribuição Normal Padrão (Exemplos)</vt:lpstr>
      <vt:lpstr>Distribuição Normal (Exemplos)</vt:lpstr>
      <vt:lpstr>Distribuição da Soma de Variáveis Aleatórias</vt:lpstr>
      <vt:lpstr>Distribuição da Soma de Variáveis Aleatórias</vt:lpstr>
      <vt:lpstr>Teorema do Limite Central</vt:lpstr>
      <vt:lpstr>Aproximação da Binomial à Normal </vt:lpstr>
      <vt:lpstr>Aproximação da Binomial à Normal </vt:lpstr>
      <vt:lpstr>Aproximação da Binomial à Normal </vt:lpstr>
      <vt:lpstr>Distribuição Normal ou Gaussiana</vt:lpstr>
      <vt:lpstr>Distribuição 2</vt:lpstr>
      <vt:lpstr>Distribuição 2</vt:lpstr>
      <vt:lpstr>Distribuição 2</vt:lpstr>
      <vt:lpstr>Distribuição t de Student</vt:lpstr>
      <vt:lpstr>Distribuição t de Student</vt:lpstr>
      <vt:lpstr>Distribuição F (de Snedecor)</vt:lpstr>
      <vt:lpstr>Distribuição F</vt:lpstr>
      <vt:lpstr>Distribuição F</vt:lpstr>
      <vt:lpstr>Distribuição F</vt:lpstr>
      <vt:lpstr>Distribuição Exponencial</vt:lpstr>
      <vt:lpstr>Distribuição Rayleigh</vt:lpstr>
      <vt:lpstr>Distribuição Gamma</vt:lpstr>
      <vt:lpstr>Distribuições Multivariadas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Distribuição de Probabilidade</dc:title>
  <dc:creator>Camilo Daleles Rennó, DPI/INPE</dc:creator>
  <cp:lastModifiedBy>Camilo Daleles Rennó</cp:lastModifiedBy>
  <cp:revision>414</cp:revision>
  <dcterms:created xsi:type="dcterms:W3CDTF">2003-03-18T00:57:51Z</dcterms:created>
  <dcterms:modified xsi:type="dcterms:W3CDTF">2025-06-17T14:51:51Z</dcterms:modified>
</cp:coreProperties>
</file>