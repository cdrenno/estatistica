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311" r:id="rId2"/>
    <p:sldId id="316" r:id="rId3"/>
    <p:sldId id="383" r:id="rId4"/>
    <p:sldId id="317" r:id="rId5"/>
    <p:sldId id="384" r:id="rId6"/>
    <p:sldId id="319" r:id="rId7"/>
    <p:sldId id="322" r:id="rId8"/>
    <p:sldId id="370" r:id="rId9"/>
    <p:sldId id="381" r:id="rId10"/>
    <p:sldId id="382" r:id="rId11"/>
    <p:sldId id="379" r:id="rId12"/>
    <p:sldId id="385" r:id="rId13"/>
    <p:sldId id="386" r:id="rId14"/>
    <p:sldId id="387" r:id="rId15"/>
    <p:sldId id="390" r:id="rId16"/>
    <p:sldId id="388" r:id="rId17"/>
    <p:sldId id="389" r:id="rId18"/>
    <p:sldId id="344" r:id="rId19"/>
    <p:sldId id="371" r:id="rId20"/>
    <p:sldId id="351" r:id="rId21"/>
    <p:sldId id="352" r:id="rId22"/>
    <p:sldId id="353" r:id="rId23"/>
    <p:sldId id="354" r:id="rId24"/>
    <p:sldId id="368" r:id="rId25"/>
    <p:sldId id="365" r:id="rId26"/>
    <p:sldId id="364" r:id="rId27"/>
    <p:sldId id="366" r:id="rId28"/>
    <p:sldId id="375" r:id="rId29"/>
    <p:sldId id="378" r:id="rId30"/>
    <p:sldId id="376" r:id="rId31"/>
    <p:sldId id="377" r:id="rId32"/>
  </p:sldIdLst>
  <p:sldSz cx="9144000" cy="6858000" type="screen4x3"/>
  <p:notesSz cx="6858000" cy="9144000"/>
  <p:defaultTextStyle>
    <a:defPPr>
      <a:defRPr lang="pt-BR"/>
    </a:defPPr>
    <a:lvl1pPr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Comic Sans MS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0000"/>
    <a:srgbClr val="A06002"/>
    <a:srgbClr val="FEDBA8"/>
    <a:srgbClr val="B36B01"/>
    <a:srgbClr val="6C3900"/>
    <a:srgbClr val="EAEAE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BF3057-84C1-4C89-B315-3AC8F96FA991}" v="4" dt="2026-05-18T17:14:33.0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 autoAdjust="0"/>
    <p:restoredTop sz="94714" autoAdjust="0"/>
  </p:normalViewPr>
  <p:slideViewPr>
    <p:cSldViewPr>
      <p:cViewPr varScale="1">
        <p:scale>
          <a:sx n="70" d="100"/>
          <a:sy n="70" d="100"/>
        </p:scale>
        <p:origin x="148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o Daleles Rennó" userId="eac9aab033b2f962" providerId="LiveId" clId="{2F84B5F6-56BC-4922-A3EF-887C69771227}"/>
    <pc:docChg chg="undo custSel modSld">
      <pc:chgData name="Camilo Daleles Rennó" userId="eac9aab033b2f962" providerId="LiveId" clId="{2F84B5F6-56BC-4922-A3EF-887C69771227}" dt="2026-05-18T17:14:33.027" v="7"/>
      <pc:docMkLst>
        <pc:docMk/>
      </pc:docMkLst>
      <pc:sldChg chg="addSp delSp modSp mod">
        <pc:chgData name="Camilo Daleles Rennó" userId="eac9aab033b2f962" providerId="LiveId" clId="{2F84B5F6-56BC-4922-A3EF-887C69771227}" dt="2026-05-18T17:14:33.027" v="7"/>
        <pc:sldMkLst>
          <pc:docMk/>
          <pc:sldMk cId="0" sldId="311"/>
        </pc:sldMkLst>
        <pc:spChg chg="add del">
          <ac:chgData name="Camilo Daleles Rennó" userId="eac9aab033b2f962" providerId="LiveId" clId="{2F84B5F6-56BC-4922-A3EF-887C69771227}" dt="2026-05-18T17:14:31.879" v="6" actId="478"/>
          <ac:spMkLst>
            <pc:docMk/>
            <pc:sldMk cId="0" sldId="311"/>
            <ac:spMk id="2" creationId="{074D660B-EB1B-BB94-A312-5CF4E728C5BC}"/>
          </ac:spMkLst>
        </pc:spChg>
        <pc:spChg chg="add mod">
          <ac:chgData name="Camilo Daleles Rennó" userId="eac9aab033b2f962" providerId="LiveId" clId="{2F84B5F6-56BC-4922-A3EF-887C69771227}" dt="2026-05-18T17:14:00.016" v="2"/>
          <ac:spMkLst>
            <pc:docMk/>
            <pc:sldMk cId="0" sldId="311"/>
            <ac:spMk id="3" creationId="{DC926C57-5B43-16CC-9F5F-AB900ACAE7FB}"/>
          </ac:spMkLst>
        </pc:spChg>
        <pc:spChg chg="add del mod">
          <ac:chgData name="Camilo Daleles Rennó" userId="eac9aab033b2f962" providerId="LiveId" clId="{2F84B5F6-56BC-4922-A3EF-887C69771227}" dt="2026-05-18T17:14:16.478" v="5" actId="478"/>
          <ac:spMkLst>
            <pc:docMk/>
            <pc:sldMk cId="0" sldId="311"/>
            <ac:spMk id="4" creationId="{DC926C57-5B43-16CC-9F5F-AB900ACAE7FB}"/>
          </ac:spMkLst>
        </pc:spChg>
        <pc:spChg chg="add mod">
          <ac:chgData name="Camilo Daleles Rennó" userId="eac9aab033b2f962" providerId="LiveId" clId="{2F84B5F6-56BC-4922-A3EF-887C69771227}" dt="2026-05-18T17:14:33.027" v="7"/>
          <ac:spMkLst>
            <pc:docMk/>
            <pc:sldMk cId="0" sldId="311"/>
            <ac:spMk id="6" creationId="{D1F576C7-195A-AE62-9005-355BB482757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FDF14F55-EB94-4416-82F7-AC199FF6854F}" type="datetimeFigureOut">
              <a:rPr lang="pt-BR" smtClean="0"/>
              <a:pPr>
                <a:defRPr/>
              </a:pPr>
              <a:t>18/05/2026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360C42F4-84DA-4607-8393-1B106189BFC1}" type="slidenum">
              <a:rPr lang="pt-BR" smtClean="0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7677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D8E064-AEFB-472D-A3CE-A3985E139C4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6170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39000" y="6524625"/>
            <a:ext cx="1905000" cy="320675"/>
          </a:xfrm>
        </p:spPr>
        <p:txBody>
          <a:bodyPr anchor="b"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D403EABC-EA21-4603-B6F9-B1D224F9DA19}" type="slidenum">
              <a:rPr lang="pt-BR" smtClean="0"/>
              <a:pPr>
                <a:defRPr/>
              </a:pPr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9590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BA527-571F-4F2E-9A86-4F0DAE7382A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973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D91FED-7368-4AB2-AEDA-965BEEAF1E7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7392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BDE1CC-D5D6-42B6-86FB-B1D7F6B526E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9709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F45365-3ACD-49F1-90F2-5690447FCCD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9498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105B4F-72DE-4747-8595-C02A1FC7F21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697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78ADF0-07D5-409F-BDC0-55E11DE2677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8630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D3B800-9A8F-4496-B4D7-262C7DEEBCF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1871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857161-3F73-492E-8D65-1EC6E5DB0C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0775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48450" y="609600"/>
            <a:ext cx="2114550" cy="54864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04800" y="609600"/>
            <a:ext cx="6191250" cy="54864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429587-A083-4DD3-B113-67A7E0DF125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469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609600"/>
            <a:ext cx="845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dirty="0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dirty="0"/>
              <a:t>Clique para editar os estilos do texto mestre</a:t>
            </a:r>
          </a:p>
          <a:p>
            <a:pPr lvl="1"/>
            <a:r>
              <a:rPr lang="pt-BR" altLang="pt-BR" dirty="0"/>
              <a:t>Segundo nível</a:t>
            </a:r>
          </a:p>
          <a:p>
            <a:pPr lvl="2"/>
            <a:r>
              <a:rPr lang="pt-BR" altLang="pt-BR" dirty="0"/>
              <a:t>Terceiro nível</a:t>
            </a:r>
          </a:p>
          <a:p>
            <a:pPr lvl="3"/>
            <a:r>
              <a:rPr lang="pt-BR" altLang="pt-BR" dirty="0"/>
              <a:t>Quarto nível</a:t>
            </a:r>
          </a:p>
          <a:p>
            <a:pPr lvl="4"/>
            <a:r>
              <a:rPr lang="pt-BR" altLang="pt-BR" dirty="0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92130179-7C6C-4DDB-B10B-03AC4AD6FD5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762000" y="1219200"/>
            <a:ext cx="7620000" cy="76200"/>
          </a:xfrm>
          <a:prstGeom prst="rect">
            <a:avLst/>
          </a:prstGeom>
          <a:gradFill rotWithShape="0">
            <a:gsLst>
              <a:gs pos="0">
                <a:schemeClr val="accent2">
                  <a:gamma/>
                  <a:tint val="20392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tint val="20392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Tahoma" panose="020B060403050404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ahoma" panose="020B060403050404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ahoma" panose="020B060403050404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ahoma" panose="020B060403050404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4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7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0.pn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895600"/>
            <a:ext cx="84582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sz="2400" dirty="0"/>
              <a:t>Estatística: Aplicação ao Sensoriamento Remoto</a:t>
            </a:r>
            <a:br>
              <a:rPr lang="pt-BR" sz="2400" dirty="0"/>
            </a:br>
            <a:br>
              <a:rPr lang="pt-BR" sz="2400" dirty="0"/>
            </a:br>
            <a:r>
              <a:rPr lang="pt-BR" sz="2400"/>
              <a:t>SER 204</a:t>
            </a:r>
            <a:br>
              <a:rPr lang="pt-BR" sz="2400" dirty="0"/>
            </a:br>
            <a:br>
              <a:rPr lang="pt-BR" sz="2400" dirty="0"/>
            </a:br>
            <a:r>
              <a:rPr lang="pt-BR" sz="2400" dirty="0"/>
              <a:t>Simulação Estocástica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1F576C7-195A-AE62-9005-355BB4827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920" y="5903913"/>
            <a:ext cx="506348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800" kern="0" dirty="0">
                <a:latin typeface="Tahoma" panose="020B0604030504040204" pitchFamily="34" charset="0"/>
                <a:cs typeface="+mn-cs"/>
              </a:rPr>
              <a:t>Camilo </a:t>
            </a:r>
            <a:r>
              <a:rPr lang="pt-BR" sz="1800" kern="0" dirty="0" err="1">
                <a:latin typeface="Tahoma" panose="020B0604030504040204" pitchFamily="34" charset="0"/>
                <a:cs typeface="+mn-cs"/>
              </a:rPr>
              <a:t>Daleles</a:t>
            </a:r>
            <a:r>
              <a:rPr lang="pt-BR" sz="1800" kern="0" dirty="0">
                <a:latin typeface="Tahoma" panose="020B0604030504040204" pitchFamily="34" charset="0"/>
                <a:cs typeface="+mn-cs"/>
              </a:rPr>
              <a:t> </a:t>
            </a:r>
            <a:r>
              <a:rPr lang="pt-BR" sz="1800" kern="0" dirty="0" err="1">
                <a:latin typeface="Tahoma" panose="020B0604030504040204" pitchFamily="34" charset="0"/>
                <a:cs typeface="+mn-cs"/>
              </a:rPr>
              <a:t>Rennó</a:t>
            </a:r>
            <a:endParaRPr lang="pt-BR" sz="1800" kern="0" dirty="0">
              <a:latin typeface="Tahoma" panose="020B0604030504040204" pitchFamily="34" charset="0"/>
              <a:cs typeface="+mn-cs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200" kern="0" dirty="0">
                <a:latin typeface="Arial Unicode MS" pitchFamily="34" charset="-128"/>
              </a:rPr>
              <a:t>camilo.renno@inpe.br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200" kern="0" dirty="0">
                <a:latin typeface="Arial Unicode MS" pitchFamily="34" charset="-128"/>
              </a:rPr>
              <a:t>acesso do conteúdo do curso em </a:t>
            </a:r>
            <a:r>
              <a:rPr lang="pt-BR" sz="1200" kern="0" dirty="0">
                <a:solidFill>
                  <a:schemeClr val="accent2"/>
                </a:solidFill>
                <a:latin typeface="Arial Unicode MS" pitchFamily="34" charset="-128"/>
              </a:rPr>
              <a:t>https://cdrenno.github.io/Estatistica/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Simulação</a:t>
            </a:r>
          </a:p>
        </p:txBody>
      </p:sp>
      <p:sp>
        <p:nvSpPr>
          <p:cNvPr id="42" name="Text Box 38"/>
          <p:cNvSpPr txBox="1">
            <a:spLocks noChangeArrowheads="1"/>
          </p:cNvSpPr>
          <p:nvPr/>
        </p:nvSpPr>
        <p:spPr bwMode="auto">
          <a:xfrm>
            <a:off x="357188" y="1643063"/>
            <a:ext cx="85725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60363" indent="-360363" algn="l">
              <a:defRPr/>
            </a:pPr>
            <a:r>
              <a:rPr lang="pt-BR" sz="1600" dirty="0">
                <a:latin typeface="Tahoma" panose="020B0604030504040204" pitchFamily="34" charset="0"/>
              </a:rPr>
              <a:t>O que é </a:t>
            </a:r>
            <a:r>
              <a:rPr 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Simulação</a:t>
            </a:r>
            <a:r>
              <a:rPr lang="pt-BR" sz="1600" dirty="0">
                <a:latin typeface="Tahoma" panose="020B0604030504040204" pitchFamily="34" charset="0"/>
              </a:rPr>
              <a:t>?</a:t>
            </a:r>
          </a:p>
          <a:p>
            <a:pPr marL="719138" indent="-360363" algn="l">
              <a:defRPr/>
            </a:pPr>
            <a:r>
              <a:rPr lang="pt-BR" sz="1600" dirty="0">
                <a:latin typeface="Tahoma" panose="020B0604030504040204" pitchFamily="34" charset="0"/>
              </a:rPr>
              <a:t>é um experimento realizado a partir de modelos (reais ou virtuais)</a:t>
            </a:r>
          </a:p>
          <a:p>
            <a:pPr marL="719138" indent="-360363" algn="l">
              <a:defRPr/>
            </a:pPr>
            <a:endParaRPr lang="pt-BR" sz="1600" dirty="0">
              <a:latin typeface="Tahoma" panose="020B0604030504040204" pitchFamily="34" charset="0"/>
            </a:endParaRPr>
          </a:p>
          <a:p>
            <a:pPr marL="719138" indent="-360363" algn="l">
              <a:defRPr/>
            </a:pPr>
            <a:r>
              <a:rPr lang="pt-BR" sz="1600" dirty="0">
                <a:latin typeface="Tahoma" panose="020B0604030504040204" pitchFamily="34" charset="0"/>
              </a:rPr>
              <a:t>Pode ser:</a:t>
            </a:r>
          </a:p>
          <a:p>
            <a:pPr marL="719138" indent="-360363" algn="l">
              <a:defRPr/>
            </a:pPr>
            <a:endParaRPr lang="pt-BR" sz="1600" dirty="0">
              <a:latin typeface="Tahoma" panose="020B0604030504040204" pitchFamily="34" charset="0"/>
            </a:endParaRPr>
          </a:p>
          <a:p>
            <a:pPr marL="1079500" indent="-360363" algn="l">
              <a:defRPr/>
            </a:pPr>
            <a:r>
              <a:rPr lang="pt-BR" sz="1600" dirty="0">
                <a:latin typeface="Tahoma" panose="020B0604030504040204" pitchFamily="34" charset="0"/>
              </a:rPr>
              <a:t>a) determinística: as entradas do modelo são fixas e para uma determinada combinação de valores de entrada o resultado final é sempre o mesmo</a:t>
            </a:r>
          </a:p>
          <a:p>
            <a:pPr marL="1079500" indent="-360363" algn="l">
              <a:defRPr/>
            </a:pPr>
            <a:r>
              <a:rPr lang="pt-BR" sz="1600" dirty="0">
                <a:latin typeface="Tahoma" panose="020B0604030504040204" pitchFamily="34" charset="0"/>
              </a:rPr>
              <a:t>b) estocástica (ou probabilística): o modelo e/ou as entradas incorporam variações aleatórias de modo que os resultados são diferentes a cada simulação</a:t>
            </a:r>
          </a:p>
        </p:txBody>
      </p:sp>
      <p:grpSp>
        <p:nvGrpSpPr>
          <p:cNvPr id="2" name="Grupo 165"/>
          <p:cNvGrpSpPr>
            <a:grpSpLocks/>
          </p:cNvGrpSpPr>
          <p:nvPr/>
        </p:nvGrpSpPr>
        <p:grpSpPr bwMode="auto">
          <a:xfrm>
            <a:off x="416962" y="4464327"/>
            <a:ext cx="2379176" cy="1214354"/>
            <a:chOff x="416259" y="3571876"/>
            <a:chExt cx="2379849" cy="1214842"/>
          </a:xfrm>
        </p:grpSpPr>
        <p:grpSp>
          <p:nvGrpSpPr>
            <p:cNvPr id="4148" name="Grupo 52"/>
            <p:cNvGrpSpPr>
              <a:grpSpLocks/>
            </p:cNvGrpSpPr>
            <p:nvPr/>
          </p:nvGrpSpPr>
          <p:grpSpPr bwMode="auto">
            <a:xfrm>
              <a:off x="428596" y="3571876"/>
              <a:ext cx="2320124" cy="928694"/>
              <a:chOff x="428596" y="3515369"/>
              <a:chExt cx="2320124" cy="928694"/>
            </a:xfrm>
          </p:grpSpPr>
          <p:sp>
            <p:nvSpPr>
              <p:cNvPr id="4150" name="CaixaDeTexto 44"/>
              <p:cNvSpPr txBox="1">
                <a:spLocks noChangeArrowheads="1"/>
              </p:cNvSpPr>
              <p:nvPr/>
            </p:nvSpPr>
            <p:spPr bwMode="auto">
              <a:xfrm>
                <a:off x="1285852" y="3841217"/>
                <a:ext cx="857256" cy="2769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 anchorCtr="1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ahoma" panose="020B0604030504040204" pitchFamily="34" charset="0"/>
                  </a:rPr>
                  <a:t>MODELO</a:t>
                </a:r>
              </a:p>
            </p:txBody>
          </p:sp>
          <p:grpSp>
            <p:nvGrpSpPr>
              <p:cNvPr id="4151" name="Grupo 49"/>
              <p:cNvGrpSpPr>
                <a:grpSpLocks/>
              </p:cNvGrpSpPr>
              <p:nvPr/>
            </p:nvGrpSpPr>
            <p:grpSpPr bwMode="auto">
              <a:xfrm>
                <a:off x="428596" y="3515369"/>
                <a:ext cx="500066" cy="928694"/>
                <a:chOff x="857224" y="3515369"/>
                <a:chExt cx="500066" cy="928694"/>
              </a:xfrm>
            </p:grpSpPr>
            <p:sp>
              <p:nvSpPr>
                <p:cNvPr id="4155" name="CaixaDeTexto 45"/>
                <p:cNvSpPr txBox="1">
                  <a:spLocks noChangeArrowheads="1"/>
                </p:cNvSpPr>
                <p:nvPr/>
              </p:nvSpPr>
              <p:spPr bwMode="auto">
                <a:xfrm>
                  <a:off x="857224" y="3541135"/>
                  <a:ext cx="330539" cy="8771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 i="1" dirty="0">
                      <a:latin typeface="Times New Roman" charset="0"/>
                      <a:cs typeface="Times New Roman" charset="0"/>
                    </a:rPr>
                    <a:t>X</a:t>
                  </a:r>
                  <a:r>
                    <a:rPr lang="pt-BR" altLang="pt-BR" sz="1200" baseline="-25000" dirty="0">
                      <a:latin typeface="Times New Roman" charset="0"/>
                      <a:cs typeface="Times New Roman" charset="0"/>
                    </a:rPr>
                    <a:t>1</a:t>
                  </a:r>
                </a:p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 i="1" dirty="0">
                      <a:latin typeface="Times New Roman" charset="0"/>
                      <a:cs typeface="Times New Roman" charset="0"/>
                    </a:rPr>
                    <a:t>X</a:t>
                  </a:r>
                  <a:r>
                    <a:rPr lang="pt-BR" altLang="pt-BR" sz="1200" baseline="-25000" dirty="0">
                      <a:latin typeface="Times New Roman" charset="0"/>
                      <a:cs typeface="Times New Roman" charset="0"/>
                    </a:rPr>
                    <a:t>2</a:t>
                  </a:r>
                </a:p>
                <a:p>
                  <a:pPr algn="ctr" eaLnBrk="1" hangingPunct="1">
                    <a:lnSpc>
                      <a:spcPts val="6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 dirty="0">
                      <a:latin typeface="Times New Roman" charset="0"/>
                      <a:cs typeface="Times New Roman" charset="0"/>
                    </a:rPr>
                    <a:t>.</a:t>
                  </a:r>
                </a:p>
                <a:p>
                  <a:pPr algn="ctr" eaLnBrk="1" hangingPunct="1">
                    <a:lnSpc>
                      <a:spcPts val="6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 dirty="0">
                      <a:latin typeface="Times New Roman" charset="0"/>
                      <a:cs typeface="Times New Roman" charset="0"/>
                    </a:rPr>
                    <a:t>.</a:t>
                  </a:r>
                </a:p>
                <a:p>
                  <a:pPr algn="ctr" eaLnBrk="1" hangingPunct="1">
                    <a:lnSpc>
                      <a:spcPts val="6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 dirty="0">
                      <a:latin typeface="Times New Roman" charset="0"/>
                      <a:cs typeface="Times New Roman" charset="0"/>
                    </a:rPr>
                    <a:t>.</a:t>
                  </a:r>
                </a:p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 i="1" dirty="0" err="1">
                      <a:latin typeface="Times New Roman" charset="0"/>
                      <a:cs typeface="Times New Roman" charset="0"/>
                    </a:rPr>
                    <a:t>X</a:t>
                  </a:r>
                  <a:r>
                    <a:rPr lang="pt-BR" altLang="pt-BR" sz="1200" i="1" baseline="-25000" dirty="0" err="1">
                      <a:latin typeface="Times New Roman" charset="0"/>
                      <a:cs typeface="Times New Roman" charset="0"/>
                    </a:rPr>
                    <a:t>n</a:t>
                  </a:r>
                  <a:endParaRPr lang="pt-BR" altLang="pt-BR" sz="1200" i="1" baseline="-25000" dirty="0">
                    <a:latin typeface="Times New Roman" charset="0"/>
                    <a:cs typeface="Times New Roman" charset="0"/>
                  </a:endParaRPr>
                </a:p>
              </p:txBody>
            </p:sp>
            <p:sp>
              <p:nvSpPr>
                <p:cNvPr id="4156" name="Chave direita 46"/>
                <p:cNvSpPr>
                  <a:spLocks/>
                </p:cNvSpPr>
                <p:nvPr/>
              </p:nvSpPr>
              <p:spPr bwMode="auto">
                <a:xfrm>
                  <a:off x="1142976" y="3515369"/>
                  <a:ext cx="214314" cy="928694"/>
                </a:xfrm>
                <a:prstGeom prst="rightBrace">
                  <a:avLst>
                    <a:gd name="adj1" fmla="val 8326"/>
                    <a:gd name="adj2" fmla="val 50000"/>
                  </a:avLst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1200" dirty="0">
                    <a:latin typeface="Tahoma" panose="020B0604030504040204" pitchFamily="34" charset="0"/>
                  </a:endParaRPr>
                </a:p>
              </p:txBody>
            </p:sp>
          </p:grpSp>
          <p:cxnSp>
            <p:nvCxnSpPr>
              <p:cNvPr id="4152" name="Conector de seta reta 48"/>
              <p:cNvCxnSpPr>
                <a:cxnSpLocks noChangeShapeType="1"/>
              </p:cNvCxnSpPr>
              <p:nvPr/>
            </p:nvCxnSpPr>
            <p:spPr bwMode="auto">
              <a:xfrm>
                <a:off x="979552" y="3978922"/>
                <a:ext cx="285752" cy="1588"/>
              </a:xfrm>
              <a:prstGeom prst="straightConnector1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53" name="Conector de seta reta 50"/>
              <p:cNvCxnSpPr>
                <a:cxnSpLocks noChangeShapeType="1"/>
              </p:cNvCxnSpPr>
              <p:nvPr/>
            </p:nvCxnSpPr>
            <p:spPr bwMode="auto">
              <a:xfrm>
                <a:off x="2214546" y="3978922"/>
                <a:ext cx="285752" cy="1588"/>
              </a:xfrm>
              <a:prstGeom prst="straightConnector1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154" name="Retângulo 51"/>
              <p:cNvSpPr>
                <a:spLocks noChangeArrowheads="1"/>
              </p:cNvSpPr>
              <p:nvPr/>
            </p:nvSpPr>
            <p:spPr bwMode="auto">
              <a:xfrm>
                <a:off x="2469476" y="3841217"/>
                <a:ext cx="279244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i="1" dirty="0">
                    <a:latin typeface="Times New Roman" charset="0"/>
                    <a:cs typeface="Times New Roman" charset="0"/>
                  </a:rPr>
                  <a:t>Y</a:t>
                </a: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63" name="CaixaDeTexto 162"/>
            <p:cNvSpPr txBox="1"/>
            <p:nvPr/>
          </p:nvSpPr>
          <p:spPr>
            <a:xfrm>
              <a:off x="416259" y="4532700"/>
              <a:ext cx="2379849" cy="25401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-BR" sz="1050" dirty="0">
                  <a:latin typeface="Tahoma" panose="020B0604030504040204" pitchFamily="34" charset="0"/>
                </a:rPr>
                <a:t>entrada fixa + modelo determinístico</a:t>
              </a:r>
            </a:p>
          </p:txBody>
        </p:sp>
      </p:grpSp>
      <p:grpSp>
        <p:nvGrpSpPr>
          <p:cNvPr id="5" name="Grupo 166"/>
          <p:cNvGrpSpPr>
            <a:grpSpLocks/>
          </p:cNvGrpSpPr>
          <p:nvPr/>
        </p:nvGrpSpPr>
        <p:grpSpPr bwMode="auto">
          <a:xfrm>
            <a:off x="3000375" y="4464327"/>
            <a:ext cx="2747963" cy="1214354"/>
            <a:chOff x="3000364" y="3571876"/>
            <a:chExt cx="2747417" cy="1214842"/>
          </a:xfrm>
        </p:grpSpPr>
        <p:grpSp>
          <p:nvGrpSpPr>
            <p:cNvPr id="4136" name="Grupo 117"/>
            <p:cNvGrpSpPr>
              <a:grpSpLocks/>
            </p:cNvGrpSpPr>
            <p:nvPr/>
          </p:nvGrpSpPr>
          <p:grpSpPr bwMode="auto">
            <a:xfrm>
              <a:off x="3000364" y="3571876"/>
              <a:ext cx="2747417" cy="928694"/>
              <a:chOff x="3000364" y="3571876"/>
              <a:chExt cx="2747417" cy="928694"/>
            </a:xfrm>
          </p:grpSpPr>
          <p:sp>
            <p:nvSpPr>
              <p:cNvPr id="4138" name="CaixaDeTexto 54"/>
              <p:cNvSpPr txBox="1">
                <a:spLocks noChangeArrowheads="1"/>
              </p:cNvSpPr>
              <p:nvPr/>
            </p:nvSpPr>
            <p:spPr bwMode="auto">
              <a:xfrm>
                <a:off x="3857620" y="3897724"/>
                <a:ext cx="857256" cy="2769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 anchorCtr="1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ahoma" panose="020B0604030504040204" pitchFamily="34" charset="0"/>
                  </a:rPr>
                  <a:t>MODELO</a:t>
                </a:r>
              </a:p>
            </p:txBody>
          </p:sp>
          <p:grpSp>
            <p:nvGrpSpPr>
              <p:cNvPr id="4139" name="Grupo 49"/>
              <p:cNvGrpSpPr>
                <a:grpSpLocks/>
              </p:cNvGrpSpPr>
              <p:nvPr/>
            </p:nvGrpSpPr>
            <p:grpSpPr bwMode="auto">
              <a:xfrm>
                <a:off x="3000364" y="3571876"/>
                <a:ext cx="500066" cy="928694"/>
                <a:chOff x="857224" y="3515369"/>
                <a:chExt cx="500066" cy="928694"/>
              </a:xfrm>
            </p:grpSpPr>
            <p:sp>
              <p:nvSpPr>
                <p:cNvPr id="4146" name="CaixaDeTexto 59"/>
                <p:cNvSpPr txBox="1">
                  <a:spLocks noChangeArrowheads="1"/>
                </p:cNvSpPr>
                <p:nvPr/>
              </p:nvSpPr>
              <p:spPr bwMode="auto">
                <a:xfrm>
                  <a:off x="857224" y="3541135"/>
                  <a:ext cx="330539" cy="8771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 i="1">
                      <a:latin typeface="Times New Roman" charset="0"/>
                      <a:cs typeface="Times New Roman" charset="0"/>
                    </a:rPr>
                    <a:t>X</a:t>
                  </a:r>
                  <a:r>
                    <a:rPr lang="pt-BR" altLang="pt-BR" sz="1200" baseline="-25000">
                      <a:latin typeface="Times New Roman" charset="0"/>
                      <a:cs typeface="Times New Roman" charset="0"/>
                    </a:rPr>
                    <a:t>1</a:t>
                  </a:r>
                </a:p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 i="1">
                      <a:latin typeface="Times New Roman" charset="0"/>
                      <a:cs typeface="Times New Roman" charset="0"/>
                    </a:rPr>
                    <a:t>X</a:t>
                  </a:r>
                  <a:r>
                    <a:rPr lang="pt-BR" altLang="pt-BR" sz="1200" baseline="-25000">
                      <a:latin typeface="Times New Roman" charset="0"/>
                      <a:cs typeface="Times New Roman" charset="0"/>
                    </a:rPr>
                    <a:t>2</a:t>
                  </a:r>
                </a:p>
                <a:p>
                  <a:pPr algn="ctr" eaLnBrk="1" hangingPunct="1">
                    <a:lnSpc>
                      <a:spcPts val="6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latin typeface="Times New Roman" charset="0"/>
                      <a:cs typeface="Times New Roman" charset="0"/>
                    </a:rPr>
                    <a:t>.</a:t>
                  </a:r>
                </a:p>
                <a:p>
                  <a:pPr algn="ctr" eaLnBrk="1" hangingPunct="1">
                    <a:lnSpc>
                      <a:spcPts val="6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latin typeface="Times New Roman" charset="0"/>
                      <a:cs typeface="Times New Roman" charset="0"/>
                    </a:rPr>
                    <a:t>.</a:t>
                  </a:r>
                </a:p>
                <a:p>
                  <a:pPr algn="ctr" eaLnBrk="1" hangingPunct="1">
                    <a:lnSpc>
                      <a:spcPts val="6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>
                      <a:latin typeface="Times New Roman" charset="0"/>
                      <a:cs typeface="Times New Roman" charset="0"/>
                    </a:rPr>
                    <a:t>.</a:t>
                  </a:r>
                </a:p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 i="1">
                      <a:latin typeface="Times New Roman" charset="0"/>
                      <a:cs typeface="Times New Roman" charset="0"/>
                    </a:rPr>
                    <a:t>X</a:t>
                  </a:r>
                  <a:r>
                    <a:rPr lang="pt-BR" altLang="pt-BR" sz="1200" i="1" baseline="-25000">
                      <a:latin typeface="Times New Roman" charset="0"/>
                      <a:cs typeface="Times New Roman" charset="0"/>
                    </a:rPr>
                    <a:t>n</a:t>
                  </a:r>
                </a:p>
              </p:txBody>
            </p:sp>
            <p:sp>
              <p:nvSpPr>
                <p:cNvPr id="4147" name="Chave direita 60"/>
                <p:cNvSpPr>
                  <a:spLocks/>
                </p:cNvSpPr>
                <p:nvPr/>
              </p:nvSpPr>
              <p:spPr bwMode="auto">
                <a:xfrm>
                  <a:off x="1142976" y="3515369"/>
                  <a:ext cx="214314" cy="928694"/>
                </a:xfrm>
                <a:prstGeom prst="rightBrace">
                  <a:avLst>
                    <a:gd name="adj1" fmla="val 8326"/>
                    <a:gd name="adj2" fmla="val 50000"/>
                  </a:avLst>
                </a:prstGeom>
                <a:noFill/>
                <a:ln w="1270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1200" dirty="0">
                    <a:latin typeface="Tahoma" panose="020B0604030504040204" pitchFamily="34" charset="0"/>
                  </a:endParaRPr>
                </a:p>
              </p:txBody>
            </p:sp>
          </p:grpSp>
          <p:cxnSp>
            <p:nvCxnSpPr>
              <p:cNvPr id="4140" name="Conector de seta reta 56"/>
              <p:cNvCxnSpPr>
                <a:cxnSpLocks noChangeShapeType="1"/>
              </p:cNvCxnSpPr>
              <p:nvPr/>
            </p:nvCxnSpPr>
            <p:spPr bwMode="auto">
              <a:xfrm>
                <a:off x="3551320" y="4035429"/>
                <a:ext cx="285752" cy="1588"/>
              </a:xfrm>
              <a:prstGeom prst="straightConnector1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41" name="Conector de seta reta 57"/>
              <p:cNvCxnSpPr>
                <a:cxnSpLocks noChangeShapeType="1"/>
              </p:cNvCxnSpPr>
              <p:nvPr/>
            </p:nvCxnSpPr>
            <p:spPr bwMode="auto">
              <a:xfrm>
                <a:off x="4786314" y="4035429"/>
                <a:ext cx="285752" cy="1588"/>
              </a:xfrm>
              <a:prstGeom prst="straightConnector1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142" name="Retângulo 58"/>
              <p:cNvSpPr>
                <a:spLocks noChangeArrowheads="1"/>
              </p:cNvSpPr>
              <p:nvPr/>
            </p:nvSpPr>
            <p:spPr bwMode="auto">
              <a:xfrm>
                <a:off x="5255078" y="3694204"/>
                <a:ext cx="279244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i="1" dirty="0">
                    <a:latin typeface="Times New Roman" charset="0"/>
                    <a:cs typeface="Times New Roman" charset="0"/>
                  </a:rPr>
                  <a:t>Y</a:t>
                </a: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cxnSp>
            <p:nvCxnSpPr>
              <p:cNvPr id="4143" name="Conector reto 65"/>
              <p:cNvCxnSpPr>
                <a:cxnSpLocks noChangeShapeType="1"/>
              </p:cNvCxnSpPr>
              <p:nvPr/>
            </p:nvCxnSpPr>
            <p:spPr bwMode="auto">
              <a:xfrm>
                <a:off x="5132750" y="3766602"/>
                <a:ext cx="0" cy="414334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44" name="Conector reto 66"/>
              <p:cNvCxnSpPr>
                <a:cxnSpLocks noChangeShapeType="1"/>
              </p:cNvCxnSpPr>
              <p:nvPr/>
            </p:nvCxnSpPr>
            <p:spPr bwMode="auto">
              <a:xfrm>
                <a:off x="5132750" y="4180936"/>
                <a:ext cx="615031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145" name="Forma livre 68"/>
              <p:cNvSpPr>
                <a:spLocks noChangeArrowheads="1"/>
              </p:cNvSpPr>
              <p:nvPr/>
            </p:nvSpPr>
            <p:spPr bwMode="auto">
              <a:xfrm>
                <a:off x="5136674" y="3832820"/>
                <a:ext cx="577274" cy="345278"/>
              </a:xfrm>
              <a:custGeom>
                <a:avLst/>
                <a:gdLst>
                  <a:gd name="T0" fmla="*/ 0 w 1273995"/>
                  <a:gd name="T1" fmla="*/ 0 h 762000"/>
                  <a:gd name="T2" fmla="*/ 0 w 1273995"/>
                  <a:gd name="T3" fmla="*/ 0 h 762000"/>
                  <a:gd name="T4" fmla="*/ 0 w 1273995"/>
                  <a:gd name="T5" fmla="*/ 0 h 762000"/>
                  <a:gd name="T6" fmla="*/ 0 w 1273995"/>
                  <a:gd name="T7" fmla="*/ 0 h 762000"/>
                  <a:gd name="T8" fmla="*/ 0 w 1273995"/>
                  <a:gd name="T9" fmla="*/ 0 h 762000"/>
                  <a:gd name="T10" fmla="*/ 0 w 1273995"/>
                  <a:gd name="T11" fmla="*/ 0 h 762000"/>
                  <a:gd name="T12" fmla="*/ 0 w 1273995"/>
                  <a:gd name="T13" fmla="*/ 0 h 762000"/>
                  <a:gd name="T14" fmla="*/ 0 w 1273995"/>
                  <a:gd name="T15" fmla="*/ 0 h 762000"/>
                  <a:gd name="T16" fmla="*/ 0 w 1273995"/>
                  <a:gd name="T17" fmla="*/ 0 h 76200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273995"/>
                  <a:gd name="T28" fmla="*/ 0 h 762000"/>
                  <a:gd name="T29" fmla="*/ 1273995 w 1273995"/>
                  <a:gd name="T30" fmla="*/ 762000 h 76200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273995" h="762000">
                    <a:moveTo>
                      <a:pt x="0" y="762000"/>
                    </a:moveTo>
                    <a:cubicBezTo>
                      <a:pt x="9417" y="658402"/>
                      <a:pt x="18835" y="554804"/>
                      <a:pt x="41096" y="453775"/>
                    </a:cubicBezTo>
                    <a:cubicBezTo>
                      <a:pt x="63357" y="352746"/>
                      <a:pt x="102741" y="231168"/>
                      <a:pt x="133564" y="155824"/>
                    </a:cubicBezTo>
                    <a:cubicBezTo>
                      <a:pt x="164387" y="80480"/>
                      <a:pt x="190072" y="3424"/>
                      <a:pt x="226031" y="1712"/>
                    </a:cubicBezTo>
                    <a:cubicBezTo>
                      <a:pt x="261990" y="0"/>
                      <a:pt x="306512" y="61644"/>
                      <a:pt x="349321" y="145550"/>
                    </a:cubicBezTo>
                    <a:cubicBezTo>
                      <a:pt x="392130" y="229456"/>
                      <a:pt x="441788" y="416103"/>
                      <a:pt x="482885" y="505146"/>
                    </a:cubicBezTo>
                    <a:cubicBezTo>
                      <a:pt x="523982" y="594189"/>
                      <a:pt x="530831" y="640422"/>
                      <a:pt x="595901" y="679806"/>
                    </a:cubicBezTo>
                    <a:cubicBezTo>
                      <a:pt x="660971" y="719190"/>
                      <a:pt x="760287" y="727752"/>
                      <a:pt x="873303" y="741451"/>
                    </a:cubicBezTo>
                    <a:cubicBezTo>
                      <a:pt x="986319" y="755150"/>
                      <a:pt x="1130157" y="758575"/>
                      <a:pt x="1273995" y="762000"/>
                    </a:cubicBezTo>
                  </a:path>
                </a:pathLst>
              </a:cu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64" name="CaixaDeTexto 163"/>
            <p:cNvSpPr txBox="1"/>
            <p:nvPr/>
          </p:nvSpPr>
          <p:spPr>
            <a:xfrm>
              <a:off x="3355401" y="4532700"/>
              <a:ext cx="2202409" cy="25401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-BR" sz="1050" dirty="0">
                  <a:latin typeface="Tahoma" panose="020B0604030504040204" pitchFamily="34" charset="0"/>
                </a:rPr>
                <a:t>entrada fixa + modelo estocástico</a:t>
              </a:r>
            </a:p>
          </p:txBody>
        </p:sp>
      </p:grpSp>
      <p:grpSp>
        <p:nvGrpSpPr>
          <p:cNvPr id="8" name="Grupo 167"/>
          <p:cNvGrpSpPr>
            <a:grpSpLocks/>
          </p:cNvGrpSpPr>
          <p:nvPr/>
        </p:nvGrpSpPr>
        <p:grpSpPr bwMode="auto">
          <a:xfrm>
            <a:off x="6217157" y="4362727"/>
            <a:ext cx="2816797" cy="1315953"/>
            <a:chOff x="6217179" y="3469616"/>
            <a:chExt cx="2817188" cy="1317101"/>
          </a:xfrm>
        </p:grpSpPr>
        <p:grpSp>
          <p:nvGrpSpPr>
            <p:cNvPr id="4108" name="Grupo 161"/>
            <p:cNvGrpSpPr>
              <a:grpSpLocks/>
            </p:cNvGrpSpPr>
            <p:nvPr/>
          </p:nvGrpSpPr>
          <p:grpSpPr bwMode="auto">
            <a:xfrm>
              <a:off x="6255690" y="3469616"/>
              <a:ext cx="2745466" cy="1030954"/>
              <a:chOff x="6255690" y="3469616"/>
              <a:chExt cx="2745466" cy="1030954"/>
            </a:xfrm>
          </p:grpSpPr>
          <p:sp>
            <p:nvSpPr>
              <p:cNvPr id="4110" name="CaixaDeTexto 119"/>
              <p:cNvSpPr txBox="1">
                <a:spLocks noChangeArrowheads="1"/>
              </p:cNvSpPr>
              <p:nvPr/>
            </p:nvSpPr>
            <p:spPr bwMode="auto">
              <a:xfrm>
                <a:off x="7110995" y="3897724"/>
                <a:ext cx="857256" cy="2769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 anchorCtr="1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ahoma" panose="020B0604030504040204" pitchFamily="34" charset="0"/>
                  </a:rPr>
                  <a:t>MODELO</a:t>
                </a:r>
              </a:p>
            </p:txBody>
          </p:sp>
          <p:sp>
            <p:nvSpPr>
              <p:cNvPr id="4111" name="Chave direita 128"/>
              <p:cNvSpPr>
                <a:spLocks/>
              </p:cNvSpPr>
              <p:nvPr/>
            </p:nvSpPr>
            <p:spPr bwMode="auto">
              <a:xfrm>
                <a:off x="6539491" y="3571876"/>
                <a:ext cx="214314" cy="928694"/>
              </a:xfrm>
              <a:prstGeom prst="rightBrace">
                <a:avLst>
                  <a:gd name="adj1" fmla="val 8326"/>
                  <a:gd name="adj2" fmla="val 50000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cxnSp>
            <p:nvCxnSpPr>
              <p:cNvPr id="4112" name="Conector de seta reta 121"/>
              <p:cNvCxnSpPr>
                <a:cxnSpLocks noChangeShapeType="1"/>
              </p:cNvCxnSpPr>
              <p:nvPr/>
            </p:nvCxnSpPr>
            <p:spPr bwMode="auto">
              <a:xfrm>
                <a:off x="6804695" y="4035429"/>
                <a:ext cx="285752" cy="1588"/>
              </a:xfrm>
              <a:prstGeom prst="straightConnector1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13" name="Conector de seta reta 122"/>
              <p:cNvCxnSpPr>
                <a:cxnSpLocks noChangeShapeType="1"/>
              </p:cNvCxnSpPr>
              <p:nvPr/>
            </p:nvCxnSpPr>
            <p:spPr bwMode="auto">
              <a:xfrm>
                <a:off x="8039689" y="4035429"/>
                <a:ext cx="285752" cy="1588"/>
              </a:xfrm>
              <a:prstGeom prst="straightConnector1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114" name="Retângulo 123"/>
              <p:cNvSpPr>
                <a:spLocks noChangeArrowheads="1"/>
              </p:cNvSpPr>
              <p:nvPr/>
            </p:nvSpPr>
            <p:spPr bwMode="auto">
              <a:xfrm>
                <a:off x="8508453" y="3694204"/>
                <a:ext cx="279244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i="1" dirty="0">
                    <a:latin typeface="Times New Roman" charset="0"/>
                    <a:cs typeface="Times New Roman" charset="0"/>
                  </a:rPr>
                  <a:t>Y</a:t>
                </a: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cxnSp>
            <p:nvCxnSpPr>
              <p:cNvPr id="4115" name="Conector reto 124"/>
              <p:cNvCxnSpPr>
                <a:cxnSpLocks noChangeShapeType="1"/>
              </p:cNvCxnSpPr>
              <p:nvPr/>
            </p:nvCxnSpPr>
            <p:spPr bwMode="auto">
              <a:xfrm>
                <a:off x="8386125" y="3766602"/>
                <a:ext cx="0" cy="414334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16" name="Conector reto 125"/>
              <p:cNvCxnSpPr>
                <a:cxnSpLocks noChangeShapeType="1"/>
              </p:cNvCxnSpPr>
              <p:nvPr/>
            </p:nvCxnSpPr>
            <p:spPr bwMode="auto">
              <a:xfrm>
                <a:off x="8386125" y="4180936"/>
                <a:ext cx="615031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117" name="Forma livre 126"/>
              <p:cNvSpPr>
                <a:spLocks noChangeArrowheads="1"/>
              </p:cNvSpPr>
              <p:nvPr/>
            </p:nvSpPr>
            <p:spPr bwMode="auto">
              <a:xfrm>
                <a:off x="8390049" y="3832820"/>
                <a:ext cx="577274" cy="345278"/>
              </a:xfrm>
              <a:custGeom>
                <a:avLst/>
                <a:gdLst>
                  <a:gd name="T0" fmla="*/ 0 w 1273995"/>
                  <a:gd name="T1" fmla="*/ 0 h 762000"/>
                  <a:gd name="T2" fmla="*/ 0 w 1273995"/>
                  <a:gd name="T3" fmla="*/ 0 h 762000"/>
                  <a:gd name="T4" fmla="*/ 0 w 1273995"/>
                  <a:gd name="T5" fmla="*/ 0 h 762000"/>
                  <a:gd name="T6" fmla="*/ 0 w 1273995"/>
                  <a:gd name="T7" fmla="*/ 0 h 762000"/>
                  <a:gd name="T8" fmla="*/ 0 w 1273995"/>
                  <a:gd name="T9" fmla="*/ 0 h 762000"/>
                  <a:gd name="T10" fmla="*/ 0 w 1273995"/>
                  <a:gd name="T11" fmla="*/ 0 h 762000"/>
                  <a:gd name="T12" fmla="*/ 0 w 1273995"/>
                  <a:gd name="T13" fmla="*/ 0 h 762000"/>
                  <a:gd name="T14" fmla="*/ 0 w 1273995"/>
                  <a:gd name="T15" fmla="*/ 0 h 762000"/>
                  <a:gd name="T16" fmla="*/ 0 w 1273995"/>
                  <a:gd name="T17" fmla="*/ 0 h 76200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273995"/>
                  <a:gd name="T28" fmla="*/ 0 h 762000"/>
                  <a:gd name="T29" fmla="*/ 1273995 w 1273995"/>
                  <a:gd name="T30" fmla="*/ 762000 h 76200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273995" h="762000">
                    <a:moveTo>
                      <a:pt x="0" y="762000"/>
                    </a:moveTo>
                    <a:cubicBezTo>
                      <a:pt x="9417" y="658402"/>
                      <a:pt x="18835" y="554804"/>
                      <a:pt x="41096" y="453775"/>
                    </a:cubicBezTo>
                    <a:cubicBezTo>
                      <a:pt x="63357" y="352746"/>
                      <a:pt x="102741" y="231168"/>
                      <a:pt x="133564" y="155824"/>
                    </a:cubicBezTo>
                    <a:cubicBezTo>
                      <a:pt x="164387" y="80480"/>
                      <a:pt x="190072" y="3424"/>
                      <a:pt x="226031" y="1712"/>
                    </a:cubicBezTo>
                    <a:cubicBezTo>
                      <a:pt x="261990" y="0"/>
                      <a:pt x="306512" y="61644"/>
                      <a:pt x="349321" y="145550"/>
                    </a:cubicBezTo>
                    <a:cubicBezTo>
                      <a:pt x="392130" y="229456"/>
                      <a:pt x="441788" y="416103"/>
                      <a:pt x="482885" y="505146"/>
                    </a:cubicBezTo>
                    <a:cubicBezTo>
                      <a:pt x="523982" y="594189"/>
                      <a:pt x="530831" y="640422"/>
                      <a:pt x="595901" y="679806"/>
                    </a:cubicBezTo>
                    <a:cubicBezTo>
                      <a:pt x="660971" y="719190"/>
                      <a:pt x="760287" y="727752"/>
                      <a:pt x="873303" y="741451"/>
                    </a:cubicBezTo>
                    <a:cubicBezTo>
                      <a:pt x="986319" y="755150"/>
                      <a:pt x="1130157" y="758575"/>
                      <a:pt x="1273995" y="762000"/>
                    </a:cubicBezTo>
                  </a:path>
                </a:pathLst>
              </a:cu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pSp>
            <p:nvGrpSpPr>
              <p:cNvPr id="4118" name="Grupo 160"/>
              <p:cNvGrpSpPr>
                <a:grpSpLocks/>
              </p:cNvGrpSpPr>
              <p:nvPr/>
            </p:nvGrpSpPr>
            <p:grpSpPr bwMode="auto">
              <a:xfrm>
                <a:off x="6255690" y="3469616"/>
                <a:ext cx="360400" cy="328369"/>
                <a:chOff x="7711349" y="4243639"/>
                <a:chExt cx="360400" cy="328369"/>
              </a:xfrm>
            </p:grpSpPr>
            <p:sp>
              <p:nvSpPr>
                <p:cNvPr id="4131" name="Retângulo 129"/>
                <p:cNvSpPr>
                  <a:spLocks noChangeArrowheads="1"/>
                </p:cNvSpPr>
                <p:nvPr/>
              </p:nvSpPr>
              <p:spPr bwMode="auto">
                <a:xfrm>
                  <a:off x="7741210" y="4243639"/>
                  <a:ext cx="330539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 i="1" dirty="0">
                      <a:latin typeface="Times New Roman" charset="0"/>
                      <a:cs typeface="Times New Roman" charset="0"/>
                    </a:rPr>
                    <a:t>X</a:t>
                  </a:r>
                  <a:r>
                    <a:rPr lang="pt-BR" altLang="pt-BR" sz="1200" baseline="-25000" dirty="0">
                      <a:latin typeface="Times New Roman" charset="0"/>
                      <a:cs typeface="Times New Roman" charset="0"/>
                    </a:rPr>
                    <a:t>1</a:t>
                  </a:r>
                  <a:endParaRPr lang="pt-BR" altLang="pt-BR" sz="1200" baseline="-25000" dirty="0">
                    <a:latin typeface="Tahoma" panose="020B0604030504040204" pitchFamily="34" charset="0"/>
                  </a:endParaRPr>
                </a:p>
              </p:txBody>
            </p:sp>
            <p:grpSp>
              <p:nvGrpSpPr>
                <p:cNvPr id="4132" name="Grupo 133"/>
                <p:cNvGrpSpPr>
                  <a:grpSpLocks/>
                </p:cNvGrpSpPr>
                <p:nvPr/>
              </p:nvGrpSpPr>
              <p:grpSpPr bwMode="auto">
                <a:xfrm>
                  <a:off x="7711349" y="4362914"/>
                  <a:ext cx="310376" cy="209094"/>
                  <a:chOff x="7711348" y="4362914"/>
                  <a:chExt cx="615031" cy="414334"/>
                </a:xfrm>
              </p:grpSpPr>
              <p:cxnSp>
                <p:nvCxnSpPr>
                  <p:cNvPr id="4133" name="Conector reto 13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7711348" y="4362914"/>
                    <a:ext cx="0" cy="414334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134" name="Conector reto 131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7711348" y="4777248"/>
                    <a:ext cx="615031" cy="0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sp>
                <p:nvSpPr>
                  <p:cNvPr id="4135" name="Forma livre 132"/>
                  <p:cNvSpPr>
                    <a:spLocks noChangeArrowheads="1"/>
                  </p:cNvSpPr>
                  <p:nvPr/>
                </p:nvSpPr>
                <p:spPr bwMode="auto">
                  <a:xfrm>
                    <a:off x="7715272" y="4429132"/>
                    <a:ext cx="577274" cy="345278"/>
                  </a:xfrm>
                  <a:custGeom>
                    <a:avLst/>
                    <a:gdLst>
                      <a:gd name="T0" fmla="*/ 0 w 1273995"/>
                      <a:gd name="T1" fmla="*/ 0 h 762000"/>
                      <a:gd name="T2" fmla="*/ 0 w 1273995"/>
                      <a:gd name="T3" fmla="*/ 0 h 762000"/>
                      <a:gd name="T4" fmla="*/ 0 w 1273995"/>
                      <a:gd name="T5" fmla="*/ 0 h 762000"/>
                      <a:gd name="T6" fmla="*/ 0 w 1273995"/>
                      <a:gd name="T7" fmla="*/ 0 h 762000"/>
                      <a:gd name="T8" fmla="*/ 0 w 1273995"/>
                      <a:gd name="T9" fmla="*/ 0 h 762000"/>
                      <a:gd name="T10" fmla="*/ 0 w 1273995"/>
                      <a:gd name="T11" fmla="*/ 0 h 762000"/>
                      <a:gd name="T12" fmla="*/ 0 w 1273995"/>
                      <a:gd name="T13" fmla="*/ 0 h 762000"/>
                      <a:gd name="T14" fmla="*/ 0 w 1273995"/>
                      <a:gd name="T15" fmla="*/ 0 h 762000"/>
                      <a:gd name="T16" fmla="*/ 0 w 1273995"/>
                      <a:gd name="T17" fmla="*/ 0 h 76200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1273995"/>
                      <a:gd name="T28" fmla="*/ 0 h 762000"/>
                      <a:gd name="T29" fmla="*/ 1273995 w 1273995"/>
                      <a:gd name="T30" fmla="*/ 762000 h 76200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1273995" h="762000">
                        <a:moveTo>
                          <a:pt x="0" y="762000"/>
                        </a:moveTo>
                        <a:cubicBezTo>
                          <a:pt x="9417" y="658402"/>
                          <a:pt x="18835" y="554804"/>
                          <a:pt x="41096" y="453775"/>
                        </a:cubicBezTo>
                        <a:cubicBezTo>
                          <a:pt x="63357" y="352746"/>
                          <a:pt x="102741" y="231168"/>
                          <a:pt x="133564" y="155824"/>
                        </a:cubicBezTo>
                        <a:cubicBezTo>
                          <a:pt x="164387" y="80480"/>
                          <a:pt x="190072" y="3424"/>
                          <a:pt x="226031" y="1712"/>
                        </a:cubicBezTo>
                        <a:cubicBezTo>
                          <a:pt x="261990" y="0"/>
                          <a:pt x="306512" y="61644"/>
                          <a:pt x="349321" y="145550"/>
                        </a:cubicBezTo>
                        <a:cubicBezTo>
                          <a:pt x="392130" y="229456"/>
                          <a:pt x="441788" y="416103"/>
                          <a:pt x="482885" y="505146"/>
                        </a:cubicBezTo>
                        <a:cubicBezTo>
                          <a:pt x="523982" y="594189"/>
                          <a:pt x="530831" y="640422"/>
                          <a:pt x="595901" y="679806"/>
                        </a:cubicBezTo>
                        <a:cubicBezTo>
                          <a:pt x="660971" y="719190"/>
                          <a:pt x="760287" y="727752"/>
                          <a:pt x="873303" y="741451"/>
                        </a:cubicBezTo>
                        <a:cubicBezTo>
                          <a:pt x="986319" y="755150"/>
                          <a:pt x="1130157" y="758575"/>
                          <a:pt x="1273995" y="762000"/>
                        </a:cubicBezTo>
                      </a:path>
                    </a:pathLst>
                  </a:cu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 dirty="0">
                      <a:latin typeface="Tahoma" panose="020B0604030504040204" pitchFamily="34" charset="0"/>
                    </a:endParaRPr>
                  </a:p>
                </p:txBody>
              </p:sp>
            </p:grpSp>
          </p:grpSp>
          <p:grpSp>
            <p:nvGrpSpPr>
              <p:cNvPr id="4119" name="Grupo 153"/>
              <p:cNvGrpSpPr>
                <a:grpSpLocks/>
              </p:cNvGrpSpPr>
              <p:nvPr/>
            </p:nvGrpSpPr>
            <p:grpSpPr bwMode="auto">
              <a:xfrm>
                <a:off x="6255690" y="3786190"/>
                <a:ext cx="360400" cy="328369"/>
                <a:chOff x="8286776" y="4595609"/>
                <a:chExt cx="360400" cy="328369"/>
              </a:xfrm>
            </p:grpSpPr>
            <p:sp>
              <p:nvSpPr>
                <p:cNvPr id="4126" name="Retângulo 148"/>
                <p:cNvSpPr>
                  <a:spLocks noChangeArrowheads="1"/>
                </p:cNvSpPr>
                <p:nvPr/>
              </p:nvSpPr>
              <p:spPr bwMode="auto">
                <a:xfrm>
                  <a:off x="8316637" y="4595609"/>
                  <a:ext cx="330539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 i="1" dirty="0">
                      <a:latin typeface="Times New Roman" charset="0"/>
                      <a:cs typeface="Times New Roman" charset="0"/>
                    </a:rPr>
                    <a:t>X</a:t>
                  </a:r>
                  <a:r>
                    <a:rPr lang="pt-BR" altLang="pt-BR" sz="1200" baseline="-25000" dirty="0">
                      <a:latin typeface="Times New Roman" charset="0"/>
                      <a:cs typeface="Times New Roman" charset="0"/>
                    </a:rPr>
                    <a:t>2</a:t>
                  </a:r>
                  <a:endParaRPr lang="pt-BR" altLang="pt-BR" sz="1200" baseline="-25000" dirty="0">
                    <a:latin typeface="Tahoma" panose="020B0604030504040204" pitchFamily="34" charset="0"/>
                  </a:endParaRPr>
                </a:p>
              </p:txBody>
            </p:sp>
            <p:grpSp>
              <p:nvGrpSpPr>
                <p:cNvPr id="4127" name="Grupo 149"/>
                <p:cNvGrpSpPr>
                  <a:grpSpLocks/>
                </p:cNvGrpSpPr>
                <p:nvPr/>
              </p:nvGrpSpPr>
              <p:grpSpPr bwMode="auto">
                <a:xfrm>
                  <a:off x="8286776" y="4714884"/>
                  <a:ext cx="310376" cy="209094"/>
                  <a:chOff x="7711348" y="4362914"/>
                  <a:chExt cx="615031" cy="414334"/>
                </a:xfrm>
              </p:grpSpPr>
              <p:cxnSp>
                <p:nvCxnSpPr>
                  <p:cNvPr id="4128" name="Conector reto 15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7711348" y="4362914"/>
                    <a:ext cx="0" cy="414334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129" name="Conector reto 151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7711348" y="4777248"/>
                    <a:ext cx="615031" cy="0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sp>
                <p:nvSpPr>
                  <p:cNvPr id="4130" name="Forma livre 152"/>
                  <p:cNvSpPr>
                    <a:spLocks noChangeArrowheads="1"/>
                  </p:cNvSpPr>
                  <p:nvPr/>
                </p:nvSpPr>
                <p:spPr bwMode="auto">
                  <a:xfrm>
                    <a:off x="7715272" y="4429132"/>
                    <a:ext cx="577274" cy="345278"/>
                  </a:xfrm>
                  <a:custGeom>
                    <a:avLst/>
                    <a:gdLst>
                      <a:gd name="T0" fmla="*/ 0 w 1273995"/>
                      <a:gd name="T1" fmla="*/ 0 h 762000"/>
                      <a:gd name="T2" fmla="*/ 0 w 1273995"/>
                      <a:gd name="T3" fmla="*/ 0 h 762000"/>
                      <a:gd name="T4" fmla="*/ 0 w 1273995"/>
                      <a:gd name="T5" fmla="*/ 0 h 762000"/>
                      <a:gd name="T6" fmla="*/ 0 w 1273995"/>
                      <a:gd name="T7" fmla="*/ 0 h 762000"/>
                      <a:gd name="T8" fmla="*/ 0 w 1273995"/>
                      <a:gd name="T9" fmla="*/ 0 h 762000"/>
                      <a:gd name="T10" fmla="*/ 0 w 1273995"/>
                      <a:gd name="T11" fmla="*/ 0 h 762000"/>
                      <a:gd name="T12" fmla="*/ 0 w 1273995"/>
                      <a:gd name="T13" fmla="*/ 0 h 762000"/>
                      <a:gd name="T14" fmla="*/ 0 w 1273995"/>
                      <a:gd name="T15" fmla="*/ 0 h 762000"/>
                      <a:gd name="T16" fmla="*/ 0 w 1273995"/>
                      <a:gd name="T17" fmla="*/ 0 h 76200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1273995"/>
                      <a:gd name="T28" fmla="*/ 0 h 762000"/>
                      <a:gd name="T29" fmla="*/ 1273995 w 1273995"/>
                      <a:gd name="T30" fmla="*/ 762000 h 76200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1273995" h="762000">
                        <a:moveTo>
                          <a:pt x="0" y="762000"/>
                        </a:moveTo>
                        <a:cubicBezTo>
                          <a:pt x="9417" y="658402"/>
                          <a:pt x="18835" y="554804"/>
                          <a:pt x="41096" y="453775"/>
                        </a:cubicBezTo>
                        <a:cubicBezTo>
                          <a:pt x="63357" y="352746"/>
                          <a:pt x="102741" y="231168"/>
                          <a:pt x="133564" y="155824"/>
                        </a:cubicBezTo>
                        <a:cubicBezTo>
                          <a:pt x="164387" y="80480"/>
                          <a:pt x="190072" y="3424"/>
                          <a:pt x="226031" y="1712"/>
                        </a:cubicBezTo>
                        <a:cubicBezTo>
                          <a:pt x="261990" y="0"/>
                          <a:pt x="306512" y="61644"/>
                          <a:pt x="349321" y="145550"/>
                        </a:cubicBezTo>
                        <a:cubicBezTo>
                          <a:pt x="392130" y="229456"/>
                          <a:pt x="441788" y="416103"/>
                          <a:pt x="482885" y="505146"/>
                        </a:cubicBezTo>
                        <a:cubicBezTo>
                          <a:pt x="523982" y="594189"/>
                          <a:pt x="530831" y="640422"/>
                          <a:pt x="595901" y="679806"/>
                        </a:cubicBezTo>
                        <a:cubicBezTo>
                          <a:pt x="660971" y="719190"/>
                          <a:pt x="760287" y="727752"/>
                          <a:pt x="873303" y="741451"/>
                        </a:cubicBezTo>
                        <a:cubicBezTo>
                          <a:pt x="986319" y="755150"/>
                          <a:pt x="1130157" y="758575"/>
                          <a:pt x="1273995" y="762000"/>
                        </a:cubicBezTo>
                      </a:path>
                    </a:pathLst>
                  </a:cu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 dirty="0">
                      <a:latin typeface="Tahoma" panose="020B0604030504040204" pitchFamily="34" charset="0"/>
                    </a:endParaRPr>
                  </a:p>
                </p:txBody>
              </p:sp>
            </p:grpSp>
          </p:grpSp>
          <p:grpSp>
            <p:nvGrpSpPr>
              <p:cNvPr id="4120" name="Grupo 159"/>
              <p:cNvGrpSpPr>
                <a:grpSpLocks/>
              </p:cNvGrpSpPr>
              <p:nvPr/>
            </p:nvGrpSpPr>
            <p:grpSpPr bwMode="auto">
              <a:xfrm>
                <a:off x="6255690" y="4133586"/>
                <a:ext cx="360400" cy="328369"/>
                <a:chOff x="7786710" y="4952799"/>
                <a:chExt cx="360400" cy="328369"/>
              </a:xfrm>
            </p:grpSpPr>
            <p:sp>
              <p:nvSpPr>
                <p:cNvPr id="4121" name="Retângulo 154"/>
                <p:cNvSpPr>
                  <a:spLocks noChangeArrowheads="1"/>
                </p:cNvSpPr>
                <p:nvPr/>
              </p:nvSpPr>
              <p:spPr bwMode="auto">
                <a:xfrm>
                  <a:off x="7816571" y="4952799"/>
                  <a:ext cx="330539" cy="2769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200" i="1" dirty="0" err="1">
                      <a:latin typeface="Times New Roman" charset="0"/>
                      <a:cs typeface="Times New Roman" charset="0"/>
                    </a:rPr>
                    <a:t>X</a:t>
                  </a:r>
                  <a:r>
                    <a:rPr lang="pt-BR" altLang="pt-BR" sz="1200" i="1" baseline="-25000" dirty="0" err="1">
                      <a:latin typeface="Times New Roman" charset="0"/>
                      <a:cs typeface="Times New Roman" charset="0"/>
                    </a:rPr>
                    <a:t>n</a:t>
                  </a:r>
                  <a:endParaRPr lang="pt-BR" altLang="pt-BR" sz="1200" i="1" baseline="-25000" dirty="0">
                    <a:latin typeface="Tahoma" panose="020B0604030504040204" pitchFamily="34" charset="0"/>
                  </a:endParaRPr>
                </a:p>
              </p:txBody>
            </p:sp>
            <p:grpSp>
              <p:nvGrpSpPr>
                <p:cNvPr id="4122" name="Grupo 155"/>
                <p:cNvGrpSpPr>
                  <a:grpSpLocks/>
                </p:cNvGrpSpPr>
                <p:nvPr/>
              </p:nvGrpSpPr>
              <p:grpSpPr bwMode="auto">
                <a:xfrm>
                  <a:off x="7786710" y="5072074"/>
                  <a:ext cx="310376" cy="209094"/>
                  <a:chOff x="7711348" y="4362914"/>
                  <a:chExt cx="615031" cy="414334"/>
                </a:xfrm>
              </p:grpSpPr>
              <p:cxnSp>
                <p:nvCxnSpPr>
                  <p:cNvPr id="4123" name="Conector reto 156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7711348" y="4362914"/>
                    <a:ext cx="0" cy="414334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4124" name="Conector reto 157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7711348" y="4777248"/>
                    <a:ext cx="615031" cy="0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sp>
                <p:nvSpPr>
                  <p:cNvPr id="4125" name="Forma livre 158"/>
                  <p:cNvSpPr>
                    <a:spLocks noChangeArrowheads="1"/>
                  </p:cNvSpPr>
                  <p:nvPr/>
                </p:nvSpPr>
                <p:spPr bwMode="auto">
                  <a:xfrm>
                    <a:off x="7715272" y="4429132"/>
                    <a:ext cx="577274" cy="345278"/>
                  </a:xfrm>
                  <a:custGeom>
                    <a:avLst/>
                    <a:gdLst>
                      <a:gd name="T0" fmla="*/ 0 w 1273995"/>
                      <a:gd name="T1" fmla="*/ 0 h 762000"/>
                      <a:gd name="T2" fmla="*/ 0 w 1273995"/>
                      <a:gd name="T3" fmla="*/ 0 h 762000"/>
                      <a:gd name="T4" fmla="*/ 0 w 1273995"/>
                      <a:gd name="T5" fmla="*/ 0 h 762000"/>
                      <a:gd name="T6" fmla="*/ 0 w 1273995"/>
                      <a:gd name="T7" fmla="*/ 0 h 762000"/>
                      <a:gd name="T8" fmla="*/ 0 w 1273995"/>
                      <a:gd name="T9" fmla="*/ 0 h 762000"/>
                      <a:gd name="T10" fmla="*/ 0 w 1273995"/>
                      <a:gd name="T11" fmla="*/ 0 h 762000"/>
                      <a:gd name="T12" fmla="*/ 0 w 1273995"/>
                      <a:gd name="T13" fmla="*/ 0 h 762000"/>
                      <a:gd name="T14" fmla="*/ 0 w 1273995"/>
                      <a:gd name="T15" fmla="*/ 0 h 762000"/>
                      <a:gd name="T16" fmla="*/ 0 w 1273995"/>
                      <a:gd name="T17" fmla="*/ 0 h 762000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1273995"/>
                      <a:gd name="T28" fmla="*/ 0 h 762000"/>
                      <a:gd name="T29" fmla="*/ 1273995 w 1273995"/>
                      <a:gd name="T30" fmla="*/ 762000 h 762000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1273995" h="762000">
                        <a:moveTo>
                          <a:pt x="0" y="762000"/>
                        </a:moveTo>
                        <a:cubicBezTo>
                          <a:pt x="9417" y="658402"/>
                          <a:pt x="18835" y="554804"/>
                          <a:pt x="41096" y="453775"/>
                        </a:cubicBezTo>
                        <a:cubicBezTo>
                          <a:pt x="63357" y="352746"/>
                          <a:pt x="102741" y="231168"/>
                          <a:pt x="133564" y="155824"/>
                        </a:cubicBezTo>
                        <a:cubicBezTo>
                          <a:pt x="164387" y="80480"/>
                          <a:pt x="190072" y="3424"/>
                          <a:pt x="226031" y="1712"/>
                        </a:cubicBezTo>
                        <a:cubicBezTo>
                          <a:pt x="261990" y="0"/>
                          <a:pt x="306512" y="61644"/>
                          <a:pt x="349321" y="145550"/>
                        </a:cubicBezTo>
                        <a:cubicBezTo>
                          <a:pt x="392130" y="229456"/>
                          <a:pt x="441788" y="416103"/>
                          <a:pt x="482885" y="505146"/>
                        </a:cubicBezTo>
                        <a:cubicBezTo>
                          <a:pt x="523982" y="594189"/>
                          <a:pt x="530831" y="640422"/>
                          <a:pt x="595901" y="679806"/>
                        </a:cubicBezTo>
                        <a:cubicBezTo>
                          <a:pt x="660971" y="719190"/>
                          <a:pt x="760287" y="727752"/>
                          <a:pt x="873303" y="741451"/>
                        </a:cubicBezTo>
                        <a:cubicBezTo>
                          <a:pt x="986319" y="755150"/>
                          <a:pt x="1130157" y="758575"/>
                          <a:pt x="1273995" y="762000"/>
                        </a:cubicBezTo>
                      </a:path>
                    </a:pathLst>
                  </a:cu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 dirty="0">
                      <a:latin typeface="Tahoma" panose="020B0604030504040204" pitchFamily="34" charset="0"/>
                    </a:endParaRPr>
                  </a:p>
                </p:txBody>
              </p:sp>
            </p:grpSp>
          </p:grpSp>
        </p:grpSp>
        <p:sp>
          <p:nvSpPr>
            <p:cNvPr id="165" name="CaixaDeTexto 164"/>
            <p:cNvSpPr txBox="1"/>
            <p:nvPr/>
          </p:nvSpPr>
          <p:spPr>
            <a:xfrm>
              <a:off x="6217179" y="4532580"/>
              <a:ext cx="2817188" cy="25413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-BR" sz="1050" dirty="0">
                  <a:latin typeface="Tahoma" panose="020B0604030504040204" pitchFamily="34" charset="0"/>
                </a:rPr>
                <a:t>entrada estocástica + modelo determinístico</a:t>
              </a:r>
            </a:p>
          </p:txBody>
        </p:sp>
      </p:grpSp>
      <p:sp>
        <p:nvSpPr>
          <p:cNvPr id="3" name="CaixaDeTexto 2"/>
          <p:cNvSpPr txBox="1">
            <a:spLocks noChangeArrowheads="1"/>
          </p:cNvSpPr>
          <p:nvPr/>
        </p:nvSpPr>
        <p:spPr bwMode="auto">
          <a:xfrm>
            <a:off x="1264582" y="5073927"/>
            <a:ext cx="92365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000" dirty="0">
                <a:latin typeface="Tahoma" panose="020B0604030504040204" pitchFamily="34" charset="0"/>
              </a:rPr>
              <a:t>(</a:t>
            </a:r>
            <a:r>
              <a:rPr lang="pt-BR" altLang="pt-BR" sz="1000" dirty="0">
                <a:latin typeface="Tahoma" panose="020B0604030504040204" pitchFamily="34" charset="0"/>
                <a:sym typeface="Symbol" pitchFamily="18" charset="2"/>
              </a:rPr>
              <a:t>parâmetros</a:t>
            </a:r>
            <a:r>
              <a:rPr lang="pt-BR" altLang="pt-BR" sz="1000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58" name="CaixaDeTexto 57"/>
          <p:cNvSpPr txBox="1">
            <a:spLocks noChangeArrowheads="1"/>
          </p:cNvSpPr>
          <p:nvPr/>
        </p:nvSpPr>
        <p:spPr bwMode="auto">
          <a:xfrm>
            <a:off x="3836331" y="5073927"/>
            <a:ext cx="92365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000" dirty="0">
                <a:latin typeface="Tahoma" panose="020B0604030504040204" pitchFamily="34" charset="0"/>
              </a:rPr>
              <a:t>(</a:t>
            </a:r>
            <a:r>
              <a:rPr lang="pt-BR" altLang="pt-BR" sz="1000" dirty="0">
                <a:latin typeface="Tahoma" panose="020B0604030504040204" pitchFamily="34" charset="0"/>
                <a:sym typeface="Symbol" pitchFamily="18" charset="2"/>
              </a:rPr>
              <a:t>parâmetros</a:t>
            </a:r>
            <a:r>
              <a:rPr lang="pt-BR" altLang="pt-BR" sz="1000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59" name="CaixaDeTexto 58"/>
          <p:cNvSpPr txBox="1">
            <a:spLocks noChangeArrowheads="1"/>
          </p:cNvSpPr>
          <p:nvPr/>
        </p:nvSpPr>
        <p:spPr bwMode="auto">
          <a:xfrm>
            <a:off x="7078006" y="5075515"/>
            <a:ext cx="92365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000" dirty="0">
                <a:latin typeface="Tahoma" panose="020B0604030504040204" pitchFamily="34" charset="0"/>
              </a:rPr>
              <a:t>(</a:t>
            </a:r>
            <a:r>
              <a:rPr lang="pt-BR" altLang="pt-BR" sz="1000" dirty="0">
                <a:latin typeface="Tahoma" panose="020B0604030504040204" pitchFamily="34" charset="0"/>
                <a:sym typeface="Symbol" pitchFamily="18" charset="2"/>
              </a:rPr>
              <a:t>parâmetros</a:t>
            </a:r>
            <a:r>
              <a:rPr lang="pt-BR" altLang="pt-BR" sz="1000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7CC19F-80C6-417E-882B-ED48C1A2A9C8}" type="slidenum">
              <a:rPr lang="pt-BR"/>
              <a:pPr>
                <a:defRPr/>
              </a:pPr>
              <a:t>2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/>
              <p:cNvSpPr txBox="1"/>
              <p:nvPr/>
            </p:nvSpPr>
            <p:spPr>
              <a:xfrm>
                <a:off x="759741" y="5764605"/>
                <a:ext cx="177811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400" b="0" i="1" smtClean="0">
                          <a:latin typeface="Cambria Math"/>
                        </a:rPr>
                        <m:t>𝑌</m:t>
                      </m:r>
                      <m:r>
                        <a:rPr lang="pt-BR" sz="1400" b="0" i="1" smtClean="0">
                          <a:latin typeface="Cambria Math"/>
                        </a:rPr>
                        <m:t>=2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sz="1400" b="0" i="1" smtClean="0">
                          <a:latin typeface="Cambria Math"/>
                        </a:rPr>
                        <m:t>+3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sz="1400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pt-BR" sz="14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CaixaDe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41" y="5764605"/>
                <a:ext cx="1778115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aixaDeTexto 61"/>
              <p:cNvSpPr txBox="1"/>
              <p:nvPr/>
            </p:nvSpPr>
            <p:spPr>
              <a:xfrm>
                <a:off x="3353258" y="5791803"/>
                <a:ext cx="207268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400" b="0" i="1" smtClean="0">
                          <a:latin typeface="Cambria Math"/>
                        </a:rPr>
                        <m:t>𝑌</m:t>
                      </m:r>
                      <m:r>
                        <a:rPr lang="pt-BR" sz="1400" b="0" i="1" smtClean="0">
                          <a:latin typeface="Cambria Math"/>
                        </a:rPr>
                        <m:t>=2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sz="1400" b="0" i="1" smtClean="0">
                          <a:latin typeface="Cambria Math"/>
                        </a:rPr>
                        <m:t>+3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sz="1400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pt-BR" sz="1400" b="0" i="0" smtClean="0"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1400" b="0" i="1" smtClean="0">
                          <a:latin typeface="Cambria Math"/>
                          <a:ea typeface="Cambria Math"/>
                        </a:rPr>
                        <m:t>ε</m:t>
                      </m:r>
                    </m:oMath>
                  </m:oMathPara>
                </a14:m>
                <a:endParaRPr lang="pt-BR" sz="14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2" name="CaixaDeTexto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258" y="5791803"/>
                <a:ext cx="2072683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aixaDeTexto 62"/>
              <p:cNvSpPr txBox="1"/>
              <p:nvPr/>
            </p:nvSpPr>
            <p:spPr>
              <a:xfrm>
                <a:off x="5981431" y="5771936"/>
                <a:ext cx="319908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400" b="0" i="1" smtClean="0">
                          <a:latin typeface="Cambria Math"/>
                        </a:rPr>
                        <m:t>𝑌</m:t>
                      </m:r>
                      <m:r>
                        <a:rPr lang="pt-BR" sz="1400" b="0" i="1" smtClean="0">
                          <a:latin typeface="Cambria Math"/>
                        </a:rPr>
                        <m:t>=2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/>
                            </a:rPr>
                            <m:t>(</m:t>
                          </m:r>
                          <m:r>
                            <a:rPr lang="pt-BR" sz="1400" b="0" i="1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sz="140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/>
                              <a:ea typeface="Cambria Math"/>
                            </a:rPr>
                            <m:t>ε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pt-BR" sz="1400" b="0" i="1" smtClean="0">
                          <a:latin typeface="Cambria Math"/>
                        </a:rPr>
                        <m:t>)+3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/>
                            </a:rPr>
                            <m:t>(</m:t>
                          </m:r>
                          <m:r>
                            <a:rPr lang="pt-BR" sz="1400" b="0" i="1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sz="140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/>
                              <a:ea typeface="Cambria Math"/>
                            </a:rPr>
                            <m:t>ε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pt-BR" sz="1400" i="1">
                          <a:latin typeface="Cambria Math"/>
                        </a:rPr>
                        <m:t>)</m:t>
                      </m:r>
                      <m:r>
                        <a:rPr lang="pt-BR" sz="1400" b="0" i="1" smtClean="0">
                          <a:latin typeface="Cambria Math"/>
                        </a:rPr>
                        <m:t>−(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pt-BR" sz="1400" b="0" i="0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b="0" i="1" smtClean="0">
                              <a:latin typeface="Cambria Math"/>
                              <a:ea typeface="Cambria Math"/>
                            </a:rPr>
                            <m:t>ε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sub>
                      </m:sSub>
                      <m:r>
                        <a:rPr lang="pt-BR" sz="1400" b="0" i="1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pt-BR" sz="14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63" name="CaixaDeTexto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431" y="5771936"/>
                <a:ext cx="3199081" cy="307777"/>
              </a:xfrm>
              <a:prstGeom prst="rect">
                <a:avLst/>
              </a:prstGeom>
              <a:blipFill>
                <a:blip r:embed="rId4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tângulo 6"/>
              <p:cNvSpPr/>
              <p:nvPr/>
            </p:nvSpPr>
            <p:spPr>
              <a:xfrm>
                <a:off x="3891706" y="6120424"/>
                <a:ext cx="995786" cy="3329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>
                        <a:latin typeface="Cambria Math"/>
                        <a:ea typeface="Cambria Math"/>
                      </a:rPr>
                      <m:t>ε</m:t>
                    </m:r>
                  </m:oMath>
                </a14:m>
                <a:r>
                  <a:rPr lang="pt-BR" dirty="0">
                    <a:latin typeface="Tahoma" panose="020B0604030504040204" pitchFamily="34" charset="0"/>
                  </a:rPr>
                  <a:t> é um </a:t>
                </a:r>
                <a:r>
                  <a:rPr lang="pt-BR" dirty="0" err="1">
                    <a:latin typeface="Tahoma" panose="020B0604030504040204" pitchFamily="34" charset="0"/>
                  </a:rPr>
                  <a:t>v.a</a:t>
                </a:r>
                <a:r>
                  <a:rPr lang="pt-BR" dirty="0">
                    <a:latin typeface="Tahom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7" name="Retâ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706" y="6120424"/>
                <a:ext cx="995786" cy="332912"/>
              </a:xfrm>
              <a:prstGeom prst="rect">
                <a:avLst/>
              </a:prstGeom>
              <a:blipFill>
                <a:blip r:embed="rId5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tângulo 64"/>
              <p:cNvSpPr/>
              <p:nvPr/>
            </p:nvSpPr>
            <p:spPr>
              <a:xfrm>
                <a:off x="6485276" y="6120424"/>
                <a:ext cx="2025747" cy="3329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16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600" i="1" smtClean="0">
                            <a:latin typeface="Cambria Math"/>
                            <a:ea typeface="Cambria Math"/>
                          </a:rPr>
                          <m:t>ε</m:t>
                        </m:r>
                      </m:e>
                      <m:sub>
                        <m:r>
                          <a:rPr lang="pt-BR" sz="16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>
                    <a:latin typeface="Tahoma" panose="020B0604030504040204" pitchFamily="34" charset="0"/>
                  </a:rPr>
                  <a:t> são </a:t>
                </a:r>
                <a:r>
                  <a:rPr lang="pt-BR" dirty="0" err="1">
                    <a:latin typeface="Tahoma" panose="020B0604030504040204" pitchFamily="34" charset="0"/>
                  </a:rPr>
                  <a:t>v.a</a:t>
                </a:r>
                <a:r>
                  <a:rPr lang="pt-BR" dirty="0">
                    <a:latin typeface="Tahoma" panose="020B0604030504040204" pitchFamily="34" charset="0"/>
                  </a:rPr>
                  <a:t>. independentes </a:t>
                </a:r>
              </a:p>
            </p:txBody>
          </p:sp>
        </mc:Choice>
        <mc:Fallback xmlns="">
          <p:sp>
            <p:nvSpPr>
              <p:cNvPr id="65" name="Retângulo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276" y="6120424"/>
                <a:ext cx="2025747" cy="332912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uiExpand="1" build="p"/>
      <p:bldP spid="3" grpId="0"/>
      <p:bldP spid="58" grpId="0"/>
      <p:bldP spid="59" grpId="0"/>
      <p:bldP spid="6" grpId="0" animBg="1"/>
      <p:bldP spid="62" grpId="0" animBg="1"/>
      <p:bldP spid="63" grpId="0" animBg="1"/>
      <p:bldP spid="7" grpId="0" animBg="1"/>
      <p:bldP spid="6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Simulação</a:t>
            </a:r>
          </a:p>
        </p:txBody>
      </p:sp>
      <p:sp>
        <p:nvSpPr>
          <p:cNvPr id="43" name="Text Box 38"/>
          <p:cNvSpPr txBox="1">
            <a:spLocks noChangeArrowheads="1"/>
          </p:cNvSpPr>
          <p:nvPr/>
        </p:nvSpPr>
        <p:spPr bwMode="auto">
          <a:xfrm>
            <a:off x="169495" y="1503943"/>
            <a:ext cx="8794993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60363" indent="-360363" algn="l">
              <a:defRPr/>
            </a:pPr>
            <a:r>
              <a:rPr lang="pt-BR" sz="1600" dirty="0">
                <a:latin typeface="Tahoma" panose="020B0604030504040204" pitchFamily="34" charset="0"/>
              </a:rPr>
              <a:t>Para que fazer </a:t>
            </a:r>
            <a:r>
              <a:rPr 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Simulação</a:t>
            </a:r>
            <a:r>
              <a:rPr lang="pt-BR" sz="1600" dirty="0">
                <a:latin typeface="Tahoma" panose="020B0604030504040204" pitchFamily="34" charset="0"/>
              </a:rPr>
              <a:t>?</a:t>
            </a:r>
          </a:p>
          <a:p>
            <a:pPr marL="360363" indent="-360363" algn="l">
              <a:defRPr/>
            </a:pPr>
            <a:endParaRPr lang="pt-BR" sz="1600" dirty="0">
              <a:latin typeface="Tahoma" panose="020B0604030504040204" pitchFamily="34" charset="0"/>
            </a:endParaRPr>
          </a:p>
          <a:p>
            <a:pPr marL="627063" indent="-266700" algn="l">
              <a:buAutoNum type="alphaLcParenR"/>
              <a:tabLst>
                <a:tab pos="627063" algn="l"/>
              </a:tabLst>
              <a:defRPr/>
            </a:pPr>
            <a:r>
              <a:rPr lang="pt-BR" sz="1600" dirty="0">
                <a:latin typeface="Tahoma" panose="020B0604030504040204" pitchFamily="34" charset="0"/>
              </a:rPr>
              <a:t>gerar amostras de uma </a:t>
            </a:r>
            <a:r>
              <a:rPr lang="pt-BR" sz="1600" dirty="0" err="1">
                <a:latin typeface="Tahoma" panose="020B0604030504040204" pitchFamily="34" charset="0"/>
              </a:rPr>
              <a:t>v.a</a:t>
            </a:r>
            <a:r>
              <a:rPr lang="pt-BR" sz="1600" dirty="0">
                <a:latin typeface="Tahoma" panose="020B0604030504040204" pitchFamily="34" charset="0"/>
              </a:rPr>
              <a:t>. cuja distribuição é conhecida</a:t>
            </a:r>
          </a:p>
          <a:p>
            <a:pPr marL="627063" indent="-266700" algn="l" defTabSz="627063">
              <a:tabLst>
                <a:tab pos="627063" algn="l"/>
              </a:tabLst>
              <a:defRPr/>
            </a:pPr>
            <a:r>
              <a:rPr lang="pt-BR" sz="1600" dirty="0">
                <a:latin typeface="Tahoma" panose="020B0604030504040204" pitchFamily="34" charset="0"/>
              </a:rPr>
              <a:t>	</a:t>
            </a:r>
            <a:r>
              <a:rPr lang="pt-BR" sz="1600" dirty="0" err="1">
                <a:latin typeface="Tahoma" panose="020B0604030504040204" pitchFamily="34" charset="0"/>
              </a:rPr>
              <a:t>ex</a:t>
            </a:r>
            <a:r>
              <a:rPr lang="pt-BR" sz="1600" dirty="0">
                <a:latin typeface="Tahoma" panose="020B0604030504040204" pitchFamily="34" charset="0"/>
              </a:rPr>
              <a:t>: testar métodos que podem ser influenciados pelo tipo de dado de entrada</a:t>
            </a:r>
          </a:p>
          <a:p>
            <a:pPr marL="627063" indent="-266700" algn="l">
              <a:tabLst>
                <a:tab pos="627063" algn="l"/>
              </a:tabLst>
              <a:defRPr/>
            </a:pPr>
            <a:endParaRPr lang="pt-BR" sz="1600" dirty="0">
              <a:latin typeface="Tahoma" panose="020B0604030504040204" pitchFamily="34" charset="0"/>
            </a:endParaRPr>
          </a:p>
          <a:p>
            <a:pPr marL="627063" indent="-266700" algn="l">
              <a:tabLst>
                <a:tab pos="627063" algn="l"/>
              </a:tabLst>
              <a:defRPr/>
            </a:pPr>
            <a:r>
              <a:rPr lang="pt-BR" sz="1600" dirty="0">
                <a:latin typeface="Tahoma" panose="020B0604030504040204" pitchFamily="34" charset="0"/>
              </a:rPr>
              <a:t>b) avaliar propagação de incertezas (quando a solução analítica é inviável)</a:t>
            </a:r>
          </a:p>
          <a:p>
            <a:pPr marL="627063" indent="-266700" algn="l">
              <a:tabLst>
                <a:tab pos="627063" algn="l"/>
              </a:tabLst>
              <a:defRPr/>
            </a:pPr>
            <a:r>
              <a:rPr lang="pt-BR" sz="1600" dirty="0">
                <a:latin typeface="Tahoma" panose="020B0604030504040204" pitchFamily="34" charset="0"/>
              </a:rPr>
              <a:t>	</a:t>
            </a:r>
            <a:r>
              <a:rPr lang="pt-BR" sz="1600" dirty="0" err="1">
                <a:latin typeface="Tahoma" panose="020B0604030504040204" pitchFamily="34" charset="0"/>
              </a:rPr>
              <a:t>ex</a:t>
            </a:r>
            <a:r>
              <a:rPr lang="pt-BR" sz="1600" dirty="0">
                <a:latin typeface="Tahoma" panose="020B0604030504040204" pitchFamily="34" charset="0"/>
              </a:rPr>
              <a:t>: avaliar os resultados da combinação não linear de muitas variáveis</a:t>
            </a:r>
          </a:p>
          <a:p>
            <a:pPr marL="627063" indent="-266700" algn="l">
              <a:tabLst>
                <a:tab pos="627063" algn="l"/>
              </a:tabLst>
              <a:defRPr/>
            </a:pPr>
            <a:endParaRPr lang="pt-BR" sz="1600" dirty="0">
              <a:latin typeface="Tahoma" panose="020B0604030504040204" pitchFamily="34" charset="0"/>
            </a:endParaRPr>
          </a:p>
          <a:p>
            <a:pPr marL="627063" indent="-266700" algn="l">
              <a:tabLst>
                <a:tab pos="627063" algn="l"/>
              </a:tabLst>
              <a:defRPr/>
            </a:pPr>
            <a:r>
              <a:rPr lang="pt-BR" sz="1600" dirty="0">
                <a:latin typeface="Tahoma" panose="020B0604030504040204" pitchFamily="34" charset="0"/>
              </a:rPr>
              <a:t>c) avaliar cenários futuros (resultados possíveis)</a:t>
            </a:r>
          </a:p>
          <a:p>
            <a:pPr marL="627063" indent="-266700" algn="l">
              <a:tabLst>
                <a:tab pos="627063" algn="l"/>
              </a:tabLst>
              <a:defRPr/>
            </a:pPr>
            <a:r>
              <a:rPr lang="pt-BR" sz="1600" dirty="0">
                <a:latin typeface="Tahoma" panose="020B0604030504040204" pitchFamily="34" charset="0"/>
              </a:rPr>
              <a:t>	</a:t>
            </a:r>
            <a:r>
              <a:rPr lang="pt-BR" sz="1600" dirty="0" err="1">
                <a:latin typeface="Tahoma" panose="020B0604030504040204" pitchFamily="34" charset="0"/>
              </a:rPr>
              <a:t>ex</a:t>
            </a:r>
            <a:r>
              <a:rPr lang="pt-BR" sz="1600" dirty="0">
                <a:latin typeface="Tahoma" panose="020B0604030504040204" pitchFamily="34" charset="0"/>
              </a:rPr>
              <a:t>: experimentar “em laboratório” condições inexistentes ou raras</a:t>
            </a:r>
          </a:p>
          <a:p>
            <a:pPr marL="627063" indent="-266700" algn="l">
              <a:tabLst>
                <a:tab pos="627063" algn="l"/>
              </a:tabLst>
              <a:defRPr/>
            </a:pPr>
            <a:endParaRPr lang="pt-BR" sz="1600" dirty="0">
              <a:latin typeface="Tahoma" panose="020B0604030504040204" pitchFamily="34" charset="0"/>
            </a:endParaRPr>
          </a:p>
          <a:p>
            <a:pPr marL="627063" indent="-266700" algn="l">
              <a:tabLst>
                <a:tab pos="627063" algn="l"/>
              </a:tabLst>
              <a:defRPr/>
            </a:pPr>
            <a:r>
              <a:rPr lang="pt-BR" sz="1600" dirty="0">
                <a:latin typeface="Tahoma" panose="020B0604030504040204" pitchFamily="34" charset="0"/>
              </a:rPr>
              <a:t>d) testar a sensibilidade de parâmetros de um modelo (ou distribuição)</a:t>
            </a:r>
          </a:p>
          <a:p>
            <a:pPr marL="627063" indent="-266700" algn="l">
              <a:tabLst>
                <a:tab pos="627063" algn="l"/>
              </a:tabLst>
              <a:defRPr/>
            </a:pPr>
            <a:r>
              <a:rPr lang="pt-BR" sz="1600" dirty="0">
                <a:latin typeface="Tahoma" panose="020B0604030504040204" pitchFamily="34" charset="0"/>
              </a:rPr>
              <a:t>	</a:t>
            </a:r>
            <a:r>
              <a:rPr lang="pt-BR" sz="1600" dirty="0" err="1">
                <a:latin typeface="Tahoma" panose="020B0604030504040204" pitchFamily="34" charset="0"/>
              </a:rPr>
              <a:t>ex</a:t>
            </a:r>
            <a:r>
              <a:rPr lang="pt-BR" sz="1600" dirty="0">
                <a:latin typeface="Tahoma" panose="020B0604030504040204" pitchFamily="34" charset="0"/>
              </a:rPr>
              <a:t>: identificar quais parâmetros afetam mais os resultados finais</a:t>
            </a:r>
          </a:p>
          <a:p>
            <a:pPr marL="627063" indent="-266700" algn="l">
              <a:tabLst>
                <a:tab pos="627063" algn="l"/>
              </a:tabLst>
              <a:defRPr/>
            </a:pPr>
            <a:endParaRPr lang="pt-BR" sz="1600" dirty="0">
              <a:latin typeface="Tahoma" panose="020B0604030504040204" pitchFamily="34" charset="0"/>
            </a:endParaRPr>
          </a:p>
          <a:p>
            <a:pPr marL="627063" indent="-266700" algn="l">
              <a:tabLst>
                <a:tab pos="627063" algn="l"/>
              </a:tabLst>
              <a:defRPr/>
            </a:pPr>
            <a:r>
              <a:rPr lang="pt-BR" sz="1600" dirty="0">
                <a:latin typeface="Tahoma" panose="020B0604030504040204" pitchFamily="34" charset="0"/>
              </a:rPr>
              <a:t>e) estimar pontualmente ou por intervalo um determinado resultado de um modelo</a:t>
            </a:r>
          </a:p>
          <a:p>
            <a:pPr marL="627063" indent="-266700" algn="l">
              <a:tabLst>
                <a:tab pos="627063" algn="l"/>
              </a:tabLst>
              <a:defRPr/>
            </a:pPr>
            <a:r>
              <a:rPr lang="pt-BR" sz="1600" dirty="0">
                <a:latin typeface="Tahoma" panose="020B0604030504040204" pitchFamily="34" charset="0"/>
              </a:rPr>
              <a:t>	</a:t>
            </a:r>
            <a:r>
              <a:rPr lang="pt-BR" sz="1600" dirty="0" err="1">
                <a:latin typeface="Tahoma" panose="020B0604030504040204" pitchFamily="34" charset="0"/>
              </a:rPr>
              <a:t>ex</a:t>
            </a:r>
            <a:r>
              <a:rPr lang="pt-BR" sz="1600" dirty="0">
                <a:latin typeface="Tahoma" panose="020B0604030504040204" pitchFamily="34" charset="0"/>
              </a:rPr>
              <a:t>: descrever estatisticamente os possíveis resultados de um experimento</a:t>
            </a:r>
          </a:p>
          <a:p>
            <a:pPr marL="627063" indent="-266700" algn="l">
              <a:tabLst>
                <a:tab pos="627063" algn="l"/>
              </a:tabLst>
              <a:defRPr/>
            </a:pPr>
            <a:endParaRPr lang="pt-BR" sz="1600" dirty="0">
              <a:latin typeface="Tahoma" panose="020B0604030504040204" pitchFamily="34" charset="0"/>
            </a:endParaRPr>
          </a:p>
          <a:p>
            <a:pPr marL="627063" indent="-266700" algn="l">
              <a:tabLst>
                <a:tab pos="627063" algn="l"/>
              </a:tabLst>
              <a:defRPr/>
            </a:pPr>
            <a:r>
              <a:rPr lang="pt-BR" sz="1600" dirty="0">
                <a:latin typeface="Tahoma" panose="020B0604030504040204" pitchFamily="34" charset="0"/>
              </a:rPr>
              <a:t>f) testar a significância de um resultado num teste de hipótese</a:t>
            </a:r>
          </a:p>
          <a:p>
            <a:pPr marL="627063" indent="-266700" algn="l">
              <a:tabLst>
                <a:tab pos="627063" algn="l"/>
              </a:tabLst>
              <a:defRPr/>
            </a:pPr>
            <a:r>
              <a:rPr lang="pt-BR" sz="1600" dirty="0">
                <a:latin typeface="Tahoma" panose="020B0604030504040204" pitchFamily="34" charset="0"/>
              </a:rPr>
              <a:t>	</a:t>
            </a:r>
            <a:r>
              <a:rPr lang="pt-BR" sz="1600" dirty="0" err="1">
                <a:latin typeface="Tahoma" panose="020B0604030504040204" pitchFamily="34" charset="0"/>
              </a:rPr>
              <a:t>ex</a:t>
            </a:r>
            <a:r>
              <a:rPr lang="pt-BR" sz="1600" dirty="0">
                <a:latin typeface="Tahoma" panose="020B0604030504040204" pitchFamily="34" charset="0"/>
              </a:rPr>
              <a:t>: avaliar se uma hipótese é válida ou não sem utilizar testes estatísticos clássicos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7CC19F-80C6-417E-882B-ED48C1A2A9C8}" type="slidenum">
              <a:rPr lang="pt-BR"/>
              <a:pPr>
                <a:defRPr/>
              </a:pPr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0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Simulação de Monte Carlo</a:t>
            </a:r>
          </a:p>
        </p:txBody>
      </p:sp>
      <p:sp>
        <p:nvSpPr>
          <p:cNvPr id="42" name="Text Box 38"/>
          <p:cNvSpPr txBox="1">
            <a:spLocks noChangeArrowheads="1"/>
          </p:cNvSpPr>
          <p:nvPr/>
        </p:nvSpPr>
        <p:spPr bwMode="auto">
          <a:xfrm>
            <a:off x="285750" y="1643063"/>
            <a:ext cx="8572500" cy="3744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0363" indent="-360363"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É um método que utiliza sequencias de números aleatórios para descrever o comportamento de uma ou mais variáveis ou a combinação das mesmas, bastando para isso conhecer a Função de Probabilidade de cada variável (ou a FDP, no caso de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contínua).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É particularmente útil quando o modelo é complexo, não-linear, ou quando envolve muitas variáveis de entrada (com diferentes graus de incerteza), o que dificultaria uma solução analítica.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Através de um grande número de repetições (acima de 1000), garante-se que praticamente todas as combinações de entradas sejam avaliadas.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EEB452-20EB-45D1-AEFA-86D5E9394072}" type="slidenum">
              <a:rPr lang="pt-BR"/>
              <a:pPr>
                <a:defRPr/>
              </a:pPr>
              <a:t>4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Simulação de Monte Carlo</a:t>
            </a:r>
          </a:p>
        </p:txBody>
      </p:sp>
      <p:sp>
        <p:nvSpPr>
          <p:cNvPr id="42" name="Text Box 38"/>
          <p:cNvSpPr txBox="1">
            <a:spLocks noChangeArrowheads="1"/>
          </p:cNvSpPr>
          <p:nvPr/>
        </p:nvSpPr>
        <p:spPr bwMode="auto">
          <a:xfrm>
            <a:off x="285750" y="1643063"/>
            <a:ext cx="8572500" cy="790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0363" indent="-360363"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 termo Monte Carlo foi dado em homenagem a roleta, jogo muito popular de Monte Carlo, Mônaco.</a:t>
            </a:r>
          </a:p>
        </p:txBody>
      </p:sp>
      <p:grpSp>
        <p:nvGrpSpPr>
          <p:cNvPr id="2" name="Grupo 50"/>
          <p:cNvGrpSpPr>
            <a:grpSpLocks/>
          </p:cNvGrpSpPr>
          <p:nvPr/>
        </p:nvGrpSpPr>
        <p:grpSpPr bwMode="auto">
          <a:xfrm>
            <a:off x="4142242" y="3429000"/>
            <a:ext cx="1336675" cy="1836738"/>
            <a:chOff x="3714744" y="4663514"/>
            <a:chExt cx="1337254" cy="1837320"/>
          </a:xfrm>
        </p:grpSpPr>
        <p:grpSp>
          <p:nvGrpSpPr>
            <p:cNvPr id="5150" name="Grupo 48"/>
            <p:cNvGrpSpPr>
              <a:grpSpLocks/>
            </p:cNvGrpSpPr>
            <p:nvPr/>
          </p:nvGrpSpPr>
          <p:grpSpPr bwMode="auto">
            <a:xfrm>
              <a:off x="3714744" y="4663514"/>
              <a:ext cx="1337254" cy="1583007"/>
              <a:chOff x="2520366" y="4674907"/>
              <a:chExt cx="2126269" cy="2517024"/>
            </a:xfrm>
          </p:grpSpPr>
          <p:grpSp>
            <p:nvGrpSpPr>
              <p:cNvPr id="5152" name="Grupo 34"/>
              <p:cNvGrpSpPr>
                <a:grpSpLocks/>
              </p:cNvGrpSpPr>
              <p:nvPr/>
            </p:nvGrpSpPr>
            <p:grpSpPr bwMode="auto">
              <a:xfrm>
                <a:off x="2622887" y="5025191"/>
                <a:ext cx="1872913" cy="1608220"/>
                <a:chOff x="2622887" y="5025191"/>
                <a:chExt cx="1872913" cy="1608220"/>
              </a:xfrm>
            </p:grpSpPr>
            <p:cxnSp>
              <p:nvCxnSpPr>
                <p:cNvPr id="5160" name="Conector reto 23"/>
                <p:cNvCxnSpPr>
                  <a:cxnSpLocks noChangeShapeType="1"/>
                </p:cNvCxnSpPr>
                <p:nvPr/>
              </p:nvCxnSpPr>
              <p:spPr bwMode="auto">
                <a:xfrm rot="16200000" flipV="1">
                  <a:off x="3029953" y="5524500"/>
                  <a:ext cx="1054768" cy="6416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61" name="Conector reto 25"/>
                <p:cNvCxnSpPr>
                  <a:cxnSpLocks noChangeShapeType="1"/>
                </p:cNvCxnSpPr>
                <p:nvPr/>
              </p:nvCxnSpPr>
              <p:spPr bwMode="auto">
                <a:xfrm rot="5400000" flipH="1" flipV="1">
                  <a:off x="3062727" y="5553391"/>
                  <a:ext cx="1058904" cy="250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62" name="Conector reto 27"/>
                <p:cNvCxnSpPr>
                  <a:cxnSpLocks noChangeShapeType="1"/>
                </p:cNvCxnSpPr>
                <p:nvPr/>
              </p:nvCxnSpPr>
              <p:spPr bwMode="auto">
                <a:xfrm rot="5400000" flipH="1" flipV="1">
                  <a:off x="3370347" y="5370097"/>
                  <a:ext cx="936957" cy="495801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63" name="Conector reto 29"/>
                <p:cNvCxnSpPr>
                  <a:cxnSpLocks noChangeShapeType="1"/>
                </p:cNvCxnSpPr>
                <p:nvPr/>
              </p:nvCxnSpPr>
              <p:spPr bwMode="auto">
                <a:xfrm>
                  <a:off x="3588544" y="6084094"/>
                  <a:ext cx="907256" cy="549317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64" name="Conector reto 31"/>
                <p:cNvCxnSpPr>
                  <a:cxnSpLocks noChangeShapeType="1"/>
                </p:cNvCxnSpPr>
                <p:nvPr/>
              </p:nvCxnSpPr>
              <p:spPr bwMode="auto">
                <a:xfrm rot="10800000" flipV="1">
                  <a:off x="2622887" y="6086475"/>
                  <a:ext cx="968039" cy="438650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65" name="Conector reto 33"/>
                <p:cNvCxnSpPr>
                  <a:cxnSpLocks noChangeShapeType="1"/>
                </p:cNvCxnSpPr>
                <p:nvPr/>
              </p:nvCxnSpPr>
              <p:spPr bwMode="auto">
                <a:xfrm rot="16200000" flipV="1">
                  <a:off x="2861010" y="5356559"/>
                  <a:ext cx="904875" cy="554957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5153" name="CaixaDeTexto 40"/>
              <p:cNvSpPr txBox="1">
                <a:spLocks noChangeArrowheads="1"/>
              </p:cNvSpPr>
              <p:nvPr/>
            </p:nvSpPr>
            <p:spPr bwMode="auto">
              <a:xfrm>
                <a:off x="4197508" y="5670548"/>
                <a:ext cx="426347" cy="4405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ahoma" panose="020B0604030504040204" pitchFamily="34" charset="0"/>
                  </a:rPr>
                  <a:t>1</a:t>
                </a:r>
              </a:p>
            </p:txBody>
          </p:sp>
          <p:sp>
            <p:nvSpPr>
              <p:cNvPr id="5154" name="CaixaDeTexto 42"/>
              <p:cNvSpPr txBox="1">
                <a:spLocks noChangeArrowheads="1"/>
              </p:cNvSpPr>
              <p:nvPr/>
            </p:nvSpPr>
            <p:spPr bwMode="auto">
              <a:xfrm>
                <a:off x="3368435" y="6751355"/>
                <a:ext cx="426347" cy="4405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ahoma" panose="020B0604030504040204" pitchFamily="34" charset="0"/>
                  </a:rPr>
                  <a:t>2</a:t>
                </a:r>
              </a:p>
            </p:txBody>
          </p:sp>
          <p:sp>
            <p:nvSpPr>
              <p:cNvPr id="5155" name="CaixaDeTexto 43"/>
              <p:cNvSpPr txBox="1">
                <a:spLocks noChangeArrowheads="1"/>
              </p:cNvSpPr>
              <p:nvPr/>
            </p:nvSpPr>
            <p:spPr bwMode="auto">
              <a:xfrm>
                <a:off x="2536229" y="5562700"/>
                <a:ext cx="426347" cy="440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ahoma" panose="020B0604030504040204" pitchFamily="34" charset="0"/>
                  </a:rPr>
                  <a:t>3</a:t>
                </a:r>
              </a:p>
            </p:txBody>
          </p:sp>
          <p:sp>
            <p:nvSpPr>
              <p:cNvPr id="5156" name="CaixaDeTexto 44"/>
              <p:cNvSpPr txBox="1">
                <a:spLocks noChangeArrowheads="1"/>
              </p:cNvSpPr>
              <p:nvPr/>
            </p:nvSpPr>
            <p:spPr bwMode="auto">
              <a:xfrm>
                <a:off x="3113946" y="5013956"/>
                <a:ext cx="426347" cy="440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ahoma" panose="020B0604030504040204" pitchFamily="34" charset="0"/>
                  </a:rPr>
                  <a:t>4</a:t>
                </a:r>
              </a:p>
            </p:txBody>
          </p:sp>
          <p:sp>
            <p:nvSpPr>
              <p:cNvPr id="5157" name="CaixaDeTexto 45"/>
              <p:cNvSpPr txBox="1">
                <a:spLocks noChangeArrowheads="1"/>
              </p:cNvSpPr>
              <p:nvPr/>
            </p:nvSpPr>
            <p:spPr bwMode="auto">
              <a:xfrm>
                <a:off x="3350250" y="4674907"/>
                <a:ext cx="426347" cy="440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ahoma" panose="020B0604030504040204" pitchFamily="34" charset="0"/>
                  </a:rPr>
                  <a:t>5</a:t>
                </a:r>
              </a:p>
            </p:txBody>
          </p:sp>
          <p:sp>
            <p:nvSpPr>
              <p:cNvPr id="5158" name="CaixaDeTexto 46"/>
              <p:cNvSpPr txBox="1">
                <a:spLocks noChangeArrowheads="1"/>
              </p:cNvSpPr>
              <p:nvPr/>
            </p:nvSpPr>
            <p:spPr bwMode="auto">
              <a:xfrm>
                <a:off x="3596830" y="4993406"/>
                <a:ext cx="426347" cy="440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ahoma" panose="020B0604030504040204" pitchFamily="34" charset="0"/>
                  </a:rPr>
                  <a:t>0</a:t>
                </a:r>
              </a:p>
            </p:txBody>
          </p:sp>
          <p:sp>
            <p:nvSpPr>
              <p:cNvPr id="5159" name="Elipse 47"/>
              <p:cNvSpPr>
                <a:spLocks noChangeArrowheads="1"/>
              </p:cNvSpPr>
              <p:nvPr/>
            </p:nvSpPr>
            <p:spPr bwMode="auto">
              <a:xfrm>
                <a:off x="2520366" y="5021184"/>
                <a:ext cx="2126269" cy="2116476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100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5151" name="Triângulo isósceles 49"/>
            <p:cNvSpPr>
              <a:spLocks noChangeArrowheads="1"/>
            </p:cNvSpPr>
            <p:nvPr/>
          </p:nvSpPr>
          <p:spPr bwMode="auto">
            <a:xfrm>
              <a:off x="4286248" y="6286520"/>
              <a:ext cx="214314" cy="214314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</p:grpSp>
      <p:sp>
        <p:nvSpPr>
          <p:cNvPr id="52" name="CaixaDeTexto 51"/>
          <p:cNvSpPr txBox="1">
            <a:spLocks noChangeArrowheads="1"/>
          </p:cNvSpPr>
          <p:nvPr/>
        </p:nvSpPr>
        <p:spPr bwMode="auto">
          <a:xfrm>
            <a:off x="564330" y="3025112"/>
            <a:ext cx="27088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  <a:cs typeface="Times New Roman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~ Binomial (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n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= 5</a:t>
            </a:r>
            <a:r>
              <a:rPr lang="pt-BR" altLang="pt-BR" sz="1600" dirty="0">
                <a:latin typeface="Tahoma" panose="020B0604030504040204" pitchFamily="34" charset="0"/>
              </a:rPr>
              <a:t>;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p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= 0,4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graphicFrame>
        <p:nvGraphicFramePr>
          <p:cNvPr id="54" name="Tabela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653832"/>
              </p:ext>
            </p:extLst>
          </p:nvPr>
        </p:nvGraphicFramePr>
        <p:xfrm>
          <a:off x="994800" y="3627869"/>
          <a:ext cx="1847876" cy="1889363"/>
        </p:xfrm>
        <a:graphic>
          <a:graphicData uri="http://schemas.openxmlformats.org/drawingml/2006/table">
            <a:tbl>
              <a:tblPr/>
              <a:tblGrid>
                <a:gridCol w="9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90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6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6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90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7,78%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90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25,92%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90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34,56%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90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23,04%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90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7,68%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90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1,02%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3" name="Forma livre 62"/>
          <p:cNvSpPr>
            <a:spLocks noChangeArrowheads="1"/>
          </p:cNvSpPr>
          <p:nvPr/>
        </p:nvSpPr>
        <p:spPr bwMode="auto">
          <a:xfrm>
            <a:off x="3980317" y="4298950"/>
            <a:ext cx="539750" cy="771525"/>
          </a:xfrm>
          <a:custGeom>
            <a:avLst/>
            <a:gdLst>
              <a:gd name="T0" fmla="*/ 521064 w 540482"/>
              <a:gd name="T1" fmla="*/ 768743 h 771632"/>
              <a:gd name="T2" fmla="*/ 465350 w 540482"/>
              <a:gd name="T3" fmla="*/ 748428 h 771632"/>
              <a:gd name="T4" fmla="*/ 416193 w 540482"/>
              <a:gd name="T5" fmla="*/ 724714 h 771632"/>
              <a:gd name="T6" fmla="*/ 360481 w 540482"/>
              <a:gd name="T7" fmla="*/ 687471 h 771632"/>
              <a:gd name="T8" fmla="*/ 305547 w 540482"/>
              <a:gd name="T9" fmla="*/ 645587 h 771632"/>
              <a:gd name="T10" fmla="*/ 255615 w 540482"/>
              <a:gd name="T11" fmla="*/ 602800 h 771632"/>
              <a:gd name="T12" fmla="*/ 213014 w 540482"/>
              <a:gd name="T13" fmla="*/ 555400 h 771632"/>
              <a:gd name="T14" fmla="*/ 167132 w 540482"/>
              <a:gd name="T15" fmla="*/ 494429 h 771632"/>
              <a:gd name="T16" fmla="*/ 124531 w 540482"/>
              <a:gd name="T17" fmla="*/ 436858 h 771632"/>
              <a:gd name="T18" fmla="*/ 88484 w 540482"/>
              <a:gd name="T19" fmla="*/ 372515 h 771632"/>
              <a:gd name="T20" fmla="*/ 62266 w 540482"/>
              <a:gd name="T21" fmla="*/ 308172 h 771632"/>
              <a:gd name="T22" fmla="*/ 32770 w 540482"/>
              <a:gd name="T23" fmla="*/ 230286 h 771632"/>
              <a:gd name="T24" fmla="*/ 13111 w 540482"/>
              <a:gd name="T25" fmla="*/ 149001 h 771632"/>
              <a:gd name="T26" fmla="*/ 3275 w 540482"/>
              <a:gd name="T27" fmla="*/ 47401 h 771632"/>
              <a:gd name="T28" fmla="*/ 0 w 540482"/>
              <a:gd name="T29" fmla="*/ 0 h 77163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40482"/>
              <a:gd name="T46" fmla="*/ 0 h 771632"/>
              <a:gd name="T47" fmla="*/ 540482 w 540482"/>
              <a:gd name="T48" fmla="*/ 771632 h 771632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40482" h="771632">
                <a:moveTo>
                  <a:pt x="540482" y="771632"/>
                </a:moveTo>
                <a:lnTo>
                  <a:pt x="482695" y="751236"/>
                </a:lnTo>
                <a:lnTo>
                  <a:pt x="431706" y="727441"/>
                </a:lnTo>
                <a:lnTo>
                  <a:pt x="373918" y="690050"/>
                </a:lnTo>
                <a:cubicBezTo>
                  <a:pt x="354089" y="676453"/>
                  <a:pt x="335064" y="662181"/>
                  <a:pt x="316935" y="648017"/>
                </a:cubicBezTo>
                <a:cubicBezTo>
                  <a:pt x="298806" y="633853"/>
                  <a:pt x="280439" y="619798"/>
                  <a:pt x="265142" y="605068"/>
                </a:cubicBezTo>
                <a:lnTo>
                  <a:pt x="220952" y="557479"/>
                </a:lnTo>
                <a:lnTo>
                  <a:pt x="173362" y="496292"/>
                </a:lnTo>
                <a:lnTo>
                  <a:pt x="129172" y="438505"/>
                </a:lnTo>
                <a:lnTo>
                  <a:pt x="91780" y="373919"/>
                </a:lnTo>
                <a:lnTo>
                  <a:pt x="64586" y="309333"/>
                </a:lnTo>
                <a:lnTo>
                  <a:pt x="33993" y="231150"/>
                </a:lnTo>
                <a:lnTo>
                  <a:pt x="13597" y="149568"/>
                </a:lnTo>
                <a:lnTo>
                  <a:pt x="3399" y="47590"/>
                </a:lnTo>
                <a:lnTo>
                  <a:pt x="0" y="0"/>
                </a:lnTo>
              </a:path>
            </a:pathLst>
          </a:cu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3" name="Retângulo 2"/>
          <p:cNvSpPr>
            <a:spLocks noChangeArrowheads="1"/>
          </p:cNvSpPr>
          <p:nvPr/>
        </p:nvSpPr>
        <p:spPr bwMode="auto">
          <a:xfrm>
            <a:off x="5772969" y="4010988"/>
            <a:ext cx="2687463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área de cada fatia é proporcional a probabilidade do valor correspondente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EEB452-20EB-45D1-AEFA-86D5E9394072}" type="slidenum">
              <a:rPr lang="pt-BR"/>
              <a:pPr>
                <a:defRPr/>
              </a:pPr>
              <a:t>5</a:t>
            </a:fld>
            <a:endParaRPr lang="pt-BR"/>
          </a:p>
        </p:txBody>
      </p:sp>
      <p:sp>
        <p:nvSpPr>
          <p:cNvPr id="26" name="Retângulo 25"/>
          <p:cNvSpPr>
            <a:spLocks noChangeArrowheads="1"/>
          </p:cNvSpPr>
          <p:nvPr/>
        </p:nvSpPr>
        <p:spPr bwMode="auto">
          <a:xfrm>
            <a:off x="3203848" y="5427801"/>
            <a:ext cx="5544616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7800" indent="-177800"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roda-se a roleta e, ao parar, anota-se o valor obtido</a:t>
            </a:r>
          </a:p>
          <a:p>
            <a:pPr marL="177800" indent="-177800"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repete-se o procedimento até que se consiga o número desejado de simulações</a:t>
            </a:r>
          </a:p>
          <a:p>
            <a:pPr marL="177800" indent="-177800"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quanto maior o número de simulações, mais </a:t>
            </a:r>
            <a:r>
              <a:rPr lang="pt-BR" altLang="pt-BR" sz="1400">
                <a:latin typeface="Tahoma" panose="020B0604030504040204" pitchFamily="34" charset="0"/>
              </a:rPr>
              <a:t>a frequência </a:t>
            </a:r>
            <a:r>
              <a:rPr lang="pt-BR" altLang="pt-BR" sz="1400" dirty="0">
                <a:latin typeface="Tahoma" panose="020B0604030504040204" pitchFamily="34" charset="0"/>
              </a:rPr>
              <a:t>relativa de cada resultado possível se aproximará de sua probabilidade</a:t>
            </a:r>
          </a:p>
        </p:txBody>
      </p:sp>
    </p:spTree>
    <p:extLst>
      <p:ext uri="{BB962C8B-B14F-4D97-AF65-F5344CB8AC3E}">
        <p14:creationId xmlns:p14="http://schemas.microsoft.com/office/powerpoint/2010/main" val="3942393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63" grpId="0" animBg="1"/>
      <p:bldP spid="3" grpId="0"/>
      <p:bldP spid="2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Geração de Números Aleatórios</a:t>
            </a:r>
          </a:p>
        </p:txBody>
      </p:sp>
      <p:sp>
        <p:nvSpPr>
          <p:cNvPr id="42" name="Text Box 38"/>
          <p:cNvSpPr txBox="1">
            <a:spLocks noChangeArrowheads="1"/>
          </p:cNvSpPr>
          <p:nvPr/>
        </p:nvSpPr>
        <p:spPr bwMode="auto">
          <a:xfrm>
            <a:off x="251520" y="1643063"/>
            <a:ext cx="878453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363" indent="-360363"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Originalmente os números aleatórios eram gerados usando dados, roletas, tabelas, etc.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Atualmente os computadores são usados para gerar números chamados </a:t>
            </a:r>
            <a:r>
              <a:rPr lang="pt-BR" altLang="pt-BR" sz="1600" dirty="0" err="1">
                <a:latin typeface="Tahoma" panose="020B0604030504040204" pitchFamily="34" charset="0"/>
              </a:rPr>
              <a:t>pseudo-aleatórios</a:t>
            </a:r>
            <a:r>
              <a:rPr lang="pt-BR" altLang="pt-BR" sz="1600" dirty="0">
                <a:latin typeface="Tahoma" panose="020B0604030504040204" pitchFamily="34" charset="0"/>
              </a:rPr>
              <a:t>, que constituem uma sequencia de valores que, embora sejam gerados de forma determinística, simulam valores independentes de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uniforme contínua </a:t>
            </a:r>
            <a:r>
              <a:rPr lang="pt-BR" altLang="pt-BR" sz="1600" dirty="0">
                <a:latin typeface="Tahoma" panose="020B0604030504040204" pitchFamily="34" charset="0"/>
              </a:rPr>
              <a:t>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[0,1]</a:t>
            </a:r>
            <a:r>
              <a:rPr lang="pt-BR" altLang="pt-BR" sz="1600" dirty="0">
                <a:latin typeface="Tahoma" panose="020B0604030504040204" pitchFamily="34" charset="0"/>
              </a:rPr>
              <a:t>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Qualquer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pode ser simulada a partir de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uniforme contínua [0,1] desde que se conheça sua função de distribuição acumulada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F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(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x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) =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P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(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X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</a:t>
            </a:r>
            <a:r>
              <a:rPr lang="pt-BR" altLang="pt-BR" sz="1600" dirty="0">
                <a:latin typeface="Times New Roman" charset="0"/>
                <a:cs typeface="Times New Roman" charset="0"/>
                <a:sym typeface="Symbol" pitchFamily="18" charset="2"/>
              </a:rPr>
              <a:t>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x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)</a:t>
            </a:r>
            <a:r>
              <a:rPr lang="pt-BR" altLang="pt-BR" sz="1600" dirty="0">
                <a:latin typeface="Tahoma" panose="020B0604030504040204" pitchFamily="34" charset="0"/>
              </a:rPr>
              <a:t>.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43349E-65CF-4756-93E3-D3434037B0FC}" type="slidenum">
              <a:rPr lang="pt-BR"/>
              <a:pPr>
                <a:defRPr/>
              </a:pPr>
              <a:t>6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Geração de Números Aleatórios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1CF9C2-5215-4BB8-873B-0F48271A1E33}" type="slidenum">
              <a:rPr lang="pt-BR"/>
              <a:pPr>
                <a:defRPr/>
              </a:pPr>
              <a:t>7</a:t>
            </a:fld>
            <a:endParaRPr lang="pt-BR"/>
          </a:p>
        </p:txBody>
      </p:sp>
      <p:sp>
        <p:nvSpPr>
          <p:cNvPr id="40" name="Text Box 38"/>
          <p:cNvSpPr txBox="1">
            <a:spLocks noChangeArrowheads="1"/>
          </p:cNvSpPr>
          <p:nvPr/>
        </p:nvSpPr>
        <p:spPr bwMode="auto">
          <a:xfrm>
            <a:off x="251520" y="1643063"/>
            <a:ext cx="878453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363" indent="-360363"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Procedimento Geral: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AutoNum type="alphaLcParenR"/>
            </a:pPr>
            <a:r>
              <a:rPr lang="pt-BR" altLang="pt-BR" sz="1600" dirty="0">
                <a:latin typeface="Tahoma" panose="020B0604030504040204" pitchFamily="34" charset="0"/>
              </a:rPr>
              <a:t>gera-se um número aleatório de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uniforme contínua [0,1],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AutoNum type="alphaLcParenR"/>
            </a:pPr>
            <a:r>
              <a:rPr lang="pt-BR" altLang="pt-BR" sz="1600" dirty="0">
                <a:latin typeface="Tahoma" panose="020B0604030504040204" pitchFamily="34" charset="0"/>
              </a:rPr>
              <a:t>determina-se qual é o menor valor da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desejada cuja probabilidade seja maior ou igual a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AutoNum type="alphaLcParenR"/>
            </a:pPr>
            <a:r>
              <a:rPr lang="pt-BR" altLang="pt-BR" sz="1600" dirty="0">
                <a:latin typeface="Tahoma" panose="020B0604030504040204" pitchFamily="34" charset="0"/>
              </a:rPr>
              <a:t>repete-se os procedimentos a) e b) até que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valores tenham sido obtidos</a:t>
            </a:r>
          </a:p>
        </p:txBody>
      </p:sp>
      <p:sp>
        <p:nvSpPr>
          <p:cNvPr id="45" name="CaixaDeTexto 44"/>
          <p:cNvSpPr txBox="1">
            <a:spLocks noChangeArrowheads="1"/>
          </p:cNvSpPr>
          <p:nvPr/>
        </p:nvSpPr>
        <p:spPr bwMode="auto">
          <a:xfrm>
            <a:off x="415711" y="3933056"/>
            <a:ext cx="238167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400" i="1" dirty="0">
                <a:latin typeface="Times New Roman" charset="0"/>
                <a:cs typeface="Times New Roman" charset="0"/>
              </a:rPr>
              <a:t>X</a:t>
            </a:r>
            <a:r>
              <a:rPr lang="pt-BR" altLang="pt-BR" sz="1400" dirty="0">
                <a:latin typeface="Tahoma" panose="020B0604030504040204" pitchFamily="34" charset="0"/>
              </a:rPr>
              <a:t> ~ Binomial (</a:t>
            </a:r>
            <a:r>
              <a:rPr lang="pt-BR" altLang="pt-BR" sz="1400" i="1" dirty="0">
                <a:latin typeface="Times New Roman" charset="0"/>
                <a:cs typeface="Times New Roman" charset="0"/>
              </a:rPr>
              <a:t>n</a:t>
            </a:r>
            <a:r>
              <a:rPr lang="pt-BR" altLang="pt-BR" sz="1400" dirty="0">
                <a:latin typeface="Times New Roman" charset="0"/>
                <a:cs typeface="Times New Roman" charset="0"/>
              </a:rPr>
              <a:t> = 5</a:t>
            </a:r>
            <a:r>
              <a:rPr lang="pt-BR" altLang="pt-BR" sz="1400" dirty="0">
                <a:latin typeface="Tahoma" panose="020B0604030504040204" pitchFamily="34" charset="0"/>
              </a:rPr>
              <a:t>; </a:t>
            </a:r>
            <a:r>
              <a:rPr lang="pt-BR" altLang="pt-BR" sz="1400" i="1" dirty="0">
                <a:latin typeface="Times New Roman" charset="0"/>
                <a:cs typeface="Times New Roman" charset="0"/>
              </a:rPr>
              <a:t>p</a:t>
            </a:r>
            <a:r>
              <a:rPr lang="pt-BR" altLang="pt-BR" sz="1400" dirty="0">
                <a:latin typeface="Times New Roman" charset="0"/>
                <a:cs typeface="Times New Roman" charset="0"/>
              </a:rPr>
              <a:t> = 0,4</a:t>
            </a:r>
            <a:r>
              <a:rPr lang="pt-BR" altLang="pt-BR" sz="1400" dirty="0">
                <a:latin typeface="Tahoma" panose="020B0604030504040204" pitchFamily="34" charset="0"/>
              </a:rPr>
              <a:t>)</a:t>
            </a:r>
          </a:p>
        </p:txBody>
      </p:sp>
      <p:graphicFrame>
        <p:nvGraphicFramePr>
          <p:cNvPr id="46" name="Tabela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438098"/>
              </p:ext>
            </p:extLst>
          </p:nvPr>
        </p:nvGraphicFramePr>
        <p:xfrm>
          <a:off x="654050" y="4314056"/>
          <a:ext cx="1774825" cy="1493835"/>
        </p:xfrm>
        <a:graphic>
          <a:graphicData uri="http://schemas.openxmlformats.org/drawingml/2006/table">
            <a:tbl>
              <a:tblPr/>
              <a:tblGrid>
                <a:gridCol w="406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1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  <a:sym typeface="Symbol"/>
                        </a:rPr>
                        <a:t> </a:t>
                      </a:r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7,78%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7,78%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25,92%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33,70%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34,56%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68,26%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23,04%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91,30%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7,68%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98,98%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40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1,02%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100,00%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7" name="Forma livre 46"/>
          <p:cNvSpPr>
            <a:spLocks noChangeArrowheads="1"/>
          </p:cNvSpPr>
          <p:nvPr/>
        </p:nvSpPr>
        <p:spPr bwMode="auto">
          <a:xfrm>
            <a:off x="4138613" y="4298181"/>
            <a:ext cx="2573337" cy="1425575"/>
          </a:xfrm>
          <a:custGeom>
            <a:avLst/>
            <a:gdLst>
              <a:gd name="T0" fmla="*/ 0 w 2573012"/>
              <a:gd name="T1" fmla="*/ 1441554 h 1424964"/>
              <a:gd name="T2" fmla="*/ 431254 w 2573012"/>
              <a:gd name="T3" fmla="*/ 1333583 h 1424964"/>
              <a:gd name="T4" fmla="*/ 862535 w 2573012"/>
              <a:gd name="T5" fmla="*/ 951308 h 1424964"/>
              <a:gd name="T6" fmla="*/ 1293791 w 2573012"/>
              <a:gd name="T7" fmla="*/ 452310 h 1424964"/>
              <a:gd name="T8" fmla="*/ 1719270 w 2573012"/>
              <a:gd name="T9" fmla="*/ 119643 h 1424964"/>
              <a:gd name="T10" fmla="*/ 2150527 w 2573012"/>
              <a:gd name="T11" fmla="*/ 17496 h 1424964"/>
              <a:gd name="T12" fmla="*/ 2581794 w 2573012"/>
              <a:gd name="T13" fmla="*/ 0 h 14249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573012"/>
              <a:gd name="T22" fmla="*/ 0 h 1424964"/>
              <a:gd name="T23" fmla="*/ 2573012 w 2573012"/>
              <a:gd name="T24" fmla="*/ 1424964 h 14249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573012" h="1424964">
                <a:moveTo>
                  <a:pt x="0" y="1424964"/>
                </a:moveTo>
                <a:lnTo>
                  <a:pt x="429796" y="1318236"/>
                </a:lnTo>
                <a:lnTo>
                  <a:pt x="859593" y="940361"/>
                </a:lnTo>
                <a:lnTo>
                  <a:pt x="1289390" y="447104"/>
                </a:lnTo>
                <a:lnTo>
                  <a:pt x="1713418" y="118266"/>
                </a:lnTo>
                <a:lnTo>
                  <a:pt x="2143215" y="17307"/>
                </a:lnTo>
                <a:lnTo>
                  <a:pt x="2573012" y="0"/>
                </a:lnTo>
              </a:path>
            </a:pathLst>
          </a:cu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49" name="CaixaDeTexto 48"/>
          <p:cNvSpPr txBox="1">
            <a:spLocks noChangeArrowheads="1"/>
          </p:cNvSpPr>
          <p:nvPr/>
        </p:nvSpPr>
        <p:spPr bwMode="auto">
          <a:xfrm>
            <a:off x="660617" y="5992993"/>
            <a:ext cx="253627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 err="1">
                <a:latin typeface="Tahoma" panose="020B0604030504040204" pitchFamily="34" charset="0"/>
                <a:cs typeface="Times New Roman" charset="0"/>
              </a:rPr>
              <a:t>Ex</a:t>
            </a:r>
            <a:r>
              <a:rPr lang="pt-BR" altLang="pt-BR" sz="1600" dirty="0">
                <a:latin typeface="Tahoma" panose="020B0604030504040204" pitchFamily="34" charset="0"/>
                <a:cs typeface="Times New Roman" charset="0"/>
              </a:rPr>
              <a:t>: se </a:t>
            </a:r>
            <a:r>
              <a:rPr lang="pt-BR" altLang="pt-BR" sz="1600" i="1" dirty="0">
                <a:latin typeface="Times New Roman" charset="0"/>
                <a:cs typeface="Times New Roman" charset="0"/>
              </a:rPr>
              <a:t>u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= 0,4367 (43,67%)</a:t>
            </a:r>
          </a:p>
        </p:txBody>
      </p:sp>
      <p:cxnSp>
        <p:nvCxnSpPr>
          <p:cNvPr id="51" name="Conector de seta reta 50"/>
          <p:cNvCxnSpPr>
            <a:cxnSpLocks noChangeShapeType="1"/>
          </p:cNvCxnSpPr>
          <p:nvPr/>
        </p:nvCxnSpPr>
        <p:spPr bwMode="auto">
          <a:xfrm>
            <a:off x="3703638" y="5110981"/>
            <a:ext cx="428625" cy="1588"/>
          </a:xfrm>
          <a:prstGeom prst="straightConnector1">
            <a:avLst/>
          </a:prstGeom>
          <a:noFill/>
          <a:ln w="9525" algn="ctr">
            <a:solidFill>
              <a:srgbClr val="0070C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Conector de seta reta 51"/>
          <p:cNvCxnSpPr>
            <a:cxnSpLocks noChangeShapeType="1"/>
          </p:cNvCxnSpPr>
          <p:nvPr/>
        </p:nvCxnSpPr>
        <p:spPr bwMode="auto">
          <a:xfrm>
            <a:off x="4146550" y="5110981"/>
            <a:ext cx="971550" cy="1588"/>
          </a:xfrm>
          <a:prstGeom prst="straightConnector1">
            <a:avLst/>
          </a:prstGeom>
          <a:noFill/>
          <a:ln w="9525" algn="ctr">
            <a:solidFill>
              <a:srgbClr val="0070C0"/>
            </a:solidFill>
            <a:prstDash val="sys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" name="Conector de seta reta 52"/>
          <p:cNvCxnSpPr>
            <a:cxnSpLocks noChangeShapeType="1"/>
          </p:cNvCxnSpPr>
          <p:nvPr/>
        </p:nvCxnSpPr>
        <p:spPr bwMode="auto">
          <a:xfrm rot="5400000">
            <a:off x="4806156" y="5424513"/>
            <a:ext cx="612775" cy="1588"/>
          </a:xfrm>
          <a:prstGeom prst="straightConnector1">
            <a:avLst/>
          </a:prstGeom>
          <a:noFill/>
          <a:ln w="9525" algn="ctr">
            <a:solidFill>
              <a:srgbClr val="0070C0"/>
            </a:solidFill>
            <a:prstDash val="sys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" name="CaixaDeTexto 53"/>
          <p:cNvSpPr txBox="1">
            <a:spLocks noChangeArrowheads="1"/>
          </p:cNvSpPr>
          <p:nvPr/>
        </p:nvSpPr>
        <p:spPr bwMode="auto">
          <a:xfrm>
            <a:off x="1311066" y="6297793"/>
            <a:ext cx="59663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 i="1" dirty="0">
                <a:latin typeface="Times New Roman" charset="0"/>
                <a:cs typeface="Times New Roman" charset="0"/>
              </a:rPr>
              <a:t>x</a:t>
            </a:r>
            <a:r>
              <a:rPr lang="pt-BR" altLang="pt-BR" sz="1600" dirty="0">
                <a:latin typeface="Times New Roman" charset="0"/>
                <a:cs typeface="Times New Roman" charset="0"/>
              </a:rPr>
              <a:t> = 2</a:t>
            </a:r>
          </a:p>
        </p:txBody>
      </p:sp>
      <p:grpSp>
        <p:nvGrpSpPr>
          <p:cNvPr id="55" name="Grupo 82"/>
          <p:cNvGrpSpPr>
            <a:grpSpLocks/>
          </p:cNvGrpSpPr>
          <p:nvPr/>
        </p:nvGrpSpPr>
        <p:grpSpPr bwMode="auto">
          <a:xfrm>
            <a:off x="3500438" y="4187056"/>
            <a:ext cx="3214687" cy="2082800"/>
            <a:chOff x="3500430" y="4682696"/>
            <a:chExt cx="3213916" cy="2083822"/>
          </a:xfrm>
        </p:grpSpPr>
        <p:grpSp>
          <p:nvGrpSpPr>
            <p:cNvPr id="56" name="Grupo 44"/>
            <p:cNvGrpSpPr>
              <a:grpSpLocks/>
            </p:cNvGrpSpPr>
            <p:nvPr/>
          </p:nvGrpSpPr>
          <p:grpSpPr bwMode="auto">
            <a:xfrm>
              <a:off x="3735610" y="4682696"/>
              <a:ext cx="2978736" cy="1883024"/>
              <a:chOff x="3735610" y="4682696"/>
              <a:chExt cx="2978736" cy="1883024"/>
            </a:xfrm>
          </p:grpSpPr>
          <p:sp>
            <p:nvSpPr>
              <p:cNvPr id="59" name="Forma livre 11"/>
              <p:cNvSpPr>
                <a:spLocks noChangeArrowheads="1"/>
              </p:cNvSpPr>
              <p:nvPr/>
            </p:nvSpPr>
            <p:spPr bwMode="auto">
              <a:xfrm>
                <a:off x="4137976" y="4795333"/>
                <a:ext cx="2574647" cy="1424273"/>
              </a:xfrm>
              <a:custGeom>
                <a:avLst/>
                <a:gdLst>
                  <a:gd name="T0" fmla="*/ 0 w 2574647"/>
                  <a:gd name="T1" fmla="*/ 1314713 h 1424273"/>
                  <a:gd name="T2" fmla="*/ 429810 w 2574647"/>
                  <a:gd name="T3" fmla="*/ 1318927 h 1424273"/>
                  <a:gd name="T4" fmla="*/ 429810 w 2574647"/>
                  <a:gd name="T5" fmla="*/ 943896 h 1424273"/>
                  <a:gd name="T6" fmla="*/ 859620 w 2574647"/>
                  <a:gd name="T7" fmla="*/ 939683 h 1424273"/>
                  <a:gd name="T8" fmla="*/ 859620 w 2574647"/>
                  <a:gd name="T9" fmla="*/ 450879 h 1424273"/>
                  <a:gd name="T10" fmla="*/ 1289440 w 2574647"/>
                  <a:gd name="T11" fmla="*/ 446665 h 1424273"/>
                  <a:gd name="T12" fmla="*/ 1289440 w 2574647"/>
                  <a:gd name="T13" fmla="*/ 117987 h 1424273"/>
                  <a:gd name="T14" fmla="*/ 1715037 w 2574647"/>
                  <a:gd name="T15" fmla="*/ 117987 h 1424273"/>
                  <a:gd name="T16" fmla="*/ 1715037 w 2574647"/>
                  <a:gd name="T17" fmla="*/ 12641 h 1424273"/>
                  <a:gd name="T18" fmla="*/ 2144837 w 2574647"/>
                  <a:gd name="T19" fmla="*/ 16855 h 1424273"/>
                  <a:gd name="T20" fmla="*/ 2144837 w 2574647"/>
                  <a:gd name="T21" fmla="*/ 0 h 1424273"/>
                  <a:gd name="T22" fmla="*/ 2574647 w 2574647"/>
                  <a:gd name="T23" fmla="*/ 0 h 1424273"/>
                  <a:gd name="T24" fmla="*/ 2574647 w 2574647"/>
                  <a:gd name="T25" fmla="*/ 1424273 h 142427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574647"/>
                  <a:gd name="T40" fmla="*/ 0 h 1424273"/>
                  <a:gd name="T41" fmla="*/ 2574647 w 2574647"/>
                  <a:gd name="T42" fmla="*/ 1424273 h 142427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574647" h="1424273">
                    <a:moveTo>
                      <a:pt x="0" y="1314713"/>
                    </a:moveTo>
                    <a:lnTo>
                      <a:pt x="429810" y="1318927"/>
                    </a:lnTo>
                    <a:lnTo>
                      <a:pt x="429810" y="943896"/>
                    </a:lnTo>
                    <a:lnTo>
                      <a:pt x="859620" y="939683"/>
                    </a:lnTo>
                    <a:lnTo>
                      <a:pt x="859620" y="450879"/>
                    </a:lnTo>
                    <a:lnTo>
                      <a:pt x="1289430" y="446665"/>
                    </a:lnTo>
                    <a:lnTo>
                      <a:pt x="1289430" y="117987"/>
                    </a:lnTo>
                    <a:lnTo>
                      <a:pt x="1715027" y="117987"/>
                    </a:lnTo>
                    <a:lnTo>
                      <a:pt x="1715027" y="12641"/>
                    </a:lnTo>
                    <a:lnTo>
                      <a:pt x="2144837" y="16855"/>
                    </a:lnTo>
                    <a:lnTo>
                      <a:pt x="2144837" y="0"/>
                    </a:lnTo>
                    <a:lnTo>
                      <a:pt x="2574647" y="0"/>
                    </a:lnTo>
                    <a:lnTo>
                      <a:pt x="2574647" y="1424273"/>
                    </a:lnTo>
                  </a:path>
                </a:pathLst>
              </a:cu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grpSp>
            <p:nvGrpSpPr>
              <p:cNvPr id="60" name="Grupo 10"/>
              <p:cNvGrpSpPr>
                <a:grpSpLocks/>
              </p:cNvGrpSpPr>
              <p:nvPr/>
            </p:nvGrpSpPr>
            <p:grpSpPr bwMode="auto">
              <a:xfrm>
                <a:off x="4142578" y="4781848"/>
                <a:ext cx="2571768" cy="1440000"/>
                <a:chOff x="4142578" y="4781848"/>
                <a:chExt cx="2571768" cy="1440000"/>
              </a:xfrm>
            </p:grpSpPr>
            <p:cxnSp>
              <p:nvCxnSpPr>
                <p:cNvPr id="99" name="Conector reto 7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3423372" y="5501054"/>
                  <a:ext cx="1440000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0" name="Conector reto 9"/>
                <p:cNvCxnSpPr>
                  <a:cxnSpLocks noChangeShapeType="1"/>
                </p:cNvCxnSpPr>
                <p:nvPr/>
              </p:nvCxnSpPr>
              <p:spPr bwMode="auto">
                <a:xfrm>
                  <a:off x="4142578" y="6220260"/>
                  <a:ext cx="2571768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61" name="Grupo 21"/>
              <p:cNvGrpSpPr>
                <a:grpSpLocks/>
              </p:cNvGrpSpPr>
              <p:nvPr/>
            </p:nvGrpSpPr>
            <p:grpSpPr bwMode="auto">
              <a:xfrm>
                <a:off x="4071372" y="4797375"/>
                <a:ext cx="72001" cy="1423709"/>
                <a:chOff x="4071372" y="4797375"/>
                <a:chExt cx="72001" cy="1423709"/>
              </a:xfrm>
            </p:grpSpPr>
            <p:cxnSp>
              <p:nvCxnSpPr>
                <p:cNvPr id="93" name="Conector reto 15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4071372" y="5081799"/>
                  <a:ext cx="72000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4" name="Conector reto 16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4071373" y="4797375"/>
                  <a:ext cx="72000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5" name="Conector reto 17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4071372" y="5366223"/>
                  <a:ext cx="72000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6" name="Conector reto 18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4071373" y="5650647"/>
                  <a:ext cx="72000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7" name="Conector reto 19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4071372" y="5935071"/>
                  <a:ext cx="72000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8" name="Conector reto 20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4071372" y="6219496"/>
                  <a:ext cx="72000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62" name="Conector reto 23"/>
              <p:cNvCxnSpPr>
                <a:cxnSpLocks noChangeShapeType="1"/>
              </p:cNvCxnSpPr>
              <p:nvPr/>
            </p:nvCxnSpPr>
            <p:spPr bwMode="auto">
              <a:xfrm rot="5400000">
                <a:off x="4537095" y="6249623"/>
                <a:ext cx="71943" cy="2865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3" name="Conector reto 24"/>
              <p:cNvCxnSpPr>
                <a:cxnSpLocks noChangeShapeType="1"/>
              </p:cNvCxnSpPr>
              <p:nvPr/>
            </p:nvCxnSpPr>
            <p:spPr bwMode="auto">
              <a:xfrm rot="5400000">
                <a:off x="4103700" y="6249622"/>
                <a:ext cx="71943" cy="2865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4" name="Conector reto 25"/>
              <p:cNvCxnSpPr>
                <a:cxnSpLocks noChangeShapeType="1"/>
              </p:cNvCxnSpPr>
              <p:nvPr/>
            </p:nvCxnSpPr>
            <p:spPr bwMode="auto">
              <a:xfrm rot="5400000">
                <a:off x="5392345" y="6249623"/>
                <a:ext cx="71943" cy="2865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5" name="Conector reto 26"/>
              <p:cNvCxnSpPr>
                <a:cxnSpLocks noChangeShapeType="1"/>
              </p:cNvCxnSpPr>
              <p:nvPr/>
            </p:nvCxnSpPr>
            <p:spPr bwMode="auto">
              <a:xfrm rot="5400000">
                <a:off x="5819970" y="6249622"/>
                <a:ext cx="71943" cy="2865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6" name="Conector reto 27"/>
              <p:cNvCxnSpPr>
                <a:cxnSpLocks noChangeShapeType="1"/>
              </p:cNvCxnSpPr>
              <p:nvPr/>
            </p:nvCxnSpPr>
            <p:spPr bwMode="auto">
              <a:xfrm rot="5400000">
                <a:off x="6247595" y="6249623"/>
                <a:ext cx="71943" cy="2865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Conector reto 28"/>
              <p:cNvCxnSpPr>
                <a:cxnSpLocks noChangeShapeType="1"/>
              </p:cNvCxnSpPr>
              <p:nvPr/>
            </p:nvCxnSpPr>
            <p:spPr bwMode="auto">
              <a:xfrm rot="5400000">
                <a:off x="6675219" y="6249623"/>
                <a:ext cx="71943" cy="2865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8" name="Conector reto 29"/>
              <p:cNvCxnSpPr>
                <a:cxnSpLocks noChangeShapeType="1"/>
              </p:cNvCxnSpPr>
              <p:nvPr/>
            </p:nvCxnSpPr>
            <p:spPr bwMode="auto">
              <a:xfrm rot="5400000">
                <a:off x="4964720" y="6249621"/>
                <a:ext cx="71943" cy="2865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9" name="CaixaDeTexto 78"/>
              <p:cNvSpPr txBox="1"/>
              <p:nvPr/>
            </p:nvSpPr>
            <p:spPr>
              <a:xfrm>
                <a:off x="4232092" y="6312271"/>
                <a:ext cx="250765" cy="2541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pt-BR" sz="1050" dirty="0">
                    <a:latin typeface="Times New Roman" pitchFamily="18" charset="0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80" name="CaixaDeTexto 79"/>
              <p:cNvSpPr txBox="1"/>
              <p:nvPr/>
            </p:nvSpPr>
            <p:spPr>
              <a:xfrm>
                <a:off x="4660614" y="6312271"/>
                <a:ext cx="252352" cy="2541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pt-BR" sz="105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81" name="CaixaDeTexto 80"/>
              <p:cNvSpPr txBox="1"/>
              <p:nvPr/>
            </p:nvSpPr>
            <p:spPr>
              <a:xfrm>
                <a:off x="5090724" y="6312271"/>
                <a:ext cx="252351" cy="2541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pt-BR" sz="105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82" name="CaixaDeTexto 81"/>
              <p:cNvSpPr txBox="1"/>
              <p:nvPr/>
            </p:nvSpPr>
            <p:spPr>
              <a:xfrm>
                <a:off x="5519246" y="6312271"/>
                <a:ext cx="252351" cy="2541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pt-BR" sz="1050" dirty="0">
                    <a:latin typeface="Times New Roman" pitchFamily="18" charset="0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83" name="CaixaDeTexto 82"/>
              <p:cNvSpPr txBox="1"/>
              <p:nvPr/>
            </p:nvSpPr>
            <p:spPr>
              <a:xfrm>
                <a:off x="5949355" y="6312271"/>
                <a:ext cx="252352" cy="2541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pt-BR" sz="1050" dirty="0">
                    <a:latin typeface="Times New Roman" pitchFamily="18" charset="0"/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84" name="CaixaDeTexto 83"/>
              <p:cNvSpPr txBox="1"/>
              <p:nvPr/>
            </p:nvSpPr>
            <p:spPr>
              <a:xfrm>
                <a:off x="6379464" y="6312271"/>
                <a:ext cx="252351" cy="2541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pt-BR" sz="1050" dirty="0">
                    <a:latin typeface="Times New Roman" pitchFamily="18" charset="0"/>
                    <a:cs typeface="Times New Roman" pitchFamily="18" charset="0"/>
                  </a:rPr>
                  <a:t>5</a:t>
                </a:r>
              </a:p>
            </p:txBody>
          </p:sp>
          <p:sp>
            <p:nvSpPr>
              <p:cNvPr id="85" name="CaixaDeTexto 84"/>
              <p:cNvSpPr txBox="1"/>
              <p:nvPr/>
            </p:nvSpPr>
            <p:spPr>
              <a:xfrm>
                <a:off x="3735324" y="4682696"/>
                <a:ext cx="352340" cy="2541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pt-BR" sz="1050" dirty="0">
                    <a:latin typeface="Times New Roman" pitchFamily="18" charset="0"/>
                    <a:cs typeface="Times New Roman" pitchFamily="18" charset="0"/>
                  </a:rPr>
                  <a:t>1,0</a:t>
                </a:r>
              </a:p>
            </p:txBody>
          </p:sp>
          <p:sp>
            <p:nvSpPr>
              <p:cNvPr id="88" name="CaixaDeTexto 87"/>
              <p:cNvSpPr txBox="1"/>
              <p:nvPr/>
            </p:nvSpPr>
            <p:spPr>
              <a:xfrm>
                <a:off x="3735324" y="4968586"/>
                <a:ext cx="352340" cy="2541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pt-BR" sz="1050" dirty="0">
                    <a:latin typeface="Times New Roman" pitchFamily="18" charset="0"/>
                    <a:cs typeface="Times New Roman" pitchFamily="18" charset="0"/>
                  </a:rPr>
                  <a:t>0,8</a:t>
                </a:r>
              </a:p>
            </p:txBody>
          </p:sp>
          <p:sp>
            <p:nvSpPr>
              <p:cNvPr id="89" name="CaixaDeTexto 88"/>
              <p:cNvSpPr txBox="1"/>
              <p:nvPr/>
            </p:nvSpPr>
            <p:spPr>
              <a:xfrm>
                <a:off x="3735324" y="5254477"/>
                <a:ext cx="352340" cy="2541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pt-BR" sz="1050" dirty="0">
                    <a:latin typeface="Times New Roman" pitchFamily="18" charset="0"/>
                    <a:cs typeface="Times New Roman" pitchFamily="18" charset="0"/>
                  </a:rPr>
                  <a:t>0,6</a:t>
                </a:r>
              </a:p>
            </p:txBody>
          </p:sp>
          <p:sp>
            <p:nvSpPr>
              <p:cNvPr id="90" name="CaixaDeTexto 89"/>
              <p:cNvSpPr txBox="1"/>
              <p:nvPr/>
            </p:nvSpPr>
            <p:spPr>
              <a:xfrm>
                <a:off x="3735324" y="5541956"/>
                <a:ext cx="352340" cy="2541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pt-BR" sz="1050" dirty="0">
                    <a:latin typeface="Times New Roman" pitchFamily="18" charset="0"/>
                    <a:cs typeface="Times New Roman" pitchFamily="18" charset="0"/>
                  </a:rPr>
                  <a:t>0,4</a:t>
                </a:r>
              </a:p>
            </p:txBody>
          </p:sp>
          <p:sp>
            <p:nvSpPr>
              <p:cNvPr id="91" name="CaixaDeTexto 90"/>
              <p:cNvSpPr txBox="1"/>
              <p:nvPr/>
            </p:nvSpPr>
            <p:spPr>
              <a:xfrm>
                <a:off x="3735324" y="5827846"/>
                <a:ext cx="352340" cy="2541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pt-BR" sz="1050" dirty="0">
                    <a:latin typeface="Times New Roman" pitchFamily="18" charset="0"/>
                    <a:cs typeface="Times New Roman" pitchFamily="18" charset="0"/>
                  </a:rPr>
                  <a:t>0,2</a:t>
                </a:r>
              </a:p>
            </p:txBody>
          </p:sp>
          <p:sp>
            <p:nvSpPr>
              <p:cNvPr id="92" name="CaixaDeTexto 91"/>
              <p:cNvSpPr txBox="1"/>
              <p:nvPr/>
            </p:nvSpPr>
            <p:spPr>
              <a:xfrm>
                <a:off x="3735324" y="6113736"/>
                <a:ext cx="352340" cy="25412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pt-BR" sz="1050" dirty="0">
                    <a:latin typeface="Times New Roman" pitchFamily="18" charset="0"/>
                    <a:cs typeface="Times New Roman" pitchFamily="18" charset="0"/>
                  </a:rPr>
                  <a:t>0,0</a:t>
                </a:r>
              </a:p>
            </p:txBody>
          </p:sp>
        </p:grpSp>
        <p:sp>
          <p:nvSpPr>
            <p:cNvPr id="57" name="Retângulo 80"/>
            <p:cNvSpPr>
              <a:spLocks noChangeArrowheads="1"/>
            </p:cNvSpPr>
            <p:nvPr/>
          </p:nvSpPr>
          <p:spPr bwMode="auto">
            <a:xfrm rot="-5400000">
              <a:off x="3285307" y="5358635"/>
              <a:ext cx="70724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 i="1" dirty="0">
                  <a:latin typeface="Times New Roman" charset="0"/>
                  <a:cs typeface="Times New Roman" charset="0"/>
                </a:rPr>
                <a:t>P</a:t>
              </a:r>
              <a:r>
                <a:rPr lang="pt-BR" altLang="pt-BR" sz="1200" dirty="0">
                  <a:latin typeface="Times New Roman" charset="0"/>
                  <a:cs typeface="Times New Roman" charset="0"/>
                </a:rPr>
                <a:t>(</a:t>
              </a:r>
              <a:r>
                <a:rPr lang="pt-BR" altLang="pt-BR" sz="1200" i="1" dirty="0">
                  <a:latin typeface="Times New Roman" charset="0"/>
                  <a:cs typeface="Times New Roman" charset="0"/>
                </a:rPr>
                <a:t>X</a:t>
              </a:r>
              <a:r>
                <a:rPr lang="pt-BR" altLang="pt-BR" sz="1200" dirty="0">
                  <a:latin typeface="Times New Roman" charset="0"/>
                  <a:cs typeface="Times New Roman" charset="0"/>
                </a:rPr>
                <a:t> </a:t>
              </a:r>
              <a:r>
                <a:rPr lang="pt-BR" altLang="pt-BR" sz="1200" dirty="0">
                  <a:latin typeface="Times New Roman" charset="0"/>
                  <a:cs typeface="Times New Roman" charset="0"/>
                  <a:sym typeface="Symbol" pitchFamily="18" charset="2"/>
                </a:rPr>
                <a:t></a:t>
              </a:r>
              <a:r>
                <a:rPr lang="pt-BR" altLang="pt-BR" sz="1200" dirty="0">
                  <a:latin typeface="Times New Roman" charset="0"/>
                  <a:cs typeface="Times New Roman" charset="0"/>
                </a:rPr>
                <a:t> </a:t>
              </a:r>
              <a:r>
                <a:rPr lang="pt-BR" altLang="pt-BR" sz="1200" i="1" dirty="0">
                  <a:latin typeface="Times New Roman" charset="0"/>
                  <a:cs typeface="Times New Roman" charset="0"/>
                </a:rPr>
                <a:t>x</a:t>
              </a:r>
              <a:r>
                <a:rPr lang="pt-BR" altLang="pt-BR" sz="1200" dirty="0">
                  <a:latin typeface="Times New Roman" charset="0"/>
                  <a:cs typeface="Times New Roman" charset="0"/>
                </a:rPr>
                <a:t>)</a:t>
              </a: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58" name="Retângulo 81"/>
            <p:cNvSpPr>
              <a:spLocks noChangeArrowheads="1"/>
            </p:cNvSpPr>
            <p:nvPr/>
          </p:nvSpPr>
          <p:spPr bwMode="auto">
            <a:xfrm>
              <a:off x="5281958" y="6489519"/>
              <a:ext cx="27924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 i="1" dirty="0">
                  <a:latin typeface="Times New Roman" charset="0"/>
                  <a:cs typeface="Times New Roman" charset="0"/>
                </a:rPr>
                <a:t>X</a:t>
              </a:r>
              <a:endParaRPr lang="pt-BR" altLang="pt-BR" sz="1200" dirty="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101" name="Tabela 1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630445"/>
              </p:ext>
            </p:extLst>
          </p:nvPr>
        </p:nvGraphicFramePr>
        <p:xfrm>
          <a:off x="1763688" y="4952512"/>
          <a:ext cx="648072" cy="853440"/>
        </p:xfrm>
        <a:graphic>
          <a:graphicData uri="http://schemas.openxmlformats.org/drawingml/2006/table">
            <a:tbl>
              <a:tblPr/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95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68,26%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91,30%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98,98%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522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100,00%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tângulo 5"/>
          <p:cNvSpPr/>
          <p:nvPr/>
        </p:nvSpPr>
        <p:spPr bwMode="auto">
          <a:xfrm>
            <a:off x="687913" y="4946502"/>
            <a:ext cx="1728000" cy="2520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7" grpId="0" animBg="1"/>
      <p:bldP spid="49" grpId="0"/>
      <p:bldP spid="54" grpId="0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0952448"/>
              </p:ext>
            </p:extLst>
          </p:nvPr>
        </p:nvGraphicFramePr>
        <p:xfrm>
          <a:off x="3635375" y="4709914"/>
          <a:ext cx="18732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1295400" imgH="393700" progId="">
                  <p:embed/>
                </p:oleObj>
              </mc:Choice>
              <mc:Fallback>
                <p:oleObj name="Equação" r:id="rId2" imgW="1295400" imgH="393700" progId="">
                  <p:embed/>
                  <p:pic>
                    <p:nvPicPr>
                      <p:cNvPr id="3" name="Objeto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4709914"/>
                        <a:ext cx="1873250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to 4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5930196"/>
              </p:ext>
            </p:extLst>
          </p:nvPr>
        </p:nvGraphicFramePr>
        <p:xfrm>
          <a:off x="3619500" y="5354439"/>
          <a:ext cx="11557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799753" imgH="177723" progId="">
                  <p:embed/>
                </p:oleObj>
              </mc:Choice>
              <mc:Fallback>
                <p:oleObj name="Equação" r:id="rId4" imgW="799753" imgH="177723" progId="">
                  <p:embed/>
                  <p:pic>
                    <p:nvPicPr>
                      <p:cNvPr id="41" name="Objeto 40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0" y="5354439"/>
                        <a:ext cx="11557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459685"/>
              </p:ext>
            </p:extLst>
          </p:nvPr>
        </p:nvGraphicFramePr>
        <p:xfrm>
          <a:off x="490538" y="4386064"/>
          <a:ext cx="900112" cy="1736728"/>
        </p:xfrm>
        <a:graphic>
          <a:graphicData uri="http://schemas.openxmlformats.org/drawingml/2006/table">
            <a:tbl>
              <a:tblPr/>
              <a:tblGrid>
                <a:gridCol w="900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u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(0,1)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4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0,4138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4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0,9155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4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0,6218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4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0,3848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4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0,1058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4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0,2763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4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0,3855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4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0,8036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6" name="Tabela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635316"/>
              </p:ext>
            </p:extLst>
          </p:nvPr>
        </p:nvGraphicFramePr>
        <p:xfrm>
          <a:off x="490538" y="4386064"/>
          <a:ext cx="1800226" cy="1736728"/>
        </p:xfrm>
        <a:graphic>
          <a:graphicData uri="http://schemas.openxmlformats.org/drawingml/2006/table">
            <a:tbl>
              <a:tblPr/>
              <a:tblGrid>
                <a:gridCol w="9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u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(0,1)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 ~N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(0,1)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4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0,4138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-0,2177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4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0,9155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1,3753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4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0,6218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0,3101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4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0,3848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-0,2929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4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0,1058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-1,2492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4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0,2763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-0,5938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4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0,3855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-0,2910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4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0,8036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0,8546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7" name="Tabela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651995"/>
              </p:ext>
            </p:extLst>
          </p:nvPr>
        </p:nvGraphicFramePr>
        <p:xfrm>
          <a:off x="490538" y="4386064"/>
          <a:ext cx="2700336" cy="1736728"/>
        </p:xfrm>
        <a:graphic>
          <a:graphicData uri="http://schemas.openxmlformats.org/drawingml/2006/table">
            <a:tbl>
              <a:tblPr/>
              <a:tblGrid>
                <a:gridCol w="900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u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(0,1)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 ~N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(0,1)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 ~N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(10,4)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4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0,4138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-0,2177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9,5645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4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0,9155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1,3753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12,7505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4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0,6218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0,3101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10,6202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4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0,3848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-0,2929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9,4142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4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0,1058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-1,2492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7,5017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4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0,2763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-0,5938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8,8124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4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0,3855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-0,2910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9,4180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4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0,8036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0,8546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11,7092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Geração de Números Aleatórios</a:t>
            </a:r>
          </a:p>
        </p:txBody>
      </p:sp>
      <p:sp>
        <p:nvSpPr>
          <p:cNvPr id="7248" name="CaixaDeTexto 3"/>
          <p:cNvSpPr txBox="1">
            <a:spLocks noChangeArrowheads="1"/>
          </p:cNvSpPr>
          <p:nvPr/>
        </p:nvSpPr>
        <p:spPr bwMode="auto">
          <a:xfrm>
            <a:off x="428625" y="4005064"/>
            <a:ext cx="4286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400" dirty="0">
                <a:latin typeface="Tahoma" panose="020B0604030504040204" pitchFamily="34" charset="0"/>
              </a:rPr>
              <a:t>Sorteio de 8 valores    </a:t>
            </a:r>
            <a:r>
              <a:rPr lang="pt-BR" altLang="pt-BR" sz="1400" i="1" dirty="0">
                <a:latin typeface="Times New Roman" charset="0"/>
                <a:cs typeface="Times New Roman" charset="0"/>
              </a:rPr>
              <a:t>X</a:t>
            </a:r>
            <a:r>
              <a:rPr lang="pt-BR" altLang="pt-BR" sz="1400" dirty="0">
                <a:latin typeface="Tahoma" panose="020B0604030504040204" pitchFamily="34" charset="0"/>
              </a:rPr>
              <a:t> ~ Normal (</a:t>
            </a:r>
            <a:r>
              <a:rPr lang="pt-BR" altLang="pt-BR" sz="1400" i="1" dirty="0">
                <a:latin typeface="Times New Roman" charset="0"/>
                <a:cs typeface="Times New Roman" charset="0"/>
                <a:sym typeface="Symbol" pitchFamily="18" charset="2"/>
              </a:rPr>
              <a:t></a:t>
            </a:r>
            <a:r>
              <a:rPr lang="pt-BR" altLang="pt-BR" sz="1400" dirty="0">
                <a:latin typeface="Times New Roman" charset="0"/>
                <a:cs typeface="Times New Roman" charset="0"/>
              </a:rPr>
              <a:t> = 10</a:t>
            </a:r>
            <a:r>
              <a:rPr lang="pt-BR" altLang="pt-BR" sz="1400" dirty="0">
                <a:latin typeface="Tahoma" panose="020B0604030504040204" pitchFamily="34" charset="0"/>
              </a:rPr>
              <a:t>; </a:t>
            </a:r>
            <a:r>
              <a:rPr lang="pt-BR" altLang="pt-BR" sz="1400" i="1" dirty="0">
                <a:latin typeface="Tahoma" panose="020B0604030504040204" pitchFamily="34" charset="0"/>
                <a:sym typeface="Symbol" pitchFamily="18" charset="2"/>
              </a:rPr>
              <a:t></a:t>
            </a:r>
            <a:r>
              <a:rPr lang="pt-BR" altLang="pt-BR" sz="1400" baseline="30000" dirty="0">
                <a:latin typeface="Times New Roman" charset="0"/>
                <a:cs typeface="Times New Roman" charset="0"/>
                <a:sym typeface="Symbol" pitchFamily="18" charset="2"/>
              </a:rPr>
              <a:t>2</a:t>
            </a:r>
            <a:r>
              <a:rPr lang="pt-BR" altLang="pt-BR" sz="1400" dirty="0">
                <a:latin typeface="Times New Roman" charset="0"/>
                <a:cs typeface="Times New Roman" charset="0"/>
              </a:rPr>
              <a:t> = 4</a:t>
            </a:r>
            <a:r>
              <a:rPr lang="pt-BR" altLang="pt-BR" sz="1400" dirty="0">
                <a:latin typeface="Tahoma" panose="020B0604030504040204" pitchFamily="34" charset="0"/>
              </a:rPr>
              <a:t>)</a:t>
            </a:r>
          </a:p>
        </p:txBody>
      </p:sp>
      <p:grpSp>
        <p:nvGrpSpPr>
          <p:cNvPr id="2" name="Grupo 84"/>
          <p:cNvGrpSpPr>
            <a:grpSpLocks/>
          </p:cNvGrpSpPr>
          <p:nvPr/>
        </p:nvGrpSpPr>
        <p:grpSpPr bwMode="auto">
          <a:xfrm>
            <a:off x="5776913" y="4362252"/>
            <a:ext cx="2867025" cy="1705024"/>
            <a:chOff x="5633296" y="4857760"/>
            <a:chExt cx="2867794" cy="1705328"/>
          </a:xfrm>
        </p:grpSpPr>
        <p:grpSp>
          <p:nvGrpSpPr>
            <p:cNvPr id="7252" name="Grupo 76"/>
            <p:cNvGrpSpPr>
              <a:grpSpLocks/>
            </p:cNvGrpSpPr>
            <p:nvPr/>
          </p:nvGrpSpPr>
          <p:grpSpPr bwMode="auto">
            <a:xfrm>
              <a:off x="5806379" y="4857760"/>
              <a:ext cx="2694711" cy="1509981"/>
              <a:chOff x="5541655" y="4745226"/>
              <a:chExt cx="2694711" cy="1509981"/>
            </a:xfrm>
          </p:grpSpPr>
          <p:sp>
            <p:nvSpPr>
              <p:cNvPr id="7255" name="Forma livre 49"/>
              <p:cNvSpPr>
                <a:spLocks noChangeArrowheads="1"/>
              </p:cNvSpPr>
              <p:nvPr/>
            </p:nvSpPr>
            <p:spPr bwMode="auto">
              <a:xfrm>
                <a:off x="5971784" y="4863230"/>
                <a:ext cx="2142000" cy="1124211"/>
              </a:xfrm>
              <a:custGeom>
                <a:avLst/>
                <a:gdLst>
                  <a:gd name="T0" fmla="*/ 0 w 2129424"/>
                  <a:gd name="T1" fmla="*/ 1124211 h 1124211"/>
                  <a:gd name="T2" fmla="*/ 299119 w 2129424"/>
                  <a:gd name="T3" fmla="*/ 1121080 h 1124211"/>
                  <a:gd name="T4" fmla="*/ 513301 w 2129424"/>
                  <a:gd name="T5" fmla="*/ 1114817 h 1124211"/>
                  <a:gd name="T6" fmla="*/ 605622 w 2129424"/>
                  <a:gd name="T7" fmla="*/ 1105422 h 1124211"/>
                  <a:gd name="T8" fmla="*/ 675786 w 2129424"/>
                  <a:gd name="T9" fmla="*/ 1086633 h 1124211"/>
                  <a:gd name="T10" fmla="*/ 760722 w 2129424"/>
                  <a:gd name="T11" fmla="*/ 1061581 h 1124211"/>
                  <a:gd name="T12" fmla="*/ 853042 w 2129424"/>
                  <a:gd name="T13" fmla="*/ 1014608 h 1124211"/>
                  <a:gd name="T14" fmla="*/ 930588 w 2129424"/>
                  <a:gd name="T15" fmla="*/ 961373 h 1124211"/>
                  <a:gd name="T16" fmla="*/ 989674 w 2129424"/>
                  <a:gd name="T17" fmla="*/ 905006 h 1124211"/>
                  <a:gd name="T18" fmla="*/ 1041372 w 2129424"/>
                  <a:gd name="T19" fmla="*/ 839244 h 1124211"/>
                  <a:gd name="T20" fmla="*/ 1104153 w 2129424"/>
                  <a:gd name="T21" fmla="*/ 767219 h 1124211"/>
                  <a:gd name="T22" fmla="*/ 1170620 w 2129424"/>
                  <a:gd name="T23" fmla="*/ 679537 h 1124211"/>
                  <a:gd name="T24" fmla="*/ 1262944 w 2129424"/>
                  <a:gd name="T25" fmla="*/ 557408 h 1124211"/>
                  <a:gd name="T26" fmla="*/ 1355264 w 2129424"/>
                  <a:gd name="T27" fmla="*/ 429017 h 1124211"/>
                  <a:gd name="T28" fmla="*/ 1443892 w 2129424"/>
                  <a:gd name="T29" fmla="*/ 310019 h 1124211"/>
                  <a:gd name="T30" fmla="*/ 1525130 w 2129424"/>
                  <a:gd name="T31" fmla="*/ 225469 h 1124211"/>
                  <a:gd name="T32" fmla="*/ 1606375 w 2129424"/>
                  <a:gd name="T33" fmla="*/ 147181 h 1124211"/>
                  <a:gd name="T34" fmla="*/ 1698694 w 2129424"/>
                  <a:gd name="T35" fmla="*/ 90814 h 1124211"/>
                  <a:gd name="T36" fmla="*/ 1761474 w 2129424"/>
                  <a:gd name="T37" fmla="*/ 62630 h 1124211"/>
                  <a:gd name="T38" fmla="*/ 1864873 w 2129424"/>
                  <a:gd name="T39" fmla="*/ 28184 h 1124211"/>
                  <a:gd name="T40" fmla="*/ 1971966 w 2129424"/>
                  <a:gd name="T41" fmla="*/ 12526 h 1124211"/>
                  <a:gd name="T42" fmla="*/ 2104906 w 2129424"/>
                  <a:gd name="T43" fmla="*/ 3132 h 1124211"/>
                  <a:gd name="T44" fmla="*/ 2511113 w 2129424"/>
                  <a:gd name="T45" fmla="*/ 0 h 1124211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2129424"/>
                  <a:gd name="T70" fmla="*/ 0 h 1124211"/>
                  <a:gd name="T71" fmla="*/ 2129424 w 2129424"/>
                  <a:gd name="T72" fmla="*/ 1124211 h 1124211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2129424" h="1124211">
                    <a:moveTo>
                      <a:pt x="0" y="1124211"/>
                    </a:moveTo>
                    <a:lnTo>
                      <a:pt x="253652" y="1121080"/>
                    </a:lnTo>
                    <a:cubicBezTo>
                      <a:pt x="314193" y="1118956"/>
                      <a:pt x="374701" y="1114817"/>
                      <a:pt x="435279" y="1114817"/>
                    </a:cubicBezTo>
                    <a:lnTo>
                      <a:pt x="513567" y="1105422"/>
                    </a:lnTo>
                    <a:lnTo>
                      <a:pt x="573065" y="1086633"/>
                    </a:lnTo>
                    <a:lnTo>
                      <a:pt x="645090" y="1061581"/>
                    </a:lnTo>
                    <a:lnTo>
                      <a:pt x="723378" y="1014608"/>
                    </a:lnTo>
                    <a:lnTo>
                      <a:pt x="789139" y="961373"/>
                    </a:lnTo>
                    <a:lnTo>
                      <a:pt x="839243" y="905006"/>
                    </a:lnTo>
                    <a:lnTo>
                      <a:pt x="883084" y="839244"/>
                    </a:lnTo>
                    <a:lnTo>
                      <a:pt x="936320" y="767219"/>
                    </a:lnTo>
                    <a:lnTo>
                      <a:pt x="992687" y="679537"/>
                    </a:lnTo>
                    <a:lnTo>
                      <a:pt x="1070975" y="557408"/>
                    </a:lnTo>
                    <a:lnTo>
                      <a:pt x="1149263" y="429017"/>
                    </a:lnTo>
                    <a:lnTo>
                      <a:pt x="1224419" y="310019"/>
                    </a:lnTo>
                    <a:lnTo>
                      <a:pt x="1293312" y="225469"/>
                    </a:lnTo>
                    <a:lnTo>
                      <a:pt x="1362205" y="147181"/>
                    </a:lnTo>
                    <a:lnTo>
                      <a:pt x="1440493" y="90814"/>
                    </a:lnTo>
                    <a:lnTo>
                      <a:pt x="1493728" y="62630"/>
                    </a:lnTo>
                    <a:lnTo>
                      <a:pt x="1581411" y="28184"/>
                    </a:lnTo>
                    <a:lnTo>
                      <a:pt x="1672224" y="12526"/>
                    </a:lnTo>
                    <a:lnTo>
                      <a:pt x="1784958" y="3132"/>
                    </a:lnTo>
                    <a:lnTo>
                      <a:pt x="2129424" y="0"/>
                    </a:lnTo>
                  </a:path>
                </a:pathLst>
              </a:custGeom>
              <a:noFill/>
              <a:ln w="127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cxnSp>
            <p:nvCxnSpPr>
              <p:cNvPr id="7256" name="Conector reto 51"/>
              <p:cNvCxnSpPr>
                <a:cxnSpLocks noChangeShapeType="1"/>
              </p:cNvCxnSpPr>
              <p:nvPr/>
            </p:nvCxnSpPr>
            <p:spPr bwMode="auto">
              <a:xfrm rot="5400000">
                <a:off x="6480476" y="5425190"/>
                <a:ext cx="1116000" cy="15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257" name="Retângulo 52"/>
              <p:cNvSpPr>
                <a:spLocks noChangeArrowheads="1"/>
              </p:cNvSpPr>
              <p:nvPr/>
            </p:nvSpPr>
            <p:spPr bwMode="auto">
              <a:xfrm>
                <a:off x="5965521" y="4866362"/>
                <a:ext cx="2141950" cy="1124211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grpSp>
            <p:nvGrpSpPr>
              <p:cNvPr id="7258" name="Grupo 59"/>
              <p:cNvGrpSpPr>
                <a:grpSpLocks/>
              </p:cNvGrpSpPr>
              <p:nvPr/>
            </p:nvGrpSpPr>
            <p:grpSpPr bwMode="auto">
              <a:xfrm>
                <a:off x="5965520" y="5991857"/>
                <a:ext cx="2142751" cy="36000"/>
                <a:chOff x="5965521" y="5929330"/>
                <a:chExt cx="2141949" cy="214314"/>
              </a:xfrm>
            </p:grpSpPr>
            <p:cxnSp>
              <p:nvCxnSpPr>
                <p:cNvPr id="7275" name="Conector reto 54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5859158" y="6035693"/>
                  <a:ext cx="21431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276" name="Conector reto 55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6394248" y="6035693"/>
                  <a:ext cx="21431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277" name="Conector reto 56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6929338" y="6035693"/>
                  <a:ext cx="21431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278" name="Conector reto 57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7464428" y="6035693"/>
                  <a:ext cx="21431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279" name="Conector reto 58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7999519" y="6035693"/>
                  <a:ext cx="21431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7259" name="Grupo 60"/>
              <p:cNvGrpSpPr>
                <a:grpSpLocks/>
              </p:cNvGrpSpPr>
              <p:nvPr/>
            </p:nvGrpSpPr>
            <p:grpSpPr bwMode="auto">
              <a:xfrm rot="5400000">
                <a:off x="5383703" y="5410439"/>
                <a:ext cx="1120810" cy="36000"/>
                <a:chOff x="5965521" y="5929330"/>
                <a:chExt cx="2141949" cy="214314"/>
              </a:xfrm>
            </p:grpSpPr>
            <p:cxnSp>
              <p:nvCxnSpPr>
                <p:cNvPr id="7270" name="Conector reto 61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5859158" y="6035693"/>
                  <a:ext cx="21431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271" name="Conector reto 62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6394248" y="6035693"/>
                  <a:ext cx="21431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272" name="Conector reto 63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6929338" y="6035693"/>
                  <a:ext cx="21431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273" name="Conector reto 64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7464428" y="6035693"/>
                  <a:ext cx="21431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274" name="Conector reto 65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7999519" y="6035693"/>
                  <a:ext cx="214314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67" name="CaixaDeTexto 66"/>
              <p:cNvSpPr txBox="1"/>
              <p:nvPr/>
            </p:nvSpPr>
            <p:spPr>
              <a:xfrm>
                <a:off x="5546419" y="5583575"/>
                <a:ext cx="420800" cy="25245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pt-BR" sz="1050" dirty="0">
                    <a:latin typeface="Times New Roman" pitchFamily="18" charset="0"/>
                    <a:cs typeface="Times New Roman" pitchFamily="18" charset="0"/>
                  </a:rPr>
                  <a:t>0,25</a:t>
                </a:r>
              </a:p>
            </p:txBody>
          </p:sp>
          <p:sp>
            <p:nvSpPr>
              <p:cNvPr id="68" name="CaixaDeTexto 67"/>
              <p:cNvSpPr txBox="1"/>
              <p:nvPr/>
            </p:nvSpPr>
            <p:spPr>
              <a:xfrm>
                <a:off x="5614700" y="5869376"/>
                <a:ext cx="352520" cy="25404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pt-BR" sz="1050" dirty="0">
                    <a:latin typeface="Times New Roman" pitchFamily="18" charset="0"/>
                    <a:cs typeface="Times New Roman" pitchFamily="18" charset="0"/>
                  </a:rPr>
                  <a:t>0,0</a:t>
                </a:r>
              </a:p>
            </p:txBody>
          </p:sp>
          <p:sp>
            <p:nvSpPr>
              <p:cNvPr id="69" name="CaixaDeTexto 68"/>
              <p:cNvSpPr txBox="1"/>
              <p:nvPr/>
            </p:nvSpPr>
            <p:spPr>
              <a:xfrm>
                <a:off x="5609936" y="5296186"/>
                <a:ext cx="352520" cy="25404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pt-BR" sz="1050" dirty="0">
                    <a:latin typeface="Times New Roman" pitchFamily="18" charset="0"/>
                    <a:cs typeface="Times New Roman" pitchFamily="18" charset="0"/>
                  </a:rPr>
                  <a:t>0,5</a:t>
                </a:r>
              </a:p>
            </p:txBody>
          </p:sp>
          <p:sp>
            <p:nvSpPr>
              <p:cNvPr id="70" name="CaixaDeTexto 69"/>
              <p:cNvSpPr txBox="1"/>
              <p:nvPr/>
            </p:nvSpPr>
            <p:spPr>
              <a:xfrm>
                <a:off x="5541655" y="5042141"/>
                <a:ext cx="420801" cy="25245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pt-BR" sz="1050" dirty="0">
                    <a:latin typeface="Times New Roman" pitchFamily="18" charset="0"/>
                    <a:cs typeface="Times New Roman" pitchFamily="18" charset="0"/>
                  </a:rPr>
                  <a:t>0,75</a:t>
                </a:r>
              </a:p>
            </p:txBody>
          </p:sp>
          <p:sp>
            <p:nvSpPr>
              <p:cNvPr id="71" name="CaixaDeTexto 70"/>
              <p:cNvSpPr txBox="1"/>
              <p:nvPr/>
            </p:nvSpPr>
            <p:spPr>
              <a:xfrm>
                <a:off x="5619464" y="4745226"/>
                <a:ext cx="352520" cy="25404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pt-BR" sz="1050" dirty="0">
                    <a:latin typeface="Times New Roman" pitchFamily="18" charset="0"/>
                    <a:cs typeface="Times New Roman" pitchFamily="18" charset="0"/>
                  </a:rPr>
                  <a:t>1,0</a:t>
                </a:r>
              </a:p>
            </p:txBody>
          </p:sp>
          <p:sp>
            <p:nvSpPr>
              <p:cNvPr id="72" name="CaixaDeTexto 71"/>
              <p:cNvSpPr txBox="1"/>
              <p:nvPr/>
            </p:nvSpPr>
            <p:spPr>
              <a:xfrm>
                <a:off x="6913623" y="6001162"/>
                <a:ext cx="252481" cy="25404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pt-BR" sz="1050" dirty="0">
                    <a:latin typeface="Times New Roman" pitchFamily="18" charset="0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73" name="CaixaDeTexto 72"/>
              <p:cNvSpPr txBox="1"/>
              <p:nvPr/>
            </p:nvSpPr>
            <p:spPr>
              <a:xfrm>
                <a:off x="7443990" y="6001162"/>
                <a:ext cx="250892" cy="25404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pt-BR" sz="105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74" name="CaixaDeTexto 73"/>
              <p:cNvSpPr txBox="1"/>
              <p:nvPr/>
            </p:nvSpPr>
            <p:spPr>
              <a:xfrm>
                <a:off x="7983885" y="6001162"/>
                <a:ext cx="252481" cy="25404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pt-BR" sz="1050" dirty="0">
                    <a:latin typeface="Times New Roman" pitchFamily="18" charset="0"/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75" name="CaixaDeTexto 74"/>
              <p:cNvSpPr txBox="1"/>
              <p:nvPr/>
            </p:nvSpPr>
            <p:spPr>
              <a:xfrm>
                <a:off x="5824306" y="6001162"/>
                <a:ext cx="295354" cy="25404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pt-BR" sz="1050" dirty="0">
                    <a:latin typeface="Times New Roman" pitchFamily="18" charset="0"/>
                    <a:cs typeface="Times New Roman" pitchFamily="18" charset="0"/>
                  </a:rPr>
                  <a:t>-4</a:t>
                </a:r>
              </a:p>
            </p:txBody>
          </p:sp>
          <p:sp>
            <p:nvSpPr>
              <p:cNvPr id="76" name="CaixaDeTexto 75"/>
              <p:cNvSpPr txBox="1"/>
              <p:nvPr/>
            </p:nvSpPr>
            <p:spPr>
              <a:xfrm>
                <a:off x="6354673" y="6001162"/>
                <a:ext cx="296943" cy="25404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pt-BR" sz="1050" dirty="0">
                    <a:latin typeface="Times New Roman" pitchFamily="18" charset="0"/>
                    <a:cs typeface="Times New Roman" pitchFamily="18" charset="0"/>
                  </a:rPr>
                  <a:t>-2</a:t>
                </a:r>
              </a:p>
            </p:txBody>
          </p:sp>
        </p:grpSp>
        <p:sp>
          <p:nvSpPr>
            <p:cNvPr id="7253" name="Retângulo 82"/>
            <p:cNvSpPr>
              <a:spLocks noChangeArrowheads="1"/>
            </p:cNvSpPr>
            <p:nvPr/>
          </p:nvSpPr>
          <p:spPr bwMode="auto">
            <a:xfrm rot="-5400000">
              <a:off x="5418173" y="5430073"/>
              <a:ext cx="70724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 i="1" dirty="0">
                  <a:latin typeface="Times New Roman" charset="0"/>
                  <a:cs typeface="Times New Roman" charset="0"/>
                </a:rPr>
                <a:t>P</a:t>
              </a:r>
              <a:r>
                <a:rPr lang="pt-BR" altLang="pt-BR" sz="1200" dirty="0">
                  <a:latin typeface="Times New Roman" charset="0"/>
                  <a:cs typeface="Times New Roman" charset="0"/>
                </a:rPr>
                <a:t>(</a:t>
              </a:r>
              <a:r>
                <a:rPr lang="pt-BR" altLang="pt-BR" sz="1200" i="1" dirty="0">
                  <a:latin typeface="Times New Roman" charset="0"/>
                  <a:cs typeface="Times New Roman" charset="0"/>
                </a:rPr>
                <a:t>Z</a:t>
              </a:r>
              <a:r>
                <a:rPr lang="pt-BR" altLang="pt-BR" sz="1200" dirty="0">
                  <a:latin typeface="Times New Roman" charset="0"/>
                  <a:cs typeface="Times New Roman" charset="0"/>
                </a:rPr>
                <a:t> </a:t>
              </a:r>
              <a:r>
                <a:rPr lang="pt-BR" altLang="pt-BR" sz="1200" dirty="0">
                  <a:latin typeface="Times New Roman" charset="0"/>
                  <a:cs typeface="Times New Roman" charset="0"/>
                  <a:sym typeface="Symbol" pitchFamily="18" charset="2"/>
                </a:rPr>
                <a:t></a:t>
              </a:r>
              <a:r>
                <a:rPr lang="pt-BR" altLang="pt-BR" sz="1200" dirty="0">
                  <a:latin typeface="Times New Roman" charset="0"/>
                  <a:cs typeface="Times New Roman" charset="0"/>
                </a:rPr>
                <a:t> </a:t>
              </a:r>
              <a:r>
                <a:rPr lang="pt-BR" altLang="pt-BR" sz="1200" i="1" dirty="0">
                  <a:latin typeface="Times New Roman" charset="0"/>
                  <a:cs typeface="Times New Roman" charset="0"/>
                </a:rPr>
                <a:t>z</a:t>
              </a:r>
              <a:r>
                <a:rPr lang="pt-BR" altLang="pt-BR" sz="1200" dirty="0">
                  <a:latin typeface="Times New Roman" charset="0"/>
                  <a:cs typeface="Times New Roman" charset="0"/>
                </a:rPr>
                <a:t>)</a:t>
              </a: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7254" name="Retângulo 83"/>
            <p:cNvSpPr>
              <a:spLocks noChangeArrowheads="1"/>
            </p:cNvSpPr>
            <p:nvPr/>
          </p:nvSpPr>
          <p:spPr bwMode="auto">
            <a:xfrm>
              <a:off x="7193233" y="6286040"/>
              <a:ext cx="244043" cy="2770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 i="1" dirty="0">
                  <a:latin typeface="Times New Roman" charset="0"/>
                  <a:cs typeface="Times New Roman" charset="0"/>
                </a:rPr>
                <a:t>z</a:t>
              </a:r>
              <a:endParaRPr lang="pt-BR" altLang="pt-BR" sz="1200" dirty="0">
                <a:latin typeface="Tahoma" panose="020B0604030504040204" pitchFamily="34" charset="0"/>
              </a:endParaRPr>
            </a:p>
          </p:txBody>
        </p:sp>
      </p:grp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1CF9C2-5215-4BB8-873B-0F48271A1E33}" type="slidenum">
              <a:rPr lang="pt-BR"/>
              <a:pPr>
                <a:defRPr/>
              </a:pPr>
              <a:t>8</a:t>
            </a:fld>
            <a:endParaRPr lang="pt-BR"/>
          </a:p>
        </p:txBody>
      </p:sp>
      <p:cxnSp>
        <p:nvCxnSpPr>
          <p:cNvPr id="44" name="Conector reto 43"/>
          <p:cNvCxnSpPr/>
          <p:nvPr/>
        </p:nvCxnSpPr>
        <p:spPr bwMode="auto">
          <a:xfrm>
            <a:off x="6410325" y="5158119"/>
            <a:ext cx="936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48" name="Conector reto 47"/>
          <p:cNvCxnSpPr/>
          <p:nvPr/>
        </p:nvCxnSpPr>
        <p:spPr bwMode="auto">
          <a:xfrm rot="5400000">
            <a:off x="7195044" y="5398267"/>
            <a:ext cx="396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8" name="Retângulo 7"/>
          <p:cNvSpPr/>
          <p:nvPr/>
        </p:nvSpPr>
        <p:spPr bwMode="auto">
          <a:xfrm>
            <a:off x="620027" y="4630540"/>
            <a:ext cx="648072" cy="17171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50" name="Retângulo 49"/>
          <p:cNvSpPr/>
          <p:nvPr/>
        </p:nvSpPr>
        <p:spPr bwMode="auto">
          <a:xfrm>
            <a:off x="1503434" y="4630540"/>
            <a:ext cx="648072" cy="17171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45" name="Text Box 38"/>
          <p:cNvSpPr txBox="1">
            <a:spLocks noChangeArrowheads="1"/>
          </p:cNvSpPr>
          <p:nvPr/>
        </p:nvSpPr>
        <p:spPr bwMode="auto">
          <a:xfrm>
            <a:off x="251520" y="1643063"/>
            <a:ext cx="878453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363" indent="-360363"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Procedimento Geral: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AutoNum type="alphaLcParenR"/>
            </a:pPr>
            <a:r>
              <a:rPr lang="pt-BR" altLang="pt-BR" sz="1600" dirty="0">
                <a:latin typeface="Tahoma" panose="020B0604030504040204" pitchFamily="34" charset="0"/>
              </a:rPr>
              <a:t>gera-se um número aleatório de uma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uniforme contínua [0,1],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AutoNum type="alphaLcParenR"/>
            </a:pPr>
            <a:r>
              <a:rPr lang="pt-BR" altLang="pt-BR" sz="1600" dirty="0">
                <a:latin typeface="Tahoma" panose="020B0604030504040204" pitchFamily="34" charset="0"/>
              </a:rPr>
              <a:t>determina-se qual é o menor valor da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desejada cuja probabilidade seja maior ou igual a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AutoNum type="alphaLcParenR"/>
            </a:pPr>
            <a:r>
              <a:rPr lang="pt-BR" altLang="pt-BR" sz="1600" dirty="0">
                <a:latin typeface="Tahoma" panose="020B0604030504040204" pitchFamily="34" charset="0"/>
              </a:rPr>
              <a:t>repete-se os procedimentos a) e b) até que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altLang="pt-BR" sz="1600" dirty="0">
                <a:latin typeface="Tahoma" panose="020B0604030504040204" pitchFamily="34" charset="0"/>
              </a:rPr>
              <a:t> valores tenham sido obtidos</a:t>
            </a:r>
          </a:p>
        </p:txBody>
      </p:sp>
    </p:spTree>
    <p:extLst>
      <p:ext uri="{BB962C8B-B14F-4D97-AF65-F5344CB8AC3E}">
        <p14:creationId xmlns:p14="http://schemas.microsoft.com/office/powerpoint/2010/main" val="3700353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609600"/>
            <a:ext cx="8708776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Distribuições e Números Aleatórios no Excel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10C25D-694E-4D69-B760-91B77C0A78AD}" type="slidenum">
              <a:rPr lang="pt-BR"/>
              <a:pPr>
                <a:defRPr/>
              </a:pPr>
              <a:t>9</a:t>
            </a:fld>
            <a:endParaRPr lang="pt-BR"/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781493"/>
              </p:ext>
            </p:extLst>
          </p:nvPr>
        </p:nvGraphicFramePr>
        <p:xfrm>
          <a:off x="611560" y="1484784"/>
          <a:ext cx="7704859" cy="3821121"/>
        </p:xfrm>
        <a:graphic>
          <a:graphicData uri="http://schemas.openxmlformats.org/drawingml/2006/table">
            <a:tbl>
              <a:tblPr firstRow="1" firstCol="1" bandRow="1"/>
              <a:tblGrid>
                <a:gridCol w="2036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0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0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b="1" dirty="0">
                          <a:effectLst/>
                          <a:latin typeface="Arial"/>
                          <a:ea typeface="Calibri"/>
                          <a:cs typeface="Times New Roman"/>
                        </a:rPr>
                        <a:t>Distribuição</a:t>
                      </a:r>
                      <a:endParaRPr lang="pt-BR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b="1" i="1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pt-BR" sz="1400" b="1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1400" b="1" i="1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1400" b="1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)* </a:t>
                      </a:r>
                      <a:r>
                        <a:rPr lang="pt-BR" sz="1100" b="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cumulativo</a:t>
                      </a:r>
                      <a:r>
                        <a:rPr lang="pt-BR" sz="1100" b="0" baseline="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= 0</a:t>
                      </a:r>
                      <a:endParaRPr lang="pt-BR" sz="1400" b="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b="1" i="1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pt-BR" sz="1400" b="1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1400" b="1" i="1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1400" b="1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kumimoji="0" lang="pt-B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cumulativo = 1</a:t>
                      </a:r>
                      <a:endParaRPr lang="pt-BR" sz="14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b="1" i="1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pt-BR" sz="1400" b="1" baseline="300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pt-BR" sz="1400" b="1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1400" b="1" i="1" dirty="0" err="1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prob</a:t>
                      </a:r>
                      <a:r>
                        <a:rPr lang="pt-BR" sz="1400" b="1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)**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b="1" dirty="0">
                          <a:effectLst/>
                          <a:latin typeface="Arial"/>
                          <a:ea typeface="Calibri"/>
                          <a:cs typeface="Times New Roman"/>
                        </a:rPr>
                        <a:t>Aleatório</a:t>
                      </a:r>
                      <a:endParaRPr lang="pt-BR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Beta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DIST.BETA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DIST.BETA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INV.BETA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Binomial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DISTR.BINOM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DISTR.BINOM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INV.BINOM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Binomial Negativa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DIST.BIN.NEG.N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DIST.BIN.NEG.N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Chi-quadrado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DIST.QUIQUA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DIST.QUIQUA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INV.QUIQUA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Exponencial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DISTR.EXPON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DISTR.EXPON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F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DIST.F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DIST.F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INV.F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Gama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DIST.GAMA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DIST.GAMA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INV.GAMA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Hipergeométrica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DIST.HIPERGEOM.N</a:t>
                      </a: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DIST.HIPERGEOM.N</a:t>
                      </a: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Log Normal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DIST.LOGNORMAL.N</a:t>
                      </a:r>
                      <a:endParaRPr lang="pt-BR" sz="14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DIST.LOGNORMAL.N</a:t>
                      </a:r>
                      <a:endParaRPr lang="pt-BR" sz="14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INV.LOGNORMAL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Normal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DIST.NORM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DIST.NORM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INV.NORM.N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Normal</a:t>
                      </a:r>
                      <a:r>
                        <a:rPr lang="pt-BR" sz="1400" baseline="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 Padrão</a:t>
                      </a:r>
                      <a:endParaRPr lang="pt-BR" sz="14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DIST.NORMP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DIST.NORMP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INV.NORMP.N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Poisson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DIST.POISSON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DIST.POISSON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t de Student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DIST.T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DIST.T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INV.T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Uniforme Contínua [0,1]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ALEATÓRIO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Uniforme Discreta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1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ALEATÓRIOENTRE</a:t>
                      </a: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 err="1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Weibull</a:t>
                      </a:r>
                      <a:endParaRPr lang="pt-BR" sz="14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DIST.WEIBULL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DIST.WEIBULL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8" name="CaixaDeTexto 7"/>
          <p:cNvSpPr txBox="1"/>
          <p:nvPr/>
        </p:nvSpPr>
        <p:spPr>
          <a:xfrm>
            <a:off x="4919376" y="5907868"/>
            <a:ext cx="1742464" cy="702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pt-BR" sz="1400" dirty="0">
                <a:latin typeface="Tahoma" panose="020B0604030504040204" pitchFamily="34" charset="0"/>
                <a:cs typeface="Times New Roman" panose="02020603050405020304" pitchFamily="18" charset="0"/>
              </a:rPr>
              <a:t>**Se </a:t>
            </a:r>
            <a:r>
              <a:rPr lang="pt-BR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1400" dirty="0">
                <a:latin typeface="Tahoma" panose="020B0604030504040204" pitchFamily="34" charset="0"/>
                <a:cs typeface="Times New Roman" panose="02020603050405020304" pitchFamily="18" charset="0"/>
              </a:rPr>
              <a:t>então:  </a:t>
            </a:r>
            <a:r>
              <a:rPr lang="pt-BR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1400" dirty="0">
              <a:latin typeface="Tahoma" panose="020B0604030504040204" pitchFamily="34" charset="0"/>
            </a:endParaRPr>
          </a:p>
        </p:txBody>
      </p:sp>
      <p:grpSp>
        <p:nvGrpSpPr>
          <p:cNvPr id="131072" name="Grupo 131071"/>
          <p:cNvGrpSpPr/>
          <p:nvPr/>
        </p:nvGrpSpPr>
        <p:grpSpPr>
          <a:xfrm>
            <a:off x="6615836" y="5907868"/>
            <a:ext cx="1729665" cy="977516"/>
            <a:chOff x="4704189" y="5832673"/>
            <a:chExt cx="1729665" cy="977516"/>
          </a:xfrm>
        </p:grpSpPr>
        <p:grpSp>
          <p:nvGrpSpPr>
            <p:cNvPr id="9" name="Grupo 84"/>
            <p:cNvGrpSpPr>
              <a:grpSpLocks/>
            </p:cNvGrpSpPr>
            <p:nvPr/>
          </p:nvGrpSpPr>
          <p:grpSpPr bwMode="auto">
            <a:xfrm>
              <a:off x="4704189" y="5832673"/>
              <a:ext cx="1729665" cy="977516"/>
              <a:chOff x="5804059" y="4975764"/>
              <a:chExt cx="2574449" cy="1454811"/>
            </a:xfrm>
          </p:grpSpPr>
          <p:grpSp>
            <p:nvGrpSpPr>
              <p:cNvPr id="10" name="Grupo 76"/>
              <p:cNvGrpSpPr>
                <a:grpSpLocks/>
              </p:cNvGrpSpPr>
              <p:nvPr/>
            </p:nvGrpSpPr>
            <p:grpSpPr bwMode="auto">
              <a:xfrm>
                <a:off x="6190832" y="4975764"/>
                <a:ext cx="2187676" cy="1164627"/>
                <a:chOff x="5926108" y="4863230"/>
                <a:chExt cx="2187676" cy="1164627"/>
              </a:xfrm>
            </p:grpSpPr>
            <p:sp>
              <p:nvSpPr>
                <p:cNvPr id="13" name="Forma livre 49"/>
                <p:cNvSpPr>
                  <a:spLocks noChangeArrowheads="1"/>
                </p:cNvSpPr>
                <p:nvPr/>
              </p:nvSpPr>
              <p:spPr bwMode="auto">
                <a:xfrm>
                  <a:off x="5971784" y="4863230"/>
                  <a:ext cx="2142000" cy="1124211"/>
                </a:xfrm>
                <a:custGeom>
                  <a:avLst/>
                  <a:gdLst>
                    <a:gd name="T0" fmla="*/ 0 w 2129424"/>
                    <a:gd name="T1" fmla="*/ 1124211 h 1124211"/>
                    <a:gd name="T2" fmla="*/ 299119 w 2129424"/>
                    <a:gd name="T3" fmla="*/ 1121080 h 1124211"/>
                    <a:gd name="T4" fmla="*/ 513301 w 2129424"/>
                    <a:gd name="T5" fmla="*/ 1114817 h 1124211"/>
                    <a:gd name="T6" fmla="*/ 605622 w 2129424"/>
                    <a:gd name="T7" fmla="*/ 1105422 h 1124211"/>
                    <a:gd name="T8" fmla="*/ 675786 w 2129424"/>
                    <a:gd name="T9" fmla="*/ 1086633 h 1124211"/>
                    <a:gd name="T10" fmla="*/ 760722 w 2129424"/>
                    <a:gd name="T11" fmla="*/ 1061581 h 1124211"/>
                    <a:gd name="T12" fmla="*/ 853042 w 2129424"/>
                    <a:gd name="T13" fmla="*/ 1014608 h 1124211"/>
                    <a:gd name="T14" fmla="*/ 930588 w 2129424"/>
                    <a:gd name="T15" fmla="*/ 961373 h 1124211"/>
                    <a:gd name="T16" fmla="*/ 989674 w 2129424"/>
                    <a:gd name="T17" fmla="*/ 905006 h 1124211"/>
                    <a:gd name="T18" fmla="*/ 1041372 w 2129424"/>
                    <a:gd name="T19" fmla="*/ 839244 h 1124211"/>
                    <a:gd name="T20" fmla="*/ 1104153 w 2129424"/>
                    <a:gd name="T21" fmla="*/ 767219 h 1124211"/>
                    <a:gd name="T22" fmla="*/ 1170620 w 2129424"/>
                    <a:gd name="T23" fmla="*/ 679537 h 1124211"/>
                    <a:gd name="T24" fmla="*/ 1262944 w 2129424"/>
                    <a:gd name="T25" fmla="*/ 557408 h 1124211"/>
                    <a:gd name="T26" fmla="*/ 1355264 w 2129424"/>
                    <a:gd name="T27" fmla="*/ 429017 h 1124211"/>
                    <a:gd name="T28" fmla="*/ 1443892 w 2129424"/>
                    <a:gd name="T29" fmla="*/ 310019 h 1124211"/>
                    <a:gd name="T30" fmla="*/ 1525130 w 2129424"/>
                    <a:gd name="T31" fmla="*/ 225469 h 1124211"/>
                    <a:gd name="T32" fmla="*/ 1606375 w 2129424"/>
                    <a:gd name="T33" fmla="*/ 147181 h 1124211"/>
                    <a:gd name="T34" fmla="*/ 1698694 w 2129424"/>
                    <a:gd name="T35" fmla="*/ 90814 h 1124211"/>
                    <a:gd name="T36" fmla="*/ 1761474 w 2129424"/>
                    <a:gd name="T37" fmla="*/ 62630 h 1124211"/>
                    <a:gd name="T38" fmla="*/ 1864873 w 2129424"/>
                    <a:gd name="T39" fmla="*/ 28184 h 1124211"/>
                    <a:gd name="T40" fmla="*/ 1971966 w 2129424"/>
                    <a:gd name="T41" fmla="*/ 12526 h 1124211"/>
                    <a:gd name="T42" fmla="*/ 2104906 w 2129424"/>
                    <a:gd name="T43" fmla="*/ 3132 h 1124211"/>
                    <a:gd name="T44" fmla="*/ 2511113 w 2129424"/>
                    <a:gd name="T45" fmla="*/ 0 h 1124211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2129424"/>
                    <a:gd name="T70" fmla="*/ 0 h 1124211"/>
                    <a:gd name="T71" fmla="*/ 2129424 w 2129424"/>
                    <a:gd name="T72" fmla="*/ 1124211 h 1124211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2129424" h="1124211">
                      <a:moveTo>
                        <a:pt x="0" y="1124211"/>
                      </a:moveTo>
                      <a:lnTo>
                        <a:pt x="253652" y="1121080"/>
                      </a:lnTo>
                      <a:cubicBezTo>
                        <a:pt x="314193" y="1118956"/>
                        <a:pt x="374701" y="1114817"/>
                        <a:pt x="435279" y="1114817"/>
                      </a:cubicBezTo>
                      <a:lnTo>
                        <a:pt x="513567" y="1105422"/>
                      </a:lnTo>
                      <a:lnTo>
                        <a:pt x="573065" y="1086633"/>
                      </a:lnTo>
                      <a:lnTo>
                        <a:pt x="645090" y="1061581"/>
                      </a:lnTo>
                      <a:lnTo>
                        <a:pt x="723378" y="1014608"/>
                      </a:lnTo>
                      <a:lnTo>
                        <a:pt x="789139" y="961373"/>
                      </a:lnTo>
                      <a:lnTo>
                        <a:pt x="839243" y="905006"/>
                      </a:lnTo>
                      <a:lnTo>
                        <a:pt x="883084" y="839244"/>
                      </a:lnTo>
                      <a:lnTo>
                        <a:pt x="936320" y="767219"/>
                      </a:lnTo>
                      <a:lnTo>
                        <a:pt x="992687" y="679537"/>
                      </a:lnTo>
                      <a:lnTo>
                        <a:pt x="1070975" y="557408"/>
                      </a:lnTo>
                      <a:lnTo>
                        <a:pt x="1149263" y="429017"/>
                      </a:lnTo>
                      <a:lnTo>
                        <a:pt x="1224419" y="310019"/>
                      </a:lnTo>
                      <a:lnTo>
                        <a:pt x="1293312" y="225469"/>
                      </a:lnTo>
                      <a:lnTo>
                        <a:pt x="1362205" y="147181"/>
                      </a:lnTo>
                      <a:lnTo>
                        <a:pt x="1440493" y="90814"/>
                      </a:lnTo>
                      <a:lnTo>
                        <a:pt x="1493728" y="62630"/>
                      </a:lnTo>
                      <a:lnTo>
                        <a:pt x="1581411" y="28184"/>
                      </a:lnTo>
                      <a:lnTo>
                        <a:pt x="1672224" y="12526"/>
                      </a:lnTo>
                      <a:lnTo>
                        <a:pt x="1784958" y="3132"/>
                      </a:lnTo>
                      <a:lnTo>
                        <a:pt x="2129424" y="0"/>
                      </a:lnTo>
                    </a:path>
                  </a:pathLst>
                </a:custGeom>
                <a:noFill/>
                <a:ln w="12700" algn="ctr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5" name="Retângulo 52"/>
                <p:cNvSpPr>
                  <a:spLocks noChangeArrowheads="1"/>
                </p:cNvSpPr>
                <p:nvPr/>
              </p:nvSpPr>
              <p:spPr bwMode="auto">
                <a:xfrm>
                  <a:off x="5965521" y="4866362"/>
                  <a:ext cx="2141950" cy="1124211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1200" dirty="0">
                    <a:latin typeface="Tahoma" panose="020B0604030504040204" pitchFamily="34" charset="0"/>
                  </a:endParaRPr>
                </a:p>
              </p:txBody>
            </p:sp>
            <p:grpSp>
              <p:nvGrpSpPr>
                <p:cNvPr id="16" name="Grupo 59"/>
                <p:cNvGrpSpPr>
                  <a:grpSpLocks/>
                </p:cNvGrpSpPr>
                <p:nvPr/>
              </p:nvGrpSpPr>
              <p:grpSpPr bwMode="auto">
                <a:xfrm>
                  <a:off x="5965520" y="5991857"/>
                  <a:ext cx="2142751" cy="36000"/>
                  <a:chOff x="5965521" y="5929330"/>
                  <a:chExt cx="2141949" cy="214314"/>
                </a:xfrm>
              </p:grpSpPr>
              <p:cxnSp>
                <p:nvCxnSpPr>
                  <p:cNvPr id="33" name="Conector reto 54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5859158" y="6035693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34" name="Conector reto 55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6394248" y="6035693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35" name="Conector reto 56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6929338" y="6035693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36" name="Conector reto 57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7464428" y="6035693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37" name="Conector reto 58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7999519" y="6035693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grpSp>
              <p:nvGrpSpPr>
                <p:cNvPr id="17" name="Grupo 60"/>
                <p:cNvGrpSpPr>
                  <a:grpSpLocks/>
                </p:cNvGrpSpPr>
                <p:nvPr/>
              </p:nvGrpSpPr>
              <p:grpSpPr bwMode="auto">
                <a:xfrm rot="5400000">
                  <a:off x="5383703" y="5410439"/>
                  <a:ext cx="1120810" cy="36000"/>
                  <a:chOff x="5965521" y="5929330"/>
                  <a:chExt cx="2141949" cy="214314"/>
                </a:xfrm>
              </p:grpSpPr>
              <p:cxnSp>
                <p:nvCxnSpPr>
                  <p:cNvPr id="28" name="Conector reto 61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5859158" y="6035693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29" name="Conector reto 62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6394248" y="6035693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30" name="Conector reto 63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6929338" y="6035693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31" name="Conector reto 64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7464428" y="6035693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32" name="Conector reto 65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7999519" y="6035693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sp>
            <p:nvSpPr>
              <p:cNvPr id="11" name="Retângulo 82"/>
              <p:cNvSpPr>
                <a:spLocks noChangeArrowheads="1"/>
              </p:cNvSpPr>
              <p:nvPr/>
            </p:nvSpPr>
            <p:spPr bwMode="auto">
              <a:xfrm rot="16200000">
                <a:off x="5662844" y="5560900"/>
                <a:ext cx="694717" cy="412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</a:t>
                </a:r>
                <a:endParaRPr lang="pt-BR" altLang="pt-BR" sz="1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Retângulo 83"/>
              <p:cNvSpPr>
                <a:spLocks noChangeArrowheads="1"/>
              </p:cNvSpPr>
              <p:nvPr/>
            </p:nvSpPr>
            <p:spPr bwMode="auto">
              <a:xfrm>
                <a:off x="6999400" y="6018325"/>
                <a:ext cx="377455" cy="412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i="1" dirty="0">
                    <a:latin typeface="Times New Roman" charset="0"/>
                    <a:cs typeface="Times New Roman" charset="0"/>
                  </a:rPr>
                  <a:t>x</a:t>
                </a: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</p:grpSp>
        <p:cxnSp>
          <p:nvCxnSpPr>
            <p:cNvPr id="38" name="Conector reto 37"/>
            <p:cNvCxnSpPr/>
            <p:nvPr/>
          </p:nvCxnSpPr>
          <p:spPr bwMode="auto">
            <a:xfrm>
              <a:off x="4988235" y="6366852"/>
              <a:ext cx="629029" cy="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39" name="Conector reto 38"/>
            <p:cNvCxnSpPr/>
            <p:nvPr/>
          </p:nvCxnSpPr>
          <p:spPr bwMode="auto">
            <a:xfrm flipH="1">
              <a:off x="5617264" y="6369657"/>
              <a:ext cx="1" cy="216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</p:grpSp>
      <p:sp>
        <p:nvSpPr>
          <p:cNvPr id="27" name="CaixaDeTexto 26"/>
          <p:cNvSpPr txBox="1"/>
          <p:nvPr/>
        </p:nvSpPr>
        <p:spPr>
          <a:xfrm>
            <a:off x="611560" y="5757234"/>
            <a:ext cx="4037387" cy="102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4138" indent="-84138" algn="l">
              <a:lnSpc>
                <a:spcPct val="150000"/>
              </a:lnSpc>
            </a:pPr>
            <a:r>
              <a:rPr lang="pt-BR" sz="1400" dirty="0">
                <a:latin typeface="Tahoma" panose="020B0604030504040204" pitchFamily="34" charset="0"/>
                <a:cs typeface="Times New Roman" panose="02020603050405020304" pitchFamily="18" charset="0"/>
              </a:rPr>
              <a:t>*para </a:t>
            </a:r>
            <a:r>
              <a:rPr lang="pt-BR" sz="1400" dirty="0" err="1">
                <a:latin typeface="Tahoma" panose="020B0604030504040204" pitchFamily="34" charset="0"/>
                <a:cs typeface="Times New Roman" panose="02020603050405020304" pitchFamily="18" charset="0"/>
              </a:rPr>
              <a:t>v.a</a:t>
            </a:r>
            <a:r>
              <a:rPr lang="pt-BR" sz="1400" dirty="0">
                <a:latin typeface="Tahoma" panose="020B0604030504040204" pitchFamily="34" charset="0"/>
                <a:cs typeface="Times New Roman" panose="02020603050405020304" pitchFamily="18" charset="0"/>
              </a:rPr>
              <a:t>. contínuas, f(x) representa a Função Densidade de Probabilidade, e só é útil no caso de se “desenhar” a distribuição</a:t>
            </a:r>
            <a:endParaRPr lang="pt-BR" sz="14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07422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609600"/>
            <a:ext cx="8708776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Distribuições e Números Aleatórios no R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10C25D-694E-4D69-B760-91B77C0A78AD}" type="slidenum">
              <a:rPr lang="pt-BR"/>
              <a:pPr>
                <a:defRPr/>
              </a:pPr>
              <a:t>10</a:t>
            </a:fld>
            <a:endParaRPr lang="pt-BR"/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180617"/>
              </p:ext>
            </p:extLst>
          </p:nvPr>
        </p:nvGraphicFramePr>
        <p:xfrm>
          <a:off x="611559" y="1484784"/>
          <a:ext cx="7704858" cy="3902401"/>
        </p:xfrm>
        <a:graphic>
          <a:graphicData uri="http://schemas.openxmlformats.org/drawingml/2006/table">
            <a:tbl>
              <a:tblPr firstRow="1" firstCol="1" bandRow="1"/>
              <a:tblGrid>
                <a:gridCol w="2036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0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0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b="1" dirty="0">
                          <a:effectLst/>
                          <a:latin typeface="Arial"/>
                          <a:ea typeface="Calibri"/>
                          <a:cs typeface="Times New Roman"/>
                        </a:rPr>
                        <a:t>Distribuição</a:t>
                      </a:r>
                      <a:endParaRPr lang="pt-BR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b="1" i="1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pt-BR" sz="1400" b="1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1400" b="1" i="1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1400" b="1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)*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b="1" i="1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pt-BR" sz="1400" b="1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1400" b="1" i="1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pt-BR" sz="1400" b="1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b="1" i="1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pt-BR" sz="1400" b="1" baseline="300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pt-BR" sz="1400" b="1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pt-BR" sz="1400" b="1" i="1" dirty="0" err="1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prob</a:t>
                      </a:r>
                      <a:r>
                        <a:rPr lang="pt-BR" sz="1400" b="1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)**</a:t>
                      </a: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b="1" dirty="0">
                          <a:effectLst/>
                          <a:latin typeface="Arial"/>
                          <a:ea typeface="Calibri"/>
                          <a:cs typeface="Times New Roman"/>
                        </a:rPr>
                        <a:t>Aleatório</a:t>
                      </a:r>
                      <a:endParaRPr lang="pt-BR" sz="14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Beta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dbeta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pbeta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qbeta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rbeta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Binomial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dbinom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pbinom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qbinom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rbinom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Binomial Negativa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dnbinom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pnbinom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qnbinom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rnbinom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Chi-quadrado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dchisq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pchisq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qchisq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rchisq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Exponencial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dexp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pexp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qexp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rexp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F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df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pf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qf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rf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>
                          <a:effectLst/>
                          <a:latin typeface="Arial"/>
                          <a:ea typeface="Calibri"/>
                          <a:cs typeface="Times New Roman"/>
                        </a:rPr>
                        <a:t>Gama</a:t>
                      </a:r>
                      <a:endParaRPr lang="pt-BR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dgamma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pgamma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qgamma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rgamma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Geométrica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dgeom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pgeom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qgeom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rgeom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Hipergeométrica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dhyper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phyper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qhyper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rhyper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Log Normal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dlnorm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plnorm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qlnorm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rlnorm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Logística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dlogis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plogis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qlogis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rlogis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Normal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dnorm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pnorm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qnorm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rnorm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Poisson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dpois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ppois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qpois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rpois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t de Student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dt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pt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qt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rt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Uniforme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dunif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punif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qunif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>
                          <a:effectLst/>
                          <a:latin typeface="Arial"/>
                          <a:ea typeface="Calibri"/>
                          <a:cs typeface="Times New Roman"/>
                        </a:rPr>
                        <a:t>runif</a:t>
                      </a:r>
                      <a:endParaRPr lang="pt-BR" sz="14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 err="1">
                          <a:effectLst/>
                          <a:latin typeface="Arial"/>
                          <a:ea typeface="Calibri"/>
                          <a:cs typeface="Times New Roman"/>
                        </a:rPr>
                        <a:t>Weibull</a:t>
                      </a:r>
                      <a:endParaRPr lang="pt-BR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 err="1">
                          <a:effectLst/>
                          <a:latin typeface="Arial"/>
                          <a:ea typeface="Calibri"/>
                          <a:cs typeface="Times New Roman"/>
                        </a:rPr>
                        <a:t>dweibull</a:t>
                      </a:r>
                      <a:endParaRPr lang="pt-BR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 err="1">
                          <a:effectLst/>
                          <a:latin typeface="Arial"/>
                          <a:ea typeface="Calibri"/>
                          <a:cs typeface="Times New Roman"/>
                        </a:rPr>
                        <a:t>pweibull</a:t>
                      </a:r>
                      <a:endParaRPr lang="pt-BR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 err="1">
                          <a:effectLst/>
                          <a:latin typeface="Arial"/>
                          <a:ea typeface="Calibri"/>
                          <a:cs typeface="Times New Roman"/>
                        </a:rPr>
                        <a:t>qweibull</a:t>
                      </a:r>
                      <a:endParaRPr lang="pt-BR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400" dirty="0" err="1">
                          <a:effectLst/>
                          <a:latin typeface="Arial"/>
                          <a:ea typeface="Calibri"/>
                          <a:cs typeface="Times New Roman"/>
                        </a:rPr>
                        <a:t>rweibull</a:t>
                      </a:r>
                      <a:endParaRPr lang="pt-BR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27" name="CaixaDeTexto 26"/>
          <p:cNvSpPr txBox="1"/>
          <p:nvPr/>
        </p:nvSpPr>
        <p:spPr>
          <a:xfrm>
            <a:off x="4919376" y="5907868"/>
            <a:ext cx="1742464" cy="702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pt-BR" sz="1400" dirty="0">
                <a:latin typeface="Tahoma" panose="020B0604030504040204" pitchFamily="34" charset="0"/>
                <a:cs typeface="Times New Roman" panose="02020603050405020304" pitchFamily="18" charset="0"/>
              </a:rPr>
              <a:t>**Se </a:t>
            </a:r>
            <a:r>
              <a:rPr lang="pt-BR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1400" dirty="0">
                <a:latin typeface="Tahoma" panose="020B0604030504040204" pitchFamily="34" charset="0"/>
                <a:cs typeface="Times New Roman" panose="02020603050405020304" pitchFamily="18" charset="0"/>
              </a:rPr>
              <a:t>então:  </a:t>
            </a:r>
            <a:r>
              <a:rPr lang="pt-BR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t-BR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</a:t>
            </a:r>
            <a:r>
              <a:rPr lang="pt-B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1400" dirty="0">
              <a:latin typeface="Tahoma" panose="020B0604030504040204" pitchFamily="34" charset="0"/>
            </a:endParaRPr>
          </a:p>
        </p:txBody>
      </p:sp>
      <p:grpSp>
        <p:nvGrpSpPr>
          <p:cNvPr id="40" name="Grupo 39"/>
          <p:cNvGrpSpPr/>
          <p:nvPr/>
        </p:nvGrpSpPr>
        <p:grpSpPr>
          <a:xfrm>
            <a:off x="6615836" y="5907868"/>
            <a:ext cx="1729665" cy="977516"/>
            <a:chOff x="4704189" y="5832673"/>
            <a:chExt cx="1729665" cy="977516"/>
          </a:xfrm>
        </p:grpSpPr>
        <p:grpSp>
          <p:nvGrpSpPr>
            <p:cNvPr id="41" name="Grupo 84"/>
            <p:cNvGrpSpPr>
              <a:grpSpLocks/>
            </p:cNvGrpSpPr>
            <p:nvPr/>
          </p:nvGrpSpPr>
          <p:grpSpPr bwMode="auto">
            <a:xfrm>
              <a:off x="4704189" y="5832673"/>
              <a:ext cx="1729665" cy="977516"/>
              <a:chOff x="5804059" y="4975764"/>
              <a:chExt cx="2574449" cy="1454811"/>
            </a:xfrm>
          </p:grpSpPr>
          <p:grpSp>
            <p:nvGrpSpPr>
              <p:cNvPr id="44" name="Grupo 76"/>
              <p:cNvGrpSpPr>
                <a:grpSpLocks/>
              </p:cNvGrpSpPr>
              <p:nvPr/>
            </p:nvGrpSpPr>
            <p:grpSpPr bwMode="auto">
              <a:xfrm>
                <a:off x="6190832" y="4975764"/>
                <a:ext cx="2187676" cy="1164627"/>
                <a:chOff x="5926108" y="4863230"/>
                <a:chExt cx="2187676" cy="1164627"/>
              </a:xfrm>
            </p:grpSpPr>
            <p:sp>
              <p:nvSpPr>
                <p:cNvPr id="47" name="Forma livre 49"/>
                <p:cNvSpPr>
                  <a:spLocks noChangeArrowheads="1"/>
                </p:cNvSpPr>
                <p:nvPr/>
              </p:nvSpPr>
              <p:spPr bwMode="auto">
                <a:xfrm>
                  <a:off x="5971784" y="4863230"/>
                  <a:ext cx="2142000" cy="1124211"/>
                </a:xfrm>
                <a:custGeom>
                  <a:avLst/>
                  <a:gdLst>
                    <a:gd name="T0" fmla="*/ 0 w 2129424"/>
                    <a:gd name="T1" fmla="*/ 1124211 h 1124211"/>
                    <a:gd name="T2" fmla="*/ 299119 w 2129424"/>
                    <a:gd name="T3" fmla="*/ 1121080 h 1124211"/>
                    <a:gd name="T4" fmla="*/ 513301 w 2129424"/>
                    <a:gd name="T5" fmla="*/ 1114817 h 1124211"/>
                    <a:gd name="T6" fmla="*/ 605622 w 2129424"/>
                    <a:gd name="T7" fmla="*/ 1105422 h 1124211"/>
                    <a:gd name="T8" fmla="*/ 675786 w 2129424"/>
                    <a:gd name="T9" fmla="*/ 1086633 h 1124211"/>
                    <a:gd name="T10" fmla="*/ 760722 w 2129424"/>
                    <a:gd name="T11" fmla="*/ 1061581 h 1124211"/>
                    <a:gd name="T12" fmla="*/ 853042 w 2129424"/>
                    <a:gd name="T13" fmla="*/ 1014608 h 1124211"/>
                    <a:gd name="T14" fmla="*/ 930588 w 2129424"/>
                    <a:gd name="T15" fmla="*/ 961373 h 1124211"/>
                    <a:gd name="T16" fmla="*/ 989674 w 2129424"/>
                    <a:gd name="T17" fmla="*/ 905006 h 1124211"/>
                    <a:gd name="T18" fmla="*/ 1041372 w 2129424"/>
                    <a:gd name="T19" fmla="*/ 839244 h 1124211"/>
                    <a:gd name="T20" fmla="*/ 1104153 w 2129424"/>
                    <a:gd name="T21" fmla="*/ 767219 h 1124211"/>
                    <a:gd name="T22" fmla="*/ 1170620 w 2129424"/>
                    <a:gd name="T23" fmla="*/ 679537 h 1124211"/>
                    <a:gd name="T24" fmla="*/ 1262944 w 2129424"/>
                    <a:gd name="T25" fmla="*/ 557408 h 1124211"/>
                    <a:gd name="T26" fmla="*/ 1355264 w 2129424"/>
                    <a:gd name="T27" fmla="*/ 429017 h 1124211"/>
                    <a:gd name="T28" fmla="*/ 1443892 w 2129424"/>
                    <a:gd name="T29" fmla="*/ 310019 h 1124211"/>
                    <a:gd name="T30" fmla="*/ 1525130 w 2129424"/>
                    <a:gd name="T31" fmla="*/ 225469 h 1124211"/>
                    <a:gd name="T32" fmla="*/ 1606375 w 2129424"/>
                    <a:gd name="T33" fmla="*/ 147181 h 1124211"/>
                    <a:gd name="T34" fmla="*/ 1698694 w 2129424"/>
                    <a:gd name="T35" fmla="*/ 90814 h 1124211"/>
                    <a:gd name="T36" fmla="*/ 1761474 w 2129424"/>
                    <a:gd name="T37" fmla="*/ 62630 h 1124211"/>
                    <a:gd name="T38" fmla="*/ 1864873 w 2129424"/>
                    <a:gd name="T39" fmla="*/ 28184 h 1124211"/>
                    <a:gd name="T40" fmla="*/ 1971966 w 2129424"/>
                    <a:gd name="T41" fmla="*/ 12526 h 1124211"/>
                    <a:gd name="T42" fmla="*/ 2104906 w 2129424"/>
                    <a:gd name="T43" fmla="*/ 3132 h 1124211"/>
                    <a:gd name="T44" fmla="*/ 2511113 w 2129424"/>
                    <a:gd name="T45" fmla="*/ 0 h 1124211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2129424"/>
                    <a:gd name="T70" fmla="*/ 0 h 1124211"/>
                    <a:gd name="T71" fmla="*/ 2129424 w 2129424"/>
                    <a:gd name="T72" fmla="*/ 1124211 h 1124211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2129424" h="1124211">
                      <a:moveTo>
                        <a:pt x="0" y="1124211"/>
                      </a:moveTo>
                      <a:lnTo>
                        <a:pt x="253652" y="1121080"/>
                      </a:lnTo>
                      <a:cubicBezTo>
                        <a:pt x="314193" y="1118956"/>
                        <a:pt x="374701" y="1114817"/>
                        <a:pt x="435279" y="1114817"/>
                      </a:cubicBezTo>
                      <a:lnTo>
                        <a:pt x="513567" y="1105422"/>
                      </a:lnTo>
                      <a:lnTo>
                        <a:pt x="573065" y="1086633"/>
                      </a:lnTo>
                      <a:lnTo>
                        <a:pt x="645090" y="1061581"/>
                      </a:lnTo>
                      <a:lnTo>
                        <a:pt x="723378" y="1014608"/>
                      </a:lnTo>
                      <a:lnTo>
                        <a:pt x="789139" y="961373"/>
                      </a:lnTo>
                      <a:lnTo>
                        <a:pt x="839243" y="905006"/>
                      </a:lnTo>
                      <a:lnTo>
                        <a:pt x="883084" y="839244"/>
                      </a:lnTo>
                      <a:lnTo>
                        <a:pt x="936320" y="767219"/>
                      </a:lnTo>
                      <a:lnTo>
                        <a:pt x="992687" y="679537"/>
                      </a:lnTo>
                      <a:lnTo>
                        <a:pt x="1070975" y="557408"/>
                      </a:lnTo>
                      <a:lnTo>
                        <a:pt x="1149263" y="429017"/>
                      </a:lnTo>
                      <a:lnTo>
                        <a:pt x="1224419" y="310019"/>
                      </a:lnTo>
                      <a:lnTo>
                        <a:pt x="1293312" y="225469"/>
                      </a:lnTo>
                      <a:lnTo>
                        <a:pt x="1362205" y="147181"/>
                      </a:lnTo>
                      <a:lnTo>
                        <a:pt x="1440493" y="90814"/>
                      </a:lnTo>
                      <a:lnTo>
                        <a:pt x="1493728" y="62630"/>
                      </a:lnTo>
                      <a:lnTo>
                        <a:pt x="1581411" y="28184"/>
                      </a:lnTo>
                      <a:lnTo>
                        <a:pt x="1672224" y="12526"/>
                      </a:lnTo>
                      <a:lnTo>
                        <a:pt x="1784958" y="3132"/>
                      </a:lnTo>
                      <a:lnTo>
                        <a:pt x="2129424" y="0"/>
                      </a:lnTo>
                    </a:path>
                  </a:pathLst>
                </a:custGeom>
                <a:noFill/>
                <a:ln w="12700" algn="ctr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8" name="Retângulo 52"/>
                <p:cNvSpPr>
                  <a:spLocks noChangeArrowheads="1"/>
                </p:cNvSpPr>
                <p:nvPr/>
              </p:nvSpPr>
              <p:spPr bwMode="auto">
                <a:xfrm>
                  <a:off x="5965521" y="4866362"/>
                  <a:ext cx="2141950" cy="1124211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algn="l"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1200" dirty="0">
                    <a:latin typeface="Tahoma" panose="020B0604030504040204" pitchFamily="34" charset="0"/>
                  </a:endParaRPr>
                </a:p>
              </p:txBody>
            </p:sp>
            <p:grpSp>
              <p:nvGrpSpPr>
                <p:cNvPr id="49" name="Grupo 59"/>
                <p:cNvGrpSpPr>
                  <a:grpSpLocks/>
                </p:cNvGrpSpPr>
                <p:nvPr/>
              </p:nvGrpSpPr>
              <p:grpSpPr bwMode="auto">
                <a:xfrm>
                  <a:off x="5965520" y="5991857"/>
                  <a:ext cx="2142751" cy="36000"/>
                  <a:chOff x="5965521" y="5929330"/>
                  <a:chExt cx="2141949" cy="214314"/>
                </a:xfrm>
              </p:grpSpPr>
              <p:cxnSp>
                <p:nvCxnSpPr>
                  <p:cNvPr id="56" name="Conector reto 54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5859158" y="6035693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7" name="Conector reto 55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6394248" y="6035693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8" name="Conector reto 56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6929338" y="6035693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9" name="Conector reto 57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7464428" y="6035693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60" name="Conector reto 58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7999519" y="6035693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grpSp>
              <p:nvGrpSpPr>
                <p:cNvPr id="50" name="Grupo 60"/>
                <p:cNvGrpSpPr>
                  <a:grpSpLocks/>
                </p:cNvGrpSpPr>
                <p:nvPr/>
              </p:nvGrpSpPr>
              <p:grpSpPr bwMode="auto">
                <a:xfrm rot="5400000">
                  <a:off x="5383703" y="5410439"/>
                  <a:ext cx="1120810" cy="36000"/>
                  <a:chOff x="5965521" y="5929330"/>
                  <a:chExt cx="2141949" cy="214314"/>
                </a:xfrm>
              </p:grpSpPr>
              <p:cxnSp>
                <p:nvCxnSpPr>
                  <p:cNvPr id="51" name="Conector reto 61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5859158" y="6035693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2" name="Conector reto 62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6394248" y="6035693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3" name="Conector reto 63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6929338" y="6035693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4" name="Conector reto 64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7464428" y="6035693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55" name="Conector reto 65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7999519" y="6035693"/>
                    <a:ext cx="214314" cy="1588"/>
                  </a:xfrm>
                  <a:prstGeom prst="line">
                    <a:avLst/>
                  </a:prstGeom>
                  <a:noFill/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</p:grpSp>
          <p:sp>
            <p:nvSpPr>
              <p:cNvPr id="45" name="Retângulo 82"/>
              <p:cNvSpPr>
                <a:spLocks noChangeArrowheads="1"/>
              </p:cNvSpPr>
              <p:nvPr/>
            </p:nvSpPr>
            <p:spPr bwMode="auto">
              <a:xfrm rot="16200000">
                <a:off x="5662844" y="5560900"/>
                <a:ext cx="694717" cy="412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</a:t>
                </a:r>
                <a:endParaRPr lang="pt-BR" altLang="pt-BR" sz="1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Retângulo 83"/>
              <p:cNvSpPr>
                <a:spLocks noChangeArrowheads="1"/>
              </p:cNvSpPr>
              <p:nvPr/>
            </p:nvSpPr>
            <p:spPr bwMode="auto">
              <a:xfrm>
                <a:off x="6999400" y="6018325"/>
                <a:ext cx="377455" cy="412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i="1" dirty="0">
                    <a:latin typeface="Times New Roman" charset="0"/>
                    <a:cs typeface="Times New Roman" charset="0"/>
                  </a:rPr>
                  <a:t>x</a:t>
                </a: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</p:grpSp>
        <p:cxnSp>
          <p:nvCxnSpPr>
            <p:cNvPr id="42" name="Conector reto 41"/>
            <p:cNvCxnSpPr/>
            <p:nvPr/>
          </p:nvCxnSpPr>
          <p:spPr bwMode="auto">
            <a:xfrm>
              <a:off x="4988235" y="6366852"/>
              <a:ext cx="629029" cy="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43" name="Conector reto 42"/>
            <p:cNvCxnSpPr/>
            <p:nvPr/>
          </p:nvCxnSpPr>
          <p:spPr bwMode="auto">
            <a:xfrm flipH="1">
              <a:off x="5617264" y="6369657"/>
              <a:ext cx="1" cy="2160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</p:grpSp>
      <p:sp>
        <p:nvSpPr>
          <p:cNvPr id="61" name="CaixaDeTexto 60"/>
          <p:cNvSpPr txBox="1"/>
          <p:nvPr/>
        </p:nvSpPr>
        <p:spPr>
          <a:xfrm>
            <a:off x="611560" y="5757234"/>
            <a:ext cx="4037387" cy="102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4138" indent="-84138" algn="l">
              <a:lnSpc>
                <a:spcPct val="150000"/>
              </a:lnSpc>
            </a:pPr>
            <a:r>
              <a:rPr lang="pt-BR" sz="1400" dirty="0">
                <a:latin typeface="Tahoma" panose="020B0604030504040204" pitchFamily="34" charset="0"/>
                <a:cs typeface="Times New Roman" panose="02020603050405020304" pitchFamily="18" charset="0"/>
              </a:rPr>
              <a:t>*para </a:t>
            </a:r>
            <a:r>
              <a:rPr lang="pt-BR" sz="1400" dirty="0" err="1">
                <a:latin typeface="Tahoma" panose="020B0604030504040204" pitchFamily="34" charset="0"/>
                <a:cs typeface="Times New Roman" panose="02020603050405020304" pitchFamily="18" charset="0"/>
              </a:rPr>
              <a:t>v.a</a:t>
            </a:r>
            <a:r>
              <a:rPr lang="pt-BR" sz="1400" dirty="0">
                <a:latin typeface="Tahoma" panose="020B0604030504040204" pitchFamily="34" charset="0"/>
                <a:cs typeface="Times New Roman" panose="02020603050405020304" pitchFamily="18" charset="0"/>
              </a:rPr>
              <a:t>. contínuas, f(x) representa a Função Densidade de Probabilidade, e só é útil no caso de se “desenhar” a distribuição</a:t>
            </a:r>
            <a:endParaRPr lang="pt-BR" sz="14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37787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Avaliação das Simulações</a:t>
            </a:r>
          </a:p>
        </p:txBody>
      </p:sp>
      <p:sp>
        <p:nvSpPr>
          <p:cNvPr id="42" name="Text Box 38"/>
          <p:cNvSpPr txBox="1">
            <a:spLocks noChangeArrowheads="1"/>
          </p:cNvSpPr>
          <p:nvPr/>
        </p:nvSpPr>
        <p:spPr bwMode="auto">
          <a:xfrm>
            <a:off x="357188" y="1406381"/>
            <a:ext cx="8215312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4625" indent="-174625"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631825" indent="-174625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Estimação da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Função de Probabilidade  </a:t>
            </a:r>
            <a:r>
              <a:rPr lang="pt-BR" altLang="pt-BR" sz="1600" dirty="0">
                <a:latin typeface="Tahoma" panose="020B0604030504040204" pitchFamily="34" charset="0"/>
              </a:rPr>
              <a:t>através das frequências relativas observadas (variáveis discretas) ou da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Função de Probabilidade Acumulada</a:t>
            </a:r>
            <a:r>
              <a:rPr lang="pt-BR" altLang="pt-BR" sz="1600" dirty="0">
                <a:latin typeface="Tahoma" panose="020B0604030504040204" pitchFamily="34" charset="0"/>
              </a:rPr>
              <a:t> (variáveis discretas e contínuas)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histogramas e gráficos de frequência acumulada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Métricas de tendência central e de dispersão: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média, desvio padrão, mediana, </a:t>
            </a:r>
            <a:r>
              <a:rPr lang="pt-BR" altLang="pt-BR" sz="1600" dirty="0" err="1">
                <a:latin typeface="Tahoma" panose="020B0604030504040204" pitchFamily="34" charset="0"/>
              </a:rPr>
              <a:t>quantis</a:t>
            </a:r>
            <a:r>
              <a:rPr lang="pt-BR" altLang="pt-BR" sz="1600" dirty="0">
                <a:latin typeface="Tahoma" panose="020B0604030504040204" pitchFamily="34" charset="0"/>
              </a:rPr>
              <a:t>, amplitude, mínimo/máximo, </a:t>
            </a:r>
            <a:r>
              <a:rPr lang="pt-BR" altLang="pt-BR" sz="1600" dirty="0" err="1">
                <a:latin typeface="Tahoma" panose="020B0604030504040204" pitchFamily="34" charset="0"/>
              </a:rPr>
              <a:t>etc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Intervalos de Credibilidade (não confundir com intervalos de confiança!)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pt-BR" altLang="pt-BR" sz="1600" dirty="0">
                <a:latin typeface="Tahoma" panose="020B0604030504040204" pitchFamily="34" charset="0"/>
              </a:rPr>
              <a:t>Box-</a:t>
            </a:r>
            <a:r>
              <a:rPr lang="pt-BR" altLang="pt-BR" sz="1600" dirty="0" err="1">
                <a:latin typeface="Tahoma" panose="020B0604030504040204" pitchFamily="34" charset="0"/>
              </a:rPr>
              <a:t>plot</a:t>
            </a:r>
            <a:endParaRPr lang="pt-BR" altLang="pt-BR" sz="1600" dirty="0">
              <a:latin typeface="Tahoma" panose="020B0604030504040204" pitchFamily="34" charset="0"/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mediana, 1</a:t>
            </a:r>
            <a:r>
              <a:rPr lang="pt-BR" altLang="pt-BR" sz="1600" u="sng" baseline="30000" dirty="0">
                <a:latin typeface="Tahoma" panose="020B0604030504040204" pitchFamily="34" charset="0"/>
              </a:rPr>
              <a:t>o</a:t>
            </a:r>
            <a:r>
              <a:rPr lang="pt-BR" altLang="pt-BR" sz="1600" dirty="0">
                <a:latin typeface="Tahoma" panose="020B0604030504040204" pitchFamily="34" charset="0"/>
              </a:rPr>
              <a:t> e 3</a:t>
            </a:r>
            <a:r>
              <a:rPr lang="pt-BR" altLang="pt-BR" sz="1600" u="sng" baseline="30000" dirty="0">
                <a:latin typeface="Tahoma" panose="020B0604030504040204" pitchFamily="34" charset="0"/>
              </a:rPr>
              <a:t>o</a:t>
            </a:r>
            <a:r>
              <a:rPr lang="pt-BR" altLang="pt-BR" sz="1600" dirty="0">
                <a:latin typeface="Tahoma" panose="020B0604030504040204" pitchFamily="34" charset="0"/>
              </a:rPr>
              <a:t> quartis e valores extremos (</a:t>
            </a:r>
            <a:r>
              <a:rPr lang="pt-BR" altLang="pt-BR" sz="1600" i="1" dirty="0" err="1">
                <a:latin typeface="Tahoma" panose="020B0604030504040204" pitchFamily="34" charset="0"/>
              </a:rPr>
              <a:t>outliers</a:t>
            </a:r>
            <a:r>
              <a:rPr lang="pt-BR" altLang="pt-BR" sz="1600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48FD5E-B251-44A4-9432-EA1F40BC6792}" type="slidenum">
              <a:rPr lang="pt-BR"/>
              <a:pPr>
                <a:defRPr/>
              </a:pPr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0919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Histograma</a:t>
            </a:r>
          </a:p>
        </p:txBody>
      </p:sp>
      <p:sp>
        <p:nvSpPr>
          <p:cNvPr id="118808" name="Text Box 24"/>
          <p:cNvSpPr txBox="1">
            <a:spLocks noChangeArrowheads="1"/>
          </p:cNvSpPr>
          <p:nvPr/>
        </p:nvSpPr>
        <p:spPr bwMode="auto">
          <a:xfrm>
            <a:off x="467544" y="1523380"/>
            <a:ext cx="7987439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7800" indent="-177800" algn="l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Muito utilizado para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discretas e indica a frequência absoluta ou relativa de cada valor observado na amostra. Recomenda-se que não haja espaços entre as colunas para que o histograma não seja confundido com um gráfico de barras.</a:t>
            </a:r>
          </a:p>
          <a:p>
            <a:pPr marL="177800" indent="-177800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marL="177800" indent="-177800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 simulação de 500 valores de uma </a:t>
            </a:r>
            <a:r>
              <a:rPr lang="pt-BR" altLang="pt-BR" sz="1600" dirty="0" err="1">
                <a:latin typeface="Tahoma" panose="020B0604030504040204" pitchFamily="34" charset="0"/>
              </a:rPr>
              <a:t>v.a.</a:t>
            </a:r>
            <a:r>
              <a:rPr lang="pt-BR" altLang="pt-BR" sz="1600" dirty="0">
                <a:latin typeface="Tahoma" panose="020B0604030504040204" pitchFamily="34" charset="0"/>
              </a:rPr>
              <a:t> discreta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 [0, 10].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05F644-4770-4EA1-B73B-89DC686A7537}" type="slidenum">
              <a:rPr lang="pt-BR"/>
              <a:pPr>
                <a:defRPr/>
              </a:pPr>
              <a:t>12</a:t>
            </a:fld>
            <a:endParaRPr lang="pt-BR"/>
          </a:p>
        </p:txBody>
      </p:sp>
      <p:pic>
        <p:nvPicPr>
          <p:cNvPr id="8090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664" y="2903037"/>
            <a:ext cx="2916832" cy="175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90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7496" y="2903037"/>
            <a:ext cx="2916832" cy="175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 Box 24"/>
          <p:cNvSpPr txBox="1">
            <a:spLocks noChangeArrowheads="1"/>
          </p:cNvSpPr>
          <p:nvPr/>
        </p:nvSpPr>
        <p:spPr bwMode="auto">
          <a:xfrm>
            <a:off x="467544" y="4667652"/>
            <a:ext cx="798743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7800" indent="-177800" algn="l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Para </a:t>
            </a:r>
            <a:r>
              <a:rPr lang="pt-BR" altLang="pt-BR" sz="1600" dirty="0" err="1">
                <a:latin typeface="Tahoma" panose="020B0604030504040204" pitchFamily="34" charset="0"/>
              </a:rPr>
              <a:t>v.a</a:t>
            </a:r>
            <a:r>
              <a:rPr lang="pt-BR" altLang="pt-BR" sz="1600" dirty="0">
                <a:latin typeface="Tahoma" panose="020B0604030504040204" pitchFamily="34" charset="0"/>
              </a:rPr>
              <a:t>. contínuas, é necessário dividir os dados em classes com intervalos regulares ou não. A definição do número e da largura dos intervalos é fundamental para a boa representação da distribuição amostral. No entanto, esta definição é bastante arbitrária, dependendo basicamente do tamanho e da variação encontrada na amostra. Para isso, muitas fórmulas são encontradas na literatura (p.ex. </a:t>
            </a:r>
            <a:r>
              <a:rPr lang="pt-BR" altLang="pt-BR" sz="1600" dirty="0" err="1">
                <a:latin typeface="Tahoma" panose="020B0604030504040204" pitchFamily="34" charset="0"/>
              </a:rPr>
              <a:t>Sturges</a:t>
            </a:r>
            <a:r>
              <a:rPr lang="pt-BR" altLang="pt-BR" sz="1600" dirty="0">
                <a:latin typeface="Tahoma" panose="020B0604030504040204" pitchFamily="34" charset="0"/>
              </a:rPr>
              <a:t>, Rice, </a:t>
            </a:r>
            <a:r>
              <a:rPr lang="pt-BR" altLang="pt-BR" sz="1600" dirty="0" err="1">
                <a:latin typeface="Tahoma" panose="020B0604030504040204" pitchFamily="34" charset="0"/>
              </a:rPr>
              <a:t>Doane</a:t>
            </a:r>
            <a:r>
              <a:rPr lang="pt-BR" altLang="pt-BR" sz="1600" dirty="0">
                <a:latin typeface="Tahoma" panose="020B0604030504040204" pitchFamily="34" charset="0"/>
              </a:rPr>
              <a:t>, Scott e </a:t>
            </a:r>
            <a:r>
              <a:rPr lang="pt-BR" altLang="pt-BR" sz="1600" dirty="0" err="1">
                <a:latin typeface="Tahoma" panose="020B0604030504040204" pitchFamily="34" charset="0"/>
              </a:rPr>
              <a:t>Freedman-Diaconi</a:t>
            </a:r>
            <a:r>
              <a:rPr lang="pt-BR" altLang="pt-BR" sz="1600" dirty="0">
                <a:latin typeface="Tahoma" panose="020B060403050404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93902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08" grpId="0" build="p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3405456"/>
            <a:ext cx="3279600" cy="1967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Frequência Acumulada</a:t>
            </a:r>
          </a:p>
        </p:txBody>
      </p:sp>
      <p:sp>
        <p:nvSpPr>
          <p:cNvPr id="118808" name="Text Box 24"/>
          <p:cNvSpPr txBox="1">
            <a:spLocks noChangeArrowheads="1"/>
          </p:cNvSpPr>
          <p:nvPr/>
        </p:nvSpPr>
        <p:spPr bwMode="auto">
          <a:xfrm>
            <a:off x="467544" y="1527177"/>
            <a:ext cx="798743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7800" indent="-177800" algn="l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É uma alternativa bastante utilizada para representar a distribuição de valores simulados de </a:t>
            </a:r>
            <a:r>
              <a:rPr lang="pt-BR" altLang="pt-BR" sz="1600" dirty="0" err="1">
                <a:latin typeface="Tahoma" panose="020B0604030504040204" pitchFamily="34" charset="0"/>
              </a:rPr>
              <a:t>v.a.</a:t>
            </a:r>
            <a:r>
              <a:rPr lang="pt-BR" altLang="pt-BR" sz="1600" dirty="0">
                <a:latin typeface="Tahoma" panose="020B0604030504040204" pitchFamily="34" charset="0"/>
              </a:rPr>
              <a:t> contínuas pois não requer a discretização em classes de faixas de valores como no histograma. Além disso, pode ser usada para identificar rapidamente a mediana e </a:t>
            </a:r>
            <a:r>
              <a:rPr lang="pt-BR" altLang="pt-BR" sz="1600" dirty="0" err="1">
                <a:latin typeface="Tahoma" panose="020B0604030504040204" pitchFamily="34" charset="0"/>
              </a:rPr>
              <a:t>quantis</a:t>
            </a:r>
            <a:r>
              <a:rPr lang="pt-BR" altLang="pt-BR" sz="1600" dirty="0">
                <a:latin typeface="Tahoma" panose="020B0604030504040204" pitchFamily="34" charset="0"/>
              </a:rPr>
              <a:t>.</a:t>
            </a:r>
          </a:p>
          <a:p>
            <a:pPr marL="177800" indent="-177800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marL="177800" indent="-177800" eaLnBrk="1" hangingPunct="1">
              <a:spcBef>
                <a:spcPct val="0"/>
              </a:spcBef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Exemplo: simulação de 50 valores de uma </a:t>
            </a:r>
            <a:r>
              <a:rPr lang="pt-BR" altLang="pt-BR" sz="1600" dirty="0" err="1">
                <a:latin typeface="Tahoma" panose="020B0604030504040204" pitchFamily="34" charset="0"/>
              </a:rPr>
              <a:t>v.a.</a:t>
            </a:r>
            <a:r>
              <a:rPr lang="pt-BR" altLang="pt-BR" sz="1600" dirty="0">
                <a:latin typeface="Tahoma" panose="020B0604030504040204" pitchFamily="34" charset="0"/>
              </a:rPr>
              <a:t> contínua </a:t>
            </a:r>
            <a:r>
              <a:rPr lang="pt-BR" altLang="pt-BR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t-BR" altLang="pt-BR" sz="1600" dirty="0">
                <a:latin typeface="Tahoma" panose="020B0604030504040204" pitchFamily="34" charset="0"/>
              </a:rPr>
              <a:t>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05F644-4770-4EA1-B73B-89DC686A7537}" type="slidenum">
              <a:rPr lang="pt-BR"/>
              <a:pPr>
                <a:defRPr/>
              </a:pPr>
              <a:t>13</a:t>
            </a:fld>
            <a:endParaRPr lang="pt-BR"/>
          </a:p>
        </p:txBody>
      </p:sp>
      <p:sp>
        <p:nvSpPr>
          <p:cNvPr id="6" name="Text Box 24"/>
          <p:cNvSpPr txBox="1">
            <a:spLocks noChangeArrowheads="1"/>
          </p:cNvSpPr>
          <p:nvPr/>
        </p:nvSpPr>
        <p:spPr bwMode="auto">
          <a:xfrm>
            <a:off x="467544" y="5622339"/>
            <a:ext cx="798743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7800" indent="-177800" algn="l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É muito útil na comparação com distribuições teóricas mas requer um certo “treinamento” para enxergar as características peculiares de cada distribuição como assimetrias e valores raros, por exemplo.</a:t>
            </a:r>
          </a:p>
        </p:txBody>
      </p:sp>
      <p:grpSp>
        <p:nvGrpSpPr>
          <p:cNvPr id="2" name="Grupo 6"/>
          <p:cNvGrpSpPr/>
          <p:nvPr/>
        </p:nvGrpSpPr>
        <p:grpSpPr>
          <a:xfrm>
            <a:off x="3244996" y="4055749"/>
            <a:ext cx="1404000" cy="898408"/>
            <a:chOff x="3244996" y="3763920"/>
            <a:chExt cx="1404000" cy="898408"/>
          </a:xfrm>
        </p:grpSpPr>
        <p:cxnSp>
          <p:nvCxnSpPr>
            <p:cNvPr id="3" name="Conector de seta reta 2"/>
            <p:cNvCxnSpPr/>
            <p:nvPr/>
          </p:nvCxnSpPr>
          <p:spPr>
            <a:xfrm>
              <a:off x="3244996" y="3946772"/>
              <a:ext cx="1404000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de seta reta 8"/>
            <p:cNvCxnSpPr/>
            <p:nvPr/>
          </p:nvCxnSpPr>
          <p:spPr>
            <a:xfrm rot="5400000">
              <a:off x="4284008" y="4302328"/>
              <a:ext cx="720000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CaixaDeTexto 4"/>
            <p:cNvSpPr txBox="1"/>
            <p:nvPr/>
          </p:nvSpPr>
          <p:spPr>
            <a:xfrm>
              <a:off x="3607328" y="3763920"/>
              <a:ext cx="6158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Tahoma" panose="020B0604030504040204" pitchFamily="34" charset="0"/>
                </a:rPr>
                <a:t>mediana</a:t>
              </a:r>
            </a:p>
          </p:txBody>
        </p:sp>
      </p:grpSp>
      <p:grpSp>
        <p:nvGrpSpPr>
          <p:cNvPr id="7" name="Grupo 11"/>
          <p:cNvGrpSpPr/>
          <p:nvPr/>
        </p:nvGrpSpPr>
        <p:grpSpPr>
          <a:xfrm>
            <a:off x="3244996" y="4420852"/>
            <a:ext cx="1116000" cy="538408"/>
            <a:chOff x="3244996" y="3763920"/>
            <a:chExt cx="1116000" cy="538408"/>
          </a:xfrm>
        </p:grpSpPr>
        <p:cxnSp>
          <p:nvCxnSpPr>
            <p:cNvPr id="13" name="Conector de seta reta 12"/>
            <p:cNvCxnSpPr/>
            <p:nvPr/>
          </p:nvCxnSpPr>
          <p:spPr>
            <a:xfrm>
              <a:off x="3244996" y="3946772"/>
              <a:ext cx="1116000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/>
            <p:cNvCxnSpPr/>
            <p:nvPr/>
          </p:nvCxnSpPr>
          <p:spPr>
            <a:xfrm rot="5400000">
              <a:off x="4180548" y="4122328"/>
              <a:ext cx="360000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aixaDeTexto 14"/>
            <p:cNvSpPr txBox="1"/>
            <p:nvPr/>
          </p:nvSpPr>
          <p:spPr>
            <a:xfrm>
              <a:off x="3626564" y="3763920"/>
              <a:ext cx="64633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Tahoma" panose="020B0604030504040204" pitchFamily="34" charset="0"/>
                </a:rPr>
                <a:t>1</a:t>
              </a:r>
              <a:r>
                <a:rPr lang="pt-BR" sz="900" u="sng" baseline="30000" dirty="0">
                  <a:latin typeface="Tahoma" panose="020B0604030504040204" pitchFamily="34" charset="0"/>
                </a:rPr>
                <a:t>o</a:t>
              </a:r>
              <a:r>
                <a:rPr lang="pt-BR" sz="900" dirty="0">
                  <a:latin typeface="Tahoma" panose="020B0604030504040204" pitchFamily="34" charset="0"/>
                </a:rPr>
                <a:t> quartil</a:t>
              </a:r>
            </a:p>
          </p:txBody>
        </p:sp>
      </p:grpSp>
      <p:grpSp>
        <p:nvGrpSpPr>
          <p:cNvPr id="8" name="Grupo 16"/>
          <p:cNvGrpSpPr/>
          <p:nvPr/>
        </p:nvGrpSpPr>
        <p:grpSpPr>
          <a:xfrm>
            <a:off x="3239296" y="3691177"/>
            <a:ext cx="1593304" cy="1258408"/>
            <a:chOff x="3244996" y="3763920"/>
            <a:chExt cx="1593304" cy="1258408"/>
          </a:xfrm>
        </p:grpSpPr>
        <p:cxnSp>
          <p:nvCxnSpPr>
            <p:cNvPr id="18" name="Conector de seta reta 17"/>
            <p:cNvCxnSpPr/>
            <p:nvPr/>
          </p:nvCxnSpPr>
          <p:spPr>
            <a:xfrm>
              <a:off x="3244996" y="3946772"/>
              <a:ext cx="1584000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/>
            <p:nvPr/>
          </p:nvCxnSpPr>
          <p:spPr>
            <a:xfrm rot="5400000">
              <a:off x="4298300" y="4482328"/>
              <a:ext cx="1080000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aixaDeTexto 19"/>
            <p:cNvSpPr txBox="1"/>
            <p:nvPr/>
          </p:nvSpPr>
          <p:spPr>
            <a:xfrm>
              <a:off x="3626564" y="3763920"/>
              <a:ext cx="64633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Tahoma" panose="020B0604030504040204" pitchFamily="34" charset="0"/>
                </a:rPr>
                <a:t>3</a:t>
              </a:r>
              <a:r>
                <a:rPr lang="pt-BR" sz="900" u="sng" baseline="30000" dirty="0">
                  <a:latin typeface="Tahoma" panose="020B0604030504040204" pitchFamily="34" charset="0"/>
                </a:rPr>
                <a:t>o</a:t>
              </a:r>
              <a:r>
                <a:rPr lang="pt-BR" sz="900" dirty="0">
                  <a:latin typeface="Tahoma" panose="020B0604030504040204" pitchFamily="34" charset="0"/>
                </a:rPr>
                <a:t> quartil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4406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08" grpId="0" build="p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5004048" y="4282783"/>
            <a:ext cx="3240000" cy="1939500"/>
            <a:chOff x="5004048" y="4282783"/>
            <a:chExt cx="3240000" cy="1939500"/>
          </a:xfrm>
        </p:grpSpPr>
        <p:pic>
          <p:nvPicPr>
            <p:cNvPr id="27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4048" y="4282783"/>
              <a:ext cx="3240000" cy="1939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1" name="Forma livre 30"/>
            <p:cNvSpPr/>
            <p:nvPr/>
          </p:nvSpPr>
          <p:spPr>
            <a:xfrm>
              <a:off x="5541109" y="4869160"/>
              <a:ext cx="975108" cy="1054778"/>
            </a:xfrm>
            <a:custGeom>
              <a:avLst/>
              <a:gdLst>
                <a:gd name="connsiteX0" fmla="*/ 0 w 2598615"/>
                <a:gd name="connsiteY0" fmla="*/ 1531815 h 1531815"/>
                <a:gd name="connsiteX1" fmla="*/ 996461 w 2598615"/>
                <a:gd name="connsiteY1" fmla="*/ 461108 h 1531815"/>
                <a:gd name="connsiteX2" fmla="*/ 2598615 w 2598615"/>
                <a:gd name="connsiteY2" fmla="*/ 0 h 1531815"/>
                <a:gd name="connsiteX0" fmla="*/ 0 w 2598615"/>
                <a:gd name="connsiteY0" fmla="*/ 1533819 h 1533819"/>
                <a:gd name="connsiteX1" fmla="*/ 996461 w 2598615"/>
                <a:gd name="connsiteY1" fmla="*/ 463112 h 1533819"/>
                <a:gd name="connsiteX2" fmla="*/ 2598615 w 2598615"/>
                <a:gd name="connsiteY2" fmla="*/ 2004 h 1533819"/>
                <a:gd name="connsiteX0" fmla="*/ 0 w 2598615"/>
                <a:gd name="connsiteY0" fmla="*/ 1533819 h 1533819"/>
                <a:gd name="connsiteX1" fmla="*/ 996461 w 2598615"/>
                <a:gd name="connsiteY1" fmla="*/ 463112 h 1533819"/>
                <a:gd name="connsiteX2" fmla="*/ 2598615 w 2598615"/>
                <a:gd name="connsiteY2" fmla="*/ 2004 h 1533819"/>
                <a:gd name="connsiteX0" fmla="*/ 0 w 2598615"/>
                <a:gd name="connsiteY0" fmla="*/ 1534940 h 1534940"/>
                <a:gd name="connsiteX1" fmla="*/ 941753 w 2598615"/>
                <a:gd name="connsiteY1" fmla="*/ 370449 h 1534940"/>
                <a:gd name="connsiteX2" fmla="*/ 2598615 w 2598615"/>
                <a:gd name="connsiteY2" fmla="*/ 3125 h 153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98615" h="1534940">
                  <a:moveTo>
                    <a:pt x="0" y="1534940"/>
                  </a:moveTo>
                  <a:cubicBezTo>
                    <a:pt x="82387" y="1049083"/>
                    <a:pt x="508651" y="625751"/>
                    <a:pt x="941753" y="370449"/>
                  </a:cubicBezTo>
                  <a:cubicBezTo>
                    <a:pt x="1374855" y="115147"/>
                    <a:pt x="1951566" y="-22926"/>
                    <a:pt x="2598615" y="3125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2" name="Forma livre 31"/>
            <p:cNvSpPr/>
            <p:nvPr/>
          </p:nvSpPr>
          <p:spPr>
            <a:xfrm>
              <a:off x="7164615" y="4391038"/>
              <a:ext cx="975108" cy="478121"/>
            </a:xfrm>
            <a:custGeom>
              <a:avLst/>
              <a:gdLst>
                <a:gd name="connsiteX0" fmla="*/ 0 w 2598615"/>
                <a:gd name="connsiteY0" fmla="*/ 1531815 h 1531815"/>
                <a:gd name="connsiteX1" fmla="*/ 996461 w 2598615"/>
                <a:gd name="connsiteY1" fmla="*/ 461108 h 1531815"/>
                <a:gd name="connsiteX2" fmla="*/ 2598615 w 2598615"/>
                <a:gd name="connsiteY2" fmla="*/ 0 h 1531815"/>
                <a:gd name="connsiteX0" fmla="*/ 0 w 2598615"/>
                <a:gd name="connsiteY0" fmla="*/ 1533819 h 1533819"/>
                <a:gd name="connsiteX1" fmla="*/ 996461 w 2598615"/>
                <a:gd name="connsiteY1" fmla="*/ 463112 h 1533819"/>
                <a:gd name="connsiteX2" fmla="*/ 2598615 w 2598615"/>
                <a:gd name="connsiteY2" fmla="*/ 2004 h 1533819"/>
                <a:gd name="connsiteX0" fmla="*/ 0 w 2598615"/>
                <a:gd name="connsiteY0" fmla="*/ 1533819 h 1533819"/>
                <a:gd name="connsiteX1" fmla="*/ 996461 w 2598615"/>
                <a:gd name="connsiteY1" fmla="*/ 463112 h 1533819"/>
                <a:gd name="connsiteX2" fmla="*/ 2598615 w 2598615"/>
                <a:gd name="connsiteY2" fmla="*/ 2004 h 1533819"/>
                <a:gd name="connsiteX0" fmla="*/ 0 w 2598615"/>
                <a:gd name="connsiteY0" fmla="*/ 1534940 h 1534940"/>
                <a:gd name="connsiteX1" fmla="*/ 941753 w 2598615"/>
                <a:gd name="connsiteY1" fmla="*/ 370449 h 1534940"/>
                <a:gd name="connsiteX2" fmla="*/ 2598615 w 2598615"/>
                <a:gd name="connsiteY2" fmla="*/ 3125 h 1534940"/>
                <a:gd name="connsiteX0" fmla="*/ 0 w 2598615"/>
                <a:gd name="connsiteY0" fmla="*/ 1531815 h 1531815"/>
                <a:gd name="connsiteX1" fmla="*/ 2598615 w 2598615"/>
                <a:gd name="connsiteY1" fmla="*/ 0 h 1531815"/>
                <a:gd name="connsiteX0" fmla="*/ 0 w 2598615"/>
                <a:gd name="connsiteY0" fmla="*/ 1531815 h 1531815"/>
                <a:gd name="connsiteX1" fmla="*/ 1239962 w 2598615"/>
                <a:gd name="connsiteY1" fmla="*/ 435552 h 1531815"/>
                <a:gd name="connsiteX2" fmla="*/ 2598615 w 2598615"/>
                <a:gd name="connsiteY2" fmla="*/ 0 h 1531815"/>
                <a:gd name="connsiteX0" fmla="*/ 0 w 2598615"/>
                <a:gd name="connsiteY0" fmla="*/ 1531815 h 1531815"/>
                <a:gd name="connsiteX1" fmla="*/ 1239962 w 2598615"/>
                <a:gd name="connsiteY1" fmla="*/ 435552 h 1531815"/>
                <a:gd name="connsiteX2" fmla="*/ 2598615 w 2598615"/>
                <a:gd name="connsiteY2" fmla="*/ 0 h 1531815"/>
                <a:gd name="connsiteX0" fmla="*/ 0 w 2598615"/>
                <a:gd name="connsiteY0" fmla="*/ 1531815 h 1531815"/>
                <a:gd name="connsiteX1" fmla="*/ 1239962 w 2598615"/>
                <a:gd name="connsiteY1" fmla="*/ 435552 h 1531815"/>
                <a:gd name="connsiteX2" fmla="*/ 2598615 w 2598615"/>
                <a:gd name="connsiteY2" fmla="*/ 0 h 1531815"/>
                <a:gd name="connsiteX0" fmla="*/ 0 w 2598615"/>
                <a:gd name="connsiteY0" fmla="*/ 1531815 h 1531815"/>
                <a:gd name="connsiteX1" fmla="*/ 1239962 w 2598615"/>
                <a:gd name="connsiteY1" fmla="*/ 435552 h 1531815"/>
                <a:gd name="connsiteX2" fmla="*/ 2598615 w 2598615"/>
                <a:gd name="connsiteY2" fmla="*/ 0 h 1531815"/>
                <a:gd name="connsiteX0" fmla="*/ 0 w 2598615"/>
                <a:gd name="connsiteY0" fmla="*/ 1531815 h 1531815"/>
                <a:gd name="connsiteX1" fmla="*/ 1239962 w 2598615"/>
                <a:gd name="connsiteY1" fmla="*/ 435552 h 1531815"/>
                <a:gd name="connsiteX2" fmla="*/ 2598615 w 2598615"/>
                <a:gd name="connsiteY2" fmla="*/ 0 h 1531815"/>
                <a:gd name="connsiteX0" fmla="*/ 0 w 2598615"/>
                <a:gd name="connsiteY0" fmla="*/ 1531815 h 1531815"/>
                <a:gd name="connsiteX1" fmla="*/ 1239962 w 2598615"/>
                <a:gd name="connsiteY1" fmla="*/ 435552 h 1531815"/>
                <a:gd name="connsiteX2" fmla="*/ 2598615 w 2598615"/>
                <a:gd name="connsiteY2" fmla="*/ 0 h 1531815"/>
                <a:gd name="connsiteX0" fmla="*/ 0 w 2598615"/>
                <a:gd name="connsiteY0" fmla="*/ 1531815 h 1531815"/>
                <a:gd name="connsiteX1" fmla="*/ 1239962 w 2598615"/>
                <a:gd name="connsiteY1" fmla="*/ 435552 h 1531815"/>
                <a:gd name="connsiteX2" fmla="*/ 2598615 w 2598615"/>
                <a:gd name="connsiteY2" fmla="*/ 0 h 1531815"/>
                <a:gd name="connsiteX0" fmla="*/ 0 w 2598615"/>
                <a:gd name="connsiteY0" fmla="*/ 1531815 h 1531815"/>
                <a:gd name="connsiteX1" fmla="*/ 1239962 w 2598615"/>
                <a:gd name="connsiteY1" fmla="*/ 435552 h 1531815"/>
                <a:gd name="connsiteX2" fmla="*/ 2598615 w 2598615"/>
                <a:gd name="connsiteY2" fmla="*/ 0 h 1531815"/>
                <a:gd name="connsiteX0" fmla="*/ 0 w 2598615"/>
                <a:gd name="connsiteY0" fmla="*/ 1531815 h 1531815"/>
                <a:gd name="connsiteX1" fmla="*/ 1486238 w 2598615"/>
                <a:gd name="connsiteY1" fmla="*/ 951654 h 1531815"/>
                <a:gd name="connsiteX2" fmla="*/ 2598615 w 2598615"/>
                <a:gd name="connsiteY2" fmla="*/ 0 h 1531815"/>
                <a:gd name="connsiteX0" fmla="*/ 0 w 2598615"/>
                <a:gd name="connsiteY0" fmla="*/ 1531815 h 1531815"/>
                <a:gd name="connsiteX1" fmla="*/ 1719552 w 2598615"/>
                <a:gd name="connsiteY1" fmla="*/ 154040 h 1531815"/>
                <a:gd name="connsiteX2" fmla="*/ 2598615 w 2598615"/>
                <a:gd name="connsiteY2" fmla="*/ 0 h 1531815"/>
                <a:gd name="connsiteX0" fmla="*/ 0 w 2598615"/>
                <a:gd name="connsiteY0" fmla="*/ 1537272 h 1537272"/>
                <a:gd name="connsiteX1" fmla="*/ 1719552 w 2598615"/>
                <a:gd name="connsiteY1" fmla="*/ 159497 h 1537272"/>
                <a:gd name="connsiteX2" fmla="*/ 2598615 w 2598615"/>
                <a:gd name="connsiteY2" fmla="*/ 5457 h 1537272"/>
                <a:gd name="connsiteX0" fmla="*/ 0 w 2598615"/>
                <a:gd name="connsiteY0" fmla="*/ 1556285 h 1556285"/>
                <a:gd name="connsiteX1" fmla="*/ 1719552 w 2598615"/>
                <a:gd name="connsiteY1" fmla="*/ 178510 h 1556285"/>
                <a:gd name="connsiteX2" fmla="*/ 2598615 w 2598615"/>
                <a:gd name="connsiteY2" fmla="*/ 24470 h 1556285"/>
                <a:gd name="connsiteX0" fmla="*/ 0 w 2598615"/>
                <a:gd name="connsiteY0" fmla="*/ 1537384 h 1537384"/>
                <a:gd name="connsiteX1" fmla="*/ 1719552 w 2598615"/>
                <a:gd name="connsiteY1" fmla="*/ 159609 h 1537384"/>
                <a:gd name="connsiteX2" fmla="*/ 2598615 w 2598615"/>
                <a:gd name="connsiteY2" fmla="*/ 5569 h 1537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98615" h="1537384">
                  <a:moveTo>
                    <a:pt x="0" y="1537384"/>
                  </a:moveTo>
                  <a:cubicBezTo>
                    <a:pt x="426282" y="1297078"/>
                    <a:pt x="930334" y="618865"/>
                    <a:pt x="1719552" y="159609"/>
                  </a:cubicBezTo>
                  <a:cubicBezTo>
                    <a:pt x="2191541" y="-17496"/>
                    <a:pt x="2327198" y="-5644"/>
                    <a:pt x="2598615" y="5569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34" name="Conector reto 33"/>
            <p:cNvCxnSpPr>
              <a:endCxn id="32" idx="0"/>
            </p:cNvCxnSpPr>
            <p:nvPr/>
          </p:nvCxnSpPr>
          <p:spPr>
            <a:xfrm flipV="1">
              <a:off x="6516217" y="4869159"/>
              <a:ext cx="648398" cy="2"/>
            </a:xfrm>
            <a:prstGeom prst="lin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5" name="Grupo 4"/>
          <p:cNvGrpSpPr/>
          <p:nvPr/>
        </p:nvGrpSpPr>
        <p:grpSpPr>
          <a:xfrm>
            <a:off x="6372201" y="4314582"/>
            <a:ext cx="792417" cy="1584878"/>
            <a:chOff x="6372201" y="4314582"/>
            <a:chExt cx="792417" cy="1584878"/>
          </a:xfrm>
        </p:grpSpPr>
        <p:sp>
          <p:nvSpPr>
            <p:cNvPr id="33" name="CaixaDeTexto 32"/>
            <p:cNvSpPr txBox="1"/>
            <p:nvPr/>
          </p:nvSpPr>
          <p:spPr>
            <a:xfrm>
              <a:off x="6449576" y="4314582"/>
              <a:ext cx="638315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800" dirty="0">
                  <a:latin typeface="Tahoma" panose="020B0604030504040204" pitchFamily="34" charset="0"/>
                </a:rPr>
                <a:t>“buracos”</a:t>
              </a:r>
            </a:p>
            <a:p>
              <a:pPr algn="ctr"/>
              <a:r>
                <a:rPr lang="pt-BR" sz="800" dirty="0">
                  <a:latin typeface="Tahoma" panose="020B0604030504040204" pitchFamily="34" charset="0"/>
                </a:rPr>
                <a:t>no dado</a:t>
              </a:r>
            </a:p>
          </p:txBody>
        </p:sp>
        <p:sp>
          <p:nvSpPr>
            <p:cNvPr id="37" name="Chave direita 36"/>
            <p:cNvSpPr/>
            <p:nvPr/>
          </p:nvSpPr>
          <p:spPr>
            <a:xfrm rot="16200000">
              <a:off x="6682890" y="4315423"/>
              <a:ext cx="171040" cy="792417"/>
            </a:xfrm>
            <a:prstGeom prst="rightBrace">
              <a:avLst>
                <a:gd name="adj1" fmla="val 8333"/>
                <a:gd name="adj2" fmla="val 49437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44" name="Conector reto 43"/>
            <p:cNvCxnSpPr/>
            <p:nvPr/>
          </p:nvCxnSpPr>
          <p:spPr>
            <a:xfrm>
              <a:off x="6372201" y="4891460"/>
              <a:ext cx="0" cy="100800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to 44"/>
            <p:cNvCxnSpPr/>
            <p:nvPr/>
          </p:nvCxnSpPr>
          <p:spPr>
            <a:xfrm>
              <a:off x="7164615" y="4891460"/>
              <a:ext cx="0" cy="100800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Frequência Acumulada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05F644-4770-4EA1-B73B-89DC686A7537}" type="slidenum">
              <a:rPr lang="pt-BR"/>
              <a:pPr>
                <a:defRPr/>
              </a:pPr>
              <a:t>14</a:t>
            </a:fld>
            <a:endParaRPr lang="pt-BR"/>
          </a:p>
        </p:txBody>
      </p:sp>
      <p:grpSp>
        <p:nvGrpSpPr>
          <p:cNvPr id="6" name="Grupo 20"/>
          <p:cNvGrpSpPr/>
          <p:nvPr/>
        </p:nvGrpSpPr>
        <p:grpSpPr>
          <a:xfrm>
            <a:off x="467544" y="1973460"/>
            <a:ext cx="3240000" cy="1939500"/>
            <a:chOff x="467544" y="1988840"/>
            <a:chExt cx="3240000" cy="1939500"/>
          </a:xfrm>
        </p:grpSpPr>
        <p:pic>
          <p:nvPicPr>
            <p:cNvPr id="84995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1988840"/>
              <a:ext cx="3240000" cy="1939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CaixaDeTexto 1"/>
            <p:cNvSpPr txBox="1"/>
            <p:nvPr/>
          </p:nvSpPr>
          <p:spPr>
            <a:xfrm>
              <a:off x="1126163" y="2136303"/>
              <a:ext cx="1447832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1050" dirty="0">
                  <a:latin typeface="Tahoma" panose="020B0604030504040204" pitchFamily="34" charset="0"/>
                </a:rPr>
                <a:t>Distribuição uniforme</a:t>
              </a:r>
            </a:p>
          </p:txBody>
        </p:sp>
        <p:cxnSp>
          <p:nvCxnSpPr>
            <p:cNvPr id="10" name="Conector reto 9"/>
            <p:cNvCxnSpPr/>
            <p:nvPr/>
          </p:nvCxnSpPr>
          <p:spPr>
            <a:xfrm flipV="1">
              <a:off x="1001486" y="2093686"/>
              <a:ext cx="2608943" cy="1534886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upo 22"/>
          <p:cNvGrpSpPr/>
          <p:nvPr/>
        </p:nvGrpSpPr>
        <p:grpSpPr>
          <a:xfrm>
            <a:off x="5004048" y="1973460"/>
            <a:ext cx="3240000" cy="1939500"/>
            <a:chOff x="5004048" y="1973460"/>
            <a:chExt cx="3240000" cy="1939500"/>
          </a:xfrm>
        </p:grpSpPr>
        <p:pic>
          <p:nvPicPr>
            <p:cNvPr id="35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4048" y="1973460"/>
              <a:ext cx="3240000" cy="1939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6" name="CaixaDeTexto 35"/>
            <p:cNvSpPr txBox="1"/>
            <p:nvPr/>
          </p:nvSpPr>
          <p:spPr>
            <a:xfrm>
              <a:off x="5800564" y="3140968"/>
              <a:ext cx="2250936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000" dirty="0">
                  <a:latin typeface="Tahoma" panose="020B0604030504040204" pitchFamily="34" charset="0"/>
                </a:rPr>
                <a:t>Distribuição assimétrica à direita</a:t>
              </a:r>
            </a:p>
            <a:p>
              <a:pPr algn="ctr"/>
              <a:r>
                <a:rPr lang="pt-BR" sz="1000" dirty="0">
                  <a:latin typeface="Tahoma" panose="020B0604030504040204" pitchFamily="34" charset="0"/>
                </a:rPr>
                <a:t>(maior frequência de valores baixos)</a:t>
              </a:r>
            </a:p>
          </p:txBody>
        </p:sp>
        <p:sp>
          <p:nvSpPr>
            <p:cNvPr id="22" name="Forma livre 21"/>
            <p:cNvSpPr/>
            <p:nvPr/>
          </p:nvSpPr>
          <p:spPr>
            <a:xfrm>
              <a:off x="5541108" y="2079675"/>
              <a:ext cx="2598615" cy="1534940"/>
            </a:xfrm>
            <a:custGeom>
              <a:avLst/>
              <a:gdLst>
                <a:gd name="connsiteX0" fmla="*/ 0 w 2598615"/>
                <a:gd name="connsiteY0" fmla="*/ 1531815 h 1531815"/>
                <a:gd name="connsiteX1" fmla="*/ 996461 w 2598615"/>
                <a:gd name="connsiteY1" fmla="*/ 461108 h 1531815"/>
                <a:gd name="connsiteX2" fmla="*/ 2598615 w 2598615"/>
                <a:gd name="connsiteY2" fmla="*/ 0 h 1531815"/>
                <a:gd name="connsiteX0" fmla="*/ 0 w 2598615"/>
                <a:gd name="connsiteY0" fmla="*/ 1533819 h 1533819"/>
                <a:gd name="connsiteX1" fmla="*/ 996461 w 2598615"/>
                <a:gd name="connsiteY1" fmla="*/ 463112 h 1533819"/>
                <a:gd name="connsiteX2" fmla="*/ 2598615 w 2598615"/>
                <a:gd name="connsiteY2" fmla="*/ 2004 h 1533819"/>
                <a:gd name="connsiteX0" fmla="*/ 0 w 2598615"/>
                <a:gd name="connsiteY0" fmla="*/ 1533819 h 1533819"/>
                <a:gd name="connsiteX1" fmla="*/ 996461 w 2598615"/>
                <a:gd name="connsiteY1" fmla="*/ 463112 h 1533819"/>
                <a:gd name="connsiteX2" fmla="*/ 2598615 w 2598615"/>
                <a:gd name="connsiteY2" fmla="*/ 2004 h 1533819"/>
                <a:gd name="connsiteX0" fmla="*/ 0 w 2598615"/>
                <a:gd name="connsiteY0" fmla="*/ 1534940 h 1534940"/>
                <a:gd name="connsiteX1" fmla="*/ 941753 w 2598615"/>
                <a:gd name="connsiteY1" fmla="*/ 370449 h 1534940"/>
                <a:gd name="connsiteX2" fmla="*/ 2598615 w 2598615"/>
                <a:gd name="connsiteY2" fmla="*/ 3125 h 153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98615" h="1534940">
                  <a:moveTo>
                    <a:pt x="0" y="1534940"/>
                  </a:moveTo>
                  <a:cubicBezTo>
                    <a:pt x="82387" y="1049083"/>
                    <a:pt x="508651" y="625751"/>
                    <a:pt x="941753" y="370449"/>
                  </a:cubicBezTo>
                  <a:cubicBezTo>
                    <a:pt x="1374855" y="115147"/>
                    <a:pt x="1951566" y="-22926"/>
                    <a:pt x="2598615" y="3125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8" name="Grupo 39"/>
          <p:cNvGrpSpPr/>
          <p:nvPr/>
        </p:nvGrpSpPr>
        <p:grpSpPr>
          <a:xfrm>
            <a:off x="467544" y="4282783"/>
            <a:ext cx="3240000" cy="1939500"/>
            <a:chOff x="5004048" y="1973460"/>
            <a:chExt cx="3240000" cy="1939500"/>
          </a:xfrm>
        </p:grpSpPr>
        <p:pic>
          <p:nvPicPr>
            <p:cNvPr id="41" name="Picture 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4048" y="1973460"/>
              <a:ext cx="3240000" cy="1939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2" name="CaixaDeTexto 41"/>
            <p:cNvSpPr txBox="1"/>
            <p:nvPr/>
          </p:nvSpPr>
          <p:spPr>
            <a:xfrm>
              <a:off x="5565901" y="2101959"/>
              <a:ext cx="1526379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dirty="0">
                  <a:latin typeface="Tahoma" panose="020B0604030504040204" pitchFamily="34" charset="0"/>
                </a:rPr>
                <a:t>Distribuição Gaussiana</a:t>
              </a:r>
            </a:p>
          </p:txBody>
        </p:sp>
        <p:sp>
          <p:nvSpPr>
            <p:cNvPr id="43" name="Forma livre 42"/>
            <p:cNvSpPr/>
            <p:nvPr/>
          </p:nvSpPr>
          <p:spPr>
            <a:xfrm>
              <a:off x="5541108" y="2082476"/>
              <a:ext cx="2598615" cy="1532139"/>
            </a:xfrm>
            <a:custGeom>
              <a:avLst/>
              <a:gdLst>
                <a:gd name="connsiteX0" fmla="*/ 0 w 2598615"/>
                <a:gd name="connsiteY0" fmla="*/ 1531815 h 1531815"/>
                <a:gd name="connsiteX1" fmla="*/ 996461 w 2598615"/>
                <a:gd name="connsiteY1" fmla="*/ 461108 h 1531815"/>
                <a:gd name="connsiteX2" fmla="*/ 2598615 w 2598615"/>
                <a:gd name="connsiteY2" fmla="*/ 0 h 1531815"/>
                <a:gd name="connsiteX0" fmla="*/ 0 w 2598615"/>
                <a:gd name="connsiteY0" fmla="*/ 1533819 h 1533819"/>
                <a:gd name="connsiteX1" fmla="*/ 996461 w 2598615"/>
                <a:gd name="connsiteY1" fmla="*/ 463112 h 1533819"/>
                <a:gd name="connsiteX2" fmla="*/ 2598615 w 2598615"/>
                <a:gd name="connsiteY2" fmla="*/ 2004 h 1533819"/>
                <a:gd name="connsiteX0" fmla="*/ 0 w 2598615"/>
                <a:gd name="connsiteY0" fmla="*/ 1533819 h 1533819"/>
                <a:gd name="connsiteX1" fmla="*/ 996461 w 2598615"/>
                <a:gd name="connsiteY1" fmla="*/ 463112 h 1533819"/>
                <a:gd name="connsiteX2" fmla="*/ 2598615 w 2598615"/>
                <a:gd name="connsiteY2" fmla="*/ 2004 h 1533819"/>
                <a:gd name="connsiteX0" fmla="*/ 0 w 2598615"/>
                <a:gd name="connsiteY0" fmla="*/ 1534940 h 1534940"/>
                <a:gd name="connsiteX1" fmla="*/ 941753 w 2598615"/>
                <a:gd name="connsiteY1" fmla="*/ 370449 h 1534940"/>
                <a:gd name="connsiteX2" fmla="*/ 2598615 w 2598615"/>
                <a:gd name="connsiteY2" fmla="*/ 3125 h 1534940"/>
                <a:gd name="connsiteX0" fmla="*/ 0 w 2598615"/>
                <a:gd name="connsiteY0" fmla="*/ 1532699 h 1532699"/>
                <a:gd name="connsiteX1" fmla="*/ 1251720 w 2598615"/>
                <a:gd name="connsiteY1" fmla="*/ 786662 h 1532699"/>
                <a:gd name="connsiteX2" fmla="*/ 2598615 w 2598615"/>
                <a:gd name="connsiteY2" fmla="*/ 884 h 1532699"/>
                <a:gd name="connsiteX0" fmla="*/ 0 w 2598615"/>
                <a:gd name="connsiteY0" fmla="*/ 1532699 h 1532699"/>
                <a:gd name="connsiteX1" fmla="*/ 1251720 w 2598615"/>
                <a:gd name="connsiteY1" fmla="*/ 786662 h 1532699"/>
                <a:gd name="connsiteX2" fmla="*/ 2598615 w 2598615"/>
                <a:gd name="connsiteY2" fmla="*/ 884 h 1532699"/>
                <a:gd name="connsiteX0" fmla="*/ 0 w 2598615"/>
                <a:gd name="connsiteY0" fmla="*/ 1531968 h 1531968"/>
                <a:gd name="connsiteX1" fmla="*/ 1251720 w 2598615"/>
                <a:gd name="connsiteY1" fmla="*/ 785931 h 1531968"/>
                <a:gd name="connsiteX2" fmla="*/ 2598615 w 2598615"/>
                <a:gd name="connsiteY2" fmla="*/ 153 h 1531968"/>
                <a:gd name="connsiteX0" fmla="*/ 0 w 2598615"/>
                <a:gd name="connsiteY0" fmla="*/ 1532139 h 1532139"/>
                <a:gd name="connsiteX1" fmla="*/ 1251720 w 2598615"/>
                <a:gd name="connsiteY1" fmla="*/ 786102 h 1532139"/>
                <a:gd name="connsiteX2" fmla="*/ 2598615 w 2598615"/>
                <a:gd name="connsiteY2" fmla="*/ 324 h 1532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98615" h="1532139">
                  <a:moveTo>
                    <a:pt x="0" y="1532139"/>
                  </a:moveTo>
                  <a:cubicBezTo>
                    <a:pt x="480177" y="1526730"/>
                    <a:pt x="1169913" y="1335872"/>
                    <a:pt x="1251720" y="786102"/>
                  </a:cubicBezTo>
                  <a:cubicBezTo>
                    <a:pt x="1333527" y="236332"/>
                    <a:pt x="1936068" y="-10229"/>
                    <a:pt x="2598615" y="324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atin typeface="Tahoma" panose="020B0604030504040204" pitchFamily="34" charset="0"/>
              </a:endParaRPr>
            </a:p>
          </p:txBody>
        </p:sp>
      </p:grpSp>
      <p:sp>
        <p:nvSpPr>
          <p:cNvPr id="30" name="CaixaDeTexto 29"/>
          <p:cNvSpPr txBox="1"/>
          <p:nvPr/>
        </p:nvSpPr>
        <p:spPr>
          <a:xfrm>
            <a:off x="7432667" y="5343019"/>
            <a:ext cx="1008609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pt-BR" sz="1000" dirty="0">
                <a:latin typeface="Tahoma" panose="020B0604030504040204" pitchFamily="34" charset="0"/>
              </a:rPr>
              <a:t>2 populações?</a:t>
            </a:r>
          </a:p>
        </p:txBody>
      </p:sp>
    </p:spTree>
    <p:extLst>
      <p:ext uri="{BB962C8B-B14F-4D97-AF65-F5344CB8AC3E}">
        <p14:creationId xmlns:p14="http://schemas.microsoft.com/office/powerpoint/2010/main" val="3480032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Intervalo de Credibilidade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05F644-4770-4EA1-B73B-89DC686A7537}" type="slidenum">
              <a:rPr lang="pt-BR"/>
              <a:pPr>
                <a:defRPr/>
              </a:pPr>
              <a:t>15</a:t>
            </a:fld>
            <a:endParaRPr lang="pt-BR"/>
          </a:p>
        </p:txBody>
      </p:sp>
      <p:sp>
        <p:nvSpPr>
          <p:cNvPr id="28" name="Text Box 24"/>
          <p:cNvSpPr txBox="1">
            <a:spLocks noChangeArrowheads="1"/>
          </p:cNvSpPr>
          <p:nvPr/>
        </p:nvSpPr>
        <p:spPr bwMode="auto">
          <a:xfrm>
            <a:off x="467544" y="1527177"/>
            <a:ext cx="7987439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177800" indent="-177800" algn="l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Corresponde a um intervalo no qual há uma determinada probabilidade de um valor não observado estar contido</a:t>
            </a:r>
          </a:p>
          <a:p>
            <a:pPr marL="177800" indent="-177800" algn="l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marL="177800" indent="-177800" algn="l"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Há muitos intervalos de credibilidade que podem ser obtidos a partir de um conjunto de valores, sendo o mais comum, aquele obtido descartando-se uma determinada porcentagem dos valores extremos (menores e maiores)</a:t>
            </a:r>
          </a:p>
          <a:p>
            <a:pPr marL="177800" indent="-177800" algn="l"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marL="177800" indent="-177800" algn="l" eaLnBrk="1" hangingPunct="1">
              <a:spcBef>
                <a:spcPct val="0"/>
              </a:spcBef>
              <a:buFontTx/>
              <a:buNone/>
              <a:tabLst>
                <a:tab pos="177800" algn="l"/>
              </a:tabLst>
            </a:pPr>
            <a:r>
              <a:rPr lang="pt-BR" altLang="pt-BR" sz="1600" dirty="0">
                <a:latin typeface="Tahoma" panose="020B0604030504040204" pitchFamily="34" charset="0"/>
              </a:rPr>
              <a:t>Por exemplo, para um Intervalo de Credibilidade de 95%, descarta-se 2,5% dos valores extremos. O intervalo é definido pelos valores mínimo e máximo de novo conjunto de valores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3768" y="4077072"/>
            <a:ext cx="3279600" cy="1967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3" name="Grupo 11"/>
          <p:cNvGrpSpPr/>
          <p:nvPr/>
        </p:nvGrpSpPr>
        <p:grpSpPr>
          <a:xfrm>
            <a:off x="3203889" y="5410088"/>
            <a:ext cx="452368" cy="230832"/>
            <a:chOff x="3149913" y="4081540"/>
            <a:chExt cx="452368" cy="230832"/>
          </a:xfrm>
        </p:grpSpPr>
        <p:cxnSp>
          <p:nvCxnSpPr>
            <p:cNvPr id="14" name="Conector de seta reta 13"/>
            <p:cNvCxnSpPr/>
            <p:nvPr/>
          </p:nvCxnSpPr>
          <p:spPr>
            <a:xfrm>
              <a:off x="3244996" y="4263929"/>
              <a:ext cx="345839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/>
            <p:nvPr/>
          </p:nvCxnSpPr>
          <p:spPr>
            <a:xfrm>
              <a:off x="3586191" y="4263929"/>
              <a:ext cx="0" cy="38399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aixaDeTexto 15"/>
            <p:cNvSpPr txBox="1"/>
            <p:nvPr/>
          </p:nvSpPr>
          <p:spPr>
            <a:xfrm>
              <a:off x="3149913" y="4081540"/>
              <a:ext cx="4523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Arial" panose="020B0604020202020204" pitchFamily="34" charset="0"/>
                  <a:cs typeface="Arial" panose="020B0604020202020204" pitchFamily="34" charset="0"/>
                </a:rPr>
                <a:t>2,5%</a:t>
              </a:r>
            </a:p>
          </p:txBody>
        </p:sp>
      </p:grpSp>
      <p:grpSp>
        <p:nvGrpSpPr>
          <p:cNvPr id="17" name="Grupo 16"/>
          <p:cNvGrpSpPr/>
          <p:nvPr/>
        </p:nvGrpSpPr>
        <p:grpSpPr>
          <a:xfrm>
            <a:off x="3216051" y="4183084"/>
            <a:ext cx="2164841" cy="1447252"/>
            <a:chOff x="3167775" y="3584211"/>
            <a:chExt cx="2164841" cy="1447252"/>
          </a:xfrm>
        </p:grpSpPr>
        <p:cxnSp>
          <p:nvCxnSpPr>
            <p:cNvPr id="18" name="Conector de seta reta 17"/>
            <p:cNvCxnSpPr/>
            <p:nvPr/>
          </p:nvCxnSpPr>
          <p:spPr>
            <a:xfrm>
              <a:off x="3244996" y="3617258"/>
              <a:ext cx="2087620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de seta reta 18"/>
            <p:cNvCxnSpPr/>
            <p:nvPr/>
          </p:nvCxnSpPr>
          <p:spPr>
            <a:xfrm>
              <a:off x="5328451" y="3619481"/>
              <a:ext cx="0" cy="1411982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aixaDeTexto 19"/>
            <p:cNvSpPr txBox="1"/>
            <p:nvPr/>
          </p:nvSpPr>
          <p:spPr>
            <a:xfrm>
              <a:off x="3167775" y="3584211"/>
              <a:ext cx="51167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Arial" panose="020B0604020202020204" pitchFamily="34" charset="0"/>
                  <a:cs typeface="Arial" panose="020B0604020202020204" pitchFamily="34" charset="0"/>
                </a:rPr>
                <a:t>97,5%</a:t>
              </a:r>
            </a:p>
          </p:txBody>
        </p:sp>
      </p:grpSp>
      <p:grpSp>
        <p:nvGrpSpPr>
          <p:cNvPr id="30" name="Grupo 29"/>
          <p:cNvGrpSpPr/>
          <p:nvPr/>
        </p:nvGrpSpPr>
        <p:grpSpPr>
          <a:xfrm>
            <a:off x="3536813" y="5865580"/>
            <a:ext cx="1959960" cy="539278"/>
            <a:chOff x="5970683" y="5949280"/>
            <a:chExt cx="1959960" cy="539278"/>
          </a:xfrm>
        </p:grpSpPr>
        <p:sp>
          <p:nvSpPr>
            <p:cNvPr id="33" name="Chave direita 32"/>
            <p:cNvSpPr/>
            <p:nvPr/>
          </p:nvSpPr>
          <p:spPr bwMode="auto">
            <a:xfrm rot="5400000">
              <a:off x="6852698" y="5170619"/>
              <a:ext cx="179238" cy="1736560"/>
            </a:xfrm>
            <a:prstGeom prst="righ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tângulo 33"/>
                <p:cNvSpPr/>
                <p:nvPr/>
              </p:nvSpPr>
              <p:spPr>
                <a:xfrm>
                  <a:off x="5970683" y="6119226"/>
                  <a:ext cx="195996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altLang="pt-BR" b="0" i="1" smtClean="0">
                            <a:latin typeface="Cambria Math"/>
                          </a:rPr>
                          <m:t>𝑃</m:t>
                        </m:r>
                        <m:d>
                          <m:dPr>
                            <m:ctrlPr>
                              <a:rPr lang="pt-BR" alt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altLang="pt-BR" b="0" i="1" smtClean="0">
                                <a:latin typeface="Cambria Math" panose="02040503050406030204" pitchFamily="18" charset="0"/>
                              </a:rPr>
                              <m:t>2,7</m:t>
                            </m:r>
                            <m:r>
                              <a:rPr lang="pt-BR" altLang="pt-BR" b="0" i="1" smtClean="0">
                                <a:latin typeface="Cambria Math"/>
                              </a:rPr>
                              <m:t>&lt;</m:t>
                            </m:r>
                            <m:r>
                              <a:rPr lang="pt-BR" altLang="pt-BR" b="0" i="1" smtClean="0">
                                <a:latin typeface="Cambria Math"/>
                              </a:rPr>
                              <m:t>𝑋</m:t>
                            </m:r>
                            <m:r>
                              <a:rPr lang="pt-BR" altLang="pt-BR" b="0" i="1" smtClean="0">
                                <a:latin typeface="Cambria Math"/>
                              </a:rPr>
                              <m:t>&lt;16,1</m:t>
                            </m:r>
                          </m:e>
                        </m:d>
                        <m:r>
                          <a:rPr lang="pt-BR" altLang="pt-BR" b="0" i="1" smtClean="0">
                            <a:latin typeface="Cambria Math"/>
                          </a:rPr>
                          <m:t>=95%</m:t>
                        </m:r>
                      </m:oMath>
                    </m:oMathPara>
                  </a14:m>
                  <a:endParaRPr lang="pt-BR" altLang="pt-BR" dirty="0">
                    <a:latin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34" name="Retângulo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0683" y="6119226"/>
                  <a:ext cx="195996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" name="Retângulo 40"/>
          <p:cNvSpPr/>
          <p:nvPr/>
        </p:nvSpPr>
        <p:spPr>
          <a:xfrm>
            <a:off x="3261189" y="6438814"/>
            <a:ext cx="25112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rgbClr val="FF0000"/>
                </a:solidFill>
                <a:latin typeface="Tahoma" panose="020B0604030504040204" pitchFamily="34" charset="0"/>
              </a:rPr>
              <a:t>Intervalo de Credibilidade de 95%</a:t>
            </a:r>
            <a:endParaRPr lang="pt-BR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032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8"/>
          <p:cNvSpPr txBox="1">
            <a:spLocks noChangeArrowheads="1"/>
          </p:cNvSpPr>
          <p:nvPr/>
        </p:nvSpPr>
        <p:spPr bwMode="auto">
          <a:xfrm>
            <a:off x="514350" y="1339850"/>
            <a:ext cx="7945438" cy="41560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188913" indent="-188913" eaLnBrk="0" hangingPunct="0">
              <a:defRPr sz="12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l">
              <a:lnSpc>
                <a:spcPct val="150000"/>
              </a:lnSpc>
              <a:defRPr/>
            </a:pPr>
            <a:r>
              <a:rPr lang="pt-BR" sz="1600" dirty="0">
                <a:latin typeface="Tahoma" panose="020B0604030504040204" pitchFamily="34" charset="0"/>
              </a:rPr>
              <a:t>É uma ótima alternativa para mostrar graficamente a dispersão de valores de uma simulação e são muito úteis para comparar conjuntos de dados pois causam grande impacto visual e são fáceis de entender.</a:t>
            </a:r>
          </a:p>
          <a:p>
            <a:pPr algn="l">
              <a:lnSpc>
                <a:spcPct val="150000"/>
              </a:lnSpc>
              <a:defRPr/>
            </a:pPr>
            <a:endParaRPr lang="pt-BR" sz="1600" dirty="0">
              <a:latin typeface="Tahoma" panose="020B0604030504040204" pitchFamily="34" charset="0"/>
            </a:endParaRPr>
          </a:p>
          <a:p>
            <a:pPr algn="l">
              <a:lnSpc>
                <a:spcPct val="150000"/>
              </a:lnSpc>
              <a:defRPr/>
            </a:pPr>
            <a:r>
              <a:rPr lang="pt-BR" sz="1600" dirty="0">
                <a:latin typeface="Tahoma" panose="020B0604030504040204" pitchFamily="34" charset="0"/>
              </a:rPr>
              <a:t>Há muitas variações de </a:t>
            </a:r>
            <a:r>
              <a:rPr lang="pt-BR" sz="1600" dirty="0" err="1">
                <a:latin typeface="Tahoma" panose="020B0604030504040204" pitchFamily="34" charset="0"/>
              </a:rPr>
              <a:t>boxplot</a:t>
            </a:r>
            <a:r>
              <a:rPr lang="pt-BR" sz="1600" dirty="0">
                <a:latin typeface="Tahoma" panose="020B0604030504040204" pitchFamily="34" charset="0"/>
              </a:rPr>
              <a:t>, mas em geral representam:</a:t>
            </a:r>
          </a:p>
          <a:p>
            <a:pPr marL="711200" indent="-342900" algn="l">
              <a:lnSpc>
                <a:spcPct val="150000"/>
              </a:lnSpc>
              <a:buFontTx/>
              <a:buAutoNum type="alphaLcParenR"/>
              <a:defRPr/>
            </a:pPr>
            <a:r>
              <a:rPr lang="pt-BR" sz="1600" dirty="0">
                <a:latin typeface="Tahoma" panose="020B0604030504040204" pitchFamily="34" charset="0"/>
              </a:rPr>
              <a:t>mediana</a:t>
            </a:r>
          </a:p>
          <a:p>
            <a:pPr marL="711200" indent="-342900" algn="l">
              <a:lnSpc>
                <a:spcPct val="150000"/>
              </a:lnSpc>
              <a:buFontTx/>
              <a:buAutoNum type="alphaLcParenR"/>
              <a:defRPr/>
            </a:pPr>
            <a:r>
              <a:rPr lang="pt-BR" sz="1600" dirty="0">
                <a:latin typeface="Tahoma" panose="020B0604030504040204" pitchFamily="34" charset="0"/>
              </a:rPr>
              <a:t>1</a:t>
            </a:r>
            <a:r>
              <a:rPr lang="pt-BR" sz="1600" u="sng" baseline="30000" dirty="0">
                <a:latin typeface="Tahoma" panose="020B0604030504040204" pitchFamily="34" charset="0"/>
              </a:rPr>
              <a:t>o</a:t>
            </a:r>
            <a:r>
              <a:rPr lang="pt-BR" sz="1600" dirty="0">
                <a:latin typeface="Tahoma" panose="020B0604030504040204" pitchFamily="34" charset="0"/>
              </a:rPr>
              <a:t> e 3</a:t>
            </a:r>
            <a:r>
              <a:rPr lang="pt-BR" sz="1600" u="sng" baseline="30000" dirty="0">
                <a:latin typeface="Tahoma" panose="020B0604030504040204" pitchFamily="34" charset="0"/>
              </a:rPr>
              <a:t>o</a:t>
            </a:r>
            <a:r>
              <a:rPr lang="pt-BR" sz="1600" dirty="0">
                <a:latin typeface="Tahoma" panose="020B0604030504040204" pitchFamily="34" charset="0"/>
              </a:rPr>
              <a:t> </a:t>
            </a:r>
            <a:r>
              <a:rPr lang="pt-BR" sz="1600" dirty="0" err="1">
                <a:latin typeface="Tahoma" panose="020B0604030504040204" pitchFamily="34" charset="0"/>
              </a:rPr>
              <a:t>quartis</a:t>
            </a:r>
            <a:endParaRPr lang="pt-BR" sz="1600" dirty="0">
              <a:latin typeface="Tahoma" panose="020B0604030504040204" pitchFamily="34" charset="0"/>
            </a:endParaRPr>
          </a:p>
          <a:p>
            <a:pPr marL="711200" indent="-342900" algn="l">
              <a:lnSpc>
                <a:spcPct val="150000"/>
              </a:lnSpc>
              <a:buFontTx/>
              <a:buAutoNum type="alphaLcParenR"/>
              <a:defRPr/>
            </a:pPr>
            <a:r>
              <a:rPr lang="pt-BR" sz="1600" dirty="0">
                <a:latin typeface="Tahoma" panose="020B0604030504040204" pitchFamily="34" charset="0"/>
              </a:rPr>
              <a:t>mínimos e máximos</a:t>
            </a:r>
          </a:p>
          <a:p>
            <a:pPr marL="711200" indent="-342900" algn="l">
              <a:lnSpc>
                <a:spcPct val="150000"/>
              </a:lnSpc>
              <a:buFontTx/>
              <a:buAutoNum type="alphaLcParenR"/>
              <a:defRPr/>
            </a:pPr>
            <a:r>
              <a:rPr lang="pt-BR" sz="1600" dirty="0">
                <a:latin typeface="Tahoma" panose="020B0604030504040204" pitchFamily="34" charset="0"/>
              </a:rPr>
              <a:t>valores raros (“</a:t>
            </a:r>
            <a:r>
              <a:rPr lang="pt-BR" sz="1600" dirty="0" err="1">
                <a:latin typeface="Tahoma" panose="020B0604030504040204" pitchFamily="34" charset="0"/>
              </a:rPr>
              <a:t>outliers</a:t>
            </a:r>
            <a:r>
              <a:rPr lang="pt-BR" sz="1600" dirty="0">
                <a:latin typeface="Tahoma" panose="020B0604030504040204" pitchFamily="34" charset="0"/>
              </a:rPr>
              <a:t>”)</a:t>
            </a:r>
          </a:p>
          <a:p>
            <a:pPr marL="342900" indent="-342900" algn="l">
              <a:lnSpc>
                <a:spcPct val="150000"/>
              </a:lnSpc>
              <a:defRPr/>
            </a:pPr>
            <a:endParaRPr lang="pt-BR" sz="1600" dirty="0">
              <a:latin typeface="Tahoma" panose="020B0604030504040204" pitchFamily="34" charset="0"/>
            </a:endParaRPr>
          </a:p>
          <a:p>
            <a:pPr marL="342900" indent="-342900" algn="l">
              <a:lnSpc>
                <a:spcPct val="150000"/>
              </a:lnSpc>
              <a:defRPr/>
            </a:pPr>
            <a:r>
              <a:rPr lang="pt-BR" sz="1600" dirty="0">
                <a:latin typeface="Tahoma" panose="020B0604030504040204" pitchFamily="34" charset="0"/>
              </a:rPr>
              <a:t>Ex: simulação com 20 valores</a:t>
            </a:r>
          </a:p>
        </p:txBody>
      </p:sp>
      <p:sp>
        <p:nvSpPr>
          <p:cNvPr id="94" name="Elipse 49"/>
          <p:cNvSpPr>
            <a:spLocks noChangeArrowheads="1"/>
          </p:cNvSpPr>
          <p:nvPr/>
        </p:nvSpPr>
        <p:spPr bwMode="auto">
          <a:xfrm>
            <a:off x="5886450" y="3626180"/>
            <a:ext cx="34925" cy="3605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200" dirty="0">
              <a:latin typeface="Tahoma" panose="020B0604030504040204" pitchFamily="34" charset="0"/>
            </a:endParaRPr>
          </a:p>
        </p:txBody>
      </p:sp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>
              <a:defRPr/>
            </a:pPr>
            <a:r>
              <a:rPr lang="pt-BR" dirty="0" err="1"/>
              <a:t>Boxplot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05F644-4770-4EA1-B73B-89DC686A7537}" type="slidenum">
              <a:rPr lang="pt-BR"/>
              <a:pPr>
                <a:defRPr/>
              </a:pPr>
              <a:t>16</a:t>
            </a:fld>
            <a:endParaRPr lang="pt-BR"/>
          </a:p>
        </p:txBody>
      </p:sp>
      <p:grpSp>
        <p:nvGrpSpPr>
          <p:cNvPr id="2" name="Grupo 121"/>
          <p:cNvGrpSpPr>
            <a:grpSpLocks/>
          </p:cNvGrpSpPr>
          <p:nvPr/>
        </p:nvGrpSpPr>
        <p:grpSpPr bwMode="auto">
          <a:xfrm>
            <a:off x="5724525" y="4808538"/>
            <a:ext cx="360363" cy="1285875"/>
            <a:chOff x="5004048" y="4724400"/>
            <a:chExt cx="360000" cy="1285470"/>
          </a:xfrm>
        </p:grpSpPr>
        <p:cxnSp>
          <p:nvCxnSpPr>
            <p:cNvPr id="7" name="Conector reto 41"/>
            <p:cNvCxnSpPr>
              <a:cxnSpLocks noChangeShapeType="1"/>
            </p:cNvCxnSpPr>
            <p:nvPr/>
          </p:nvCxnSpPr>
          <p:spPr bwMode="auto">
            <a:xfrm>
              <a:off x="5004048" y="4724400"/>
              <a:ext cx="3600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Conector reto 42"/>
            <p:cNvCxnSpPr>
              <a:cxnSpLocks noChangeShapeType="1"/>
            </p:cNvCxnSpPr>
            <p:nvPr/>
          </p:nvCxnSpPr>
          <p:spPr bwMode="auto">
            <a:xfrm>
              <a:off x="5004048" y="6009870"/>
              <a:ext cx="3600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Conector reto 44"/>
            <p:cNvCxnSpPr>
              <a:cxnSpLocks noChangeShapeType="1"/>
            </p:cNvCxnSpPr>
            <p:nvPr/>
          </p:nvCxnSpPr>
          <p:spPr bwMode="auto">
            <a:xfrm>
              <a:off x="5184048" y="4724400"/>
              <a:ext cx="0" cy="60333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Conector reto 47"/>
            <p:cNvCxnSpPr>
              <a:cxnSpLocks noChangeShapeType="1"/>
            </p:cNvCxnSpPr>
            <p:nvPr/>
          </p:nvCxnSpPr>
          <p:spPr bwMode="auto">
            <a:xfrm flipH="1">
              <a:off x="5183846" y="5867736"/>
              <a:ext cx="405" cy="13601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2" name="Elipse 49"/>
          <p:cNvSpPr>
            <a:spLocks noChangeArrowheads="1"/>
          </p:cNvSpPr>
          <p:nvPr/>
        </p:nvSpPr>
        <p:spPr bwMode="auto">
          <a:xfrm>
            <a:off x="5886450" y="4271909"/>
            <a:ext cx="34925" cy="3605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200" dirty="0">
              <a:latin typeface="Tahoma" panose="020B0604030504040204" pitchFamily="34" charset="0"/>
            </a:endParaRPr>
          </a:p>
        </p:txBody>
      </p:sp>
      <p:sp>
        <p:nvSpPr>
          <p:cNvPr id="13" name="Elipse 50"/>
          <p:cNvSpPr>
            <a:spLocks noChangeArrowheads="1"/>
          </p:cNvSpPr>
          <p:nvPr/>
        </p:nvSpPr>
        <p:spPr bwMode="auto">
          <a:xfrm>
            <a:off x="5886450" y="3626180"/>
            <a:ext cx="34925" cy="36050"/>
          </a:xfrm>
          <a:prstGeom prst="ellipse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200" dirty="0">
              <a:latin typeface="Tahoma" panose="020B0604030504040204" pitchFamily="34" charset="0"/>
            </a:endParaRPr>
          </a:p>
        </p:txBody>
      </p:sp>
      <p:grpSp>
        <p:nvGrpSpPr>
          <p:cNvPr id="3" name="Grupo 131"/>
          <p:cNvGrpSpPr>
            <a:grpSpLocks/>
          </p:cNvGrpSpPr>
          <p:nvPr/>
        </p:nvGrpSpPr>
        <p:grpSpPr bwMode="auto">
          <a:xfrm>
            <a:off x="4140200" y="3441700"/>
            <a:ext cx="1260475" cy="3237030"/>
            <a:chOff x="4139952" y="3441056"/>
            <a:chExt cx="1260136" cy="3238392"/>
          </a:xfrm>
        </p:grpSpPr>
        <p:grpSp>
          <p:nvGrpSpPr>
            <p:cNvPr id="6" name="Grupo 34"/>
            <p:cNvGrpSpPr>
              <a:grpSpLocks/>
            </p:cNvGrpSpPr>
            <p:nvPr/>
          </p:nvGrpSpPr>
          <p:grpSpPr bwMode="auto">
            <a:xfrm>
              <a:off x="5364088" y="3644465"/>
              <a:ext cx="36000" cy="2450455"/>
              <a:chOff x="251520" y="3854385"/>
              <a:chExt cx="144016" cy="2915447"/>
            </a:xfrm>
          </p:grpSpPr>
          <p:cxnSp>
            <p:nvCxnSpPr>
              <p:cNvPr id="33" name="Conector reto 13"/>
              <p:cNvCxnSpPr>
                <a:cxnSpLocks noChangeShapeType="1"/>
              </p:cNvCxnSpPr>
              <p:nvPr/>
            </p:nvCxnSpPr>
            <p:spPr bwMode="auto">
              <a:xfrm>
                <a:off x="251520" y="3854385"/>
                <a:ext cx="144016" cy="0"/>
              </a:xfrm>
              <a:prstGeom prst="line">
                <a:avLst/>
              </a:prstGeom>
              <a:noFill/>
              <a:ln w="127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4" name="Conector reto 15"/>
              <p:cNvCxnSpPr>
                <a:cxnSpLocks noChangeShapeType="1"/>
              </p:cNvCxnSpPr>
              <p:nvPr/>
            </p:nvCxnSpPr>
            <p:spPr bwMode="auto">
              <a:xfrm>
                <a:off x="251520" y="4625759"/>
                <a:ext cx="144016" cy="0"/>
              </a:xfrm>
              <a:prstGeom prst="line">
                <a:avLst/>
              </a:prstGeom>
              <a:noFill/>
              <a:ln w="127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" name="Conector reto 16"/>
              <p:cNvCxnSpPr>
                <a:cxnSpLocks noChangeShapeType="1"/>
              </p:cNvCxnSpPr>
              <p:nvPr/>
            </p:nvCxnSpPr>
            <p:spPr bwMode="auto">
              <a:xfrm>
                <a:off x="251520" y="5581943"/>
                <a:ext cx="144016" cy="0"/>
              </a:xfrm>
              <a:prstGeom prst="line">
                <a:avLst/>
              </a:prstGeom>
              <a:noFill/>
              <a:ln w="127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" name="Conector reto 17"/>
              <p:cNvCxnSpPr>
                <a:cxnSpLocks noChangeShapeType="1"/>
              </p:cNvCxnSpPr>
              <p:nvPr/>
            </p:nvCxnSpPr>
            <p:spPr bwMode="auto">
              <a:xfrm>
                <a:off x="251520" y="6715614"/>
                <a:ext cx="144016" cy="0"/>
              </a:xfrm>
              <a:prstGeom prst="line">
                <a:avLst/>
              </a:prstGeom>
              <a:noFill/>
              <a:ln w="127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7" name="Conector reto 18"/>
              <p:cNvCxnSpPr>
                <a:cxnSpLocks noChangeShapeType="1"/>
              </p:cNvCxnSpPr>
              <p:nvPr/>
            </p:nvCxnSpPr>
            <p:spPr bwMode="auto">
              <a:xfrm>
                <a:off x="251520" y="6035520"/>
                <a:ext cx="144016" cy="0"/>
              </a:xfrm>
              <a:prstGeom prst="line">
                <a:avLst/>
              </a:prstGeom>
              <a:noFill/>
              <a:ln w="127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8" name="Conector reto 19"/>
              <p:cNvCxnSpPr>
                <a:cxnSpLocks noChangeShapeType="1"/>
              </p:cNvCxnSpPr>
              <p:nvPr/>
            </p:nvCxnSpPr>
            <p:spPr bwMode="auto">
              <a:xfrm>
                <a:off x="251520" y="6242138"/>
                <a:ext cx="144016" cy="0"/>
              </a:xfrm>
              <a:prstGeom prst="line">
                <a:avLst/>
              </a:prstGeom>
              <a:noFill/>
              <a:ln w="127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9" name="Conector reto 20"/>
              <p:cNvCxnSpPr>
                <a:cxnSpLocks noChangeShapeType="1"/>
              </p:cNvCxnSpPr>
              <p:nvPr/>
            </p:nvCxnSpPr>
            <p:spPr bwMode="auto">
              <a:xfrm>
                <a:off x="251520" y="6410450"/>
                <a:ext cx="144016" cy="0"/>
              </a:xfrm>
              <a:prstGeom prst="line">
                <a:avLst/>
              </a:prstGeom>
              <a:noFill/>
              <a:ln w="127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0" name="Conector reto 21"/>
              <p:cNvCxnSpPr>
                <a:cxnSpLocks noChangeShapeType="1"/>
              </p:cNvCxnSpPr>
              <p:nvPr/>
            </p:nvCxnSpPr>
            <p:spPr bwMode="auto">
              <a:xfrm>
                <a:off x="251520" y="6537944"/>
                <a:ext cx="144016" cy="0"/>
              </a:xfrm>
              <a:prstGeom prst="line">
                <a:avLst/>
              </a:prstGeom>
              <a:noFill/>
              <a:ln w="127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" name="Conector reto 22"/>
              <p:cNvCxnSpPr>
                <a:cxnSpLocks noChangeShapeType="1"/>
              </p:cNvCxnSpPr>
              <p:nvPr/>
            </p:nvCxnSpPr>
            <p:spPr bwMode="auto">
              <a:xfrm>
                <a:off x="251520" y="6580046"/>
                <a:ext cx="144016" cy="0"/>
              </a:xfrm>
              <a:prstGeom prst="line">
                <a:avLst/>
              </a:prstGeom>
              <a:noFill/>
              <a:ln w="127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" name="Conector reto 23"/>
              <p:cNvCxnSpPr>
                <a:cxnSpLocks noChangeShapeType="1"/>
              </p:cNvCxnSpPr>
              <p:nvPr/>
            </p:nvCxnSpPr>
            <p:spPr bwMode="auto">
              <a:xfrm>
                <a:off x="251520" y="6639938"/>
                <a:ext cx="144016" cy="0"/>
              </a:xfrm>
              <a:prstGeom prst="line">
                <a:avLst/>
              </a:prstGeom>
              <a:noFill/>
              <a:ln w="127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3" name="Conector reto 24"/>
              <p:cNvCxnSpPr>
                <a:cxnSpLocks noChangeShapeType="1"/>
              </p:cNvCxnSpPr>
              <p:nvPr/>
            </p:nvCxnSpPr>
            <p:spPr bwMode="auto">
              <a:xfrm>
                <a:off x="251520" y="6769832"/>
                <a:ext cx="144016" cy="0"/>
              </a:xfrm>
              <a:prstGeom prst="line">
                <a:avLst/>
              </a:prstGeom>
              <a:noFill/>
              <a:ln w="127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4" name="Conector reto 25"/>
              <p:cNvCxnSpPr>
                <a:cxnSpLocks noChangeShapeType="1"/>
              </p:cNvCxnSpPr>
              <p:nvPr/>
            </p:nvCxnSpPr>
            <p:spPr bwMode="auto">
              <a:xfrm>
                <a:off x="251520" y="5239255"/>
                <a:ext cx="144016" cy="0"/>
              </a:xfrm>
              <a:prstGeom prst="line">
                <a:avLst/>
              </a:prstGeom>
              <a:noFill/>
              <a:ln w="127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5" name="Conector reto 26"/>
              <p:cNvCxnSpPr>
                <a:cxnSpLocks noChangeShapeType="1"/>
              </p:cNvCxnSpPr>
              <p:nvPr/>
            </p:nvCxnSpPr>
            <p:spPr bwMode="auto">
              <a:xfrm>
                <a:off x="251520" y="5874562"/>
                <a:ext cx="144016" cy="0"/>
              </a:xfrm>
              <a:prstGeom prst="line">
                <a:avLst/>
              </a:prstGeom>
              <a:noFill/>
              <a:ln w="127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6" name="Conector reto 27"/>
              <p:cNvCxnSpPr>
                <a:cxnSpLocks noChangeShapeType="1"/>
              </p:cNvCxnSpPr>
              <p:nvPr/>
            </p:nvCxnSpPr>
            <p:spPr bwMode="auto">
              <a:xfrm>
                <a:off x="251520" y="6611584"/>
                <a:ext cx="144016" cy="0"/>
              </a:xfrm>
              <a:prstGeom prst="line">
                <a:avLst/>
              </a:prstGeom>
              <a:noFill/>
              <a:ln w="127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" name="Conector reto 28"/>
              <p:cNvCxnSpPr>
                <a:cxnSpLocks noChangeShapeType="1"/>
              </p:cNvCxnSpPr>
              <p:nvPr/>
            </p:nvCxnSpPr>
            <p:spPr bwMode="auto">
              <a:xfrm>
                <a:off x="251520" y="6147514"/>
                <a:ext cx="144016" cy="0"/>
              </a:xfrm>
              <a:prstGeom prst="line">
                <a:avLst/>
              </a:prstGeom>
              <a:noFill/>
              <a:ln w="127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8" name="Conector reto 29"/>
              <p:cNvCxnSpPr>
                <a:cxnSpLocks noChangeShapeType="1"/>
              </p:cNvCxnSpPr>
              <p:nvPr/>
            </p:nvCxnSpPr>
            <p:spPr bwMode="auto">
              <a:xfrm>
                <a:off x="251520" y="6335494"/>
                <a:ext cx="144016" cy="0"/>
              </a:xfrm>
              <a:prstGeom prst="line">
                <a:avLst/>
              </a:prstGeom>
              <a:noFill/>
              <a:ln w="127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9" name="Conector reto 30"/>
              <p:cNvCxnSpPr>
                <a:cxnSpLocks noChangeShapeType="1"/>
              </p:cNvCxnSpPr>
              <p:nvPr/>
            </p:nvCxnSpPr>
            <p:spPr bwMode="auto">
              <a:xfrm>
                <a:off x="251520" y="6496690"/>
                <a:ext cx="144016" cy="0"/>
              </a:xfrm>
              <a:prstGeom prst="line">
                <a:avLst/>
              </a:prstGeom>
              <a:noFill/>
              <a:ln w="127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0" name="Conector reto 31"/>
              <p:cNvCxnSpPr>
                <a:cxnSpLocks noChangeShapeType="1"/>
              </p:cNvCxnSpPr>
              <p:nvPr/>
            </p:nvCxnSpPr>
            <p:spPr bwMode="auto">
              <a:xfrm>
                <a:off x="251520" y="6556582"/>
                <a:ext cx="144016" cy="0"/>
              </a:xfrm>
              <a:prstGeom prst="line">
                <a:avLst/>
              </a:prstGeom>
              <a:noFill/>
              <a:ln w="127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" name="Conector reto 32"/>
              <p:cNvCxnSpPr>
                <a:cxnSpLocks noChangeShapeType="1"/>
              </p:cNvCxnSpPr>
              <p:nvPr/>
            </p:nvCxnSpPr>
            <p:spPr bwMode="auto">
              <a:xfrm>
                <a:off x="251520" y="6595126"/>
                <a:ext cx="144016" cy="0"/>
              </a:xfrm>
              <a:prstGeom prst="line">
                <a:avLst/>
              </a:prstGeom>
              <a:noFill/>
              <a:ln w="127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" name="Conector reto 33"/>
              <p:cNvCxnSpPr>
                <a:cxnSpLocks noChangeShapeType="1"/>
              </p:cNvCxnSpPr>
              <p:nvPr/>
            </p:nvCxnSpPr>
            <p:spPr bwMode="auto">
              <a:xfrm>
                <a:off x="251520" y="6672808"/>
                <a:ext cx="144016" cy="0"/>
              </a:xfrm>
              <a:prstGeom prst="line">
                <a:avLst/>
              </a:prstGeom>
              <a:noFill/>
              <a:ln w="127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1" name="Grupo 98"/>
            <p:cNvGrpSpPr>
              <a:grpSpLocks/>
            </p:cNvGrpSpPr>
            <p:nvPr/>
          </p:nvGrpSpPr>
          <p:grpSpPr bwMode="auto">
            <a:xfrm>
              <a:off x="4139952" y="3441056"/>
              <a:ext cx="498794" cy="3238392"/>
              <a:chOff x="3785174" y="3356992"/>
              <a:chExt cx="498794" cy="3238392"/>
            </a:xfrm>
          </p:grpSpPr>
          <p:grpSp>
            <p:nvGrpSpPr>
              <p:cNvPr id="14" name="Grupo 63"/>
              <p:cNvGrpSpPr>
                <a:grpSpLocks/>
              </p:cNvGrpSpPr>
              <p:nvPr/>
            </p:nvGrpSpPr>
            <p:grpSpPr bwMode="auto">
              <a:xfrm>
                <a:off x="4211960" y="3501008"/>
                <a:ext cx="72008" cy="2952328"/>
                <a:chOff x="3428256" y="3645024"/>
                <a:chExt cx="72008" cy="2952328"/>
              </a:xfrm>
            </p:grpSpPr>
            <p:cxnSp>
              <p:nvCxnSpPr>
                <p:cNvPr id="25" name="Conector reto 53"/>
                <p:cNvCxnSpPr>
                  <a:cxnSpLocks noChangeShapeType="1"/>
                </p:cNvCxnSpPr>
                <p:nvPr/>
              </p:nvCxnSpPr>
              <p:spPr bwMode="auto">
                <a:xfrm>
                  <a:off x="3500264" y="3645024"/>
                  <a:ext cx="0" cy="295232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6" name="Conector reto 55"/>
                <p:cNvCxnSpPr>
                  <a:cxnSpLocks noChangeShapeType="1"/>
                </p:cNvCxnSpPr>
                <p:nvPr/>
              </p:nvCxnSpPr>
              <p:spPr bwMode="auto">
                <a:xfrm>
                  <a:off x="3428256" y="3645024"/>
                  <a:ext cx="72008" cy="0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7" name="Conector reto 56"/>
                <p:cNvCxnSpPr>
                  <a:cxnSpLocks noChangeShapeType="1"/>
                </p:cNvCxnSpPr>
                <p:nvPr/>
              </p:nvCxnSpPr>
              <p:spPr bwMode="auto">
                <a:xfrm>
                  <a:off x="3428256" y="4137079"/>
                  <a:ext cx="72008" cy="0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8" name="Conector reto 57"/>
                <p:cNvCxnSpPr>
                  <a:cxnSpLocks noChangeShapeType="1"/>
                </p:cNvCxnSpPr>
                <p:nvPr/>
              </p:nvCxnSpPr>
              <p:spPr bwMode="auto">
                <a:xfrm>
                  <a:off x="3428256" y="4629134"/>
                  <a:ext cx="72008" cy="0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9" name="Conector reto 58"/>
                <p:cNvCxnSpPr>
                  <a:cxnSpLocks noChangeShapeType="1"/>
                </p:cNvCxnSpPr>
                <p:nvPr/>
              </p:nvCxnSpPr>
              <p:spPr bwMode="auto">
                <a:xfrm>
                  <a:off x="3428256" y="5121189"/>
                  <a:ext cx="72008" cy="0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0" name="Conector reto 59"/>
                <p:cNvCxnSpPr>
                  <a:cxnSpLocks noChangeShapeType="1"/>
                </p:cNvCxnSpPr>
                <p:nvPr/>
              </p:nvCxnSpPr>
              <p:spPr bwMode="auto">
                <a:xfrm>
                  <a:off x="3428256" y="5613244"/>
                  <a:ext cx="72008" cy="0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1" name="Conector reto 60"/>
                <p:cNvCxnSpPr>
                  <a:cxnSpLocks noChangeShapeType="1"/>
                </p:cNvCxnSpPr>
                <p:nvPr/>
              </p:nvCxnSpPr>
              <p:spPr bwMode="auto">
                <a:xfrm>
                  <a:off x="3428256" y="6105299"/>
                  <a:ext cx="72008" cy="0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2" name="Conector reto 61"/>
                <p:cNvCxnSpPr>
                  <a:cxnSpLocks noChangeShapeType="1"/>
                </p:cNvCxnSpPr>
                <p:nvPr/>
              </p:nvCxnSpPr>
              <p:spPr bwMode="auto">
                <a:xfrm>
                  <a:off x="3428256" y="6597352"/>
                  <a:ext cx="72008" cy="0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18" name="CaixaDeTexto 64"/>
              <p:cNvSpPr txBox="1">
                <a:spLocks noChangeArrowheads="1"/>
              </p:cNvSpPr>
              <p:nvPr/>
            </p:nvSpPr>
            <p:spPr bwMode="auto">
              <a:xfrm>
                <a:off x="3959974" y="6318268"/>
                <a:ext cx="267950" cy="277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ahoma" panose="020B0604030504040204" pitchFamily="34" charset="0"/>
                  </a:rPr>
                  <a:t>0</a:t>
                </a:r>
              </a:p>
            </p:txBody>
          </p:sp>
          <p:sp>
            <p:nvSpPr>
              <p:cNvPr id="19" name="CaixaDeTexto 65"/>
              <p:cNvSpPr txBox="1">
                <a:spLocks noChangeArrowheads="1"/>
              </p:cNvSpPr>
              <p:nvPr/>
            </p:nvSpPr>
            <p:spPr bwMode="auto">
              <a:xfrm>
                <a:off x="3876640" y="5826807"/>
                <a:ext cx="351284" cy="277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ahoma" panose="020B0604030504040204" pitchFamily="34" charset="0"/>
                  </a:rPr>
                  <a:t>20</a:t>
                </a:r>
              </a:p>
            </p:txBody>
          </p:sp>
          <p:sp>
            <p:nvSpPr>
              <p:cNvPr id="20" name="CaixaDeTexto 66"/>
              <p:cNvSpPr txBox="1">
                <a:spLocks noChangeArrowheads="1"/>
              </p:cNvSpPr>
              <p:nvPr/>
            </p:nvSpPr>
            <p:spPr bwMode="auto">
              <a:xfrm>
                <a:off x="3876640" y="5329614"/>
                <a:ext cx="351284" cy="277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ahoma" panose="020B0604030504040204" pitchFamily="34" charset="0"/>
                  </a:rPr>
                  <a:t>40</a:t>
                </a:r>
              </a:p>
            </p:txBody>
          </p:sp>
          <p:sp>
            <p:nvSpPr>
              <p:cNvPr id="21" name="CaixaDeTexto 67"/>
              <p:cNvSpPr txBox="1">
                <a:spLocks noChangeArrowheads="1"/>
              </p:cNvSpPr>
              <p:nvPr/>
            </p:nvSpPr>
            <p:spPr bwMode="auto">
              <a:xfrm>
                <a:off x="3876640" y="4848140"/>
                <a:ext cx="351284" cy="277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ahoma" panose="020B0604030504040204" pitchFamily="34" charset="0"/>
                  </a:rPr>
                  <a:t>60</a:t>
                </a:r>
              </a:p>
            </p:txBody>
          </p:sp>
          <p:sp>
            <p:nvSpPr>
              <p:cNvPr id="22" name="CaixaDeTexto 68"/>
              <p:cNvSpPr txBox="1">
                <a:spLocks noChangeArrowheads="1"/>
              </p:cNvSpPr>
              <p:nvPr/>
            </p:nvSpPr>
            <p:spPr bwMode="auto">
              <a:xfrm>
                <a:off x="3876640" y="4365104"/>
                <a:ext cx="351284" cy="277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ahoma" panose="020B0604030504040204" pitchFamily="34" charset="0"/>
                  </a:rPr>
                  <a:t>80</a:t>
                </a:r>
              </a:p>
            </p:txBody>
          </p:sp>
          <p:sp>
            <p:nvSpPr>
              <p:cNvPr id="23" name="CaixaDeTexto 69"/>
              <p:cNvSpPr txBox="1">
                <a:spLocks noChangeArrowheads="1"/>
              </p:cNvSpPr>
              <p:nvPr/>
            </p:nvSpPr>
            <p:spPr bwMode="auto">
              <a:xfrm>
                <a:off x="3785174" y="3861048"/>
                <a:ext cx="44275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ahoma" panose="020B0604030504040204" pitchFamily="34" charset="0"/>
                  </a:rPr>
                  <a:t>100</a:t>
                </a:r>
              </a:p>
            </p:txBody>
          </p:sp>
          <p:sp>
            <p:nvSpPr>
              <p:cNvPr id="24" name="CaixaDeTexto 70"/>
              <p:cNvSpPr txBox="1">
                <a:spLocks noChangeArrowheads="1"/>
              </p:cNvSpPr>
              <p:nvPr/>
            </p:nvSpPr>
            <p:spPr bwMode="auto">
              <a:xfrm>
                <a:off x="3785174" y="3356992"/>
                <a:ext cx="44275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ahoma" panose="020B0604030504040204" pitchFamily="34" charset="0"/>
                  </a:rPr>
                  <a:t>120</a:t>
                </a:r>
              </a:p>
            </p:txBody>
          </p:sp>
        </p:grpSp>
      </p:grpSp>
      <p:grpSp>
        <p:nvGrpSpPr>
          <p:cNvPr id="15" name="Grupo 99"/>
          <p:cNvGrpSpPr>
            <a:grpSpLocks/>
          </p:cNvGrpSpPr>
          <p:nvPr/>
        </p:nvGrpSpPr>
        <p:grpSpPr bwMode="auto">
          <a:xfrm>
            <a:off x="6124576" y="5410200"/>
            <a:ext cx="2062968" cy="539750"/>
            <a:chOff x="5405088" y="5325808"/>
            <a:chExt cx="2062419" cy="540000"/>
          </a:xfrm>
        </p:grpSpPr>
        <p:sp>
          <p:nvSpPr>
            <p:cNvPr id="54" name="Chave direita 86"/>
            <p:cNvSpPr>
              <a:spLocks/>
            </p:cNvSpPr>
            <p:nvPr/>
          </p:nvSpPr>
          <p:spPr bwMode="auto">
            <a:xfrm>
              <a:off x="5405088" y="5325808"/>
              <a:ext cx="108000" cy="540000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55" name="CaixaDeTexto 90"/>
            <p:cNvSpPr txBox="1">
              <a:spLocks noChangeArrowheads="1"/>
            </p:cNvSpPr>
            <p:nvPr/>
          </p:nvSpPr>
          <p:spPr bwMode="auto">
            <a:xfrm>
              <a:off x="5463004" y="5457524"/>
              <a:ext cx="2004503" cy="277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 i="1" dirty="0">
                  <a:latin typeface="Times New Roman" charset="0"/>
                  <a:cs typeface="Times New Roman" charset="0"/>
                </a:rPr>
                <a:t>DIQ</a:t>
              </a:r>
              <a:r>
                <a:rPr lang="pt-BR" altLang="pt-BR" sz="1200" dirty="0">
                  <a:latin typeface="Tahoma" panose="020B0604030504040204" pitchFamily="34" charset="0"/>
                </a:rPr>
                <a:t> (distância interquartil)</a:t>
              </a:r>
            </a:p>
          </p:txBody>
        </p:sp>
      </p:grpSp>
      <p:grpSp>
        <p:nvGrpSpPr>
          <p:cNvPr id="16" name="Grupo 125"/>
          <p:cNvGrpSpPr>
            <a:grpSpLocks/>
          </p:cNvGrpSpPr>
          <p:nvPr/>
        </p:nvGrpSpPr>
        <p:grpSpPr bwMode="auto">
          <a:xfrm>
            <a:off x="6124575" y="4592638"/>
            <a:ext cx="784225" cy="2178050"/>
            <a:chOff x="5405088" y="4509120"/>
            <a:chExt cx="784397" cy="2178152"/>
          </a:xfrm>
        </p:grpSpPr>
        <p:grpSp>
          <p:nvGrpSpPr>
            <p:cNvPr id="17" name="Grupo 100"/>
            <p:cNvGrpSpPr>
              <a:grpSpLocks/>
            </p:cNvGrpSpPr>
            <p:nvPr/>
          </p:nvGrpSpPr>
          <p:grpSpPr bwMode="auto">
            <a:xfrm>
              <a:off x="5405088" y="4509120"/>
              <a:ext cx="784397" cy="810000"/>
              <a:chOff x="5405088" y="4509120"/>
              <a:chExt cx="784397" cy="810000"/>
            </a:xfrm>
          </p:grpSpPr>
          <p:sp>
            <p:nvSpPr>
              <p:cNvPr id="61" name="Chave direita 91"/>
              <p:cNvSpPr>
                <a:spLocks/>
              </p:cNvSpPr>
              <p:nvPr/>
            </p:nvSpPr>
            <p:spPr bwMode="auto">
              <a:xfrm>
                <a:off x="5405088" y="4509120"/>
                <a:ext cx="108000" cy="810000"/>
              </a:xfrm>
              <a:prstGeom prst="rightBrace">
                <a:avLst>
                  <a:gd name="adj1" fmla="val 8333"/>
                  <a:gd name="adj2" fmla="val 50000"/>
                </a:avLst>
              </a:prstGeom>
              <a:noFill/>
              <a:ln w="9525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62" name="CaixaDeTexto 93"/>
              <p:cNvSpPr txBox="1">
                <a:spLocks noChangeArrowheads="1"/>
              </p:cNvSpPr>
              <p:nvPr/>
            </p:nvSpPr>
            <p:spPr bwMode="auto">
              <a:xfrm>
                <a:off x="5463004" y="4777097"/>
                <a:ext cx="726481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imes New Roman" charset="0"/>
                    <a:cs typeface="Times New Roman" charset="0"/>
                  </a:rPr>
                  <a:t>1,5*</a:t>
                </a:r>
                <a:r>
                  <a:rPr lang="pt-BR" altLang="pt-BR" sz="1200" i="1" dirty="0">
                    <a:latin typeface="Times New Roman" charset="0"/>
                    <a:cs typeface="Times New Roman" charset="0"/>
                  </a:rPr>
                  <a:t>DIQ</a:t>
                </a: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53" name="Grupo 101"/>
            <p:cNvGrpSpPr>
              <a:grpSpLocks/>
            </p:cNvGrpSpPr>
            <p:nvPr/>
          </p:nvGrpSpPr>
          <p:grpSpPr bwMode="auto">
            <a:xfrm>
              <a:off x="5405088" y="5877272"/>
              <a:ext cx="784397" cy="810000"/>
              <a:chOff x="5405088" y="5877272"/>
              <a:chExt cx="784397" cy="810000"/>
            </a:xfrm>
          </p:grpSpPr>
          <p:sp>
            <p:nvSpPr>
              <p:cNvPr id="59" name="Chave direita 92"/>
              <p:cNvSpPr>
                <a:spLocks/>
              </p:cNvSpPr>
              <p:nvPr/>
            </p:nvSpPr>
            <p:spPr bwMode="auto">
              <a:xfrm>
                <a:off x="5405088" y="5877272"/>
                <a:ext cx="108000" cy="810000"/>
              </a:xfrm>
              <a:prstGeom prst="rightBrace">
                <a:avLst>
                  <a:gd name="adj1" fmla="val 8333"/>
                  <a:gd name="adj2" fmla="val 50000"/>
                </a:avLst>
              </a:prstGeom>
              <a:noFill/>
              <a:ln w="9525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60" name="CaixaDeTexto 94"/>
              <p:cNvSpPr txBox="1">
                <a:spLocks noChangeArrowheads="1"/>
              </p:cNvSpPr>
              <p:nvPr/>
            </p:nvSpPr>
            <p:spPr bwMode="auto">
              <a:xfrm>
                <a:off x="5463004" y="6137227"/>
                <a:ext cx="726481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200" dirty="0">
                    <a:latin typeface="Times New Roman" charset="0"/>
                    <a:cs typeface="Times New Roman" charset="0"/>
                  </a:rPr>
                  <a:t>1,5*</a:t>
                </a:r>
                <a:r>
                  <a:rPr lang="pt-BR" altLang="pt-BR" sz="1200" i="1" dirty="0">
                    <a:latin typeface="Times New Roman" charset="0"/>
                    <a:cs typeface="Times New Roman" charset="0"/>
                  </a:rPr>
                  <a:t>DIQ</a:t>
                </a: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</p:grpSp>
      </p:grpSp>
      <p:grpSp>
        <p:nvGrpSpPr>
          <p:cNvPr id="56" name="Grupo 124"/>
          <p:cNvGrpSpPr>
            <a:grpSpLocks/>
          </p:cNvGrpSpPr>
          <p:nvPr/>
        </p:nvGrpSpPr>
        <p:grpSpPr bwMode="auto">
          <a:xfrm>
            <a:off x="4751651" y="5305426"/>
            <a:ext cx="1333238" cy="763132"/>
            <a:chOff x="4032233" y="5221103"/>
            <a:chExt cx="1331815" cy="762975"/>
          </a:xfrm>
        </p:grpSpPr>
        <p:sp>
          <p:nvSpPr>
            <p:cNvPr id="64" name="Retângulo 9"/>
            <p:cNvSpPr>
              <a:spLocks noChangeArrowheads="1"/>
            </p:cNvSpPr>
            <p:nvPr/>
          </p:nvSpPr>
          <p:spPr bwMode="auto">
            <a:xfrm>
              <a:off x="5004048" y="5327736"/>
              <a:ext cx="360000" cy="5400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grpSp>
          <p:nvGrpSpPr>
            <p:cNvPr id="57" name="Grupo 110"/>
            <p:cNvGrpSpPr>
              <a:grpSpLocks/>
            </p:cNvGrpSpPr>
            <p:nvPr/>
          </p:nvGrpSpPr>
          <p:grpSpPr bwMode="auto">
            <a:xfrm>
              <a:off x="4032233" y="5768678"/>
              <a:ext cx="899807" cy="215400"/>
              <a:chOff x="4032233" y="5768678"/>
              <a:chExt cx="899807" cy="215400"/>
            </a:xfrm>
          </p:grpSpPr>
          <p:cxnSp>
            <p:nvCxnSpPr>
              <p:cNvPr id="69" name="Conector reto 37"/>
              <p:cNvCxnSpPr>
                <a:cxnSpLocks noChangeShapeType="1"/>
              </p:cNvCxnSpPr>
              <p:nvPr/>
            </p:nvCxnSpPr>
            <p:spPr bwMode="auto">
              <a:xfrm>
                <a:off x="4566144" y="5871294"/>
                <a:ext cx="365896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0" name="CaixaDeTexto 69"/>
              <p:cNvSpPr txBox="1"/>
              <p:nvPr/>
            </p:nvSpPr>
            <p:spPr>
              <a:xfrm>
                <a:off x="4032233" y="5768678"/>
                <a:ext cx="596001" cy="2154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pt-BR" sz="800" dirty="0">
                    <a:latin typeface="Tahoma" panose="020B0604030504040204" pitchFamily="34" charset="0"/>
                    <a:cs typeface="Times New Roman" pitchFamily="18" charset="0"/>
                  </a:rPr>
                  <a:t>1</a:t>
                </a:r>
                <a:r>
                  <a:rPr lang="pt-BR" sz="800" u="sng" baseline="30000" dirty="0">
                    <a:latin typeface="Tahoma" panose="020B0604030504040204" pitchFamily="34" charset="0"/>
                    <a:cs typeface="Times New Roman" pitchFamily="18" charset="0"/>
                  </a:rPr>
                  <a:t>o</a:t>
                </a:r>
                <a:r>
                  <a:rPr lang="pt-BR" sz="800" dirty="0">
                    <a:latin typeface="Tahoma" panose="020B0604030504040204" pitchFamily="34" charset="0"/>
                    <a:cs typeface="Times New Roman" pitchFamily="18" charset="0"/>
                  </a:rPr>
                  <a:t> quartil</a:t>
                </a:r>
                <a:endParaRPr lang="pt-BR" sz="800" dirty="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58" name="Grupo 112"/>
            <p:cNvGrpSpPr>
              <a:grpSpLocks/>
            </p:cNvGrpSpPr>
            <p:nvPr/>
          </p:nvGrpSpPr>
          <p:grpSpPr bwMode="auto">
            <a:xfrm>
              <a:off x="4032234" y="5221103"/>
              <a:ext cx="899806" cy="215400"/>
              <a:chOff x="4032234" y="5221103"/>
              <a:chExt cx="899806" cy="215400"/>
            </a:xfrm>
          </p:grpSpPr>
          <p:cxnSp>
            <p:nvCxnSpPr>
              <p:cNvPr id="67" name="Conector reto 38"/>
              <p:cNvCxnSpPr>
                <a:cxnSpLocks noChangeShapeType="1"/>
              </p:cNvCxnSpPr>
              <p:nvPr/>
            </p:nvCxnSpPr>
            <p:spPr bwMode="auto">
              <a:xfrm>
                <a:off x="4566144" y="5325455"/>
                <a:ext cx="365896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68" name="CaixaDeTexto 67"/>
              <p:cNvSpPr txBox="1"/>
              <p:nvPr/>
            </p:nvSpPr>
            <p:spPr>
              <a:xfrm>
                <a:off x="4032234" y="5221103"/>
                <a:ext cx="596001" cy="2154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pt-BR" sz="800" dirty="0">
                    <a:latin typeface="Tahoma" panose="020B0604030504040204" pitchFamily="34" charset="0"/>
                    <a:cs typeface="Times New Roman" pitchFamily="18" charset="0"/>
                  </a:rPr>
                  <a:t>3</a:t>
                </a:r>
                <a:r>
                  <a:rPr lang="pt-BR" sz="800" u="sng" baseline="30000" dirty="0">
                    <a:latin typeface="Tahoma" panose="020B0604030504040204" pitchFamily="34" charset="0"/>
                    <a:cs typeface="Times New Roman" pitchFamily="18" charset="0"/>
                  </a:rPr>
                  <a:t>o</a:t>
                </a:r>
                <a:r>
                  <a:rPr lang="pt-BR" sz="800" dirty="0">
                    <a:latin typeface="Tahoma" panose="020B0604030504040204" pitchFamily="34" charset="0"/>
                    <a:cs typeface="Times New Roman" pitchFamily="18" charset="0"/>
                  </a:rPr>
                  <a:t> quartil</a:t>
                </a:r>
                <a:endParaRPr lang="pt-BR" sz="800" dirty="0">
                  <a:latin typeface="Tahoma" panose="020B0604030504040204" pitchFamily="34" charset="0"/>
                </a:endParaRPr>
              </a:p>
            </p:txBody>
          </p:sp>
        </p:grpSp>
      </p:grpSp>
      <p:grpSp>
        <p:nvGrpSpPr>
          <p:cNvPr id="63" name="Grupo 123"/>
          <p:cNvGrpSpPr>
            <a:grpSpLocks/>
          </p:cNvGrpSpPr>
          <p:nvPr/>
        </p:nvGrpSpPr>
        <p:grpSpPr bwMode="auto">
          <a:xfrm>
            <a:off x="4776788" y="5724525"/>
            <a:ext cx="1308100" cy="215900"/>
            <a:chOff x="4056360" y="5641118"/>
            <a:chExt cx="1307688" cy="215444"/>
          </a:xfrm>
        </p:grpSpPr>
        <p:cxnSp>
          <p:nvCxnSpPr>
            <p:cNvPr id="72" name="Conector reto 11"/>
            <p:cNvCxnSpPr>
              <a:cxnSpLocks noChangeShapeType="1"/>
            </p:cNvCxnSpPr>
            <p:nvPr/>
          </p:nvCxnSpPr>
          <p:spPr bwMode="auto">
            <a:xfrm>
              <a:off x="5004048" y="5742338"/>
              <a:ext cx="3600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65" name="Grupo 122"/>
            <p:cNvGrpSpPr>
              <a:grpSpLocks/>
            </p:cNvGrpSpPr>
            <p:nvPr/>
          </p:nvGrpSpPr>
          <p:grpSpPr bwMode="auto">
            <a:xfrm>
              <a:off x="4056360" y="5641118"/>
              <a:ext cx="875680" cy="215444"/>
              <a:chOff x="4056360" y="5641118"/>
              <a:chExt cx="875680" cy="215444"/>
            </a:xfrm>
          </p:grpSpPr>
          <p:cxnSp>
            <p:nvCxnSpPr>
              <p:cNvPr id="74" name="Conector reto 36"/>
              <p:cNvCxnSpPr>
                <a:cxnSpLocks noChangeShapeType="1"/>
              </p:cNvCxnSpPr>
              <p:nvPr/>
            </p:nvCxnSpPr>
            <p:spPr bwMode="auto">
              <a:xfrm>
                <a:off x="4566144" y="5745269"/>
                <a:ext cx="365896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5" name="CaixaDeTexto 74"/>
              <p:cNvSpPr txBox="1"/>
              <p:nvPr/>
            </p:nvSpPr>
            <p:spPr>
              <a:xfrm>
                <a:off x="4056360" y="5641118"/>
                <a:ext cx="571320" cy="215444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r">
                  <a:defRPr/>
                </a:pPr>
                <a:r>
                  <a:rPr lang="pt-BR" sz="800" dirty="0">
                    <a:latin typeface="Tahoma" panose="020B0604030504040204" pitchFamily="34" charset="0"/>
                    <a:cs typeface="Times New Roman" pitchFamily="18" charset="0"/>
                  </a:rPr>
                  <a:t>mediana</a:t>
                </a:r>
                <a:endParaRPr lang="pt-BR" sz="800" dirty="0">
                  <a:latin typeface="Tahoma" panose="020B0604030504040204" pitchFamily="34" charset="0"/>
                </a:endParaRPr>
              </a:p>
            </p:txBody>
          </p:sp>
        </p:grpSp>
      </p:grpSp>
      <p:grpSp>
        <p:nvGrpSpPr>
          <p:cNvPr id="66" name="Grupo 126"/>
          <p:cNvGrpSpPr>
            <a:grpSpLocks/>
          </p:cNvGrpSpPr>
          <p:nvPr/>
        </p:nvGrpSpPr>
        <p:grpSpPr bwMode="auto">
          <a:xfrm>
            <a:off x="4595813" y="4500563"/>
            <a:ext cx="803275" cy="1981200"/>
            <a:chOff x="3875575" y="4416422"/>
            <a:chExt cx="803559" cy="1980662"/>
          </a:xfrm>
        </p:grpSpPr>
        <p:grpSp>
          <p:nvGrpSpPr>
            <p:cNvPr id="71" name="Grupo 109"/>
            <p:cNvGrpSpPr>
              <a:grpSpLocks/>
            </p:cNvGrpSpPr>
            <p:nvPr/>
          </p:nvGrpSpPr>
          <p:grpSpPr bwMode="auto">
            <a:xfrm>
              <a:off x="3875575" y="4416422"/>
              <a:ext cx="774571" cy="338554"/>
              <a:chOff x="3875575" y="4416422"/>
              <a:chExt cx="774571" cy="338554"/>
            </a:xfrm>
          </p:grpSpPr>
          <p:sp>
            <p:nvSpPr>
              <p:cNvPr id="81" name="CaixaDeTexto 80"/>
              <p:cNvSpPr txBox="1"/>
              <p:nvPr/>
            </p:nvSpPr>
            <p:spPr>
              <a:xfrm>
                <a:off x="3875575" y="4416422"/>
                <a:ext cx="774974" cy="33804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pt-BR" sz="800" dirty="0">
                    <a:latin typeface="Tahoma" panose="020B0604030504040204" pitchFamily="34" charset="0"/>
                    <a:cs typeface="Times New Roman" pitchFamily="18" charset="0"/>
                  </a:rPr>
                  <a:t>último ponto</a:t>
                </a:r>
              </a:p>
              <a:p>
                <a:pPr>
                  <a:defRPr/>
                </a:pPr>
                <a:r>
                  <a:rPr lang="pt-BR" sz="800" dirty="0">
                    <a:latin typeface="Tahoma" panose="020B0604030504040204" pitchFamily="34" charset="0"/>
                    <a:cs typeface="Times New Roman" pitchFamily="18" charset="0"/>
                  </a:rPr>
                  <a:t>superior</a:t>
                </a:r>
                <a:endParaRPr lang="pt-BR" sz="800" dirty="0">
                  <a:latin typeface="Tahoma" panose="020B0604030504040204" pitchFamily="34" charset="0"/>
                </a:endParaRPr>
              </a:p>
            </p:txBody>
          </p:sp>
          <p:cxnSp>
            <p:nvCxnSpPr>
              <p:cNvPr id="82" name="Conector reto 105"/>
              <p:cNvCxnSpPr>
                <a:cxnSpLocks noChangeShapeType="1"/>
              </p:cNvCxnSpPr>
              <p:nvPr/>
            </p:nvCxnSpPr>
            <p:spPr bwMode="auto">
              <a:xfrm>
                <a:off x="4499992" y="4653136"/>
                <a:ext cx="116768" cy="7200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3" name="Grupo 108"/>
            <p:cNvGrpSpPr>
              <a:grpSpLocks/>
            </p:cNvGrpSpPr>
            <p:nvPr/>
          </p:nvGrpSpPr>
          <p:grpSpPr bwMode="auto">
            <a:xfrm>
              <a:off x="3904563" y="6017150"/>
              <a:ext cx="774571" cy="379934"/>
              <a:chOff x="3904563" y="6017150"/>
              <a:chExt cx="774571" cy="379934"/>
            </a:xfrm>
          </p:grpSpPr>
          <p:sp>
            <p:nvSpPr>
              <p:cNvPr id="79" name="CaixaDeTexto 78"/>
              <p:cNvSpPr txBox="1"/>
              <p:nvPr/>
            </p:nvSpPr>
            <p:spPr>
              <a:xfrm>
                <a:off x="3904160" y="6059038"/>
                <a:ext cx="774974" cy="338046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pt-BR" sz="800" dirty="0">
                    <a:latin typeface="Tahoma" panose="020B0604030504040204" pitchFamily="34" charset="0"/>
                    <a:cs typeface="Times New Roman" pitchFamily="18" charset="0"/>
                  </a:rPr>
                  <a:t>último ponto</a:t>
                </a:r>
              </a:p>
              <a:p>
                <a:pPr>
                  <a:defRPr/>
                </a:pPr>
                <a:r>
                  <a:rPr lang="pt-BR" sz="800" dirty="0">
                    <a:latin typeface="Tahoma" panose="020B0604030504040204" pitchFamily="34" charset="0"/>
                    <a:cs typeface="Times New Roman" pitchFamily="18" charset="0"/>
                  </a:rPr>
                  <a:t>inferior</a:t>
                </a:r>
                <a:endParaRPr lang="pt-BR" sz="800" dirty="0">
                  <a:latin typeface="Tahoma" panose="020B0604030504040204" pitchFamily="34" charset="0"/>
                </a:endParaRPr>
              </a:p>
            </p:txBody>
          </p:sp>
          <p:cxnSp>
            <p:nvCxnSpPr>
              <p:cNvPr id="80" name="Conector reto 107"/>
              <p:cNvCxnSpPr>
                <a:cxnSpLocks noChangeShapeType="1"/>
              </p:cNvCxnSpPr>
              <p:nvPr/>
            </p:nvCxnSpPr>
            <p:spPr bwMode="auto">
              <a:xfrm flipV="1">
                <a:off x="4504130" y="6017150"/>
                <a:ext cx="116768" cy="7200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prstDash val="dash"/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76" name="Grupo 119"/>
          <p:cNvGrpSpPr>
            <a:grpSpLocks/>
          </p:cNvGrpSpPr>
          <p:nvPr/>
        </p:nvGrpSpPr>
        <p:grpSpPr bwMode="auto">
          <a:xfrm>
            <a:off x="4806051" y="3660513"/>
            <a:ext cx="534824" cy="619212"/>
            <a:chOff x="4086398" y="3812509"/>
            <a:chExt cx="533836" cy="620465"/>
          </a:xfrm>
        </p:grpSpPr>
        <p:sp>
          <p:nvSpPr>
            <p:cNvPr id="84" name="CaixaDeTexto 83"/>
            <p:cNvSpPr txBox="1"/>
            <p:nvPr/>
          </p:nvSpPr>
          <p:spPr>
            <a:xfrm>
              <a:off x="4086398" y="4111652"/>
              <a:ext cx="517134" cy="215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-BR" sz="800" i="1" dirty="0" err="1">
                  <a:latin typeface="Tahoma" panose="020B0604030504040204" pitchFamily="34" charset="0"/>
                  <a:cs typeface="Times New Roman" pitchFamily="18" charset="0"/>
                </a:rPr>
                <a:t>outliers</a:t>
              </a:r>
              <a:endParaRPr lang="pt-BR" sz="800" i="1" dirty="0">
                <a:latin typeface="Tahoma" panose="020B0604030504040204" pitchFamily="34" charset="0"/>
              </a:endParaRPr>
            </a:p>
          </p:txBody>
        </p:sp>
        <p:cxnSp>
          <p:nvCxnSpPr>
            <p:cNvPr id="85" name="Conector reto 116"/>
            <p:cNvCxnSpPr>
              <a:cxnSpLocks noChangeShapeType="1"/>
            </p:cNvCxnSpPr>
            <p:nvPr/>
          </p:nvCxnSpPr>
          <p:spPr bwMode="auto">
            <a:xfrm>
              <a:off x="4427984" y="4313786"/>
              <a:ext cx="188560" cy="1191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5" name="Conector reto 116"/>
            <p:cNvCxnSpPr>
              <a:cxnSpLocks noChangeShapeType="1"/>
            </p:cNvCxnSpPr>
            <p:nvPr/>
          </p:nvCxnSpPr>
          <p:spPr bwMode="auto">
            <a:xfrm flipV="1">
              <a:off x="4431677" y="3812509"/>
              <a:ext cx="188557" cy="32465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7" name="Grupo 129"/>
          <p:cNvGrpSpPr>
            <a:grpSpLocks/>
          </p:cNvGrpSpPr>
          <p:nvPr/>
        </p:nvGrpSpPr>
        <p:grpSpPr bwMode="auto">
          <a:xfrm>
            <a:off x="6135688" y="3771900"/>
            <a:ext cx="784225" cy="809625"/>
            <a:chOff x="6674324" y="3521063"/>
            <a:chExt cx="784397" cy="810000"/>
          </a:xfrm>
        </p:grpSpPr>
        <p:sp>
          <p:nvSpPr>
            <p:cNvPr id="88" name="Chave direita 127"/>
            <p:cNvSpPr>
              <a:spLocks/>
            </p:cNvSpPr>
            <p:nvPr/>
          </p:nvSpPr>
          <p:spPr bwMode="auto">
            <a:xfrm>
              <a:off x="6674324" y="3521063"/>
              <a:ext cx="108000" cy="810000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89" name="CaixaDeTexto 128"/>
            <p:cNvSpPr txBox="1">
              <a:spLocks noChangeArrowheads="1"/>
            </p:cNvSpPr>
            <p:nvPr/>
          </p:nvSpPr>
          <p:spPr bwMode="auto">
            <a:xfrm>
              <a:off x="6732240" y="3789040"/>
              <a:ext cx="72648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 dirty="0">
                  <a:latin typeface="Times New Roman" charset="0"/>
                  <a:cs typeface="Times New Roman" charset="0"/>
                </a:rPr>
                <a:t>1,5*</a:t>
              </a:r>
              <a:r>
                <a:rPr lang="pt-BR" altLang="pt-BR" sz="1200" i="1" dirty="0">
                  <a:latin typeface="Times New Roman" charset="0"/>
                  <a:cs typeface="Times New Roman" charset="0"/>
                </a:rPr>
                <a:t>DIQ</a:t>
              </a:r>
              <a:endParaRPr lang="pt-BR" altLang="pt-BR" sz="12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78" name="Grupo 118786"/>
          <p:cNvGrpSpPr/>
          <p:nvPr/>
        </p:nvGrpSpPr>
        <p:grpSpPr>
          <a:xfrm>
            <a:off x="4660038" y="3227201"/>
            <a:ext cx="702991" cy="767856"/>
            <a:chOff x="4660038" y="3227201"/>
            <a:chExt cx="702991" cy="767856"/>
          </a:xfrm>
        </p:grpSpPr>
        <p:sp>
          <p:nvSpPr>
            <p:cNvPr id="92" name="CaixaDeTexto 91"/>
            <p:cNvSpPr txBox="1"/>
            <p:nvPr/>
          </p:nvSpPr>
          <p:spPr bwMode="auto">
            <a:xfrm>
              <a:off x="4660038" y="3227201"/>
              <a:ext cx="558165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-BR" sz="800" i="1" dirty="0" err="1">
                  <a:latin typeface="Tahoma" panose="020B0604030504040204" pitchFamily="34" charset="0"/>
                  <a:cs typeface="Times New Roman" pitchFamily="18" charset="0"/>
                </a:rPr>
                <a:t>outlier</a:t>
              </a:r>
              <a:endParaRPr lang="pt-BR" sz="800" i="1" dirty="0">
                <a:latin typeface="Tahoma" panose="020B0604030504040204" pitchFamily="34" charset="0"/>
                <a:cs typeface="Times New Roman" pitchFamily="18" charset="0"/>
              </a:endParaRPr>
            </a:p>
            <a:p>
              <a:pPr>
                <a:defRPr/>
              </a:pPr>
              <a:r>
                <a:rPr lang="pt-BR" sz="800" dirty="0">
                  <a:latin typeface="Tahoma" panose="020B0604030504040204" pitchFamily="34" charset="0"/>
                  <a:cs typeface="Times New Roman" pitchFamily="18" charset="0"/>
                </a:rPr>
                <a:t>extremo</a:t>
              </a:r>
              <a:endParaRPr lang="pt-BR" sz="800" dirty="0">
                <a:latin typeface="Tahoma" panose="020B0604030504040204" pitchFamily="34" charset="0"/>
              </a:endParaRPr>
            </a:p>
          </p:txBody>
        </p:sp>
        <p:cxnSp>
          <p:nvCxnSpPr>
            <p:cNvPr id="93" name="Conector reto 116"/>
            <p:cNvCxnSpPr>
              <a:cxnSpLocks noChangeShapeType="1"/>
            </p:cNvCxnSpPr>
            <p:nvPr/>
          </p:nvCxnSpPr>
          <p:spPr bwMode="auto">
            <a:xfrm>
              <a:off x="5148266" y="3526076"/>
              <a:ext cx="188909" cy="11894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8785" name="Retângulo 118784"/>
            <p:cNvSpPr/>
            <p:nvPr/>
          </p:nvSpPr>
          <p:spPr>
            <a:xfrm>
              <a:off x="5065095" y="3660513"/>
              <a:ext cx="297934" cy="3345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347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94" grpId="0" animBg="1"/>
      <p:bldP spid="12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>
              <a:defRPr/>
            </a:pPr>
            <a:r>
              <a:rPr lang="pt-BR" dirty="0" err="1"/>
              <a:t>Boxplot</a:t>
            </a:r>
            <a:endParaRPr lang="pt-BR" dirty="0"/>
          </a:p>
        </p:txBody>
      </p:sp>
      <p:grpSp>
        <p:nvGrpSpPr>
          <p:cNvPr id="2" name="Grupo 98"/>
          <p:cNvGrpSpPr>
            <a:grpSpLocks/>
          </p:cNvGrpSpPr>
          <p:nvPr/>
        </p:nvGrpSpPr>
        <p:grpSpPr bwMode="auto">
          <a:xfrm>
            <a:off x="755650" y="2060575"/>
            <a:ext cx="498475" cy="3238481"/>
            <a:chOff x="3785174" y="3356992"/>
            <a:chExt cx="498794" cy="3238256"/>
          </a:xfrm>
        </p:grpSpPr>
        <p:grpSp>
          <p:nvGrpSpPr>
            <p:cNvPr id="3" name="Grupo 63"/>
            <p:cNvGrpSpPr>
              <a:grpSpLocks/>
            </p:cNvGrpSpPr>
            <p:nvPr/>
          </p:nvGrpSpPr>
          <p:grpSpPr bwMode="auto">
            <a:xfrm>
              <a:off x="4211960" y="3501008"/>
              <a:ext cx="72008" cy="2952328"/>
              <a:chOff x="3428256" y="3645024"/>
              <a:chExt cx="72008" cy="2952328"/>
            </a:xfrm>
          </p:grpSpPr>
          <p:cxnSp>
            <p:nvCxnSpPr>
              <p:cNvPr id="10303" name="Conector reto 53"/>
              <p:cNvCxnSpPr>
                <a:cxnSpLocks noChangeShapeType="1"/>
              </p:cNvCxnSpPr>
              <p:nvPr/>
            </p:nvCxnSpPr>
            <p:spPr bwMode="auto">
              <a:xfrm>
                <a:off x="3500264" y="3645024"/>
                <a:ext cx="0" cy="295232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04" name="Conector reto 55"/>
              <p:cNvCxnSpPr>
                <a:cxnSpLocks noChangeShapeType="1"/>
              </p:cNvCxnSpPr>
              <p:nvPr/>
            </p:nvCxnSpPr>
            <p:spPr bwMode="auto">
              <a:xfrm>
                <a:off x="3428256" y="3645024"/>
                <a:ext cx="72008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05" name="Conector reto 56"/>
              <p:cNvCxnSpPr>
                <a:cxnSpLocks noChangeShapeType="1"/>
              </p:cNvCxnSpPr>
              <p:nvPr/>
            </p:nvCxnSpPr>
            <p:spPr bwMode="auto">
              <a:xfrm>
                <a:off x="3428256" y="4137079"/>
                <a:ext cx="72008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06" name="Conector reto 57"/>
              <p:cNvCxnSpPr>
                <a:cxnSpLocks noChangeShapeType="1"/>
              </p:cNvCxnSpPr>
              <p:nvPr/>
            </p:nvCxnSpPr>
            <p:spPr bwMode="auto">
              <a:xfrm>
                <a:off x="3428256" y="4629134"/>
                <a:ext cx="72008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07" name="Conector reto 58"/>
              <p:cNvCxnSpPr>
                <a:cxnSpLocks noChangeShapeType="1"/>
              </p:cNvCxnSpPr>
              <p:nvPr/>
            </p:nvCxnSpPr>
            <p:spPr bwMode="auto">
              <a:xfrm>
                <a:off x="3428256" y="5121189"/>
                <a:ext cx="72008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08" name="Conector reto 59"/>
              <p:cNvCxnSpPr>
                <a:cxnSpLocks noChangeShapeType="1"/>
              </p:cNvCxnSpPr>
              <p:nvPr/>
            </p:nvCxnSpPr>
            <p:spPr bwMode="auto">
              <a:xfrm>
                <a:off x="3428256" y="5613244"/>
                <a:ext cx="72008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09" name="Conector reto 60"/>
              <p:cNvCxnSpPr>
                <a:cxnSpLocks noChangeShapeType="1"/>
              </p:cNvCxnSpPr>
              <p:nvPr/>
            </p:nvCxnSpPr>
            <p:spPr bwMode="auto">
              <a:xfrm>
                <a:off x="3428256" y="6105299"/>
                <a:ext cx="72008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10" name="Conector reto 61"/>
              <p:cNvCxnSpPr>
                <a:cxnSpLocks noChangeShapeType="1"/>
              </p:cNvCxnSpPr>
              <p:nvPr/>
            </p:nvCxnSpPr>
            <p:spPr bwMode="auto">
              <a:xfrm>
                <a:off x="3428256" y="6597352"/>
                <a:ext cx="72008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0296" name="CaixaDeTexto 64"/>
            <p:cNvSpPr txBox="1">
              <a:spLocks noChangeArrowheads="1"/>
            </p:cNvSpPr>
            <p:nvPr/>
          </p:nvSpPr>
          <p:spPr bwMode="auto">
            <a:xfrm>
              <a:off x="3959730" y="6318268"/>
              <a:ext cx="268194" cy="276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 dirty="0"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10297" name="CaixaDeTexto 65"/>
            <p:cNvSpPr txBox="1">
              <a:spLocks noChangeArrowheads="1"/>
            </p:cNvSpPr>
            <p:nvPr/>
          </p:nvSpPr>
          <p:spPr bwMode="auto">
            <a:xfrm>
              <a:off x="3876321" y="5826807"/>
              <a:ext cx="351603" cy="276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 dirty="0">
                  <a:latin typeface="Tahoma" panose="020B0604030504040204" pitchFamily="34" charset="0"/>
                </a:rPr>
                <a:t>20</a:t>
              </a:r>
            </a:p>
          </p:txBody>
        </p:sp>
        <p:sp>
          <p:nvSpPr>
            <p:cNvPr id="10298" name="CaixaDeTexto 66"/>
            <p:cNvSpPr txBox="1">
              <a:spLocks noChangeArrowheads="1"/>
            </p:cNvSpPr>
            <p:nvPr/>
          </p:nvSpPr>
          <p:spPr bwMode="auto">
            <a:xfrm>
              <a:off x="3876321" y="5329614"/>
              <a:ext cx="351603" cy="276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 dirty="0">
                  <a:latin typeface="Tahoma" panose="020B0604030504040204" pitchFamily="34" charset="0"/>
                </a:rPr>
                <a:t>40</a:t>
              </a:r>
            </a:p>
          </p:txBody>
        </p:sp>
        <p:sp>
          <p:nvSpPr>
            <p:cNvPr id="10299" name="CaixaDeTexto 67"/>
            <p:cNvSpPr txBox="1">
              <a:spLocks noChangeArrowheads="1"/>
            </p:cNvSpPr>
            <p:nvPr/>
          </p:nvSpPr>
          <p:spPr bwMode="auto">
            <a:xfrm>
              <a:off x="3876321" y="4848140"/>
              <a:ext cx="351603" cy="276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 dirty="0">
                  <a:latin typeface="Tahoma" panose="020B0604030504040204" pitchFamily="34" charset="0"/>
                </a:rPr>
                <a:t>60</a:t>
              </a:r>
            </a:p>
          </p:txBody>
        </p:sp>
        <p:sp>
          <p:nvSpPr>
            <p:cNvPr id="10300" name="CaixaDeTexto 68"/>
            <p:cNvSpPr txBox="1">
              <a:spLocks noChangeArrowheads="1"/>
            </p:cNvSpPr>
            <p:nvPr/>
          </p:nvSpPr>
          <p:spPr bwMode="auto">
            <a:xfrm>
              <a:off x="3876321" y="4365104"/>
              <a:ext cx="351603" cy="276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 dirty="0">
                  <a:latin typeface="Tahoma" panose="020B0604030504040204" pitchFamily="34" charset="0"/>
                </a:rPr>
                <a:t>80</a:t>
              </a:r>
            </a:p>
          </p:txBody>
        </p:sp>
        <p:sp>
          <p:nvSpPr>
            <p:cNvPr id="10301" name="CaixaDeTexto 69"/>
            <p:cNvSpPr txBox="1">
              <a:spLocks noChangeArrowheads="1"/>
            </p:cNvSpPr>
            <p:nvPr/>
          </p:nvSpPr>
          <p:spPr bwMode="auto">
            <a:xfrm>
              <a:off x="3785174" y="3861048"/>
              <a:ext cx="44275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 dirty="0">
                  <a:latin typeface="Tahoma" panose="020B0604030504040204" pitchFamily="34" charset="0"/>
                </a:rPr>
                <a:t>100</a:t>
              </a:r>
            </a:p>
          </p:txBody>
        </p:sp>
        <p:sp>
          <p:nvSpPr>
            <p:cNvPr id="10302" name="CaixaDeTexto 70"/>
            <p:cNvSpPr txBox="1">
              <a:spLocks noChangeArrowheads="1"/>
            </p:cNvSpPr>
            <p:nvPr/>
          </p:nvSpPr>
          <p:spPr bwMode="auto">
            <a:xfrm>
              <a:off x="3785174" y="3356992"/>
              <a:ext cx="44275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200" dirty="0">
                  <a:latin typeface="Tahoma" panose="020B0604030504040204" pitchFamily="34" charset="0"/>
                </a:rPr>
                <a:t>120</a:t>
              </a:r>
            </a:p>
          </p:txBody>
        </p:sp>
      </p:grpSp>
      <p:grpSp>
        <p:nvGrpSpPr>
          <p:cNvPr id="4" name="Grupo 178"/>
          <p:cNvGrpSpPr>
            <a:grpSpLocks/>
          </p:cNvGrpSpPr>
          <p:nvPr/>
        </p:nvGrpSpPr>
        <p:grpSpPr bwMode="auto">
          <a:xfrm>
            <a:off x="2171700" y="3854450"/>
            <a:ext cx="360363" cy="1579563"/>
            <a:chOff x="2315763" y="4575998"/>
            <a:chExt cx="360000" cy="1578853"/>
          </a:xfrm>
        </p:grpSpPr>
        <p:grpSp>
          <p:nvGrpSpPr>
            <p:cNvPr id="5" name="Grupo 162"/>
            <p:cNvGrpSpPr>
              <a:grpSpLocks/>
            </p:cNvGrpSpPr>
            <p:nvPr/>
          </p:nvGrpSpPr>
          <p:grpSpPr bwMode="auto">
            <a:xfrm>
              <a:off x="2315763" y="4575998"/>
              <a:ext cx="360000" cy="468000"/>
              <a:chOff x="2315763" y="4142764"/>
              <a:chExt cx="360000" cy="603336"/>
            </a:xfrm>
          </p:grpSpPr>
          <p:cxnSp>
            <p:nvCxnSpPr>
              <p:cNvPr id="10293" name="Conector reto 122"/>
              <p:cNvCxnSpPr>
                <a:cxnSpLocks noChangeShapeType="1"/>
              </p:cNvCxnSpPr>
              <p:nvPr/>
            </p:nvCxnSpPr>
            <p:spPr bwMode="auto">
              <a:xfrm>
                <a:off x="2315763" y="4142764"/>
                <a:ext cx="36000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294" name="Conector reto 124"/>
              <p:cNvCxnSpPr>
                <a:cxnSpLocks noChangeShapeType="1"/>
              </p:cNvCxnSpPr>
              <p:nvPr/>
            </p:nvCxnSpPr>
            <p:spPr bwMode="auto">
              <a:xfrm>
                <a:off x="2495763" y="4142764"/>
                <a:ext cx="0" cy="603336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6" name="Grupo 165"/>
            <p:cNvGrpSpPr>
              <a:grpSpLocks/>
            </p:cNvGrpSpPr>
            <p:nvPr/>
          </p:nvGrpSpPr>
          <p:grpSpPr bwMode="auto">
            <a:xfrm>
              <a:off x="2315763" y="5580448"/>
              <a:ext cx="360000" cy="144000"/>
              <a:chOff x="2315763" y="5286100"/>
              <a:chExt cx="360000" cy="144000"/>
            </a:xfrm>
          </p:grpSpPr>
          <p:cxnSp>
            <p:nvCxnSpPr>
              <p:cNvPr id="10291" name="Conector reto 123"/>
              <p:cNvCxnSpPr>
                <a:cxnSpLocks noChangeShapeType="1"/>
              </p:cNvCxnSpPr>
              <p:nvPr/>
            </p:nvCxnSpPr>
            <p:spPr bwMode="auto">
              <a:xfrm>
                <a:off x="2315763" y="5428234"/>
                <a:ext cx="36000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292" name="Conector reto 125"/>
              <p:cNvCxnSpPr>
                <a:cxnSpLocks noChangeShapeType="1"/>
              </p:cNvCxnSpPr>
              <p:nvPr/>
            </p:nvCxnSpPr>
            <p:spPr bwMode="auto">
              <a:xfrm flipH="1">
                <a:off x="2495561" y="5286100"/>
                <a:ext cx="405" cy="14400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" name="Grupo 156"/>
            <p:cNvGrpSpPr>
              <a:grpSpLocks/>
            </p:cNvGrpSpPr>
            <p:nvPr/>
          </p:nvGrpSpPr>
          <p:grpSpPr bwMode="auto">
            <a:xfrm>
              <a:off x="2315763" y="5040448"/>
              <a:ext cx="360000" cy="540000"/>
              <a:chOff x="2315763" y="4746100"/>
              <a:chExt cx="360000" cy="540000"/>
            </a:xfrm>
          </p:grpSpPr>
          <p:sp>
            <p:nvSpPr>
              <p:cNvPr id="10289" name="Retângulo 117"/>
              <p:cNvSpPr>
                <a:spLocks noChangeArrowheads="1"/>
              </p:cNvSpPr>
              <p:nvPr/>
            </p:nvSpPr>
            <p:spPr bwMode="auto">
              <a:xfrm>
                <a:off x="2315763" y="4746100"/>
                <a:ext cx="360000" cy="5400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cxnSp>
            <p:nvCxnSpPr>
              <p:cNvPr id="10290" name="Conector reto 119"/>
              <p:cNvCxnSpPr>
                <a:cxnSpLocks noChangeShapeType="1"/>
              </p:cNvCxnSpPr>
              <p:nvPr/>
            </p:nvCxnSpPr>
            <p:spPr bwMode="auto">
              <a:xfrm>
                <a:off x="2315763" y="5160702"/>
                <a:ext cx="36000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0288" name="CaixaDeTexto 152"/>
            <p:cNvSpPr txBox="1">
              <a:spLocks noChangeArrowheads="1"/>
            </p:cNvSpPr>
            <p:nvPr/>
          </p:nvSpPr>
          <p:spPr bwMode="auto">
            <a:xfrm>
              <a:off x="2338508" y="5816297"/>
              <a:ext cx="31451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0000"/>
                  </a:solidFill>
                  <a:latin typeface="Tahoma" panose="020B0604030504040204" pitchFamily="34" charset="0"/>
                </a:rPr>
                <a:t>B</a:t>
              </a:r>
            </a:p>
          </p:txBody>
        </p:sp>
      </p:grpSp>
      <p:grpSp>
        <p:nvGrpSpPr>
          <p:cNvPr id="8" name="Grupo 177"/>
          <p:cNvGrpSpPr>
            <a:grpSpLocks/>
          </p:cNvGrpSpPr>
          <p:nvPr/>
        </p:nvGrpSpPr>
        <p:grpSpPr bwMode="auto">
          <a:xfrm>
            <a:off x="2868613" y="2492375"/>
            <a:ext cx="358775" cy="2941638"/>
            <a:chOff x="3011854" y="3212976"/>
            <a:chExt cx="360000" cy="2941875"/>
          </a:xfrm>
        </p:grpSpPr>
        <p:sp>
          <p:nvSpPr>
            <p:cNvPr id="10274" name="Elipse 135"/>
            <p:cNvSpPr>
              <a:spLocks noChangeArrowheads="1"/>
            </p:cNvSpPr>
            <p:nvPr/>
          </p:nvSpPr>
          <p:spPr bwMode="auto">
            <a:xfrm>
              <a:off x="3173854" y="4689144"/>
              <a:ext cx="36000" cy="360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grpSp>
          <p:nvGrpSpPr>
            <p:cNvPr id="9" name="Grupo 161"/>
            <p:cNvGrpSpPr>
              <a:grpSpLocks/>
            </p:cNvGrpSpPr>
            <p:nvPr/>
          </p:nvGrpSpPr>
          <p:grpSpPr bwMode="auto">
            <a:xfrm flipV="1">
              <a:off x="3011854" y="3835332"/>
              <a:ext cx="360000" cy="540000"/>
              <a:chOff x="3011854" y="4142674"/>
              <a:chExt cx="360000" cy="603336"/>
            </a:xfrm>
          </p:grpSpPr>
          <p:cxnSp>
            <p:nvCxnSpPr>
              <p:cNvPr id="10283" name="Conector reto 136"/>
              <p:cNvCxnSpPr>
                <a:cxnSpLocks noChangeShapeType="1"/>
              </p:cNvCxnSpPr>
              <p:nvPr/>
            </p:nvCxnSpPr>
            <p:spPr bwMode="auto">
              <a:xfrm>
                <a:off x="3011854" y="4142674"/>
                <a:ext cx="36000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284" name="Conector reto 138"/>
              <p:cNvCxnSpPr>
                <a:cxnSpLocks noChangeShapeType="1"/>
              </p:cNvCxnSpPr>
              <p:nvPr/>
            </p:nvCxnSpPr>
            <p:spPr bwMode="auto">
              <a:xfrm>
                <a:off x="3191854" y="4142674"/>
                <a:ext cx="0" cy="603336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0" name="Grupo 166"/>
            <p:cNvGrpSpPr>
              <a:grpSpLocks/>
            </p:cNvGrpSpPr>
            <p:nvPr/>
          </p:nvGrpSpPr>
          <p:grpSpPr bwMode="auto">
            <a:xfrm flipV="1">
              <a:off x="3011854" y="3212976"/>
              <a:ext cx="360000" cy="144000"/>
              <a:chOff x="3011854" y="5286010"/>
              <a:chExt cx="360000" cy="144000"/>
            </a:xfrm>
          </p:grpSpPr>
          <p:cxnSp>
            <p:nvCxnSpPr>
              <p:cNvPr id="10281" name="Conector reto 137"/>
              <p:cNvCxnSpPr>
                <a:cxnSpLocks noChangeShapeType="1"/>
              </p:cNvCxnSpPr>
              <p:nvPr/>
            </p:nvCxnSpPr>
            <p:spPr bwMode="auto">
              <a:xfrm>
                <a:off x="3011854" y="5428144"/>
                <a:ext cx="36000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282" name="Conector reto 139"/>
              <p:cNvCxnSpPr>
                <a:cxnSpLocks noChangeShapeType="1"/>
              </p:cNvCxnSpPr>
              <p:nvPr/>
            </p:nvCxnSpPr>
            <p:spPr bwMode="auto">
              <a:xfrm flipH="1">
                <a:off x="3191652" y="5286010"/>
                <a:ext cx="405" cy="14400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1" name="Grupo 157"/>
            <p:cNvGrpSpPr>
              <a:grpSpLocks/>
            </p:cNvGrpSpPr>
            <p:nvPr/>
          </p:nvGrpSpPr>
          <p:grpSpPr bwMode="auto">
            <a:xfrm flipV="1">
              <a:off x="3011854" y="3356976"/>
              <a:ext cx="360000" cy="468000"/>
              <a:chOff x="3011854" y="4746010"/>
              <a:chExt cx="360000" cy="540000"/>
            </a:xfrm>
          </p:grpSpPr>
          <p:sp>
            <p:nvSpPr>
              <p:cNvPr id="10279" name="Retângulo 132"/>
              <p:cNvSpPr>
                <a:spLocks noChangeArrowheads="1"/>
              </p:cNvSpPr>
              <p:nvPr/>
            </p:nvSpPr>
            <p:spPr bwMode="auto">
              <a:xfrm>
                <a:off x="3011854" y="4746010"/>
                <a:ext cx="360000" cy="5400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cxnSp>
            <p:nvCxnSpPr>
              <p:cNvPr id="10280" name="Conector reto 133"/>
              <p:cNvCxnSpPr>
                <a:cxnSpLocks noChangeShapeType="1"/>
              </p:cNvCxnSpPr>
              <p:nvPr/>
            </p:nvCxnSpPr>
            <p:spPr bwMode="auto">
              <a:xfrm>
                <a:off x="3011854" y="5069970"/>
                <a:ext cx="36000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0278" name="CaixaDeTexto 153"/>
            <p:cNvSpPr txBox="1">
              <a:spLocks noChangeArrowheads="1"/>
            </p:cNvSpPr>
            <p:nvPr/>
          </p:nvSpPr>
          <p:spPr bwMode="auto">
            <a:xfrm>
              <a:off x="3037805" y="5816297"/>
              <a:ext cx="30809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0000"/>
                  </a:solidFill>
                  <a:latin typeface="Tahoma" panose="020B0604030504040204" pitchFamily="34" charset="0"/>
                </a:rPr>
                <a:t>C</a:t>
              </a:r>
            </a:p>
          </p:txBody>
        </p:sp>
      </p:grpSp>
      <p:grpSp>
        <p:nvGrpSpPr>
          <p:cNvPr id="12" name="Grupo 175"/>
          <p:cNvGrpSpPr>
            <a:grpSpLocks/>
          </p:cNvGrpSpPr>
          <p:nvPr/>
        </p:nvGrpSpPr>
        <p:grpSpPr bwMode="auto">
          <a:xfrm>
            <a:off x="3568700" y="2708275"/>
            <a:ext cx="360363" cy="2725738"/>
            <a:chOff x="3712366" y="3429000"/>
            <a:chExt cx="360000" cy="2725851"/>
          </a:xfrm>
        </p:grpSpPr>
        <p:grpSp>
          <p:nvGrpSpPr>
            <p:cNvPr id="13" name="Grupo 159"/>
            <p:cNvGrpSpPr>
              <a:grpSpLocks/>
            </p:cNvGrpSpPr>
            <p:nvPr/>
          </p:nvGrpSpPr>
          <p:grpSpPr bwMode="auto">
            <a:xfrm>
              <a:off x="3712366" y="3429000"/>
              <a:ext cx="360000" cy="684000"/>
              <a:chOff x="3712366" y="4142674"/>
              <a:chExt cx="360000" cy="603336"/>
            </a:xfrm>
          </p:grpSpPr>
          <p:cxnSp>
            <p:nvCxnSpPr>
              <p:cNvPr id="10272" name="Conector reto 147"/>
              <p:cNvCxnSpPr>
                <a:cxnSpLocks noChangeShapeType="1"/>
              </p:cNvCxnSpPr>
              <p:nvPr/>
            </p:nvCxnSpPr>
            <p:spPr bwMode="auto">
              <a:xfrm>
                <a:off x="3712366" y="4142674"/>
                <a:ext cx="36000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273" name="Conector reto 149"/>
              <p:cNvCxnSpPr>
                <a:cxnSpLocks noChangeShapeType="1"/>
              </p:cNvCxnSpPr>
              <p:nvPr/>
            </p:nvCxnSpPr>
            <p:spPr bwMode="auto">
              <a:xfrm>
                <a:off x="3892366" y="4142674"/>
                <a:ext cx="0" cy="603336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4" name="Grupo 167"/>
            <p:cNvGrpSpPr>
              <a:grpSpLocks/>
            </p:cNvGrpSpPr>
            <p:nvPr/>
          </p:nvGrpSpPr>
          <p:grpSpPr bwMode="auto">
            <a:xfrm>
              <a:off x="3712366" y="4675436"/>
              <a:ext cx="360000" cy="684000"/>
              <a:chOff x="3712366" y="5286010"/>
              <a:chExt cx="360000" cy="142134"/>
            </a:xfrm>
          </p:grpSpPr>
          <p:cxnSp>
            <p:nvCxnSpPr>
              <p:cNvPr id="10270" name="Conector reto 148"/>
              <p:cNvCxnSpPr>
                <a:cxnSpLocks noChangeShapeType="1"/>
              </p:cNvCxnSpPr>
              <p:nvPr/>
            </p:nvCxnSpPr>
            <p:spPr bwMode="auto">
              <a:xfrm>
                <a:off x="3712366" y="5428144"/>
                <a:ext cx="36000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271" name="Conector reto 150"/>
              <p:cNvCxnSpPr>
                <a:cxnSpLocks noChangeShapeType="1"/>
              </p:cNvCxnSpPr>
              <p:nvPr/>
            </p:nvCxnSpPr>
            <p:spPr bwMode="auto">
              <a:xfrm flipH="1">
                <a:off x="3892164" y="5286010"/>
                <a:ext cx="405" cy="142134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5" name="Grupo 168"/>
            <p:cNvGrpSpPr>
              <a:grpSpLocks/>
            </p:cNvGrpSpPr>
            <p:nvPr/>
          </p:nvGrpSpPr>
          <p:grpSpPr bwMode="auto">
            <a:xfrm>
              <a:off x="3712366" y="4128712"/>
              <a:ext cx="360000" cy="540000"/>
              <a:chOff x="3712366" y="4128712"/>
              <a:chExt cx="360000" cy="540000"/>
            </a:xfrm>
          </p:grpSpPr>
          <p:sp>
            <p:nvSpPr>
              <p:cNvPr id="10268" name="Retângulo 143"/>
              <p:cNvSpPr>
                <a:spLocks noChangeArrowheads="1"/>
              </p:cNvSpPr>
              <p:nvPr/>
            </p:nvSpPr>
            <p:spPr bwMode="auto">
              <a:xfrm>
                <a:off x="3712366" y="4128712"/>
                <a:ext cx="360000" cy="5400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cxnSp>
            <p:nvCxnSpPr>
              <p:cNvPr id="10269" name="Conector reto 144"/>
              <p:cNvCxnSpPr>
                <a:cxnSpLocks noChangeShapeType="1"/>
              </p:cNvCxnSpPr>
              <p:nvPr/>
            </p:nvCxnSpPr>
            <p:spPr bwMode="auto">
              <a:xfrm>
                <a:off x="3712366" y="4398712"/>
                <a:ext cx="36000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0267" name="CaixaDeTexto 154"/>
            <p:cNvSpPr txBox="1">
              <a:spLocks noChangeArrowheads="1"/>
            </p:cNvSpPr>
            <p:nvPr/>
          </p:nvSpPr>
          <p:spPr bwMode="auto">
            <a:xfrm>
              <a:off x="3726295" y="5816297"/>
              <a:ext cx="33214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0000"/>
                  </a:solidFill>
                  <a:latin typeface="Tahoma" panose="020B0604030504040204" pitchFamily="34" charset="0"/>
                </a:rPr>
                <a:t>D</a:t>
              </a:r>
              <a:endPara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16" name="Grupo 173"/>
          <p:cNvGrpSpPr>
            <a:grpSpLocks/>
          </p:cNvGrpSpPr>
          <p:nvPr/>
        </p:nvGrpSpPr>
        <p:grpSpPr bwMode="auto">
          <a:xfrm>
            <a:off x="1476375" y="3068638"/>
            <a:ext cx="358775" cy="2365437"/>
            <a:chOff x="1619672" y="3789040"/>
            <a:chExt cx="360000" cy="2365873"/>
          </a:xfrm>
        </p:grpSpPr>
        <p:grpSp>
          <p:nvGrpSpPr>
            <p:cNvPr id="17" name="Grupo 163"/>
            <p:cNvGrpSpPr>
              <a:grpSpLocks/>
            </p:cNvGrpSpPr>
            <p:nvPr/>
          </p:nvGrpSpPr>
          <p:grpSpPr bwMode="auto">
            <a:xfrm>
              <a:off x="1619672" y="4790445"/>
              <a:ext cx="360000" cy="288053"/>
              <a:chOff x="1619672" y="4399617"/>
              <a:chExt cx="360000" cy="344788"/>
            </a:xfrm>
          </p:grpSpPr>
          <p:cxnSp>
            <p:nvCxnSpPr>
              <p:cNvPr id="10262" name="Conector reto 41"/>
              <p:cNvCxnSpPr>
                <a:cxnSpLocks noChangeShapeType="1"/>
              </p:cNvCxnSpPr>
              <p:nvPr/>
            </p:nvCxnSpPr>
            <p:spPr bwMode="auto">
              <a:xfrm>
                <a:off x="1619672" y="4408261"/>
                <a:ext cx="36000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263" name="Conector reto 44"/>
              <p:cNvCxnSpPr>
                <a:cxnSpLocks noChangeShapeType="1"/>
              </p:cNvCxnSpPr>
              <p:nvPr/>
            </p:nvCxnSpPr>
            <p:spPr bwMode="auto">
              <a:xfrm>
                <a:off x="1799673" y="4399617"/>
                <a:ext cx="0" cy="344788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8" name="Grupo 164"/>
            <p:cNvGrpSpPr>
              <a:grpSpLocks/>
            </p:cNvGrpSpPr>
            <p:nvPr/>
          </p:nvGrpSpPr>
          <p:grpSpPr bwMode="auto">
            <a:xfrm>
              <a:off x="1619672" y="5292415"/>
              <a:ext cx="360000" cy="72000"/>
              <a:chOff x="1619672" y="5292416"/>
              <a:chExt cx="360000" cy="142675"/>
            </a:xfrm>
          </p:grpSpPr>
          <p:cxnSp>
            <p:nvCxnSpPr>
              <p:cNvPr id="10260" name="Conector reto 42"/>
              <p:cNvCxnSpPr>
                <a:cxnSpLocks noChangeShapeType="1"/>
              </p:cNvCxnSpPr>
              <p:nvPr/>
            </p:nvCxnSpPr>
            <p:spPr bwMode="auto">
              <a:xfrm>
                <a:off x="1619672" y="5434550"/>
                <a:ext cx="36000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261" name="Conector reto 47"/>
              <p:cNvCxnSpPr>
                <a:cxnSpLocks noChangeShapeType="1"/>
              </p:cNvCxnSpPr>
              <p:nvPr/>
            </p:nvCxnSpPr>
            <p:spPr bwMode="auto">
              <a:xfrm flipH="1">
                <a:off x="1799470" y="5292416"/>
                <a:ext cx="405" cy="142675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9" name="Grupo 120"/>
            <p:cNvGrpSpPr>
              <a:grpSpLocks/>
            </p:cNvGrpSpPr>
            <p:nvPr/>
          </p:nvGrpSpPr>
          <p:grpSpPr bwMode="auto">
            <a:xfrm>
              <a:off x="1781672" y="4257096"/>
              <a:ext cx="36000" cy="252024"/>
              <a:chOff x="5166048" y="4202554"/>
              <a:chExt cx="36000" cy="252024"/>
            </a:xfrm>
          </p:grpSpPr>
          <p:sp>
            <p:nvSpPr>
              <p:cNvPr id="10258" name="Elipse 49"/>
              <p:cNvSpPr>
                <a:spLocks noChangeArrowheads="1"/>
              </p:cNvSpPr>
              <p:nvPr/>
            </p:nvSpPr>
            <p:spPr bwMode="auto">
              <a:xfrm>
                <a:off x="5166048" y="4418578"/>
                <a:ext cx="36000" cy="36000"/>
              </a:xfrm>
              <a:prstGeom prst="ellipse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259" name="Elipse 50"/>
              <p:cNvSpPr>
                <a:spLocks noChangeArrowheads="1"/>
              </p:cNvSpPr>
              <p:nvPr/>
            </p:nvSpPr>
            <p:spPr bwMode="auto">
              <a:xfrm>
                <a:off x="5166048" y="4202554"/>
                <a:ext cx="36000" cy="36000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0" name="Grupo 155"/>
            <p:cNvGrpSpPr>
              <a:grpSpLocks/>
            </p:cNvGrpSpPr>
            <p:nvPr/>
          </p:nvGrpSpPr>
          <p:grpSpPr bwMode="auto">
            <a:xfrm>
              <a:off x="1619672" y="5085185"/>
              <a:ext cx="360000" cy="216000"/>
              <a:chOff x="1619672" y="4752416"/>
              <a:chExt cx="360000" cy="562847"/>
            </a:xfrm>
          </p:grpSpPr>
          <p:sp>
            <p:nvSpPr>
              <p:cNvPr id="10256" name="Retângulo 9"/>
              <p:cNvSpPr>
                <a:spLocks noChangeArrowheads="1"/>
              </p:cNvSpPr>
              <p:nvPr/>
            </p:nvSpPr>
            <p:spPr bwMode="auto">
              <a:xfrm>
                <a:off x="1619672" y="4752416"/>
                <a:ext cx="360000" cy="562847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cxnSp>
            <p:nvCxnSpPr>
              <p:cNvPr id="10257" name="Conector reto 11"/>
              <p:cNvCxnSpPr>
                <a:cxnSpLocks noChangeShapeType="1"/>
              </p:cNvCxnSpPr>
              <p:nvPr/>
            </p:nvCxnSpPr>
            <p:spPr bwMode="auto">
              <a:xfrm>
                <a:off x="1619672" y="5167018"/>
                <a:ext cx="360000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0254" name="CaixaDeTexto 151"/>
            <p:cNvSpPr txBox="1">
              <a:spLocks noChangeArrowheads="1"/>
            </p:cNvSpPr>
            <p:nvPr/>
          </p:nvSpPr>
          <p:spPr bwMode="auto">
            <a:xfrm>
              <a:off x="1645098" y="5816297"/>
              <a:ext cx="309149" cy="33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dirty="0">
                  <a:solidFill>
                    <a:srgbClr val="FF0000"/>
                  </a:solidFill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10255" name="Elipse 172"/>
            <p:cNvSpPr>
              <a:spLocks noChangeArrowheads="1"/>
            </p:cNvSpPr>
            <p:nvPr/>
          </p:nvSpPr>
          <p:spPr bwMode="auto">
            <a:xfrm>
              <a:off x="1773962" y="3789040"/>
              <a:ext cx="36000" cy="36000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</p:grpSp>
      <p:sp>
        <p:nvSpPr>
          <p:cNvPr id="180" name="Text Box 28"/>
          <p:cNvSpPr txBox="1">
            <a:spLocks noChangeArrowheads="1"/>
          </p:cNvSpPr>
          <p:nvPr/>
        </p:nvSpPr>
        <p:spPr bwMode="auto">
          <a:xfrm>
            <a:off x="4500563" y="2092325"/>
            <a:ext cx="424815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AutoNum type="alphaLcParenR"/>
            </a:pPr>
            <a:r>
              <a:rPr lang="pt-BR" altLang="pt-BR" sz="1600" dirty="0">
                <a:latin typeface="Tahoma" panose="020B0604030504040204" pitchFamily="34" charset="0"/>
              </a:rPr>
              <a:t>qual é a distribuição mais simétrica?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D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Comic Sans MS" pitchFamily="66" charset="0"/>
              <a:buAutoNum type="alphaLcParenR" startAt="2"/>
            </a:pPr>
            <a:r>
              <a:rPr lang="pt-BR" altLang="pt-BR" sz="1600" dirty="0">
                <a:latin typeface="Tahoma" panose="020B0604030504040204" pitchFamily="34" charset="0"/>
              </a:rPr>
              <a:t>qual é a distribuição mais assimétrica?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A</a:t>
            </a:r>
            <a:r>
              <a:rPr lang="pt-BR" altLang="pt-BR" sz="1600" dirty="0">
                <a:latin typeface="Tahoma" panose="020B0604030504040204" pitchFamily="34" charset="0"/>
              </a:rPr>
              <a:t>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Comic Sans MS" pitchFamily="66" charset="0"/>
              <a:buAutoNum type="alphaLcParenR" startAt="3"/>
            </a:pPr>
            <a:r>
              <a:rPr lang="pt-BR" altLang="pt-BR" sz="1600" dirty="0">
                <a:latin typeface="Tahoma" panose="020B0604030504040204" pitchFamily="34" charset="0"/>
              </a:rPr>
              <a:t>quais as 2 distribuições cujos valores  mais se confundem entre si?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A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B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Comic Sans MS" pitchFamily="66" charset="0"/>
              <a:buAutoNum type="alphaLcParenR" startAt="4"/>
            </a:pPr>
            <a:r>
              <a:rPr lang="pt-BR" altLang="pt-BR" sz="1600" dirty="0">
                <a:latin typeface="Tahoma" panose="020B0604030504040204" pitchFamily="34" charset="0"/>
              </a:rPr>
              <a:t>quais as 2 distribuições cujos valores mais se distinguem entre si?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	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B</a:t>
            </a:r>
            <a:r>
              <a:rPr lang="pt-BR" altLang="pt-BR" sz="1600" dirty="0">
                <a:latin typeface="Tahoma" panose="020B0604030504040204" pitchFamily="34" charset="0"/>
              </a:rPr>
              <a:t> e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66432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Exemplo de Aplicação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7" name="Text Box 38"/>
              <p:cNvSpPr txBox="1">
                <a:spLocks noChangeArrowheads="1"/>
              </p:cNvSpPr>
              <p:nvPr/>
            </p:nvSpPr>
            <p:spPr bwMode="auto">
              <a:xfrm>
                <a:off x="400480" y="1628800"/>
                <a:ext cx="8455488" cy="19520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60363" indent="-360363"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pt-BR" altLang="pt-BR" sz="1600" dirty="0">
                    <a:latin typeface="Tahoma" panose="020B0604030504040204" pitchFamily="34" charset="0"/>
                  </a:rPr>
                  <a:t>Estimar a função de probabilidade acumulada de uma </a:t>
                </a:r>
                <a:r>
                  <a:rPr lang="pt-BR" altLang="pt-BR" sz="1600" dirty="0" err="1">
                    <a:latin typeface="Tahoma" panose="020B0604030504040204" pitchFamily="34" charset="0"/>
                  </a:rPr>
                  <a:t>v.a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. resultante da raiz quadrada da soma quadrática de duas </a:t>
                </a:r>
                <a:r>
                  <a:rPr lang="pt-BR" altLang="pt-BR" sz="1600" dirty="0" err="1">
                    <a:latin typeface="Tahoma" panose="020B0604030504040204" pitchFamily="34" charset="0"/>
                  </a:rPr>
                  <a:t>v.a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. independentes normalmente distribuídas, ambas com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/>
                  </a:rPr>
                  <a:t>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= 0 e </a:t>
                </a:r>
                <a:r>
                  <a:rPr lang="pt-BR" altLang="pt-BR" sz="1600" i="1" dirty="0">
                    <a:latin typeface="Tahoma" panose="020B0604030504040204" pitchFamily="34" charset="0"/>
                    <a:sym typeface="Symbol"/>
                  </a:rPr>
                  <a:t></a:t>
                </a:r>
                <a:r>
                  <a:rPr lang="pt-BR" altLang="pt-BR" sz="1600" dirty="0">
                    <a:latin typeface="Tahoma" panose="020B0604030504040204" pitchFamily="34" charset="0"/>
                  </a:rPr>
                  <a:t> = 1. Construa o intervalo de credibilidade de 95%.</a:t>
                </a:r>
              </a:p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pt-BR" sz="1600" b="0" i="1" smtClean="0">
                          <a:latin typeface="Cambria Math"/>
                        </a:rPr>
                        <m:t>𝑋</m:t>
                      </m:r>
                      <m:r>
                        <a:rPr lang="pt-BR" altLang="pt-BR" sz="1600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altLang="pt-BR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pt-BR" altLang="pt-B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altLang="pt-BR" sz="1600" b="0" i="1" smtClean="0">
                                  <a:latin typeface="Cambria Math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pt-BR" altLang="pt-BR" sz="1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altLang="pt-BR" sz="16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altLang="pt-BR" sz="1600" b="0" i="1" smtClean="0">
                              <a:latin typeface="Cambria Math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pt-BR" altLang="pt-BR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altLang="pt-BR" sz="1600" i="1">
                                  <a:latin typeface="Cambria Math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pt-BR" altLang="pt-BR" sz="16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pt-BR" altLang="pt-BR" sz="1600" i="1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267" name="Text 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0480" y="1628800"/>
                <a:ext cx="8455488" cy="1952009"/>
              </a:xfrm>
              <a:prstGeom prst="rect">
                <a:avLst/>
              </a:prstGeom>
              <a:blipFill>
                <a:blip r:embed="rId2"/>
                <a:stretch>
                  <a:fillRect l="-433" r="-64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FA61-E705-4028-9AB6-C3E3DACFE9D5}" type="slidenum">
              <a:rPr lang="pt-BR"/>
              <a:pPr>
                <a:defRPr/>
              </a:pPr>
              <a:t>18</a:t>
            </a:fld>
            <a:endParaRPr lang="pt-BR"/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607870"/>
              </p:ext>
            </p:extLst>
          </p:nvPr>
        </p:nvGraphicFramePr>
        <p:xfrm>
          <a:off x="467544" y="3717032"/>
          <a:ext cx="1092200" cy="1590675"/>
        </p:xfrm>
        <a:graphic>
          <a:graphicData uri="http://schemas.openxmlformats.org/drawingml/2006/table">
            <a:tbl>
              <a:tblPr/>
              <a:tblGrid>
                <a:gridCol w="54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Z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0,3264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-0,4498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0,0350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-1,8119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0,7561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0,6938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0,5314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0,0789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0,5864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0,2184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sym typeface="Symbol"/>
                        </a:rPr>
                        <a:t>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sym typeface="Symbol"/>
                        </a:rPr>
                        <a:t>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0,1881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-0,8850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5" name="Tabela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009749"/>
              </p:ext>
            </p:extLst>
          </p:nvPr>
        </p:nvGraphicFramePr>
        <p:xfrm>
          <a:off x="467544" y="3717032"/>
          <a:ext cx="2184400" cy="1590675"/>
        </p:xfrm>
        <a:graphic>
          <a:graphicData uri="http://schemas.openxmlformats.org/drawingml/2006/table">
            <a:tbl>
              <a:tblPr/>
              <a:tblGrid>
                <a:gridCol w="54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Z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Z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0,3264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-0,4498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0,5952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0,2410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0,0350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-1,8119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0,8684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1,1187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0,7561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0,6938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0,6633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0,4215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0,5314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0,0789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0,4063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-0,2371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0,5864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0,2184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0,2498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-0,6751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sym typeface="Symbol"/>
                        </a:rPr>
                        <a:t>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sym typeface="Symbol"/>
                        </a:rPr>
                        <a:t>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sym typeface="Symbol"/>
                        </a:rPr>
                        <a:t>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sym typeface="Symbol"/>
                        </a:rPr>
                        <a:t>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0,1881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-0,8850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0,9408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1,5614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6" name="Tabela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888305"/>
              </p:ext>
            </p:extLst>
          </p:nvPr>
        </p:nvGraphicFramePr>
        <p:xfrm>
          <a:off x="467544" y="3717032"/>
          <a:ext cx="2730500" cy="1590675"/>
        </p:xfrm>
        <a:graphic>
          <a:graphicData uri="http://schemas.openxmlformats.org/drawingml/2006/table">
            <a:tbl>
              <a:tblPr/>
              <a:tblGrid>
                <a:gridCol w="54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Z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U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Z</a:t>
                      </a:r>
                      <a:r>
                        <a:rPr lang="pt-BR" sz="14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0,3264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-0,4498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0,5952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0,2410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0,5103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0,0350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-1,8119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0,8684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1,1187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2,1295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0,7561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0,6938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0,6633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0,4215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0,8118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0,5314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0,0789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0,4063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-0,2371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0,2499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0,5864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0,2184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0,2498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-0,6751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0,7095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sym typeface="Symbol"/>
                        </a:rPr>
                        <a:t>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sym typeface="Symbol"/>
                        </a:rPr>
                        <a:t>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sym typeface="Symbol"/>
                        </a:rPr>
                        <a:t>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sym typeface="Symbol"/>
                        </a:rPr>
                        <a:t>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sym typeface="Symbol"/>
                        </a:rPr>
                        <a:t>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0,1881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-0,8850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0,9408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1,5614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1,7947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772024"/>
              </p:ext>
            </p:extLst>
          </p:nvPr>
        </p:nvGraphicFramePr>
        <p:xfrm>
          <a:off x="3656670" y="3717032"/>
          <a:ext cx="1320800" cy="1463040"/>
        </p:xfrm>
        <a:graphic>
          <a:graphicData uri="http://schemas.openxmlformats.org/drawingml/2006/table">
            <a:tbl>
              <a:tblPr/>
              <a:tblGrid>
                <a:gridCol w="608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FRAcum</a:t>
                      </a:r>
                      <a:endParaRPr lang="pt-BR" sz="14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0,0046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0,0172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0,0407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0,0688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sym typeface="Symbol"/>
                        </a:rPr>
                        <a:t></a:t>
                      </a:r>
                      <a:endParaRPr lang="pt-BR" sz="11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sym typeface="Symbol"/>
                        </a:rPr>
                        <a:t></a:t>
                      </a:r>
                      <a:endParaRPr lang="pt-BR" sz="1100" b="0" i="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0,9959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717032"/>
            <a:ext cx="3419872" cy="2051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1" name="Grupo 10"/>
          <p:cNvGrpSpPr/>
          <p:nvPr/>
        </p:nvGrpSpPr>
        <p:grpSpPr>
          <a:xfrm>
            <a:off x="220479" y="3960352"/>
            <a:ext cx="2345815" cy="1895434"/>
            <a:chOff x="220479" y="4176376"/>
            <a:chExt cx="2345815" cy="1895434"/>
          </a:xfrm>
        </p:grpSpPr>
        <p:sp>
          <p:nvSpPr>
            <p:cNvPr id="6" name="Retângulo 5"/>
            <p:cNvSpPr/>
            <p:nvPr/>
          </p:nvSpPr>
          <p:spPr>
            <a:xfrm>
              <a:off x="452061" y="5733256"/>
              <a:ext cx="211423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/>
              <a:r>
                <a:rPr lang="pt-BR" altLang="pt-BR" sz="1600" dirty="0">
                  <a:latin typeface="Tahoma" panose="020B0604030504040204" pitchFamily="34" charset="0"/>
                </a:rPr>
                <a:t>repetido 10000 vezes</a:t>
              </a:r>
              <a:endParaRPr lang="pt-BR" sz="1600" dirty="0">
                <a:latin typeface="Tahoma" panose="020B0604030504040204" pitchFamily="34" charset="0"/>
              </a:endParaRPr>
            </a:p>
          </p:txBody>
        </p:sp>
        <p:sp>
          <p:nvSpPr>
            <p:cNvPr id="7" name="Chave esquerda 6"/>
            <p:cNvSpPr/>
            <p:nvPr/>
          </p:nvSpPr>
          <p:spPr bwMode="auto">
            <a:xfrm>
              <a:off x="220480" y="4176376"/>
              <a:ext cx="180000" cy="1332000"/>
            </a:xfrm>
            <a:prstGeom prst="lef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p:cxnSp>
          <p:nvCxnSpPr>
            <p:cNvPr id="9" name="Conector angulado 8"/>
            <p:cNvCxnSpPr>
              <a:stCxn id="7" idx="1"/>
              <a:endCxn id="6" idx="1"/>
            </p:cNvCxnSpPr>
            <p:nvPr/>
          </p:nvCxnSpPr>
          <p:spPr bwMode="auto">
            <a:xfrm rot="10800000" flipH="1" flipV="1">
              <a:off x="220479" y="4842375"/>
              <a:ext cx="231581" cy="1060157"/>
            </a:xfrm>
            <a:prstGeom prst="bentConnector3">
              <a:avLst>
                <a:gd name="adj1" fmla="val -98713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12" name="Retângulo 11"/>
          <p:cNvSpPr/>
          <p:nvPr/>
        </p:nvSpPr>
        <p:spPr>
          <a:xfrm>
            <a:off x="480268" y="5949281"/>
            <a:ext cx="18306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pt-BR" dirty="0">
                <a:latin typeface="Tahoma" panose="020B0604030504040204" pitchFamily="34" charset="0"/>
              </a:rPr>
              <a:t>No Excel:</a:t>
            </a:r>
          </a:p>
          <a:p>
            <a:pPr algn="l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U1 = ALEATÓRIO()</a:t>
            </a:r>
          </a:p>
          <a:p>
            <a:pPr algn="l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Z1 = INV.NORMP.N(U1)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3131840" y="5949280"/>
            <a:ext cx="16081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pt-BR" dirty="0">
                <a:latin typeface="Tahoma" panose="020B0604030504040204" pitchFamily="34" charset="0"/>
              </a:rPr>
              <a:t>No R:</a:t>
            </a:r>
          </a:p>
          <a:p>
            <a:pPr algn="l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U1 &lt;-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runif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(n=10000)</a:t>
            </a:r>
          </a:p>
          <a:p>
            <a:pPr algn="l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Z1 &lt;-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qnorm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(U1)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3131840" y="6567264"/>
            <a:ext cx="194796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pt-BR" dirty="0">
                <a:latin typeface="Tahoma" panose="020B0604030504040204" pitchFamily="34" charset="0"/>
                <a:cs typeface="Arial" panose="020B0604020202020204" pitchFamily="34" charset="0"/>
              </a:rPr>
              <a:t>ou 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Z1 &lt;-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rnorm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(n=10000)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5900232" y="4201211"/>
            <a:ext cx="1358683" cy="1884058"/>
            <a:chOff x="5900232" y="4201211"/>
            <a:chExt cx="1358683" cy="1884058"/>
          </a:xfrm>
        </p:grpSpPr>
        <p:grpSp>
          <p:nvGrpSpPr>
            <p:cNvPr id="23" name="Grupo 22"/>
            <p:cNvGrpSpPr/>
            <p:nvPr/>
          </p:nvGrpSpPr>
          <p:grpSpPr>
            <a:xfrm>
              <a:off x="5900232" y="4201211"/>
              <a:ext cx="1174336" cy="1133990"/>
              <a:chOff x="5900232" y="4201211"/>
              <a:chExt cx="1174336" cy="1133990"/>
            </a:xfrm>
          </p:grpSpPr>
          <p:grpSp>
            <p:nvGrpSpPr>
              <p:cNvPr id="17" name="Grupo 16"/>
              <p:cNvGrpSpPr/>
              <p:nvPr/>
            </p:nvGrpSpPr>
            <p:grpSpPr>
              <a:xfrm>
                <a:off x="5900232" y="4578218"/>
                <a:ext cx="828000" cy="756000"/>
                <a:chOff x="5900232" y="4578218"/>
                <a:chExt cx="828000" cy="756000"/>
              </a:xfrm>
            </p:grpSpPr>
            <p:cxnSp>
              <p:nvCxnSpPr>
                <p:cNvPr id="14" name="Conector reto 13"/>
                <p:cNvCxnSpPr/>
                <p:nvPr/>
              </p:nvCxnSpPr>
              <p:spPr bwMode="auto">
                <a:xfrm>
                  <a:off x="5900232" y="4578219"/>
                  <a:ext cx="8280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ysDash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6" name="Conector reto 15"/>
                <p:cNvCxnSpPr/>
                <p:nvPr/>
              </p:nvCxnSpPr>
              <p:spPr bwMode="auto">
                <a:xfrm>
                  <a:off x="6728229" y="4578218"/>
                  <a:ext cx="0" cy="756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ysDash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25" name="Grupo 24"/>
              <p:cNvGrpSpPr/>
              <p:nvPr/>
            </p:nvGrpSpPr>
            <p:grpSpPr>
              <a:xfrm>
                <a:off x="5900232" y="4957201"/>
                <a:ext cx="532652" cy="378000"/>
                <a:chOff x="5900232" y="4578218"/>
                <a:chExt cx="828000" cy="756000"/>
              </a:xfrm>
            </p:grpSpPr>
            <p:cxnSp>
              <p:nvCxnSpPr>
                <p:cNvPr id="26" name="Conector reto 25"/>
                <p:cNvCxnSpPr/>
                <p:nvPr/>
              </p:nvCxnSpPr>
              <p:spPr bwMode="auto">
                <a:xfrm>
                  <a:off x="5900232" y="4578219"/>
                  <a:ext cx="8280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ysDash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7" name="Conector reto 26"/>
                <p:cNvCxnSpPr/>
                <p:nvPr/>
              </p:nvCxnSpPr>
              <p:spPr bwMode="auto">
                <a:xfrm>
                  <a:off x="6728229" y="4578218"/>
                  <a:ext cx="0" cy="756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ysDash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35" name="Grupo 34"/>
              <p:cNvGrpSpPr/>
              <p:nvPr/>
            </p:nvGrpSpPr>
            <p:grpSpPr>
              <a:xfrm>
                <a:off x="5900232" y="4201211"/>
                <a:ext cx="1174336" cy="1133989"/>
                <a:chOff x="5900232" y="4578218"/>
                <a:chExt cx="828000" cy="756000"/>
              </a:xfrm>
            </p:grpSpPr>
            <p:cxnSp>
              <p:nvCxnSpPr>
                <p:cNvPr id="36" name="Conector reto 35"/>
                <p:cNvCxnSpPr/>
                <p:nvPr/>
              </p:nvCxnSpPr>
              <p:spPr bwMode="auto">
                <a:xfrm>
                  <a:off x="5900232" y="4578219"/>
                  <a:ext cx="8280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ysDash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7" name="Conector reto 36"/>
                <p:cNvCxnSpPr/>
                <p:nvPr/>
              </p:nvCxnSpPr>
              <p:spPr bwMode="auto">
                <a:xfrm>
                  <a:off x="6728229" y="4578218"/>
                  <a:ext cx="0" cy="75600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ysDash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</p:grpSp>
        <p:sp>
          <p:nvSpPr>
            <p:cNvPr id="5" name="CaixaDeTexto 4"/>
            <p:cNvSpPr txBox="1"/>
            <p:nvPr/>
          </p:nvSpPr>
          <p:spPr>
            <a:xfrm>
              <a:off x="6255920" y="5449497"/>
              <a:ext cx="3497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ahoma" panose="020B0604030504040204" pitchFamily="34" charset="0"/>
                </a:rPr>
                <a:t>Q</a:t>
              </a:r>
              <a:r>
                <a:rPr lang="pt-BR" baseline="-25000" dirty="0"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28" name="CaixaDeTexto 27"/>
            <p:cNvSpPr txBox="1"/>
            <p:nvPr/>
          </p:nvSpPr>
          <p:spPr>
            <a:xfrm>
              <a:off x="6902728" y="5449497"/>
              <a:ext cx="35618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ahoma" panose="020B0604030504040204" pitchFamily="34" charset="0"/>
                </a:rPr>
                <a:t>Q</a:t>
              </a:r>
              <a:r>
                <a:rPr lang="pt-BR" baseline="-25000" dirty="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29" name="CaixaDeTexto 28"/>
            <p:cNvSpPr txBox="1"/>
            <p:nvPr/>
          </p:nvSpPr>
          <p:spPr>
            <a:xfrm rot="16200000">
              <a:off x="6362566" y="5598438"/>
              <a:ext cx="71205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50" dirty="0">
                  <a:latin typeface="Tahoma" panose="020B0604030504040204" pitchFamily="34" charset="0"/>
                </a:rPr>
                <a:t>mediana</a:t>
              </a:r>
              <a:endParaRPr lang="pt-BR" sz="1050" baseline="-25000" dirty="0">
                <a:latin typeface="Tahoma" panose="020B0604030504040204" pitchFamily="34" charset="0"/>
              </a:endParaRPr>
            </a:p>
          </p:txBody>
        </p:sp>
      </p:grpSp>
      <p:sp>
        <p:nvSpPr>
          <p:cNvPr id="31" name="Text Box 38"/>
          <p:cNvSpPr txBox="1">
            <a:spLocks noChangeArrowheads="1"/>
          </p:cNvSpPr>
          <p:nvPr/>
        </p:nvSpPr>
        <p:spPr bwMode="auto">
          <a:xfrm>
            <a:off x="0" y="6546637"/>
            <a:ext cx="2407431" cy="337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363" indent="-360363"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</a:rPr>
              <a:t>(ver Simulacao_exemplo1.xlsx)</a:t>
            </a:r>
          </a:p>
        </p:txBody>
      </p:sp>
      <p:grpSp>
        <p:nvGrpSpPr>
          <p:cNvPr id="24" name="Grupo 23"/>
          <p:cNvGrpSpPr/>
          <p:nvPr/>
        </p:nvGrpSpPr>
        <p:grpSpPr>
          <a:xfrm>
            <a:off x="5843244" y="3867517"/>
            <a:ext cx="2214837" cy="2621041"/>
            <a:chOff x="5843244" y="3867517"/>
            <a:chExt cx="2214837" cy="2621041"/>
          </a:xfrm>
        </p:grpSpPr>
        <p:grpSp>
          <p:nvGrpSpPr>
            <p:cNvPr id="41" name="Grupo 40"/>
            <p:cNvGrpSpPr/>
            <p:nvPr/>
          </p:nvGrpSpPr>
          <p:grpSpPr>
            <a:xfrm>
              <a:off x="5888667" y="5301216"/>
              <a:ext cx="180000" cy="36000"/>
              <a:chOff x="5900232" y="5784524"/>
              <a:chExt cx="828000" cy="756000"/>
            </a:xfrm>
          </p:grpSpPr>
          <p:cxnSp>
            <p:nvCxnSpPr>
              <p:cNvPr id="47" name="Conector reto 46"/>
              <p:cNvCxnSpPr/>
              <p:nvPr/>
            </p:nvCxnSpPr>
            <p:spPr bwMode="auto">
              <a:xfrm>
                <a:off x="5900232" y="5784526"/>
                <a:ext cx="8280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FF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8" name="Conector reto 47"/>
              <p:cNvCxnSpPr/>
              <p:nvPr/>
            </p:nvCxnSpPr>
            <p:spPr bwMode="auto">
              <a:xfrm>
                <a:off x="6728229" y="5784524"/>
                <a:ext cx="0" cy="756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FF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42" name="Grupo 41"/>
            <p:cNvGrpSpPr/>
            <p:nvPr/>
          </p:nvGrpSpPr>
          <p:grpSpPr>
            <a:xfrm>
              <a:off x="5888666" y="3867517"/>
              <a:ext cx="1944000" cy="1476000"/>
              <a:chOff x="5900232" y="4578218"/>
              <a:chExt cx="828000" cy="756000"/>
            </a:xfrm>
          </p:grpSpPr>
          <p:cxnSp>
            <p:nvCxnSpPr>
              <p:cNvPr id="43" name="Conector reto 42"/>
              <p:cNvCxnSpPr/>
              <p:nvPr/>
            </p:nvCxnSpPr>
            <p:spPr bwMode="auto">
              <a:xfrm>
                <a:off x="5900232" y="4578219"/>
                <a:ext cx="82800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FF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4" name="Conector reto 43"/>
              <p:cNvCxnSpPr/>
              <p:nvPr/>
            </p:nvCxnSpPr>
            <p:spPr bwMode="auto">
              <a:xfrm>
                <a:off x="6728229" y="4578218"/>
                <a:ext cx="0" cy="7560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FF0000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1" name="Chave direita 20"/>
            <p:cNvSpPr/>
            <p:nvPr/>
          </p:nvSpPr>
          <p:spPr bwMode="auto">
            <a:xfrm rot="5400000">
              <a:off x="6861040" y="5156899"/>
              <a:ext cx="179238" cy="1764000"/>
            </a:xfrm>
            <a:prstGeom prst="rightBrac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tângulo 21"/>
                <p:cNvSpPr/>
                <p:nvPr/>
              </p:nvSpPr>
              <p:spPr>
                <a:xfrm>
                  <a:off x="5843244" y="6119226"/>
                  <a:ext cx="221483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altLang="pt-BR" b="0" i="1" smtClean="0">
                            <a:latin typeface="Cambria Math"/>
                          </a:rPr>
                          <m:t>𝑃</m:t>
                        </m:r>
                        <m:d>
                          <m:dPr>
                            <m:ctrlPr>
                              <a:rPr lang="pt-BR" alt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altLang="pt-BR" b="0" i="1" smtClean="0">
                                <a:latin typeface="Cambria Math"/>
                              </a:rPr>
                              <m:t>0,229&lt;</m:t>
                            </m:r>
                            <m:r>
                              <a:rPr lang="pt-BR" altLang="pt-BR" b="0" i="1" smtClean="0">
                                <a:latin typeface="Cambria Math"/>
                              </a:rPr>
                              <m:t>𝑋</m:t>
                            </m:r>
                            <m:r>
                              <a:rPr lang="pt-BR" altLang="pt-BR" b="0" i="1" smtClean="0">
                                <a:latin typeface="Cambria Math"/>
                              </a:rPr>
                              <m:t>&lt;2,721</m:t>
                            </m:r>
                          </m:e>
                        </m:d>
                        <m:r>
                          <a:rPr lang="pt-BR" altLang="pt-BR" b="0" i="1" smtClean="0">
                            <a:latin typeface="Cambria Math"/>
                          </a:rPr>
                          <m:t>=95%</m:t>
                        </m:r>
                      </m:oMath>
                    </m:oMathPara>
                  </a14:m>
                  <a:endParaRPr lang="pt-BR" altLang="pt-BR" dirty="0">
                    <a:latin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22" name="Retângulo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3244" y="6119226"/>
                  <a:ext cx="221483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tângulo 9"/>
          <p:cNvSpPr/>
          <p:nvPr/>
        </p:nvSpPr>
        <p:spPr bwMode="auto">
          <a:xfrm>
            <a:off x="5843244" y="6131436"/>
            <a:ext cx="2185140" cy="36004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5695059" y="6522514"/>
            <a:ext cx="25112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pt-BR" dirty="0">
                <a:solidFill>
                  <a:srgbClr val="FF0000"/>
                </a:solidFill>
                <a:latin typeface="Tahoma" panose="020B0604030504040204" pitchFamily="34" charset="0"/>
              </a:rPr>
              <a:t>Intervalo de Credibilidade de 95%</a:t>
            </a:r>
            <a:endParaRPr lang="pt-BR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19" grpId="0"/>
      <p:bldP spid="10" grpId="0" animBg="1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Exemplo de Aplicação 2</a:t>
            </a:r>
          </a:p>
        </p:txBody>
      </p:sp>
      <p:sp>
        <p:nvSpPr>
          <p:cNvPr id="11267" name="Text Box 38"/>
          <p:cNvSpPr txBox="1">
            <a:spLocks noChangeArrowheads="1"/>
          </p:cNvSpPr>
          <p:nvPr/>
        </p:nvSpPr>
        <p:spPr bwMode="auto">
          <a:xfrm>
            <a:off x="4572000" y="2084655"/>
            <a:ext cx="4321175" cy="790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363" indent="-360363"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Estimar função de probabilidade de um experimento complexo (urnas)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A3FA61-E705-4028-9AB6-C3E3DACFE9D5}" type="slidenum">
              <a:rPr lang="pt-BR"/>
              <a:pPr>
                <a:defRPr/>
              </a:pPr>
              <a:t>19</a:t>
            </a:fld>
            <a:endParaRPr lang="pt-BR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928688" y="2190750"/>
            <a:ext cx="990600" cy="1371600"/>
            <a:chOff x="1104" y="1776"/>
            <a:chExt cx="624" cy="864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104" y="1776"/>
              <a:ext cx="624" cy="864"/>
            </a:xfrm>
            <a:custGeom>
              <a:avLst/>
              <a:gdLst>
                <a:gd name="T0" fmla="*/ 0 w 624"/>
                <a:gd name="T1" fmla="*/ 0 h 960"/>
                <a:gd name="T2" fmla="*/ 0 w 624"/>
                <a:gd name="T3" fmla="*/ 33 h 960"/>
                <a:gd name="T4" fmla="*/ 624 w 624"/>
                <a:gd name="T5" fmla="*/ 33 h 960"/>
                <a:gd name="T6" fmla="*/ 624 w 624"/>
                <a:gd name="T7" fmla="*/ 0 h 9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960"/>
                <a:gd name="T14" fmla="*/ 624 w 624"/>
                <a:gd name="T15" fmla="*/ 960 h 9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960">
                  <a:moveTo>
                    <a:pt x="0" y="0"/>
                  </a:moveTo>
                  <a:lnTo>
                    <a:pt x="0" y="960"/>
                  </a:lnTo>
                  <a:lnTo>
                    <a:pt x="624" y="960"/>
                  </a:lnTo>
                  <a:lnTo>
                    <a:pt x="624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1200" y="1776"/>
              <a:ext cx="192" cy="192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1440" y="1872"/>
              <a:ext cx="192" cy="19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1200" y="2064"/>
              <a:ext cx="192" cy="19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0" name="Oval 9"/>
            <p:cNvSpPr>
              <a:spLocks noChangeArrowheads="1"/>
            </p:cNvSpPr>
            <p:nvPr/>
          </p:nvSpPr>
          <p:spPr bwMode="auto">
            <a:xfrm>
              <a:off x="1440" y="2160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1200" y="2352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1488" y="2400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1344" y="1776"/>
              <a:ext cx="14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14" name="Grupo 64"/>
          <p:cNvGrpSpPr>
            <a:grpSpLocks/>
          </p:cNvGrpSpPr>
          <p:nvPr/>
        </p:nvGrpSpPr>
        <p:grpSpPr bwMode="auto">
          <a:xfrm>
            <a:off x="3081338" y="2190750"/>
            <a:ext cx="990600" cy="1371600"/>
            <a:chOff x="3962400" y="2514600"/>
            <a:chExt cx="990600" cy="1371600"/>
          </a:xfrm>
        </p:grpSpPr>
        <p:grpSp>
          <p:nvGrpSpPr>
            <p:cNvPr id="15" name="Group 20"/>
            <p:cNvGrpSpPr>
              <a:grpSpLocks/>
            </p:cNvGrpSpPr>
            <p:nvPr/>
          </p:nvGrpSpPr>
          <p:grpSpPr bwMode="auto">
            <a:xfrm>
              <a:off x="3962400" y="2514600"/>
              <a:ext cx="990600" cy="1371600"/>
              <a:chOff x="2448" y="2160"/>
              <a:chExt cx="624" cy="864"/>
            </a:xfrm>
          </p:grpSpPr>
          <p:sp>
            <p:nvSpPr>
              <p:cNvPr id="17" name="Freeform 21"/>
              <p:cNvSpPr>
                <a:spLocks/>
              </p:cNvSpPr>
              <p:nvPr/>
            </p:nvSpPr>
            <p:spPr bwMode="auto">
              <a:xfrm>
                <a:off x="2448" y="2160"/>
                <a:ext cx="624" cy="864"/>
              </a:xfrm>
              <a:custGeom>
                <a:avLst/>
                <a:gdLst>
                  <a:gd name="T0" fmla="*/ 0 w 624"/>
                  <a:gd name="T1" fmla="*/ 0 h 960"/>
                  <a:gd name="T2" fmla="*/ 0 w 624"/>
                  <a:gd name="T3" fmla="*/ 33 h 960"/>
                  <a:gd name="T4" fmla="*/ 624 w 624"/>
                  <a:gd name="T5" fmla="*/ 33 h 960"/>
                  <a:gd name="T6" fmla="*/ 624 w 624"/>
                  <a:gd name="T7" fmla="*/ 0 h 9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24"/>
                  <a:gd name="T13" fmla="*/ 0 h 960"/>
                  <a:gd name="T14" fmla="*/ 624 w 624"/>
                  <a:gd name="T15" fmla="*/ 960 h 9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24" h="960">
                    <a:moveTo>
                      <a:pt x="0" y="0"/>
                    </a:moveTo>
                    <a:lnTo>
                      <a:pt x="0" y="960"/>
                    </a:lnTo>
                    <a:lnTo>
                      <a:pt x="624" y="960"/>
                    </a:lnTo>
                    <a:lnTo>
                      <a:pt x="624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8" name="Oval 22"/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192" cy="192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" name="Oval 23"/>
              <p:cNvSpPr>
                <a:spLocks noChangeArrowheads="1"/>
              </p:cNvSpPr>
              <p:nvPr/>
            </p:nvSpPr>
            <p:spPr bwMode="auto">
              <a:xfrm>
                <a:off x="2784" y="2544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0" name="Oval 24"/>
              <p:cNvSpPr>
                <a:spLocks noChangeArrowheads="1"/>
              </p:cNvSpPr>
              <p:nvPr/>
            </p:nvSpPr>
            <p:spPr bwMode="auto">
              <a:xfrm>
                <a:off x="2544" y="2736"/>
                <a:ext cx="192" cy="192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1" name="Oval 25"/>
              <p:cNvSpPr>
                <a:spLocks noChangeArrowheads="1"/>
              </p:cNvSpPr>
              <p:nvPr/>
            </p:nvSpPr>
            <p:spPr bwMode="auto">
              <a:xfrm>
                <a:off x="2832" y="2784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2" name="Oval 23"/>
              <p:cNvSpPr>
                <a:spLocks noChangeArrowheads="1"/>
              </p:cNvSpPr>
              <p:nvPr/>
            </p:nvSpPr>
            <p:spPr bwMode="auto">
              <a:xfrm>
                <a:off x="2832" y="2241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3" name="Oval 23"/>
              <p:cNvSpPr>
                <a:spLocks noChangeArrowheads="1"/>
              </p:cNvSpPr>
              <p:nvPr/>
            </p:nvSpPr>
            <p:spPr bwMode="auto">
              <a:xfrm>
                <a:off x="2562" y="2196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6" name="Rectangle 26"/>
            <p:cNvSpPr>
              <a:spLocks noChangeArrowheads="1"/>
            </p:cNvSpPr>
            <p:nvPr/>
          </p:nvSpPr>
          <p:spPr bwMode="auto">
            <a:xfrm>
              <a:off x="4368800" y="2540000"/>
              <a:ext cx="2286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</p:grpSp>
      <p:sp>
        <p:nvSpPr>
          <p:cNvPr id="31" name="CaixaDeTexto 140"/>
          <p:cNvSpPr txBox="1">
            <a:spLocks noChangeArrowheads="1"/>
          </p:cNvSpPr>
          <p:nvPr/>
        </p:nvSpPr>
        <p:spPr bwMode="auto">
          <a:xfrm>
            <a:off x="866861" y="3357563"/>
            <a:ext cx="2776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32" name="CaixaDeTexto 141"/>
          <p:cNvSpPr txBox="1">
            <a:spLocks noChangeArrowheads="1"/>
          </p:cNvSpPr>
          <p:nvPr/>
        </p:nvSpPr>
        <p:spPr bwMode="auto">
          <a:xfrm>
            <a:off x="3030538" y="3357563"/>
            <a:ext cx="2825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33" name="CaixaDeTexto 142"/>
          <p:cNvSpPr txBox="1">
            <a:spLocks noChangeArrowheads="1"/>
          </p:cNvSpPr>
          <p:nvPr/>
        </p:nvSpPr>
        <p:spPr bwMode="auto">
          <a:xfrm>
            <a:off x="1938338" y="5273675"/>
            <a:ext cx="2825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C</a:t>
            </a:r>
          </a:p>
        </p:txBody>
      </p:sp>
      <p:grpSp>
        <p:nvGrpSpPr>
          <p:cNvPr id="34" name="Grupo 44"/>
          <p:cNvGrpSpPr>
            <a:grpSpLocks/>
          </p:cNvGrpSpPr>
          <p:nvPr/>
        </p:nvGrpSpPr>
        <p:grpSpPr bwMode="auto">
          <a:xfrm>
            <a:off x="2009775" y="4129088"/>
            <a:ext cx="990600" cy="1371600"/>
            <a:chOff x="2009775" y="4129088"/>
            <a:chExt cx="990600" cy="1371600"/>
          </a:xfrm>
        </p:grpSpPr>
        <p:sp>
          <p:nvSpPr>
            <p:cNvPr id="35" name="Oval 16"/>
            <p:cNvSpPr>
              <a:spLocks noChangeArrowheads="1"/>
            </p:cNvSpPr>
            <p:nvPr/>
          </p:nvSpPr>
          <p:spPr bwMode="auto">
            <a:xfrm>
              <a:off x="2435288" y="4262032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36" name="Freeform 21"/>
            <p:cNvSpPr>
              <a:spLocks/>
            </p:cNvSpPr>
            <p:nvPr/>
          </p:nvSpPr>
          <p:spPr bwMode="auto">
            <a:xfrm>
              <a:off x="2009775" y="4129088"/>
              <a:ext cx="990600" cy="1371600"/>
            </a:xfrm>
            <a:custGeom>
              <a:avLst/>
              <a:gdLst>
                <a:gd name="T0" fmla="*/ 0 w 624"/>
                <a:gd name="T1" fmla="*/ 0 h 960"/>
                <a:gd name="T2" fmla="*/ 0 w 624"/>
                <a:gd name="T3" fmla="*/ 2147483647 h 960"/>
                <a:gd name="T4" fmla="*/ 2147483647 w 624"/>
                <a:gd name="T5" fmla="*/ 2147483647 h 960"/>
                <a:gd name="T6" fmla="*/ 2147483647 w 624"/>
                <a:gd name="T7" fmla="*/ 0 h 9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960"/>
                <a:gd name="T14" fmla="*/ 624 w 624"/>
                <a:gd name="T15" fmla="*/ 960 h 9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960">
                  <a:moveTo>
                    <a:pt x="0" y="0"/>
                  </a:moveTo>
                  <a:lnTo>
                    <a:pt x="0" y="960"/>
                  </a:lnTo>
                  <a:lnTo>
                    <a:pt x="624" y="960"/>
                  </a:lnTo>
                  <a:lnTo>
                    <a:pt x="624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37" name="Oval 22"/>
            <p:cNvSpPr>
              <a:spLocks noChangeArrowheads="1"/>
            </p:cNvSpPr>
            <p:nvPr/>
          </p:nvSpPr>
          <p:spPr bwMode="auto">
            <a:xfrm>
              <a:off x="2162175" y="4581776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38" name="Oval 23"/>
            <p:cNvSpPr>
              <a:spLocks noChangeArrowheads="1"/>
            </p:cNvSpPr>
            <p:nvPr/>
          </p:nvSpPr>
          <p:spPr bwMode="auto">
            <a:xfrm>
              <a:off x="2548876" y="4731904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39" name="Oval 24"/>
            <p:cNvSpPr>
              <a:spLocks noChangeArrowheads="1"/>
            </p:cNvSpPr>
            <p:nvPr/>
          </p:nvSpPr>
          <p:spPr bwMode="auto">
            <a:xfrm>
              <a:off x="2162175" y="5043488"/>
              <a:ext cx="304800" cy="3048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40" name="Oval 25"/>
            <p:cNvSpPr>
              <a:spLocks noChangeArrowheads="1"/>
            </p:cNvSpPr>
            <p:nvPr/>
          </p:nvSpPr>
          <p:spPr bwMode="auto">
            <a:xfrm>
              <a:off x="2619375" y="5119688"/>
              <a:ext cx="304800" cy="304800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</p:grpSp>
      <p:sp>
        <p:nvSpPr>
          <p:cNvPr id="41" name="Text Box 38"/>
          <p:cNvSpPr txBox="1">
            <a:spLocks noChangeArrowheads="1"/>
          </p:cNvSpPr>
          <p:nvPr/>
        </p:nvSpPr>
        <p:spPr bwMode="auto">
          <a:xfrm>
            <a:off x="0" y="6546637"/>
            <a:ext cx="2407431" cy="337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363" indent="-360363"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</a:rPr>
              <a:t>(ver Simulacao_exemplo2.xlsx)</a:t>
            </a:r>
          </a:p>
        </p:txBody>
      </p:sp>
    </p:spTree>
    <p:extLst>
      <p:ext uri="{BB962C8B-B14F-4D97-AF65-F5344CB8AC3E}">
        <p14:creationId xmlns:p14="http://schemas.microsoft.com/office/powerpoint/2010/main" val="861387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Exemplo de Aplicação 2</a:t>
            </a:r>
          </a:p>
        </p:txBody>
      </p:sp>
      <p:grpSp>
        <p:nvGrpSpPr>
          <p:cNvPr id="12291" name="Group 4"/>
          <p:cNvGrpSpPr>
            <a:grpSpLocks/>
          </p:cNvGrpSpPr>
          <p:nvPr/>
        </p:nvGrpSpPr>
        <p:grpSpPr bwMode="auto">
          <a:xfrm>
            <a:off x="928688" y="2190750"/>
            <a:ext cx="990600" cy="1371600"/>
            <a:chOff x="1104" y="1776"/>
            <a:chExt cx="624" cy="864"/>
          </a:xfrm>
        </p:grpSpPr>
        <p:sp>
          <p:nvSpPr>
            <p:cNvPr id="12323" name="Freeform 5"/>
            <p:cNvSpPr>
              <a:spLocks/>
            </p:cNvSpPr>
            <p:nvPr/>
          </p:nvSpPr>
          <p:spPr bwMode="auto">
            <a:xfrm>
              <a:off x="1104" y="1776"/>
              <a:ext cx="624" cy="864"/>
            </a:xfrm>
            <a:custGeom>
              <a:avLst/>
              <a:gdLst>
                <a:gd name="T0" fmla="*/ 0 w 624"/>
                <a:gd name="T1" fmla="*/ 0 h 960"/>
                <a:gd name="T2" fmla="*/ 0 w 624"/>
                <a:gd name="T3" fmla="*/ 33 h 960"/>
                <a:gd name="T4" fmla="*/ 624 w 624"/>
                <a:gd name="T5" fmla="*/ 33 h 960"/>
                <a:gd name="T6" fmla="*/ 624 w 624"/>
                <a:gd name="T7" fmla="*/ 0 h 9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960"/>
                <a:gd name="T14" fmla="*/ 624 w 624"/>
                <a:gd name="T15" fmla="*/ 960 h 9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960">
                  <a:moveTo>
                    <a:pt x="0" y="0"/>
                  </a:moveTo>
                  <a:lnTo>
                    <a:pt x="0" y="960"/>
                  </a:lnTo>
                  <a:lnTo>
                    <a:pt x="624" y="960"/>
                  </a:lnTo>
                  <a:lnTo>
                    <a:pt x="624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2324" name="Oval 6"/>
            <p:cNvSpPr>
              <a:spLocks noChangeArrowheads="1"/>
            </p:cNvSpPr>
            <p:nvPr/>
          </p:nvSpPr>
          <p:spPr bwMode="auto">
            <a:xfrm>
              <a:off x="1200" y="1776"/>
              <a:ext cx="192" cy="192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2325" name="Oval 7"/>
            <p:cNvSpPr>
              <a:spLocks noChangeArrowheads="1"/>
            </p:cNvSpPr>
            <p:nvPr/>
          </p:nvSpPr>
          <p:spPr bwMode="auto">
            <a:xfrm>
              <a:off x="1440" y="1872"/>
              <a:ext cx="192" cy="19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2326" name="Oval 8"/>
            <p:cNvSpPr>
              <a:spLocks noChangeArrowheads="1"/>
            </p:cNvSpPr>
            <p:nvPr/>
          </p:nvSpPr>
          <p:spPr bwMode="auto">
            <a:xfrm>
              <a:off x="1200" y="2064"/>
              <a:ext cx="192" cy="19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2327" name="Oval 9"/>
            <p:cNvSpPr>
              <a:spLocks noChangeArrowheads="1"/>
            </p:cNvSpPr>
            <p:nvPr/>
          </p:nvSpPr>
          <p:spPr bwMode="auto">
            <a:xfrm>
              <a:off x="1440" y="2160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2328" name="Oval 10"/>
            <p:cNvSpPr>
              <a:spLocks noChangeArrowheads="1"/>
            </p:cNvSpPr>
            <p:nvPr/>
          </p:nvSpPr>
          <p:spPr bwMode="auto">
            <a:xfrm>
              <a:off x="1200" y="2352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2329" name="Oval 11"/>
            <p:cNvSpPr>
              <a:spLocks noChangeArrowheads="1"/>
            </p:cNvSpPr>
            <p:nvPr/>
          </p:nvSpPr>
          <p:spPr bwMode="auto">
            <a:xfrm>
              <a:off x="1488" y="2400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2330" name="Rectangle 12"/>
            <p:cNvSpPr>
              <a:spLocks noChangeArrowheads="1"/>
            </p:cNvSpPr>
            <p:nvPr/>
          </p:nvSpPr>
          <p:spPr bwMode="auto">
            <a:xfrm>
              <a:off x="1344" y="1776"/>
              <a:ext cx="14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12292" name="Grupo 64"/>
          <p:cNvGrpSpPr>
            <a:grpSpLocks/>
          </p:cNvGrpSpPr>
          <p:nvPr/>
        </p:nvGrpSpPr>
        <p:grpSpPr bwMode="auto">
          <a:xfrm>
            <a:off x="3081338" y="2190750"/>
            <a:ext cx="990600" cy="1371600"/>
            <a:chOff x="3962400" y="2514600"/>
            <a:chExt cx="990600" cy="1371600"/>
          </a:xfrm>
        </p:grpSpPr>
        <p:grpSp>
          <p:nvGrpSpPr>
            <p:cNvPr id="12314" name="Group 20"/>
            <p:cNvGrpSpPr>
              <a:grpSpLocks/>
            </p:cNvGrpSpPr>
            <p:nvPr/>
          </p:nvGrpSpPr>
          <p:grpSpPr bwMode="auto">
            <a:xfrm>
              <a:off x="3962400" y="2514600"/>
              <a:ext cx="990600" cy="1371600"/>
              <a:chOff x="2448" y="2160"/>
              <a:chExt cx="624" cy="864"/>
            </a:xfrm>
          </p:grpSpPr>
          <p:sp>
            <p:nvSpPr>
              <p:cNvPr id="12316" name="Freeform 21"/>
              <p:cNvSpPr>
                <a:spLocks/>
              </p:cNvSpPr>
              <p:nvPr/>
            </p:nvSpPr>
            <p:spPr bwMode="auto">
              <a:xfrm>
                <a:off x="2448" y="2160"/>
                <a:ext cx="624" cy="864"/>
              </a:xfrm>
              <a:custGeom>
                <a:avLst/>
                <a:gdLst>
                  <a:gd name="T0" fmla="*/ 0 w 624"/>
                  <a:gd name="T1" fmla="*/ 0 h 960"/>
                  <a:gd name="T2" fmla="*/ 0 w 624"/>
                  <a:gd name="T3" fmla="*/ 33 h 960"/>
                  <a:gd name="T4" fmla="*/ 624 w 624"/>
                  <a:gd name="T5" fmla="*/ 33 h 960"/>
                  <a:gd name="T6" fmla="*/ 624 w 624"/>
                  <a:gd name="T7" fmla="*/ 0 h 9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24"/>
                  <a:gd name="T13" fmla="*/ 0 h 960"/>
                  <a:gd name="T14" fmla="*/ 624 w 624"/>
                  <a:gd name="T15" fmla="*/ 960 h 9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24" h="960">
                    <a:moveTo>
                      <a:pt x="0" y="0"/>
                    </a:moveTo>
                    <a:lnTo>
                      <a:pt x="0" y="960"/>
                    </a:lnTo>
                    <a:lnTo>
                      <a:pt x="624" y="960"/>
                    </a:lnTo>
                    <a:lnTo>
                      <a:pt x="624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2317" name="Oval 22"/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192" cy="192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2318" name="Oval 23"/>
              <p:cNvSpPr>
                <a:spLocks noChangeArrowheads="1"/>
              </p:cNvSpPr>
              <p:nvPr/>
            </p:nvSpPr>
            <p:spPr bwMode="auto">
              <a:xfrm>
                <a:off x="2784" y="2544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2319" name="Oval 24"/>
              <p:cNvSpPr>
                <a:spLocks noChangeArrowheads="1"/>
              </p:cNvSpPr>
              <p:nvPr/>
            </p:nvSpPr>
            <p:spPr bwMode="auto">
              <a:xfrm>
                <a:off x="2544" y="2736"/>
                <a:ext cx="192" cy="192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2320" name="Oval 25"/>
              <p:cNvSpPr>
                <a:spLocks noChangeArrowheads="1"/>
              </p:cNvSpPr>
              <p:nvPr/>
            </p:nvSpPr>
            <p:spPr bwMode="auto">
              <a:xfrm>
                <a:off x="2832" y="2784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2321" name="Oval 23"/>
              <p:cNvSpPr>
                <a:spLocks noChangeArrowheads="1"/>
              </p:cNvSpPr>
              <p:nvPr/>
            </p:nvSpPr>
            <p:spPr bwMode="auto">
              <a:xfrm>
                <a:off x="2832" y="2241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2322" name="Oval 23"/>
              <p:cNvSpPr>
                <a:spLocks noChangeArrowheads="1"/>
              </p:cNvSpPr>
              <p:nvPr/>
            </p:nvSpPr>
            <p:spPr bwMode="auto">
              <a:xfrm>
                <a:off x="2562" y="2196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2315" name="Rectangle 26"/>
            <p:cNvSpPr>
              <a:spLocks noChangeArrowheads="1"/>
            </p:cNvSpPr>
            <p:nvPr/>
          </p:nvSpPr>
          <p:spPr bwMode="auto">
            <a:xfrm>
              <a:off x="4368800" y="2540000"/>
              <a:ext cx="2286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5" name="Grupo 101"/>
          <p:cNvGrpSpPr>
            <a:grpSpLocks/>
          </p:cNvGrpSpPr>
          <p:nvPr/>
        </p:nvGrpSpPr>
        <p:grpSpPr bwMode="auto">
          <a:xfrm>
            <a:off x="1714500" y="1776413"/>
            <a:ext cx="596900" cy="2286000"/>
            <a:chOff x="1428728" y="1500174"/>
            <a:chExt cx="785818" cy="2286016"/>
          </a:xfrm>
        </p:grpSpPr>
        <p:sp>
          <p:nvSpPr>
            <p:cNvPr id="99" name="Arco 98"/>
            <p:cNvSpPr/>
            <p:nvPr/>
          </p:nvSpPr>
          <p:spPr bwMode="auto">
            <a:xfrm>
              <a:off x="1428728" y="1500174"/>
              <a:ext cx="785818" cy="642941"/>
            </a:xfrm>
            <a:prstGeom prst="arc">
              <a:avLst>
                <a:gd name="adj1" fmla="val 10859827"/>
                <a:gd name="adj2" fmla="val 4008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12313" name="Conector de seta reta 100"/>
            <p:cNvCxnSpPr>
              <a:cxnSpLocks noChangeShapeType="1"/>
              <a:stCxn id="99" idx="2"/>
            </p:cNvCxnSpPr>
            <p:nvPr/>
          </p:nvCxnSpPr>
          <p:spPr bwMode="auto">
            <a:xfrm rot="16200000" flipH="1">
              <a:off x="1234544" y="2806188"/>
              <a:ext cx="1959964" cy="4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" name="Grupo 102"/>
          <p:cNvGrpSpPr>
            <a:grpSpLocks/>
          </p:cNvGrpSpPr>
          <p:nvPr/>
        </p:nvGrpSpPr>
        <p:grpSpPr bwMode="auto">
          <a:xfrm flipH="1">
            <a:off x="2500313" y="1776413"/>
            <a:ext cx="785812" cy="2286000"/>
            <a:chOff x="1428728" y="1500174"/>
            <a:chExt cx="785818" cy="2286016"/>
          </a:xfrm>
        </p:grpSpPr>
        <p:sp>
          <p:nvSpPr>
            <p:cNvPr id="104" name="Arco 103"/>
            <p:cNvSpPr/>
            <p:nvPr/>
          </p:nvSpPr>
          <p:spPr bwMode="auto">
            <a:xfrm>
              <a:off x="1428728" y="1500174"/>
              <a:ext cx="785818" cy="642941"/>
            </a:xfrm>
            <a:prstGeom prst="arc">
              <a:avLst>
                <a:gd name="adj1" fmla="val 10859827"/>
                <a:gd name="adj2" fmla="val 4008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12311" name="Conector de seta reta 104"/>
            <p:cNvCxnSpPr>
              <a:cxnSpLocks noChangeShapeType="1"/>
              <a:stCxn id="104" idx="2"/>
            </p:cNvCxnSpPr>
            <p:nvPr/>
          </p:nvCxnSpPr>
          <p:spPr bwMode="auto">
            <a:xfrm rot="16200000" flipH="1">
              <a:off x="1234544" y="2806188"/>
              <a:ext cx="1959964" cy="4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081" name="CaixaDeTexto 120"/>
          <p:cNvSpPr txBox="1">
            <a:spLocks noChangeArrowheads="1"/>
          </p:cNvSpPr>
          <p:nvPr/>
        </p:nvSpPr>
        <p:spPr bwMode="auto">
          <a:xfrm>
            <a:off x="2298957" y="1571625"/>
            <a:ext cx="24237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I</a:t>
            </a:r>
          </a:p>
        </p:txBody>
      </p:sp>
      <p:sp>
        <p:nvSpPr>
          <p:cNvPr id="12296" name="CaixaDeTexto 140"/>
          <p:cNvSpPr txBox="1">
            <a:spLocks noChangeArrowheads="1"/>
          </p:cNvSpPr>
          <p:nvPr/>
        </p:nvSpPr>
        <p:spPr bwMode="auto">
          <a:xfrm>
            <a:off x="866861" y="3357563"/>
            <a:ext cx="2776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12297" name="CaixaDeTexto 141"/>
          <p:cNvSpPr txBox="1">
            <a:spLocks noChangeArrowheads="1"/>
          </p:cNvSpPr>
          <p:nvPr/>
        </p:nvSpPr>
        <p:spPr bwMode="auto">
          <a:xfrm>
            <a:off x="3030538" y="3357563"/>
            <a:ext cx="2825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12298" name="CaixaDeTexto 142"/>
          <p:cNvSpPr txBox="1">
            <a:spLocks noChangeArrowheads="1"/>
          </p:cNvSpPr>
          <p:nvPr/>
        </p:nvSpPr>
        <p:spPr bwMode="auto">
          <a:xfrm>
            <a:off x="1938338" y="5273675"/>
            <a:ext cx="2825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145" name="Text Box 28"/>
          <p:cNvSpPr txBox="1">
            <a:spLocks noChangeArrowheads="1"/>
          </p:cNvSpPr>
          <p:nvPr/>
        </p:nvSpPr>
        <p:spPr bwMode="auto">
          <a:xfrm>
            <a:off x="5072063" y="1643063"/>
            <a:ext cx="3929062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8913" indent="-188913" algn="l">
              <a:lnSpc>
                <a:spcPct val="150000"/>
              </a:lnSpc>
              <a:defRPr/>
            </a:pPr>
            <a:r>
              <a:rPr 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Etapas:</a:t>
            </a:r>
          </a:p>
          <a:p>
            <a:pPr marL="400050" indent="-400050" algn="l">
              <a:buClr>
                <a:srgbClr val="FF0000"/>
              </a:buClr>
              <a:buFontTx/>
              <a:buAutoNum type="romanUcParenR"/>
              <a:defRPr/>
            </a:pPr>
            <a:r>
              <a:rPr lang="pt-BR" sz="1600" dirty="0">
                <a:latin typeface="Tahoma" panose="020B0604030504040204" pitchFamily="34" charset="0"/>
              </a:rPr>
              <a:t>Das urnas A e B, sorteia-se uma bola de cada. As duas bolas são colocadas na urna C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AB19A9-20C3-40C1-B3AD-10B9D4D9730B}" type="slidenum">
              <a:rPr lang="pt-BR"/>
              <a:pPr>
                <a:defRPr/>
              </a:pPr>
              <a:t>20</a:t>
            </a:fld>
            <a:endParaRPr lang="pt-BR"/>
          </a:p>
        </p:txBody>
      </p:sp>
      <p:grpSp>
        <p:nvGrpSpPr>
          <p:cNvPr id="50" name="Grupo 44"/>
          <p:cNvGrpSpPr>
            <a:grpSpLocks/>
          </p:cNvGrpSpPr>
          <p:nvPr/>
        </p:nvGrpSpPr>
        <p:grpSpPr bwMode="auto">
          <a:xfrm>
            <a:off x="2009775" y="4129088"/>
            <a:ext cx="990600" cy="1371600"/>
            <a:chOff x="2009775" y="4129088"/>
            <a:chExt cx="990600" cy="1371600"/>
          </a:xfrm>
        </p:grpSpPr>
        <p:sp>
          <p:nvSpPr>
            <p:cNvPr id="51" name="Oval 16"/>
            <p:cNvSpPr>
              <a:spLocks noChangeArrowheads="1"/>
            </p:cNvSpPr>
            <p:nvPr/>
          </p:nvSpPr>
          <p:spPr bwMode="auto">
            <a:xfrm>
              <a:off x="2435288" y="4262032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54" name="Freeform 21"/>
            <p:cNvSpPr>
              <a:spLocks/>
            </p:cNvSpPr>
            <p:nvPr/>
          </p:nvSpPr>
          <p:spPr bwMode="auto">
            <a:xfrm>
              <a:off x="2009775" y="4129088"/>
              <a:ext cx="990600" cy="1371600"/>
            </a:xfrm>
            <a:custGeom>
              <a:avLst/>
              <a:gdLst>
                <a:gd name="T0" fmla="*/ 0 w 624"/>
                <a:gd name="T1" fmla="*/ 0 h 960"/>
                <a:gd name="T2" fmla="*/ 0 w 624"/>
                <a:gd name="T3" fmla="*/ 2147483647 h 960"/>
                <a:gd name="T4" fmla="*/ 2147483647 w 624"/>
                <a:gd name="T5" fmla="*/ 2147483647 h 960"/>
                <a:gd name="T6" fmla="*/ 2147483647 w 624"/>
                <a:gd name="T7" fmla="*/ 0 h 9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960"/>
                <a:gd name="T14" fmla="*/ 624 w 624"/>
                <a:gd name="T15" fmla="*/ 960 h 9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960">
                  <a:moveTo>
                    <a:pt x="0" y="0"/>
                  </a:moveTo>
                  <a:lnTo>
                    <a:pt x="0" y="960"/>
                  </a:lnTo>
                  <a:lnTo>
                    <a:pt x="624" y="960"/>
                  </a:lnTo>
                  <a:lnTo>
                    <a:pt x="624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55" name="Oval 22"/>
            <p:cNvSpPr>
              <a:spLocks noChangeArrowheads="1"/>
            </p:cNvSpPr>
            <p:nvPr/>
          </p:nvSpPr>
          <p:spPr bwMode="auto">
            <a:xfrm>
              <a:off x="2162175" y="4581776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56" name="Oval 23"/>
            <p:cNvSpPr>
              <a:spLocks noChangeArrowheads="1"/>
            </p:cNvSpPr>
            <p:nvPr/>
          </p:nvSpPr>
          <p:spPr bwMode="auto">
            <a:xfrm>
              <a:off x="2548876" y="4731904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57" name="Oval 24"/>
            <p:cNvSpPr>
              <a:spLocks noChangeArrowheads="1"/>
            </p:cNvSpPr>
            <p:nvPr/>
          </p:nvSpPr>
          <p:spPr bwMode="auto">
            <a:xfrm>
              <a:off x="2162175" y="5043488"/>
              <a:ext cx="304800" cy="3048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58" name="Oval 25"/>
            <p:cNvSpPr>
              <a:spLocks noChangeArrowheads="1"/>
            </p:cNvSpPr>
            <p:nvPr/>
          </p:nvSpPr>
          <p:spPr bwMode="auto">
            <a:xfrm>
              <a:off x="2619375" y="5119688"/>
              <a:ext cx="304800" cy="304800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</p:grpSp>
      <p:sp>
        <p:nvSpPr>
          <p:cNvPr id="41" name="Text Box 38"/>
          <p:cNvSpPr txBox="1">
            <a:spLocks noChangeArrowheads="1"/>
          </p:cNvSpPr>
          <p:nvPr/>
        </p:nvSpPr>
        <p:spPr bwMode="auto">
          <a:xfrm>
            <a:off x="0" y="6546637"/>
            <a:ext cx="2407431" cy="337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363" indent="-360363"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</a:rPr>
              <a:t>(ver Simulacao_exemplo2.xlsx)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Exemplo de Aplicação 2</a:t>
            </a:r>
          </a:p>
        </p:txBody>
      </p:sp>
      <p:grpSp>
        <p:nvGrpSpPr>
          <p:cNvPr id="13315" name="Group 4"/>
          <p:cNvGrpSpPr>
            <a:grpSpLocks/>
          </p:cNvGrpSpPr>
          <p:nvPr/>
        </p:nvGrpSpPr>
        <p:grpSpPr bwMode="auto">
          <a:xfrm>
            <a:off x="928688" y="2190750"/>
            <a:ext cx="990600" cy="1371600"/>
            <a:chOff x="1104" y="1776"/>
            <a:chExt cx="624" cy="864"/>
          </a:xfrm>
        </p:grpSpPr>
        <p:sp>
          <p:nvSpPr>
            <p:cNvPr id="13349" name="Freeform 5"/>
            <p:cNvSpPr>
              <a:spLocks/>
            </p:cNvSpPr>
            <p:nvPr/>
          </p:nvSpPr>
          <p:spPr bwMode="auto">
            <a:xfrm>
              <a:off x="1104" y="1776"/>
              <a:ext cx="624" cy="864"/>
            </a:xfrm>
            <a:custGeom>
              <a:avLst/>
              <a:gdLst>
                <a:gd name="T0" fmla="*/ 0 w 624"/>
                <a:gd name="T1" fmla="*/ 0 h 960"/>
                <a:gd name="T2" fmla="*/ 0 w 624"/>
                <a:gd name="T3" fmla="*/ 33 h 960"/>
                <a:gd name="T4" fmla="*/ 624 w 624"/>
                <a:gd name="T5" fmla="*/ 33 h 960"/>
                <a:gd name="T6" fmla="*/ 624 w 624"/>
                <a:gd name="T7" fmla="*/ 0 h 9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960"/>
                <a:gd name="T14" fmla="*/ 624 w 624"/>
                <a:gd name="T15" fmla="*/ 960 h 9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960">
                  <a:moveTo>
                    <a:pt x="0" y="0"/>
                  </a:moveTo>
                  <a:lnTo>
                    <a:pt x="0" y="960"/>
                  </a:lnTo>
                  <a:lnTo>
                    <a:pt x="624" y="960"/>
                  </a:lnTo>
                  <a:lnTo>
                    <a:pt x="624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3350" name="Oval 6"/>
            <p:cNvSpPr>
              <a:spLocks noChangeArrowheads="1"/>
            </p:cNvSpPr>
            <p:nvPr/>
          </p:nvSpPr>
          <p:spPr bwMode="auto">
            <a:xfrm>
              <a:off x="1200" y="1776"/>
              <a:ext cx="192" cy="192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3351" name="Oval 7"/>
            <p:cNvSpPr>
              <a:spLocks noChangeArrowheads="1"/>
            </p:cNvSpPr>
            <p:nvPr/>
          </p:nvSpPr>
          <p:spPr bwMode="auto">
            <a:xfrm>
              <a:off x="1440" y="1872"/>
              <a:ext cx="192" cy="19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3352" name="Oval 8"/>
            <p:cNvSpPr>
              <a:spLocks noChangeArrowheads="1"/>
            </p:cNvSpPr>
            <p:nvPr/>
          </p:nvSpPr>
          <p:spPr bwMode="auto">
            <a:xfrm>
              <a:off x="1200" y="2064"/>
              <a:ext cx="192" cy="19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3353" name="Oval 9"/>
            <p:cNvSpPr>
              <a:spLocks noChangeArrowheads="1"/>
            </p:cNvSpPr>
            <p:nvPr/>
          </p:nvSpPr>
          <p:spPr bwMode="auto">
            <a:xfrm>
              <a:off x="1440" y="2160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3354" name="Oval 10"/>
            <p:cNvSpPr>
              <a:spLocks noChangeArrowheads="1"/>
            </p:cNvSpPr>
            <p:nvPr/>
          </p:nvSpPr>
          <p:spPr bwMode="auto">
            <a:xfrm>
              <a:off x="1200" y="2352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3355" name="Oval 11"/>
            <p:cNvSpPr>
              <a:spLocks noChangeArrowheads="1"/>
            </p:cNvSpPr>
            <p:nvPr/>
          </p:nvSpPr>
          <p:spPr bwMode="auto">
            <a:xfrm>
              <a:off x="1488" y="2400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3356" name="Rectangle 12"/>
            <p:cNvSpPr>
              <a:spLocks noChangeArrowheads="1"/>
            </p:cNvSpPr>
            <p:nvPr/>
          </p:nvSpPr>
          <p:spPr bwMode="auto">
            <a:xfrm>
              <a:off x="1344" y="1776"/>
              <a:ext cx="14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13316" name="Grupo 64"/>
          <p:cNvGrpSpPr>
            <a:grpSpLocks/>
          </p:cNvGrpSpPr>
          <p:nvPr/>
        </p:nvGrpSpPr>
        <p:grpSpPr bwMode="auto">
          <a:xfrm>
            <a:off x="3081338" y="2190750"/>
            <a:ext cx="990600" cy="1371600"/>
            <a:chOff x="3962400" y="2514600"/>
            <a:chExt cx="990600" cy="1371600"/>
          </a:xfrm>
        </p:grpSpPr>
        <p:grpSp>
          <p:nvGrpSpPr>
            <p:cNvPr id="13340" name="Group 20"/>
            <p:cNvGrpSpPr>
              <a:grpSpLocks/>
            </p:cNvGrpSpPr>
            <p:nvPr/>
          </p:nvGrpSpPr>
          <p:grpSpPr bwMode="auto">
            <a:xfrm>
              <a:off x="3962400" y="2514600"/>
              <a:ext cx="990600" cy="1371600"/>
              <a:chOff x="2448" y="2160"/>
              <a:chExt cx="624" cy="864"/>
            </a:xfrm>
          </p:grpSpPr>
          <p:sp>
            <p:nvSpPr>
              <p:cNvPr id="13342" name="Freeform 21"/>
              <p:cNvSpPr>
                <a:spLocks/>
              </p:cNvSpPr>
              <p:nvPr/>
            </p:nvSpPr>
            <p:spPr bwMode="auto">
              <a:xfrm>
                <a:off x="2448" y="2160"/>
                <a:ext cx="624" cy="864"/>
              </a:xfrm>
              <a:custGeom>
                <a:avLst/>
                <a:gdLst>
                  <a:gd name="T0" fmla="*/ 0 w 624"/>
                  <a:gd name="T1" fmla="*/ 0 h 960"/>
                  <a:gd name="T2" fmla="*/ 0 w 624"/>
                  <a:gd name="T3" fmla="*/ 33 h 960"/>
                  <a:gd name="T4" fmla="*/ 624 w 624"/>
                  <a:gd name="T5" fmla="*/ 33 h 960"/>
                  <a:gd name="T6" fmla="*/ 624 w 624"/>
                  <a:gd name="T7" fmla="*/ 0 h 9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24"/>
                  <a:gd name="T13" fmla="*/ 0 h 960"/>
                  <a:gd name="T14" fmla="*/ 624 w 624"/>
                  <a:gd name="T15" fmla="*/ 960 h 9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24" h="960">
                    <a:moveTo>
                      <a:pt x="0" y="0"/>
                    </a:moveTo>
                    <a:lnTo>
                      <a:pt x="0" y="960"/>
                    </a:lnTo>
                    <a:lnTo>
                      <a:pt x="624" y="960"/>
                    </a:lnTo>
                    <a:lnTo>
                      <a:pt x="624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3343" name="Oval 22"/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192" cy="192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3344" name="Oval 23"/>
              <p:cNvSpPr>
                <a:spLocks noChangeArrowheads="1"/>
              </p:cNvSpPr>
              <p:nvPr/>
            </p:nvSpPr>
            <p:spPr bwMode="auto">
              <a:xfrm>
                <a:off x="2784" y="2544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3345" name="Oval 24"/>
              <p:cNvSpPr>
                <a:spLocks noChangeArrowheads="1"/>
              </p:cNvSpPr>
              <p:nvPr/>
            </p:nvSpPr>
            <p:spPr bwMode="auto">
              <a:xfrm>
                <a:off x="2544" y="2736"/>
                <a:ext cx="192" cy="192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3346" name="Oval 25"/>
              <p:cNvSpPr>
                <a:spLocks noChangeArrowheads="1"/>
              </p:cNvSpPr>
              <p:nvPr/>
            </p:nvSpPr>
            <p:spPr bwMode="auto">
              <a:xfrm>
                <a:off x="2832" y="2784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3347" name="Oval 23"/>
              <p:cNvSpPr>
                <a:spLocks noChangeArrowheads="1"/>
              </p:cNvSpPr>
              <p:nvPr/>
            </p:nvSpPr>
            <p:spPr bwMode="auto">
              <a:xfrm>
                <a:off x="2832" y="2241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3348" name="Oval 23"/>
              <p:cNvSpPr>
                <a:spLocks noChangeArrowheads="1"/>
              </p:cNvSpPr>
              <p:nvPr/>
            </p:nvSpPr>
            <p:spPr bwMode="auto">
              <a:xfrm>
                <a:off x="2562" y="2196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3341" name="Rectangle 26"/>
            <p:cNvSpPr>
              <a:spLocks noChangeArrowheads="1"/>
            </p:cNvSpPr>
            <p:nvPr/>
          </p:nvSpPr>
          <p:spPr bwMode="auto">
            <a:xfrm>
              <a:off x="4368800" y="2540000"/>
              <a:ext cx="2286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</p:grpSp>
      <p:sp>
        <p:nvSpPr>
          <p:cNvPr id="13317" name="Oval 16"/>
          <p:cNvSpPr>
            <a:spLocks noChangeArrowheads="1"/>
          </p:cNvSpPr>
          <p:nvPr/>
        </p:nvSpPr>
        <p:spPr bwMode="auto">
          <a:xfrm>
            <a:off x="3389313" y="51054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200" dirty="0">
              <a:latin typeface="Tahoma" panose="020B0604030504040204" pitchFamily="34" charset="0"/>
            </a:endParaRPr>
          </a:p>
        </p:txBody>
      </p:sp>
      <p:sp>
        <p:nvSpPr>
          <p:cNvPr id="13318" name="Oval 16"/>
          <p:cNvSpPr>
            <a:spLocks noChangeArrowheads="1"/>
          </p:cNvSpPr>
          <p:nvPr/>
        </p:nvSpPr>
        <p:spPr bwMode="auto">
          <a:xfrm>
            <a:off x="3817938" y="51054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200" dirty="0">
              <a:latin typeface="Tahoma" panose="020B0604030504040204" pitchFamily="34" charset="0"/>
            </a:endParaRPr>
          </a:p>
        </p:txBody>
      </p:sp>
      <p:grpSp>
        <p:nvGrpSpPr>
          <p:cNvPr id="13319" name="Grupo 107"/>
          <p:cNvGrpSpPr>
            <a:grpSpLocks/>
          </p:cNvGrpSpPr>
          <p:nvPr/>
        </p:nvGrpSpPr>
        <p:grpSpPr bwMode="auto">
          <a:xfrm>
            <a:off x="2714625" y="3705225"/>
            <a:ext cx="1214438" cy="947738"/>
            <a:chOff x="1428728" y="1367092"/>
            <a:chExt cx="785818" cy="947586"/>
          </a:xfrm>
        </p:grpSpPr>
        <p:sp>
          <p:nvSpPr>
            <p:cNvPr id="109" name="Arco 108"/>
            <p:cNvSpPr/>
            <p:nvPr/>
          </p:nvSpPr>
          <p:spPr bwMode="auto">
            <a:xfrm>
              <a:off x="1428728" y="1367092"/>
              <a:ext cx="785818" cy="776163"/>
            </a:xfrm>
            <a:prstGeom prst="arc">
              <a:avLst>
                <a:gd name="adj1" fmla="val 10859827"/>
                <a:gd name="adj2" fmla="val 4008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13339" name="Conector de seta reta 109"/>
            <p:cNvCxnSpPr>
              <a:cxnSpLocks noChangeShapeType="1"/>
              <a:stCxn id="109" idx="2"/>
            </p:cNvCxnSpPr>
            <p:nvPr/>
          </p:nvCxnSpPr>
          <p:spPr bwMode="auto">
            <a:xfrm rot="16200000" flipH="1">
              <a:off x="1938231" y="2038430"/>
              <a:ext cx="552497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3320" name="Grupo 111"/>
          <p:cNvGrpSpPr>
            <a:grpSpLocks/>
          </p:cNvGrpSpPr>
          <p:nvPr/>
        </p:nvGrpSpPr>
        <p:grpSpPr bwMode="auto">
          <a:xfrm>
            <a:off x="2867025" y="3776663"/>
            <a:ext cx="704850" cy="876300"/>
            <a:chOff x="1428728" y="1500174"/>
            <a:chExt cx="785818" cy="897190"/>
          </a:xfrm>
        </p:grpSpPr>
        <p:sp>
          <p:nvSpPr>
            <p:cNvPr id="113" name="Arco 112"/>
            <p:cNvSpPr/>
            <p:nvPr/>
          </p:nvSpPr>
          <p:spPr bwMode="auto">
            <a:xfrm>
              <a:off x="1428728" y="1500174"/>
              <a:ext cx="785818" cy="643636"/>
            </a:xfrm>
            <a:prstGeom prst="arc">
              <a:avLst>
                <a:gd name="adj1" fmla="val 10859827"/>
                <a:gd name="adj2" fmla="val 4008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13337" name="Conector de seta reta 113"/>
            <p:cNvCxnSpPr>
              <a:cxnSpLocks noChangeShapeType="1"/>
              <a:stCxn id="113" idx="2"/>
            </p:cNvCxnSpPr>
            <p:nvPr/>
          </p:nvCxnSpPr>
          <p:spPr bwMode="auto">
            <a:xfrm rot="5400000">
              <a:off x="1929209" y="2112078"/>
              <a:ext cx="570573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3321" name="CaixaDeTexto 121"/>
          <p:cNvSpPr txBox="1">
            <a:spLocks noChangeArrowheads="1"/>
          </p:cNvSpPr>
          <p:nvPr/>
        </p:nvSpPr>
        <p:spPr bwMode="auto">
          <a:xfrm>
            <a:off x="3586934" y="4071938"/>
            <a:ext cx="30008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II</a:t>
            </a:r>
          </a:p>
        </p:txBody>
      </p:sp>
      <p:sp>
        <p:nvSpPr>
          <p:cNvPr id="13322" name="CaixaDeTexto 140"/>
          <p:cNvSpPr txBox="1">
            <a:spLocks noChangeArrowheads="1"/>
          </p:cNvSpPr>
          <p:nvPr/>
        </p:nvSpPr>
        <p:spPr bwMode="auto">
          <a:xfrm>
            <a:off x="866861" y="3357563"/>
            <a:ext cx="2776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13323" name="CaixaDeTexto 141"/>
          <p:cNvSpPr txBox="1">
            <a:spLocks noChangeArrowheads="1"/>
          </p:cNvSpPr>
          <p:nvPr/>
        </p:nvSpPr>
        <p:spPr bwMode="auto">
          <a:xfrm>
            <a:off x="3030538" y="3357563"/>
            <a:ext cx="2825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13324" name="CaixaDeTexto 142"/>
          <p:cNvSpPr txBox="1">
            <a:spLocks noChangeArrowheads="1"/>
          </p:cNvSpPr>
          <p:nvPr/>
        </p:nvSpPr>
        <p:spPr bwMode="auto">
          <a:xfrm>
            <a:off x="1938338" y="5273675"/>
            <a:ext cx="2825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65" name="Text Box 28"/>
          <p:cNvSpPr txBox="1">
            <a:spLocks noChangeArrowheads="1"/>
          </p:cNvSpPr>
          <p:nvPr/>
        </p:nvSpPr>
        <p:spPr bwMode="auto">
          <a:xfrm>
            <a:off x="5072063" y="1643063"/>
            <a:ext cx="3929062" cy="169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8913" indent="-188913" algn="l">
              <a:lnSpc>
                <a:spcPct val="150000"/>
              </a:lnSpc>
              <a:defRPr/>
            </a:pPr>
            <a:r>
              <a:rPr 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Etapas:</a:t>
            </a:r>
          </a:p>
          <a:p>
            <a:pPr marL="400050" indent="-400050" algn="l">
              <a:buClr>
                <a:srgbClr val="FF0000"/>
              </a:buClr>
              <a:buFontTx/>
              <a:buAutoNum type="romanUcParenR"/>
              <a:defRPr/>
            </a:pPr>
            <a:r>
              <a:rPr lang="pt-BR" sz="1600" dirty="0">
                <a:latin typeface="Tahoma" panose="020B0604030504040204" pitchFamily="34" charset="0"/>
              </a:rPr>
              <a:t>Das urnas A e B, sorteia-se uma bola de cada. As duas bolas são colocadas na urna C</a:t>
            </a:r>
          </a:p>
          <a:p>
            <a:pPr marL="400050" indent="-400050" algn="l">
              <a:buClr>
                <a:srgbClr val="FF0000"/>
              </a:buClr>
              <a:buFontTx/>
              <a:buAutoNum type="romanUcParenR"/>
              <a:defRPr/>
            </a:pPr>
            <a:r>
              <a:rPr lang="pt-BR" sz="1600" dirty="0">
                <a:latin typeface="Tahoma" panose="020B0604030504040204" pitchFamily="34" charset="0"/>
              </a:rPr>
              <a:t>Da urna C, sorteiam-se duas bolas (sem reposição)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C13F370-0680-438D-A6EF-AF18DD35A662}" type="slidenum">
              <a:rPr lang="pt-BR"/>
              <a:pPr>
                <a:defRPr/>
              </a:pPr>
              <a:t>21</a:t>
            </a:fld>
            <a:endParaRPr lang="pt-BR"/>
          </a:p>
        </p:txBody>
      </p:sp>
      <p:grpSp>
        <p:nvGrpSpPr>
          <p:cNvPr id="52" name="Grupo 44"/>
          <p:cNvGrpSpPr>
            <a:grpSpLocks/>
          </p:cNvGrpSpPr>
          <p:nvPr/>
        </p:nvGrpSpPr>
        <p:grpSpPr bwMode="auto">
          <a:xfrm>
            <a:off x="2009775" y="4129088"/>
            <a:ext cx="990600" cy="1371600"/>
            <a:chOff x="2009775" y="4129088"/>
            <a:chExt cx="990600" cy="1371600"/>
          </a:xfrm>
        </p:grpSpPr>
        <p:sp>
          <p:nvSpPr>
            <p:cNvPr id="53" name="Oval 16"/>
            <p:cNvSpPr>
              <a:spLocks noChangeArrowheads="1"/>
            </p:cNvSpPr>
            <p:nvPr/>
          </p:nvSpPr>
          <p:spPr bwMode="auto">
            <a:xfrm>
              <a:off x="2435288" y="4262032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54" name="Freeform 21"/>
            <p:cNvSpPr>
              <a:spLocks/>
            </p:cNvSpPr>
            <p:nvPr/>
          </p:nvSpPr>
          <p:spPr bwMode="auto">
            <a:xfrm>
              <a:off x="2009775" y="4129088"/>
              <a:ext cx="990600" cy="1371600"/>
            </a:xfrm>
            <a:custGeom>
              <a:avLst/>
              <a:gdLst>
                <a:gd name="T0" fmla="*/ 0 w 624"/>
                <a:gd name="T1" fmla="*/ 0 h 960"/>
                <a:gd name="T2" fmla="*/ 0 w 624"/>
                <a:gd name="T3" fmla="*/ 2147483647 h 960"/>
                <a:gd name="T4" fmla="*/ 2147483647 w 624"/>
                <a:gd name="T5" fmla="*/ 2147483647 h 960"/>
                <a:gd name="T6" fmla="*/ 2147483647 w 624"/>
                <a:gd name="T7" fmla="*/ 0 h 9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960"/>
                <a:gd name="T14" fmla="*/ 624 w 624"/>
                <a:gd name="T15" fmla="*/ 960 h 9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960">
                  <a:moveTo>
                    <a:pt x="0" y="0"/>
                  </a:moveTo>
                  <a:lnTo>
                    <a:pt x="0" y="960"/>
                  </a:lnTo>
                  <a:lnTo>
                    <a:pt x="624" y="960"/>
                  </a:lnTo>
                  <a:lnTo>
                    <a:pt x="624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55" name="Oval 22"/>
            <p:cNvSpPr>
              <a:spLocks noChangeArrowheads="1"/>
            </p:cNvSpPr>
            <p:nvPr/>
          </p:nvSpPr>
          <p:spPr bwMode="auto">
            <a:xfrm>
              <a:off x="2162175" y="4581776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56" name="Oval 23"/>
            <p:cNvSpPr>
              <a:spLocks noChangeArrowheads="1"/>
            </p:cNvSpPr>
            <p:nvPr/>
          </p:nvSpPr>
          <p:spPr bwMode="auto">
            <a:xfrm>
              <a:off x="2548876" y="4731904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57" name="Oval 24"/>
            <p:cNvSpPr>
              <a:spLocks noChangeArrowheads="1"/>
            </p:cNvSpPr>
            <p:nvPr/>
          </p:nvSpPr>
          <p:spPr bwMode="auto">
            <a:xfrm>
              <a:off x="2162175" y="5043488"/>
              <a:ext cx="304800" cy="3048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58" name="Oval 25"/>
            <p:cNvSpPr>
              <a:spLocks noChangeArrowheads="1"/>
            </p:cNvSpPr>
            <p:nvPr/>
          </p:nvSpPr>
          <p:spPr bwMode="auto">
            <a:xfrm>
              <a:off x="2619375" y="5119688"/>
              <a:ext cx="304800" cy="304800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</p:grpSp>
      <p:sp>
        <p:nvSpPr>
          <p:cNvPr id="43" name="Text Box 38"/>
          <p:cNvSpPr txBox="1">
            <a:spLocks noChangeArrowheads="1"/>
          </p:cNvSpPr>
          <p:nvPr/>
        </p:nvSpPr>
        <p:spPr bwMode="auto">
          <a:xfrm>
            <a:off x="0" y="6546637"/>
            <a:ext cx="2407431" cy="337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363" indent="-360363"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</a:rPr>
              <a:t>(ver Simulacao_exemplo2.xlsx)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Exemplo de Aplicação 2</a:t>
            </a:r>
          </a:p>
        </p:txBody>
      </p:sp>
      <p:grpSp>
        <p:nvGrpSpPr>
          <p:cNvPr id="14339" name="Group 4"/>
          <p:cNvGrpSpPr>
            <a:grpSpLocks/>
          </p:cNvGrpSpPr>
          <p:nvPr/>
        </p:nvGrpSpPr>
        <p:grpSpPr bwMode="auto">
          <a:xfrm>
            <a:off x="928688" y="2190750"/>
            <a:ext cx="990600" cy="1371600"/>
            <a:chOff x="1104" y="1776"/>
            <a:chExt cx="624" cy="864"/>
          </a:xfrm>
        </p:grpSpPr>
        <p:sp>
          <p:nvSpPr>
            <p:cNvPr id="14374" name="Freeform 5"/>
            <p:cNvSpPr>
              <a:spLocks/>
            </p:cNvSpPr>
            <p:nvPr/>
          </p:nvSpPr>
          <p:spPr bwMode="auto">
            <a:xfrm>
              <a:off x="1104" y="1776"/>
              <a:ext cx="624" cy="864"/>
            </a:xfrm>
            <a:custGeom>
              <a:avLst/>
              <a:gdLst>
                <a:gd name="T0" fmla="*/ 0 w 624"/>
                <a:gd name="T1" fmla="*/ 0 h 960"/>
                <a:gd name="T2" fmla="*/ 0 w 624"/>
                <a:gd name="T3" fmla="*/ 33 h 960"/>
                <a:gd name="T4" fmla="*/ 624 w 624"/>
                <a:gd name="T5" fmla="*/ 33 h 960"/>
                <a:gd name="T6" fmla="*/ 624 w 624"/>
                <a:gd name="T7" fmla="*/ 0 h 9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960"/>
                <a:gd name="T14" fmla="*/ 624 w 624"/>
                <a:gd name="T15" fmla="*/ 960 h 9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960">
                  <a:moveTo>
                    <a:pt x="0" y="0"/>
                  </a:moveTo>
                  <a:lnTo>
                    <a:pt x="0" y="960"/>
                  </a:lnTo>
                  <a:lnTo>
                    <a:pt x="624" y="960"/>
                  </a:lnTo>
                  <a:lnTo>
                    <a:pt x="624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4375" name="Oval 6"/>
            <p:cNvSpPr>
              <a:spLocks noChangeArrowheads="1"/>
            </p:cNvSpPr>
            <p:nvPr/>
          </p:nvSpPr>
          <p:spPr bwMode="auto">
            <a:xfrm>
              <a:off x="1200" y="1776"/>
              <a:ext cx="192" cy="192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4376" name="Oval 7"/>
            <p:cNvSpPr>
              <a:spLocks noChangeArrowheads="1"/>
            </p:cNvSpPr>
            <p:nvPr/>
          </p:nvSpPr>
          <p:spPr bwMode="auto">
            <a:xfrm>
              <a:off x="1440" y="1872"/>
              <a:ext cx="192" cy="19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4377" name="Oval 8"/>
            <p:cNvSpPr>
              <a:spLocks noChangeArrowheads="1"/>
            </p:cNvSpPr>
            <p:nvPr/>
          </p:nvSpPr>
          <p:spPr bwMode="auto">
            <a:xfrm>
              <a:off x="1200" y="2064"/>
              <a:ext cx="192" cy="19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4378" name="Oval 9"/>
            <p:cNvSpPr>
              <a:spLocks noChangeArrowheads="1"/>
            </p:cNvSpPr>
            <p:nvPr/>
          </p:nvSpPr>
          <p:spPr bwMode="auto">
            <a:xfrm>
              <a:off x="1440" y="2160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4379" name="Oval 10"/>
            <p:cNvSpPr>
              <a:spLocks noChangeArrowheads="1"/>
            </p:cNvSpPr>
            <p:nvPr/>
          </p:nvSpPr>
          <p:spPr bwMode="auto">
            <a:xfrm>
              <a:off x="1200" y="2352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4380" name="Oval 11"/>
            <p:cNvSpPr>
              <a:spLocks noChangeArrowheads="1"/>
            </p:cNvSpPr>
            <p:nvPr/>
          </p:nvSpPr>
          <p:spPr bwMode="auto">
            <a:xfrm>
              <a:off x="1488" y="2400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4381" name="Rectangle 12"/>
            <p:cNvSpPr>
              <a:spLocks noChangeArrowheads="1"/>
            </p:cNvSpPr>
            <p:nvPr/>
          </p:nvSpPr>
          <p:spPr bwMode="auto">
            <a:xfrm>
              <a:off x="1344" y="1776"/>
              <a:ext cx="14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14340" name="Grupo 64"/>
          <p:cNvGrpSpPr>
            <a:grpSpLocks/>
          </p:cNvGrpSpPr>
          <p:nvPr/>
        </p:nvGrpSpPr>
        <p:grpSpPr bwMode="auto">
          <a:xfrm>
            <a:off x="3081338" y="2190750"/>
            <a:ext cx="990600" cy="1371600"/>
            <a:chOff x="3962400" y="2514600"/>
            <a:chExt cx="990600" cy="1371600"/>
          </a:xfrm>
        </p:grpSpPr>
        <p:grpSp>
          <p:nvGrpSpPr>
            <p:cNvPr id="14365" name="Group 20"/>
            <p:cNvGrpSpPr>
              <a:grpSpLocks/>
            </p:cNvGrpSpPr>
            <p:nvPr/>
          </p:nvGrpSpPr>
          <p:grpSpPr bwMode="auto">
            <a:xfrm>
              <a:off x="3962400" y="2514600"/>
              <a:ext cx="990600" cy="1371600"/>
              <a:chOff x="2448" y="2160"/>
              <a:chExt cx="624" cy="864"/>
            </a:xfrm>
          </p:grpSpPr>
          <p:sp>
            <p:nvSpPr>
              <p:cNvPr id="14367" name="Freeform 21"/>
              <p:cNvSpPr>
                <a:spLocks/>
              </p:cNvSpPr>
              <p:nvPr/>
            </p:nvSpPr>
            <p:spPr bwMode="auto">
              <a:xfrm>
                <a:off x="2448" y="2160"/>
                <a:ext cx="624" cy="864"/>
              </a:xfrm>
              <a:custGeom>
                <a:avLst/>
                <a:gdLst>
                  <a:gd name="T0" fmla="*/ 0 w 624"/>
                  <a:gd name="T1" fmla="*/ 0 h 960"/>
                  <a:gd name="T2" fmla="*/ 0 w 624"/>
                  <a:gd name="T3" fmla="*/ 33 h 960"/>
                  <a:gd name="T4" fmla="*/ 624 w 624"/>
                  <a:gd name="T5" fmla="*/ 33 h 960"/>
                  <a:gd name="T6" fmla="*/ 624 w 624"/>
                  <a:gd name="T7" fmla="*/ 0 h 9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24"/>
                  <a:gd name="T13" fmla="*/ 0 h 960"/>
                  <a:gd name="T14" fmla="*/ 624 w 624"/>
                  <a:gd name="T15" fmla="*/ 960 h 9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24" h="960">
                    <a:moveTo>
                      <a:pt x="0" y="0"/>
                    </a:moveTo>
                    <a:lnTo>
                      <a:pt x="0" y="960"/>
                    </a:lnTo>
                    <a:lnTo>
                      <a:pt x="624" y="960"/>
                    </a:lnTo>
                    <a:lnTo>
                      <a:pt x="624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4368" name="Oval 22"/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192" cy="192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4369" name="Oval 23"/>
              <p:cNvSpPr>
                <a:spLocks noChangeArrowheads="1"/>
              </p:cNvSpPr>
              <p:nvPr/>
            </p:nvSpPr>
            <p:spPr bwMode="auto">
              <a:xfrm>
                <a:off x="2784" y="2544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4370" name="Oval 24"/>
              <p:cNvSpPr>
                <a:spLocks noChangeArrowheads="1"/>
              </p:cNvSpPr>
              <p:nvPr/>
            </p:nvSpPr>
            <p:spPr bwMode="auto">
              <a:xfrm>
                <a:off x="2544" y="2736"/>
                <a:ext cx="192" cy="192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4371" name="Oval 25"/>
              <p:cNvSpPr>
                <a:spLocks noChangeArrowheads="1"/>
              </p:cNvSpPr>
              <p:nvPr/>
            </p:nvSpPr>
            <p:spPr bwMode="auto">
              <a:xfrm>
                <a:off x="2832" y="2784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4372" name="Oval 23"/>
              <p:cNvSpPr>
                <a:spLocks noChangeArrowheads="1"/>
              </p:cNvSpPr>
              <p:nvPr/>
            </p:nvSpPr>
            <p:spPr bwMode="auto">
              <a:xfrm>
                <a:off x="2832" y="2241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4373" name="Oval 23"/>
              <p:cNvSpPr>
                <a:spLocks noChangeArrowheads="1"/>
              </p:cNvSpPr>
              <p:nvPr/>
            </p:nvSpPr>
            <p:spPr bwMode="auto">
              <a:xfrm>
                <a:off x="2562" y="2196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4366" name="Rectangle 26"/>
            <p:cNvSpPr>
              <a:spLocks noChangeArrowheads="1"/>
            </p:cNvSpPr>
            <p:nvPr/>
          </p:nvSpPr>
          <p:spPr bwMode="auto">
            <a:xfrm>
              <a:off x="4368800" y="2540000"/>
              <a:ext cx="2286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</p:grpSp>
      <p:sp>
        <p:nvSpPr>
          <p:cNvPr id="14341" name="Oval 16"/>
          <p:cNvSpPr>
            <a:spLocks noChangeArrowheads="1"/>
          </p:cNvSpPr>
          <p:nvPr/>
        </p:nvSpPr>
        <p:spPr bwMode="auto">
          <a:xfrm>
            <a:off x="3389313" y="51054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200" dirty="0">
              <a:latin typeface="Tahoma" panose="020B0604030504040204" pitchFamily="34" charset="0"/>
            </a:endParaRPr>
          </a:p>
        </p:txBody>
      </p:sp>
      <p:sp>
        <p:nvSpPr>
          <p:cNvPr id="14342" name="Oval 16"/>
          <p:cNvSpPr>
            <a:spLocks noChangeArrowheads="1"/>
          </p:cNvSpPr>
          <p:nvPr/>
        </p:nvSpPr>
        <p:spPr bwMode="auto">
          <a:xfrm>
            <a:off x="3817938" y="51054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200" dirty="0">
              <a:latin typeface="Tahoma" panose="020B0604030504040204" pitchFamily="34" charset="0"/>
            </a:endParaRPr>
          </a:p>
        </p:txBody>
      </p:sp>
      <p:sp>
        <p:nvSpPr>
          <p:cNvPr id="14343" name="Losango 122"/>
          <p:cNvSpPr>
            <a:spLocks noChangeArrowheads="1"/>
          </p:cNvSpPr>
          <p:nvPr/>
        </p:nvSpPr>
        <p:spPr bwMode="auto">
          <a:xfrm>
            <a:off x="3092450" y="5786438"/>
            <a:ext cx="1357313" cy="785812"/>
          </a:xfrm>
          <a:prstGeom prst="diamond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000" dirty="0">
                <a:latin typeface="Tahoma" panose="020B0604030504040204" pitchFamily="34" charset="0"/>
              </a:rPr>
              <a:t>bolas de mesma cor?</a:t>
            </a:r>
          </a:p>
        </p:txBody>
      </p:sp>
      <p:grpSp>
        <p:nvGrpSpPr>
          <p:cNvPr id="14344" name="Grupo 130"/>
          <p:cNvGrpSpPr>
            <a:grpSpLocks/>
          </p:cNvGrpSpPr>
          <p:nvPr/>
        </p:nvGrpSpPr>
        <p:grpSpPr bwMode="auto">
          <a:xfrm>
            <a:off x="357188" y="1571625"/>
            <a:ext cx="2735262" cy="4608513"/>
            <a:chOff x="357156" y="1571132"/>
            <a:chExt cx="2734715" cy="4608230"/>
          </a:xfrm>
        </p:grpSpPr>
        <p:sp>
          <p:nvSpPr>
            <p:cNvPr id="125" name="Arco 124"/>
            <p:cNvSpPr/>
            <p:nvPr/>
          </p:nvSpPr>
          <p:spPr bwMode="auto">
            <a:xfrm flipH="1">
              <a:off x="357156" y="1571132"/>
              <a:ext cx="785655" cy="1071497"/>
            </a:xfrm>
            <a:prstGeom prst="arc">
              <a:avLst>
                <a:gd name="adj1" fmla="val 10859827"/>
                <a:gd name="adj2" fmla="val 4008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14364" name="Forma 128"/>
            <p:cNvCxnSpPr>
              <a:cxnSpLocks noChangeShapeType="1"/>
              <a:stCxn id="125" idx="2"/>
              <a:endCxn id="14343" idx="1"/>
            </p:cNvCxnSpPr>
            <p:nvPr/>
          </p:nvCxnSpPr>
          <p:spPr bwMode="auto">
            <a:xfrm rot="16200000" flipH="1">
              <a:off x="-309292" y="2778200"/>
              <a:ext cx="4067625" cy="2734700"/>
            </a:xfrm>
            <a:prstGeom prst="bentConnector2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345" name="Grupo 131"/>
          <p:cNvGrpSpPr>
            <a:grpSpLocks/>
          </p:cNvGrpSpPr>
          <p:nvPr/>
        </p:nvGrpSpPr>
        <p:grpSpPr bwMode="auto">
          <a:xfrm flipH="1">
            <a:off x="3929063" y="1571625"/>
            <a:ext cx="776287" cy="4608513"/>
            <a:chOff x="357157" y="1571132"/>
            <a:chExt cx="775545" cy="4607751"/>
          </a:xfrm>
        </p:grpSpPr>
        <p:sp>
          <p:nvSpPr>
            <p:cNvPr id="133" name="Arco 132"/>
            <p:cNvSpPr/>
            <p:nvPr/>
          </p:nvSpPr>
          <p:spPr bwMode="auto">
            <a:xfrm flipH="1">
              <a:off x="357157" y="1571132"/>
              <a:ext cx="775545" cy="1071386"/>
            </a:xfrm>
            <a:prstGeom prst="arc">
              <a:avLst>
                <a:gd name="adj1" fmla="val 10859827"/>
                <a:gd name="adj2" fmla="val 4008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pt-BR" dirty="0">
                <a:latin typeface="Tahoma" panose="020B0604030504040204" pitchFamily="34" charset="0"/>
              </a:endParaRPr>
            </a:p>
          </p:txBody>
        </p:sp>
        <p:cxnSp>
          <p:nvCxnSpPr>
            <p:cNvPr id="14362" name="Forma 133"/>
            <p:cNvCxnSpPr>
              <a:cxnSpLocks noChangeShapeType="1"/>
              <a:stCxn id="133" idx="2"/>
              <a:endCxn id="14343" idx="3"/>
            </p:cNvCxnSpPr>
            <p:nvPr/>
          </p:nvCxnSpPr>
          <p:spPr bwMode="auto">
            <a:xfrm rot="16200000" flipH="1">
              <a:off x="-1548854" y="4017462"/>
              <a:ext cx="4067445" cy="255397"/>
            </a:xfrm>
            <a:prstGeom prst="bentConnector2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4346" name="CaixaDeTexto 135"/>
          <p:cNvSpPr txBox="1">
            <a:spLocks noChangeArrowheads="1"/>
          </p:cNvSpPr>
          <p:nvPr/>
        </p:nvSpPr>
        <p:spPr bwMode="auto">
          <a:xfrm>
            <a:off x="2745702" y="6153150"/>
            <a:ext cx="4347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</a:rPr>
              <a:t>Sim</a:t>
            </a:r>
          </a:p>
        </p:txBody>
      </p:sp>
      <p:sp>
        <p:nvSpPr>
          <p:cNvPr id="14347" name="CaixaDeTexto 136"/>
          <p:cNvSpPr txBox="1">
            <a:spLocks noChangeArrowheads="1"/>
          </p:cNvSpPr>
          <p:nvPr/>
        </p:nvSpPr>
        <p:spPr bwMode="auto">
          <a:xfrm>
            <a:off x="4346575" y="6164263"/>
            <a:ext cx="4667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</a:rPr>
              <a:t>Não</a:t>
            </a:r>
          </a:p>
        </p:txBody>
      </p:sp>
      <p:sp>
        <p:nvSpPr>
          <p:cNvPr id="14348" name="CaixaDeTexto 137"/>
          <p:cNvSpPr txBox="1">
            <a:spLocks noChangeArrowheads="1"/>
          </p:cNvSpPr>
          <p:nvPr/>
        </p:nvSpPr>
        <p:spPr bwMode="auto">
          <a:xfrm>
            <a:off x="3589830" y="6550025"/>
            <a:ext cx="35779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III</a:t>
            </a:r>
          </a:p>
        </p:txBody>
      </p:sp>
      <p:sp>
        <p:nvSpPr>
          <p:cNvPr id="14349" name="CaixaDeTexto 140"/>
          <p:cNvSpPr txBox="1">
            <a:spLocks noChangeArrowheads="1"/>
          </p:cNvSpPr>
          <p:nvPr/>
        </p:nvSpPr>
        <p:spPr bwMode="auto">
          <a:xfrm>
            <a:off x="866861" y="3357563"/>
            <a:ext cx="2776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14350" name="CaixaDeTexto 141"/>
          <p:cNvSpPr txBox="1">
            <a:spLocks noChangeArrowheads="1"/>
          </p:cNvSpPr>
          <p:nvPr/>
        </p:nvSpPr>
        <p:spPr bwMode="auto">
          <a:xfrm>
            <a:off x="3030538" y="3357563"/>
            <a:ext cx="2825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14351" name="CaixaDeTexto 142"/>
          <p:cNvSpPr txBox="1">
            <a:spLocks noChangeArrowheads="1"/>
          </p:cNvSpPr>
          <p:nvPr/>
        </p:nvSpPr>
        <p:spPr bwMode="auto">
          <a:xfrm>
            <a:off x="1938338" y="5273675"/>
            <a:ext cx="2825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67" name="Text Box 28"/>
          <p:cNvSpPr txBox="1">
            <a:spLocks noChangeArrowheads="1"/>
          </p:cNvSpPr>
          <p:nvPr/>
        </p:nvSpPr>
        <p:spPr bwMode="auto">
          <a:xfrm>
            <a:off x="5072063" y="1643063"/>
            <a:ext cx="3929062" cy="267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8913" indent="-188913" algn="l">
              <a:lnSpc>
                <a:spcPct val="150000"/>
              </a:lnSpc>
              <a:defRPr/>
            </a:pPr>
            <a:r>
              <a:rPr 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Etapas:</a:t>
            </a:r>
          </a:p>
          <a:p>
            <a:pPr marL="400050" indent="-400050" algn="l">
              <a:buClr>
                <a:srgbClr val="FF0000"/>
              </a:buClr>
              <a:buFontTx/>
              <a:buAutoNum type="romanUcParenR"/>
              <a:defRPr/>
            </a:pPr>
            <a:r>
              <a:rPr lang="pt-BR" sz="1600" dirty="0">
                <a:latin typeface="Tahoma" panose="020B0604030504040204" pitchFamily="34" charset="0"/>
              </a:rPr>
              <a:t>Das urnas A e B, sorteia-se uma bola de cada. As duas bolas são colocadas na urna C</a:t>
            </a:r>
          </a:p>
          <a:p>
            <a:pPr marL="400050" indent="-400050" algn="l">
              <a:buClr>
                <a:srgbClr val="FF0000"/>
              </a:buClr>
              <a:buFontTx/>
              <a:buAutoNum type="romanUcParenR"/>
              <a:defRPr/>
            </a:pPr>
            <a:r>
              <a:rPr lang="pt-BR" sz="1600" dirty="0">
                <a:latin typeface="Tahoma" panose="020B0604030504040204" pitchFamily="34" charset="0"/>
              </a:rPr>
              <a:t>Da urna C, sorteiam-se duas bolas (sem reposição)</a:t>
            </a:r>
          </a:p>
          <a:p>
            <a:pPr marL="400050" indent="-400050" algn="l">
              <a:buClr>
                <a:srgbClr val="FF0000"/>
              </a:buClr>
              <a:buFontTx/>
              <a:buAutoNum type="romanUcParenR"/>
              <a:defRPr/>
            </a:pPr>
            <a:r>
              <a:rPr lang="pt-BR" sz="1600" dirty="0">
                <a:latin typeface="Tahoma" panose="020B0604030504040204" pitchFamily="34" charset="0"/>
              </a:rPr>
              <a:t>Se as bolas forem da mesma cor, ambas são colocadas na urna A. Caso contrário, ambas são colocadas na urna B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C580A6-A697-459F-A6AB-F49F369D35A1}" type="slidenum">
              <a:rPr lang="pt-BR"/>
              <a:pPr>
                <a:defRPr/>
              </a:pPr>
              <a:t>22</a:t>
            </a:fld>
            <a:endParaRPr lang="pt-BR"/>
          </a:p>
        </p:txBody>
      </p:sp>
      <p:grpSp>
        <p:nvGrpSpPr>
          <p:cNvPr id="53" name="Grupo 44"/>
          <p:cNvGrpSpPr>
            <a:grpSpLocks/>
          </p:cNvGrpSpPr>
          <p:nvPr/>
        </p:nvGrpSpPr>
        <p:grpSpPr bwMode="auto">
          <a:xfrm>
            <a:off x="2009775" y="4129088"/>
            <a:ext cx="990600" cy="1371600"/>
            <a:chOff x="2009775" y="4129088"/>
            <a:chExt cx="990600" cy="1371600"/>
          </a:xfrm>
        </p:grpSpPr>
        <p:sp>
          <p:nvSpPr>
            <p:cNvPr id="54" name="Oval 16"/>
            <p:cNvSpPr>
              <a:spLocks noChangeArrowheads="1"/>
            </p:cNvSpPr>
            <p:nvPr/>
          </p:nvSpPr>
          <p:spPr bwMode="auto">
            <a:xfrm>
              <a:off x="2435288" y="4262032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55" name="Freeform 21"/>
            <p:cNvSpPr>
              <a:spLocks/>
            </p:cNvSpPr>
            <p:nvPr/>
          </p:nvSpPr>
          <p:spPr bwMode="auto">
            <a:xfrm>
              <a:off x="2009775" y="4129088"/>
              <a:ext cx="990600" cy="1371600"/>
            </a:xfrm>
            <a:custGeom>
              <a:avLst/>
              <a:gdLst>
                <a:gd name="T0" fmla="*/ 0 w 624"/>
                <a:gd name="T1" fmla="*/ 0 h 960"/>
                <a:gd name="T2" fmla="*/ 0 w 624"/>
                <a:gd name="T3" fmla="*/ 2147483647 h 960"/>
                <a:gd name="T4" fmla="*/ 2147483647 w 624"/>
                <a:gd name="T5" fmla="*/ 2147483647 h 960"/>
                <a:gd name="T6" fmla="*/ 2147483647 w 624"/>
                <a:gd name="T7" fmla="*/ 0 h 9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960"/>
                <a:gd name="T14" fmla="*/ 624 w 624"/>
                <a:gd name="T15" fmla="*/ 960 h 9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960">
                  <a:moveTo>
                    <a:pt x="0" y="0"/>
                  </a:moveTo>
                  <a:lnTo>
                    <a:pt x="0" y="960"/>
                  </a:lnTo>
                  <a:lnTo>
                    <a:pt x="624" y="960"/>
                  </a:lnTo>
                  <a:lnTo>
                    <a:pt x="624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56" name="Oval 22"/>
            <p:cNvSpPr>
              <a:spLocks noChangeArrowheads="1"/>
            </p:cNvSpPr>
            <p:nvPr/>
          </p:nvSpPr>
          <p:spPr bwMode="auto">
            <a:xfrm>
              <a:off x="2162175" y="4581776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57" name="Oval 23"/>
            <p:cNvSpPr>
              <a:spLocks noChangeArrowheads="1"/>
            </p:cNvSpPr>
            <p:nvPr/>
          </p:nvSpPr>
          <p:spPr bwMode="auto">
            <a:xfrm>
              <a:off x="2548876" y="4731904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58" name="Oval 24"/>
            <p:cNvSpPr>
              <a:spLocks noChangeArrowheads="1"/>
            </p:cNvSpPr>
            <p:nvPr/>
          </p:nvSpPr>
          <p:spPr bwMode="auto">
            <a:xfrm>
              <a:off x="2162175" y="5043488"/>
              <a:ext cx="304800" cy="3048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59" name="Oval 25"/>
            <p:cNvSpPr>
              <a:spLocks noChangeArrowheads="1"/>
            </p:cNvSpPr>
            <p:nvPr/>
          </p:nvSpPr>
          <p:spPr bwMode="auto">
            <a:xfrm>
              <a:off x="2619375" y="5119688"/>
              <a:ext cx="304800" cy="304800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</p:grpSp>
      <p:sp>
        <p:nvSpPr>
          <p:cNvPr id="46" name="Text Box 38"/>
          <p:cNvSpPr txBox="1">
            <a:spLocks noChangeArrowheads="1"/>
          </p:cNvSpPr>
          <p:nvPr/>
        </p:nvSpPr>
        <p:spPr bwMode="auto">
          <a:xfrm>
            <a:off x="0" y="6546637"/>
            <a:ext cx="2407431" cy="337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363" indent="-360363"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</a:rPr>
              <a:t>(ver Simulacao_exemplo2.xlsx)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Exemplo de Aplicação 2</a:t>
            </a:r>
          </a:p>
        </p:txBody>
      </p:sp>
      <p:grpSp>
        <p:nvGrpSpPr>
          <p:cNvPr id="15364" name="Group 4"/>
          <p:cNvGrpSpPr>
            <a:grpSpLocks/>
          </p:cNvGrpSpPr>
          <p:nvPr/>
        </p:nvGrpSpPr>
        <p:grpSpPr bwMode="auto">
          <a:xfrm>
            <a:off x="928688" y="2190750"/>
            <a:ext cx="990600" cy="1371600"/>
            <a:chOff x="1104" y="1776"/>
            <a:chExt cx="624" cy="864"/>
          </a:xfrm>
        </p:grpSpPr>
        <p:sp>
          <p:nvSpPr>
            <p:cNvPr id="15427" name="Freeform 5"/>
            <p:cNvSpPr>
              <a:spLocks/>
            </p:cNvSpPr>
            <p:nvPr/>
          </p:nvSpPr>
          <p:spPr bwMode="auto">
            <a:xfrm>
              <a:off x="1104" y="1776"/>
              <a:ext cx="624" cy="864"/>
            </a:xfrm>
            <a:custGeom>
              <a:avLst/>
              <a:gdLst>
                <a:gd name="T0" fmla="*/ 0 w 624"/>
                <a:gd name="T1" fmla="*/ 0 h 960"/>
                <a:gd name="T2" fmla="*/ 0 w 624"/>
                <a:gd name="T3" fmla="*/ 33 h 960"/>
                <a:gd name="T4" fmla="*/ 624 w 624"/>
                <a:gd name="T5" fmla="*/ 33 h 960"/>
                <a:gd name="T6" fmla="*/ 624 w 624"/>
                <a:gd name="T7" fmla="*/ 0 h 9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960"/>
                <a:gd name="T14" fmla="*/ 624 w 624"/>
                <a:gd name="T15" fmla="*/ 960 h 9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960">
                  <a:moveTo>
                    <a:pt x="0" y="0"/>
                  </a:moveTo>
                  <a:lnTo>
                    <a:pt x="0" y="960"/>
                  </a:lnTo>
                  <a:lnTo>
                    <a:pt x="624" y="960"/>
                  </a:lnTo>
                  <a:lnTo>
                    <a:pt x="624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5428" name="Oval 6"/>
            <p:cNvSpPr>
              <a:spLocks noChangeArrowheads="1"/>
            </p:cNvSpPr>
            <p:nvPr/>
          </p:nvSpPr>
          <p:spPr bwMode="auto">
            <a:xfrm>
              <a:off x="1200" y="1776"/>
              <a:ext cx="192" cy="192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5429" name="Oval 7"/>
            <p:cNvSpPr>
              <a:spLocks noChangeArrowheads="1"/>
            </p:cNvSpPr>
            <p:nvPr/>
          </p:nvSpPr>
          <p:spPr bwMode="auto">
            <a:xfrm>
              <a:off x="1440" y="1872"/>
              <a:ext cx="192" cy="19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5430" name="Oval 8"/>
            <p:cNvSpPr>
              <a:spLocks noChangeArrowheads="1"/>
            </p:cNvSpPr>
            <p:nvPr/>
          </p:nvSpPr>
          <p:spPr bwMode="auto">
            <a:xfrm>
              <a:off x="1200" y="2064"/>
              <a:ext cx="192" cy="19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5431" name="Oval 9"/>
            <p:cNvSpPr>
              <a:spLocks noChangeArrowheads="1"/>
            </p:cNvSpPr>
            <p:nvPr/>
          </p:nvSpPr>
          <p:spPr bwMode="auto">
            <a:xfrm>
              <a:off x="1440" y="2160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5432" name="Oval 10"/>
            <p:cNvSpPr>
              <a:spLocks noChangeArrowheads="1"/>
            </p:cNvSpPr>
            <p:nvPr/>
          </p:nvSpPr>
          <p:spPr bwMode="auto">
            <a:xfrm>
              <a:off x="1200" y="2352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5433" name="Oval 11"/>
            <p:cNvSpPr>
              <a:spLocks noChangeArrowheads="1"/>
            </p:cNvSpPr>
            <p:nvPr/>
          </p:nvSpPr>
          <p:spPr bwMode="auto">
            <a:xfrm>
              <a:off x="1488" y="2400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5434" name="Rectangle 12"/>
            <p:cNvSpPr>
              <a:spLocks noChangeArrowheads="1"/>
            </p:cNvSpPr>
            <p:nvPr/>
          </p:nvSpPr>
          <p:spPr bwMode="auto">
            <a:xfrm>
              <a:off x="1344" y="1776"/>
              <a:ext cx="14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15365" name="Grupo 64"/>
          <p:cNvGrpSpPr>
            <a:grpSpLocks/>
          </p:cNvGrpSpPr>
          <p:nvPr/>
        </p:nvGrpSpPr>
        <p:grpSpPr bwMode="auto">
          <a:xfrm>
            <a:off x="3081338" y="2190750"/>
            <a:ext cx="990600" cy="1371600"/>
            <a:chOff x="3962400" y="2514600"/>
            <a:chExt cx="990600" cy="1371600"/>
          </a:xfrm>
        </p:grpSpPr>
        <p:grpSp>
          <p:nvGrpSpPr>
            <p:cNvPr id="15418" name="Group 20"/>
            <p:cNvGrpSpPr>
              <a:grpSpLocks/>
            </p:cNvGrpSpPr>
            <p:nvPr/>
          </p:nvGrpSpPr>
          <p:grpSpPr bwMode="auto">
            <a:xfrm>
              <a:off x="3962400" y="2514600"/>
              <a:ext cx="990600" cy="1371600"/>
              <a:chOff x="2448" y="2160"/>
              <a:chExt cx="624" cy="864"/>
            </a:xfrm>
          </p:grpSpPr>
          <p:sp>
            <p:nvSpPr>
              <p:cNvPr id="15420" name="Freeform 21"/>
              <p:cNvSpPr>
                <a:spLocks/>
              </p:cNvSpPr>
              <p:nvPr/>
            </p:nvSpPr>
            <p:spPr bwMode="auto">
              <a:xfrm>
                <a:off x="2448" y="2160"/>
                <a:ext cx="624" cy="864"/>
              </a:xfrm>
              <a:custGeom>
                <a:avLst/>
                <a:gdLst>
                  <a:gd name="T0" fmla="*/ 0 w 624"/>
                  <a:gd name="T1" fmla="*/ 0 h 960"/>
                  <a:gd name="T2" fmla="*/ 0 w 624"/>
                  <a:gd name="T3" fmla="*/ 33 h 960"/>
                  <a:gd name="T4" fmla="*/ 624 w 624"/>
                  <a:gd name="T5" fmla="*/ 33 h 960"/>
                  <a:gd name="T6" fmla="*/ 624 w 624"/>
                  <a:gd name="T7" fmla="*/ 0 h 9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24"/>
                  <a:gd name="T13" fmla="*/ 0 h 960"/>
                  <a:gd name="T14" fmla="*/ 624 w 624"/>
                  <a:gd name="T15" fmla="*/ 960 h 9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24" h="960">
                    <a:moveTo>
                      <a:pt x="0" y="0"/>
                    </a:moveTo>
                    <a:lnTo>
                      <a:pt x="0" y="960"/>
                    </a:lnTo>
                    <a:lnTo>
                      <a:pt x="624" y="960"/>
                    </a:lnTo>
                    <a:lnTo>
                      <a:pt x="624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5421" name="Oval 22"/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192" cy="192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5422" name="Oval 23"/>
              <p:cNvSpPr>
                <a:spLocks noChangeArrowheads="1"/>
              </p:cNvSpPr>
              <p:nvPr/>
            </p:nvSpPr>
            <p:spPr bwMode="auto">
              <a:xfrm>
                <a:off x="2784" y="2544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5423" name="Oval 24"/>
              <p:cNvSpPr>
                <a:spLocks noChangeArrowheads="1"/>
              </p:cNvSpPr>
              <p:nvPr/>
            </p:nvSpPr>
            <p:spPr bwMode="auto">
              <a:xfrm>
                <a:off x="2544" y="2736"/>
                <a:ext cx="192" cy="192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5424" name="Oval 25"/>
              <p:cNvSpPr>
                <a:spLocks noChangeArrowheads="1"/>
              </p:cNvSpPr>
              <p:nvPr/>
            </p:nvSpPr>
            <p:spPr bwMode="auto">
              <a:xfrm>
                <a:off x="2832" y="2784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5425" name="Oval 23"/>
              <p:cNvSpPr>
                <a:spLocks noChangeArrowheads="1"/>
              </p:cNvSpPr>
              <p:nvPr/>
            </p:nvSpPr>
            <p:spPr bwMode="auto">
              <a:xfrm>
                <a:off x="2832" y="2241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5426" name="Oval 23"/>
              <p:cNvSpPr>
                <a:spLocks noChangeArrowheads="1"/>
              </p:cNvSpPr>
              <p:nvPr/>
            </p:nvSpPr>
            <p:spPr bwMode="auto">
              <a:xfrm>
                <a:off x="2562" y="2196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5419" name="Rectangle 26"/>
            <p:cNvSpPr>
              <a:spLocks noChangeArrowheads="1"/>
            </p:cNvSpPr>
            <p:nvPr/>
          </p:nvSpPr>
          <p:spPr bwMode="auto">
            <a:xfrm>
              <a:off x="4368800" y="2540000"/>
              <a:ext cx="2286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</p:grpSp>
      <p:sp>
        <p:nvSpPr>
          <p:cNvPr id="99" name="Arco 98"/>
          <p:cNvSpPr/>
          <p:nvPr/>
        </p:nvSpPr>
        <p:spPr bwMode="auto">
          <a:xfrm>
            <a:off x="1714500" y="1500188"/>
            <a:ext cx="2857500" cy="1143000"/>
          </a:xfrm>
          <a:prstGeom prst="arc">
            <a:avLst>
              <a:gd name="adj1" fmla="val 10859827"/>
              <a:gd name="adj2" fmla="val 40080"/>
            </a:avLst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04" name="Arco 103"/>
          <p:cNvSpPr/>
          <p:nvPr/>
        </p:nvSpPr>
        <p:spPr bwMode="auto">
          <a:xfrm>
            <a:off x="3786188" y="1776413"/>
            <a:ext cx="785812" cy="642937"/>
          </a:xfrm>
          <a:prstGeom prst="arc">
            <a:avLst>
              <a:gd name="adj1" fmla="val 10859827"/>
              <a:gd name="adj2" fmla="val 40080"/>
            </a:avLst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  <p:cxnSp>
        <p:nvCxnSpPr>
          <p:cNvPr id="15368" name="Conector de seta reta 104"/>
          <p:cNvCxnSpPr>
            <a:cxnSpLocks noChangeShapeType="1"/>
            <a:stCxn id="104" idx="2"/>
            <a:endCxn id="15375" idx="1"/>
          </p:cNvCxnSpPr>
          <p:nvPr/>
        </p:nvCxnSpPr>
        <p:spPr bwMode="auto">
          <a:xfrm rot="16200000" flipH="1">
            <a:off x="3683794" y="2990056"/>
            <a:ext cx="3175000" cy="1398588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69" name="CaixaDeTexto 120"/>
          <p:cNvSpPr txBox="1">
            <a:spLocks noChangeArrowheads="1"/>
          </p:cNvSpPr>
          <p:nvPr/>
        </p:nvSpPr>
        <p:spPr bwMode="auto">
          <a:xfrm>
            <a:off x="2945421" y="1571625"/>
            <a:ext cx="33374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IV</a:t>
            </a:r>
          </a:p>
        </p:txBody>
      </p:sp>
      <p:sp>
        <p:nvSpPr>
          <p:cNvPr id="140" name="Text Box 28"/>
          <p:cNvSpPr txBox="1">
            <a:spLocks noChangeArrowheads="1"/>
          </p:cNvSpPr>
          <p:nvPr/>
        </p:nvSpPr>
        <p:spPr bwMode="auto">
          <a:xfrm>
            <a:off x="5072063" y="1643063"/>
            <a:ext cx="3929062" cy="341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8913" indent="-188913" algn="l">
              <a:lnSpc>
                <a:spcPct val="150000"/>
              </a:lnSpc>
              <a:defRPr/>
            </a:pPr>
            <a:r>
              <a:rPr 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Etapas:</a:t>
            </a:r>
          </a:p>
          <a:p>
            <a:pPr marL="400050" indent="-400050" algn="l">
              <a:buClr>
                <a:srgbClr val="FF0000"/>
              </a:buClr>
              <a:buFontTx/>
              <a:buAutoNum type="romanUcParenR"/>
              <a:defRPr/>
            </a:pPr>
            <a:r>
              <a:rPr lang="pt-BR" sz="1600" dirty="0">
                <a:latin typeface="Tahoma" panose="020B0604030504040204" pitchFamily="34" charset="0"/>
              </a:rPr>
              <a:t>Das urnas A e B, sorteia-se uma bola de cada. As duas bolas são colocadas na urna C</a:t>
            </a:r>
          </a:p>
          <a:p>
            <a:pPr marL="400050" indent="-400050" algn="l">
              <a:buClr>
                <a:srgbClr val="FF0000"/>
              </a:buClr>
              <a:buFontTx/>
              <a:buAutoNum type="romanUcParenR"/>
              <a:defRPr/>
            </a:pPr>
            <a:r>
              <a:rPr lang="pt-BR" sz="1600" dirty="0">
                <a:latin typeface="Tahoma" panose="020B0604030504040204" pitchFamily="34" charset="0"/>
              </a:rPr>
              <a:t>Da urna C, sorteiam-se duas bolas (sem reposição)</a:t>
            </a:r>
          </a:p>
          <a:p>
            <a:pPr marL="400050" indent="-400050" algn="l">
              <a:buClr>
                <a:srgbClr val="FF0000"/>
              </a:buClr>
              <a:buFontTx/>
              <a:buAutoNum type="romanUcParenR"/>
              <a:defRPr/>
            </a:pPr>
            <a:r>
              <a:rPr lang="pt-BR" sz="1600" dirty="0">
                <a:latin typeface="Tahoma" panose="020B0604030504040204" pitchFamily="34" charset="0"/>
              </a:rPr>
              <a:t>Se as bolas forem da mesma cor, ambas são colocadas na urna A. Caso contrário, ambas são colocadas na urna B</a:t>
            </a:r>
          </a:p>
          <a:p>
            <a:pPr marL="400050" indent="-400050" algn="l">
              <a:buClr>
                <a:srgbClr val="FF0000"/>
              </a:buClr>
              <a:buFontTx/>
              <a:buAutoNum type="romanUcParenR"/>
              <a:defRPr/>
            </a:pPr>
            <a:r>
              <a:rPr lang="pt-BR" sz="1600" dirty="0">
                <a:latin typeface="Tahoma" panose="020B0604030504040204" pitchFamily="34" charset="0"/>
              </a:rPr>
              <a:t>Escolhe-se aleatoriamente a urna A ou B e dela retiram-se 5 bolas (sem reposição)</a:t>
            </a:r>
          </a:p>
        </p:txBody>
      </p:sp>
      <p:sp>
        <p:nvSpPr>
          <p:cNvPr id="15371" name="CaixaDeTexto 140"/>
          <p:cNvSpPr txBox="1">
            <a:spLocks noChangeArrowheads="1"/>
          </p:cNvSpPr>
          <p:nvPr/>
        </p:nvSpPr>
        <p:spPr bwMode="auto">
          <a:xfrm>
            <a:off x="866861" y="3357563"/>
            <a:ext cx="2776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15372" name="CaixaDeTexto 141"/>
          <p:cNvSpPr txBox="1">
            <a:spLocks noChangeArrowheads="1"/>
          </p:cNvSpPr>
          <p:nvPr/>
        </p:nvSpPr>
        <p:spPr bwMode="auto">
          <a:xfrm>
            <a:off x="3030538" y="3357563"/>
            <a:ext cx="2825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15373" name="CaixaDeTexto 142"/>
          <p:cNvSpPr txBox="1">
            <a:spLocks noChangeArrowheads="1"/>
          </p:cNvSpPr>
          <p:nvPr/>
        </p:nvSpPr>
        <p:spPr bwMode="auto">
          <a:xfrm>
            <a:off x="1938338" y="5273675"/>
            <a:ext cx="2825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C</a:t>
            </a:r>
          </a:p>
        </p:txBody>
      </p:sp>
      <p:grpSp>
        <p:nvGrpSpPr>
          <p:cNvPr id="15374" name="Grupo 69"/>
          <p:cNvGrpSpPr>
            <a:grpSpLocks/>
          </p:cNvGrpSpPr>
          <p:nvPr/>
        </p:nvGrpSpPr>
        <p:grpSpPr bwMode="auto">
          <a:xfrm>
            <a:off x="6143625" y="5124450"/>
            <a:ext cx="1928813" cy="304800"/>
            <a:chOff x="6215074" y="5286388"/>
            <a:chExt cx="1928826" cy="304800"/>
          </a:xfrm>
        </p:grpSpPr>
        <p:sp>
          <p:nvSpPr>
            <p:cNvPr id="15413" name="Oval 16"/>
            <p:cNvSpPr>
              <a:spLocks noChangeArrowheads="1"/>
            </p:cNvSpPr>
            <p:nvPr/>
          </p:nvSpPr>
          <p:spPr bwMode="auto">
            <a:xfrm>
              <a:off x="6215074" y="5286388"/>
              <a:ext cx="304800" cy="304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5414" name="Oval 16"/>
            <p:cNvSpPr>
              <a:spLocks noChangeArrowheads="1"/>
            </p:cNvSpPr>
            <p:nvPr/>
          </p:nvSpPr>
          <p:spPr bwMode="auto">
            <a:xfrm>
              <a:off x="6621080" y="5286388"/>
              <a:ext cx="304800" cy="304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5415" name="Oval 16"/>
            <p:cNvSpPr>
              <a:spLocks noChangeArrowheads="1"/>
            </p:cNvSpPr>
            <p:nvPr/>
          </p:nvSpPr>
          <p:spPr bwMode="auto">
            <a:xfrm>
              <a:off x="7027086" y="5286388"/>
              <a:ext cx="304800" cy="304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5416" name="Oval 16"/>
            <p:cNvSpPr>
              <a:spLocks noChangeArrowheads="1"/>
            </p:cNvSpPr>
            <p:nvPr/>
          </p:nvSpPr>
          <p:spPr bwMode="auto">
            <a:xfrm>
              <a:off x="7433093" y="5286388"/>
              <a:ext cx="304800" cy="304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5417" name="Oval 16"/>
            <p:cNvSpPr>
              <a:spLocks noChangeArrowheads="1"/>
            </p:cNvSpPr>
            <p:nvPr/>
          </p:nvSpPr>
          <p:spPr bwMode="auto">
            <a:xfrm>
              <a:off x="7839100" y="5286388"/>
              <a:ext cx="304800" cy="304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</p:grpSp>
      <p:sp>
        <p:nvSpPr>
          <p:cNvPr id="15375" name="Retângulo 74"/>
          <p:cNvSpPr>
            <a:spLocks noChangeArrowheads="1"/>
          </p:cNvSpPr>
          <p:nvPr/>
        </p:nvSpPr>
        <p:spPr bwMode="auto">
          <a:xfrm>
            <a:off x="5970588" y="5133975"/>
            <a:ext cx="2857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200" dirty="0">
              <a:latin typeface="Tahoma" panose="020B0604030504040204" pitchFamily="34" charset="0"/>
            </a:endParaRPr>
          </a:p>
        </p:txBody>
      </p:sp>
      <p:sp>
        <p:nvSpPr>
          <p:cNvPr id="77" name="Retângulo 76"/>
          <p:cNvSpPr>
            <a:spLocks noChangeArrowheads="1"/>
          </p:cNvSpPr>
          <p:nvPr/>
        </p:nvSpPr>
        <p:spPr bwMode="auto">
          <a:xfrm>
            <a:off x="5073650" y="5527675"/>
            <a:ext cx="3937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00050" indent="-400050"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0000"/>
              </a:buClr>
              <a:buFontTx/>
              <a:buNone/>
            </a:pPr>
            <a:r>
              <a:rPr lang="pt-BR" altLang="pt-BR" sz="1600" dirty="0">
                <a:solidFill>
                  <a:srgbClr val="000000"/>
                </a:solidFill>
                <a:latin typeface="Tahoma" panose="020B0604030504040204" pitchFamily="34" charset="0"/>
              </a:rPr>
              <a:t>Definindo-se 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X</a:t>
            </a:r>
            <a:r>
              <a:rPr lang="pt-BR" altLang="pt-BR" sz="1600" dirty="0">
                <a:solidFill>
                  <a:srgbClr val="000000"/>
                </a:solidFill>
                <a:latin typeface="Tahoma" panose="020B0604030504040204" pitchFamily="34" charset="0"/>
              </a:rPr>
              <a:t> como o número de bolas azuis nas 5 observações, qual a distribuição dos valores de 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X</a:t>
            </a:r>
            <a:r>
              <a:rPr lang="pt-BR" altLang="pt-BR" sz="1600" dirty="0">
                <a:solidFill>
                  <a:srgbClr val="000000"/>
                </a:solidFill>
                <a:latin typeface="Tahoma" panose="020B0604030504040204" pitchFamily="34" charset="0"/>
              </a:rPr>
              <a:t>?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9AA682-7BA9-4E26-9059-E2381628AB78}" type="slidenum">
              <a:rPr lang="pt-BR"/>
              <a:pPr>
                <a:defRPr/>
              </a:pPr>
              <a:t>23</a:t>
            </a:fld>
            <a:endParaRPr lang="pt-BR"/>
          </a:p>
        </p:txBody>
      </p:sp>
      <p:grpSp>
        <p:nvGrpSpPr>
          <p:cNvPr id="55" name="Grupo 44"/>
          <p:cNvGrpSpPr>
            <a:grpSpLocks/>
          </p:cNvGrpSpPr>
          <p:nvPr/>
        </p:nvGrpSpPr>
        <p:grpSpPr bwMode="auto">
          <a:xfrm>
            <a:off x="2009775" y="4129088"/>
            <a:ext cx="990600" cy="1371600"/>
            <a:chOff x="2009775" y="4129088"/>
            <a:chExt cx="990600" cy="1371600"/>
          </a:xfrm>
        </p:grpSpPr>
        <p:sp>
          <p:nvSpPr>
            <p:cNvPr id="56" name="Oval 16"/>
            <p:cNvSpPr>
              <a:spLocks noChangeArrowheads="1"/>
            </p:cNvSpPr>
            <p:nvPr/>
          </p:nvSpPr>
          <p:spPr bwMode="auto">
            <a:xfrm>
              <a:off x="2435288" y="4262032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57" name="Freeform 21"/>
            <p:cNvSpPr>
              <a:spLocks/>
            </p:cNvSpPr>
            <p:nvPr/>
          </p:nvSpPr>
          <p:spPr bwMode="auto">
            <a:xfrm>
              <a:off x="2009775" y="4129088"/>
              <a:ext cx="990600" cy="1371600"/>
            </a:xfrm>
            <a:custGeom>
              <a:avLst/>
              <a:gdLst>
                <a:gd name="T0" fmla="*/ 0 w 624"/>
                <a:gd name="T1" fmla="*/ 0 h 960"/>
                <a:gd name="T2" fmla="*/ 0 w 624"/>
                <a:gd name="T3" fmla="*/ 2147483647 h 960"/>
                <a:gd name="T4" fmla="*/ 2147483647 w 624"/>
                <a:gd name="T5" fmla="*/ 2147483647 h 960"/>
                <a:gd name="T6" fmla="*/ 2147483647 w 624"/>
                <a:gd name="T7" fmla="*/ 0 h 9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960"/>
                <a:gd name="T14" fmla="*/ 624 w 624"/>
                <a:gd name="T15" fmla="*/ 960 h 9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960">
                  <a:moveTo>
                    <a:pt x="0" y="0"/>
                  </a:moveTo>
                  <a:lnTo>
                    <a:pt x="0" y="960"/>
                  </a:lnTo>
                  <a:lnTo>
                    <a:pt x="624" y="960"/>
                  </a:lnTo>
                  <a:lnTo>
                    <a:pt x="624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58" name="Oval 22"/>
            <p:cNvSpPr>
              <a:spLocks noChangeArrowheads="1"/>
            </p:cNvSpPr>
            <p:nvPr/>
          </p:nvSpPr>
          <p:spPr bwMode="auto">
            <a:xfrm>
              <a:off x="2162175" y="4581776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59" name="Oval 23"/>
            <p:cNvSpPr>
              <a:spLocks noChangeArrowheads="1"/>
            </p:cNvSpPr>
            <p:nvPr/>
          </p:nvSpPr>
          <p:spPr bwMode="auto">
            <a:xfrm>
              <a:off x="2548876" y="4731904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60" name="Oval 24"/>
            <p:cNvSpPr>
              <a:spLocks noChangeArrowheads="1"/>
            </p:cNvSpPr>
            <p:nvPr/>
          </p:nvSpPr>
          <p:spPr bwMode="auto">
            <a:xfrm>
              <a:off x="2162175" y="5043488"/>
              <a:ext cx="304800" cy="3048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61" name="Oval 25"/>
            <p:cNvSpPr>
              <a:spLocks noChangeArrowheads="1"/>
            </p:cNvSpPr>
            <p:nvPr/>
          </p:nvSpPr>
          <p:spPr bwMode="auto">
            <a:xfrm>
              <a:off x="2619375" y="5119688"/>
              <a:ext cx="304800" cy="304800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</p:grpSp>
      <p:sp>
        <p:nvSpPr>
          <p:cNvPr id="46" name="Text Box 38"/>
          <p:cNvSpPr txBox="1">
            <a:spLocks noChangeArrowheads="1"/>
          </p:cNvSpPr>
          <p:nvPr/>
        </p:nvSpPr>
        <p:spPr bwMode="auto">
          <a:xfrm>
            <a:off x="0" y="6546637"/>
            <a:ext cx="2407431" cy="337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363" indent="-360363"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</a:rPr>
              <a:t>(ver Simulacao_exemplo2.xlsx)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Exemplo de Aplicação 2</a:t>
            </a:r>
          </a:p>
        </p:txBody>
      </p:sp>
      <p:grpSp>
        <p:nvGrpSpPr>
          <p:cNvPr id="15364" name="Group 4"/>
          <p:cNvGrpSpPr>
            <a:grpSpLocks/>
          </p:cNvGrpSpPr>
          <p:nvPr/>
        </p:nvGrpSpPr>
        <p:grpSpPr bwMode="auto">
          <a:xfrm>
            <a:off x="928688" y="2190750"/>
            <a:ext cx="990600" cy="1371600"/>
            <a:chOff x="1104" y="1776"/>
            <a:chExt cx="624" cy="864"/>
          </a:xfrm>
        </p:grpSpPr>
        <p:sp>
          <p:nvSpPr>
            <p:cNvPr id="15427" name="Freeform 5"/>
            <p:cNvSpPr>
              <a:spLocks/>
            </p:cNvSpPr>
            <p:nvPr/>
          </p:nvSpPr>
          <p:spPr bwMode="auto">
            <a:xfrm>
              <a:off x="1104" y="1776"/>
              <a:ext cx="624" cy="864"/>
            </a:xfrm>
            <a:custGeom>
              <a:avLst/>
              <a:gdLst>
                <a:gd name="T0" fmla="*/ 0 w 624"/>
                <a:gd name="T1" fmla="*/ 0 h 960"/>
                <a:gd name="T2" fmla="*/ 0 w 624"/>
                <a:gd name="T3" fmla="*/ 33 h 960"/>
                <a:gd name="T4" fmla="*/ 624 w 624"/>
                <a:gd name="T5" fmla="*/ 33 h 960"/>
                <a:gd name="T6" fmla="*/ 624 w 624"/>
                <a:gd name="T7" fmla="*/ 0 h 9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960"/>
                <a:gd name="T14" fmla="*/ 624 w 624"/>
                <a:gd name="T15" fmla="*/ 960 h 9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960">
                  <a:moveTo>
                    <a:pt x="0" y="0"/>
                  </a:moveTo>
                  <a:lnTo>
                    <a:pt x="0" y="960"/>
                  </a:lnTo>
                  <a:lnTo>
                    <a:pt x="624" y="960"/>
                  </a:lnTo>
                  <a:lnTo>
                    <a:pt x="624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15428" name="Oval 6"/>
            <p:cNvSpPr>
              <a:spLocks noChangeArrowheads="1"/>
            </p:cNvSpPr>
            <p:nvPr/>
          </p:nvSpPr>
          <p:spPr bwMode="auto">
            <a:xfrm>
              <a:off x="1200" y="1776"/>
              <a:ext cx="192" cy="192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5429" name="Oval 7"/>
            <p:cNvSpPr>
              <a:spLocks noChangeArrowheads="1"/>
            </p:cNvSpPr>
            <p:nvPr/>
          </p:nvSpPr>
          <p:spPr bwMode="auto">
            <a:xfrm>
              <a:off x="1440" y="1872"/>
              <a:ext cx="192" cy="19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5430" name="Oval 8"/>
            <p:cNvSpPr>
              <a:spLocks noChangeArrowheads="1"/>
            </p:cNvSpPr>
            <p:nvPr/>
          </p:nvSpPr>
          <p:spPr bwMode="auto">
            <a:xfrm>
              <a:off x="1200" y="2064"/>
              <a:ext cx="192" cy="19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5431" name="Oval 9"/>
            <p:cNvSpPr>
              <a:spLocks noChangeArrowheads="1"/>
            </p:cNvSpPr>
            <p:nvPr/>
          </p:nvSpPr>
          <p:spPr bwMode="auto">
            <a:xfrm>
              <a:off x="1440" y="2160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5432" name="Oval 10"/>
            <p:cNvSpPr>
              <a:spLocks noChangeArrowheads="1"/>
            </p:cNvSpPr>
            <p:nvPr/>
          </p:nvSpPr>
          <p:spPr bwMode="auto">
            <a:xfrm>
              <a:off x="1200" y="2352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5433" name="Oval 11"/>
            <p:cNvSpPr>
              <a:spLocks noChangeArrowheads="1"/>
            </p:cNvSpPr>
            <p:nvPr/>
          </p:nvSpPr>
          <p:spPr bwMode="auto">
            <a:xfrm>
              <a:off x="1488" y="2400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5434" name="Rectangle 12"/>
            <p:cNvSpPr>
              <a:spLocks noChangeArrowheads="1"/>
            </p:cNvSpPr>
            <p:nvPr/>
          </p:nvSpPr>
          <p:spPr bwMode="auto">
            <a:xfrm>
              <a:off x="1344" y="1776"/>
              <a:ext cx="14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15365" name="Grupo 64"/>
          <p:cNvGrpSpPr>
            <a:grpSpLocks/>
          </p:cNvGrpSpPr>
          <p:nvPr/>
        </p:nvGrpSpPr>
        <p:grpSpPr bwMode="auto">
          <a:xfrm>
            <a:off x="3081338" y="2190750"/>
            <a:ext cx="990600" cy="1371600"/>
            <a:chOff x="3962400" y="2514600"/>
            <a:chExt cx="990600" cy="1371600"/>
          </a:xfrm>
        </p:grpSpPr>
        <p:grpSp>
          <p:nvGrpSpPr>
            <p:cNvPr id="15418" name="Group 20"/>
            <p:cNvGrpSpPr>
              <a:grpSpLocks/>
            </p:cNvGrpSpPr>
            <p:nvPr/>
          </p:nvGrpSpPr>
          <p:grpSpPr bwMode="auto">
            <a:xfrm>
              <a:off x="3962400" y="2514600"/>
              <a:ext cx="990600" cy="1371600"/>
              <a:chOff x="2448" y="2160"/>
              <a:chExt cx="624" cy="864"/>
            </a:xfrm>
          </p:grpSpPr>
          <p:sp>
            <p:nvSpPr>
              <p:cNvPr id="15420" name="Freeform 21"/>
              <p:cNvSpPr>
                <a:spLocks/>
              </p:cNvSpPr>
              <p:nvPr/>
            </p:nvSpPr>
            <p:spPr bwMode="auto">
              <a:xfrm>
                <a:off x="2448" y="2160"/>
                <a:ext cx="624" cy="864"/>
              </a:xfrm>
              <a:custGeom>
                <a:avLst/>
                <a:gdLst>
                  <a:gd name="T0" fmla="*/ 0 w 624"/>
                  <a:gd name="T1" fmla="*/ 0 h 960"/>
                  <a:gd name="T2" fmla="*/ 0 w 624"/>
                  <a:gd name="T3" fmla="*/ 33 h 960"/>
                  <a:gd name="T4" fmla="*/ 624 w 624"/>
                  <a:gd name="T5" fmla="*/ 33 h 960"/>
                  <a:gd name="T6" fmla="*/ 624 w 624"/>
                  <a:gd name="T7" fmla="*/ 0 h 9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24"/>
                  <a:gd name="T13" fmla="*/ 0 h 960"/>
                  <a:gd name="T14" fmla="*/ 624 w 624"/>
                  <a:gd name="T15" fmla="*/ 960 h 9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24" h="960">
                    <a:moveTo>
                      <a:pt x="0" y="0"/>
                    </a:moveTo>
                    <a:lnTo>
                      <a:pt x="0" y="960"/>
                    </a:lnTo>
                    <a:lnTo>
                      <a:pt x="624" y="960"/>
                    </a:lnTo>
                    <a:lnTo>
                      <a:pt x="624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5421" name="Oval 22"/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192" cy="192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5422" name="Oval 23"/>
              <p:cNvSpPr>
                <a:spLocks noChangeArrowheads="1"/>
              </p:cNvSpPr>
              <p:nvPr/>
            </p:nvSpPr>
            <p:spPr bwMode="auto">
              <a:xfrm>
                <a:off x="2784" y="2544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5423" name="Oval 24"/>
              <p:cNvSpPr>
                <a:spLocks noChangeArrowheads="1"/>
              </p:cNvSpPr>
              <p:nvPr/>
            </p:nvSpPr>
            <p:spPr bwMode="auto">
              <a:xfrm>
                <a:off x="2544" y="2736"/>
                <a:ext cx="192" cy="192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5424" name="Oval 25"/>
              <p:cNvSpPr>
                <a:spLocks noChangeArrowheads="1"/>
              </p:cNvSpPr>
              <p:nvPr/>
            </p:nvSpPr>
            <p:spPr bwMode="auto">
              <a:xfrm>
                <a:off x="2832" y="2784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5425" name="Oval 23"/>
              <p:cNvSpPr>
                <a:spLocks noChangeArrowheads="1"/>
              </p:cNvSpPr>
              <p:nvPr/>
            </p:nvSpPr>
            <p:spPr bwMode="auto">
              <a:xfrm>
                <a:off x="2832" y="2241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5426" name="Oval 23"/>
              <p:cNvSpPr>
                <a:spLocks noChangeArrowheads="1"/>
              </p:cNvSpPr>
              <p:nvPr/>
            </p:nvSpPr>
            <p:spPr bwMode="auto">
              <a:xfrm>
                <a:off x="2562" y="2196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200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5419" name="Rectangle 26"/>
            <p:cNvSpPr>
              <a:spLocks noChangeArrowheads="1"/>
            </p:cNvSpPr>
            <p:nvPr/>
          </p:nvSpPr>
          <p:spPr bwMode="auto">
            <a:xfrm>
              <a:off x="4368800" y="2540000"/>
              <a:ext cx="2286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</p:grpSp>
      <p:sp>
        <p:nvSpPr>
          <p:cNvPr id="99" name="Arco 98"/>
          <p:cNvSpPr/>
          <p:nvPr/>
        </p:nvSpPr>
        <p:spPr bwMode="auto">
          <a:xfrm>
            <a:off x="1714500" y="1500188"/>
            <a:ext cx="2857500" cy="1143000"/>
          </a:xfrm>
          <a:prstGeom prst="arc">
            <a:avLst>
              <a:gd name="adj1" fmla="val 10859827"/>
              <a:gd name="adj2" fmla="val 40080"/>
            </a:avLst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104" name="Arco 103"/>
          <p:cNvSpPr/>
          <p:nvPr/>
        </p:nvSpPr>
        <p:spPr bwMode="auto">
          <a:xfrm>
            <a:off x="3786188" y="1776413"/>
            <a:ext cx="785812" cy="642937"/>
          </a:xfrm>
          <a:prstGeom prst="arc">
            <a:avLst>
              <a:gd name="adj1" fmla="val 10859827"/>
              <a:gd name="adj2" fmla="val 40080"/>
            </a:avLst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pt-BR" dirty="0">
              <a:latin typeface="Tahoma" panose="020B0604030504040204" pitchFamily="34" charset="0"/>
            </a:endParaRPr>
          </a:p>
        </p:txBody>
      </p:sp>
      <p:cxnSp>
        <p:nvCxnSpPr>
          <p:cNvPr id="15368" name="Conector de seta reta 104"/>
          <p:cNvCxnSpPr>
            <a:cxnSpLocks noChangeShapeType="1"/>
            <a:stCxn id="104" idx="2"/>
          </p:cNvCxnSpPr>
          <p:nvPr/>
        </p:nvCxnSpPr>
        <p:spPr bwMode="auto">
          <a:xfrm rot="16200000" flipH="1">
            <a:off x="4951500" y="1722922"/>
            <a:ext cx="393088" cy="1152168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69" name="CaixaDeTexto 120"/>
          <p:cNvSpPr txBox="1">
            <a:spLocks noChangeArrowheads="1"/>
          </p:cNvSpPr>
          <p:nvPr/>
        </p:nvSpPr>
        <p:spPr bwMode="auto">
          <a:xfrm>
            <a:off x="2945421" y="1571625"/>
            <a:ext cx="33374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IV</a:t>
            </a:r>
          </a:p>
        </p:txBody>
      </p:sp>
      <p:sp>
        <p:nvSpPr>
          <p:cNvPr id="15371" name="CaixaDeTexto 140"/>
          <p:cNvSpPr txBox="1">
            <a:spLocks noChangeArrowheads="1"/>
          </p:cNvSpPr>
          <p:nvPr/>
        </p:nvSpPr>
        <p:spPr bwMode="auto">
          <a:xfrm>
            <a:off x="866861" y="3357563"/>
            <a:ext cx="2776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15372" name="CaixaDeTexto 141"/>
          <p:cNvSpPr txBox="1">
            <a:spLocks noChangeArrowheads="1"/>
          </p:cNvSpPr>
          <p:nvPr/>
        </p:nvSpPr>
        <p:spPr bwMode="auto">
          <a:xfrm>
            <a:off x="3030538" y="3357563"/>
            <a:ext cx="2825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15373" name="CaixaDeTexto 142"/>
          <p:cNvSpPr txBox="1">
            <a:spLocks noChangeArrowheads="1"/>
          </p:cNvSpPr>
          <p:nvPr/>
        </p:nvSpPr>
        <p:spPr bwMode="auto">
          <a:xfrm>
            <a:off x="1938338" y="5273675"/>
            <a:ext cx="2825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200" dirty="0">
                <a:solidFill>
                  <a:srgbClr val="FF0000"/>
                </a:solidFill>
                <a:latin typeface="Tahoma" panose="020B0604030504040204" pitchFamily="34" charset="0"/>
              </a:rPr>
              <a:t>C</a:t>
            </a:r>
          </a:p>
        </p:txBody>
      </p:sp>
      <p:grpSp>
        <p:nvGrpSpPr>
          <p:cNvPr id="15374" name="Grupo 69"/>
          <p:cNvGrpSpPr>
            <a:grpSpLocks/>
          </p:cNvGrpSpPr>
          <p:nvPr/>
        </p:nvGrpSpPr>
        <p:grpSpPr bwMode="auto">
          <a:xfrm>
            <a:off x="5890019" y="2338388"/>
            <a:ext cx="1928813" cy="304800"/>
            <a:chOff x="6215074" y="5286388"/>
            <a:chExt cx="1928826" cy="304800"/>
          </a:xfrm>
        </p:grpSpPr>
        <p:sp>
          <p:nvSpPr>
            <p:cNvPr id="15413" name="Oval 16"/>
            <p:cNvSpPr>
              <a:spLocks noChangeArrowheads="1"/>
            </p:cNvSpPr>
            <p:nvPr/>
          </p:nvSpPr>
          <p:spPr bwMode="auto">
            <a:xfrm>
              <a:off x="6215074" y="5286388"/>
              <a:ext cx="304800" cy="304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5414" name="Oval 16"/>
            <p:cNvSpPr>
              <a:spLocks noChangeArrowheads="1"/>
            </p:cNvSpPr>
            <p:nvPr/>
          </p:nvSpPr>
          <p:spPr bwMode="auto">
            <a:xfrm>
              <a:off x="6621080" y="5286388"/>
              <a:ext cx="304800" cy="304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5415" name="Oval 16"/>
            <p:cNvSpPr>
              <a:spLocks noChangeArrowheads="1"/>
            </p:cNvSpPr>
            <p:nvPr/>
          </p:nvSpPr>
          <p:spPr bwMode="auto">
            <a:xfrm>
              <a:off x="7027086" y="5286388"/>
              <a:ext cx="304800" cy="304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5416" name="Oval 16"/>
            <p:cNvSpPr>
              <a:spLocks noChangeArrowheads="1"/>
            </p:cNvSpPr>
            <p:nvPr/>
          </p:nvSpPr>
          <p:spPr bwMode="auto">
            <a:xfrm>
              <a:off x="7433093" y="5286388"/>
              <a:ext cx="304800" cy="304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15417" name="Oval 16"/>
            <p:cNvSpPr>
              <a:spLocks noChangeArrowheads="1"/>
            </p:cNvSpPr>
            <p:nvPr/>
          </p:nvSpPr>
          <p:spPr bwMode="auto">
            <a:xfrm>
              <a:off x="7839100" y="5286388"/>
              <a:ext cx="304800" cy="304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</p:grpSp>
      <p:sp>
        <p:nvSpPr>
          <p:cNvPr id="15375" name="Retângulo 74"/>
          <p:cNvSpPr>
            <a:spLocks noChangeArrowheads="1"/>
          </p:cNvSpPr>
          <p:nvPr/>
        </p:nvSpPr>
        <p:spPr bwMode="auto">
          <a:xfrm>
            <a:off x="5970588" y="5133975"/>
            <a:ext cx="2857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1200" dirty="0">
              <a:latin typeface="Tahoma" panose="020B0604030504040204" pitchFamily="34" charset="0"/>
            </a:endParaRPr>
          </a:p>
        </p:txBody>
      </p:sp>
      <p:sp>
        <p:nvSpPr>
          <p:cNvPr id="77" name="Retângulo 76"/>
          <p:cNvSpPr>
            <a:spLocks noChangeArrowheads="1"/>
          </p:cNvSpPr>
          <p:nvPr/>
        </p:nvSpPr>
        <p:spPr bwMode="auto">
          <a:xfrm>
            <a:off x="4987132" y="1394796"/>
            <a:ext cx="3937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00050" indent="-400050"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0000"/>
              </a:buClr>
              <a:buFontTx/>
              <a:buNone/>
            </a:pPr>
            <a:r>
              <a:rPr lang="pt-BR" altLang="pt-BR" sz="1600" dirty="0">
                <a:solidFill>
                  <a:srgbClr val="000000"/>
                </a:solidFill>
                <a:latin typeface="Tahoma" panose="020B0604030504040204" pitchFamily="34" charset="0"/>
              </a:rPr>
              <a:t>Definindo-se 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X</a:t>
            </a:r>
            <a:r>
              <a:rPr lang="pt-BR" altLang="pt-BR" sz="1600" dirty="0">
                <a:solidFill>
                  <a:srgbClr val="000000"/>
                </a:solidFill>
                <a:latin typeface="Tahoma" panose="020B0604030504040204" pitchFamily="34" charset="0"/>
              </a:rPr>
              <a:t> como o número de bolas azuis nas 5 observações, qual a distribuição dos valores de </a:t>
            </a:r>
            <a:r>
              <a:rPr lang="pt-BR" altLang="pt-BR" sz="1600" i="1" dirty="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X</a:t>
            </a:r>
            <a:r>
              <a:rPr lang="pt-BR" altLang="pt-BR" sz="1600" dirty="0">
                <a:solidFill>
                  <a:srgbClr val="000000"/>
                </a:solidFill>
                <a:latin typeface="Tahoma" panose="020B0604030504040204" pitchFamily="34" charset="0"/>
              </a:rPr>
              <a:t>?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9AA682-7BA9-4E26-9059-E2381628AB78}" type="slidenum">
              <a:rPr lang="pt-BR"/>
              <a:pPr>
                <a:defRPr/>
              </a:pPr>
              <a:t>24</a:t>
            </a:fld>
            <a:endParaRPr lang="pt-BR"/>
          </a:p>
        </p:txBody>
      </p:sp>
      <p:sp>
        <p:nvSpPr>
          <p:cNvPr id="50" name="Retângulo 49"/>
          <p:cNvSpPr>
            <a:spLocks noChangeArrowheads="1"/>
          </p:cNvSpPr>
          <p:nvPr/>
        </p:nvSpPr>
        <p:spPr bwMode="auto">
          <a:xfrm>
            <a:off x="4987132" y="2848775"/>
            <a:ext cx="3937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00050" indent="-400050"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0000"/>
              </a:buClr>
              <a:buFontTx/>
              <a:buNone/>
            </a:pPr>
            <a:r>
              <a:rPr lang="pt-BR" altLang="pt-BR" sz="1600" dirty="0">
                <a:solidFill>
                  <a:srgbClr val="000000"/>
                </a:solidFill>
                <a:latin typeface="Tahoma" panose="020B0604030504040204" pitchFamily="34" charset="0"/>
              </a:rPr>
              <a:t>Após 10.000 simulações, obteve-se como resultado: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3728" y="4572654"/>
            <a:ext cx="3684588" cy="2210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79" name="Tabela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615762"/>
              </p:ext>
            </p:extLst>
          </p:nvPr>
        </p:nvGraphicFramePr>
        <p:xfrm>
          <a:off x="6949523" y="3752436"/>
          <a:ext cx="1219200" cy="113347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>
                          <a:latin typeface="Arial"/>
                        </a:rPr>
                        <a:t>X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1" i="0" u="none" strike="noStrike" dirty="0" err="1">
                          <a:latin typeface="Arial"/>
                        </a:rPr>
                        <a:t>Freq.Rel</a:t>
                      </a:r>
                      <a:r>
                        <a:rPr lang="pt-BR" sz="1000" b="1" i="0" u="none" strike="noStrike" dirty="0">
                          <a:latin typeface="Arial"/>
                        </a:rPr>
                        <a:t>.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latin typeface="Arial"/>
                        </a:rPr>
                        <a:t>7,85%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latin typeface="Arial"/>
                        </a:rPr>
                        <a:t>47,00%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latin typeface="Arial"/>
                        </a:rPr>
                        <a:t>40,19%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latin typeface="Arial"/>
                        </a:rPr>
                        <a:t>4,31%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latin typeface="Arial"/>
                        </a:rPr>
                        <a:t>0,65%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latin typeface="Arial"/>
                        </a:rPr>
                        <a:t>0,00%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58" name="Grupo 44"/>
          <p:cNvGrpSpPr>
            <a:grpSpLocks/>
          </p:cNvGrpSpPr>
          <p:nvPr/>
        </p:nvGrpSpPr>
        <p:grpSpPr bwMode="auto">
          <a:xfrm>
            <a:off x="2009775" y="4129088"/>
            <a:ext cx="990600" cy="1371600"/>
            <a:chOff x="2009775" y="4129088"/>
            <a:chExt cx="990600" cy="1371600"/>
          </a:xfrm>
        </p:grpSpPr>
        <p:sp>
          <p:nvSpPr>
            <p:cNvPr id="59" name="Oval 16"/>
            <p:cNvSpPr>
              <a:spLocks noChangeArrowheads="1"/>
            </p:cNvSpPr>
            <p:nvPr/>
          </p:nvSpPr>
          <p:spPr bwMode="auto">
            <a:xfrm>
              <a:off x="2435288" y="4262032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60" name="Freeform 21"/>
            <p:cNvSpPr>
              <a:spLocks/>
            </p:cNvSpPr>
            <p:nvPr/>
          </p:nvSpPr>
          <p:spPr bwMode="auto">
            <a:xfrm>
              <a:off x="2009775" y="4129088"/>
              <a:ext cx="990600" cy="1371600"/>
            </a:xfrm>
            <a:custGeom>
              <a:avLst/>
              <a:gdLst>
                <a:gd name="T0" fmla="*/ 0 w 624"/>
                <a:gd name="T1" fmla="*/ 0 h 960"/>
                <a:gd name="T2" fmla="*/ 0 w 624"/>
                <a:gd name="T3" fmla="*/ 2147483647 h 960"/>
                <a:gd name="T4" fmla="*/ 2147483647 w 624"/>
                <a:gd name="T5" fmla="*/ 2147483647 h 960"/>
                <a:gd name="T6" fmla="*/ 2147483647 w 624"/>
                <a:gd name="T7" fmla="*/ 0 h 9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960"/>
                <a:gd name="T14" fmla="*/ 624 w 624"/>
                <a:gd name="T15" fmla="*/ 960 h 9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960">
                  <a:moveTo>
                    <a:pt x="0" y="0"/>
                  </a:moveTo>
                  <a:lnTo>
                    <a:pt x="0" y="960"/>
                  </a:lnTo>
                  <a:lnTo>
                    <a:pt x="624" y="960"/>
                  </a:lnTo>
                  <a:lnTo>
                    <a:pt x="624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dirty="0">
                <a:latin typeface="Tahoma" panose="020B0604030504040204" pitchFamily="34" charset="0"/>
              </a:endParaRPr>
            </a:p>
          </p:txBody>
        </p:sp>
        <p:sp>
          <p:nvSpPr>
            <p:cNvPr id="61" name="Oval 22"/>
            <p:cNvSpPr>
              <a:spLocks noChangeArrowheads="1"/>
            </p:cNvSpPr>
            <p:nvPr/>
          </p:nvSpPr>
          <p:spPr bwMode="auto">
            <a:xfrm>
              <a:off x="2162175" y="4581776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62" name="Oval 23"/>
            <p:cNvSpPr>
              <a:spLocks noChangeArrowheads="1"/>
            </p:cNvSpPr>
            <p:nvPr/>
          </p:nvSpPr>
          <p:spPr bwMode="auto">
            <a:xfrm>
              <a:off x="2548876" y="4731904"/>
              <a:ext cx="304800" cy="30480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63" name="Oval 24"/>
            <p:cNvSpPr>
              <a:spLocks noChangeArrowheads="1"/>
            </p:cNvSpPr>
            <p:nvPr/>
          </p:nvSpPr>
          <p:spPr bwMode="auto">
            <a:xfrm>
              <a:off x="2162175" y="5043488"/>
              <a:ext cx="304800" cy="30480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  <p:sp>
          <p:nvSpPr>
            <p:cNvPr id="64" name="Oval 25"/>
            <p:cNvSpPr>
              <a:spLocks noChangeArrowheads="1"/>
            </p:cNvSpPr>
            <p:nvPr/>
          </p:nvSpPr>
          <p:spPr bwMode="auto">
            <a:xfrm>
              <a:off x="2619375" y="5119688"/>
              <a:ext cx="304800" cy="304800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1200" dirty="0">
                <a:latin typeface="Tahoma" panose="020B0604030504040204" pitchFamily="34" charset="0"/>
              </a:endParaRPr>
            </a:p>
          </p:txBody>
        </p:sp>
      </p:grpSp>
      <p:sp>
        <p:nvSpPr>
          <p:cNvPr id="48" name="Text Box 38"/>
          <p:cNvSpPr txBox="1">
            <a:spLocks noChangeArrowheads="1"/>
          </p:cNvSpPr>
          <p:nvPr/>
        </p:nvSpPr>
        <p:spPr bwMode="auto">
          <a:xfrm>
            <a:off x="0" y="6546637"/>
            <a:ext cx="2407431" cy="337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363" indent="-360363"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</a:rPr>
              <a:t>(ver Simulacao_exemplo2.xlsx)</a:t>
            </a:r>
          </a:p>
        </p:txBody>
      </p:sp>
    </p:spTree>
    <p:extLst>
      <p:ext uri="{BB962C8B-B14F-4D97-AF65-F5344CB8AC3E}">
        <p14:creationId xmlns:p14="http://schemas.microsoft.com/office/powerpoint/2010/main" val="41210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Exemplo de Aplicação 2 no R</a:t>
            </a:r>
          </a:p>
        </p:txBody>
      </p:sp>
      <p:sp>
        <p:nvSpPr>
          <p:cNvPr id="15363" name="Retângulo 43"/>
          <p:cNvSpPr>
            <a:spLocks noChangeArrowheads="1"/>
          </p:cNvSpPr>
          <p:nvPr/>
        </p:nvSpPr>
        <p:spPr bwMode="auto">
          <a:xfrm>
            <a:off x="395288" y="1412875"/>
            <a:ext cx="8640762" cy="48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55600" indent="-355600"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88900" indent="-88900" eaLnBrk="1" hangingPunct="1">
              <a:spcBef>
                <a:spcPct val="0"/>
              </a:spcBef>
              <a:buFont typeface="Times New Roman" panose="02020603050405020304" pitchFamily="18" charset="0"/>
              <a:buChar char="&gt;"/>
              <a:defRPr/>
            </a:pP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A&lt;-c("R","R","R","G","B","B")</a:t>
            </a:r>
          </a:p>
          <a:p>
            <a:pPr marL="88900" indent="-88900" eaLnBrk="1" hangingPunct="1">
              <a:spcBef>
                <a:spcPct val="0"/>
              </a:spcBef>
              <a:buFont typeface="Times New Roman" panose="02020603050405020304" pitchFamily="18" charset="0"/>
              <a:buChar char="&gt;"/>
              <a:defRPr/>
            </a:pP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B&lt;-c("R","G","G","G","G","B")</a:t>
            </a:r>
          </a:p>
          <a:p>
            <a:pPr marL="88900" indent="-88900" eaLnBrk="1" hangingPunct="1">
              <a:spcBef>
                <a:spcPct val="0"/>
              </a:spcBef>
              <a:buFont typeface="Times New Roman" panose="02020603050405020304" pitchFamily="18" charset="0"/>
              <a:buChar char="&gt;"/>
              <a:defRPr/>
            </a:pP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C&lt;-c("R","G","B","B","B")</a:t>
            </a:r>
          </a:p>
          <a:p>
            <a:pPr marL="88900" indent="-88900" eaLnBrk="1" hangingPunct="1">
              <a:spcBef>
                <a:spcPct val="0"/>
              </a:spcBef>
              <a:buFont typeface="Times New Roman" panose="02020603050405020304" pitchFamily="18" charset="0"/>
              <a:buChar char="&gt;"/>
              <a:defRPr/>
            </a:pPr>
            <a:endParaRPr lang="pt-BR" alt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8900" indent="-88900" eaLnBrk="1" hangingPunct="1">
              <a:spcBef>
                <a:spcPct val="0"/>
              </a:spcBef>
              <a:buFont typeface="Times New Roman" panose="02020603050405020304" pitchFamily="18" charset="0"/>
              <a:buChar char="&gt;"/>
              <a:defRPr/>
            </a:pP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n&lt;-10000</a:t>
            </a:r>
          </a:p>
          <a:p>
            <a:pPr marL="88900" indent="-88900" eaLnBrk="1" hangingPunct="1">
              <a:spcBef>
                <a:spcPct val="0"/>
              </a:spcBef>
              <a:buFont typeface="Times New Roman" panose="02020603050405020304" pitchFamily="18" charset="0"/>
              <a:buChar char="&gt;"/>
              <a:defRPr/>
            </a:pP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p&lt;-rep(0,6)</a:t>
            </a:r>
          </a:p>
          <a:p>
            <a:pPr marL="88900" indent="-88900" eaLnBrk="1" hangingPunct="1">
              <a:spcBef>
                <a:spcPct val="0"/>
              </a:spcBef>
              <a:buFont typeface="Times New Roman" panose="02020603050405020304" pitchFamily="18" charset="0"/>
              <a:buChar char="&gt;"/>
              <a:defRPr/>
            </a:pP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for (i in 1:n) {</a:t>
            </a:r>
          </a:p>
          <a:p>
            <a:pPr marL="88900" indent="-88900" eaLnBrk="1" hangingPunct="1">
              <a:spcBef>
                <a:spcPct val="0"/>
              </a:spcBef>
              <a:buFont typeface="Times New Roman" panose="02020603050405020304" pitchFamily="18" charset="0"/>
              <a:buChar char="&gt;"/>
              <a:defRPr/>
            </a:pP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Af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&lt;-A</a:t>
            </a:r>
          </a:p>
          <a:p>
            <a:pPr marL="88900" indent="-88900" eaLnBrk="1" hangingPunct="1">
              <a:spcBef>
                <a:spcPct val="0"/>
              </a:spcBef>
              <a:buFont typeface="Times New Roman" panose="02020603050405020304" pitchFamily="18" charset="0"/>
              <a:buChar char="&gt;"/>
              <a:defRPr/>
            </a:pP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Bf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&lt;-B</a:t>
            </a:r>
          </a:p>
          <a:p>
            <a:pPr marL="88900" indent="-88900" eaLnBrk="1" hangingPunct="1">
              <a:spcBef>
                <a:spcPct val="0"/>
              </a:spcBef>
              <a:buFont typeface="Times New Roman" panose="02020603050405020304" pitchFamily="18" charset="0"/>
              <a:buChar char="&gt;"/>
              <a:defRPr/>
            </a:pP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sorteio1&lt;-c(</a:t>
            </a: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A,size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=1),</a:t>
            </a: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B,size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=1))</a:t>
            </a:r>
          </a:p>
          <a:p>
            <a:pPr marL="88900" indent="-88900" eaLnBrk="1" hangingPunct="1">
              <a:spcBef>
                <a:spcPct val="0"/>
              </a:spcBef>
              <a:buFont typeface="Times New Roman" panose="02020603050405020304" pitchFamily="18" charset="0"/>
              <a:buChar char="&gt;"/>
              <a:defRPr/>
            </a:pP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Cf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&lt;-c(C,sorteio1)</a:t>
            </a:r>
          </a:p>
          <a:p>
            <a:pPr marL="88900" indent="-88900" eaLnBrk="1" hangingPunct="1">
              <a:spcBef>
                <a:spcPct val="0"/>
              </a:spcBef>
              <a:buFont typeface="Times New Roman" panose="02020603050405020304" pitchFamily="18" charset="0"/>
              <a:buChar char="&gt;"/>
              <a:defRPr/>
            </a:pPr>
            <a:endParaRPr lang="pt-BR" alt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8900" indent="-88900" eaLnBrk="1" hangingPunct="1">
              <a:spcBef>
                <a:spcPct val="0"/>
              </a:spcBef>
              <a:buFont typeface="Times New Roman" panose="02020603050405020304" pitchFamily="18" charset="0"/>
              <a:buChar char="&gt;"/>
              <a:defRPr/>
            </a:pP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sorteio2&lt;-</a:t>
            </a: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Cf,size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=2)</a:t>
            </a:r>
          </a:p>
          <a:p>
            <a:pPr marL="88900" indent="-88900" eaLnBrk="1" hangingPunct="1">
              <a:spcBef>
                <a:spcPct val="0"/>
              </a:spcBef>
              <a:buFont typeface="Times New Roman" panose="02020603050405020304" pitchFamily="18" charset="0"/>
              <a:buChar char="&gt;"/>
              <a:defRPr/>
            </a:pP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(sorteio2[1] == sorteio2[2]) </a:t>
            </a: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Af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&lt;-c(A,sorteio2) </a:t>
            </a: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Bf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&lt;-c(B,sorteio2)</a:t>
            </a:r>
          </a:p>
          <a:p>
            <a:pPr marL="88900" indent="-88900" eaLnBrk="1" hangingPunct="1">
              <a:spcBef>
                <a:spcPct val="0"/>
              </a:spcBef>
              <a:buFont typeface="Times New Roman" panose="02020603050405020304" pitchFamily="18" charset="0"/>
              <a:buChar char="&gt;"/>
              <a:defRPr/>
            </a:pP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runif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(1,0,1) &lt; 0.5) sorteio3&lt;-</a:t>
            </a: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(Af,5) </a:t>
            </a: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sorteio3&lt;-</a:t>
            </a: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(Bf,5)</a:t>
            </a:r>
          </a:p>
          <a:p>
            <a:pPr marL="88900" indent="-88900" eaLnBrk="1" hangingPunct="1">
              <a:spcBef>
                <a:spcPct val="0"/>
              </a:spcBef>
              <a:buFont typeface="Times New Roman" panose="02020603050405020304" pitchFamily="18" charset="0"/>
              <a:buChar char="&gt;"/>
              <a:defRPr/>
            </a:pP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nB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&lt;-</a:t>
            </a: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length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alt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which</a:t>
            </a: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(sorteio3 == "B"))</a:t>
            </a:r>
          </a:p>
          <a:p>
            <a:pPr marL="88900" indent="-88900" eaLnBrk="1" hangingPunct="1">
              <a:spcBef>
                <a:spcPct val="0"/>
              </a:spcBef>
              <a:buFont typeface="Times New Roman" panose="02020603050405020304" pitchFamily="18" charset="0"/>
              <a:buChar char="&gt;"/>
              <a:defRPr/>
            </a:pP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p[nB+1]&lt;-p[nB+1]+1</a:t>
            </a:r>
          </a:p>
          <a:p>
            <a:pPr marL="88900" indent="-88900" eaLnBrk="1" hangingPunct="1">
              <a:spcBef>
                <a:spcPct val="0"/>
              </a:spcBef>
              <a:buFont typeface="Times New Roman" panose="02020603050405020304" pitchFamily="18" charset="0"/>
              <a:buChar char="&gt;"/>
              <a:defRPr/>
            </a:pP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88900" indent="-88900" eaLnBrk="1" hangingPunct="1">
              <a:spcBef>
                <a:spcPct val="0"/>
              </a:spcBef>
              <a:buFont typeface="Times New Roman" panose="02020603050405020304" pitchFamily="18" charset="0"/>
              <a:buChar char="&gt;"/>
              <a:defRPr/>
            </a:pP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p&lt;-p/n</a:t>
            </a:r>
          </a:p>
          <a:p>
            <a:pPr marL="88900" indent="-88900" eaLnBrk="1" hangingPunct="1">
              <a:spcBef>
                <a:spcPct val="0"/>
              </a:spcBef>
              <a:buFont typeface="Times New Roman" panose="02020603050405020304" pitchFamily="18" charset="0"/>
              <a:buChar char="&gt;"/>
              <a:defRPr/>
            </a:pPr>
            <a:r>
              <a:rPr lang="pt-BR" altLang="pt-BR" sz="14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pt-BR" alt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[1] 0.0817 0.4702 0.3939 0.0474 0.0068 0.0000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0A25CE-E8DF-461A-B09B-0EF674E135A4}" type="slidenum">
              <a:rPr lang="pt-BR"/>
              <a:pPr>
                <a:defRPr/>
              </a:pPr>
              <a:t>25</a:t>
            </a:fld>
            <a:endParaRPr lang="pt-BR"/>
          </a:p>
        </p:txBody>
      </p:sp>
      <p:sp>
        <p:nvSpPr>
          <p:cNvPr id="5" name="Retângulo 4"/>
          <p:cNvSpPr>
            <a:spLocks noChangeArrowheads="1"/>
          </p:cNvSpPr>
          <p:nvPr/>
        </p:nvSpPr>
        <p:spPr bwMode="auto">
          <a:xfrm>
            <a:off x="4283968" y="5855779"/>
            <a:ext cx="432048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00050" indent="-400050"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273050" indent="-273050" eaLnBrk="1" hangingPunct="1">
              <a:spcBef>
                <a:spcPct val="0"/>
              </a:spcBef>
              <a:buClr>
                <a:srgbClr val="FF0000"/>
              </a:buClr>
              <a:buFontTx/>
              <a:buNone/>
            </a:pPr>
            <a:r>
              <a:rPr lang="pt-BR" altLang="pt-BR" sz="1600" dirty="0">
                <a:solidFill>
                  <a:srgbClr val="000000"/>
                </a:solidFill>
                <a:latin typeface="Tahoma" panose="020B0604030504040204" pitchFamily="34" charset="0"/>
                <a:sym typeface="Symbol"/>
              </a:rPr>
              <a:t> </a:t>
            </a:r>
            <a:r>
              <a:rPr lang="pt-BR" altLang="pt-BR" sz="1600" dirty="0">
                <a:solidFill>
                  <a:srgbClr val="000000"/>
                </a:solidFill>
                <a:latin typeface="Tahoma" panose="020B0604030504040204" pitchFamily="34" charset="0"/>
              </a:rPr>
              <a:t>Valores podem mudar a cada simulação mas tendem a se estabilizar se </a:t>
            </a:r>
            <a:r>
              <a:rPr lang="pt-BR" altLang="pt-BR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altLang="pt-BR" sz="1600" dirty="0">
                <a:solidFill>
                  <a:srgbClr val="000000"/>
                </a:solidFill>
                <a:latin typeface="Tahoma" panose="020B0604030504040204" pitchFamily="34" charset="0"/>
              </a:rPr>
              <a:t> for muito grande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Solução Analítica Exemplo 2</a:t>
            </a:r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/>
        </p:nvGraphicFramePr>
        <p:xfrm>
          <a:off x="1362075" y="1484313"/>
          <a:ext cx="5808663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4470400" imgH="393700" progId="">
                  <p:embed/>
                </p:oleObj>
              </mc:Choice>
              <mc:Fallback>
                <p:oleObj name="Equação" r:id="rId2" imgW="4470400" imgH="393700" progId="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075" y="1484313"/>
                        <a:ext cx="5808663" cy="509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o 8"/>
          <p:cNvGraphicFramePr>
            <a:graphicFrameLocks noChangeAspect="1"/>
          </p:cNvGraphicFramePr>
          <p:nvPr/>
        </p:nvGraphicFramePr>
        <p:xfrm>
          <a:off x="1362075" y="2205038"/>
          <a:ext cx="608965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4686300" imgH="812800" progId="">
                  <p:embed/>
                </p:oleObj>
              </mc:Choice>
              <mc:Fallback>
                <p:oleObj name="Equação" r:id="rId4" imgW="4686300" imgH="812800" progId="">
                  <p:embed/>
                  <p:pic>
                    <p:nvPicPr>
                      <p:cNvPr id="9" name="Objeto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075" y="2205038"/>
                        <a:ext cx="6089650" cy="1054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o 9"/>
          <p:cNvGraphicFramePr>
            <a:graphicFrameLocks noChangeAspect="1"/>
          </p:cNvGraphicFramePr>
          <p:nvPr/>
        </p:nvGraphicFramePr>
        <p:xfrm>
          <a:off x="1362075" y="3357563"/>
          <a:ext cx="5710238" cy="332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4394200" imgH="2565400" progId="">
                  <p:embed/>
                </p:oleObj>
              </mc:Choice>
              <mc:Fallback>
                <p:oleObj name="Equação" r:id="rId6" imgW="4394200" imgH="2565400" progId="">
                  <p:embed/>
                  <p:pic>
                    <p:nvPicPr>
                      <p:cNvPr id="10" name="Objeto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2075" y="3357563"/>
                        <a:ext cx="5710238" cy="332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2C9C4A-DE55-4A7B-B04E-1232158718CB}" type="slidenum">
              <a:rPr lang="pt-BR"/>
              <a:pPr>
                <a:defRPr/>
              </a:pPr>
              <a:t>26</a:t>
            </a:fld>
            <a:endParaRPr lang="pt-BR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Solução Analítica Exemplo 2</a:t>
            </a:r>
          </a:p>
        </p:txBody>
      </p:sp>
      <p:graphicFrame>
        <p:nvGraphicFramePr>
          <p:cNvPr id="11" name="Objeto 10"/>
          <p:cNvGraphicFramePr>
            <a:graphicFrameLocks noChangeAspect="1"/>
          </p:cNvGraphicFramePr>
          <p:nvPr/>
        </p:nvGraphicFramePr>
        <p:xfrm>
          <a:off x="304800" y="1412875"/>
          <a:ext cx="8443913" cy="372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6502400" imgH="2870200" progId="">
                  <p:embed/>
                </p:oleObj>
              </mc:Choice>
              <mc:Fallback>
                <p:oleObj name="Equação" r:id="rId2" imgW="6502400" imgH="2870200" progId="">
                  <p:embed/>
                  <p:pic>
                    <p:nvPicPr>
                      <p:cNvPr id="11" name="Objeto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412875"/>
                        <a:ext cx="8443913" cy="3727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to 12"/>
          <p:cNvGraphicFramePr>
            <a:graphicFrameLocks noChangeAspect="1"/>
          </p:cNvGraphicFramePr>
          <p:nvPr/>
        </p:nvGraphicFramePr>
        <p:xfrm>
          <a:off x="331788" y="5341938"/>
          <a:ext cx="4672012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3594100" imgH="927100" progId="">
                  <p:embed/>
                </p:oleObj>
              </mc:Choice>
              <mc:Fallback>
                <p:oleObj name="Equação" r:id="rId4" imgW="3594100" imgH="927100" progId="">
                  <p:embed/>
                  <p:pic>
                    <p:nvPicPr>
                      <p:cNvPr id="13" name="Objeto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88" y="5341938"/>
                        <a:ext cx="4672012" cy="1203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Tabela 7"/>
          <p:cNvGraphicFramePr>
            <a:graphicFrameLocks noGrp="1"/>
          </p:cNvGraphicFramePr>
          <p:nvPr/>
        </p:nvGraphicFramePr>
        <p:xfrm>
          <a:off x="6227763" y="5300663"/>
          <a:ext cx="1512888" cy="1133475"/>
        </p:xfrm>
        <a:graphic>
          <a:graphicData uri="http://schemas.openxmlformats.org/drawingml/2006/table">
            <a:tbl>
              <a:tblPr/>
              <a:tblGrid>
                <a:gridCol w="504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latin typeface="Arial"/>
                        </a:rPr>
                        <a:t>X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latin typeface="Arial"/>
                        </a:rPr>
                        <a:t>FR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 err="1">
                          <a:latin typeface="Arial"/>
                        </a:rPr>
                        <a:t>Prob</a:t>
                      </a:r>
                      <a:endParaRPr lang="pt-BR" sz="10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latin typeface="Arial"/>
                        </a:rPr>
                        <a:t>7,85%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latin typeface="Arial"/>
                        </a:rPr>
                        <a:t>8,50%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latin typeface="Arial"/>
                        </a:rPr>
                        <a:t>47,00%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latin typeface="Arial"/>
                        </a:rPr>
                        <a:t>46,47%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latin typeface="Arial"/>
                        </a:rPr>
                        <a:t>40,19%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latin typeface="Arial"/>
                        </a:rPr>
                        <a:t>39,61%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latin typeface="Arial"/>
                        </a:rPr>
                        <a:t>4,31%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latin typeface="Arial"/>
                        </a:rPr>
                        <a:t>4,65%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latin typeface="Arial"/>
                        </a:rPr>
                        <a:t>0,65%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latin typeface="Arial"/>
                        </a:rPr>
                        <a:t>0,77%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latin typeface="Arial"/>
                        </a:rPr>
                        <a:t>0,00%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>
                          <a:latin typeface="Arial"/>
                        </a:rPr>
                        <a:t>0,00%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0B4F7A-54AE-462B-AD9B-24AE10719098}" type="slidenum">
              <a:rPr lang="pt-BR"/>
              <a:pPr>
                <a:defRPr/>
              </a:pPr>
              <a:t>27</a:t>
            </a:fld>
            <a:endParaRPr lang="pt-BR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666" y="3780192"/>
            <a:ext cx="4578493" cy="2749534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666" y="3780192"/>
            <a:ext cx="4578493" cy="2749534"/>
          </a:xfrm>
          <a:prstGeom prst="rect">
            <a:avLst/>
          </a:prstGeom>
        </p:spPr>
      </p:pic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Processos Estocásticos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0B4F7A-54AE-462B-AD9B-24AE10719098}" type="slidenum">
              <a:rPr lang="pt-BR"/>
              <a:pPr>
                <a:defRPr/>
              </a:pPr>
              <a:t>28</a:t>
            </a:fld>
            <a:endParaRPr lang="pt-BR"/>
          </a:p>
        </p:txBody>
      </p:sp>
      <p:sp>
        <p:nvSpPr>
          <p:cNvPr id="7" name="Text Box 38"/>
          <p:cNvSpPr txBox="1">
            <a:spLocks noChangeArrowheads="1"/>
          </p:cNvSpPr>
          <p:nvPr/>
        </p:nvSpPr>
        <p:spPr bwMode="auto">
          <a:xfrm>
            <a:off x="251520" y="1643063"/>
            <a:ext cx="878453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363" indent="-360363"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De modo bastante simplista, pode-se definir um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processo estocástico </a:t>
            </a:r>
            <a:r>
              <a:rPr lang="pt-BR" altLang="pt-BR" sz="1600" dirty="0">
                <a:latin typeface="Tahoma" panose="020B0604030504040204" pitchFamily="34" charset="0"/>
              </a:rPr>
              <a:t>como um conjunto de variáveis aleatórias que descrevem a evolução de um sistema de valores no tempo.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Num processo determinístico, conhecendo-se as condições iniciais, consegue-se com precisão prever como o processo irá evoluir.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38"/>
              <p:cNvSpPr txBox="1">
                <a:spLocks noChangeArrowheads="1"/>
              </p:cNvSpPr>
              <p:nvPr/>
            </p:nvSpPr>
            <p:spPr bwMode="auto">
              <a:xfrm>
                <a:off x="5292080" y="4509120"/>
                <a:ext cx="3240360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60363" indent="-360363"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2000" b="0" i="1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altLang="pt-BR" sz="2000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pt-BR" altLang="pt-BR" sz="20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pt-BR" alt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altLang="pt-B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altLang="pt-BR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pt-BR" altLang="pt-B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altLang="pt-BR" sz="2000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pt-BR" altLang="pt-BR" sz="20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pt-BR" altLang="pt-BR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altLang="pt-BR" sz="2000" b="0" i="1" smtClean="0">
                          <a:latin typeface="Cambria Math" panose="02040503050406030204" pitchFamily="18" charset="0"/>
                        </a:rPr>
                        <m:t>)       </m:t>
                      </m:r>
                      <m:r>
                        <a:rPr lang="pt-BR" altLang="pt-BR" sz="2000" b="0" i="1" smtClean="0">
                          <a:latin typeface="Cambria Math"/>
                        </a:rPr>
                        <m:t>𝑡</m:t>
                      </m:r>
                      <m:r>
                        <a:rPr lang="pt-BR" altLang="pt-BR" sz="2000" b="0" i="1" smtClean="0">
                          <a:latin typeface="Cambria Math"/>
                        </a:rPr>
                        <m:t>&gt;0</m:t>
                      </m:r>
                    </m:oMath>
                  </m:oMathPara>
                </a14:m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 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92080" y="4509120"/>
                <a:ext cx="3240360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ângulo 5"/>
              <p:cNvSpPr/>
              <p:nvPr/>
            </p:nvSpPr>
            <p:spPr>
              <a:xfrm>
                <a:off x="3717981" y="4047455"/>
                <a:ext cx="71000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alt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altLang="pt-B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altLang="pt-B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pt-BR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altLang="pt-BR" b="0" i="1" smtClean="0">
                          <a:latin typeface="Cambria Math" panose="02040503050406030204" pitchFamily="18" charset="0"/>
                        </a:rPr>
                        <m:t>=0,2</m:t>
                      </m:r>
                    </m:oMath>
                  </m:oMathPara>
                </a14:m>
                <a:endParaRPr lang="pt-BR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tâ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981" y="4047455"/>
                <a:ext cx="710003" cy="461665"/>
              </a:xfrm>
              <a:prstGeom prst="rect">
                <a:avLst/>
              </a:prstGeom>
              <a:blipFill rotWithShape="0"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tângulo 10"/>
              <p:cNvSpPr/>
              <p:nvPr/>
            </p:nvSpPr>
            <p:spPr>
              <a:xfrm>
                <a:off x="4226001" y="5445224"/>
                <a:ext cx="79496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alt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altLang="pt-BR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pt-BR" altLang="pt-B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pt-BR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altLang="pt-BR" b="0" i="1" smtClean="0">
                          <a:latin typeface="Cambria Math" panose="02040503050406030204" pitchFamily="18" charset="0"/>
                        </a:rPr>
                        <m:t>=0,15</m:t>
                      </m:r>
                    </m:oMath>
                  </m:oMathPara>
                </a14:m>
                <a:endParaRPr lang="pt-BR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tângulo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001" y="5445224"/>
                <a:ext cx="794961" cy="461665"/>
              </a:xfrm>
              <a:prstGeom prst="rect">
                <a:avLst/>
              </a:prstGeom>
              <a:blipFill rotWithShape="0">
                <a:blip r:embed="rId6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384489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" grpId="0" animBg="1"/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492896"/>
            <a:ext cx="3600000" cy="216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Processos Estocásticos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0B4F7A-54AE-462B-AD9B-24AE10719098}" type="slidenum">
              <a:rPr lang="pt-BR"/>
              <a:pPr>
                <a:defRPr/>
              </a:pPr>
              <a:t>29</a:t>
            </a:fld>
            <a:endParaRPr lang="pt-BR"/>
          </a:p>
        </p:txBody>
      </p:sp>
      <p:sp>
        <p:nvSpPr>
          <p:cNvPr id="7" name="Text Box 38"/>
          <p:cNvSpPr txBox="1">
            <a:spLocks noChangeArrowheads="1"/>
          </p:cNvSpPr>
          <p:nvPr/>
        </p:nvSpPr>
        <p:spPr bwMode="auto">
          <a:xfrm>
            <a:off x="251520" y="1643063"/>
            <a:ext cx="8784530" cy="790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363" indent="-360363"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Num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processo estocástico</a:t>
            </a:r>
            <a:r>
              <a:rPr lang="pt-BR" altLang="pt-BR" sz="1600" dirty="0">
                <a:latin typeface="Tahoma" panose="020B0604030504040204" pitchFamily="34" charset="0"/>
              </a:rPr>
              <a:t>, mesmo se conhecendo a condição inicial, existem muitas (as vezes infinitas) direções nas quais o processo pode evoluir.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38"/>
              <p:cNvSpPr txBox="1">
                <a:spLocks noChangeArrowheads="1"/>
              </p:cNvSpPr>
              <p:nvPr/>
            </p:nvSpPr>
            <p:spPr bwMode="auto">
              <a:xfrm>
                <a:off x="5292080" y="3550651"/>
                <a:ext cx="3672408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60363" indent="-360363" algn="l"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alt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2000" b="0" i="1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pt-BR" altLang="pt-BR" sz="2000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pt-BR" altLang="pt-BR" sz="20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pt-BR" alt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pt-BR" altLang="pt-B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altLang="pt-BR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pt-BR" altLang="pt-B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altLang="pt-BR" sz="2000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pt-BR" altLang="pt-BR" sz="20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pt-BR" altLang="pt-BR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altLang="pt-B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altLang="pt-B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pt-BR" altLang="pt-B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pt-BR" altLang="pt-BR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pt-BR" altLang="pt-BR" sz="2000" b="0" i="1" smtClean="0">
                          <a:latin typeface="Cambria Math"/>
                        </a:rPr>
                        <m:t>       </m:t>
                      </m:r>
                      <m:r>
                        <a:rPr lang="pt-BR" altLang="pt-BR" sz="2000" b="0" i="1" smtClean="0">
                          <a:latin typeface="Cambria Math"/>
                        </a:rPr>
                        <m:t>𝑡</m:t>
                      </m:r>
                      <m:r>
                        <a:rPr lang="pt-BR" altLang="pt-BR" sz="2000" b="0" i="1" smtClean="0">
                          <a:latin typeface="Cambria Math"/>
                        </a:rPr>
                        <m:t>&gt;0</m:t>
                      </m:r>
                    </m:oMath>
                  </m:oMathPara>
                </a14:m>
                <a:endParaRPr lang="pt-BR" altLang="pt-BR" sz="1600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Text 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92080" y="3550651"/>
                <a:ext cx="3672408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upo 9"/>
          <p:cNvGrpSpPr/>
          <p:nvPr/>
        </p:nvGrpSpPr>
        <p:grpSpPr>
          <a:xfrm>
            <a:off x="7052081" y="4079248"/>
            <a:ext cx="1027845" cy="713184"/>
            <a:chOff x="7128284" y="4104649"/>
            <a:chExt cx="1027845" cy="713184"/>
          </a:xfrm>
        </p:grpSpPr>
        <p:sp>
          <p:nvSpPr>
            <p:cNvPr id="3" name="Retângulo 2"/>
            <p:cNvSpPr/>
            <p:nvPr/>
          </p:nvSpPr>
          <p:spPr>
            <a:xfrm>
              <a:off x="7128284" y="4356168"/>
              <a:ext cx="102784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altLang="pt-BR" dirty="0">
                  <a:solidFill>
                    <a:srgbClr val="FF0000"/>
                  </a:solidFill>
                  <a:latin typeface="Tahoma" panose="020B0604030504040204" pitchFamily="34" charset="0"/>
                </a:rPr>
                <a:t>componente</a:t>
              </a:r>
            </a:p>
            <a:p>
              <a:r>
                <a:rPr lang="pt-BR" altLang="pt-BR" dirty="0">
                  <a:solidFill>
                    <a:srgbClr val="FF0000"/>
                  </a:solidFill>
                  <a:latin typeface="Tahoma" panose="020B0604030504040204" pitchFamily="34" charset="0"/>
                </a:rPr>
                <a:t>aleatório</a:t>
              </a:r>
              <a:endParaRPr lang="pt-BR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cxnSp>
          <p:nvCxnSpPr>
            <p:cNvPr id="9" name="Conector de seta reta 8"/>
            <p:cNvCxnSpPr/>
            <p:nvPr/>
          </p:nvCxnSpPr>
          <p:spPr bwMode="auto">
            <a:xfrm flipV="1">
              <a:off x="7642206" y="4104649"/>
              <a:ext cx="0" cy="26045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65724" y="4647401"/>
            <a:ext cx="3600000" cy="216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2396126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Cadeia de </a:t>
            </a:r>
            <a:r>
              <a:rPr lang="pt-BR" dirty="0" err="1"/>
              <a:t>Markov</a:t>
            </a:r>
            <a:endParaRPr lang="pt-BR" dirty="0"/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0B4F7A-54AE-462B-AD9B-24AE10719098}" type="slidenum">
              <a:rPr lang="pt-BR"/>
              <a:pPr>
                <a:defRPr/>
              </a:pPr>
              <a:t>30</a:t>
            </a:fld>
            <a:endParaRPr lang="pt-BR"/>
          </a:p>
        </p:txBody>
      </p:sp>
      <p:sp>
        <p:nvSpPr>
          <p:cNvPr id="7" name="Text Box 38"/>
          <p:cNvSpPr txBox="1">
            <a:spLocks noChangeArrowheads="1"/>
          </p:cNvSpPr>
          <p:nvPr/>
        </p:nvSpPr>
        <p:spPr bwMode="auto">
          <a:xfrm>
            <a:off x="251520" y="1643063"/>
            <a:ext cx="878453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363" indent="-360363"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Considere que uma variável aleatória possa assumir somente valores (ou estados) discretos e que seu valor atual dependa exclusivamente de seu valor no tempo anterior (tempo discreto). Além disso, a probabilidade de que seu valor mude de </a:t>
            </a:r>
            <a:r>
              <a:rPr lang="pt-BR" altLang="pt-BR" sz="1600" i="1" dirty="0">
                <a:latin typeface="Tahoma" panose="020B0604030504040204" pitchFamily="34" charset="0"/>
              </a:rPr>
              <a:t>i</a:t>
            </a:r>
            <a:r>
              <a:rPr lang="pt-BR" altLang="pt-BR" sz="1600" dirty="0">
                <a:latin typeface="Tahoma" panose="020B0604030504040204" pitchFamily="34" charset="0"/>
              </a:rPr>
              <a:t> para </a:t>
            </a:r>
            <a:r>
              <a:rPr lang="pt-BR" altLang="pt-BR" sz="1600" i="1" dirty="0">
                <a:latin typeface="Tahoma" panose="020B0604030504040204" pitchFamily="34" charset="0"/>
              </a:rPr>
              <a:t>j</a:t>
            </a:r>
            <a:r>
              <a:rPr lang="pt-BR" altLang="pt-BR" sz="1600" dirty="0">
                <a:latin typeface="Tahoma" panose="020B0604030504040204" pitchFamily="34" charset="0"/>
              </a:rPr>
              <a:t> (transição de estados) é constante no tempo. Este processo é denominado 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Cadeia de </a:t>
            </a:r>
            <a:r>
              <a:rPr lang="pt-BR" altLang="pt-BR" sz="1600" dirty="0" err="1">
                <a:solidFill>
                  <a:srgbClr val="FF0000"/>
                </a:solidFill>
                <a:latin typeface="Tahoma" panose="020B0604030504040204" pitchFamily="34" charset="0"/>
              </a:rPr>
              <a:t>Markov</a:t>
            </a:r>
            <a:r>
              <a:rPr lang="pt-BR" altLang="pt-BR" sz="1600" dirty="0">
                <a:solidFill>
                  <a:srgbClr val="FF0000"/>
                </a:solidFill>
                <a:latin typeface="Tahoma" panose="020B0604030504040204" pitchFamily="34" charset="0"/>
              </a:rPr>
              <a:t> homogênea em tempo discreto</a:t>
            </a:r>
            <a:r>
              <a:rPr lang="pt-BR" altLang="pt-BR" sz="1600" dirty="0">
                <a:latin typeface="Tahoma" panose="020B0604030504040204" pitchFamily="34" charset="0"/>
              </a:rPr>
              <a:t>. Há muitas variações possíveis, mas esta é a mais comum.</a:t>
            </a:r>
          </a:p>
        </p:txBody>
      </p:sp>
      <p:sp>
        <p:nvSpPr>
          <p:cNvPr id="3" name="Elipse 2"/>
          <p:cNvSpPr/>
          <p:nvPr/>
        </p:nvSpPr>
        <p:spPr bwMode="auto">
          <a:xfrm>
            <a:off x="4211960" y="4359195"/>
            <a:ext cx="360000" cy="360000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8" name="Elipse 7"/>
          <p:cNvSpPr/>
          <p:nvPr/>
        </p:nvSpPr>
        <p:spPr bwMode="auto">
          <a:xfrm>
            <a:off x="5759929" y="4362095"/>
            <a:ext cx="360000" cy="360000"/>
          </a:xfrm>
          <a:prstGeom prst="ellipse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9" name="Elipse 8"/>
          <p:cNvSpPr/>
          <p:nvPr/>
        </p:nvSpPr>
        <p:spPr bwMode="auto">
          <a:xfrm>
            <a:off x="4985944" y="5661288"/>
            <a:ext cx="360000" cy="360000"/>
          </a:xfrm>
          <a:prstGeom prst="ellipse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cxnSp>
        <p:nvCxnSpPr>
          <p:cNvPr id="11" name="Conector em curva 10"/>
          <p:cNvCxnSpPr>
            <a:stCxn id="3" idx="0"/>
            <a:endCxn id="8" idx="0"/>
          </p:cNvCxnSpPr>
          <p:nvPr/>
        </p:nvCxnSpPr>
        <p:spPr bwMode="auto">
          <a:xfrm rot="16200000" flipH="1">
            <a:off x="5164494" y="3586661"/>
            <a:ext cx="2900" cy="1547969"/>
          </a:xfrm>
          <a:prstGeom prst="curvedConnector3">
            <a:avLst>
              <a:gd name="adj1" fmla="val -15412552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15" name="Conector em curva 14"/>
          <p:cNvCxnSpPr>
            <a:stCxn id="8" idx="4"/>
            <a:endCxn id="9" idx="6"/>
          </p:cNvCxnSpPr>
          <p:nvPr/>
        </p:nvCxnSpPr>
        <p:spPr bwMode="auto">
          <a:xfrm rot="5400000">
            <a:off x="5083341" y="4984699"/>
            <a:ext cx="1119193" cy="593985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21" name="Conector em curva 20"/>
          <p:cNvCxnSpPr>
            <a:stCxn id="9" idx="0"/>
            <a:endCxn id="8" idx="2"/>
          </p:cNvCxnSpPr>
          <p:nvPr/>
        </p:nvCxnSpPr>
        <p:spPr bwMode="auto">
          <a:xfrm rot="5400000" flipH="1" flipV="1">
            <a:off x="4903340" y="4804700"/>
            <a:ext cx="1119193" cy="593985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30" name="Conector em curva 29"/>
          <p:cNvCxnSpPr>
            <a:stCxn id="9" idx="2"/>
            <a:endCxn id="3" idx="4"/>
          </p:cNvCxnSpPr>
          <p:nvPr/>
        </p:nvCxnSpPr>
        <p:spPr bwMode="auto">
          <a:xfrm rot="10800000">
            <a:off x="4391960" y="4719196"/>
            <a:ext cx="593984" cy="1122093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33" name="Text Box 38"/>
          <p:cNvSpPr txBox="1">
            <a:spLocks noChangeArrowheads="1"/>
          </p:cNvSpPr>
          <p:nvPr/>
        </p:nvSpPr>
        <p:spPr bwMode="auto">
          <a:xfrm>
            <a:off x="251520" y="3752599"/>
            <a:ext cx="3600399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363" indent="-360363"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O processo é caracterizado por um espaço de estado, uma matriz de transição descrevendo as probabilidades de transições, e um estado inicial (ou uma distribuição de estados).</a:t>
            </a:r>
          </a:p>
        </p:txBody>
      </p:sp>
      <p:cxnSp>
        <p:nvCxnSpPr>
          <p:cNvPr id="34" name="Conector em curva 33"/>
          <p:cNvCxnSpPr>
            <a:stCxn id="3" idx="3"/>
            <a:endCxn id="3" idx="1"/>
          </p:cNvCxnSpPr>
          <p:nvPr/>
        </p:nvCxnSpPr>
        <p:spPr bwMode="auto">
          <a:xfrm rot="5400000" flipH="1">
            <a:off x="4137402" y="4539195"/>
            <a:ext cx="254558" cy="12700"/>
          </a:xfrm>
          <a:prstGeom prst="curvedConnector5">
            <a:avLst>
              <a:gd name="adj1" fmla="val -40066"/>
              <a:gd name="adj2" fmla="val 2336449"/>
              <a:gd name="adj3" fmla="val 15664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graphicFrame>
        <p:nvGraphicFramePr>
          <p:cNvPr id="107534" name="Tabela 1075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966574"/>
              </p:ext>
            </p:extLst>
          </p:nvPr>
        </p:nvGraphicFramePr>
        <p:xfrm>
          <a:off x="6516216" y="4216198"/>
          <a:ext cx="2222498" cy="1381125"/>
        </p:xfrm>
        <a:graphic>
          <a:graphicData uri="http://schemas.openxmlformats.org/drawingml/2006/table">
            <a:tbl>
              <a:tblPr/>
              <a:tblGrid>
                <a:gridCol w="358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3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3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03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pPr algn="l" fontAlgn="ctr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tempo </a:t>
                      </a:r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l" fontAlgn="ctr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tempo </a:t>
                      </a:r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</a:t>
                      </a: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-1</a:t>
                      </a:r>
                    </a:p>
                  </a:txBody>
                  <a:tcPr marL="9525" marR="9525" marT="9525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6" name="Conector em curva 15"/>
          <p:cNvCxnSpPr>
            <a:stCxn id="8" idx="5"/>
            <a:endCxn id="8" idx="7"/>
          </p:cNvCxnSpPr>
          <p:nvPr/>
        </p:nvCxnSpPr>
        <p:spPr bwMode="auto">
          <a:xfrm rot="5400000" flipH="1">
            <a:off x="5939929" y="4542095"/>
            <a:ext cx="254558" cy="12700"/>
          </a:xfrm>
          <a:prstGeom prst="curvedConnector5">
            <a:avLst>
              <a:gd name="adj1" fmla="val -46912"/>
              <a:gd name="adj2" fmla="val -2513228"/>
              <a:gd name="adj3" fmla="val 16299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13710584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3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703196"/>
            <a:ext cx="3096344" cy="1968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463" y="5033119"/>
            <a:ext cx="4581174" cy="137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Exemplo de Aplicação 3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0B4F7A-54AE-462B-AD9B-24AE10719098}" type="slidenum">
              <a:rPr lang="pt-BR"/>
              <a:pPr>
                <a:defRPr/>
              </a:pPr>
              <a:t>31</a:t>
            </a:fld>
            <a:endParaRPr lang="pt-BR"/>
          </a:p>
        </p:txBody>
      </p:sp>
      <p:graphicFrame>
        <p:nvGraphicFramePr>
          <p:cNvPr id="107534" name="Tabela 1075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366957"/>
              </p:ext>
            </p:extLst>
          </p:nvPr>
        </p:nvGraphicFramePr>
        <p:xfrm>
          <a:off x="4351687" y="1628800"/>
          <a:ext cx="2222498" cy="1381125"/>
        </p:xfrm>
        <a:graphic>
          <a:graphicData uri="http://schemas.openxmlformats.org/drawingml/2006/table">
            <a:tbl>
              <a:tblPr/>
              <a:tblGrid>
                <a:gridCol w="358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3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03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03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pPr algn="l" fontAlgn="ctr"/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tempo </a:t>
                      </a:r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l" fontAlgn="ctr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tempo </a:t>
                      </a:r>
                      <a:r>
                        <a:rPr lang="pt-BR" sz="11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t</a:t>
                      </a: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-1</a:t>
                      </a:r>
                    </a:p>
                  </a:txBody>
                  <a:tcPr marL="9525" marR="9525" marT="9525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0,1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Box 38"/>
          <p:cNvSpPr txBox="1">
            <a:spLocks noChangeArrowheads="1"/>
          </p:cNvSpPr>
          <p:nvPr/>
        </p:nvSpPr>
        <p:spPr bwMode="auto">
          <a:xfrm>
            <a:off x="0" y="6546637"/>
            <a:ext cx="2407431" cy="337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363" indent="-360363"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200" dirty="0">
                <a:latin typeface="Tahoma" panose="020B0604030504040204" pitchFamily="34" charset="0"/>
              </a:rPr>
              <a:t>(ver Simulacao_exemplo3.xlsx)</a:t>
            </a:r>
          </a:p>
        </p:txBody>
      </p:sp>
      <p:sp>
        <p:nvSpPr>
          <p:cNvPr id="17" name="Elipse 16"/>
          <p:cNvSpPr/>
          <p:nvPr/>
        </p:nvSpPr>
        <p:spPr bwMode="auto">
          <a:xfrm>
            <a:off x="2051719" y="1766907"/>
            <a:ext cx="360000" cy="360000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8" name="Elipse 17"/>
          <p:cNvSpPr/>
          <p:nvPr/>
        </p:nvSpPr>
        <p:spPr bwMode="auto">
          <a:xfrm>
            <a:off x="3599688" y="1769807"/>
            <a:ext cx="360000" cy="360000"/>
          </a:xfrm>
          <a:prstGeom prst="ellipse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19" name="Elipse 18"/>
          <p:cNvSpPr/>
          <p:nvPr/>
        </p:nvSpPr>
        <p:spPr bwMode="auto">
          <a:xfrm>
            <a:off x="2825703" y="3069000"/>
            <a:ext cx="360000" cy="360000"/>
          </a:xfrm>
          <a:prstGeom prst="ellipse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cxnSp>
        <p:nvCxnSpPr>
          <p:cNvPr id="20" name="Conector em curva 19"/>
          <p:cNvCxnSpPr>
            <a:stCxn id="17" idx="0"/>
            <a:endCxn id="18" idx="0"/>
          </p:cNvCxnSpPr>
          <p:nvPr/>
        </p:nvCxnSpPr>
        <p:spPr bwMode="auto">
          <a:xfrm rot="16200000" flipH="1">
            <a:off x="3004253" y="994373"/>
            <a:ext cx="2900" cy="1547969"/>
          </a:xfrm>
          <a:prstGeom prst="curvedConnector3">
            <a:avLst>
              <a:gd name="adj1" fmla="val -15412552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22" name="Conector em curva 21"/>
          <p:cNvCxnSpPr>
            <a:stCxn id="18" idx="4"/>
            <a:endCxn id="19" idx="6"/>
          </p:cNvCxnSpPr>
          <p:nvPr/>
        </p:nvCxnSpPr>
        <p:spPr bwMode="auto">
          <a:xfrm rot="5400000">
            <a:off x="2923100" y="2392411"/>
            <a:ext cx="1119193" cy="593985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23" name="Conector em curva 22"/>
          <p:cNvCxnSpPr>
            <a:stCxn id="19" idx="0"/>
            <a:endCxn id="18" idx="2"/>
          </p:cNvCxnSpPr>
          <p:nvPr/>
        </p:nvCxnSpPr>
        <p:spPr bwMode="auto">
          <a:xfrm rot="5400000" flipH="1" flipV="1">
            <a:off x="2743099" y="2212412"/>
            <a:ext cx="1119193" cy="593985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24" name="Conector em curva 23"/>
          <p:cNvCxnSpPr>
            <a:stCxn id="19" idx="2"/>
            <a:endCxn id="17" idx="4"/>
          </p:cNvCxnSpPr>
          <p:nvPr/>
        </p:nvCxnSpPr>
        <p:spPr bwMode="auto">
          <a:xfrm rot="10800000">
            <a:off x="2231719" y="2126908"/>
            <a:ext cx="593984" cy="1122093"/>
          </a:xfrm>
          <a:prstGeom prst="curved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25" name="Conector em curva 24"/>
          <p:cNvCxnSpPr>
            <a:stCxn id="17" idx="3"/>
            <a:endCxn id="17" idx="1"/>
          </p:cNvCxnSpPr>
          <p:nvPr/>
        </p:nvCxnSpPr>
        <p:spPr bwMode="auto">
          <a:xfrm rot="5400000" flipH="1">
            <a:off x="1977161" y="1946907"/>
            <a:ext cx="254558" cy="12700"/>
          </a:xfrm>
          <a:prstGeom prst="curvedConnector5">
            <a:avLst>
              <a:gd name="adj1" fmla="val -40066"/>
              <a:gd name="adj2" fmla="val 2336449"/>
              <a:gd name="adj3" fmla="val 15664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26" name="Conector em curva 25"/>
          <p:cNvCxnSpPr>
            <a:stCxn id="18" idx="5"/>
            <a:endCxn id="18" idx="7"/>
          </p:cNvCxnSpPr>
          <p:nvPr/>
        </p:nvCxnSpPr>
        <p:spPr bwMode="auto">
          <a:xfrm rot="5400000" flipH="1">
            <a:off x="3779688" y="1949807"/>
            <a:ext cx="254558" cy="12700"/>
          </a:xfrm>
          <a:prstGeom prst="curvedConnector5">
            <a:avLst>
              <a:gd name="adj1" fmla="val -46912"/>
              <a:gd name="adj2" fmla="val -2513228"/>
              <a:gd name="adj3" fmla="val 16299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21" name="Text Box 38"/>
          <p:cNvSpPr txBox="1">
            <a:spLocks noChangeArrowheads="1"/>
          </p:cNvSpPr>
          <p:nvPr/>
        </p:nvSpPr>
        <p:spPr bwMode="auto">
          <a:xfrm>
            <a:off x="0" y="3371508"/>
            <a:ext cx="903649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0363" indent="-360363" algn="l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Por quanto tempo (passos) o estado permanece o mesmo? Qual a duração de permanência no mesmo estado mais frequente para cada estado considerando que o estado inicial é vermelho e a duração total analisada é 5000 passos? É possível o mesmo estado permanecer o mesmo por mais do que 10 passos?</a:t>
            </a:r>
          </a:p>
        </p:txBody>
      </p:sp>
    </p:spTree>
    <p:extLst>
      <p:ext uri="{BB962C8B-B14F-4D97-AF65-F5344CB8AC3E}">
        <p14:creationId xmlns:p14="http://schemas.microsoft.com/office/powerpoint/2010/main" val="290664304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1" grpId="0"/>
    </p:bldLst>
  </p:timing>
</p:sld>
</file>

<file path=ppt/theme/theme1.xml><?xml version="1.0" encoding="utf-8"?>
<a:theme xmlns:a="http://schemas.openxmlformats.org/drawingml/2006/main" name="Estrutura padrão">
  <a:themeElements>
    <a:clrScheme name="Estrutura padrã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trutura padrão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14490</TotalTime>
  <Words>3281</Words>
  <Application>Microsoft Office PowerPoint</Application>
  <PresentationFormat>Apresentação na tela (4:3)</PresentationFormat>
  <Paragraphs>790</Paragraphs>
  <Slides>31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40" baseType="lpstr">
      <vt:lpstr>Arial Unicode MS</vt:lpstr>
      <vt:lpstr>Arial</vt:lpstr>
      <vt:lpstr>Calibri</vt:lpstr>
      <vt:lpstr>Cambria Math</vt:lpstr>
      <vt:lpstr>Comic Sans MS</vt:lpstr>
      <vt:lpstr>Tahoma</vt:lpstr>
      <vt:lpstr>Times New Roman</vt:lpstr>
      <vt:lpstr>Estrutura padrão</vt:lpstr>
      <vt:lpstr>Equação</vt:lpstr>
      <vt:lpstr>Estatística: Aplicação ao Sensoriamento Remoto  SER 204  Simulação Estocástica</vt:lpstr>
      <vt:lpstr>Simulação</vt:lpstr>
      <vt:lpstr>Simulação</vt:lpstr>
      <vt:lpstr>Simulação de Monte Carlo</vt:lpstr>
      <vt:lpstr>Simulação de Monte Carlo</vt:lpstr>
      <vt:lpstr>Geração de Números Aleatórios</vt:lpstr>
      <vt:lpstr>Geração de Números Aleatórios</vt:lpstr>
      <vt:lpstr>Geração de Números Aleatórios</vt:lpstr>
      <vt:lpstr>Distribuições e Números Aleatórios no Excel</vt:lpstr>
      <vt:lpstr>Distribuições e Números Aleatórios no R</vt:lpstr>
      <vt:lpstr>Avaliação das Simulações</vt:lpstr>
      <vt:lpstr>Histograma</vt:lpstr>
      <vt:lpstr>Frequência Acumulada</vt:lpstr>
      <vt:lpstr>Frequência Acumulada</vt:lpstr>
      <vt:lpstr>Intervalo de Credibilidade</vt:lpstr>
      <vt:lpstr>Boxplot</vt:lpstr>
      <vt:lpstr>Boxplot</vt:lpstr>
      <vt:lpstr>Exemplo de Aplicação 1</vt:lpstr>
      <vt:lpstr>Exemplo de Aplicação 2</vt:lpstr>
      <vt:lpstr>Exemplo de Aplicação 2</vt:lpstr>
      <vt:lpstr>Exemplo de Aplicação 2</vt:lpstr>
      <vt:lpstr>Exemplo de Aplicação 2</vt:lpstr>
      <vt:lpstr>Exemplo de Aplicação 2</vt:lpstr>
      <vt:lpstr>Exemplo de Aplicação 2</vt:lpstr>
      <vt:lpstr>Exemplo de Aplicação 2 no R</vt:lpstr>
      <vt:lpstr>Solução Analítica Exemplo 2</vt:lpstr>
      <vt:lpstr>Solução Analítica Exemplo 2</vt:lpstr>
      <vt:lpstr>Processos Estocásticos</vt:lpstr>
      <vt:lpstr>Processos Estocásticos</vt:lpstr>
      <vt:lpstr>Cadeia de Markov</vt:lpstr>
      <vt:lpstr>Exemplo de Aplicação 3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Simulação Estocástica</dc:title>
  <dc:creator>Camilo Daleles Rennó, DPI/INPE</dc:creator>
  <cp:lastModifiedBy>Camilo Daleles Rennó</cp:lastModifiedBy>
  <cp:revision>833</cp:revision>
  <dcterms:created xsi:type="dcterms:W3CDTF">2003-03-18T00:57:51Z</dcterms:created>
  <dcterms:modified xsi:type="dcterms:W3CDTF">2026-05-18T17:14:35Z</dcterms:modified>
</cp:coreProperties>
</file>