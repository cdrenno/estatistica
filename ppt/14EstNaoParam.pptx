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380" r:id="rId2"/>
    <p:sldId id="328" r:id="rId3"/>
    <p:sldId id="404" r:id="rId4"/>
    <p:sldId id="343" r:id="rId5"/>
    <p:sldId id="344" r:id="rId6"/>
    <p:sldId id="342" r:id="rId7"/>
    <p:sldId id="329" r:id="rId8"/>
    <p:sldId id="330" r:id="rId9"/>
    <p:sldId id="409" r:id="rId10"/>
    <p:sldId id="316" r:id="rId11"/>
    <p:sldId id="332" r:id="rId12"/>
    <p:sldId id="309" r:id="rId13"/>
    <p:sldId id="312" r:id="rId14"/>
    <p:sldId id="383" r:id="rId15"/>
    <p:sldId id="410" r:id="rId16"/>
    <p:sldId id="340" r:id="rId17"/>
    <p:sldId id="317" r:id="rId18"/>
    <p:sldId id="319" r:id="rId19"/>
    <p:sldId id="386" r:id="rId20"/>
    <p:sldId id="387" r:id="rId21"/>
    <p:sldId id="388" r:id="rId22"/>
    <p:sldId id="337" r:id="rId23"/>
    <p:sldId id="333" r:id="rId24"/>
    <p:sldId id="322" r:id="rId25"/>
    <p:sldId id="389" r:id="rId26"/>
    <p:sldId id="345" r:id="rId27"/>
    <p:sldId id="346" r:id="rId28"/>
    <p:sldId id="347" r:id="rId29"/>
    <p:sldId id="348" r:id="rId30"/>
    <p:sldId id="349" r:id="rId31"/>
    <p:sldId id="350" r:id="rId32"/>
    <p:sldId id="351" r:id="rId33"/>
    <p:sldId id="352" r:id="rId34"/>
    <p:sldId id="353" r:id="rId35"/>
    <p:sldId id="354" r:id="rId36"/>
    <p:sldId id="355" r:id="rId37"/>
    <p:sldId id="356" r:id="rId38"/>
    <p:sldId id="357" r:id="rId39"/>
    <p:sldId id="390" r:id="rId40"/>
    <p:sldId id="405" r:id="rId41"/>
    <p:sldId id="406" r:id="rId42"/>
    <p:sldId id="407" r:id="rId43"/>
    <p:sldId id="408" r:id="rId44"/>
    <p:sldId id="417" r:id="rId45"/>
    <p:sldId id="373" r:id="rId46"/>
    <p:sldId id="418" r:id="rId47"/>
    <p:sldId id="391" r:id="rId48"/>
    <p:sldId id="392" r:id="rId49"/>
    <p:sldId id="393" r:id="rId50"/>
    <p:sldId id="394" r:id="rId51"/>
    <p:sldId id="395" r:id="rId52"/>
    <p:sldId id="396" r:id="rId53"/>
    <p:sldId id="397" r:id="rId54"/>
    <p:sldId id="398" r:id="rId55"/>
    <p:sldId id="399" r:id="rId56"/>
    <p:sldId id="400" r:id="rId57"/>
    <p:sldId id="401" r:id="rId58"/>
    <p:sldId id="411" r:id="rId59"/>
    <p:sldId id="374" r:id="rId60"/>
    <p:sldId id="375" r:id="rId61"/>
    <p:sldId id="376" r:id="rId62"/>
    <p:sldId id="377" r:id="rId63"/>
    <p:sldId id="378" r:id="rId64"/>
    <p:sldId id="379" r:id="rId65"/>
    <p:sldId id="412" r:id="rId66"/>
    <p:sldId id="419" r:id="rId67"/>
    <p:sldId id="414" r:id="rId68"/>
    <p:sldId id="416" r:id="rId69"/>
  </p:sldIdLst>
  <p:sldSz cx="9144000" cy="6858000" type="screen4x3"/>
  <p:notesSz cx="9926638" cy="6797675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8BAE3F-9C47-49DD-8EB3-51CDCACC9A58}" v="1" dt="2026-05-18T17:22:16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9" autoAdjust="0"/>
    <p:restoredTop sz="94662" autoAdjust="0"/>
  </p:normalViewPr>
  <p:slideViewPr>
    <p:cSldViewPr>
      <p:cViewPr varScale="1">
        <p:scale>
          <a:sx n="70" d="100"/>
          <a:sy n="70" d="100"/>
        </p:scale>
        <p:origin x="148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22:16.806" v="1"/>
      <pc:docMkLst>
        <pc:docMk/>
      </pc:docMkLst>
      <pc:sldChg chg="addSp delSp modSp mod">
        <pc:chgData name="Camilo Daleles Rennó" userId="eac9aab033b2f962" providerId="LiveId" clId="{2F84B5F6-56BC-4922-A3EF-887C69771227}" dt="2026-05-18T17:22:16.806" v="1"/>
        <pc:sldMkLst>
          <pc:docMk/>
          <pc:sldMk cId="0" sldId="380"/>
        </pc:sldMkLst>
        <pc:spChg chg="del">
          <ac:chgData name="Camilo Daleles Rennó" userId="eac9aab033b2f962" providerId="LiveId" clId="{2F84B5F6-56BC-4922-A3EF-887C69771227}" dt="2026-05-18T17:22:15.451" v="0" actId="478"/>
          <ac:spMkLst>
            <pc:docMk/>
            <pc:sldMk cId="0" sldId="380"/>
            <ac:spMk id="2" creationId="{031B5C68-B40D-88B4-C0D4-6D55870D1235}"/>
          </ac:spMkLst>
        </pc:spChg>
        <pc:spChg chg="add mod">
          <ac:chgData name="Camilo Daleles Rennó" userId="eac9aab033b2f962" providerId="LiveId" clId="{2F84B5F6-56BC-4922-A3EF-887C69771227}" dt="2026-05-18T17:22:16.806" v="1"/>
          <ac:spMkLst>
            <pc:docMk/>
            <pc:sldMk cId="0" sldId="380"/>
            <ac:spMk id="3" creationId="{0272F8CB-F353-2130-F8C6-6EDBE69086B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2799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2799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104BC959-8B43-4BAC-BC7C-3077937B1E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00488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799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73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63900" y="509588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65" y="3228896"/>
            <a:ext cx="7941310" cy="3058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799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CC346F87-425D-4488-8781-128BAD7D133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930578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1D8F24-E35A-4471-87C5-F1AA0F5CF4B6}" type="slidenum">
              <a:rPr lang="pt-BR" altLang="pt-BR" smtClean="0"/>
              <a:pPr eaLnBrk="1" hangingPunct="1">
                <a:spcBef>
                  <a:spcPct val="0"/>
                </a:spcBef>
              </a:pPr>
              <a:t>2</a:t>
            </a:fld>
            <a:endParaRPr lang="pt-BR" altLang="pt-BR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941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1D8F24-E35A-4471-87C5-F1AA0F5CF4B6}" type="slidenum">
              <a:rPr lang="pt-BR" altLang="pt-BR" smtClean="0"/>
              <a:pPr eaLnBrk="1" hangingPunct="1">
                <a:spcBef>
                  <a:spcPct val="0"/>
                </a:spcBef>
              </a:pPr>
              <a:t>3</a:t>
            </a:fld>
            <a:endParaRPr lang="pt-BR" altLang="pt-BR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3022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2F665F6-285C-4146-B0D6-470068AD3B4D}" type="slidenum">
              <a:rPr lang="pt-BR" altLang="pt-BR" smtClean="0"/>
              <a:pPr eaLnBrk="1" hangingPunct="1">
                <a:spcBef>
                  <a:spcPct val="0"/>
                </a:spcBef>
              </a:pPr>
              <a:t>4</a:t>
            </a:fld>
            <a:endParaRPr lang="pt-BR" altLang="pt-BR"/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612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ECEFEBD-AE17-400D-8DFA-A09961E15CDA}" type="slidenum">
              <a:rPr lang="pt-BR" altLang="pt-BR" smtClean="0"/>
              <a:pPr eaLnBrk="1" hangingPunct="1">
                <a:spcBef>
                  <a:spcPct val="0"/>
                </a:spcBef>
              </a:pPr>
              <a:t>5</a:t>
            </a:fld>
            <a:endParaRPr lang="pt-BR" altLang="pt-BR"/>
          </a:p>
        </p:txBody>
      </p:sp>
      <p:sp>
        <p:nvSpPr>
          <p:cNvPr id="60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897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8FE053D-E60B-4174-AB12-1A1B06506B23}" type="slidenum">
              <a:rPr lang="pt-BR" altLang="pt-BR" smtClean="0"/>
              <a:pPr eaLnBrk="1" hangingPunct="1">
                <a:spcBef>
                  <a:spcPct val="0"/>
                </a:spcBef>
              </a:pPr>
              <a:t>6</a:t>
            </a:fld>
            <a:endParaRPr lang="pt-BR" altLang="pt-BR"/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190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406B6E2-8734-43DF-9425-B59BD85AE513}" type="slidenum">
              <a:rPr lang="pt-BR" altLang="pt-BR" smtClean="0"/>
              <a:pPr eaLnBrk="1" hangingPunct="1">
                <a:spcBef>
                  <a:spcPct val="0"/>
                </a:spcBef>
              </a:pPr>
              <a:t>7</a:t>
            </a:fld>
            <a:endParaRPr lang="pt-BR" altLang="pt-BR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481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8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88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9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1351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69CF12A-9145-4374-B79B-D51D7D1F1910}" type="slidenum">
              <a:rPr lang="pt-BR" altLang="pt-BR" smtClean="0"/>
              <a:pPr eaLnBrk="1" hangingPunct="1">
                <a:spcBef>
                  <a:spcPct val="0"/>
                </a:spcBef>
              </a:pPr>
              <a:t>10</a:t>
            </a:fld>
            <a:endParaRPr lang="pt-BR" altLang="pt-BR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652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9C45335-45D8-40D3-8A64-79C4B003FA59}" type="slidenum">
              <a:rPr lang="pt-BR" altLang="pt-BR" smtClean="0"/>
              <a:pPr eaLnBrk="1" hangingPunct="1">
                <a:spcBef>
                  <a:spcPct val="0"/>
                </a:spcBef>
              </a:pPr>
              <a:t>11</a:t>
            </a:fld>
            <a:endParaRPr lang="pt-BR" altLang="pt-BR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0612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C027A36-2378-43D0-8179-AC893BF5D529}" type="slidenum">
              <a:rPr lang="pt-BR" altLang="pt-BR" smtClean="0"/>
              <a:pPr eaLnBrk="1" hangingPunct="1">
                <a:spcBef>
                  <a:spcPct val="0"/>
                </a:spcBef>
              </a:pPr>
              <a:t>12</a:t>
            </a:fld>
            <a:endParaRPr lang="pt-BR" altLang="pt-BR"/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744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13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6010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14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30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15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6869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E57D9F-F0CC-4C6B-BA66-05C73E6706FF}" type="slidenum">
              <a:rPr lang="pt-BR" altLang="pt-BR" smtClean="0"/>
              <a:pPr eaLnBrk="1" hangingPunct="1">
                <a:spcBef>
                  <a:spcPct val="0"/>
                </a:spcBef>
              </a:pPr>
              <a:t>16</a:t>
            </a:fld>
            <a:endParaRPr lang="pt-BR" altLang="pt-BR"/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4188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C48579-D537-446F-A398-8E75AB3AF3A0}" type="slidenum">
              <a:rPr lang="pt-BR" altLang="pt-BR" smtClean="0"/>
              <a:pPr eaLnBrk="1" hangingPunct="1">
                <a:spcBef>
                  <a:spcPct val="0"/>
                </a:spcBef>
              </a:pPr>
              <a:t>17</a:t>
            </a:fld>
            <a:endParaRPr lang="pt-BR" altLang="pt-BR"/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62853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18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7352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19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057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20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087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21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4557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71E5B95-952B-42BB-B290-FD18387B189A}" type="slidenum">
              <a:rPr lang="pt-BR" altLang="pt-BR" smtClean="0"/>
              <a:pPr eaLnBrk="1" hangingPunct="1">
                <a:spcBef>
                  <a:spcPct val="0"/>
                </a:spcBef>
              </a:pPr>
              <a:t>22</a:t>
            </a:fld>
            <a:endParaRPr lang="pt-BR" altLang="pt-BR"/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28796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18EF2-8443-4DFD-AF06-93E95DA4B9B6}" type="slidenum">
              <a:rPr lang="pt-BR" altLang="pt-BR" smtClean="0"/>
              <a:pPr eaLnBrk="1" hangingPunct="1">
                <a:spcBef>
                  <a:spcPct val="0"/>
                </a:spcBef>
              </a:pPr>
              <a:t>23</a:t>
            </a:fld>
            <a:endParaRPr lang="pt-BR" altLang="pt-BR"/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798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382C447-97A0-48CA-909D-2B7705E3A9D7}" type="slidenum">
              <a:rPr lang="pt-BR" altLang="pt-BR" smtClean="0"/>
              <a:pPr eaLnBrk="1" hangingPunct="1">
                <a:spcBef>
                  <a:spcPct val="0"/>
                </a:spcBef>
              </a:pPr>
              <a:t>24</a:t>
            </a:fld>
            <a:endParaRPr lang="pt-BR" altLang="pt-BR"/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62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25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9683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4DEBFE0-0A46-431C-BDC7-55B06BFF2343}" type="slidenum">
              <a:rPr lang="pt-BR" altLang="pt-BR" smtClean="0"/>
              <a:pPr eaLnBrk="1" hangingPunct="1">
                <a:spcBef>
                  <a:spcPct val="0"/>
                </a:spcBef>
              </a:pPr>
              <a:t>26</a:t>
            </a:fld>
            <a:endParaRPr lang="pt-BR" altLang="pt-BR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0279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28B77E-0E6C-4B37-862B-077E30010B44}" type="slidenum">
              <a:rPr lang="pt-BR" altLang="pt-BR" smtClean="0"/>
              <a:pPr eaLnBrk="1" hangingPunct="1">
                <a:spcBef>
                  <a:spcPct val="0"/>
                </a:spcBef>
              </a:pPr>
              <a:t>27</a:t>
            </a:fld>
            <a:endParaRPr lang="pt-BR" altLang="pt-BR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2568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304CC16-23AA-41B3-B7E4-768CB628BC70}" type="slidenum">
              <a:rPr lang="pt-BR" altLang="pt-BR" smtClean="0"/>
              <a:pPr eaLnBrk="1" hangingPunct="1">
                <a:spcBef>
                  <a:spcPct val="0"/>
                </a:spcBef>
              </a:pPr>
              <a:t>28</a:t>
            </a:fld>
            <a:endParaRPr lang="pt-BR" altLang="pt-BR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244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35680FB-07DC-4395-A981-7204B7DB8B6B}" type="slidenum">
              <a:rPr lang="pt-BR" altLang="pt-BR" smtClean="0"/>
              <a:pPr eaLnBrk="1" hangingPunct="1">
                <a:spcBef>
                  <a:spcPct val="0"/>
                </a:spcBef>
              </a:pPr>
              <a:t>29</a:t>
            </a:fld>
            <a:endParaRPr lang="pt-BR" altLang="pt-BR"/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3818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978E5BB-9874-4370-AB16-82AFE4A6A614}" type="slidenum">
              <a:rPr lang="pt-BR" altLang="pt-BR" smtClean="0"/>
              <a:pPr eaLnBrk="1" hangingPunct="1">
                <a:spcBef>
                  <a:spcPct val="0"/>
                </a:spcBef>
              </a:pPr>
              <a:t>30</a:t>
            </a:fld>
            <a:endParaRPr lang="pt-BR" altLang="pt-BR"/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3513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D2DDE2F-2CB6-4B8F-81A2-917BD664DA07}" type="slidenum">
              <a:rPr lang="pt-BR" altLang="pt-BR" smtClean="0"/>
              <a:pPr eaLnBrk="1" hangingPunct="1">
                <a:spcBef>
                  <a:spcPct val="0"/>
                </a:spcBef>
              </a:pPr>
              <a:t>31</a:t>
            </a:fld>
            <a:endParaRPr lang="pt-BR" altLang="pt-BR"/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0111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18B3DA0-A665-4E1F-B959-43A83D69DA0B}" type="slidenum">
              <a:rPr lang="pt-BR" altLang="pt-BR" smtClean="0"/>
              <a:pPr eaLnBrk="1" hangingPunct="1">
                <a:spcBef>
                  <a:spcPct val="0"/>
                </a:spcBef>
              </a:pPr>
              <a:t>32</a:t>
            </a:fld>
            <a:endParaRPr lang="pt-BR" altLang="pt-BR"/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8851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E9EBE4-7271-4500-9BE4-ED1F478A96C9}" type="slidenum">
              <a:rPr lang="pt-BR" altLang="pt-BR" smtClean="0"/>
              <a:pPr eaLnBrk="1" hangingPunct="1">
                <a:spcBef>
                  <a:spcPct val="0"/>
                </a:spcBef>
              </a:pPr>
              <a:t>33</a:t>
            </a:fld>
            <a:endParaRPr lang="pt-BR" altLang="pt-BR"/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24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75F4BCD-B1CC-456D-AE95-506F9688FA2E}" type="slidenum">
              <a:rPr lang="pt-BR" altLang="pt-BR" smtClean="0"/>
              <a:pPr eaLnBrk="1" hangingPunct="1">
                <a:spcBef>
                  <a:spcPct val="0"/>
                </a:spcBef>
              </a:pPr>
              <a:t>34</a:t>
            </a:fld>
            <a:endParaRPr lang="pt-BR" altLang="pt-BR"/>
          </a:p>
        </p:txBody>
      </p:sp>
      <p:sp>
        <p:nvSpPr>
          <p:cNvPr id="83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536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C651AD-9065-4FDB-8607-7D6F87B9D110}" type="slidenum">
              <a:rPr lang="pt-BR" altLang="pt-BR" smtClean="0"/>
              <a:pPr eaLnBrk="1" hangingPunct="1">
                <a:spcBef>
                  <a:spcPct val="0"/>
                </a:spcBef>
              </a:pPr>
              <a:t>35</a:t>
            </a:fld>
            <a:endParaRPr lang="pt-BR" altLang="pt-BR"/>
          </a:p>
        </p:txBody>
      </p:sp>
      <p:sp>
        <p:nvSpPr>
          <p:cNvPr id="84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3184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1EA46A7-FBBE-4BFE-9891-21E7C808C5F6}" type="slidenum">
              <a:rPr lang="pt-BR" altLang="pt-BR" smtClean="0"/>
              <a:pPr eaLnBrk="1" hangingPunct="1">
                <a:spcBef>
                  <a:spcPct val="0"/>
                </a:spcBef>
              </a:pPr>
              <a:t>36</a:t>
            </a:fld>
            <a:endParaRPr lang="pt-BR" altLang="pt-BR"/>
          </a:p>
        </p:txBody>
      </p:sp>
      <p:sp>
        <p:nvSpPr>
          <p:cNvPr id="86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2822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110F2F-B588-4243-BC02-4F6F65CB1086}" type="slidenum">
              <a:rPr lang="pt-BR" altLang="pt-BR" smtClean="0"/>
              <a:pPr eaLnBrk="1" hangingPunct="1">
                <a:spcBef>
                  <a:spcPct val="0"/>
                </a:spcBef>
              </a:pPr>
              <a:t>37</a:t>
            </a:fld>
            <a:endParaRPr lang="pt-BR" altLang="pt-BR"/>
          </a:p>
        </p:txBody>
      </p:sp>
      <p:sp>
        <p:nvSpPr>
          <p:cNvPr id="87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3636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3485E68-A093-48EF-A0B3-2537CB70754A}" type="slidenum">
              <a:rPr lang="pt-BR" altLang="pt-BR" smtClean="0"/>
              <a:pPr eaLnBrk="1" hangingPunct="1">
                <a:spcBef>
                  <a:spcPct val="0"/>
                </a:spcBef>
              </a:pPr>
              <a:t>38</a:t>
            </a:fld>
            <a:endParaRPr lang="pt-BR" altLang="pt-BR"/>
          </a:p>
        </p:txBody>
      </p:sp>
      <p:sp>
        <p:nvSpPr>
          <p:cNvPr id="88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48165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39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7684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87DE87-3FB4-4285-98D1-8CE53DF688F6}" type="slidenum">
              <a:rPr lang="pt-BR" altLang="pt-BR" smtClean="0"/>
              <a:pPr eaLnBrk="1" hangingPunct="1">
                <a:spcBef>
                  <a:spcPct val="0"/>
                </a:spcBef>
              </a:pPr>
              <a:t>40</a:t>
            </a:fld>
            <a:endParaRPr lang="pt-BR" altLang="pt-BR"/>
          </a:p>
        </p:txBody>
      </p:sp>
      <p:sp>
        <p:nvSpPr>
          <p:cNvPr id="1003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397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FD999A5-64AF-44D1-B147-78C5D13CBDE6}" type="slidenum">
              <a:rPr lang="pt-BR" altLang="pt-BR" smtClean="0"/>
              <a:pPr eaLnBrk="1" hangingPunct="1">
                <a:spcBef>
                  <a:spcPct val="0"/>
                </a:spcBef>
              </a:pPr>
              <a:t>41</a:t>
            </a:fld>
            <a:endParaRPr lang="pt-BR" altLang="pt-BR"/>
          </a:p>
        </p:txBody>
      </p:sp>
      <p:sp>
        <p:nvSpPr>
          <p:cNvPr id="1013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9159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D3C8623-8732-4DAA-8024-8E2FA6104747}" type="slidenum">
              <a:rPr lang="pt-BR" altLang="pt-BR" smtClean="0"/>
              <a:pPr eaLnBrk="1" hangingPunct="1">
                <a:spcBef>
                  <a:spcPct val="0"/>
                </a:spcBef>
              </a:pPr>
              <a:t>42</a:t>
            </a:fld>
            <a:endParaRPr lang="pt-BR" altLang="pt-BR"/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829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44E7F3B-9E9A-4B28-AD00-0FF99CC88193}" type="slidenum">
              <a:rPr lang="pt-BR" altLang="pt-BR" smtClean="0"/>
              <a:pPr eaLnBrk="1" hangingPunct="1">
                <a:spcBef>
                  <a:spcPct val="0"/>
                </a:spcBef>
              </a:pPr>
              <a:t>43</a:t>
            </a:fld>
            <a:endParaRPr lang="pt-BR" altLang="pt-BR"/>
          </a:p>
        </p:txBody>
      </p:sp>
      <p:sp>
        <p:nvSpPr>
          <p:cNvPr id="1034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1579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9518C-B73E-9269-466D-52B921B47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7">
            <a:extLst>
              <a:ext uri="{FF2B5EF4-FFF2-40B4-BE49-F238E27FC236}">
                <a16:creationId xmlns:a16="http://schemas.microsoft.com/office/drawing/2014/main" id="{2BE6AB1F-1901-072A-C0EE-9889B55216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44E7F3B-9E9A-4B28-AD00-0FF99CC88193}" type="slidenum">
              <a:rPr lang="pt-BR" altLang="pt-BR" smtClean="0"/>
              <a:pPr eaLnBrk="1" hangingPunct="1">
                <a:spcBef>
                  <a:spcPct val="0"/>
                </a:spcBef>
              </a:pPr>
              <a:t>44</a:t>
            </a:fld>
            <a:endParaRPr lang="pt-BR" altLang="pt-BR"/>
          </a:p>
        </p:txBody>
      </p:sp>
      <p:sp>
        <p:nvSpPr>
          <p:cNvPr id="103427" name="Rectangle 2">
            <a:extLst>
              <a:ext uri="{FF2B5EF4-FFF2-40B4-BE49-F238E27FC236}">
                <a16:creationId xmlns:a16="http://schemas.microsoft.com/office/drawing/2014/main" id="{FBC7B753-1190-57C0-B6EA-C5DAC34140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8" name="Rectangle 3">
            <a:extLst>
              <a:ext uri="{FF2B5EF4-FFF2-40B4-BE49-F238E27FC236}">
                <a16:creationId xmlns:a16="http://schemas.microsoft.com/office/drawing/2014/main" id="{8E7E440E-83A2-0F10-BF28-1FFAD09E01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681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FE915B-5BDE-4CBF-9676-58606D91B6C8}" type="slidenum">
              <a:rPr lang="pt-BR" altLang="pt-BR" smtClean="0"/>
              <a:pPr eaLnBrk="1" hangingPunct="1">
                <a:spcBef>
                  <a:spcPct val="0"/>
                </a:spcBef>
              </a:pPr>
              <a:t>45</a:t>
            </a:fld>
            <a:endParaRPr lang="pt-BR" altLang="pt-BR"/>
          </a:p>
        </p:txBody>
      </p:sp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5357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CF4B6-27B8-A0AC-F153-D199C0759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F2C11F16-240A-5B23-84F9-260E4DD3E73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FE915B-5BDE-4CBF-9676-58606D91B6C8}" type="slidenum">
              <a:rPr lang="pt-BR" altLang="pt-BR" smtClean="0"/>
              <a:pPr eaLnBrk="1" hangingPunct="1">
                <a:spcBef>
                  <a:spcPct val="0"/>
                </a:spcBef>
              </a:pPr>
              <a:t>46</a:t>
            </a:fld>
            <a:endParaRPr lang="pt-BR" altLang="pt-BR"/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09A7A595-4DD4-A31A-11F6-470920C527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>
            <a:extLst>
              <a:ext uri="{FF2B5EF4-FFF2-40B4-BE49-F238E27FC236}">
                <a16:creationId xmlns:a16="http://schemas.microsoft.com/office/drawing/2014/main" id="{4E00E14C-7768-3165-882C-B17BDE4C2B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95368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E6E19F0-BC51-4FD2-BE1F-425535BBE7D6}" type="slidenum">
              <a:rPr lang="pt-BR" altLang="pt-BR" smtClean="0"/>
              <a:pPr eaLnBrk="1" hangingPunct="1">
                <a:spcBef>
                  <a:spcPct val="0"/>
                </a:spcBef>
              </a:pPr>
              <a:t>47</a:t>
            </a:fld>
            <a:endParaRPr lang="pt-BR" altLang="pt-BR"/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3927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A73C5-B420-495C-B8BA-A2DAA7BB40D6}" type="slidenum">
              <a:rPr lang="pt-BR" altLang="pt-BR" smtClean="0"/>
              <a:pPr eaLnBrk="1" hangingPunct="1">
                <a:spcBef>
                  <a:spcPct val="0"/>
                </a:spcBef>
              </a:pPr>
              <a:t>48</a:t>
            </a:fld>
            <a:endParaRPr lang="pt-BR" altLang="pt-BR"/>
          </a:p>
        </p:txBody>
      </p:sp>
      <p:sp>
        <p:nvSpPr>
          <p:cNvPr id="90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81673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0FFA25-43ED-4FE7-AE41-FBA6388EAA81}" type="slidenum">
              <a:rPr lang="pt-BR" altLang="pt-BR" smtClean="0"/>
              <a:pPr eaLnBrk="1" hangingPunct="1">
                <a:spcBef>
                  <a:spcPct val="0"/>
                </a:spcBef>
              </a:pPr>
              <a:t>49</a:t>
            </a:fld>
            <a:endParaRPr lang="pt-BR" altLang="pt-BR"/>
          </a:p>
        </p:txBody>
      </p:sp>
      <p:sp>
        <p:nvSpPr>
          <p:cNvPr id="91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81775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FA2C51B-881C-4090-BF79-E4F8DEE6599D}" type="slidenum">
              <a:rPr lang="pt-BR" altLang="pt-BR" smtClean="0"/>
              <a:pPr eaLnBrk="1" hangingPunct="1">
                <a:spcBef>
                  <a:spcPct val="0"/>
                </a:spcBef>
              </a:pPr>
              <a:t>50</a:t>
            </a:fld>
            <a:endParaRPr lang="pt-BR" altLang="pt-BR"/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939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75C3664-2429-44D3-B03A-7F7ADE21334B}" type="slidenum">
              <a:rPr lang="pt-BR" altLang="pt-BR" smtClean="0"/>
              <a:pPr eaLnBrk="1" hangingPunct="1">
                <a:spcBef>
                  <a:spcPct val="0"/>
                </a:spcBef>
              </a:pPr>
              <a:t>51</a:t>
            </a:fld>
            <a:endParaRPr lang="pt-BR" altLang="pt-BR"/>
          </a:p>
        </p:txBody>
      </p:sp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540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3B53D7-9B47-478D-B807-94C9A8B6F602}" type="slidenum">
              <a:rPr lang="pt-BR" altLang="pt-BR" smtClean="0"/>
              <a:pPr eaLnBrk="1" hangingPunct="1">
                <a:spcBef>
                  <a:spcPct val="0"/>
                </a:spcBef>
              </a:pPr>
              <a:t>52</a:t>
            </a:fld>
            <a:endParaRPr lang="pt-BR" altLang="pt-BR"/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88714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E17AE25-6509-488B-B9A3-DAE6F65C3399}" type="slidenum">
              <a:rPr lang="pt-BR" altLang="pt-BR" smtClean="0"/>
              <a:pPr eaLnBrk="1" hangingPunct="1">
                <a:spcBef>
                  <a:spcPct val="0"/>
                </a:spcBef>
              </a:pPr>
              <a:t>53</a:t>
            </a:fld>
            <a:endParaRPr lang="pt-BR" altLang="pt-BR"/>
          </a:p>
        </p:txBody>
      </p:sp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97866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9065E2B-A21D-4FBD-AB89-60BDD3BBE011}" type="slidenum">
              <a:rPr lang="pt-BR" altLang="pt-BR" smtClean="0"/>
              <a:pPr eaLnBrk="1" hangingPunct="1">
                <a:spcBef>
                  <a:spcPct val="0"/>
                </a:spcBef>
              </a:pPr>
              <a:t>54</a:t>
            </a:fld>
            <a:endParaRPr lang="pt-BR" altLang="pt-BR"/>
          </a:p>
        </p:txBody>
      </p:sp>
      <p:sp>
        <p:nvSpPr>
          <p:cNvPr id="962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1714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645B6BF-E868-45AE-B1D1-AADE681C0B59}" type="slidenum">
              <a:rPr lang="pt-BR" altLang="pt-BR" smtClean="0"/>
              <a:pPr eaLnBrk="1" hangingPunct="1">
                <a:spcBef>
                  <a:spcPct val="0"/>
                </a:spcBef>
              </a:pPr>
              <a:t>55</a:t>
            </a:fld>
            <a:endParaRPr lang="pt-BR" altLang="pt-BR"/>
          </a:p>
        </p:txBody>
      </p:sp>
      <p:sp>
        <p:nvSpPr>
          <p:cNvPr id="972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66634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29AEF03-DB97-4097-A06F-E531AD85C47B}" type="slidenum">
              <a:rPr lang="pt-BR" altLang="pt-BR" smtClean="0"/>
              <a:pPr eaLnBrk="1" hangingPunct="1">
                <a:spcBef>
                  <a:spcPct val="0"/>
                </a:spcBef>
              </a:pPr>
              <a:t>56</a:t>
            </a:fld>
            <a:endParaRPr lang="pt-BR" altLang="pt-BR"/>
          </a:p>
        </p:txBody>
      </p:sp>
      <p:sp>
        <p:nvSpPr>
          <p:cNvPr id="983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80291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D2A2F5-1494-4DA6-8053-64F591FF388B}" type="slidenum">
              <a:rPr lang="pt-BR" altLang="pt-BR" smtClean="0"/>
              <a:pPr eaLnBrk="1" hangingPunct="1">
                <a:spcBef>
                  <a:spcPct val="0"/>
                </a:spcBef>
              </a:pPr>
              <a:t>57</a:t>
            </a:fld>
            <a:endParaRPr lang="pt-BR" altLang="pt-BR"/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6432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8373-5D93-251B-2BAA-80F069AD0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>
            <a:extLst>
              <a:ext uri="{FF2B5EF4-FFF2-40B4-BE49-F238E27FC236}">
                <a16:creationId xmlns:a16="http://schemas.microsoft.com/office/drawing/2014/main" id="{78A2E34A-2070-D6DB-575F-A7741396B9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D2A2F5-1494-4DA6-8053-64F591FF388B}" type="slidenum">
              <a:rPr lang="pt-BR" altLang="pt-BR" smtClean="0"/>
              <a:pPr eaLnBrk="1" hangingPunct="1">
                <a:spcBef>
                  <a:spcPct val="0"/>
                </a:spcBef>
              </a:pPr>
              <a:t>58</a:t>
            </a:fld>
            <a:endParaRPr lang="pt-BR" altLang="pt-BR"/>
          </a:p>
        </p:txBody>
      </p:sp>
      <p:sp>
        <p:nvSpPr>
          <p:cNvPr id="99331" name="Rectangle 2">
            <a:extLst>
              <a:ext uri="{FF2B5EF4-FFF2-40B4-BE49-F238E27FC236}">
                <a16:creationId xmlns:a16="http://schemas.microsoft.com/office/drawing/2014/main" id="{257C350A-1C83-D958-E1B3-B2C3549237E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2" name="Rectangle 3">
            <a:extLst>
              <a:ext uri="{FF2B5EF4-FFF2-40B4-BE49-F238E27FC236}">
                <a16:creationId xmlns:a16="http://schemas.microsoft.com/office/drawing/2014/main" id="{078586ED-47F6-4BA5-A3A8-A6890B20E8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92549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03B45BC-B823-43C5-B0A8-A5C40CF8C760}" type="slidenum">
              <a:rPr lang="pt-BR" altLang="pt-BR" smtClean="0"/>
              <a:pPr eaLnBrk="1" hangingPunct="1">
                <a:spcBef>
                  <a:spcPct val="0"/>
                </a:spcBef>
              </a:pPr>
              <a:t>59</a:t>
            </a:fld>
            <a:endParaRPr lang="pt-BR" altLang="pt-BR"/>
          </a:p>
        </p:txBody>
      </p:sp>
      <p:sp>
        <p:nvSpPr>
          <p:cNvPr id="105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9357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BE2DA67-01E0-4AED-8869-C732CB9E15FA}" type="slidenum">
              <a:rPr lang="pt-BR" altLang="pt-BR" smtClean="0"/>
              <a:pPr eaLnBrk="1" hangingPunct="1">
                <a:spcBef>
                  <a:spcPct val="0"/>
                </a:spcBef>
              </a:pPr>
              <a:t>60</a:t>
            </a:fld>
            <a:endParaRPr lang="pt-BR" altLang="pt-BR"/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0442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E3894A1-7255-4A2F-A5C2-0EDAB62A9456}" type="slidenum">
              <a:rPr lang="pt-BR" altLang="pt-BR" smtClean="0"/>
              <a:pPr eaLnBrk="1" hangingPunct="1">
                <a:spcBef>
                  <a:spcPct val="0"/>
                </a:spcBef>
              </a:pPr>
              <a:t>61</a:t>
            </a:fld>
            <a:endParaRPr lang="pt-BR" altLang="pt-BR"/>
          </a:p>
        </p:txBody>
      </p:sp>
      <p:sp>
        <p:nvSpPr>
          <p:cNvPr id="1075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4706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F88546-3551-4A5B-998C-F737611CC600}" type="slidenum">
              <a:rPr lang="pt-BR" altLang="pt-BR" smtClean="0"/>
              <a:pPr eaLnBrk="1" hangingPunct="1">
                <a:spcBef>
                  <a:spcPct val="0"/>
                </a:spcBef>
              </a:pPr>
              <a:t>62</a:t>
            </a:fld>
            <a:endParaRPr lang="pt-BR" altLang="pt-BR"/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55235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D4F4DA-940F-45D0-A49C-F948BF51D6A0}" type="slidenum">
              <a:rPr lang="pt-BR" altLang="pt-BR" smtClean="0"/>
              <a:pPr eaLnBrk="1" hangingPunct="1">
                <a:spcBef>
                  <a:spcPct val="0"/>
                </a:spcBef>
              </a:pPr>
              <a:t>63</a:t>
            </a:fld>
            <a:endParaRPr lang="pt-BR" altLang="pt-BR"/>
          </a:p>
        </p:txBody>
      </p:sp>
      <p:sp>
        <p:nvSpPr>
          <p:cNvPr id="1095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56643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64</a:t>
            </a:fld>
            <a:endParaRPr lang="pt-BR" altLang="pt-BR"/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7261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AAFB-B515-6EBF-6304-D96FF266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DC12420F-63E2-E71E-276A-559BD88C82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65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72FA3CD5-7B1C-3FA8-DA7C-9F4CCD832B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14D8BDC5-B4A8-F9B1-7214-8B7CE24372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379138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93B45-D63C-40C3-9B3A-51F0F69BB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6527FB2C-54BB-89B4-2CC5-F8731B9613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66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2B9B62D0-56EF-7583-E4A2-E9DAD8F4A1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7099854D-B2CF-B5CC-C75E-67FD2A9E09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35943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B09B-6006-A3D6-CC76-867BC5CE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0886E2B3-D7EB-6BDC-BD2C-02309901FE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67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6EB8A093-22EB-11AB-1A16-1C57B26D5D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34EC0F18-40DD-6809-83FE-5B02C6DE63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5661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CE673-203D-4DB2-6506-462CEABF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15E22232-F722-D01D-4910-65DD1BBBE84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68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4133568A-0D24-13B9-3047-BDAF4EFBC4E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04716A4C-54C9-925A-4A5B-1802252A4B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274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5C1A2D-1331-4F5A-A878-3C7F59AAA78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7507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E0E4EA-90D7-444E-B155-E7878FEDFFD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164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6EAF6-CB7D-4662-B8DA-2E5446E818B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441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0EA9-87BA-43FB-A1D8-675433CC94B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94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FDE1C1-C0D8-4989-BEF4-CB5DF3D8648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744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CCD425-A3D0-4D23-9620-9225C60F44D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00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1FE0E6-B83E-4EE3-A4E5-70D92A29097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5739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27AFFE2-3009-461E-977F-3CBAE6135CD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49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299BDD-E7F1-407A-A810-55A4B3B182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305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E683F28-8A7F-484C-B8F8-BD0E049C22B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506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A880FF-8D7B-4C28-B05E-F0ED715C474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339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145D38D-ECB6-4E7F-A4A8-516474F86760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5582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7F0B0EB4-DFEB-4319-9981-D065C8DD70E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6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4.bin"/><Relationship Id="rId7" Type="http://schemas.openxmlformats.org/officeDocument/2006/relationships/oleObject" Target="../embeddings/oleObject2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7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9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8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2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4.wmf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wmf"/><Relationship Id="rId5" Type="http://schemas.openxmlformats.org/officeDocument/2006/relationships/oleObject" Target="../embeddings/oleObject13.bin"/><Relationship Id="rId10" Type="http://schemas.openxmlformats.org/officeDocument/2006/relationships/image" Target="../media/image49.wmf"/><Relationship Id="rId4" Type="http://schemas.openxmlformats.org/officeDocument/2006/relationships/image" Target="../media/image46.wmf"/><Relationship Id="rId9" Type="http://schemas.openxmlformats.org/officeDocument/2006/relationships/oleObject" Target="../embeddings/oleObject15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wmf"/><Relationship Id="rId13" Type="http://schemas.openxmlformats.org/officeDocument/2006/relationships/oleObject" Target="../embeddings/oleObject21.bin"/><Relationship Id="rId3" Type="http://schemas.openxmlformats.org/officeDocument/2006/relationships/oleObject" Target="../embeddings/oleObject16.bin"/><Relationship Id="rId7" Type="http://schemas.openxmlformats.org/officeDocument/2006/relationships/oleObject" Target="../embeddings/oleObject18.bin"/><Relationship Id="rId12" Type="http://schemas.openxmlformats.org/officeDocument/2006/relationships/image" Target="../media/image48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wmf"/><Relationship Id="rId11" Type="http://schemas.openxmlformats.org/officeDocument/2006/relationships/oleObject" Target="../embeddings/oleObject20.bin"/><Relationship Id="rId5" Type="http://schemas.openxmlformats.org/officeDocument/2006/relationships/oleObject" Target="../embeddings/oleObject17.bin"/><Relationship Id="rId10" Type="http://schemas.openxmlformats.org/officeDocument/2006/relationships/image" Target="../media/image47.wmf"/><Relationship Id="rId4" Type="http://schemas.openxmlformats.org/officeDocument/2006/relationships/image" Target="../media/image50.wmf"/><Relationship Id="rId9" Type="http://schemas.openxmlformats.org/officeDocument/2006/relationships/oleObject" Target="../embeddings/oleObject19.bin"/><Relationship Id="rId14" Type="http://schemas.openxmlformats.org/officeDocument/2006/relationships/image" Target="../media/image53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4.wmf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wmf"/><Relationship Id="rId3" Type="http://schemas.openxmlformats.org/officeDocument/2006/relationships/image" Target="../media/image48.png"/><Relationship Id="rId7" Type="http://schemas.openxmlformats.org/officeDocument/2006/relationships/oleObject" Target="../embeddings/oleObject24.bin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.wmf"/><Relationship Id="rId5" Type="http://schemas.openxmlformats.org/officeDocument/2006/relationships/oleObject" Target="../embeddings/oleObject23.bin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7.wmf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59.png"/><Relationship Id="rId4" Type="http://schemas.microsoft.com/office/2007/relationships/hdphoto" Target="../media/hdphoto1.wdp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78.png"/><Relationship Id="rId4" Type="http://schemas.openxmlformats.org/officeDocument/2006/relationships/image" Target="../media/image61.png"/><Relationship Id="rId9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Estatística Não Paramétrica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272F8CB-F353-2130-F8C6-6EDBE69086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31B837-4871-4297-9099-96DCA5B1AC5D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20" name="CaixaDeTexto 19" descr=" 16"/>
          <p:cNvSpPr txBox="1"/>
          <p:nvPr/>
        </p:nvSpPr>
        <p:spPr>
          <a:xfrm>
            <a:off x="530658" y="1666543"/>
            <a:ext cx="792977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Muitas vezes, determinar qual análise estatística usar para responder alguma questão não é simples.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O comportamento estatístico (distribuição) da variável estudada pode ser desconhecido e/ou seus parâmetros são de difícil estimação, ou então a variável não segue a distribuição exigida pela análise estatística selecionada.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As vezes, determinar qual o parâmetro que representa bem o fenômeno estudado pode também não ser uma tarefa fácil. Por exemplo, em distribuições muito assimétricas, a média e a variância podem não representar bem o comportamento da variável estudada. Mediana e distância interquartil são alternativas nesses casos?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Em algumas situações, o tamanho da amostra é muito reduzido de modo que as propriedades estatísticas do estimador do parâmetro de interesse não podem ser garantidas (p.ex. Teorema do Limite Central)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Vamos então analisar alguns exemplos...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4099" name="Grupo 4"/>
          <p:cNvGrpSpPr>
            <a:grpSpLocks/>
          </p:cNvGrpSpPr>
          <p:nvPr/>
        </p:nvGrpSpPr>
        <p:grpSpPr bwMode="auto">
          <a:xfrm>
            <a:off x="684212" y="1916831"/>
            <a:ext cx="1583829" cy="1935725"/>
            <a:chOff x="585788" y="1606550"/>
            <a:chExt cx="1825625" cy="2507863"/>
          </a:xfrm>
        </p:grpSpPr>
        <p:pic>
          <p:nvPicPr>
            <p:cNvPr id="4113" name="Imagem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5788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4" name="CaixaDeTexto 5"/>
            <p:cNvSpPr txBox="1">
              <a:spLocks noChangeArrowheads="1"/>
            </p:cNvSpPr>
            <p:nvPr/>
          </p:nvSpPr>
          <p:spPr bwMode="auto">
            <a:xfrm>
              <a:off x="971854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R5G4B3</a:t>
              </a:r>
            </a:p>
          </p:txBody>
        </p:sp>
      </p:grpSp>
      <p:grpSp>
        <p:nvGrpSpPr>
          <p:cNvPr id="4100" name="Grupo 3"/>
          <p:cNvGrpSpPr>
            <a:grpSpLocks/>
          </p:cNvGrpSpPr>
          <p:nvPr/>
        </p:nvGrpSpPr>
        <p:grpSpPr bwMode="auto">
          <a:xfrm>
            <a:off x="2700337" y="1916831"/>
            <a:ext cx="1583829" cy="1935725"/>
            <a:chOff x="2601913" y="1606550"/>
            <a:chExt cx="1825625" cy="2507863"/>
          </a:xfrm>
        </p:grpSpPr>
        <p:pic>
          <p:nvPicPr>
            <p:cNvPr id="4111" name="Imagem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1913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2" name="CaixaDeTexto 8"/>
            <p:cNvSpPr txBox="1">
              <a:spLocks noChangeArrowheads="1"/>
            </p:cNvSpPr>
            <p:nvPr/>
          </p:nvSpPr>
          <p:spPr bwMode="auto">
            <a:xfrm>
              <a:off x="2987979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R3G4B5</a:t>
              </a:r>
            </a:p>
          </p:txBody>
        </p:sp>
      </p:grpSp>
      <p:grpSp>
        <p:nvGrpSpPr>
          <p:cNvPr id="4101" name="Grupo 2"/>
          <p:cNvGrpSpPr>
            <a:grpSpLocks/>
          </p:cNvGrpSpPr>
          <p:nvPr/>
        </p:nvGrpSpPr>
        <p:grpSpPr bwMode="auto">
          <a:xfrm>
            <a:off x="4716462" y="1916831"/>
            <a:ext cx="1583829" cy="1935725"/>
            <a:chOff x="4618038" y="1606550"/>
            <a:chExt cx="1825625" cy="2507863"/>
          </a:xfrm>
        </p:grpSpPr>
        <p:pic>
          <p:nvPicPr>
            <p:cNvPr id="4109" name="Imagem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8038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0" name="CaixaDeTexto 9"/>
            <p:cNvSpPr txBox="1">
              <a:spLocks noChangeArrowheads="1"/>
            </p:cNvSpPr>
            <p:nvPr/>
          </p:nvSpPr>
          <p:spPr bwMode="auto">
            <a:xfrm>
              <a:off x="5004104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R4G3B5</a:t>
              </a:r>
            </a:p>
          </p:txBody>
        </p:sp>
      </p:grpSp>
      <p:grpSp>
        <p:nvGrpSpPr>
          <p:cNvPr id="4102" name="Grupo 1"/>
          <p:cNvGrpSpPr>
            <a:grpSpLocks/>
          </p:cNvGrpSpPr>
          <p:nvPr/>
        </p:nvGrpSpPr>
        <p:grpSpPr bwMode="auto">
          <a:xfrm>
            <a:off x="6732587" y="1916831"/>
            <a:ext cx="1583829" cy="1935725"/>
            <a:chOff x="6634163" y="1606550"/>
            <a:chExt cx="1825625" cy="2507863"/>
          </a:xfrm>
        </p:grpSpPr>
        <p:pic>
          <p:nvPicPr>
            <p:cNvPr id="4107" name="Imagem 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34163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08" name="CaixaDeTexto 10"/>
            <p:cNvSpPr txBox="1">
              <a:spLocks noChangeArrowheads="1"/>
            </p:cNvSpPr>
            <p:nvPr/>
          </p:nvSpPr>
          <p:spPr bwMode="auto">
            <a:xfrm>
              <a:off x="7020228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R5G3B4</a:t>
              </a:r>
            </a:p>
          </p:txBody>
        </p:sp>
      </p:grpSp>
      <p:sp>
        <p:nvSpPr>
          <p:cNvPr id="16" name="CaixaDeTexto 15"/>
          <p:cNvSpPr txBox="1"/>
          <p:nvPr/>
        </p:nvSpPr>
        <p:spPr>
          <a:xfrm>
            <a:off x="539750" y="3867150"/>
            <a:ext cx="59347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1400" dirty="0">
                <a:latin typeface="Tahoma" panose="020B0604030504040204" pitchFamily="34" charset="0"/>
              </a:rPr>
              <a:t>Qual destas composições coloridas tem a melhor </a:t>
            </a:r>
            <a:r>
              <a:rPr lang="pt-BR" sz="1400" dirty="0" err="1">
                <a:latin typeface="Tahoma" panose="020B0604030504040204" pitchFamily="34" charset="0"/>
              </a:rPr>
              <a:t>interpretabilidade</a:t>
            </a:r>
            <a:r>
              <a:rPr lang="pt-BR" sz="1400" dirty="0">
                <a:latin typeface="Tahoma" panose="020B0604030504040204" pitchFamily="34" charset="0"/>
              </a:rPr>
              <a:t>?</a:t>
            </a:r>
          </a:p>
          <a:p>
            <a:pPr marL="355600">
              <a:defRPr/>
            </a:pPr>
            <a:r>
              <a:rPr lang="pt-BR" sz="1400" dirty="0">
                <a:latin typeface="Tahoma" panose="020B0604030504040204" pitchFamily="34" charset="0"/>
              </a:rPr>
              <a:t>Depende de qual a aplicação...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Detecção de desmatamentos?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Avaliação de áreas degradadas?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Definição de níveis de regeneração?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Delimitação de corpos d’água?</a:t>
            </a:r>
          </a:p>
          <a:p>
            <a:pPr marL="355600" indent="-355600">
              <a:defRPr/>
            </a:pPr>
            <a:endParaRPr lang="pt-BR" sz="1400" dirty="0"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sz="1400" dirty="0">
                <a:latin typeface="Tahoma" panose="020B0604030504040204" pitchFamily="34" charset="0"/>
              </a:rPr>
              <a:t>Podemos dizer que há uma composição preferencial para uma dada aplicação?</a:t>
            </a:r>
          </a:p>
          <a:p>
            <a:pPr marL="355600" indent="-355600">
              <a:defRPr/>
            </a:pPr>
            <a:endParaRPr lang="pt-BR" sz="1400" dirty="0"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sz="1400" dirty="0">
                <a:latin typeface="Tahoma" panose="020B0604030504040204" pitchFamily="34" charset="0"/>
              </a:rPr>
              <a:t>Que tal se várias pessoas dessem uma nota a cada uma indicando quais elas mais preferem? Sendo 1 a melhor até 4 a pior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294638"/>
              </p:ext>
            </p:extLst>
          </p:nvPr>
        </p:nvGraphicFramePr>
        <p:xfrm>
          <a:off x="6489644" y="4365104"/>
          <a:ext cx="2474844" cy="17483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8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856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R5G4B3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R3G4B5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R4G3B5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R5G3B4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9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856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CaixaDeTexto 6"/>
          <p:cNvSpPr txBox="1">
            <a:spLocks noChangeArrowheads="1"/>
          </p:cNvSpPr>
          <p:nvPr/>
        </p:nvSpPr>
        <p:spPr bwMode="auto">
          <a:xfrm rot="-5400000">
            <a:off x="5642801" y="5228352"/>
            <a:ext cx="141737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000" dirty="0">
                <a:latin typeface="Tahoma" panose="020B0604030504040204" pitchFamily="34" charset="0"/>
              </a:rPr>
              <a:t>(1 – melhor; 4 – pior)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31B837-4871-4297-9099-96DCA5B1AC5D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6474522" y="6146140"/>
            <a:ext cx="256495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lvl="0" indent="-355600">
              <a:defRPr/>
            </a:pP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Será que há evidências para escolher a melhor?</a:t>
            </a:r>
          </a:p>
        </p:txBody>
      </p:sp>
      <p:sp>
        <p:nvSpPr>
          <p:cNvPr id="3" name="Retângulo 2"/>
          <p:cNvSpPr/>
          <p:nvPr/>
        </p:nvSpPr>
        <p:spPr>
          <a:xfrm>
            <a:off x="539750" y="1412776"/>
            <a:ext cx="11320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1</a:t>
            </a:r>
          </a:p>
        </p:txBody>
      </p:sp>
    </p:spTree>
    <p:extLst>
      <p:ext uri="{BB962C8B-B14F-4D97-AF65-F5344CB8AC3E}">
        <p14:creationId xmlns:p14="http://schemas.microsoft.com/office/powerpoint/2010/main" val="1416796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 autoUpdateAnimBg="0"/>
      <p:bldP spid="7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6" name="CaixaDeTexto 15"/>
          <p:cNvSpPr txBox="1"/>
          <p:nvPr/>
        </p:nvSpPr>
        <p:spPr>
          <a:xfrm>
            <a:off x="900113" y="1966188"/>
            <a:ext cx="7775575" cy="30469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Duas amostras foram obtidas a partir de duas populações distintas:</a:t>
            </a:r>
          </a:p>
          <a:p>
            <a:pPr marL="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Amostra 1: 1003, 545, 875, 442, 13, 1209, 996, 57, 2356, 397	(n</a:t>
            </a:r>
            <a:r>
              <a:rPr lang="pt-BR" baseline="-25000" dirty="0">
                <a:latin typeface="Tahoma" panose="020B0604030504040204" pitchFamily="34" charset="0"/>
              </a:rPr>
              <a:t>1</a:t>
            </a:r>
            <a:r>
              <a:rPr lang="pt-BR" dirty="0">
                <a:latin typeface="Tahoma" panose="020B0604030504040204" pitchFamily="34" charset="0"/>
              </a:rPr>
              <a:t> = 10)</a:t>
            </a:r>
          </a:p>
          <a:p>
            <a:pPr marL="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Amostra 2: 233, 43, 157, 338, 113, 5, 99, 302, 475		(n</a:t>
            </a:r>
            <a:r>
              <a:rPr lang="pt-BR" baseline="-25000" dirty="0">
                <a:latin typeface="Tahoma" panose="020B0604030504040204" pitchFamily="34" charset="0"/>
              </a:rPr>
              <a:t>2</a:t>
            </a:r>
            <a:r>
              <a:rPr lang="pt-BR" dirty="0">
                <a:latin typeface="Tahoma" panose="020B0604030504040204" pitchFamily="34" charset="0"/>
              </a:rPr>
              <a:t> = 9)</a:t>
            </a:r>
          </a:p>
          <a:p>
            <a:pPr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61950" indent="-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Podemos afirmar que a população 1 apresenta, em geral, uma tendência de ter valores maiores que a população 2?</a:t>
            </a:r>
          </a:p>
          <a:p>
            <a:pPr marL="361950" indent="-361950"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61950" indent="-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Neste caso, não há nenhum conhecimento prévio sobre a natureza dos dados!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AA3A44-8D27-46A1-AD47-D2BB6B998327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5" name="Retângulo 4"/>
          <p:cNvSpPr/>
          <p:nvPr/>
        </p:nvSpPr>
        <p:spPr>
          <a:xfrm>
            <a:off x="539750" y="1412776"/>
            <a:ext cx="116410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147" name="CaixaDeTexto 15"/>
          <p:cNvSpPr txBox="1">
            <a:spLocks noChangeArrowheads="1"/>
          </p:cNvSpPr>
          <p:nvPr/>
        </p:nvSpPr>
        <p:spPr bwMode="auto">
          <a:xfrm>
            <a:off x="755650" y="1887215"/>
            <a:ext cx="7775575" cy="411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uma amostra de 200 valores, obteve-se o seguinte histograma:</a:t>
            </a:r>
          </a:p>
        </p:txBody>
      </p:sp>
      <p:sp>
        <p:nvSpPr>
          <p:cNvPr id="6" name="CaixaDeTexto 5"/>
          <p:cNvSpPr txBox="1">
            <a:spLocks noChangeArrowheads="1"/>
          </p:cNvSpPr>
          <p:nvPr/>
        </p:nvSpPr>
        <p:spPr bwMode="auto">
          <a:xfrm>
            <a:off x="755650" y="5440363"/>
            <a:ext cx="777557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Podemos afirmar que esta amostra foi retirada de uma população com distribuição uniforme?</a:t>
            </a:r>
          </a:p>
        </p:txBody>
      </p:sp>
      <p:grpSp>
        <p:nvGrpSpPr>
          <p:cNvPr id="6149" name="Grupo 2"/>
          <p:cNvGrpSpPr>
            <a:grpSpLocks/>
          </p:cNvGrpSpPr>
          <p:nvPr/>
        </p:nvGrpSpPr>
        <p:grpSpPr bwMode="auto">
          <a:xfrm>
            <a:off x="2156661" y="2370138"/>
            <a:ext cx="4823576" cy="2844800"/>
            <a:chOff x="2157412" y="2370138"/>
            <a:chExt cx="4822826" cy="2844800"/>
          </a:xfrm>
        </p:grpSpPr>
        <p:graphicFrame>
          <p:nvGraphicFramePr>
            <p:cNvPr id="6151" name="Gráfico 4"/>
            <p:cNvGraphicFramePr>
              <a:graphicFrameLocks/>
            </p:cNvGraphicFramePr>
            <p:nvPr/>
          </p:nvGraphicFramePr>
          <p:xfrm>
            <a:off x="2306638" y="2370138"/>
            <a:ext cx="4673600" cy="284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3" imgW="4676037" imgH="2840982" progId="Excel.Chart.8">
                    <p:embed/>
                  </p:oleObj>
                </mc:Choice>
                <mc:Fallback>
                  <p:oleObj r:id="rId3" imgW="4676037" imgH="2840982" progId="Excel.Chart.8">
                    <p:embed/>
                    <p:pic>
                      <p:nvPicPr>
                        <p:cNvPr id="6151" name="Gráfico 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06638" y="2370138"/>
                          <a:ext cx="4673600" cy="2844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" name="CaixaDeTexto 1"/>
            <p:cNvSpPr txBox="1"/>
            <p:nvPr/>
          </p:nvSpPr>
          <p:spPr>
            <a:xfrm rot="16200000">
              <a:off x="1598104" y="3587812"/>
              <a:ext cx="1372491" cy="25387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pt-BR" sz="1050" dirty="0">
                  <a:latin typeface="Tahoma" panose="020B0604030504040204" pitchFamily="34" charset="0"/>
                </a:rPr>
                <a:t>Frequência absoluta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29B11B-1FBA-487B-81B8-DFC7282898D4}" type="slidenum">
              <a:rPr lang="pt-BR"/>
              <a:pPr>
                <a:defRPr/>
              </a:pPr>
              <a:t>5</a:t>
            </a:fld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539750" y="1412776"/>
            <a:ext cx="116410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Estatística Paramétrica X Não Paramétrica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395536" y="1406381"/>
            <a:ext cx="8496944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Estatísticas Paramétricas </a:t>
            </a:r>
            <a:r>
              <a:rPr lang="pt-BR" altLang="pt-BR" sz="1600" dirty="0">
                <a:latin typeface="Tahoma" panose="020B0604030504040204" pitchFamily="34" charset="0"/>
              </a:rPr>
              <a:t>exigem grande número de condições para que sejam válidas e tenham alto poder (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1 –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</a:rPr>
              <a:t>, probabilidade de rejeitar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quando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falso). Estas condições, em geral, são supostas válidas (ou previamente testadas)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Por exemplo, a Análise de Variância (ANOVA) pressupõe: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independência das amostras;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tratamentos normalmente distribuídos;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tratamentos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homocedásticos</a:t>
            </a:r>
            <a:r>
              <a:rPr lang="pt-BR" altLang="pt-BR" sz="1600" dirty="0">
                <a:latin typeface="Tahoma" panose="020B0604030504040204" pitchFamily="34" charset="0"/>
              </a:rPr>
              <a:t> (mesmas variâncias)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Estatísticas Não Paramétricas </a:t>
            </a:r>
            <a:r>
              <a:rPr lang="pt-BR" altLang="pt-BR" sz="1600" dirty="0">
                <a:latin typeface="Tahoma" panose="020B0604030504040204" pitchFamily="34" charset="0"/>
              </a:rPr>
              <a:t>baseiam-se em suposições mais brandas e, quase sempre, consideram a ordem (posto ou </a:t>
            </a:r>
            <a:r>
              <a:rPr lang="pt-BR" altLang="pt-BR" sz="1600" i="1" dirty="0" err="1">
                <a:latin typeface="Tahoma" panose="020B0604030504040204" pitchFamily="34" charset="0"/>
              </a:rPr>
              <a:t>rank</a:t>
            </a:r>
            <a:r>
              <a:rPr lang="pt-BR" altLang="pt-BR" sz="1600" dirty="0">
                <a:latin typeface="Tahoma" panose="020B0604030504040204" pitchFamily="34" charset="0"/>
              </a:rPr>
              <a:t>) dos dados e não seus valores numéricos originais. Além disso, podem trabalhar diretamente com dados categóricos (classes)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quando as pressuposições são consideradas válidas, os testes paramétricos são sempre mais poderosos que seus correspondentes não paramétricos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F9ADAF-B122-4BDC-AD7D-4C3C95526C05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 de Mensuração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590675"/>
            <a:ext cx="7696200" cy="4894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Nominal (Classes):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atributo (numérico ou não) é usado apenas para identificar a que grupo ou classe cada elemento da população pertence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	classe de uso e ocupação (floresta, pastagem, água, cidade,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tipo de água (branca, preta e clara)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código DDD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Ordinal (Postos ou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Rank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atributo (numérico ou não) tem significado de posicionamento numa lista (crescente ou decrescente)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	nível de cinza de uma imagem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proximidade (junto, perto, longe)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ordem da bacia hidrográfica (método de </a:t>
            </a:r>
            <a:r>
              <a:rPr lang="pt-BR" altLang="pt-BR" sz="1600" dirty="0" err="1">
                <a:latin typeface="Tahoma" panose="020B0604030504040204" pitchFamily="34" charset="0"/>
              </a:rPr>
              <a:t>Strahler</a:t>
            </a:r>
            <a:r>
              <a:rPr lang="pt-BR" altLang="pt-BR" sz="1600" dirty="0">
                <a:latin typeface="Tahoma" panose="020B0604030504040204" pitchFamily="34" charset="0"/>
              </a:rPr>
              <a:t>) 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34D1D0-32C0-48BE-B0D1-8938A8A46766}" type="slidenum">
              <a:rPr lang="pt-BR"/>
              <a:pPr>
                <a:defRPr/>
              </a:pPr>
              <a:t>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Dunn</a:t>
            </a:r>
            <a:r>
              <a:rPr lang="pt-BR" altLang="pt-BR" sz="1400" dirty="0">
                <a:latin typeface="Tahoma" panose="020B0604030504040204" pitchFamily="34" charset="0"/>
              </a:rPr>
              <a:t> (comparações múltiplas)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pSp>
        <p:nvGrpSpPr>
          <p:cNvPr id="12" name="Grupo 11"/>
          <p:cNvGrpSpPr/>
          <p:nvPr/>
        </p:nvGrpSpPr>
        <p:grpSpPr>
          <a:xfrm>
            <a:off x="3219847" y="2263974"/>
            <a:ext cx="1644974" cy="588962"/>
            <a:chOff x="3219847" y="2263974"/>
            <a:chExt cx="1644974" cy="588962"/>
          </a:xfrm>
        </p:grpSpPr>
        <p:sp>
          <p:nvSpPr>
            <p:cNvPr id="8" name="Chave direita 7"/>
            <p:cNvSpPr/>
            <p:nvPr/>
          </p:nvSpPr>
          <p:spPr>
            <a:xfrm>
              <a:off x="3219847" y="2263974"/>
              <a:ext cx="200025" cy="588962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8169" y="2327623"/>
              <a:ext cx="14666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testa adequação de distribuições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802486" y="4916781"/>
            <a:ext cx="2122320" cy="276999"/>
            <a:chOff x="2512888" y="3723709"/>
            <a:chExt cx="2122320" cy="276999"/>
          </a:xfrm>
        </p:grpSpPr>
        <p:sp>
          <p:nvSpPr>
            <p:cNvPr id="17" name="CaixaDeTexto 16"/>
            <p:cNvSpPr txBox="1"/>
            <p:nvPr/>
          </p:nvSpPr>
          <p:spPr>
            <a:xfrm>
              <a:off x="2691208" y="3723709"/>
              <a:ext cx="194400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teste t</a:t>
              </a:r>
            </a:p>
          </p:txBody>
        </p:sp>
        <p:cxnSp>
          <p:nvCxnSpPr>
            <p:cNvPr id="14" name="Conector de seta reta 13"/>
            <p:cNvCxnSpPr>
              <a:endCxn id="17" idx="1"/>
            </p:cNvCxnSpPr>
            <p:nvPr/>
          </p:nvCxnSpPr>
          <p:spPr>
            <a:xfrm>
              <a:off x="2512888" y="3862208"/>
              <a:ext cx="17832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upo 29"/>
          <p:cNvGrpSpPr/>
          <p:nvPr/>
        </p:nvGrpSpPr>
        <p:grpSpPr>
          <a:xfrm>
            <a:off x="7439734" y="3014368"/>
            <a:ext cx="2021012" cy="461665"/>
            <a:chOff x="2512888" y="3631376"/>
            <a:chExt cx="2021012" cy="461665"/>
          </a:xfrm>
        </p:grpSpPr>
        <p:sp>
          <p:nvSpPr>
            <p:cNvPr id="31" name="CaixaDeTexto 30"/>
            <p:cNvSpPr txBox="1"/>
            <p:nvPr/>
          </p:nvSpPr>
          <p:spPr>
            <a:xfrm>
              <a:off x="2691209" y="3631376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 ANOVA</a:t>
              </a:r>
            </a:p>
          </p:txBody>
        </p:sp>
        <p:cxnSp>
          <p:nvCxnSpPr>
            <p:cNvPr id="32" name="Conector de seta reta 31"/>
            <p:cNvCxnSpPr>
              <a:endCxn id="31" idx="1"/>
            </p:cNvCxnSpPr>
            <p:nvPr/>
          </p:nvCxnSpPr>
          <p:spPr>
            <a:xfrm>
              <a:off x="2512888" y="3862208"/>
              <a:ext cx="178321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o 36"/>
          <p:cNvGrpSpPr/>
          <p:nvPr/>
        </p:nvGrpSpPr>
        <p:grpSpPr>
          <a:xfrm>
            <a:off x="6372200" y="3501008"/>
            <a:ext cx="2085530" cy="595528"/>
            <a:chOff x="6543031" y="3538117"/>
            <a:chExt cx="2085530" cy="595528"/>
          </a:xfrm>
        </p:grpSpPr>
        <p:sp>
          <p:nvSpPr>
            <p:cNvPr id="34" name="CaixaDeTexto 33"/>
            <p:cNvSpPr txBox="1"/>
            <p:nvPr/>
          </p:nvSpPr>
          <p:spPr>
            <a:xfrm>
              <a:off x="6785870" y="3671980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 teste </a:t>
              </a:r>
              <a:r>
                <a:rPr lang="pt-BR" sz="1200" dirty="0" err="1">
                  <a:latin typeface="Tahoma" panose="020B0604030504040204" pitchFamily="34" charset="0"/>
                </a:rPr>
                <a:t>Tukey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36" name="Arco 35"/>
            <p:cNvSpPr/>
            <p:nvPr/>
          </p:nvSpPr>
          <p:spPr>
            <a:xfrm flipH="1" flipV="1">
              <a:off x="6543031" y="3538117"/>
              <a:ext cx="485678" cy="380672"/>
            </a:xfrm>
            <a:prstGeom prst="arc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2355404" y="5379625"/>
            <a:ext cx="2085530" cy="595528"/>
            <a:chOff x="6543031" y="3538117"/>
            <a:chExt cx="2085530" cy="595528"/>
          </a:xfrm>
        </p:grpSpPr>
        <p:sp>
          <p:nvSpPr>
            <p:cNvPr id="41" name="CaixaDeTexto 40"/>
            <p:cNvSpPr txBox="1"/>
            <p:nvPr/>
          </p:nvSpPr>
          <p:spPr>
            <a:xfrm>
              <a:off x="6785870" y="3671980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compara a distribuição de duas amostras</a:t>
              </a:r>
            </a:p>
          </p:txBody>
        </p:sp>
        <p:sp>
          <p:nvSpPr>
            <p:cNvPr id="42" name="Arco 41"/>
            <p:cNvSpPr/>
            <p:nvPr/>
          </p:nvSpPr>
          <p:spPr>
            <a:xfrm flipH="1" flipV="1">
              <a:off x="6543031" y="3538117"/>
              <a:ext cx="485678" cy="380672"/>
            </a:xfrm>
            <a:prstGeom prst="arc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460203" y="3417888"/>
            <a:ext cx="2058954" cy="588962"/>
            <a:chOff x="2805866" y="4584559"/>
            <a:chExt cx="2058954" cy="588962"/>
          </a:xfrm>
        </p:grpSpPr>
        <p:sp>
          <p:nvSpPr>
            <p:cNvPr id="28" name="CaixaDeTexto 27"/>
            <p:cNvSpPr txBox="1"/>
            <p:nvPr/>
          </p:nvSpPr>
          <p:spPr>
            <a:xfrm>
              <a:off x="3022129" y="4653136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teste t pareado</a:t>
              </a:r>
            </a:p>
          </p:txBody>
        </p:sp>
        <p:sp>
          <p:nvSpPr>
            <p:cNvPr id="35" name="Chave direita 34"/>
            <p:cNvSpPr/>
            <p:nvPr/>
          </p:nvSpPr>
          <p:spPr>
            <a:xfrm>
              <a:off x="2805866" y="4584559"/>
              <a:ext cx="200025" cy="588962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4" name="AutoShape 74"/>
          <p:cNvSpPr>
            <a:spLocks noChangeArrowheads="1"/>
          </p:cNvSpPr>
          <p:nvPr/>
        </p:nvSpPr>
        <p:spPr bwMode="auto">
          <a:xfrm>
            <a:off x="2457450" y="2255838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AutoShape 74"/>
          <p:cNvSpPr>
            <a:spLocks noChangeArrowheads="1"/>
          </p:cNvSpPr>
          <p:nvPr/>
        </p:nvSpPr>
        <p:spPr bwMode="auto">
          <a:xfrm>
            <a:off x="3348038" y="261620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AutoShape 74"/>
          <p:cNvSpPr>
            <a:spLocks noChangeArrowheads="1"/>
          </p:cNvSpPr>
          <p:nvPr/>
        </p:nvSpPr>
        <p:spPr bwMode="auto">
          <a:xfrm>
            <a:off x="2843213" y="460375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AutoShape 74"/>
          <p:cNvSpPr>
            <a:spLocks noChangeArrowheads="1"/>
          </p:cNvSpPr>
          <p:nvPr/>
        </p:nvSpPr>
        <p:spPr bwMode="auto">
          <a:xfrm>
            <a:off x="2300288" y="34385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9" name="AutoShape 74"/>
          <p:cNvSpPr>
            <a:spLocks noChangeArrowheads="1"/>
          </p:cNvSpPr>
          <p:nvPr/>
        </p:nvSpPr>
        <p:spPr bwMode="auto">
          <a:xfrm>
            <a:off x="2406650" y="37687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AutoShape 74"/>
          <p:cNvSpPr>
            <a:spLocks noChangeArrowheads="1"/>
          </p:cNvSpPr>
          <p:nvPr/>
        </p:nvSpPr>
        <p:spPr bwMode="auto">
          <a:xfrm>
            <a:off x="4970463" y="5243513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Dunn</a:t>
            </a:r>
            <a:r>
              <a:rPr lang="pt-BR" altLang="pt-BR" sz="1400" dirty="0">
                <a:latin typeface="Tahoma" panose="020B0604030504040204" pitchFamily="34" charset="0"/>
              </a:rPr>
              <a:t> (comparações múltiplas)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12" name="AutoShape 74"/>
          <p:cNvSpPr>
            <a:spLocks noChangeArrowheads="1"/>
          </p:cNvSpPr>
          <p:nvPr/>
        </p:nvSpPr>
        <p:spPr bwMode="auto">
          <a:xfrm>
            <a:off x="2843213" y="4919377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buNone/>
            </a:pPr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" name="AutoShape 74">
            <a:extLst>
              <a:ext uri="{FF2B5EF4-FFF2-40B4-BE49-F238E27FC236}">
                <a16:creationId xmlns:a16="http://schemas.microsoft.com/office/drawing/2014/main" id="{22F0D1F2-94D2-0BAF-AAB3-0550F0D0C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8271" y="4733931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6871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074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236391"/>
              </p:ext>
            </p:extLst>
          </p:nvPr>
        </p:nvGraphicFramePr>
        <p:xfrm>
          <a:off x="684213" y="3716338"/>
          <a:ext cx="7775575" cy="100647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9116" name="Group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915352"/>
              </p:ext>
            </p:extLst>
          </p:nvPr>
        </p:nvGraphicFramePr>
        <p:xfrm>
          <a:off x="684213" y="3716338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Aderência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915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resultados:</a:t>
            </a:r>
          </a:p>
        </p:txBody>
      </p:sp>
      <p:graphicFrame>
        <p:nvGraphicFramePr>
          <p:cNvPr id="259160" name="Group 8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5397970"/>
              </p:ext>
            </p:extLst>
          </p:nvPr>
        </p:nvGraphicFramePr>
        <p:xfrm>
          <a:off x="684213" y="1989138"/>
          <a:ext cx="7775575" cy="70802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9193" name="Text Box 121"/>
          <p:cNvSpPr txBox="1">
            <a:spLocks noChangeArrowheads="1"/>
          </p:cNvSpPr>
          <p:nvPr/>
        </p:nvSpPr>
        <p:spPr bwMode="auto">
          <a:xfrm>
            <a:off x="684213" y="27813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59194" name="Text Box 122"/>
          <p:cNvSpPr txBox="1">
            <a:spLocks noChangeArrowheads="1"/>
          </p:cNvSpPr>
          <p:nvPr/>
        </p:nvSpPr>
        <p:spPr bwMode="auto">
          <a:xfrm>
            <a:off x="684213" y="2781300"/>
            <a:ext cx="48958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    </a:t>
            </a:r>
            <a:r>
              <a:rPr lang="pt-BR" altLang="pt-BR" sz="1600" dirty="0">
                <a:latin typeface="Tahoma" panose="020B0604030504040204" pitchFamily="34" charset="0"/>
              </a:rPr>
              <a:t>(dado honesto)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pelo menos algum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259195" name="Text Box 123"/>
          <p:cNvSpPr txBox="1">
            <a:spLocks noChangeArrowheads="1"/>
          </p:cNvSpPr>
          <p:nvPr/>
        </p:nvSpPr>
        <p:spPr bwMode="auto">
          <a:xfrm>
            <a:off x="663575" y="33575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oup 124"/>
          <p:cNvGrpSpPr>
            <a:grpSpLocks/>
          </p:cNvGrpSpPr>
          <p:nvPr/>
        </p:nvGrpSpPr>
        <p:grpSpPr bwMode="auto">
          <a:xfrm>
            <a:off x="684214" y="4868863"/>
            <a:ext cx="5260975" cy="703262"/>
            <a:chOff x="306" y="3158"/>
            <a:chExt cx="3314" cy="443"/>
          </a:xfrm>
        </p:grpSpPr>
        <p:graphicFrame>
          <p:nvGraphicFramePr>
            <p:cNvPr id="10366" name="Object 1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91000446"/>
                </p:ext>
              </p:extLst>
            </p:nvPr>
          </p:nvGraphicFramePr>
          <p:xfrm>
            <a:off x="306" y="3158"/>
            <a:ext cx="1704" cy="4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892160" imgH="495000" progId="Equation.DSMT4">
                    <p:embed/>
                  </p:oleObj>
                </mc:Choice>
                <mc:Fallback>
                  <p:oleObj name="Equation" r:id="rId3" imgW="1892160" imgH="495000" progId="Equation.DSMT4">
                    <p:embed/>
                    <p:pic>
                      <p:nvPicPr>
                        <p:cNvPr id="10366" name="Object 1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" y="3158"/>
                          <a:ext cx="1704" cy="44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67" name="Text Box 126"/>
            <p:cNvSpPr txBox="1">
              <a:spLocks noChangeArrowheads="1"/>
            </p:cNvSpPr>
            <p:nvPr/>
          </p:nvSpPr>
          <p:spPr bwMode="auto">
            <a:xfrm>
              <a:off x="2120" y="3279"/>
              <a:ext cx="150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c</a:t>
              </a:r>
              <a:r>
                <a:rPr lang="pt-BR" altLang="pt-BR" sz="1600" dirty="0">
                  <a:latin typeface="Tahoma" panose="020B0604030504040204" pitchFamily="34" charset="0"/>
                </a:rPr>
                <a:t> é o número de classes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27"/>
          <p:cNvGrpSpPr>
            <a:grpSpLocks/>
          </p:cNvGrpSpPr>
          <p:nvPr/>
        </p:nvGrpSpPr>
        <p:grpSpPr bwMode="auto">
          <a:xfrm>
            <a:off x="6443663" y="4724400"/>
            <a:ext cx="2159000" cy="1557338"/>
            <a:chOff x="4059" y="2976"/>
            <a:chExt cx="1360" cy="981"/>
          </a:xfrm>
        </p:grpSpPr>
        <p:sp>
          <p:nvSpPr>
            <p:cNvPr id="10361" name="Freeform 12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362" name="Freeform 12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363" name="Text Box 13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0364" name="Text Box 13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0365" name="Object 13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8708524"/>
                </p:ext>
              </p:extLst>
            </p:nvPr>
          </p:nvGraphicFramePr>
          <p:xfrm>
            <a:off x="4616" y="3079"/>
            <a:ext cx="24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66469" imgH="241091" progId="Equation.DSMT4">
                    <p:embed/>
                  </p:oleObj>
                </mc:Choice>
                <mc:Fallback>
                  <p:oleObj name="Equation" r:id="rId5" imgW="266469" imgH="241091" progId="Equation.DSMT4">
                    <p:embed/>
                    <p:pic>
                      <p:nvPicPr>
                        <p:cNvPr id="10365" name="Object 1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16" y="3079"/>
                          <a:ext cx="241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33"/>
          <p:cNvGrpSpPr>
            <a:grpSpLocks/>
          </p:cNvGrpSpPr>
          <p:nvPr/>
        </p:nvGrpSpPr>
        <p:grpSpPr bwMode="auto">
          <a:xfrm>
            <a:off x="6227763" y="6116638"/>
            <a:ext cx="912812" cy="552450"/>
            <a:chOff x="3923" y="3838"/>
            <a:chExt cx="575" cy="348"/>
          </a:xfrm>
        </p:grpSpPr>
        <p:sp>
          <p:nvSpPr>
            <p:cNvPr id="10359" name="AutoShape 134"/>
            <p:cNvSpPr>
              <a:spLocks noChangeArrowheads="1"/>
            </p:cNvSpPr>
            <p:nvPr/>
          </p:nvSpPr>
          <p:spPr bwMode="auto">
            <a:xfrm rot="-5400000">
              <a:off x="4173" y="3815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60" name="Rectangle 135"/>
            <p:cNvSpPr>
              <a:spLocks noChangeArrowheads="1"/>
            </p:cNvSpPr>
            <p:nvPr/>
          </p:nvSpPr>
          <p:spPr bwMode="auto">
            <a:xfrm>
              <a:off x="3923" y="3974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verd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136"/>
          <p:cNvGrpSpPr>
            <a:grpSpLocks/>
          </p:cNvGrpSpPr>
          <p:nvPr/>
        </p:nvGrpSpPr>
        <p:grpSpPr bwMode="auto">
          <a:xfrm>
            <a:off x="7542213" y="6116643"/>
            <a:ext cx="855662" cy="554038"/>
            <a:chOff x="4559" y="3793"/>
            <a:chExt cx="539" cy="349"/>
          </a:xfrm>
        </p:grpSpPr>
        <p:sp>
          <p:nvSpPr>
            <p:cNvPr id="10357" name="AutoShape 13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58" name="Rectangle 13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A2ED22-F7E8-4182-871D-942FB02368B5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26" name="Grupo 25"/>
          <p:cNvGrpSpPr/>
          <p:nvPr/>
        </p:nvGrpSpPr>
        <p:grpSpPr>
          <a:xfrm>
            <a:off x="7356086" y="3183359"/>
            <a:ext cx="1777192" cy="816483"/>
            <a:chOff x="7356086" y="3183359"/>
            <a:chExt cx="1777192" cy="816483"/>
          </a:xfrm>
        </p:grpSpPr>
        <p:sp>
          <p:nvSpPr>
            <p:cNvPr id="27" name="Seta para baixo 26"/>
            <p:cNvSpPr/>
            <p:nvPr/>
          </p:nvSpPr>
          <p:spPr>
            <a:xfrm rot="3017410">
              <a:off x="7620352" y="3555556"/>
              <a:ext cx="180020" cy="708552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CaixaDeTexto 27"/>
            <p:cNvSpPr txBox="1"/>
            <p:nvPr/>
          </p:nvSpPr>
          <p:spPr>
            <a:xfrm>
              <a:off x="7791244" y="3183359"/>
              <a:ext cx="13420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sempre valores inteiros!</a:t>
              </a:r>
            </a:p>
          </p:txBody>
        </p:sp>
      </p:grpSp>
      <p:grpSp>
        <p:nvGrpSpPr>
          <p:cNvPr id="29" name="Grupo 28"/>
          <p:cNvGrpSpPr/>
          <p:nvPr/>
        </p:nvGrpSpPr>
        <p:grpSpPr>
          <a:xfrm>
            <a:off x="7356086" y="4714702"/>
            <a:ext cx="1824426" cy="802530"/>
            <a:chOff x="7356086" y="4714702"/>
            <a:chExt cx="1824426" cy="802530"/>
          </a:xfrm>
        </p:grpSpPr>
        <p:sp>
          <p:nvSpPr>
            <p:cNvPr id="30" name="Seta para baixo 29"/>
            <p:cNvSpPr/>
            <p:nvPr/>
          </p:nvSpPr>
          <p:spPr>
            <a:xfrm rot="18582590" flipV="1">
              <a:off x="7620352" y="4450436"/>
              <a:ext cx="180020" cy="708552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7746874" y="5055567"/>
              <a:ext cx="14336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admite valores fracionários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193" grpId="0"/>
      <p:bldP spid="259194" grpId="0" animBg="1"/>
      <p:bldP spid="25919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074" name="Group 2"/>
          <p:cNvGraphicFramePr>
            <a:graphicFrameLocks noGrp="1"/>
          </p:cNvGraphicFramePr>
          <p:nvPr/>
        </p:nvGraphicFramePr>
        <p:xfrm>
          <a:off x="684213" y="3716338"/>
          <a:ext cx="7775575" cy="100647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209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9116" name="Group 44"/>
          <p:cNvGraphicFramePr>
            <a:graphicFrameLocks noGrp="1"/>
          </p:cNvGraphicFramePr>
          <p:nvPr/>
        </p:nvGraphicFramePr>
        <p:xfrm>
          <a:off x="684213" y="3716338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Aderência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134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resultados:</a:t>
            </a:r>
          </a:p>
        </p:txBody>
      </p:sp>
      <p:graphicFrame>
        <p:nvGraphicFramePr>
          <p:cNvPr id="259160" name="Group 88"/>
          <p:cNvGraphicFramePr>
            <a:graphicFrameLocks noGrp="1"/>
          </p:cNvGraphicFramePr>
          <p:nvPr>
            <p:ph idx="1"/>
          </p:nvPr>
        </p:nvGraphicFramePr>
        <p:xfrm>
          <a:off x="684213" y="1989138"/>
          <a:ext cx="7775575" cy="70802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373" name="Text Box 121"/>
          <p:cNvSpPr txBox="1">
            <a:spLocks noChangeArrowheads="1"/>
          </p:cNvSpPr>
          <p:nvPr/>
        </p:nvSpPr>
        <p:spPr bwMode="auto">
          <a:xfrm>
            <a:off x="684213" y="27813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1374" name="Text Box 122"/>
          <p:cNvSpPr txBox="1">
            <a:spLocks noChangeArrowheads="1"/>
          </p:cNvSpPr>
          <p:nvPr/>
        </p:nvSpPr>
        <p:spPr bwMode="auto">
          <a:xfrm>
            <a:off x="684213" y="2781300"/>
            <a:ext cx="48958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    </a:t>
            </a:r>
            <a:r>
              <a:rPr lang="pt-BR" altLang="pt-BR" sz="1600" dirty="0">
                <a:latin typeface="Tahoma" panose="020B0604030504040204" pitchFamily="34" charset="0"/>
              </a:rPr>
              <a:t>(dado honesto)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pelo menos algum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1375" name="Text Box 123"/>
          <p:cNvSpPr txBox="1">
            <a:spLocks noChangeArrowheads="1"/>
          </p:cNvSpPr>
          <p:nvPr/>
        </p:nvSpPr>
        <p:spPr bwMode="auto">
          <a:xfrm>
            <a:off x="663575" y="33575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377" name="Group 127"/>
          <p:cNvGrpSpPr>
            <a:grpSpLocks/>
          </p:cNvGrpSpPr>
          <p:nvPr/>
        </p:nvGrpSpPr>
        <p:grpSpPr bwMode="auto">
          <a:xfrm>
            <a:off x="6443663" y="4724400"/>
            <a:ext cx="2159000" cy="1557338"/>
            <a:chOff x="4059" y="2976"/>
            <a:chExt cx="1360" cy="981"/>
          </a:xfrm>
        </p:grpSpPr>
        <p:sp>
          <p:nvSpPr>
            <p:cNvPr id="11391" name="Freeform 12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92" name="Freeform 12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93" name="Text Box 13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394" name="Text Box 13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1395" name="Object 13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53955273"/>
                </p:ext>
              </p:extLst>
            </p:nvPr>
          </p:nvGraphicFramePr>
          <p:xfrm>
            <a:off x="4616" y="3079"/>
            <a:ext cx="24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66469" imgH="241091" progId="Equation.DSMT4">
                    <p:embed/>
                  </p:oleObj>
                </mc:Choice>
                <mc:Fallback>
                  <p:oleObj name="Equation" r:id="rId3" imgW="266469" imgH="241091" progId="Equation.DSMT4">
                    <p:embed/>
                    <p:pic>
                      <p:nvPicPr>
                        <p:cNvPr id="11395" name="Object 1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16" y="3079"/>
                          <a:ext cx="241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378" name="Group 139"/>
          <p:cNvGrpSpPr>
            <a:grpSpLocks/>
          </p:cNvGrpSpPr>
          <p:nvPr/>
        </p:nvGrpSpPr>
        <p:grpSpPr bwMode="auto">
          <a:xfrm>
            <a:off x="6604000" y="5360990"/>
            <a:ext cx="1735138" cy="1309688"/>
            <a:chOff x="4160" y="3377"/>
            <a:chExt cx="1093" cy="825"/>
          </a:xfrm>
        </p:grpSpPr>
        <p:grpSp>
          <p:nvGrpSpPr>
            <p:cNvPr id="11380" name="Group 140"/>
            <p:cNvGrpSpPr>
              <a:grpSpLocks/>
            </p:cNvGrpSpPr>
            <p:nvPr/>
          </p:nvGrpSpPr>
          <p:grpSpPr bwMode="auto">
            <a:xfrm>
              <a:off x="4566" y="3377"/>
              <a:ext cx="549" cy="603"/>
              <a:chOff x="4566" y="3377"/>
              <a:chExt cx="549" cy="603"/>
            </a:xfrm>
          </p:grpSpPr>
          <p:grpSp>
            <p:nvGrpSpPr>
              <p:cNvPr id="11387" name="Group 14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11389" name="Freeform 14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390" name="Text Box 14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11388" name="Object 14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76129546"/>
                  </p:ext>
                </p:extLst>
              </p:nvPr>
            </p:nvGraphicFramePr>
            <p:xfrm>
              <a:off x="4566" y="3761"/>
              <a:ext cx="253" cy="21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79360" imgH="241200" progId="Equation.DSMT4">
                      <p:embed/>
                    </p:oleObj>
                  </mc:Choice>
                  <mc:Fallback>
                    <p:oleObj name="Equation" r:id="rId5" imgW="279360" imgH="241200" progId="Equation.DSMT4">
                      <p:embed/>
                      <p:pic>
                        <p:nvPicPr>
                          <p:cNvPr id="11388" name="Object 1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66" y="3761"/>
                            <a:ext cx="253" cy="219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1381" name="Group 14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11385" name="Rectangle 146"/>
              <p:cNvSpPr>
                <a:spLocks noChangeArrowheads="1"/>
              </p:cNvSpPr>
              <p:nvPr/>
            </p:nvSpPr>
            <p:spPr bwMode="auto">
              <a:xfrm>
                <a:off x="4207" y="3989"/>
                <a:ext cx="46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86" name="AutoShape 14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1382" name="Group 14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11383" name="Rectangle 149"/>
              <p:cNvSpPr>
                <a:spLocks noChangeArrowheads="1"/>
              </p:cNvSpPr>
              <p:nvPr/>
            </p:nvSpPr>
            <p:spPr bwMode="auto">
              <a:xfrm>
                <a:off x="4190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84" name="AutoShape 15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238BBC-687B-4968-8BE6-781D8F7DF822}" type="slidenum">
              <a:rPr lang="pt-BR"/>
              <a:pPr>
                <a:defRPr/>
              </a:pPr>
              <a:t>11</a:t>
            </a:fld>
            <a:endParaRPr lang="pt-BR"/>
          </a:p>
        </p:txBody>
      </p:sp>
      <p:grpSp>
        <p:nvGrpSpPr>
          <p:cNvPr id="38" name="Group 124"/>
          <p:cNvGrpSpPr>
            <a:grpSpLocks/>
          </p:cNvGrpSpPr>
          <p:nvPr/>
        </p:nvGrpSpPr>
        <p:grpSpPr bwMode="auto">
          <a:xfrm>
            <a:off x="684214" y="4868863"/>
            <a:ext cx="5260975" cy="703262"/>
            <a:chOff x="306" y="3158"/>
            <a:chExt cx="3314" cy="443"/>
          </a:xfrm>
        </p:grpSpPr>
        <p:graphicFrame>
          <p:nvGraphicFramePr>
            <p:cNvPr id="39" name="Object 1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5534253"/>
                </p:ext>
              </p:extLst>
            </p:nvPr>
          </p:nvGraphicFramePr>
          <p:xfrm>
            <a:off x="306" y="3158"/>
            <a:ext cx="1704" cy="4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892160" imgH="495000" progId="Equation.DSMT4">
                    <p:embed/>
                  </p:oleObj>
                </mc:Choice>
                <mc:Fallback>
                  <p:oleObj name="Equation" r:id="rId7" imgW="1892160" imgH="495000" progId="Equation.DSMT4">
                    <p:embed/>
                    <p:pic>
                      <p:nvPicPr>
                        <p:cNvPr id="39" name="Object 1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" y="3158"/>
                          <a:ext cx="1704" cy="44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0" name="Text Box 126"/>
            <p:cNvSpPr txBox="1">
              <a:spLocks noChangeArrowheads="1"/>
            </p:cNvSpPr>
            <p:nvPr/>
          </p:nvSpPr>
          <p:spPr bwMode="auto">
            <a:xfrm>
              <a:off x="2120" y="3279"/>
              <a:ext cx="150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c</a:t>
              </a:r>
              <a:r>
                <a:rPr lang="pt-BR" altLang="pt-BR" sz="1600" dirty="0">
                  <a:latin typeface="Tahoma" panose="020B0604030504040204" pitchFamily="34" charset="0"/>
                </a:rPr>
                <a:t> é o número de classes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460" name="Group 44"/>
          <p:cNvGraphicFramePr>
            <a:graphicFrameLocks noGrp="1"/>
          </p:cNvGraphicFramePr>
          <p:nvPr/>
        </p:nvGraphicFramePr>
        <p:xfrm>
          <a:off x="684213" y="2924175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8502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232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 (tabela abaixo).</a:t>
            </a:r>
          </a:p>
        </p:txBody>
      </p:sp>
      <p:sp>
        <p:nvSpPr>
          <p:cNvPr id="12330" name="Text Box 122"/>
          <p:cNvSpPr txBox="1">
            <a:spLocks noChangeArrowheads="1"/>
          </p:cNvSpPr>
          <p:nvPr/>
        </p:nvSpPr>
        <p:spPr bwMode="auto">
          <a:xfrm>
            <a:off x="684213" y="1916113"/>
            <a:ext cx="44640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</a:t>
            </a:r>
            <a:r>
              <a:rPr lang="pt-BR" altLang="pt-BR" sz="1600" dirty="0">
                <a:latin typeface="Tahoma" panose="020B0604030504040204" pitchFamily="34" charset="0"/>
              </a:rPr>
              <a:t>    (dado honesto)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2331" name="Text Box 123"/>
          <p:cNvSpPr txBox="1">
            <a:spLocks noChangeArrowheads="1"/>
          </p:cNvSpPr>
          <p:nvPr/>
        </p:nvSpPr>
        <p:spPr bwMode="auto">
          <a:xfrm>
            <a:off x="663575" y="2492375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2332" name="Object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5509675"/>
              </p:ext>
            </p:extLst>
          </p:nvPr>
        </p:nvGraphicFramePr>
        <p:xfrm>
          <a:off x="800100" y="4059238"/>
          <a:ext cx="4433888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98520" imgH="482400" progId="Equation.DSMT4">
                  <p:embed/>
                </p:oleObj>
              </mc:Choice>
              <mc:Fallback>
                <p:oleObj name="Equation" r:id="rId3" imgW="3098520" imgH="482400" progId="Equation.DSMT4">
                  <p:embed/>
                  <p:pic>
                    <p:nvPicPr>
                      <p:cNvPr id="12332" name="Object 1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4059238"/>
                        <a:ext cx="4433888" cy="684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555" name="Text Box 139"/>
          <p:cNvSpPr txBox="1">
            <a:spLocks noChangeArrowheads="1"/>
          </p:cNvSpPr>
          <p:nvPr/>
        </p:nvSpPr>
        <p:spPr bwMode="auto">
          <a:xfrm>
            <a:off x="735013" y="4772967"/>
            <a:ext cx="558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considerando 5% de significância,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não há razões para discordar que o dado seja honesto.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oup 142"/>
          <p:cNvGrpSpPr>
            <a:grpSpLocks/>
          </p:cNvGrpSpPr>
          <p:nvPr/>
        </p:nvGrpSpPr>
        <p:grpSpPr bwMode="auto">
          <a:xfrm>
            <a:off x="6300788" y="4149079"/>
            <a:ext cx="2159000" cy="1622424"/>
            <a:chOff x="3969" y="2795"/>
            <a:chExt cx="1360" cy="1022"/>
          </a:xfrm>
        </p:grpSpPr>
        <p:graphicFrame>
          <p:nvGraphicFramePr>
            <p:cNvPr id="12342" name="Object 13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82371236"/>
                </p:ext>
              </p:extLst>
            </p:nvPr>
          </p:nvGraphicFramePr>
          <p:xfrm>
            <a:off x="4383" y="3598"/>
            <a:ext cx="45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507960" imgH="241200" progId="Equation.DSMT4">
                    <p:embed/>
                  </p:oleObj>
                </mc:Choice>
                <mc:Fallback>
                  <p:oleObj name="Equation" r:id="rId5" imgW="507960" imgH="241200" progId="Equation.DSMT4">
                    <p:embed/>
                    <p:pic>
                      <p:nvPicPr>
                        <p:cNvPr id="12342" name="Object 1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3" y="3598"/>
                          <a:ext cx="459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37" name="Freeform 129" descr="Diagonal para cima clara"/>
            <p:cNvSpPr>
              <a:spLocks/>
            </p:cNvSpPr>
            <p:nvPr/>
          </p:nvSpPr>
          <p:spPr bwMode="auto">
            <a:xfrm>
              <a:off x="4593" y="3196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38" name="Freeform 130"/>
            <p:cNvSpPr>
              <a:spLocks/>
            </p:cNvSpPr>
            <p:nvPr/>
          </p:nvSpPr>
          <p:spPr bwMode="auto">
            <a:xfrm>
              <a:off x="4059" y="2795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39" name="Freeform 131"/>
            <p:cNvSpPr>
              <a:spLocks/>
            </p:cNvSpPr>
            <p:nvPr/>
          </p:nvSpPr>
          <p:spPr bwMode="auto">
            <a:xfrm>
              <a:off x="4055" y="2944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40" name="Text Box 132"/>
            <p:cNvSpPr txBox="1">
              <a:spLocks noChangeArrowheads="1"/>
            </p:cNvSpPr>
            <p:nvPr/>
          </p:nvSpPr>
          <p:spPr bwMode="auto">
            <a:xfrm>
              <a:off x="3969" y="355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41" name="Text Box 133"/>
            <p:cNvSpPr txBox="1">
              <a:spLocks noChangeArrowheads="1"/>
            </p:cNvSpPr>
            <p:nvPr/>
          </p:nvSpPr>
          <p:spPr bwMode="auto">
            <a:xfrm>
              <a:off x="5029" y="354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43" name="Object 13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30756658"/>
                </p:ext>
              </p:extLst>
            </p:nvPr>
          </p:nvGraphicFramePr>
          <p:xfrm>
            <a:off x="4513" y="288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03112" imgH="241195" progId="Equation.DSMT4">
                    <p:embed/>
                  </p:oleObj>
                </mc:Choice>
                <mc:Fallback>
                  <p:oleObj name="Equation" r:id="rId7" imgW="203112" imgH="241195" progId="Equation.DSMT4">
                    <p:embed/>
                    <p:pic>
                      <p:nvPicPr>
                        <p:cNvPr id="12343" name="Object 13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13" y="2886"/>
                          <a:ext cx="183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44" name="Text Box 140"/>
            <p:cNvSpPr txBox="1">
              <a:spLocks noChangeArrowheads="1"/>
            </p:cNvSpPr>
            <p:nvPr/>
          </p:nvSpPr>
          <p:spPr bwMode="auto">
            <a:xfrm>
              <a:off x="4740" y="3229"/>
              <a:ext cx="55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>
                  <a:latin typeface="Times New Roman" charset="0"/>
                  <a:sym typeface="Symbol" pitchFamily="18" charset="2"/>
                </a:rPr>
                <a:t></a:t>
              </a:r>
              <a:r>
                <a:rPr lang="en-US" altLang="pt-BR" sz="1600">
                  <a:latin typeface="Times New Roman" charset="0"/>
                  <a:sym typeface="Symbol" pitchFamily="18" charset="2"/>
                </a:rPr>
                <a:t> = 0,05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9158C3-2A4F-48CE-9EBF-2611DD2DF06F}" type="slidenum">
              <a:rPr lang="pt-BR"/>
              <a:pPr>
                <a:defRPr/>
              </a:pPr>
              <a:t>12</a:t>
            </a:fld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1090238" y="5921632"/>
            <a:ext cx="25314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 &lt;- c(160,183,155,170,157,175)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 &lt;- rep(1/length(x), length(x))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chisq.test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x,p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=p)</a:t>
            </a:r>
          </a:p>
        </p:txBody>
      </p:sp>
      <p:sp>
        <p:nvSpPr>
          <p:cNvPr id="21" name="Text Box 139"/>
          <p:cNvSpPr txBox="1">
            <a:spLocks noChangeArrowheads="1"/>
          </p:cNvSpPr>
          <p:nvPr/>
        </p:nvSpPr>
        <p:spPr bwMode="auto">
          <a:xfrm>
            <a:off x="735013" y="5610726"/>
            <a:ext cx="73770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 R: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22" name="Retângulo 21"/>
          <p:cNvSpPr/>
          <p:nvPr/>
        </p:nvSpPr>
        <p:spPr>
          <a:xfrm>
            <a:off x="3750023" y="5921632"/>
            <a:ext cx="33422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Chi-squared test for given probabilities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X-squared = 3.728,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5, p-value = 0.5892</a:t>
            </a:r>
          </a:p>
        </p:txBody>
      </p:sp>
      <p:sp>
        <p:nvSpPr>
          <p:cNvPr id="23" name="Elipse 22"/>
          <p:cNvSpPr/>
          <p:nvPr/>
        </p:nvSpPr>
        <p:spPr>
          <a:xfrm>
            <a:off x="6413296" y="6247586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188557" name="Object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3103468"/>
              </p:ext>
            </p:extLst>
          </p:nvPr>
        </p:nvGraphicFramePr>
        <p:xfrm>
          <a:off x="6953250" y="5424488"/>
          <a:ext cx="111125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774360" imgH="241200" progId="Equation.DSMT4">
                  <p:embed/>
                </p:oleObj>
              </mc:Choice>
              <mc:Fallback>
                <p:oleObj name="Equation" r:id="rId9" imgW="774360" imgH="241200" progId="Equation.DSMT4">
                  <p:embed/>
                  <p:pic>
                    <p:nvPicPr>
                      <p:cNvPr id="188557" name="Object 1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53250" y="5424488"/>
                        <a:ext cx="1111250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rma livre 4"/>
          <p:cNvSpPr/>
          <p:nvPr/>
        </p:nvSpPr>
        <p:spPr>
          <a:xfrm>
            <a:off x="5260369" y="4407613"/>
            <a:ext cx="1561671" cy="883578"/>
          </a:xfrm>
          <a:custGeom>
            <a:avLst/>
            <a:gdLst>
              <a:gd name="connsiteX0" fmla="*/ 0 w 1561671"/>
              <a:gd name="connsiteY0" fmla="*/ 0 h 883578"/>
              <a:gd name="connsiteX1" fmla="*/ 945222 w 1561671"/>
              <a:gd name="connsiteY1" fmla="*/ 154113 h 883578"/>
              <a:gd name="connsiteX2" fmla="*/ 1561671 w 1561671"/>
              <a:gd name="connsiteY2" fmla="*/ 883578 h 883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61671" h="883578">
                <a:moveTo>
                  <a:pt x="0" y="0"/>
                </a:moveTo>
                <a:cubicBezTo>
                  <a:pt x="342472" y="3425"/>
                  <a:pt x="684944" y="6850"/>
                  <a:pt x="945222" y="154113"/>
                </a:cubicBezTo>
                <a:cubicBezTo>
                  <a:pt x="1205501" y="301376"/>
                  <a:pt x="1510300" y="785974"/>
                  <a:pt x="1561671" y="883578"/>
                </a:cubicBezTo>
              </a:path>
            </a:pathLst>
          </a:custGeom>
          <a:noFill/>
          <a:ln>
            <a:solidFill>
              <a:srgbClr val="FF0000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555" grpId="0" uiExpand="1" build="p"/>
      <p:bldP spid="20" grpId="0"/>
      <p:bldP spid="21" grpId="0" build="p"/>
      <p:bldP spid="22" grpId="0"/>
      <p:bldP spid="23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467544" y="1352957"/>
            <a:ext cx="8208912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Ideal para testar distribuições discretas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variáveis aleatórias contínuas, deve-se agrupar os dados em 2 a 20 classes excludentes (é desejável que as classes sejam equiprováveis);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 apenas 2 classes, o valor esperado de cada uma deve ser </a:t>
            </a:r>
            <a:r>
              <a:rPr lang="pt-BR" altLang="pt-BR" sz="1600" dirty="0">
                <a:latin typeface="Tahoma" panose="020B0604030504040204" pitchFamily="34" charset="0"/>
              </a:rPr>
              <a:t>≥ 5;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Considerando-se mais que 2 classes, não mais de 20% dos valores esperados devem ser menores que 5, e nenhum deve ser nulo;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Este teste não é sensível ao ordenamento das classes;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Caso o teste seja usado para verificar a adequação do uso de alguma distribuição específica com parâmetros desconhecidos, perde-se também 1 grau de liberdade para cada parâmetro estimado. </a:t>
            </a:r>
            <a:r>
              <a:rPr lang="pt-BR" altLang="pt-BR" sz="1600" dirty="0" err="1">
                <a:latin typeface="Tahoma" panose="020B0604030504040204" pitchFamily="34" charset="0"/>
                <a:sym typeface="Symbol" pitchFamily="18" charset="2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: para testar uma distribuição que possui 2 parâmetros desconhecidos, o teste de aderência teria c - 3 graus de liberdade.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13</a:t>
            </a:fld>
            <a:endParaRPr lang="pt-BR"/>
          </a:p>
        </p:txBody>
      </p:sp>
      <p:sp>
        <p:nvSpPr>
          <p:cNvPr id="6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1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684213" y="1484784"/>
            <a:ext cx="8208962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pesar do valor crítico deste teste depender apenas no número de classes avaliadas, o tamanho da amostra é muito importante pois aumenta a sensibilidade do teste rejeitar hipóteses nulas falsas (erro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Suponha que uma distribuição quase uniforme seja testada. Qual a probabilidade dela ser erroneamente definida como uniforme? Qual o erro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Considere essa distribuição teórica (quase uniforme):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14</a:t>
            </a:fld>
            <a:endParaRPr lang="pt-BR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07322"/>
              </p:ext>
            </p:extLst>
          </p:nvPr>
        </p:nvGraphicFramePr>
        <p:xfrm>
          <a:off x="1763688" y="4722470"/>
          <a:ext cx="4824536" cy="506730"/>
        </p:xfrm>
        <a:graphic>
          <a:graphicData uri="http://schemas.openxmlformats.org/drawingml/2006/table">
            <a:tbl>
              <a:tblPr/>
              <a:tblGrid>
                <a:gridCol w="936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P(X = x)</a:t>
                      </a:r>
                      <a:endParaRPr lang="pt-BR" sz="16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757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684213" y="2564904"/>
            <a:ext cx="8208962" cy="3939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Qual a probabilidade de uma amostra retirada de uma distribuição definida em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seja considerada uniforme (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) considerando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 = 5%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 R:</a:t>
            </a:r>
            <a:endParaRPr lang="en-US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 &lt;- c(rep(1,15),rep(2,17),rep(3,17),rep(4,17),rep(5,17),rep(6,17))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n&lt;-30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r&lt;-10000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acH0&lt;-0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for (i in 1:r) {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amostra&lt;-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sample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s,size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n,replace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=T)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h&lt;-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hist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amostra,plot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F,breaks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=c(1,2,3,4,5,6,7)-.5)$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counts</a:t>
            </a:r>
            <a:endParaRPr lang="pt-BR" altLang="pt-BR" sz="1400" dirty="0">
              <a:latin typeface="Arial" panose="020B0604020202020204" pitchFamily="34" charset="0"/>
              <a:cs typeface="Arial" panose="020B0604020202020204" pitchFamily="34" charset="0"/>
              <a:sym typeface="Symbol" pitchFamily="18" charset="2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qui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&lt;-sum(((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h-n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/6)^2)/(n/6))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if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qui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&lt;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qchisq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(.95,5)) acH0&lt;-acH0+1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}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acH0/r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1331640" y="4240338"/>
            <a:ext cx="18213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tamanho da amostra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1484040" y="4460978"/>
            <a:ext cx="192873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número de simulações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7" name="Retângulo 6"/>
          <p:cNvSpPr/>
          <p:nvPr/>
        </p:nvSpPr>
        <p:spPr>
          <a:xfrm>
            <a:off x="1340483" y="6179436"/>
            <a:ext cx="48574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proporção de vezes em que </a:t>
            </a:r>
            <a:r>
              <a:rPr lang="pt-BR" altLang="pt-BR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H0</a:t>
            </a: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 é aceita indevidamente (erro )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8621"/>
              </p:ext>
            </p:extLst>
          </p:nvPr>
        </p:nvGraphicFramePr>
        <p:xfrm>
          <a:off x="2303748" y="1608217"/>
          <a:ext cx="4536504" cy="668655"/>
        </p:xfrm>
        <a:graphic>
          <a:graphicData uri="http://schemas.openxmlformats.org/drawingml/2006/table">
            <a:tbl>
              <a:tblPr/>
              <a:tblGrid>
                <a:gridCol w="648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tângulo 8"/>
          <p:cNvSpPr/>
          <p:nvPr/>
        </p:nvSpPr>
        <p:spPr>
          <a:xfrm>
            <a:off x="6876256" y="1783297"/>
            <a:ext cx="181376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distribuição uniforme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6780720" y="3852342"/>
            <a:ext cx="117852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Resultado: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2" name="Tabe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393182"/>
              </p:ext>
            </p:extLst>
          </p:nvPr>
        </p:nvGraphicFramePr>
        <p:xfrm>
          <a:off x="6885348" y="4246272"/>
          <a:ext cx="1368152" cy="517268"/>
        </p:xfrm>
        <a:graphic>
          <a:graphicData uri="http://schemas.openxmlformats.org/drawingml/2006/table">
            <a:tbl>
              <a:tblPr/>
              <a:tblGrid>
                <a:gridCol w="684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40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erro 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36634"/>
              </p:ext>
            </p:extLst>
          </p:nvPr>
        </p:nvGraphicFramePr>
        <p:xfrm>
          <a:off x="6885348" y="4246272"/>
          <a:ext cx="1368152" cy="1551804"/>
        </p:xfrm>
        <a:graphic>
          <a:graphicData uri="http://schemas.openxmlformats.org/drawingml/2006/table">
            <a:tbl>
              <a:tblPr/>
              <a:tblGrid>
                <a:gridCol w="684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40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erro 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84,40%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30,99%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444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9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3473" name="Text Box 65"/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273473" name="Text 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blipFill>
                <a:blip r:embed="rId3"/>
                <a:stretch>
                  <a:fillRect l="-923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65">
                <a:extLst>
                  <a:ext uri="{FF2B5EF4-FFF2-40B4-BE49-F238E27FC236}">
                    <a16:creationId xmlns:a16="http://schemas.microsoft.com/office/drawing/2014/main" id="{9974027F-93CD-AB3C-5729-C3C8950537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32" name="Text Box 65">
                <a:extLst>
                  <a:ext uri="{FF2B5EF4-FFF2-40B4-BE49-F238E27FC236}">
                    <a16:creationId xmlns:a16="http://schemas.microsoft.com/office/drawing/2014/main" id="{9974027F-93CD-AB3C-5729-C3C895053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blipFill>
                <a:blip r:embed="rId4"/>
                <a:stretch>
                  <a:fillRect l="-859" t="-3125" r="-859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3410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922429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3471" name="Rectangle 63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Teste de Aderência para variáveis contínuas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396" name="Text Box 64"/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4E534C-61D7-4198-B7D5-D8230B6E84C3}" type="slidenum">
              <a:rPr lang="pt-BR"/>
              <a:pPr>
                <a:defRPr/>
              </a:pPr>
              <a:t>16</a:t>
            </a:fld>
            <a:endParaRPr lang="pt-BR" dirty="0"/>
          </a:p>
        </p:txBody>
      </p:sp>
      <p:graphicFrame>
        <p:nvGraphicFramePr>
          <p:cNvPr id="5" name="Group 98">
            <a:extLst>
              <a:ext uri="{FF2B5EF4-FFF2-40B4-BE49-F238E27FC236}">
                <a16:creationId xmlns:a16="http://schemas.microsoft.com/office/drawing/2014/main" id="{A84567AD-5BF1-2C2D-8635-7579E0132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792266"/>
              </p:ext>
            </p:extLst>
          </p:nvPr>
        </p:nvGraphicFramePr>
        <p:xfrm>
          <a:off x="1403350" y="4221163"/>
          <a:ext cx="3600450" cy="1943102"/>
        </p:xfrm>
        <a:graphic>
          <a:graphicData uri="http://schemas.openxmlformats.org/drawingml/2006/table">
            <a:tbl>
              <a:tblPr/>
              <a:tblGrid>
                <a:gridCol w="165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Limites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FAObs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FAEsp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0 a 1,055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1,055</a:t>
                      </a: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a 1,794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1,794 a 2,571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2,571 a 3,481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3,481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a 4,672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4,672 a 6,582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6,582 a +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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Box 5">
            <a:extLst>
              <a:ext uri="{FF2B5EF4-FFF2-40B4-BE49-F238E27FC236}">
                <a16:creationId xmlns:a16="http://schemas.microsoft.com/office/drawing/2014/main" id="{1249135B-200B-5ECE-C1A5-CF4B850834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3789363"/>
            <a:ext cx="561487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Agrupando-se os valores em 7 classes equiprováveis tem-se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2">
                <a:extLst>
                  <a:ext uri="{FF2B5EF4-FFF2-40B4-BE49-F238E27FC236}">
                    <a16:creationId xmlns:a16="http://schemas.microsoft.com/office/drawing/2014/main" id="{432B4A5F-34DF-1C86-EE73-1546E6CC8F18}"/>
                  </a:ext>
                </a:extLst>
              </p:cNvPr>
              <p:cNvSpPr txBox="1"/>
              <p:nvPr/>
            </p:nvSpPr>
            <p:spPr bwMode="auto">
              <a:xfrm>
                <a:off x="5354637" y="4149725"/>
                <a:ext cx="3354387" cy="7032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𝐹𝐴𝑂𝑏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𝐹𝐴𝐸𝑠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𝐹𝐴𝐸𝑠</m:t>
                              </m:r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Object 2">
                <a:extLst>
                  <a:ext uri="{FF2B5EF4-FFF2-40B4-BE49-F238E27FC236}">
                    <a16:creationId xmlns:a16="http://schemas.microsoft.com/office/drawing/2014/main" id="{432B4A5F-34DF-1C86-EE73-1546E6CC8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54637" y="4149725"/>
                <a:ext cx="3354387" cy="703263"/>
              </a:xfrm>
              <a:prstGeom prst="rect">
                <a:avLst/>
              </a:prstGeom>
              <a:blipFill>
                <a:blip r:embed="rId5"/>
                <a:stretch>
                  <a:fillRect b="-521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39">
                <a:extLst>
                  <a:ext uri="{FF2B5EF4-FFF2-40B4-BE49-F238E27FC236}">
                    <a16:creationId xmlns:a16="http://schemas.microsoft.com/office/drawing/2014/main" id="{D4E3810B-FE13-FAFD-3839-C646C00AAA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3525" y="5034662"/>
                <a:ext cx="995401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=1,3</m:t>
                      </m:r>
                    </m:oMath>
                  </m:oMathPara>
                </a14:m>
                <a:endParaRPr lang="en-US" altLang="pt-BR" sz="16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8" name="Text Box 139">
                <a:extLst>
                  <a:ext uri="{FF2B5EF4-FFF2-40B4-BE49-F238E27FC236}">
                    <a16:creationId xmlns:a16="http://schemas.microsoft.com/office/drawing/2014/main" id="{D4E3810B-FE13-FAFD-3839-C646C00AA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3525" y="5034662"/>
                <a:ext cx="995401" cy="338554"/>
              </a:xfrm>
              <a:prstGeom prst="rect">
                <a:avLst/>
              </a:prstGeom>
              <a:blipFill>
                <a:blip r:embed="rId6"/>
                <a:stretch>
                  <a:fillRect b="-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3">
            <a:extLst>
              <a:ext uri="{FF2B5EF4-FFF2-40B4-BE49-F238E27FC236}">
                <a16:creationId xmlns:a16="http://schemas.microsoft.com/office/drawing/2014/main" id="{EA439C67-3534-1139-36E5-07A6394E6CFA}"/>
              </a:ext>
            </a:extLst>
          </p:cNvPr>
          <p:cNvGrpSpPr>
            <a:grpSpLocks/>
          </p:cNvGrpSpPr>
          <p:nvPr/>
        </p:nvGrpSpPr>
        <p:grpSpPr bwMode="auto">
          <a:xfrm>
            <a:off x="7026275" y="5040313"/>
            <a:ext cx="2159000" cy="1557337"/>
            <a:chOff x="4426" y="3175"/>
            <a:chExt cx="1360" cy="981"/>
          </a:xfrm>
        </p:grpSpPr>
        <p:sp>
          <p:nvSpPr>
            <p:cNvPr id="10" name="Freeform 141" descr="Diagonal para cima clara">
              <a:extLst>
                <a:ext uri="{FF2B5EF4-FFF2-40B4-BE49-F238E27FC236}">
                  <a16:creationId xmlns:a16="http://schemas.microsoft.com/office/drawing/2014/main" id="{338F6DFD-274A-6325-7DD2-10EF4BF34F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050" y="3576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Freeform 142">
              <a:extLst>
                <a:ext uri="{FF2B5EF4-FFF2-40B4-BE49-F238E27FC236}">
                  <a16:creationId xmlns:a16="http://schemas.microsoft.com/office/drawing/2014/main" id="{8AC37F69-25B3-BBD9-1DDE-D0A08ADD8D8F}"/>
                </a:ext>
              </a:extLst>
            </p:cNvPr>
            <p:cNvSpPr>
              <a:spLocks/>
            </p:cNvSpPr>
            <p:nvPr/>
          </p:nvSpPr>
          <p:spPr bwMode="auto">
            <a:xfrm>
              <a:off x="4516" y="3175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Freeform 143">
              <a:extLst>
                <a:ext uri="{FF2B5EF4-FFF2-40B4-BE49-F238E27FC236}">
                  <a16:creationId xmlns:a16="http://schemas.microsoft.com/office/drawing/2014/main" id="{DF6B5F5A-ED01-AD1B-60A2-DA7D18C2DAE6}"/>
                </a:ext>
              </a:extLst>
            </p:cNvPr>
            <p:cNvSpPr>
              <a:spLocks/>
            </p:cNvSpPr>
            <p:nvPr/>
          </p:nvSpPr>
          <p:spPr bwMode="auto">
            <a:xfrm>
              <a:off x="4512" y="3324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 cmpd="sng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Text Box 144">
              <a:extLst>
                <a:ext uri="{FF2B5EF4-FFF2-40B4-BE49-F238E27FC236}">
                  <a16:creationId xmlns:a16="http://schemas.microsoft.com/office/drawing/2014/main" id="{9E967089-AE35-D0C8-2FB9-E2EA592B2B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6" y="393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4" name="Text Box 145">
              <a:extLst>
                <a:ext uri="{FF2B5EF4-FFF2-40B4-BE49-F238E27FC236}">
                  <a16:creationId xmlns:a16="http://schemas.microsoft.com/office/drawing/2014/main" id="{B251F99D-5A72-CB10-D049-26BC149059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" y="392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bject 3">
                  <a:extLst>
                    <a:ext uri="{FF2B5EF4-FFF2-40B4-BE49-F238E27FC236}">
                      <a16:creationId xmlns:a16="http://schemas.microsoft.com/office/drawing/2014/main" id="{2CCBEBF0-B1EC-09FB-29CE-A13CCAC1A474}"/>
                    </a:ext>
                  </a:extLst>
                </p:cNvPr>
                <p:cNvSpPr txBox="1"/>
                <p:nvPr/>
              </p:nvSpPr>
              <p:spPr bwMode="auto">
                <a:xfrm>
                  <a:off x="4782" y="3949"/>
                  <a:ext cx="677" cy="20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775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𝑐𝑟</m:t>
                            </m:r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9,49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Object 3">
                  <a:extLst>
                    <a:ext uri="{FF2B5EF4-FFF2-40B4-BE49-F238E27FC236}">
                      <a16:creationId xmlns:a16="http://schemas.microsoft.com/office/drawing/2014/main" id="{2CCBEBF0-B1EC-09FB-29CE-A13CCAC1A4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782" y="3949"/>
                  <a:ext cx="677" cy="20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bject 4">
                  <a:extLst>
                    <a:ext uri="{FF2B5EF4-FFF2-40B4-BE49-F238E27FC236}">
                      <a16:creationId xmlns:a16="http://schemas.microsoft.com/office/drawing/2014/main" id="{3045BD44-E5B1-BBC1-C998-085C931CF917}"/>
                    </a:ext>
                  </a:extLst>
                </p:cNvPr>
                <p:cNvSpPr txBox="1"/>
                <p:nvPr/>
              </p:nvSpPr>
              <p:spPr bwMode="auto">
                <a:xfrm>
                  <a:off x="5242" y="3311"/>
                  <a:ext cx="183" cy="21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Object 4">
                  <a:extLst>
                    <a:ext uri="{FF2B5EF4-FFF2-40B4-BE49-F238E27FC236}">
                      <a16:creationId xmlns:a16="http://schemas.microsoft.com/office/drawing/2014/main" id="{3045BD44-E5B1-BBC1-C998-085C931CF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242" y="3311"/>
                  <a:ext cx="183" cy="218"/>
                </a:xfrm>
                <a:prstGeom prst="rect">
                  <a:avLst/>
                </a:prstGeom>
                <a:blipFill>
                  <a:blip r:embed="rId8"/>
                  <a:stretch>
                    <a:fillRect r="-18750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 Box 148">
              <a:extLst>
                <a:ext uri="{FF2B5EF4-FFF2-40B4-BE49-F238E27FC236}">
                  <a16:creationId xmlns:a16="http://schemas.microsoft.com/office/drawing/2014/main" id="{AB88271A-B896-A533-0502-CF114653B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7" y="3609"/>
              <a:ext cx="55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>
                  <a:latin typeface="Times New Roman" charset="0"/>
                  <a:sym typeface="Symbol" pitchFamily="18" charset="2"/>
                </a:rPr>
                <a:t></a:t>
              </a:r>
              <a:r>
                <a:rPr lang="en-US" altLang="pt-BR" sz="1600">
                  <a:latin typeface="Times New Roman" charset="0"/>
                  <a:sym typeface="Symbol" pitchFamily="18" charset="2"/>
                </a:rPr>
                <a:t> = 0,05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49">
                <a:extLst>
                  <a:ext uri="{FF2B5EF4-FFF2-40B4-BE49-F238E27FC236}">
                    <a16:creationId xmlns:a16="http://schemas.microsoft.com/office/drawing/2014/main" id="{57401B93-D57D-8ECB-308F-CA5C68A4F0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16012" y="6232525"/>
                <a:ext cx="6637338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     aceita-se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a 5%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sig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., ou seja,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pt-BR" sz="16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8" name="Text Box 149">
                <a:extLst>
                  <a:ext uri="{FF2B5EF4-FFF2-40B4-BE49-F238E27FC236}">
                    <a16:creationId xmlns:a16="http://schemas.microsoft.com/office/drawing/2014/main" id="{57401B93-D57D-8ECB-308F-CA5C68A4F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2" y="6232525"/>
                <a:ext cx="6637338" cy="830997"/>
              </a:xfrm>
              <a:prstGeom prst="rect">
                <a:avLst/>
              </a:prstGeom>
              <a:blipFill>
                <a:blip r:embed="rId9"/>
                <a:stretch>
                  <a:fillRect l="-459" t="-219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817E3BEF-F254-4CCC-6CE2-CBFEAEA6F0BD}"/>
                  </a:ext>
                </a:extLst>
              </p:cNvPr>
              <p:cNvSpPr txBox="1"/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817E3BEF-F254-4CCC-6CE2-CBFEAEA6F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blipFill>
                <a:blip r:embed="rId10"/>
                <a:stretch>
                  <a:fillRect t="-92157" b="-15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0B023D5-727A-945D-0E00-0A056C8931D1}"/>
                  </a:ext>
                </a:extLst>
              </p:cNvPr>
              <p:cNvSpPr txBox="1"/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0B023D5-727A-945D-0E00-0A056C893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blipFill>
                <a:blip r:embed="rId11"/>
                <a:stretch>
                  <a:fillRect t="-84906" b="-1471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upo 25">
            <a:extLst>
              <a:ext uri="{FF2B5EF4-FFF2-40B4-BE49-F238E27FC236}">
                <a16:creationId xmlns:a16="http://schemas.microsoft.com/office/drawing/2014/main" id="{50E1BAF5-294D-D44E-BA06-5849BD4D2C95}"/>
              </a:ext>
            </a:extLst>
          </p:cNvPr>
          <p:cNvGrpSpPr/>
          <p:nvPr/>
        </p:nvGrpSpPr>
        <p:grpSpPr>
          <a:xfrm>
            <a:off x="3965840" y="3501008"/>
            <a:ext cx="1614272" cy="302057"/>
            <a:chOff x="5538353" y="6334597"/>
            <a:chExt cx="1614272" cy="302057"/>
          </a:xfrm>
        </p:grpSpPr>
        <p:sp>
          <p:nvSpPr>
            <p:cNvPr id="26" name="Seta para baixo 26">
              <a:extLst>
                <a:ext uri="{FF2B5EF4-FFF2-40B4-BE49-F238E27FC236}">
                  <a16:creationId xmlns:a16="http://schemas.microsoft.com/office/drawing/2014/main" id="{0EE44D3F-3823-EBCE-7D9C-C03F45710A99}"/>
                </a:ext>
              </a:extLst>
            </p:cNvPr>
            <p:cNvSpPr/>
            <p:nvPr/>
          </p:nvSpPr>
          <p:spPr>
            <a:xfrm rot="13814835" flipH="1" flipV="1">
              <a:off x="5638553" y="6490735"/>
              <a:ext cx="45719" cy="246120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6A19E166-BA78-CD3C-B69A-1CB9D11FD096}"/>
                </a:ext>
              </a:extLst>
            </p:cNvPr>
            <p:cNvSpPr txBox="1"/>
            <p:nvPr/>
          </p:nvSpPr>
          <p:spPr>
            <a:xfrm>
              <a:off x="5718987" y="6334597"/>
              <a:ext cx="1433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40/7 = 5,7  (&gt; 5)</a:t>
              </a:r>
            </a:p>
          </p:txBody>
        </p:sp>
      </p:grpSp>
      <p:grpSp>
        <p:nvGrpSpPr>
          <p:cNvPr id="34" name="Grupo 25">
            <a:extLst>
              <a:ext uri="{FF2B5EF4-FFF2-40B4-BE49-F238E27FC236}">
                <a16:creationId xmlns:a16="http://schemas.microsoft.com/office/drawing/2014/main" id="{A135BF84-ABA2-047B-5AE5-9D8B35AB79B1}"/>
              </a:ext>
            </a:extLst>
          </p:cNvPr>
          <p:cNvGrpSpPr/>
          <p:nvPr/>
        </p:nvGrpSpPr>
        <p:grpSpPr>
          <a:xfrm>
            <a:off x="8378139" y="4242740"/>
            <a:ext cx="917514" cy="302057"/>
            <a:chOff x="5538353" y="6334597"/>
            <a:chExt cx="917514" cy="302057"/>
          </a:xfrm>
        </p:grpSpPr>
        <p:sp>
          <p:nvSpPr>
            <p:cNvPr id="35" name="Seta para baixo 26">
              <a:extLst>
                <a:ext uri="{FF2B5EF4-FFF2-40B4-BE49-F238E27FC236}">
                  <a16:creationId xmlns:a16="http://schemas.microsoft.com/office/drawing/2014/main" id="{2C8D4219-B269-5B7D-9857-41AF282130F7}"/>
                </a:ext>
              </a:extLst>
            </p:cNvPr>
            <p:cNvSpPr/>
            <p:nvPr/>
          </p:nvSpPr>
          <p:spPr>
            <a:xfrm rot="13814835" flipH="1" flipV="1">
              <a:off x="5638553" y="6490735"/>
              <a:ext cx="45719" cy="246120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49CC9CFE-C89C-566C-0D1B-B93EA4F73679}"/>
                </a:ext>
              </a:extLst>
            </p:cNvPr>
            <p:cNvSpPr txBox="1"/>
            <p:nvPr/>
          </p:nvSpPr>
          <p:spPr>
            <a:xfrm>
              <a:off x="5690112" y="6334597"/>
              <a:ext cx="7657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7-1-2=4</a:t>
              </a: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473" grpId="0" animBg="1" autoUpdateAnimBg="0"/>
      <p:bldP spid="32" grpId="0" animBg="1" autoUpdateAnimBg="0"/>
      <p:bldP spid="6" grpId="0" autoUpdateAnimBg="0"/>
      <p:bldP spid="7" grpId="0"/>
      <p:bldP spid="8" grpId="0" autoUpdateAnimBg="0"/>
      <p:bldP spid="18" grpId="0" build="p" autoUpdateAnimBg="0"/>
      <p:bldP spid="29" grpId="0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</a:t>
            </a:r>
            <a:r>
              <a:rPr lang="pt-BR" dirty="0"/>
              <a:t>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9230CF-FD11-488C-827A-DB3D5A85C883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aphicFrame>
        <p:nvGraphicFramePr>
          <p:cNvPr id="5" name="Group 2">
            <a:extLst>
              <a:ext uri="{FF2B5EF4-FFF2-40B4-BE49-F238E27FC236}">
                <a16:creationId xmlns:a16="http://schemas.microsoft.com/office/drawing/2014/main" id="{DE731D5F-08E6-4249-3E2A-9D8E131C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828123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Box 64">
            <a:extLst>
              <a:ext uri="{FF2B5EF4-FFF2-40B4-BE49-F238E27FC236}">
                <a16:creationId xmlns:a16="http://schemas.microsoft.com/office/drawing/2014/main" id="{D904984E-2E63-6017-F87B-261BE160BB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5">
                <a:extLst>
                  <a:ext uri="{FF2B5EF4-FFF2-40B4-BE49-F238E27FC236}">
                    <a16:creationId xmlns:a16="http://schemas.microsoft.com/office/drawing/2014/main" id="{AADE8BF4-5B24-0316-40E6-B3E7435E05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16" name="Text Box 65">
                <a:extLst>
                  <a:ext uri="{FF2B5EF4-FFF2-40B4-BE49-F238E27FC236}">
                    <a16:creationId xmlns:a16="http://schemas.microsoft.com/office/drawing/2014/main" id="{AADE8BF4-5B24-0316-40E6-B3E7435E0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blipFill>
                <a:blip r:embed="rId3"/>
                <a:stretch>
                  <a:fillRect l="-923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65">
                <a:extLst>
                  <a:ext uri="{FF2B5EF4-FFF2-40B4-BE49-F238E27FC236}">
                    <a16:creationId xmlns:a16="http://schemas.microsoft.com/office/drawing/2014/main" id="{C70CD668-05D9-9F4E-C3A0-0908A11D19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20" name="Text Box 65">
                <a:extLst>
                  <a:ext uri="{FF2B5EF4-FFF2-40B4-BE49-F238E27FC236}">
                    <a16:creationId xmlns:a16="http://schemas.microsoft.com/office/drawing/2014/main" id="{C70CD668-05D9-9F4E-C3A0-0908A11D1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blipFill>
                <a:blip r:embed="rId4"/>
                <a:stretch>
                  <a:fillRect l="-859" t="-3125" r="-859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C7654E16-EEFE-D4AC-9CFD-9E485007C336}"/>
                  </a:ext>
                </a:extLst>
              </p:cNvPr>
              <p:cNvSpPr txBox="1"/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C7654E16-EEFE-D4AC-9CFD-9E485007C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blipFill>
                <a:blip r:embed="rId5"/>
                <a:stretch>
                  <a:fillRect t="-92157" b="-15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0E420D53-442F-61B3-6C62-90AFA4285560}"/>
                  </a:ext>
                </a:extLst>
              </p:cNvPr>
              <p:cNvSpPr txBox="1"/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0E420D53-442F-61B3-6C62-90AFA4285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blipFill>
                <a:blip r:embed="rId6"/>
                <a:stretch>
                  <a:fillRect t="-84906" b="-1471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 autoUpdateAnimBg="0"/>
      <p:bldP spid="20" grpId="0" animBg="1" autoUpdateAnimBg="0"/>
      <p:bldP spid="21" grpId="0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18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bject 69"/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6" name="Object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upo 21"/>
          <p:cNvGrpSpPr>
            <a:grpSpLocks/>
          </p:cNvGrpSpPr>
          <p:nvPr/>
        </p:nvGrpSpPr>
        <p:grpSpPr bwMode="auto">
          <a:xfrm>
            <a:off x="1772445" y="2492896"/>
            <a:ext cx="2727547" cy="461665"/>
            <a:chOff x="7917961" y="5733420"/>
            <a:chExt cx="2726841" cy="4612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4"/>
                <p:cNvSpPr txBox="1">
                  <a:spLocks noChangeArrowheads="1"/>
                </p:cNvSpPr>
                <p:nvPr/>
              </p:nvSpPr>
              <p:spPr bwMode="auto">
                <a:xfrm>
                  <a:off x="8199637" y="5733420"/>
                  <a:ext cx="2445165" cy="4612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 dirty="0">
                      <a:latin typeface="Tahoma" panose="020B0604030504040204" pitchFamily="34" charset="0"/>
                    </a:rPr>
                    <a:t>Se </a:t>
                  </a:r>
                  <a:r>
                    <a:rPr lang="pt-BR" altLang="pt-BR" sz="1200" dirty="0">
                      <a:latin typeface="Times New Roman" charset="0"/>
                    </a:rPr>
                    <a:t>H</a:t>
                  </a:r>
                  <a:r>
                    <a:rPr lang="pt-BR" altLang="pt-BR" sz="1200" baseline="-25000" dirty="0">
                      <a:latin typeface="Times New Roman" charset="0"/>
                    </a:rPr>
                    <a:t>0</a:t>
                  </a:r>
                  <a:r>
                    <a:rPr lang="pt-BR" altLang="pt-BR" sz="1200" dirty="0">
                      <a:latin typeface="Tahoma" panose="020B0604030504040204" pitchFamily="34" charset="0"/>
                    </a:rPr>
                    <a:t> Verdadeira</a:t>
                  </a:r>
                </a:p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 i="1" dirty="0">
                      <a:latin typeface="Times New Roman" charset="0"/>
                    </a:rPr>
                    <a:t>X ~ Gamma</a:t>
                  </a:r>
                  <a:r>
                    <a:rPr lang="pt-BR" altLang="pt-BR" sz="1200" dirty="0">
                      <a:latin typeface="Times New Roman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a14:m>
                  <a:r>
                    <a:rPr lang="pt-BR" altLang="pt-BR" sz="1200" dirty="0">
                      <a:latin typeface="Times New Roman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a14:m>
                  <a:r>
                    <a:rPr lang="pt-BR" altLang="pt-BR" sz="1200" dirty="0">
                      <a:latin typeface="Times New Roman" charset="0"/>
                    </a:rPr>
                    <a:t>)</a:t>
                  </a:r>
                  <a:endParaRPr lang="pt-BR" altLang="pt-BR" sz="1200" dirty="0">
                    <a:latin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3" name="Text 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199637" y="5733420"/>
                  <a:ext cx="2445165" cy="461299"/>
                </a:xfrm>
                <a:prstGeom prst="rect">
                  <a:avLst/>
                </a:prstGeom>
                <a:blipFill>
                  <a:blip r:embed="rId4"/>
                  <a:stretch>
                    <a:fillRect l="-249" t="-2632" b="-9211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Seta para cima 20"/>
            <p:cNvSpPr>
              <a:spLocks noChangeArrowheads="1"/>
            </p:cNvSpPr>
            <p:nvPr/>
          </p:nvSpPr>
          <p:spPr bwMode="auto">
            <a:xfrm rot="16200000">
              <a:off x="7953813" y="5827068"/>
              <a:ext cx="214199" cy="28590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0608770"/>
                  </p:ext>
                </p:extLst>
              </p:nvPr>
            </p:nvGraphicFramePr>
            <p:xfrm>
              <a:off x="499768" y="2550411"/>
              <a:ext cx="12192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0608770"/>
                  </p:ext>
                </p:extLst>
              </p:nvPr>
            </p:nvGraphicFramePr>
            <p:xfrm>
              <a:off x="499768" y="2550411"/>
              <a:ext cx="12192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90" t="-2041" r="-10198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4" name="Conector de seta reta 3"/>
          <p:cNvCxnSpPr/>
          <p:nvPr/>
        </p:nvCxnSpPr>
        <p:spPr>
          <a:xfrm flipV="1">
            <a:off x="1835696" y="2708920"/>
            <a:ext cx="2698204" cy="792088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479919" y="5629933"/>
            <a:ext cx="604224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Ordenam-se os valores observados e calcula-se a frequência acumulada esperada (considerando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</a:rPr>
              <a:t> verdadeira) para cada valor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9" name="Text Box 64">
            <a:extLst>
              <a:ext uri="{FF2B5EF4-FFF2-40B4-BE49-F238E27FC236}">
                <a16:creationId xmlns:a16="http://schemas.microsoft.com/office/drawing/2014/main" id="{19437C03-6397-0842-ADB6-AFFC440E7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grpSp>
        <p:nvGrpSpPr>
          <p:cNvPr id="10" name="Grupo 21">
            <a:extLst>
              <a:ext uri="{FF2B5EF4-FFF2-40B4-BE49-F238E27FC236}">
                <a16:creationId xmlns:a16="http://schemas.microsoft.com/office/drawing/2014/main" id="{2D3996B2-331B-A81D-B3D0-E9FCC57FD2CE}"/>
              </a:ext>
            </a:extLst>
          </p:cNvPr>
          <p:cNvGrpSpPr>
            <a:grpSpLocks/>
          </p:cNvGrpSpPr>
          <p:nvPr/>
        </p:nvGrpSpPr>
        <p:grpSpPr bwMode="auto">
          <a:xfrm>
            <a:off x="6212358" y="2815312"/>
            <a:ext cx="1024639" cy="611539"/>
            <a:chOff x="8159705" y="5711404"/>
            <a:chExt cx="1024371" cy="611055"/>
          </a:xfrm>
        </p:grpSpPr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F45EF79C-AFD6-AD5C-50C9-7810AD6116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59705" y="6045679"/>
              <a:ext cx="1024371" cy="2767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FDP Gamma</a:t>
              </a:r>
              <a:endParaRPr lang="en-US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2" name="Seta para cima 20">
              <a:extLst>
                <a:ext uri="{FF2B5EF4-FFF2-40B4-BE49-F238E27FC236}">
                  <a16:creationId xmlns:a16="http://schemas.microsoft.com/office/drawing/2014/main" id="{E292814E-7BD4-DB71-65A6-1A37841513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64734" y="5711404"/>
              <a:ext cx="214314" cy="285752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19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72"/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Object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67"/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8818153"/>
                  </p:ext>
                </p:extLst>
              </p:nvPr>
            </p:nvGraphicFramePr>
            <p:xfrm>
              <a:off x="499768" y="2550411"/>
              <a:ext cx="18288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8818153"/>
                  </p:ext>
                </p:extLst>
              </p:nvPr>
            </p:nvGraphicFramePr>
            <p:xfrm>
              <a:off x="499768" y="2550411"/>
              <a:ext cx="18288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" t="-2041" r="-2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00" t="-2041" r="-10198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3" name="Conector de seta reta 22"/>
          <p:cNvCxnSpPr/>
          <p:nvPr/>
        </p:nvCxnSpPr>
        <p:spPr>
          <a:xfrm flipV="1">
            <a:off x="2411760" y="3284984"/>
            <a:ext cx="2122140" cy="2160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Box 3"/>
          <p:cNvSpPr txBox="1">
            <a:spLocks noChangeArrowheads="1"/>
          </p:cNvSpPr>
          <p:nvPr/>
        </p:nvSpPr>
        <p:spPr bwMode="auto">
          <a:xfrm>
            <a:off x="3131839" y="5629933"/>
            <a:ext cx="539032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Em seguida, calcula-se a frequência acumulada observada para cada valor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2" name="Text Box 64">
            <a:extLst>
              <a:ext uri="{FF2B5EF4-FFF2-40B4-BE49-F238E27FC236}">
                <a16:creationId xmlns:a16="http://schemas.microsoft.com/office/drawing/2014/main" id="{73B87B50-B07A-B675-BE84-6310627F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69">
                <a:extLst>
                  <a:ext uri="{FF2B5EF4-FFF2-40B4-BE49-F238E27FC236}">
                    <a16:creationId xmlns:a16="http://schemas.microsoft.com/office/drawing/2014/main" id="{1EA56BCB-CF1F-1E07-E8A7-FEB394059698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3" name="Object 69">
                <a:extLst>
                  <a:ext uri="{FF2B5EF4-FFF2-40B4-BE49-F238E27FC236}">
                    <a16:creationId xmlns:a16="http://schemas.microsoft.com/office/drawing/2014/main" id="{1EA56BCB-CF1F-1E07-E8A7-FEB394059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283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20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0229017"/>
                  </p:ext>
                </p:extLst>
              </p:nvPr>
            </p:nvGraphicFramePr>
            <p:xfrm>
              <a:off x="499768" y="2550411"/>
              <a:ext cx="24384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  <m:sup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0229017"/>
                  </p:ext>
                </p:extLst>
              </p:nvPr>
            </p:nvGraphicFramePr>
            <p:xfrm>
              <a:off x="499768" y="2550411"/>
              <a:ext cx="24384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" t="-2041" r="-3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041" r="-20099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00" t="-2041" r="-103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3" name="Conector de seta reta 22"/>
          <p:cNvCxnSpPr/>
          <p:nvPr/>
        </p:nvCxnSpPr>
        <p:spPr>
          <a:xfrm>
            <a:off x="3059832" y="3501008"/>
            <a:ext cx="1474068" cy="432048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Box 3"/>
          <p:cNvSpPr txBox="1">
            <a:spLocks noChangeArrowheads="1"/>
          </p:cNvSpPr>
          <p:nvPr/>
        </p:nvSpPr>
        <p:spPr bwMode="auto">
          <a:xfrm>
            <a:off x="3796866" y="5414489"/>
            <a:ext cx="4725300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Para variáveis contínuas, há diferença em considerar ou não o valor observado para contabilizar a frequência acumulada observada ...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72">
                <a:extLst>
                  <a:ext uri="{FF2B5EF4-FFF2-40B4-BE49-F238E27FC236}">
                    <a16:creationId xmlns:a16="http://schemas.microsoft.com/office/drawing/2014/main" id="{4682D67B-9BB0-386F-3532-9A8AD371FB70}"/>
                  </a:ext>
                </a:extLst>
              </p:cNvPr>
              <p:cNvSpPr txBox="1"/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9" name="Object 72">
                <a:extLst>
                  <a:ext uri="{FF2B5EF4-FFF2-40B4-BE49-F238E27FC236}">
                    <a16:creationId xmlns:a16="http://schemas.microsoft.com/office/drawing/2014/main" id="{4682D67B-9BB0-386F-3532-9A8AD371F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67">
                <a:extLst>
                  <a:ext uri="{FF2B5EF4-FFF2-40B4-BE49-F238E27FC236}">
                    <a16:creationId xmlns:a16="http://schemas.microsoft.com/office/drawing/2014/main" id="{936FA5F5-B4D0-0A49-73B0-CA745458FFE6}"/>
                  </a:ext>
                </a:extLst>
              </p:cNvPr>
              <p:cNvSpPr txBox="1"/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0,05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Object 67">
                <a:extLst>
                  <a:ext uri="{FF2B5EF4-FFF2-40B4-BE49-F238E27FC236}">
                    <a16:creationId xmlns:a16="http://schemas.microsoft.com/office/drawing/2014/main" id="{936FA5F5-B4D0-0A49-73B0-CA745458F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Box 64">
            <a:extLst>
              <a:ext uri="{FF2B5EF4-FFF2-40B4-BE49-F238E27FC236}">
                <a16:creationId xmlns:a16="http://schemas.microsoft.com/office/drawing/2014/main" id="{B44947C7-84B3-0844-DFDC-03F16BDCD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72">
                <a:extLst>
                  <a:ext uri="{FF2B5EF4-FFF2-40B4-BE49-F238E27FC236}">
                    <a16:creationId xmlns:a16="http://schemas.microsoft.com/office/drawing/2014/main" id="{0FC4CA7E-C3C7-DF99-67A3-FA393CDFD550}"/>
                  </a:ext>
                </a:extLst>
              </p:cNvPr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Object 72">
                <a:extLst>
                  <a:ext uri="{FF2B5EF4-FFF2-40B4-BE49-F238E27FC236}">
                    <a16:creationId xmlns:a16="http://schemas.microsoft.com/office/drawing/2014/main" id="{0FC4CA7E-C3C7-DF99-67A3-FA393CDFD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67">
                <a:extLst>
                  <a:ext uri="{FF2B5EF4-FFF2-40B4-BE49-F238E27FC236}">
                    <a16:creationId xmlns:a16="http://schemas.microsoft.com/office/drawing/2014/main" id="{1C55E3D2-8B29-F078-C69B-93B01A2215BC}"/>
                  </a:ext>
                </a:extLst>
              </p:cNvPr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8" name="Object 67">
                <a:extLst>
                  <a:ext uri="{FF2B5EF4-FFF2-40B4-BE49-F238E27FC236}">
                    <a16:creationId xmlns:a16="http://schemas.microsoft.com/office/drawing/2014/main" id="{1C55E3D2-8B29-F078-C69B-93B01A221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69">
                <a:extLst>
                  <a:ext uri="{FF2B5EF4-FFF2-40B4-BE49-F238E27FC236}">
                    <a16:creationId xmlns:a16="http://schemas.microsoft.com/office/drawing/2014/main" id="{B1CB4A40-1897-0ECE-A23D-D2444AEA5347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9" name="Object 69">
                <a:extLst>
                  <a:ext uri="{FF2B5EF4-FFF2-40B4-BE49-F238E27FC236}">
                    <a16:creationId xmlns:a16="http://schemas.microsoft.com/office/drawing/2014/main" id="{B1CB4A40-1897-0ECE-A23D-D2444AEA5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117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74"/>
              <p:cNvSpPr txBox="1"/>
              <p:nvPr/>
            </p:nvSpPr>
            <p:spPr bwMode="auto">
              <a:xfrm>
                <a:off x="4859338" y="4535488"/>
                <a:ext cx="2452687" cy="398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á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|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𝑜𝑏𝑠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𝑒𝑠𝑝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Object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59338" y="4535488"/>
                <a:ext cx="2452687" cy="3984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78"/>
          <p:cNvGrpSpPr>
            <a:grpSpLocks/>
          </p:cNvGrpSpPr>
          <p:nvPr/>
        </p:nvGrpSpPr>
        <p:grpSpPr bwMode="auto">
          <a:xfrm>
            <a:off x="4996562" y="4830740"/>
            <a:ext cx="4052894" cy="490535"/>
            <a:chOff x="2819" y="3467"/>
            <a:chExt cx="2553" cy="309"/>
          </a:xfrm>
        </p:grpSpPr>
        <p:sp>
          <p:nvSpPr>
            <p:cNvPr id="39" name="Text Box 75"/>
            <p:cNvSpPr txBox="1">
              <a:spLocks noChangeArrowheads="1"/>
            </p:cNvSpPr>
            <p:nvPr/>
          </p:nvSpPr>
          <p:spPr bwMode="auto">
            <a:xfrm>
              <a:off x="3061" y="3602"/>
              <a:ext cx="231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deve ser comparado a um valor crítico (tabelado)</a:t>
              </a:r>
              <a:endParaRPr lang="en-US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40" name="Freeform 77"/>
            <p:cNvSpPr>
              <a:spLocks/>
            </p:cNvSpPr>
            <p:nvPr/>
          </p:nvSpPr>
          <p:spPr bwMode="auto">
            <a:xfrm>
              <a:off x="2819" y="3467"/>
              <a:ext cx="272" cy="227"/>
            </a:xfrm>
            <a:custGeom>
              <a:avLst/>
              <a:gdLst>
                <a:gd name="T0" fmla="*/ 0 w 272"/>
                <a:gd name="T1" fmla="*/ 0 h 227"/>
                <a:gd name="T2" fmla="*/ 51 w 272"/>
                <a:gd name="T3" fmla="*/ 186 h 227"/>
                <a:gd name="T4" fmla="*/ 272 w 272"/>
                <a:gd name="T5" fmla="*/ 227 h 227"/>
                <a:gd name="T6" fmla="*/ 0 60000 65536"/>
                <a:gd name="T7" fmla="*/ 0 60000 65536"/>
                <a:gd name="T8" fmla="*/ 0 60000 65536"/>
                <a:gd name="T9" fmla="*/ 0 w 272"/>
                <a:gd name="T10" fmla="*/ 0 h 227"/>
                <a:gd name="T11" fmla="*/ 272 w 272"/>
                <a:gd name="T12" fmla="*/ 227 h 22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2" h="227">
                  <a:moveTo>
                    <a:pt x="0" y="0"/>
                  </a:moveTo>
                  <a:cubicBezTo>
                    <a:pt x="8" y="31"/>
                    <a:pt x="6" y="148"/>
                    <a:pt x="51" y="186"/>
                  </a:cubicBezTo>
                  <a:cubicBezTo>
                    <a:pt x="96" y="224"/>
                    <a:pt x="226" y="218"/>
                    <a:pt x="272" y="22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1" name="Text Box 79"/>
          <p:cNvSpPr txBox="1">
            <a:spLocks noChangeArrowheads="1"/>
          </p:cNvSpPr>
          <p:nvPr/>
        </p:nvSpPr>
        <p:spPr bwMode="auto">
          <a:xfrm>
            <a:off x="4533901" y="5324475"/>
            <a:ext cx="46101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charset="0"/>
              </a:rPr>
              <a:t>D</a:t>
            </a:r>
            <a:r>
              <a:rPr lang="pt-BR" altLang="pt-BR" sz="1600" dirty="0">
                <a:latin typeface="Tahoma" panose="020B0604030504040204" pitchFamily="34" charset="0"/>
              </a:rPr>
              <a:t> for maior que </a:t>
            </a:r>
            <a:r>
              <a:rPr lang="pt-BR" altLang="pt-BR" sz="1600" i="1" dirty="0" err="1">
                <a:latin typeface="Times New Roman" charset="0"/>
              </a:rPr>
              <a:t>D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, então 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e conclui-se que a distribuição teórica não é válida, com certo nível de significância.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5918078"/>
                  </p:ext>
                </p:extLst>
              </p:nvPr>
            </p:nvGraphicFramePr>
            <p:xfrm>
              <a:off x="499768" y="2550411"/>
              <a:ext cx="36576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  <m:sup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r>
                            <a:rPr lang="pt-BR" sz="14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'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0,0110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0,0195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0,0556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0,0569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0,0666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0,0321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0,0042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0,0289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0,0207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0,0065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0,0185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5918078"/>
                  </p:ext>
                </p:extLst>
              </p:nvPr>
            </p:nvGraphicFramePr>
            <p:xfrm>
              <a:off x="499768" y="2550411"/>
              <a:ext cx="36576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" t="-4082" r="-5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000" t="-4082" r="-4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99010" t="-4082" r="-300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2000" t="-4082" r="-203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r>
                            <a:rPr lang="pt-BR" sz="14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'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0,0110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0,0195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0,0556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0,0569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0,0666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0,0321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0,0042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0,0289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0,0207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0,0065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0,0185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Retângulo 10"/>
          <p:cNvSpPr/>
          <p:nvPr/>
        </p:nvSpPr>
        <p:spPr>
          <a:xfrm>
            <a:off x="3548272" y="3849412"/>
            <a:ext cx="612000" cy="2774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395536" y="6290156"/>
            <a:ext cx="805462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Por fim, calcula-se a estatística </a:t>
            </a:r>
            <a:r>
              <a:rPr lang="pt-BR" alt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pt-BR" altLang="pt-BR" sz="1400" dirty="0">
                <a:latin typeface="Tahoma" panose="020B0604030504040204" pitchFamily="34" charset="0"/>
              </a:rPr>
              <a:t> que corresponde a diferença máxima entre as frequências acumuladas esperadas e observadas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5" name="Text Box 64">
            <a:extLst>
              <a:ext uri="{FF2B5EF4-FFF2-40B4-BE49-F238E27FC236}">
                <a16:creationId xmlns:a16="http://schemas.microsoft.com/office/drawing/2014/main" id="{888B00DF-A248-6E7F-9525-B2D9021605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72">
                <a:extLst>
                  <a:ext uri="{FF2B5EF4-FFF2-40B4-BE49-F238E27FC236}">
                    <a16:creationId xmlns:a16="http://schemas.microsoft.com/office/drawing/2014/main" id="{5F5961F9-C0B3-843D-D5F9-5FDF30E39C21}"/>
                  </a:ext>
                </a:extLst>
              </p:cNvPr>
              <p:cNvSpPr txBox="1"/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6" name="Object 72">
                <a:extLst>
                  <a:ext uri="{FF2B5EF4-FFF2-40B4-BE49-F238E27FC236}">
                    <a16:creationId xmlns:a16="http://schemas.microsoft.com/office/drawing/2014/main" id="{5F5961F9-C0B3-843D-D5F9-5FDF30E39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67">
                <a:extLst>
                  <a:ext uri="{FF2B5EF4-FFF2-40B4-BE49-F238E27FC236}">
                    <a16:creationId xmlns:a16="http://schemas.microsoft.com/office/drawing/2014/main" id="{6944AFD8-7259-EAA1-07AF-3F13E07A59EB}"/>
                  </a:ext>
                </a:extLst>
              </p:cNvPr>
              <p:cNvSpPr txBox="1"/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0,05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7" name="Object 67">
                <a:extLst>
                  <a:ext uri="{FF2B5EF4-FFF2-40B4-BE49-F238E27FC236}">
                    <a16:creationId xmlns:a16="http://schemas.microsoft.com/office/drawing/2014/main" id="{6944AFD8-7259-EAA1-07AF-3F13E07A5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69">
                <a:extLst>
                  <a:ext uri="{FF2B5EF4-FFF2-40B4-BE49-F238E27FC236}">
                    <a16:creationId xmlns:a16="http://schemas.microsoft.com/office/drawing/2014/main" id="{CFCCEC2F-652B-3A7D-E0CA-200DB0EAD0A9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8" name="Object 69">
                <a:extLst>
                  <a:ext uri="{FF2B5EF4-FFF2-40B4-BE49-F238E27FC236}">
                    <a16:creationId xmlns:a16="http://schemas.microsoft.com/office/drawing/2014/main" id="{CFCCEC2F-652B-3A7D-E0CA-200DB0EAD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72">
                <a:extLst>
                  <a:ext uri="{FF2B5EF4-FFF2-40B4-BE49-F238E27FC236}">
                    <a16:creationId xmlns:a16="http://schemas.microsoft.com/office/drawing/2014/main" id="{2AE38E19-CA44-C8E7-194F-86FCEB1C50FD}"/>
                  </a:ext>
                </a:extLst>
              </p:cNvPr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9" name="Object 72">
                <a:extLst>
                  <a:ext uri="{FF2B5EF4-FFF2-40B4-BE49-F238E27FC236}">
                    <a16:creationId xmlns:a16="http://schemas.microsoft.com/office/drawing/2014/main" id="{2AE38E19-CA44-C8E7-194F-86FCEB1C5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67">
                <a:extLst>
                  <a:ext uri="{FF2B5EF4-FFF2-40B4-BE49-F238E27FC236}">
                    <a16:creationId xmlns:a16="http://schemas.microsoft.com/office/drawing/2014/main" id="{89D277C2-168F-4DAA-4645-EB7F39630D68}"/>
                  </a:ext>
                </a:extLst>
              </p:cNvPr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Object 67">
                <a:extLst>
                  <a:ext uri="{FF2B5EF4-FFF2-40B4-BE49-F238E27FC236}">
                    <a16:creationId xmlns:a16="http://schemas.microsoft.com/office/drawing/2014/main" id="{89D277C2-168F-4DAA-4645-EB7F39630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852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8" name="Rectangle 4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KS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401335"/>
              </p:ext>
            </p:extLst>
          </p:nvPr>
        </p:nvGraphicFramePr>
        <p:xfrm>
          <a:off x="1857375" y="1390650"/>
          <a:ext cx="5572124" cy="5386383"/>
        </p:xfrm>
        <a:graphic>
          <a:graphicData uri="http://schemas.openxmlformats.org/drawingml/2006/table">
            <a:tbl>
              <a:tblPr/>
              <a:tblGrid>
                <a:gridCol w="105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6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639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Tamanho da amostra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)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Nível de significância para 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  <a:r>
                        <a:rPr kumimoji="0" lang="pt-BR" sz="12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crít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máx</a:t>
                      </a:r>
                      <a:r>
                        <a:rPr kumimoji="0" lang="pt-BR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kumimoji="0" lang="pt-BR" sz="12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obs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 - 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esp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r>
                        <a:rPr kumimoji="0" lang="pt-B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|</a:t>
                      </a: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9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0,900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0,975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0,684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0,726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0,776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0,842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0,929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0,597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0,708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0,828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0,494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0,733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0,446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0,669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0,470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0,405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0,486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0,577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0,457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0,543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0,490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0,391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0,468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0,375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0,349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0,404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0,392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0,371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46800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Mais de 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603" name="Object 67"/>
              <p:cNvSpPr txBox="1"/>
              <p:nvPr/>
            </p:nvSpPr>
            <p:spPr bwMode="auto">
              <a:xfrm>
                <a:off x="3107525" y="6343350"/>
                <a:ext cx="298450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1,07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3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7525" y="6343350"/>
                <a:ext cx="298450" cy="377825"/>
              </a:xfrm>
              <a:prstGeom prst="rect">
                <a:avLst/>
              </a:prstGeom>
              <a:blipFill>
                <a:blip r:embed="rId3"/>
                <a:stretch>
                  <a:fillRect r="-30612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4" name="Object 4"/>
              <p:cNvSpPr txBox="1"/>
              <p:nvPr/>
            </p:nvSpPr>
            <p:spPr bwMode="auto">
              <a:xfrm>
                <a:off x="3974300" y="6343350"/>
                <a:ext cx="287338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74300" y="6343350"/>
                <a:ext cx="287338" cy="377825"/>
              </a:xfrm>
              <a:prstGeom prst="rect">
                <a:avLst/>
              </a:prstGeom>
              <a:blipFill>
                <a:blip r:embed="rId4"/>
                <a:stretch>
                  <a:fillRect r="-36170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5" name="Object 5"/>
              <p:cNvSpPr txBox="1"/>
              <p:nvPr/>
            </p:nvSpPr>
            <p:spPr bwMode="auto">
              <a:xfrm>
                <a:off x="4901400" y="6343350"/>
                <a:ext cx="298450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1,22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5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01400" y="6343350"/>
                <a:ext cx="298450" cy="377825"/>
              </a:xfrm>
              <a:prstGeom prst="rect">
                <a:avLst/>
              </a:prstGeom>
              <a:blipFill>
                <a:blip r:embed="rId5"/>
                <a:stretch>
                  <a:fillRect r="-30612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6" name="Object 6"/>
              <p:cNvSpPr txBox="1"/>
              <p:nvPr/>
            </p:nvSpPr>
            <p:spPr bwMode="auto">
              <a:xfrm>
                <a:off x="5839613" y="6343350"/>
                <a:ext cx="287337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1,36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6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39613" y="6343350"/>
                <a:ext cx="287337" cy="377825"/>
              </a:xfrm>
              <a:prstGeom prst="rect">
                <a:avLst/>
              </a:prstGeom>
              <a:blipFill>
                <a:blip r:embed="rId6"/>
                <a:stretch>
                  <a:fillRect r="-36170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7" name="Object 7"/>
              <p:cNvSpPr txBox="1"/>
              <p:nvPr/>
            </p:nvSpPr>
            <p:spPr bwMode="auto">
              <a:xfrm>
                <a:off x="6757188" y="6343350"/>
                <a:ext cx="287337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1,63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57188" y="6343350"/>
                <a:ext cx="287337" cy="377825"/>
              </a:xfrm>
              <a:prstGeom prst="rect">
                <a:avLst/>
              </a:prstGeom>
              <a:blipFill>
                <a:blip r:embed="rId7"/>
                <a:stretch>
                  <a:fillRect r="-33333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A4D4E5-471A-4393-8F0F-C816B8C00474}" type="slidenum">
              <a:rPr lang="pt-BR"/>
              <a:pPr>
                <a:defRPr/>
              </a:pPr>
              <a:t>22</a:t>
            </a:fld>
            <a:endParaRPr lang="pt-BR" dirty="0"/>
          </a:p>
        </p:txBody>
      </p:sp>
      <p:sp>
        <p:nvSpPr>
          <p:cNvPr id="10" name="Retângulo 9"/>
          <p:cNvSpPr/>
          <p:nvPr/>
        </p:nvSpPr>
        <p:spPr>
          <a:xfrm>
            <a:off x="5580112" y="6309320"/>
            <a:ext cx="936104" cy="4804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75"/>
              <p:cNvSpPr txBox="1"/>
              <p:nvPr/>
            </p:nvSpPr>
            <p:spPr bwMode="auto">
              <a:xfrm>
                <a:off x="4338638" y="4471988"/>
                <a:ext cx="1241474" cy="2905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=0,0819</m:t>
                      </m:r>
                    </m:oMath>
                  </m:oMathPara>
                </a14:m>
                <a:endParaRPr lang="pt-BR" sz="1100" dirty="0"/>
              </a:p>
            </p:txBody>
          </p:sp>
        </mc:Choice>
        <mc:Fallback xmlns="">
          <p:sp>
            <p:nvSpPr>
              <p:cNvPr id="22" name="Object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38638" y="4471988"/>
                <a:ext cx="1241474" cy="2905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76"/>
              <p:cNvSpPr txBox="1"/>
              <p:nvPr/>
            </p:nvSpPr>
            <p:spPr bwMode="auto">
              <a:xfrm>
                <a:off x="6016625" y="4471988"/>
                <a:ext cx="2875855" cy="32543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=0,2150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=5%)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Object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16625" y="4471988"/>
                <a:ext cx="2875855" cy="325437"/>
              </a:xfrm>
              <a:prstGeom prst="rect">
                <a:avLst/>
              </a:prstGeom>
              <a:blipFill>
                <a:blip r:embed="rId4"/>
                <a:stretch>
                  <a:fillRect b="-377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77"/>
              <p:cNvSpPr txBox="1">
                <a:spLocks noChangeArrowheads="1"/>
              </p:cNvSpPr>
              <p:nvPr/>
            </p:nvSpPr>
            <p:spPr bwMode="auto">
              <a:xfrm>
                <a:off x="4195763" y="5157192"/>
                <a:ext cx="4840287" cy="8302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pode-se aceitar a hipótese de que os dados provenham de uma distribuição Gamma 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a 5% de significância.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Text 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5763" y="5157192"/>
                <a:ext cx="4840287" cy="830262"/>
              </a:xfrm>
              <a:prstGeom prst="rect">
                <a:avLst/>
              </a:prstGeom>
              <a:blipFill>
                <a:blip r:embed="rId5"/>
                <a:stretch>
                  <a:fillRect l="-630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6E605D4-57E6-476F-B01E-5139CC4EFAB3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3" name="Text Box 64">
            <a:extLst>
              <a:ext uri="{FF2B5EF4-FFF2-40B4-BE49-F238E27FC236}">
                <a16:creationId xmlns:a16="http://schemas.microsoft.com/office/drawing/2014/main" id="{799DCABB-3AD5-864B-652C-7C12F88BC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6837CBDE-4FC8-E1C0-6270-0B8287776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694236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4">
                <a:extLst>
                  <a:ext uri="{FF2B5EF4-FFF2-40B4-BE49-F238E27FC236}">
                    <a16:creationId xmlns:a16="http://schemas.microsoft.com/office/drawing/2014/main" id="{35378B0A-88D9-92C1-0496-951EABDCBA84}"/>
                  </a:ext>
                </a:extLst>
              </p:cNvPr>
              <p:cNvSpPr txBox="1"/>
              <p:nvPr/>
            </p:nvSpPr>
            <p:spPr bwMode="auto">
              <a:xfrm>
                <a:off x="4338638" y="4051206"/>
                <a:ext cx="2452687" cy="398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á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|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𝑜𝑏𝑠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𝑒𝑠𝑝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Object 74">
                <a:extLst>
                  <a:ext uri="{FF2B5EF4-FFF2-40B4-BE49-F238E27FC236}">
                    <a16:creationId xmlns:a16="http://schemas.microsoft.com/office/drawing/2014/main" id="{35378B0A-88D9-92C1-0496-951EABDCB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38638" y="4051206"/>
                <a:ext cx="2452687" cy="3984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87BCFEA6-368C-A682-B295-B97F9B03A6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313" y="3772956"/>
            <a:ext cx="3727449" cy="2226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Teste de Kolmogorov-Smirnov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71363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20896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o teste mais apropriado para dados ordenados;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Ideal quando a variável tem distribuição contínua;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Não há uma modificação quando se estima os parâmetros de uma distribuição (não há perdas de graus de liberdade como no teste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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Char char="-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5CE8E3-D30D-4AB0-96CE-A2D43AF8C51C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684213" y="4122946"/>
            <a:ext cx="7704211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dados &lt;- c(0.99,1.39,1.71,1.46,4.91,1.36,3.78,3.21,9.55,2.15,2.6,1.63,4.88,3.25,7.31,0.68,2.32,4.25, 1.88,4.45,</a:t>
            </a:r>
          </a:p>
          <a:p>
            <a:pPr marL="769938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6.3,5.93,14.39,3.1,1.31,0.23,2.23,1.99,7.7,3.41,3.62,2.02,8.77,6.32,4.67,1.26,0.79,4.87,2.4,3.18)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&lt;-round((mean(dados)^2)/var(dados),3)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&lt;-round(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/mean(dados),3)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ks.test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(dados,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pgamma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One-sample Kolmogorov-Smirnov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dados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 = 0.08192, p-value = 0.9311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alternative hypothesis: two-sided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77"/>
              <p:cNvSpPr txBox="1">
                <a:spLocks noChangeArrowheads="1"/>
              </p:cNvSpPr>
              <p:nvPr/>
            </p:nvSpPr>
            <p:spPr bwMode="auto">
              <a:xfrm>
                <a:off x="3764161" y="5551066"/>
                <a:ext cx="4840287" cy="8302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pode-se aceitar a hipótese de que os dados provenham de uma distribuição Gamma 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a 5% de significância.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Text 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4161" y="5551066"/>
                <a:ext cx="4840287" cy="830262"/>
              </a:xfrm>
              <a:prstGeom prst="rect">
                <a:avLst/>
              </a:prstGeom>
              <a:blipFill>
                <a:blip r:embed="rId3"/>
                <a:stretch>
                  <a:fillRect l="-630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/>
          <p:cNvSpPr/>
          <p:nvPr/>
        </p:nvSpPr>
        <p:spPr>
          <a:xfrm>
            <a:off x="2456472" y="5704381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" name="Elipse 7"/>
          <p:cNvSpPr/>
          <p:nvPr/>
        </p:nvSpPr>
        <p:spPr>
          <a:xfrm>
            <a:off x="1664384" y="4816402"/>
            <a:ext cx="792088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9" name="Elipse 8"/>
          <p:cNvSpPr/>
          <p:nvPr/>
        </p:nvSpPr>
        <p:spPr>
          <a:xfrm>
            <a:off x="2411761" y="4816402"/>
            <a:ext cx="1224135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1363" grpId="0" build="p"/>
      <p:bldP spid="3" grpId="0"/>
      <p:bldP spid="7" grpId="0"/>
      <p:bldP spid="4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7" name="AutoShape 74"/>
          <p:cNvSpPr>
            <a:spLocks noChangeArrowheads="1"/>
          </p:cNvSpPr>
          <p:nvPr/>
        </p:nvSpPr>
        <p:spPr bwMode="auto">
          <a:xfrm>
            <a:off x="2300288" y="34385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9" name="AutoShape 74"/>
          <p:cNvSpPr>
            <a:spLocks noChangeArrowheads="1"/>
          </p:cNvSpPr>
          <p:nvPr/>
        </p:nvSpPr>
        <p:spPr bwMode="auto">
          <a:xfrm>
            <a:off x="2406650" y="37687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03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Dunn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6906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07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80184"/>
              </p:ext>
            </p:extLst>
          </p:nvPr>
        </p:nvGraphicFramePr>
        <p:xfrm>
          <a:off x="785813" y="3530600"/>
          <a:ext cx="2714624" cy="2970213"/>
        </p:xfrm>
        <a:graphic>
          <a:graphicData uri="http://schemas.openxmlformats.org/drawingml/2006/table">
            <a:tbl>
              <a:tblPr/>
              <a:tblGrid>
                <a:gridCol w="67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Imagem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Antes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Depois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341879"/>
              </p:ext>
            </p:extLst>
          </p:nvPr>
        </p:nvGraphicFramePr>
        <p:xfrm>
          <a:off x="3857625" y="3530600"/>
          <a:ext cx="2714624" cy="2970213"/>
        </p:xfrm>
        <a:graphic>
          <a:graphicData uri="http://schemas.openxmlformats.org/drawingml/2006/table">
            <a:tbl>
              <a:tblPr/>
              <a:tblGrid>
                <a:gridCol w="67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Imagem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Antes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Depois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6929438" y="5181600"/>
            <a:ext cx="2071687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negativos: 3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positivos: 14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nulos: 3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3124200" y="3527425"/>
          <a:ext cx="376238" cy="2970213"/>
        </p:xfrm>
        <a:graphic>
          <a:graphicData uri="http://schemas.openxmlformats.org/drawingml/2006/table">
            <a:tbl>
              <a:tblPr/>
              <a:tblGrid>
                <a:gridCol w="376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6196013" y="3532188"/>
          <a:ext cx="377825" cy="2970213"/>
        </p:xfrm>
        <a:graphic>
          <a:graphicData uri="http://schemas.openxmlformats.org/drawingml/2006/table">
            <a:tbl>
              <a:tblPr/>
              <a:tblGrid>
                <a:gridCol w="37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32588" y="3532188"/>
            <a:ext cx="2071687" cy="138588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195263" indent="-195263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Critérios: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Positivo: melhorou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Negativo: piorou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Nulo: indiferente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D8828E-5AD7-490E-BEA4-094FD3C21832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500063" y="427355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representa o número de resultados positivos nas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observações, então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     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~ Binomial</a:t>
            </a:r>
          </a:p>
        </p:txBody>
      </p:sp>
      <p:sp>
        <p:nvSpPr>
          <p:cNvPr id="10" name="Text Box 122"/>
          <p:cNvSpPr txBox="1">
            <a:spLocks noChangeArrowheads="1"/>
          </p:cNvSpPr>
          <p:nvPr/>
        </p:nvSpPr>
        <p:spPr bwMode="auto">
          <a:xfrm>
            <a:off x="2143125" y="4633913"/>
            <a:ext cx="2714625" cy="418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 (se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4857750" y="4633913"/>
            <a:ext cx="4071938" cy="418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</a:rPr>
              <a:t> = 17</a:t>
            </a:r>
            <a:r>
              <a:rPr lang="pt-BR" altLang="pt-BR" sz="1600" dirty="0">
                <a:latin typeface="Tahoma" panose="020B0604030504040204" pitchFamily="34" charset="0"/>
              </a:rPr>
              <a:t> (os empates são desconsiderados)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500063" y="342900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   </a:t>
            </a:r>
            <a:r>
              <a:rPr lang="pt-BR" altLang="pt-BR" sz="1600" dirty="0">
                <a:latin typeface="Tahoma" panose="020B0604030504040204" pitchFamily="34" charset="0"/>
              </a:rPr>
              <a:t>(a técnica não tem efeito sobre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r>
              <a:rPr lang="pt-BR" altLang="pt-BR" sz="1600" i="1" dirty="0">
                <a:latin typeface="Times New Roman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</a:rPr>
              <a:t>(a técnica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7E86A1-5760-4D2F-997E-B3A43075DEEE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12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autoUpdateAnimBg="0"/>
      <p:bldP spid="10" grpId="0" build="p" autoUpdateAnimBg="0"/>
      <p:bldP spid="11" grpId="0" build="p" autoUpdateAnimBg="0"/>
      <p:bldP spid="8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3556" name="Text Box 122"/>
          <p:cNvSpPr txBox="1">
            <a:spLocks noChangeArrowheads="1"/>
          </p:cNvSpPr>
          <p:nvPr/>
        </p:nvSpPr>
        <p:spPr bwMode="auto">
          <a:xfrm>
            <a:off x="500063" y="342900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   </a:t>
            </a:r>
            <a:r>
              <a:rPr lang="pt-BR" altLang="pt-BR" sz="1600" dirty="0">
                <a:latin typeface="Tahoma" panose="020B0604030504040204" pitchFamily="34" charset="0"/>
              </a:rPr>
              <a:t>(a técnica não tem efeito sobre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r>
              <a:rPr lang="pt-BR" altLang="pt-BR" sz="1600" i="1" dirty="0">
                <a:latin typeface="Times New Roman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</a:rPr>
              <a:t>(a técnica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pic>
        <p:nvPicPr>
          <p:cNvPr id="2355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4289425"/>
            <a:ext cx="3786187" cy="163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36"/>
          <p:cNvGrpSpPr>
            <a:grpSpLocks/>
          </p:cNvGrpSpPr>
          <p:nvPr/>
        </p:nvGrpSpPr>
        <p:grpSpPr bwMode="auto">
          <a:xfrm>
            <a:off x="3368675" y="5021268"/>
            <a:ext cx="855663" cy="554038"/>
            <a:chOff x="4559" y="3793"/>
            <a:chExt cx="539" cy="349"/>
          </a:xfrm>
        </p:grpSpPr>
        <p:sp>
          <p:nvSpPr>
            <p:cNvPr id="23571" name="AutoShape 13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Rectangle 13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6" name="Text Box 122"/>
          <p:cNvSpPr txBox="1">
            <a:spLocks noChangeArrowheads="1"/>
          </p:cNvSpPr>
          <p:nvPr/>
        </p:nvSpPr>
        <p:spPr bwMode="auto">
          <a:xfrm>
            <a:off x="4530725" y="4268788"/>
            <a:ext cx="42148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Adotando-se 5% de significância,</a:t>
            </a:r>
          </a:p>
        </p:txBody>
      </p:sp>
      <p:sp>
        <p:nvSpPr>
          <p:cNvPr id="17" name="Text Box 122"/>
          <p:cNvSpPr txBox="1">
            <a:spLocks noChangeArrowheads="1"/>
          </p:cNvSpPr>
          <p:nvPr/>
        </p:nvSpPr>
        <p:spPr bwMode="auto">
          <a:xfrm>
            <a:off x="4530725" y="4598988"/>
            <a:ext cx="42148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forem observados 13 ou mais valores positivos, já que</a:t>
            </a:r>
          </a:p>
        </p:txBody>
      </p:sp>
      <p:sp>
        <p:nvSpPr>
          <p:cNvPr id="18" name="Retângulo 17"/>
          <p:cNvSpPr>
            <a:spLocks noChangeArrowheads="1"/>
          </p:cNvSpPr>
          <p:nvPr/>
        </p:nvSpPr>
        <p:spPr bwMode="auto">
          <a:xfrm>
            <a:off x="4530725" y="5213350"/>
            <a:ext cx="35829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P(</a:t>
            </a:r>
            <a:r>
              <a:rPr lang="pt-BR" altLang="pt-BR" sz="1600" i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  12) = 7,2%          P(</a:t>
            </a:r>
            <a:r>
              <a:rPr lang="pt-BR" altLang="pt-BR" sz="1600" i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  13) = 2,5%</a:t>
            </a:r>
          </a:p>
        </p:txBody>
      </p:sp>
      <p:grpSp>
        <p:nvGrpSpPr>
          <p:cNvPr id="3" name="Group 135"/>
          <p:cNvGrpSpPr>
            <a:grpSpLocks/>
          </p:cNvGrpSpPr>
          <p:nvPr/>
        </p:nvGrpSpPr>
        <p:grpSpPr bwMode="auto">
          <a:xfrm>
            <a:off x="1214438" y="5930909"/>
            <a:ext cx="2128837" cy="357188"/>
            <a:chOff x="3363" y="3977"/>
            <a:chExt cx="1341" cy="225"/>
          </a:xfrm>
        </p:grpSpPr>
        <p:sp>
          <p:nvSpPr>
            <p:cNvPr id="23569" name="Rectangle 136"/>
            <p:cNvSpPr>
              <a:spLocks noChangeArrowheads="1"/>
            </p:cNvSpPr>
            <p:nvPr/>
          </p:nvSpPr>
          <p:spPr bwMode="auto">
            <a:xfrm>
              <a:off x="3799" y="3989"/>
              <a:ext cx="46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AutoShape 137"/>
            <p:cNvSpPr>
              <a:spLocks/>
            </p:cNvSpPr>
            <p:nvPr/>
          </p:nvSpPr>
          <p:spPr bwMode="auto">
            <a:xfrm rot="-5400000">
              <a:off x="4011" y="3329"/>
              <a:ext cx="45" cy="1341"/>
            </a:xfrm>
            <a:prstGeom prst="leftBrace">
              <a:avLst>
                <a:gd name="adj1" fmla="val 103058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38"/>
          <p:cNvGrpSpPr>
            <a:grpSpLocks/>
          </p:cNvGrpSpPr>
          <p:nvPr/>
        </p:nvGrpSpPr>
        <p:grpSpPr bwMode="auto">
          <a:xfrm>
            <a:off x="3351213" y="5922954"/>
            <a:ext cx="863600" cy="365124"/>
            <a:chOff x="4160" y="3972"/>
            <a:chExt cx="544" cy="230"/>
          </a:xfrm>
        </p:grpSpPr>
        <p:sp>
          <p:nvSpPr>
            <p:cNvPr id="23567" name="Rectangle 139"/>
            <p:cNvSpPr>
              <a:spLocks noChangeArrowheads="1"/>
            </p:cNvSpPr>
            <p:nvPr/>
          </p:nvSpPr>
          <p:spPr bwMode="auto">
            <a:xfrm>
              <a:off x="4190" y="3989"/>
              <a:ext cx="4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AutoShape 140"/>
            <p:cNvSpPr>
              <a:spLocks/>
            </p:cNvSpPr>
            <p:nvPr/>
          </p:nvSpPr>
          <p:spPr bwMode="auto">
            <a:xfrm rot="-5400000">
              <a:off x="4409" y="3723"/>
              <a:ext cx="45" cy="544"/>
            </a:xfrm>
            <a:prstGeom prst="leftBrace">
              <a:avLst>
                <a:gd name="adj1" fmla="val 10303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1" name="Text Box 148"/>
          <p:cNvSpPr txBox="1">
            <a:spLocks noChangeArrowheads="1"/>
          </p:cNvSpPr>
          <p:nvPr/>
        </p:nvSpPr>
        <p:spPr bwMode="auto">
          <a:xfrm>
            <a:off x="4530725" y="5959475"/>
            <a:ext cx="45529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 técnica parece mesmo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32" name="Text Box 3"/>
          <p:cNvSpPr txBox="1">
            <a:spLocks noChangeArrowheads="1"/>
          </p:cNvSpPr>
          <p:nvPr/>
        </p:nvSpPr>
        <p:spPr bwMode="auto">
          <a:xfrm>
            <a:off x="4530725" y="5529263"/>
            <a:ext cx="3714750" cy="411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positivos observados: 14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1021B6-4239-4AB5-BAA2-EB6968405E07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21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 autoUpdateAnimBg="0"/>
      <p:bldP spid="17" grpId="0" build="p" autoUpdateAnimBg="0"/>
      <p:bldP spid="18" grpId="0"/>
      <p:bldP spid="31" grpId="0"/>
      <p:bldP spid="3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517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comum calcular-se o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= </a:t>
            </a:r>
            <a:r>
              <a:rPr lang="pt-BR" altLang="pt-BR" sz="1600" dirty="0" err="1">
                <a:latin typeface="Times New Roman" charset="0"/>
                <a:cs typeface="Times New Roman" charset="0"/>
                <a:sym typeface="Symbol" pitchFamily="18" charset="2"/>
              </a:rPr>
              <a:t>mín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[P(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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); P(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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)]</a:t>
            </a:r>
            <a:r>
              <a:rPr lang="pt-BR" altLang="pt-BR" sz="1600" dirty="0">
                <a:latin typeface="Tahoma" panose="020B0604030504040204" pitchFamily="34" charset="0"/>
              </a:rPr>
              <a:t>, que indica o quão raro é observar valores tão extremos quanto o observado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25</a:t>
            </a:r>
            <a:r>
              <a:rPr lang="pt-BR" altLang="pt-BR" sz="1600" dirty="0">
                <a:latin typeface="Tahoma" panose="020B0604030504040204" pitchFamily="34" charset="0"/>
              </a:rPr>
              <a:t>), a distribuição binomial aproxima-se da normal e então um teste z (com correção de continuidade) pode ser empregado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Considera apenas o sentido da mudança e não sua grandeza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equivalente ao teste paramétrico t pareado (cujo poder é superior para amostras grandes e quando as condições prévias recomendadas são verdadeiras)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a&lt;-c(4,3,2,4,3,1,5,3,1,5,2,3,3,3,3,1,4,2,4,2)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d&lt;-c(5,5,2,3,4,2,4,4,3,5,3,2,4,4,5,3,4,4,5,3)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p&lt;-sum(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d-a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&gt; 0, na.rm = TRUE)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(a)- sum(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d-a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== 0, na.rm = TRUE)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binom.test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(p, n)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5080EE-907C-4458-99AB-4F421DFAC00A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3960440" y="5097958"/>
            <a:ext cx="529208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Exact binomial test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data:  14 and 17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number of successes = 14, number of trials = 17, p-value = 0.01273</a:t>
            </a:r>
          </a:p>
        </p:txBody>
      </p:sp>
      <p:sp>
        <p:nvSpPr>
          <p:cNvPr id="7" name="Elipse 6"/>
          <p:cNvSpPr/>
          <p:nvPr/>
        </p:nvSpPr>
        <p:spPr>
          <a:xfrm>
            <a:off x="8203464" y="5647600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" name="Text Box 77"/>
          <p:cNvSpPr txBox="1">
            <a:spLocks noChangeArrowheads="1"/>
          </p:cNvSpPr>
          <p:nvPr/>
        </p:nvSpPr>
        <p:spPr bwMode="auto">
          <a:xfrm>
            <a:off x="3995936" y="6007640"/>
            <a:ext cx="48402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 técnica parece mesmo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  <p:bldP spid="5" grpId="0"/>
      <p:bldP spid="7" grpId="0" animBg="1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60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de uma cultura qualquer, um classificador automático pode utilizar uma ou mais imagens de uma mesma região. Espera-se que a utilização de imagens de duas datas resulte numa classificação melhor do que quando é utilizada apenas uma imagem, dependendo da época que estas imagens são obtidas. A fim de verificar se o classificador realmente melhora seu desempenho ao utilizar duas imagens ao invés de uma única imagem, 8 regiões foram selecionadas e a área de plantio corretamente classificada foi avaliada usando-se uma ou duas imagens. Os resultados são apresentados abaixo. O que se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1000125" y="3714750"/>
          <a:ext cx="2928938" cy="3006727"/>
        </p:xfrm>
        <a:graphic>
          <a:graphicData uri="http://schemas.openxmlformats.org/drawingml/2006/table">
            <a:tbl>
              <a:tblPr/>
              <a:tblGrid>
                <a:gridCol w="851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8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93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4286250" y="3714750"/>
            <a:ext cx="4572000" cy="79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a análise fosse feita usando-se o Teste dos Sinais: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4286250" y="4429125"/>
            <a:ext cx="1785938" cy="78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0" name="Retângulo 9"/>
          <p:cNvSpPr>
            <a:spLocks noChangeArrowheads="1"/>
          </p:cNvSpPr>
          <p:nvPr/>
        </p:nvSpPr>
        <p:spPr bwMode="auto">
          <a:xfrm>
            <a:off x="6053138" y="4424363"/>
            <a:ext cx="2761718" cy="788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~ Binomial  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0,5  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8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4357688" y="5286375"/>
            <a:ext cx="3995737" cy="420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Como o # positivos = 6 e 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verdadeira:</a:t>
            </a:r>
          </a:p>
        </p:txBody>
      </p:sp>
      <p:graphicFrame>
        <p:nvGraphicFramePr>
          <p:cNvPr id="12" name="Tabela 11"/>
          <p:cNvGraphicFramePr>
            <a:graphicFrameLocks noGrp="1"/>
          </p:cNvGraphicFramePr>
          <p:nvPr/>
        </p:nvGraphicFramePr>
        <p:xfrm>
          <a:off x="3500438" y="4572000"/>
          <a:ext cx="428625" cy="216058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4327525" y="5670550"/>
            <a:ext cx="2499274" cy="788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Valor-P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P(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 6) = 14,5%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Conclusão: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26E5259-FCD8-487D-B552-914423193E91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utoUpdateAnimBg="0"/>
      <p:bldP spid="9" grpId="0" autoUpdateAnimBg="0"/>
      <p:bldP spid="10" grpId="0"/>
      <p:bldP spid="11" grpId="0"/>
      <p:bldP spid="1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6627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3565525" cy="3006727"/>
        </p:xfrm>
        <a:graphic>
          <a:graphicData uri="http://schemas.openxmlformats.org/drawingml/2006/table">
            <a:tbl>
              <a:tblPr/>
              <a:tblGrid>
                <a:gridCol w="8521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6682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702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79DAE10-31B7-49F1-A664-D88C3C01FAE0}" type="slidenum">
              <a:rPr lang="pt-BR"/>
              <a:pPr>
                <a:defRPr/>
              </a:pPr>
              <a:t>31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765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7716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20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F9275A-0116-4510-A980-1517EDD6A488}" type="slidenum">
              <a:rPr lang="pt-BR"/>
              <a:pPr>
                <a:defRPr/>
              </a:pPr>
              <a:t>32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867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740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267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9566F6-ED1D-4DCE-8F32-0A73993EEFD6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69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9764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7" name="Text Box 122"/>
          <p:cNvSpPr txBox="1">
            <a:spLocks noChangeArrowheads="1"/>
          </p:cNvSpPr>
          <p:nvPr/>
        </p:nvSpPr>
        <p:spPr bwMode="auto">
          <a:xfrm>
            <a:off x="765175" y="5010150"/>
            <a:ext cx="40005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(-) = 3,5        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(+) = 32,5</a:t>
            </a:r>
            <a:endParaRPr lang="pt-BR" altLang="pt-BR" sz="1600" dirty="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755650" y="5092700"/>
            <a:ext cx="1030288" cy="331788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B62AD1A-0A21-4011-96F4-85456DB35792}" type="slidenum">
              <a:rPr lang="pt-BR"/>
              <a:pPr>
                <a:defRPr/>
              </a:pPr>
              <a:t>34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072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0788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30789" name="Text Box 122"/>
          <p:cNvSpPr txBox="1">
            <a:spLocks noChangeArrowheads="1"/>
          </p:cNvSpPr>
          <p:nvPr/>
        </p:nvSpPr>
        <p:spPr bwMode="auto">
          <a:xfrm>
            <a:off x="388938" y="5010150"/>
            <a:ext cx="4000500" cy="417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3,5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388938" y="5357813"/>
            <a:ext cx="4510087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=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uso de 2 imagens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&gt;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segunda imagem melhora a classificação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5000625" y="5132388"/>
            <a:ext cx="4000500" cy="138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6EFA2B1-5A74-4F14-9210-307A08A33EE7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autoUpdateAnimBg="0"/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0" name="Tabela 9"/>
          <p:cNvGraphicFramePr>
            <a:graphicFrameLocks noGrp="1"/>
          </p:cNvGraphicFramePr>
          <p:nvPr/>
        </p:nvGraphicFramePr>
        <p:xfrm>
          <a:off x="2643188" y="1390650"/>
          <a:ext cx="3860800" cy="4968880"/>
        </p:xfrm>
        <a:graphic>
          <a:graphicData uri="http://schemas.openxmlformats.org/drawingml/2006/table">
            <a:tbl>
              <a:tblPr/>
              <a:tblGrid>
                <a:gridCol w="87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3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9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394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Tamanho da amostra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)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Nível de significância (unilateral)</a:t>
                      </a: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94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00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Nível de significância (bilateral)</a:t>
                      </a:r>
                      <a:endParaRPr kumimoji="0" lang="pt-B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101</a:t>
                      </a: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12" name="Retângulo 11"/>
          <p:cNvSpPr/>
          <p:nvPr/>
        </p:nvSpPr>
        <p:spPr>
          <a:xfrm>
            <a:off x="3705225" y="2979738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3694113" y="1744663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3765550" y="1419225"/>
            <a:ext cx="2500313" cy="244475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2BDB08-011E-452B-BE37-A28E2911B93E}" type="slidenum">
              <a:rPr lang="pt-BR"/>
              <a:pPr>
                <a:defRPr/>
              </a:pPr>
              <a:t>36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277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2836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32837" name="Text Box 122"/>
          <p:cNvSpPr txBox="1">
            <a:spLocks noChangeArrowheads="1"/>
          </p:cNvSpPr>
          <p:nvPr/>
        </p:nvSpPr>
        <p:spPr bwMode="auto">
          <a:xfrm>
            <a:off x="388938" y="5010150"/>
            <a:ext cx="10906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3,5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32838" name="Text Box 122"/>
          <p:cNvSpPr txBox="1">
            <a:spLocks noChangeArrowheads="1"/>
          </p:cNvSpPr>
          <p:nvPr/>
        </p:nvSpPr>
        <p:spPr bwMode="auto">
          <a:xfrm>
            <a:off x="398463" y="5357813"/>
            <a:ext cx="4510087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=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uso de 2 imagens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&gt;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segunda imagem melhora a classificação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32839" name="Text Box 122"/>
          <p:cNvSpPr txBox="1">
            <a:spLocks noChangeArrowheads="1"/>
          </p:cNvSpPr>
          <p:nvPr/>
        </p:nvSpPr>
        <p:spPr bwMode="auto">
          <a:xfrm>
            <a:off x="5000625" y="5132388"/>
            <a:ext cx="4000500" cy="138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32840" name="Text Box 122"/>
          <p:cNvSpPr txBox="1">
            <a:spLocks noChangeArrowheads="1"/>
          </p:cNvSpPr>
          <p:nvPr/>
        </p:nvSpPr>
        <p:spPr bwMode="auto">
          <a:xfrm>
            <a:off x="388938" y="6143625"/>
            <a:ext cx="164306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crít</a:t>
            </a:r>
            <a:r>
              <a:rPr lang="pt-BR" altLang="pt-BR" sz="1600" i="1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5%</a:t>
            </a:r>
            <a:r>
              <a:rPr lang="pt-BR" altLang="pt-BR" sz="1600">
                <a:latin typeface="Times New Roman" charset="0"/>
                <a:cs typeface="Times New Roman" charset="0"/>
              </a:rPr>
              <a:t> = 6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12" name="Retângulo 11"/>
          <p:cNvSpPr>
            <a:spLocks noChangeArrowheads="1"/>
          </p:cNvSpPr>
          <p:nvPr/>
        </p:nvSpPr>
        <p:spPr bwMode="auto">
          <a:xfrm>
            <a:off x="1357313" y="6122988"/>
            <a:ext cx="3929062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inclusão de uma nova imagem melhora o desempenho do classificador a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D40895-6B87-429E-9C2B-9E8837FD4B1A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Este teste é mais poderoso que o Teste dos Sinais, pois permite atribuir maior peso aos pares com maiores diferenças (o Teste dos Sinais considera apenas o sentido da mudança)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equivalente ao teste paramétrico t pareado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25</a:t>
            </a:r>
            <a:r>
              <a:rPr lang="pt-BR" altLang="pt-BR" sz="1600" dirty="0">
                <a:latin typeface="Tahoma" panose="020B0604030504040204" pitchFamily="34" charset="0"/>
              </a:rPr>
              <a:t>),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pode ser aproximada para uma normal.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Nesse caso, utiliza-se a estatística:</a:t>
            </a:r>
          </a:p>
        </p:txBody>
      </p:sp>
      <p:graphicFrame>
        <p:nvGraphicFramePr>
          <p:cNvPr id="3" name="Object 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5005857"/>
              </p:ext>
            </p:extLst>
          </p:nvPr>
        </p:nvGraphicFramePr>
        <p:xfrm>
          <a:off x="4644008" y="3645024"/>
          <a:ext cx="2725737" cy="1138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4760" imgH="799920" progId="Equation.DSMT4">
                  <p:embed/>
                </p:oleObj>
              </mc:Choice>
              <mc:Fallback>
                <p:oleObj name="Equation" r:id="rId3" imgW="1904760" imgH="799920" progId="Equation.DSMT4">
                  <p:embed/>
                  <p:pic>
                    <p:nvPicPr>
                      <p:cNvPr id="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4008" y="3645024"/>
                        <a:ext cx="2725737" cy="1138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D676EC-A52A-4F28-B968-843CD41AF6FA}" type="slidenum">
              <a:rPr lang="pt-BR"/>
              <a:pPr>
                <a:defRPr/>
              </a:pPr>
              <a:t>38</a:t>
            </a:fld>
            <a:endParaRPr lang="pt-BR"/>
          </a:p>
        </p:txBody>
      </p: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4427985" y="4941168"/>
            <a:ext cx="453650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Wilcoxon signed rank test with continuity correction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i1 and i2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 = 3.5, p-value = 0.02483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hypothesis: true location shift is less than 0</a:t>
            </a: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539552" y="4581128"/>
            <a:ext cx="388843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i1&lt;-c(70,51,60,57,43,15,25,103)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i2&lt;-c(117,48,63,90,41,21,36,122)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wilcox.test</a:t>
            </a: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(i1, i2, paired = TRUE, exact = FALSE, alternative = "less")</a:t>
            </a:r>
          </a:p>
        </p:txBody>
      </p:sp>
      <p:sp>
        <p:nvSpPr>
          <p:cNvPr id="42" name="Elipse 41"/>
          <p:cNvSpPr/>
          <p:nvPr/>
        </p:nvSpPr>
        <p:spPr>
          <a:xfrm>
            <a:off x="5909088" y="5503584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3" name="Retângulo 42"/>
          <p:cNvSpPr>
            <a:spLocks noChangeArrowheads="1"/>
          </p:cNvSpPr>
          <p:nvPr/>
        </p:nvSpPr>
        <p:spPr bwMode="auto">
          <a:xfrm>
            <a:off x="4243338" y="6093296"/>
            <a:ext cx="3929062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inclusão de uma nova imagem melhora o desempenho do classificador a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  <p:bldP spid="40" grpId="0"/>
      <p:bldP spid="42" grpId="0" animBg="1"/>
      <p:bldP spid="4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6" name="AutoShape 74"/>
          <p:cNvSpPr>
            <a:spLocks noChangeArrowheads="1"/>
          </p:cNvSpPr>
          <p:nvPr/>
        </p:nvSpPr>
        <p:spPr bwMode="auto">
          <a:xfrm>
            <a:off x="2843213" y="460375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AutoShape 74"/>
          <p:cNvSpPr>
            <a:spLocks noChangeArrowheads="1"/>
          </p:cNvSpPr>
          <p:nvPr/>
        </p:nvSpPr>
        <p:spPr bwMode="auto">
          <a:xfrm>
            <a:off x="4970463" y="5243513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03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Dunn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39</a:t>
            </a:fld>
            <a:endParaRPr lang="pt-BR"/>
          </a:p>
        </p:txBody>
      </p:sp>
      <p:sp>
        <p:nvSpPr>
          <p:cNvPr id="4" name="AutoShape 74">
            <a:extLst>
              <a:ext uri="{FF2B5EF4-FFF2-40B4-BE49-F238E27FC236}">
                <a16:creationId xmlns:a16="http://schemas.microsoft.com/office/drawing/2014/main" id="{B169A7BC-2345-E75D-EA23-DDF0D3555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213" y="4924599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8090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9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608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ocupam diferentes ambientes dentro da floresta. A fim de comprovar se algumas espécies de uma família de pássaros têm esta característica, durante um ano, um pesquisador identificou e contou os pássaros capturados em 3 diferentes ambientes da floresta. Os resultados encontram-se na tabela a seguir. O que se pode concluir? Podemos afirmar que algumas espécies desta família se distribuem preferencialmente em algum ambiente?</a:t>
            </a:r>
          </a:p>
        </p:txBody>
      </p:sp>
      <p:graphicFrame>
        <p:nvGraphicFramePr>
          <p:cNvPr id="192757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23127"/>
              </p:ext>
            </p:extLst>
          </p:nvPr>
        </p:nvGraphicFramePr>
        <p:xfrm>
          <a:off x="2214563" y="3214688"/>
          <a:ext cx="4859335" cy="1700215"/>
        </p:xfrm>
        <a:graphic>
          <a:graphicData uri="http://schemas.openxmlformats.org/drawingml/2006/table">
            <a:tbl>
              <a:tblPr/>
              <a:tblGrid>
                <a:gridCol w="972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2758" name="Text Box 246"/>
          <p:cNvSpPr txBox="1">
            <a:spLocks noChangeArrowheads="1"/>
          </p:cNvSpPr>
          <p:nvPr/>
        </p:nvSpPr>
        <p:spPr bwMode="auto">
          <a:xfrm>
            <a:off x="714375" y="4987925"/>
            <a:ext cx="7696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</a:t>
            </a:r>
            <a:r>
              <a:rPr lang="pt-BR" altLang="pt-BR" sz="1600" dirty="0">
                <a:latin typeface="Tahoma" panose="020B0604030504040204" pitchFamily="34" charset="0"/>
              </a:rPr>
              <a:t> probabilidade de encontrar a espécie </a:t>
            </a:r>
            <a:r>
              <a:rPr lang="pt-BR" altLang="pt-BR" sz="1600" i="1" dirty="0">
                <a:latin typeface="Times New Roman" charset="0"/>
              </a:rPr>
              <a:t>i </a:t>
            </a:r>
            <a:r>
              <a:rPr lang="pt-BR" altLang="pt-BR" sz="1600" dirty="0">
                <a:latin typeface="Tahoma" panose="020B0604030504040204" pitchFamily="34" charset="0"/>
              </a:rPr>
              <a:t>em qualquer ambiente</a:t>
            </a:r>
            <a:endParaRPr lang="pt-BR" altLang="pt-BR" sz="1600" i="1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dirty="0">
                <a:latin typeface="Tahoma" panose="020B0604030504040204" pitchFamily="34" charset="0"/>
              </a:rPr>
              <a:t>probabilidade de encontrar qualquer espécie no ambiente </a:t>
            </a:r>
            <a:r>
              <a:rPr lang="pt-BR" altLang="pt-BR" sz="1600" i="1" dirty="0">
                <a:latin typeface="Times New Roman" charset="0"/>
              </a:rPr>
              <a:t>j</a:t>
            </a:r>
          </a:p>
        </p:txBody>
      </p:sp>
      <p:sp>
        <p:nvSpPr>
          <p:cNvPr id="192760" name="Text Box 248"/>
          <p:cNvSpPr txBox="1">
            <a:spLocks noChangeArrowheads="1"/>
          </p:cNvSpPr>
          <p:nvPr/>
        </p:nvSpPr>
        <p:spPr bwMode="auto">
          <a:xfrm>
            <a:off x="703263" y="5634038"/>
            <a:ext cx="8012112" cy="584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ij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*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   as espécies não têm preferência por um ambiente específico 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ij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*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    as espécies ocupam preferencialmente um determinado ambiente</a:t>
            </a:r>
            <a:endParaRPr lang="pt-BR" altLang="pt-BR" sz="1600" i="1" baseline="-25000" dirty="0">
              <a:latin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0980F7-F75F-4615-9783-B0E1F811F4CF}" type="slidenum">
              <a:rPr lang="pt-BR"/>
              <a:pPr>
                <a:defRPr/>
              </a:pPr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891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758" grpId="0" build="p"/>
      <p:bldP spid="19276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8"/>
          <p:cNvGrpSpPr>
            <a:grpSpLocks/>
          </p:cNvGrpSpPr>
          <p:nvPr/>
        </p:nvGrpSpPr>
        <p:grpSpPr bwMode="auto">
          <a:xfrm>
            <a:off x="1814513" y="3468688"/>
            <a:ext cx="6445250" cy="1196975"/>
            <a:chOff x="1746" y="2676"/>
            <a:chExt cx="4060" cy="754"/>
          </a:xfrm>
        </p:grpSpPr>
        <p:sp>
          <p:nvSpPr>
            <p:cNvPr id="47222" name="Oval 235"/>
            <p:cNvSpPr>
              <a:spLocks noChangeArrowheads="1"/>
            </p:cNvSpPr>
            <p:nvPr/>
          </p:nvSpPr>
          <p:spPr bwMode="auto">
            <a:xfrm>
              <a:off x="1746" y="3203"/>
              <a:ext cx="454" cy="227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223" name="Line 236"/>
            <p:cNvSpPr>
              <a:spLocks noChangeShapeType="1"/>
            </p:cNvSpPr>
            <p:nvPr/>
          </p:nvSpPr>
          <p:spPr bwMode="auto">
            <a:xfrm flipV="1">
              <a:off x="2200" y="2976"/>
              <a:ext cx="2177" cy="31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7224" name="Object 23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0418714"/>
                </p:ext>
              </p:extLst>
            </p:nvPr>
          </p:nvGraphicFramePr>
          <p:xfrm>
            <a:off x="4419" y="2676"/>
            <a:ext cx="1387" cy="5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36480" imgH="660240" progId="Equation.DSMT4">
                    <p:embed/>
                  </p:oleObj>
                </mc:Choice>
                <mc:Fallback>
                  <p:oleObj name="Equation" r:id="rId3" imgW="1536480" imgH="660240" progId="Equation.DSMT4">
                    <p:embed/>
                    <p:pic>
                      <p:nvPicPr>
                        <p:cNvPr id="47224" name="Object 2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19" y="2676"/>
                          <a:ext cx="1387" cy="5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7108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7109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193591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193640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7112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graphicFrame>
        <p:nvGraphicFramePr>
          <p:cNvPr id="14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46929"/>
              </p:ext>
            </p:extLst>
          </p:nvPr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348162"/>
              </p:ext>
            </p:extLst>
          </p:nvPr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97CD95-E9AF-4655-BFD6-A1450C59587A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2061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591" grpId="0"/>
      <p:bldP spid="19364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" name="Object 1"/>
          <p:cNvGraphicFramePr>
            <a:graphicFrameLocks noChangeAspect="1"/>
          </p:cNvGraphicFramePr>
          <p:nvPr/>
        </p:nvGraphicFramePr>
        <p:xfrm>
          <a:off x="7572375" y="3786188"/>
          <a:ext cx="762000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33169" imgH="253890" progId="Equation.DSMT4">
                  <p:embed/>
                </p:oleObj>
              </mc:Choice>
              <mc:Fallback>
                <p:oleObj name="Equation" r:id="rId3" imgW="533169" imgH="253890" progId="Equation.DSMT4">
                  <p:embed/>
                  <p:pic>
                    <p:nvPicPr>
                      <p:cNvPr id="3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75" y="3786188"/>
                        <a:ext cx="762000" cy="363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3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93776" name="Object 240"/>
          <p:cNvGraphicFramePr>
            <a:graphicFrameLocks noChangeAspect="1"/>
          </p:cNvGraphicFramePr>
          <p:nvPr/>
        </p:nvGraphicFramePr>
        <p:xfrm>
          <a:off x="5942013" y="2643188"/>
          <a:ext cx="2703512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57400" imgH="546100" progId="Equation.DSMT4">
                  <p:embed/>
                </p:oleObj>
              </mc:Choice>
              <mc:Fallback>
                <p:oleObj name="Equation" r:id="rId5" imgW="2057400" imgH="546100" progId="Equation.DSMT4">
                  <p:embed/>
                  <p:pic>
                    <p:nvPicPr>
                      <p:cNvPr id="193776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2013" y="2643188"/>
                        <a:ext cx="2703512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3777" name="Text Box 241"/>
          <p:cNvSpPr txBox="1">
            <a:spLocks noChangeArrowheads="1"/>
          </p:cNvSpPr>
          <p:nvPr/>
        </p:nvSpPr>
        <p:spPr bwMode="auto">
          <a:xfrm>
            <a:off x="8072438" y="3252788"/>
            <a:ext cx="116410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imes New Roman" charset="0"/>
              </a:rPr>
              <a:t>l</a:t>
            </a:r>
            <a:r>
              <a:rPr lang="pt-BR" altLang="pt-BR" sz="1200" dirty="0">
                <a:latin typeface="Tahoma" panose="020B0604030504040204" pitchFamily="34" charset="0"/>
              </a:rPr>
              <a:t> = n</a:t>
            </a:r>
            <a:r>
              <a:rPr lang="pt-BR" altLang="pt-BR" sz="12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200" dirty="0">
                <a:latin typeface="Tahoma" panose="020B0604030504040204" pitchFamily="34" charset="0"/>
              </a:rPr>
              <a:t> linhas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imes New Roman" charset="0"/>
              </a:rPr>
              <a:t>c</a:t>
            </a:r>
            <a:r>
              <a:rPr lang="pt-BR" altLang="pt-BR" sz="1200" dirty="0">
                <a:latin typeface="Tahoma" panose="020B0604030504040204" pitchFamily="34" charset="0"/>
              </a:rPr>
              <a:t> = n</a:t>
            </a:r>
            <a:r>
              <a:rPr lang="pt-BR" altLang="pt-BR" sz="12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200" dirty="0">
                <a:latin typeface="Tahoma" panose="020B0604030504040204" pitchFamily="34" charset="0"/>
              </a:rPr>
              <a:t> colunas</a:t>
            </a:r>
            <a:endParaRPr lang="en-US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193778" name="Object 242"/>
          <p:cNvGraphicFramePr>
            <a:graphicFrameLocks noChangeAspect="1"/>
          </p:cNvGraphicFramePr>
          <p:nvPr/>
        </p:nvGraphicFramePr>
        <p:xfrm>
          <a:off x="8408988" y="2855913"/>
          <a:ext cx="700087" cy="33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33169" imgH="253890" progId="Equation.DSMT4">
                  <p:embed/>
                </p:oleObj>
              </mc:Choice>
              <mc:Fallback>
                <p:oleObj name="Equation" r:id="rId7" imgW="533169" imgH="253890" progId="Equation.DSMT4">
                  <p:embed/>
                  <p:pic>
                    <p:nvPicPr>
                      <p:cNvPr id="193778" name="Object 2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08988" y="2855913"/>
                        <a:ext cx="700087" cy="3317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13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sp>
        <p:nvSpPr>
          <p:cNvPr id="48136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8137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8138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8139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22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080135"/>
              </p:ext>
            </p:extLst>
          </p:nvPr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788324"/>
              </p:ext>
            </p:extLst>
          </p:nvPr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17,43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3,17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5,60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1,02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24,28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4,42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10,30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7,92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" name="Group 193"/>
          <p:cNvGrpSpPr>
            <a:grpSpLocks/>
          </p:cNvGrpSpPr>
          <p:nvPr/>
        </p:nvGrpSpPr>
        <p:grpSpPr bwMode="auto">
          <a:xfrm>
            <a:off x="6270625" y="3571875"/>
            <a:ext cx="2159000" cy="1557338"/>
            <a:chOff x="3470" y="2115"/>
            <a:chExt cx="1360" cy="981"/>
          </a:xfrm>
        </p:grpSpPr>
        <p:grpSp>
          <p:nvGrpSpPr>
            <p:cNvPr id="48260" name="Group 192"/>
            <p:cNvGrpSpPr>
              <a:grpSpLocks/>
            </p:cNvGrpSpPr>
            <p:nvPr/>
          </p:nvGrpSpPr>
          <p:grpSpPr bwMode="auto">
            <a:xfrm>
              <a:off x="3556" y="2115"/>
              <a:ext cx="1108" cy="794"/>
              <a:chOff x="3556" y="2115"/>
              <a:chExt cx="1108" cy="794"/>
            </a:xfrm>
          </p:grpSpPr>
          <p:sp>
            <p:nvSpPr>
              <p:cNvPr id="48263" name="Freeform 183"/>
              <p:cNvSpPr>
                <a:spLocks/>
              </p:cNvSpPr>
              <p:nvPr/>
            </p:nvSpPr>
            <p:spPr bwMode="auto">
              <a:xfrm>
                <a:off x="3560" y="2115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264" name="Freeform 184"/>
              <p:cNvSpPr>
                <a:spLocks/>
              </p:cNvSpPr>
              <p:nvPr/>
            </p:nvSpPr>
            <p:spPr bwMode="auto">
              <a:xfrm>
                <a:off x="3556" y="2264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61" name="Text Box 185"/>
            <p:cNvSpPr txBox="1">
              <a:spLocks noChangeArrowheads="1"/>
            </p:cNvSpPr>
            <p:nvPr/>
          </p:nvSpPr>
          <p:spPr bwMode="auto">
            <a:xfrm>
              <a:off x="3470" y="287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48262" name="Text Box 186"/>
            <p:cNvSpPr txBox="1">
              <a:spLocks noChangeArrowheads="1"/>
            </p:cNvSpPr>
            <p:nvPr/>
          </p:nvSpPr>
          <p:spPr bwMode="auto">
            <a:xfrm>
              <a:off x="4530" y="286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pSp>
        <p:nvGrpSpPr>
          <p:cNvPr id="4" name="Group 195"/>
          <p:cNvGrpSpPr>
            <a:grpSpLocks/>
          </p:cNvGrpSpPr>
          <p:nvPr/>
        </p:nvGrpSpPr>
        <p:grpSpPr bwMode="auto">
          <a:xfrm>
            <a:off x="7170742" y="4208463"/>
            <a:ext cx="776288" cy="930275"/>
            <a:chOff x="4037" y="2516"/>
            <a:chExt cx="489" cy="586"/>
          </a:xfrm>
        </p:grpSpPr>
        <p:graphicFrame>
          <p:nvGraphicFramePr>
            <p:cNvPr id="48256" name="Object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59628319"/>
                </p:ext>
              </p:extLst>
            </p:nvPr>
          </p:nvGraphicFramePr>
          <p:xfrm>
            <a:off x="4037" y="2883"/>
            <a:ext cx="25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79360" imgH="241200" progId="Equation.DSMT4">
                    <p:embed/>
                  </p:oleObj>
                </mc:Choice>
                <mc:Fallback>
                  <p:oleObj name="Equation" r:id="rId9" imgW="279360" imgH="241200" progId="Equation.DSMT4">
                    <p:embed/>
                    <p:pic>
                      <p:nvPicPr>
                        <p:cNvPr id="48256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37" y="2883"/>
                          <a:ext cx="252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8257" name="Group 194"/>
            <p:cNvGrpSpPr>
              <a:grpSpLocks/>
            </p:cNvGrpSpPr>
            <p:nvPr/>
          </p:nvGrpSpPr>
          <p:grpSpPr bwMode="auto">
            <a:xfrm>
              <a:off x="4094" y="2516"/>
              <a:ext cx="432" cy="367"/>
              <a:chOff x="4094" y="2516"/>
              <a:chExt cx="432" cy="367"/>
            </a:xfrm>
          </p:grpSpPr>
          <p:sp>
            <p:nvSpPr>
              <p:cNvPr id="48258" name="Freeform 182" descr="Diagonal para cima clara"/>
              <p:cNvSpPr>
                <a:spLocks/>
              </p:cNvSpPr>
              <p:nvPr/>
            </p:nvSpPr>
            <p:spPr bwMode="auto">
              <a:xfrm>
                <a:off x="4094" y="2516"/>
                <a:ext cx="432" cy="36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259" name="Text Box 189"/>
              <p:cNvSpPr txBox="1">
                <a:spLocks noChangeArrowheads="1"/>
              </p:cNvSpPr>
              <p:nvPr/>
            </p:nvSpPr>
            <p:spPr bwMode="auto">
              <a:xfrm>
                <a:off x="4241" y="2549"/>
                <a:ext cx="23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>
                    <a:latin typeface="Times New Roman" charset="0"/>
                    <a:sym typeface="Symbol" pitchFamily="18" charset="2"/>
                  </a:rPr>
                  <a:t></a:t>
                </a:r>
                <a:r>
                  <a:rPr lang="en-US" altLang="pt-BR" sz="1600">
                    <a:latin typeface="Times New Roman" charset="0"/>
                    <a:sym typeface="Symbol" pitchFamily="18" charset="2"/>
                  </a:rPr>
                  <a:t> </a:t>
                </a:r>
              </a:p>
            </p:txBody>
          </p:sp>
        </p:grpSp>
      </p:grpSp>
      <p:grpSp>
        <p:nvGrpSpPr>
          <p:cNvPr id="6" name="Grupo 41"/>
          <p:cNvGrpSpPr>
            <a:grpSpLocks/>
          </p:cNvGrpSpPr>
          <p:nvPr/>
        </p:nvGrpSpPr>
        <p:grpSpPr bwMode="auto">
          <a:xfrm>
            <a:off x="6395985" y="5072061"/>
            <a:ext cx="1678040" cy="580822"/>
            <a:chOff x="5930093" y="6155828"/>
            <a:chExt cx="1678134" cy="581319"/>
          </a:xfrm>
        </p:grpSpPr>
        <p:sp>
          <p:nvSpPr>
            <p:cNvPr id="48252" name="AutoShape 52"/>
            <p:cNvSpPr>
              <a:spLocks/>
            </p:cNvSpPr>
            <p:nvPr/>
          </p:nvSpPr>
          <p:spPr bwMode="auto">
            <a:xfrm rot="5400000">
              <a:off x="6283637" y="5802292"/>
              <a:ext cx="128630" cy="835718"/>
            </a:xfrm>
            <a:prstGeom prst="rightBrace">
              <a:avLst>
                <a:gd name="adj1" fmla="val 5417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253" name="Text Box 53"/>
            <p:cNvSpPr txBox="1">
              <a:spLocks noChangeArrowheads="1"/>
            </p:cNvSpPr>
            <p:nvPr/>
          </p:nvSpPr>
          <p:spPr bwMode="auto">
            <a:xfrm>
              <a:off x="5932815" y="6275087"/>
              <a:ext cx="818219" cy="4620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</a:t>
              </a:r>
            </a:p>
          </p:txBody>
        </p:sp>
        <p:sp>
          <p:nvSpPr>
            <p:cNvPr id="48254" name="AutoShape 59"/>
            <p:cNvSpPr>
              <a:spLocks/>
            </p:cNvSpPr>
            <p:nvPr/>
          </p:nvSpPr>
          <p:spPr bwMode="auto">
            <a:xfrm rot="5400000">
              <a:off x="7126053" y="5802284"/>
              <a:ext cx="128630" cy="835718"/>
            </a:xfrm>
            <a:prstGeom prst="rightBrace">
              <a:avLst>
                <a:gd name="adj1" fmla="val 5417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255" name="Text Box 60"/>
            <p:cNvSpPr txBox="1">
              <a:spLocks noChangeArrowheads="1"/>
            </p:cNvSpPr>
            <p:nvPr/>
          </p:nvSpPr>
          <p:spPr bwMode="auto">
            <a:xfrm>
              <a:off x="6832302" y="6275079"/>
              <a:ext cx="716133" cy="4620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06F83C-696B-44DC-8641-EB4F13BA6F5D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0643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77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68" name="Rectangle 10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78528" name="Object 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0847312"/>
              </p:ext>
            </p:extLst>
          </p:nvPr>
        </p:nvGraphicFramePr>
        <p:xfrm>
          <a:off x="688975" y="5767388"/>
          <a:ext cx="3354388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52400" imgH="545760" progId="Equation.DSMT4">
                  <p:embed/>
                </p:oleObj>
              </mc:Choice>
              <mc:Fallback>
                <p:oleObj name="Equation" r:id="rId3" imgW="2552400" imgH="545760" progId="Equation.DSMT4">
                  <p:embed/>
                  <p:pic>
                    <p:nvPicPr>
                      <p:cNvPr id="278528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975" y="5767388"/>
                        <a:ext cx="3354388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9156" name="Group 193"/>
          <p:cNvGrpSpPr>
            <a:grpSpLocks/>
          </p:cNvGrpSpPr>
          <p:nvPr/>
        </p:nvGrpSpPr>
        <p:grpSpPr bwMode="auto">
          <a:xfrm>
            <a:off x="6270625" y="3571875"/>
            <a:ext cx="2159000" cy="1557338"/>
            <a:chOff x="3470" y="2115"/>
            <a:chExt cx="1360" cy="981"/>
          </a:xfrm>
        </p:grpSpPr>
        <p:grpSp>
          <p:nvGrpSpPr>
            <p:cNvPr id="49282" name="Group 192"/>
            <p:cNvGrpSpPr>
              <a:grpSpLocks/>
            </p:cNvGrpSpPr>
            <p:nvPr/>
          </p:nvGrpSpPr>
          <p:grpSpPr bwMode="auto">
            <a:xfrm>
              <a:off x="3556" y="2115"/>
              <a:ext cx="1108" cy="794"/>
              <a:chOff x="3556" y="2115"/>
              <a:chExt cx="1108" cy="794"/>
            </a:xfrm>
          </p:grpSpPr>
          <p:sp>
            <p:nvSpPr>
              <p:cNvPr id="49285" name="Freeform 183"/>
              <p:cNvSpPr>
                <a:spLocks/>
              </p:cNvSpPr>
              <p:nvPr/>
            </p:nvSpPr>
            <p:spPr bwMode="auto">
              <a:xfrm>
                <a:off x="3560" y="2115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286" name="Freeform 184"/>
              <p:cNvSpPr>
                <a:spLocks/>
              </p:cNvSpPr>
              <p:nvPr/>
            </p:nvSpPr>
            <p:spPr bwMode="auto">
              <a:xfrm>
                <a:off x="3556" y="2264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283" name="Text Box 185"/>
            <p:cNvSpPr txBox="1">
              <a:spLocks noChangeArrowheads="1"/>
            </p:cNvSpPr>
            <p:nvPr/>
          </p:nvSpPr>
          <p:spPr bwMode="auto">
            <a:xfrm>
              <a:off x="3470" y="287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49284" name="Text Box 186"/>
            <p:cNvSpPr txBox="1">
              <a:spLocks noChangeArrowheads="1"/>
            </p:cNvSpPr>
            <p:nvPr/>
          </p:nvSpPr>
          <p:spPr bwMode="auto">
            <a:xfrm>
              <a:off x="4530" y="286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aphicFrame>
        <p:nvGraphicFramePr>
          <p:cNvPr id="49157" name="Object 1"/>
          <p:cNvGraphicFramePr>
            <a:graphicFrameLocks noChangeAspect="1"/>
          </p:cNvGraphicFramePr>
          <p:nvPr/>
        </p:nvGraphicFramePr>
        <p:xfrm>
          <a:off x="7566025" y="3787775"/>
          <a:ext cx="290513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3112" imgH="241195" progId="Equation.DSMT4">
                  <p:embed/>
                </p:oleObj>
              </mc:Choice>
              <mc:Fallback>
                <p:oleObj name="Equation" r:id="rId5" imgW="203112" imgH="241195" progId="Equation.DSMT4">
                  <p:embed/>
                  <p:pic>
                    <p:nvPicPr>
                      <p:cNvPr id="4915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3787775"/>
                        <a:ext cx="290513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195"/>
          <p:cNvGrpSpPr>
            <a:grpSpLocks/>
          </p:cNvGrpSpPr>
          <p:nvPr/>
        </p:nvGrpSpPr>
        <p:grpSpPr bwMode="auto">
          <a:xfrm>
            <a:off x="6921517" y="4208467"/>
            <a:ext cx="1457328" cy="958851"/>
            <a:chOff x="3880" y="2516"/>
            <a:chExt cx="918" cy="604"/>
          </a:xfrm>
        </p:grpSpPr>
        <p:graphicFrame>
          <p:nvGraphicFramePr>
            <p:cNvPr id="49278" name="Object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20205643"/>
                </p:ext>
              </p:extLst>
            </p:nvPr>
          </p:nvGraphicFramePr>
          <p:xfrm>
            <a:off x="3880" y="2901"/>
            <a:ext cx="45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507960" imgH="241200" progId="Equation.DSMT4">
                    <p:embed/>
                  </p:oleObj>
                </mc:Choice>
                <mc:Fallback>
                  <p:oleObj name="Equation" r:id="rId7" imgW="507960" imgH="241200" progId="Equation.DSMT4">
                    <p:embed/>
                    <p:pic>
                      <p:nvPicPr>
                        <p:cNvPr id="49278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80" y="2901"/>
                          <a:ext cx="459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9279" name="Group 194"/>
            <p:cNvGrpSpPr>
              <a:grpSpLocks/>
            </p:cNvGrpSpPr>
            <p:nvPr/>
          </p:nvGrpSpPr>
          <p:grpSpPr bwMode="auto">
            <a:xfrm>
              <a:off x="4094" y="2516"/>
              <a:ext cx="704" cy="367"/>
              <a:chOff x="4094" y="2516"/>
              <a:chExt cx="704" cy="367"/>
            </a:xfrm>
          </p:grpSpPr>
          <p:sp>
            <p:nvSpPr>
              <p:cNvPr id="49280" name="Freeform 182" descr="Diagonal para cima clara"/>
              <p:cNvSpPr>
                <a:spLocks/>
              </p:cNvSpPr>
              <p:nvPr/>
            </p:nvSpPr>
            <p:spPr bwMode="auto">
              <a:xfrm>
                <a:off x="4094" y="2516"/>
                <a:ext cx="432" cy="36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281" name="Text Box 189"/>
              <p:cNvSpPr txBox="1">
                <a:spLocks noChangeArrowheads="1"/>
              </p:cNvSpPr>
              <p:nvPr/>
            </p:nvSpPr>
            <p:spPr bwMode="auto">
              <a:xfrm>
                <a:off x="4241" y="2549"/>
                <a:ext cx="557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>
                    <a:latin typeface="Times New Roman" charset="0"/>
                    <a:sym typeface="Symbol" pitchFamily="18" charset="2"/>
                  </a:rPr>
                  <a:t></a:t>
                </a:r>
                <a:r>
                  <a:rPr lang="en-US" altLang="pt-BR" sz="1600">
                    <a:latin typeface="Times New Roman" charset="0"/>
                    <a:sym typeface="Symbol" pitchFamily="18" charset="2"/>
                  </a:rPr>
                  <a:t> = 0,05</a:t>
                </a:r>
              </a:p>
            </p:txBody>
          </p:sp>
        </p:grpSp>
      </p:grpSp>
      <p:sp>
        <p:nvSpPr>
          <p:cNvPr id="194756" name="Text Box 196"/>
          <p:cNvSpPr txBox="1">
            <a:spLocks noChangeArrowheads="1"/>
          </p:cNvSpPr>
          <p:nvPr/>
        </p:nvSpPr>
        <p:spPr bwMode="auto">
          <a:xfrm>
            <a:off x="4140200" y="5715000"/>
            <a:ext cx="34559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194757" name="Text Box 197"/>
          <p:cNvSpPr txBox="1">
            <a:spLocks noChangeArrowheads="1"/>
          </p:cNvSpPr>
          <p:nvPr/>
        </p:nvSpPr>
        <p:spPr bwMode="auto">
          <a:xfrm>
            <a:off x="4140200" y="6002338"/>
            <a:ext cx="4856163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as espécies não ocupam a floresta independentemente do ambiente (há uma preferência de algumas espécies)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49162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sp>
        <p:nvSpPr>
          <p:cNvPr id="49163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9164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5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6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" name="Group 245"/>
          <p:cNvGraphicFramePr>
            <a:graphicFrameLocks noGrp="1"/>
          </p:cNvGraphicFramePr>
          <p:nvPr/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" name="Group 245"/>
          <p:cNvGraphicFramePr>
            <a:graphicFrameLocks noGrp="1"/>
          </p:cNvGraphicFramePr>
          <p:nvPr/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17,43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3,17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5,60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1,02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24,28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4,42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10,30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7,92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9275" name="Object 240"/>
          <p:cNvGraphicFramePr>
            <a:graphicFrameLocks noChangeAspect="1"/>
          </p:cNvGraphicFramePr>
          <p:nvPr/>
        </p:nvGraphicFramePr>
        <p:xfrm>
          <a:off x="5942013" y="2643188"/>
          <a:ext cx="2703512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057400" imgH="546100" progId="Equation.DSMT4">
                  <p:embed/>
                </p:oleObj>
              </mc:Choice>
              <mc:Fallback>
                <p:oleObj name="Equation" r:id="rId9" imgW="2057400" imgH="546100" progId="Equation.DSMT4">
                  <p:embed/>
                  <p:pic>
                    <p:nvPicPr>
                      <p:cNvPr id="49275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2013" y="2643188"/>
                        <a:ext cx="2703512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276" name="Object 242"/>
          <p:cNvGraphicFramePr>
            <a:graphicFrameLocks noChangeAspect="1"/>
          </p:cNvGraphicFramePr>
          <p:nvPr/>
        </p:nvGraphicFramePr>
        <p:xfrm>
          <a:off x="8408988" y="2855913"/>
          <a:ext cx="700087" cy="33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533169" imgH="253890" progId="Equation.DSMT4">
                  <p:embed/>
                </p:oleObj>
              </mc:Choice>
              <mc:Fallback>
                <p:oleObj name="Equation" r:id="rId11" imgW="533169" imgH="253890" progId="Equation.DSMT4">
                  <p:embed/>
                  <p:pic>
                    <p:nvPicPr>
                      <p:cNvPr id="49276" name="Object 2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08988" y="2855913"/>
                        <a:ext cx="700087" cy="3317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722DC0-0860-495D-BF15-9CEC7DCFC8D3}" type="slidenum">
              <a:rPr lang="pt-BR"/>
              <a:pPr>
                <a:defRPr/>
              </a:pPr>
              <a:t>43</a:t>
            </a:fld>
            <a:endParaRPr lang="pt-BR" dirty="0"/>
          </a:p>
        </p:txBody>
      </p:sp>
      <p:graphicFrame>
        <p:nvGraphicFramePr>
          <p:cNvPr id="27853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503599"/>
              </p:ext>
            </p:extLst>
          </p:nvPr>
        </p:nvGraphicFramePr>
        <p:xfrm>
          <a:off x="6923088" y="4822825"/>
          <a:ext cx="11112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774360" imgH="241200" progId="Equation.DSMT4">
                  <p:embed/>
                </p:oleObj>
              </mc:Choice>
              <mc:Fallback>
                <p:oleObj name="Equation" r:id="rId13" imgW="774360" imgH="241200" progId="Equation.DSMT4">
                  <p:embed/>
                  <p:pic>
                    <p:nvPicPr>
                      <p:cNvPr id="27853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3088" y="4822825"/>
                        <a:ext cx="1111250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82894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756" grpId="0" build="p" autoUpdateAnimBg="0"/>
      <p:bldP spid="194757" grpId="0" build="p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C616F-5B45-9923-1DFF-35739E5A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68" name="Rectangle 108">
            <a:extLst>
              <a:ext uri="{FF2B5EF4-FFF2-40B4-BE49-F238E27FC236}">
                <a16:creationId xmlns:a16="http://schemas.microsoft.com/office/drawing/2014/main" id="{91811E32-EC5A-A5FC-7F74-3E43FEC0BE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756" name="Text Box 196">
                <a:extLst>
                  <a:ext uri="{FF2B5EF4-FFF2-40B4-BE49-F238E27FC236}">
                    <a16:creationId xmlns:a16="http://schemas.microsoft.com/office/drawing/2014/main" id="{2B85B249-6F4D-EFD7-B8E0-672821C703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55450" y="5406315"/>
                <a:ext cx="4032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2563" indent="-182563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OBS: Como são múltiplas comparações, ao adotar um significância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, o valor-P deve ser comparado com </a:t>
                </a:r>
                <a14:m>
                  <m:oMath xmlns:m="http://schemas.openxmlformats.org/officeDocument/2006/math">
                    <m:r>
                      <a:rPr lang="pt-BR" sz="12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 (correção de </a:t>
                </a:r>
                <a:r>
                  <a:rPr lang="pt-BR" altLang="pt-BR" sz="1200" dirty="0" err="1">
                    <a:latin typeface="Tahoma" panose="020B0604030504040204" pitchFamily="34" charset="0"/>
                  </a:rPr>
                  <a:t>Bonferroni</a:t>
                </a:r>
                <a:r>
                  <a:rPr lang="pt-BR" altLang="pt-BR" sz="1200" dirty="0">
                    <a:latin typeface="Tahoma" panose="020B0604030504040204" pitchFamily="34" charset="0"/>
                  </a:rPr>
                  <a:t>) onde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 é o numero de comparações realizadas</a:t>
                </a:r>
              </a:p>
              <a:p>
                <a:pPr marL="182563" indent="-182563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Nesse caso, se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=5%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, então considerados significativos aqueles cujos Valores-P sejam inferiores a 0,0042 </a:t>
                </a:r>
                <a:endParaRPr lang="en-US" altLang="pt-BR" sz="12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94756" name="Text Box 196">
                <a:extLst>
                  <a:ext uri="{FF2B5EF4-FFF2-40B4-BE49-F238E27FC236}">
                    <a16:creationId xmlns:a16="http://schemas.microsoft.com/office/drawing/2014/main" id="{2B85B249-6F4D-EFD7-B8E0-672821C70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55450" y="5406315"/>
                <a:ext cx="4032229" cy="1200329"/>
              </a:xfrm>
              <a:prstGeom prst="rect">
                <a:avLst/>
              </a:prstGeom>
              <a:blipFill>
                <a:blip r:embed="rId3"/>
                <a:stretch>
                  <a:fillRect t="-508" r="-906" b="-253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162" name="Text Box 87">
            <a:extLst>
              <a:ext uri="{FF2B5EF4-FFF2-40B4-BE49-F238E27FC236}">
                <a16:creationId xmlns:a16="http://schemas.microsoft.com/office/drawing/2014/main" id="{8106E465-2F9F-780B-9AC8-DA67BF6292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776" y="1371600"/>
            <a:ext cx="849471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saber a preferência de cada espécie? Quais valores observados são significativos?</a:t>
            </a:r>
          </a:p>
        </p:txBody>
      </p:sp>
      <p:sp>
        <p:nvSpPr>
          <p:cNvPr id="49164" name="Text Box 54">
            <a:extLst>
              <a:ext uri="{FF2B5EF4-FFF2-40B4-BE49-F238E27FC236}">
                <a16:creationId xmlns:a16="http://schemas.microsoft.com/office/drawing/2014/main" id="{1667F935-77A1-B5F9-A94D-0FF514860A7B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5" name="Text Box 55">
            <a:extLst>
              <a:ext uri="{FF2B5EF4-FFF2-40B4-BE49-F238E27FC236}">
                <a16:creationId xmlns:a16="http://schemas.microsoft.com/office/drawing/2014/main" id="{D868D7DE-78D5-58F1-A0E3-AAF88134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3509963"/>
            <a:ext cx="231204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Resíduos Padronizados: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6" name="Text Box 104">
            <a:extLst>
              <a:ext uri="{FF2B5EF4-FFF2-40B4-BE49-F238E27FC236}">
                <a16:creationId xmlns:a16="http://schemas.microsoft.com/office/drawing/2014/main" id="{F2D70F56-5072-CBEC-399D-BD9BF9532A08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" name="Group 245">
            <a:extLst>
              <a:ext uri="{FF2B5EF4-FFF2-40B4-BE49-F238E27FC236}">
                <a16:creationId xmlns:a16="http://schemas.microsoft.com/office/drawing/2014/main" id="{933B92D3-87DE-AA81-ECD9-EFCCCDB8DD42}"/>
              </a:ext>
            </a:extLst>
          </p:cNvPr>
          <p:cNvGraphicFramePr>
            <a:graphicFrameLocks noGrp="1"/>
          </p:cNvGraphicFramePr>
          <p:nvPr/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" name="Group 245">
            <a:extLst>
              <a:ext uri="{FF2B5EF4-FFF2-40B4-BE49-F238E27FC236}">
                <a16:creationId xmlns:a16="http://schemas.microsoft.com/office/drawing/2014/main" id="{30EC70C0-CAE3-ABA9-99AF-879FF7856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39571"/>
              </p:ext>
            </p:extLst>
          </p:nvPr>
        </p:nvGraphicFramePr>
        <p:xfrm>
          <a:off x="714375" y="3863975"/>
          <a:ext cx="3887202" cy="1457327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-5,65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-0,81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6,80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-3,31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0,49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4,04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-1,54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3,26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-3,39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9275" name="Object 240">
                <a:extLst>
                  <a:ext uri="{FF2B5EF4-FFF2-40B4-BE49-F238E27FC236}">
                    <a16:creationId xmlns:a16="http://schemas.microsoft.com/office/drawing/2014/main" id="{17DCFD1C-AB10-7C28-6373-482288E3CCAA}"/>
                  </a:ext>
                </a:extLst>
              </p:cNvPr>
              <p:cNvSpPr txBox="1"/>
              <p:nvPr/>
            </p:nvSpPr>
            <p:spPr bwMode="auto">
              <a:xfrm>
                <a:off x="644352" y="5524525"/>
                <a:ext cx="2703512" cy="712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𝑟𝑒</m:t>
                      </m:r>
                      <m:sSub>
                        <m:sSubPr>
                          <m:ctrlP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𝑝𝑎𝑑𝑟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𝐹𝐴𝑂𝑏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𝐹𝐴𝐸𝑠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𝐹𝐴𝐸𝑠</m:t>
                              </m:r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box>
                                <m:boxPr>
                                  <m:ctrlP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pt-B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box>
                                <m:box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9275" name="Object 240">
                <a:extLst>
                  <a:ext uri="{FF2B5EF4-FFF2-40B4-BE49-F238E27FC236}">
                    <a16:creationId xmlns:a16="http://schemas.microsoft.com/office/drawing/2014/main" id="{17DCFD1C-AB10-7C28-6373-482288E3C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4352" y="5524525"/>
                <a:ext cx="2703512" cy="7127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FF9B90C8-304B-718D-4E1F-0123D455D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722DC0-0860-495D-BF15-9CEC7DCFC8D3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8" name="Text Box 55">
            <a:extLst>
              <a:ext uri="{FF2B5EF4-FFF2-40B4-BE49-F238E27FC236}">
                <a16:creationId xmlns:a16="http://schemas.microsoft.com/office/drawing/2014/main" id="{518A1A08-45BB-8802-F500-53B9F066F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907" y="3509963"/>
            <a:ext cx="428617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Valor-P bilateral </a:t>
            </a:r>
            <a:r>
              <a:rPr lang="pt-BR" altLang="pt-BR" sz="1200" dirty="0">
                <a:latin typeface="Tahoma" panose="020B0604030504040204" pitchFamily="34" charset="0"/>
              </a:rPr>
              <a:t>(considerando-se uma Normal Padrão)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9" name="Group 245">
            <a:extLst>
              <a:ext uri="{FF2B5EF4-FFF2-40B4-BE49-F238E27FC236}">
                <a16:creationId xmlns:a16="http://schemas.microsoft.com/office/drawing/2014/main" id="{AB5F559A-CC73-6CC7-5D64-573315B56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824182"/>
              </p:ext>
            </p:extLst>
          </p:nvPr>
        </p:nvGraphicFramePr>
        <p:xfrm>
          <a:off x="4854094" y="3863975"/>
          <a:ext cx="3887202" cy="1457327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1,6E-8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0,4160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1,1E-11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0,0009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1,2E-5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0,6226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5,4E-5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0,1247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0,0011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0,7874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830262E-F912-BAA1-609D-57EA19F0D19B}"/>
              </a:ext>
            </a:extLst>
          </p:cNvPr>
          <p:cNvGrpSpPr/>
          <p:nvPr/>
        </p:nvGrpSpPr>
        <p:grpSpPr>
          <a:xfrm>
            <a:off x="5930886" y="4352726"/>
            <a:ext cx="2628285" cy="958299"/>
            <a:chOff x="5930886" y="4352726"/>
            <a:chExt cx="2628285" cy="958299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103AA65-E755-6917-D837-BE2CCD97BFCE}"/>
                </a:ext>
              </a:extLst>
            </p:cNvPr>
            <p:cNvSpPr/>
            <p:nvPr/>
          </p:nvSpPr>
          <p:spPr>
            <a:xfrm>
              <a:off x="5930886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9E134551-D415-5357-3280-701952663ACC}"/>
                </a:ext>
              </a:extLst>
            </p:cNvPr>
            <p:cNvSpPr/>
            <p:nvPr/>
          </p:nvSpPr>
          <p:spPr>
            <a:xfrm>
              <a:off x="7875171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2FFB768-9495-0693-BECF-A6130FE79F52}"/>
                </a:ext>
              </a:extLst>
            </p:cNvPr>
            <p:cNvSpPr/>
            <p:nvPr/>
          </p:nvSpPr>
          <p:spPr>
            <a:xfrm>
              <a:off x="5930886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DB83F94-0907-9ACC-3D7E-0125A8163CAD}"/>
                </a:ext>
              </a:extLst>
            </p:cNvPr>
            <p:cNvSpPr/>
            <p:nvPr/>
          </p:nvSpPr>
          <p:spPr>
            <a:xfrm>
              <a:off x="6903028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5E9E118-09D9-39C2-EB86-41719BFBBFC0}"/>
                </a:ext>
              </a:extLst>
            </p:cNvPr>
            <p:cNvSpPr/>
            <p:nvPr/>
          </p:nvSpPr>
          <p:spPr>
            <a:xfrm>
              <a:off x="5930886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A121B3F-CC6A-1150-BB1F-48DEECE490DB}"/>
                </a:ext>
              </a:extLst>
            </p:cNvPr>
            <p:cNvSpPr/>
            <p:nvPr/>
          </p:nvSpPr>
          <p:spPr>
            <a:xfrm>
              <a:off x="7875171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E3883CA5-2464-296F-716A-A22F9139A785}"/>
                </a:ext>
              </a:extLst>
            </p:cNvPr>
            <p:cNvSpPr/>
            <p:nvPr/>
          </p:nvSpPr>
          <p:spPr>
            <a:xfrm>
              <a:off x="7875171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D90E7E84-7C93-000C-773F-74DF22DF0EC6}"/>
                </a:ext>
              </a:extLst>
            </p:cNvPr>
            <p:cNvSpPr/>
            <p:nvPr/>
          </p:nvSpPr>
          <p:spPr>
            <a:xfrm>
              <a:off x="5930886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BE8F394-86CE-1C7B-4F79-776FD91915B9}"/>
              </a:ext>
            </a:extLst>
          </p:cNvPr>
          <p:cNvGrpSpPr/>
          <p:nvPr/>
        </p:nvGrpSpPr>
        <p:grpSpPr>
          <a:xfrm>
            <a:off x="1829902" y="2274091"/>
            <a:ext cx="2628285" cy="958299"/>
            <a:chOff x="5930886" y="4352726"/>
            <a:chExt cx="2628285" cy="958299"/>
          </a:xfrm>
        </p:grpSpPr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EB14F486-6A6F-FAB1-7990-B6E589254658}"/>
                </a:ext>
              </a:extLst>
            </p:cNvPr>
            <p:cNvSpPr/>
            <p:nvPr/>
          </p:nvSpPr>
          <p:spPr>
            <a:xfrm>
              <a:off x="5930886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2DF30812-F668-7338-C1C2-78F79EBA4995}"/>
                </a:ext>
              </a:extLst>
            </p:cNvPr>
            <p:cNvSpPr/>
            <p:nvPr/>
          </p:nvSpPr>
          <p:spPr>
            <a:xfrm>
              <a:off x="7875171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38BA35F2-FCDF-B24C-8E5B-10EFA18C8E98}"/>
                </a:ext>
              </a:extLst>
            </p:cNvPr>
            <p:cNvSpPr/>
            <p:nvPr/>
          </p:nvSpPr>
          <p:spPr>
            <a:xfrm>
              <a:off x="5930886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732015C1-750C-0A4A-A97D-39BA6F569FCE}"/>
                </a:ext>
              </a:extLst>
            </p:cNvPr>
            <p:cNvSpPr/>
            <p:nvPr/>
          </p:nvSpPr>
          <p:spPr>
            <a:xfrm>
              <a:off x="6903028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FD37505D-5C48-3913-18B8-405E4EE40CFC}"/>
                </a:ext>
              </a:extLst>
            </p:cNvPr>
            <p:cNvSpPr/>
            <p:nvPr/>
          </p:nvSpPr>
          <p:spPr>
            <a:xfrm>
              <a:off x="5930886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8B3087A1-6AFC-49BB-7461-194205FC2EC6}"/>
                </a:ext>
              </a:extLst>
            </p:cNvPr>
            <p:cNvSpPr/>
            <p:nvPr/>
          </p:nvSpPr>
          <p:spPr>
            <a:xfrm>
              <a:off x="7875171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EF6E6D87-84B9-6C30-1C35-30BEEABE7E04}"/>
                </a:ext>
              </a:extLst>
            </p:cNvPr>
            <p:cNvSpPr/>
            <p:nvPr/>
          </p:nvSpPr>
          <p:spPr>
            <a:xfrm>
              <a:off x="7875171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E91C2CCF-C914-F269-115A-BF15588C339B}"/>
                </a:ext>
              </a:extLst>
            </p:cNvPr>
            <p:cNvSpPr/>
            <p:nvPr/>
          </p:nvSpPr>
          <p:spPr>
            <a:xfrm>
              <a:off x="5930886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8FDD77C0-ABA8-B6A5-BA46-09CD012B1D6D}"/>
              </a:ext>
            </a:extLst>
          </p:cNvPr>
          <p:cNvGrpSpPr/>
          <p:nvPr/>
        </p:nvGrpSpPr>
        <p:grpSpPr>
          <a:xfrm>
            <a:off x="5612215" y="2261023"/>
            <a:ext cx="1657377" cy="276999"/>
            <a:chOff x="5612215" y="2261023"/>
            <a:chExt cx="1657377" cy="276999"/>
          </a:xfrm>
        </p:grpSpPr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9309C0D2-069E-3173-ECE7-2C1AB0A7EA49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 Box 55">
              <a:extLst>
                <a:ext uri="{FF2B5EF4-FFF2-40B4-BE49-F238E27FC236}">
                  <a16:creationId xmlns:a16="http://schemas.microsoft.com/office/drawing/2014/main" id="{CF7CFB66-5E84-5839-1522-79049E63C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4203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a clareira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FD995362-454A-5E80-2502-311BB2102C28}"/>
              </a:ext>
            </a:extLst>
          </p:cNvPr>
          <p:cNvGrpSpPr/>
          <p:nvPr/>
        </p:nvGrpSpPr>
        <p:grpSpPr>
          <a:xfrm>
            <a:off x="5602597" y="2494753"/>
            <a:ext cx="1554208" cy="276999"/>
            <a:chOff x="5612215" y="2261023"/>
            <a:chExt cx="1554208" cy="276999"/>
          </a:xfrm>
        </p:grpSpPr>
        <p:cxnSp>
          <p:nvCxnSpPr>
            <p:cNvPr id="33" name="Conector de Seta Reta 32">
              <a:extLst>
                <a:ext uri="{FF2B5EF4-FFF2-40B4-BE49-F238E27FC236}">
                  <a16:creationId xmlns:a16="http://schemas.microsoft.com/office/drawing/2014/main" id="{DC179C7B-2528-B1D6-308F-2EF7682564DD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 Box 55">
              <a:extLst>
                <a:ext uri="{FF2B5EF4-FFF2-40B4-BE49-F238E27FC236}">
                  <a16:creationId xmlns:a16="http://schemas.microsoft.com/office/drawing/2014/main" id="{874ACFA1-C916-AC79-E478-EE6B2FD9D0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23886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a borda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12C9528D-13C3-1691-D03A-F66A12EA9680}"/>
              </a:ext>
            </a:extLst>
          </p:cNvPr>
          <p:cNvGrpSpPr/>
          <p:nvPr/>
        </p:nvGrpSpPr>
        <p:grpSpPr>
          <a:xfrm>
            <a:off x="5612215" y="2743236"/>
            <a:ext cx="1654364" cy="276999"/>
            <a:chOff x="5612215" y="2261023"/>
            <a:chExt cx="1654364" cy="276999"/>
          </a:xfrm>
        </p:grpSpPr>
        <p:cxnSp>
          <p:nvCxnSpPr>
            <p:cNvPr id="38" name="Conector de Seta Reta 37">
              <a:extLst>
                <a:ext uri="{FF2B5EF4-FFF2-40B4-BE49-F238E27FC236}">
                  <a16:creationId xmlns:a16="http://schemas.microsoft.com/office/drawing/2014/main" id="{07B069B5-0C63-91A7-8982-105FC0F3981E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 Box 55">
              <a:extLst>
                <a:ext uri="{FF2B5EF4-FFF2-40B4-BE49-F238E27FC236}">
                  <a16:creationId xmlns:a16="http://schemas.microsoft.com/office/drawing/2014/main" id="{87562DB5-1F46-5B42-E13B-193D06E4DF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3902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o interior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37C3BDEF-E21C-2465-E4B1-917BC2D168A7}"/>
              </a:ext>
            </a:extLst>
          </p:cNvPr>
          <p:cNvGrpSpPr/>
          <p:nvPr/>
        </p:nvGrpSpPr>
        <p:grpSpPr>
          <a:xfrm>
            <a:off x="5615228" y="2983559"/>
            <a:ext cx="1654364" cy="276999"/>
            <a:chOff x="5612215" y="2261023"/>
            <a:chExt cx="1654364" cy="276999"/>
          </a:xfrm>
        </p:grpSpPr>
        <p:cxnSp>
          <p:nvCxnSpPr>
            <p:cNvPr id="41" name="Conector de Seta Reta 40">
              <a:extLst>
                <a:ext uri="{FF2B5EF4-FFF2-40B4-BE49-F238E27FC236}">
                  <a16:creationId xmlns:a16="http://schemas.microsoft.com/office/drawing/2014/main" id="{9F33084C-ADA2-1EDE-6737-7C2FF2D8CE39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 Box 55">
              <a:extLst>
                <a:ext uri="{FF2B5EF4-FFF2-40B4-BE49-F238E27FC236}">
                  <a16:creationId xmlns:a16="http://schemas.microsoft.com/office/drawing/2014/main" id="{CEC72786-3276-7A39-8A42-1BE0A27CDD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3902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o interior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04D8AF0E-EED7-69B0-71F5-23746C40D7B5}"/>
              </a:ext>
            </a:extLst>
          </p:cNvPr>
          <p:cNvGrpSpPr/>
          <p:nvPr/>
        </p:nvGrpSpPr>
        <p:grpSpPr>
          <a:xfrm>
            <a:off x="1814513" y="4293405"/>
            <a:ext cx="2610982" cy="362634"/>
            <a:chOff x="1814513" y="4303030"/>
            <a:chExt cx="2610982" cy="362634"/>
          </a:xfrm>
        </p:grpSpPr>
        <p:sp>
          <p:nvSpPr>
            <p:cNvPr id="43" name="Oval 235">
              <a:extLst>
                <a:ext uri="{FF2B5EF4-FFF2-40B4-BE49-F238E27FC236}">
                  <a16:creationId xmlns:a16="http://schemas.microsoft.com/office/drawing/2014/main" id="{D8750FDF-F2DF-F848-E773-73F74C5E34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Oval 235">
              <a:extLst>
                <a:ext uri="{FF2B5EF4-FFF2-40B4-BE49-F238E27FC236}">
                  <a16:creationId xmlns:a16="http://schemas.microsoft.com/office/drawing/2014/main" id="{024649DB-7577-C1FC-B2B0-B3957EE796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Agrupar 45">
            <a:extLst>
              <a:ext uri="{FF2B5EF4-FFF2-40B4-BE49-F238E27FC236}">
                <a16:creationId xmlns:a16="http://schemas.microsoft.com/office/drawing/2014/main" id="{E41CF436-010E-FC9F-EDE7-479594DDB805}"/>
              </a:ext>
            </a:extLst>
          </p:cNvPr>
          <p:cNvGrpSpPr/>
          <p:nvPr/>
        </p:nvGrpSpPr>
        <p:grpSpPr>
          <a:xfrm>
            <a:off x="1806821" y="4532430"/>
            <a:ext cx="1685059" cy="362634"/>
            <a:chOff x="1814513" y="4303030"/>
            <a:chExt cx="1685059" cy="362634"/>
          </a:xfrm>
        </p:grpSpPr>
        <p:sp>
          <p:nvSpPr>
            <p:cNvPr id="47" name="Oval 235">
              <a:extLst>
                <a:ext uri="{FF2B5EF4-FFF2-40B4-BE49-F238E27FC236}">
                  <a16:creationId xmlns:a16="http://schemas.microsoft.com/office/drawing/2014/main" id="{B5928AD9-FDCF-418E-2D5D-6D0003907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Oval 235">
              <a:extLst>
                <a:ext uri="{FF2B5EF4-FFF2-40B4-BE49-F238E27FC236}">
                  <a16:creationId xmlns:a16="http://schemas.microsoft.com/office/drawing/2014/main" id="{8B1CCD6A-7A6A-C166-9E9A-0D73DA447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8847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90657ED5-5576-0B61-9EEB-B38E7A61EEBF}"/>
              </a:ext>
            </a:extLst>
          </p:cNvPr>
          <p:cNvGrpSpPr/>
          <p:nvPr/>
        </p:nvGrpSpPr>
        <p:grpSpPr>
          <a:xfrm>
            <a:off x="1814513" y="4765683"/>
            <a:ext cx="2610982" cy="362634"/>
            <a:chOff x="1814513" y="4303030"/>
            <a:chExt cx="2610982" cy="362634"/>
          </a:xfrm>
        </p:grpSpPr>
        <p:sp>
          <p:nvSpPr>
            <p:cNvPr id="50" name="Oval 235">
              <a:extLst>
                <a:ext uri="{FF2B5EF4-FFF2-40B4-BE49-F238E27FC236}">
                  <a16:creationId xmlns:a16="http://schemas.microsoft.com/office/drawing/2014/main" id="{F7060720-341E-2671-D40E-5E9CF0F235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Oval 235">
              <a:extLst>
                <a:ext uri="{FF2B5EF4-FFF2-40B4-BE49-F238E27FC236}">
                  <a16:creationId xmlns:a16="http://schemas.microsoft.com/office/drawing/2014/main" id="{4C51AC1B-C734-0D2B-807D-E1B7F28AC6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BF12B67-5CB2-2CA6-8289-CB23955CDC30}"/>
              </a:ext>
            </a:extLst>
          </p:cNvPr>
          <p:cNvGrpSpPr/>
          <p:nvPr/>
        </p:nvGrpSpPr>
        <p:grpSpPr>
          <a:xfrm>
            <a:off x="1814513" y="5029832"/>
            <a:ext cx="2610982" cy="362634"/>
            <a:chOff x="1814513" y="4303030"/>
            <a:chExt cx="2610982" cy="362634"/>
          </a:xfrm>
        </p:grpSpPr>
        <p:sp>
          <p:nvSpPr>
            <p:cNvPr id="53" name="Oval 235">
              <a:extLst>
                <a:ext uri="{FF2B5EF4-FFF2-40B4-BE49-F238E27FC236}">
                  <a16:creationId xmlns:a16="http://schemas.microsoft.com/office/drawing/2014/main" id="{2424A635-FA6B-8EA6-E4F5-E27FD72709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Oval 235">
              <a:extLst>
                <a:ext uri="{FF2B5EF4-FFF2-40B4-BE49-F238E27FC236}">
                  <a16:creationId xmlns:a16="http://schemas.microsoft.com/office/drawing/2014/main" id="{E3C4543A-FBAF-BC37-E262-D6AD4A237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6" name="Agrupar 55">
            <a:extLst>
              <a:ext uri="{FF2B5EF4-FFF2-40B4-BE49-F238E27FC236}">
                <a16:creationId xmlns:a16="http://schemas.microsoft.com/office/drawing/2014/main" id="{CCCA0A74-ED2C-741B-77BD-5E1C510B225F}"/>
              </a:ext>
            </a:extLst>
          </p:cNvPr>
          <p:cNvGrpSpPr/>
          <p:nvPr/>
        </p:nvGrpSpPr>
        <p:grpSpPr>
          <a:xfrm>
            <a:off x="644351" y="4302721"/>
            <a:ext cx="3781143" cy="2555279"/>
            <a:chOff x="644351" y="4302721"/>
            <a:chExt cx="3781143" cy="25552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240">
                  <a:extLst>
                    <a:ext uri="{FF2B5EF4-FFF2-40B4-BE49-F238E27FC236}">
                      <a16:creationId xmlns:a16="http://schemas.microsoft.com/office/drawing/2014/main" id="{A92A634D-BBE9-5270-4643-1895CBAC90E8}"/>
                    </a:ext>
                  </a:extLst>
                </p:cNvPr>
                <p:cNvSpPr txBox="1"/>
                <p:nvPr/>
              </p:nvSpPr>
              <p:spPr bwMode="auto">
                <a:xfrm>
                  <a:off x="644351" y="6145213"/>
                  <a:ext cx="3781143" cy="71278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𝑝𝑎𝑑𝑟</m:t>
                            </m:r>
                          </m:e>
                          <m:sub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𝐼𝑛𝑡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sz="11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pt-BR" sz="11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17,43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1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17,43</m:t>
                                </m:r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(1−</m:t>
                                </m:r>
                                <m:box>
                                  <m:boxPr>
                                    <m:ctrlPr>
                                      <a:rPr lang="pt-BR" sz="11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28</m:t>
                                        </m:r>
                                      </m:num>
                                      <m:den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106</m:t>
                                        </m:r>
                                      </m:den>
                                    </m:f>
                                  </m:e>
                                </m:box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)(</m:t>
                                </m:r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box>
                                  <m:boxPr>
                                    <m:ctrlPr>
                                      <a:rPr lang="pt-BR" sz="11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pt-BR" sz="11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1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num>
                                      <m:den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106</m:t>
                                        </m:r>
                                      </m:den>
                                    </m:f>
                                  </m:e>
                                </m:box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rad>
                          </m:den>
                        </m:f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=−5,65</m:t>
                        </m:r>
                      </m:oMath>
                    </m:oMathPara>
                  </a14:m>
                  <a:endParaRPr lang="pt-BR" sz="1100" dirty="0"/>
                </a:p>
              </p:txBody>
            </p:sp>
          </mc:Choice>
          <mc:Fallback xmlns="">
            <p:sp>
              <p:nvSpPr>
                <p:cNvPr id="7" name="Object 240">
                  <a:extLst>
                    <a:ext uri="{FF2B5EF4-FFF2-40B4-BE49-F238E27FC236}">
                      <a16:creationId xmlns:a16="http://schemas.microsoft.com/office/drawing/2014/main" id="{A92A634D-BBE9-5270-4643-1895CBAC9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44351" y="6145213"/>
                  <a:ext cx="3781143" cy="7127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Oval 235">
              <a:extLst>
                <a:ext uri="{FF2B5EF4-FFF2-40B4-BE49-F238E27FC236}">
                  <a16:creationId xmlns:a16="http://schemas.microsoft.com/office/drawing/2014/main" id="{8EACD05F-5084-740F-FC45-7EEBFBD520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2536" y="430272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353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756" grpId="0" build="p"/>
      <p:bldP spid="49165" grpId="0"/>
      <p:bldP spid="49166" grpId="0"/>
      <p:bldP spid="49275" grpId="0"/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684213" y="3068960"/>
            <a:ext cx="8459787" cy="1812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195263" indent="-11113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onde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 ;</a:t>
            </a:r>
            <a:endParaRPr lang="pt-BR" i="1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Só pode ser aplicado quando no máximo 20% dos valores esperados sejam menores que 5 e nenhum seja inferior a 1; 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Este teste não é sensível ao ordenamento das classes.</a:t>
            </a:r>
          </a:p>
          <a:p>
            <a:pPr>
              <a:lnSpc>
                <a:spcPct val="150000"/>
              </a:lnSpc>
              <a:defRPr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78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l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c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2</a:t>
            </a:r>
            <a:r>
              <a:rPr lang="pt-BR" altLang="pt-BR" sz="1600" dirty="0">
                <a:latin typeface="Tahoma" panose="020B0604030504040204" pitchFamily="34" charset="0"/>
              </a:rPr>
              <a:t>, ou seja, para tabelas de contingência 2x2, usa-se a estatística</a:t>
            </a:r>
          </a:p>
        </p:txBody>
      </p:sp>
      <p:graphicFrame>
        <p:nvGraphicFramePr>
          <p:cNvPr id="278528" name="Object 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4580268"/>
              </p:ext>
            </p:extLst>
          </p:nvPr>
        </p:nvGraphicFramePr>
        <p:xfrm>
          <a:off x="3371850" y="2097707"/>
          <a:ext cx="2903538" cy="87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09680" imgH="672840" progId="Equation.DSMT4">
                  <p:embed/>
                </p:oleObj>
              </mc:Choice>
              <mc:Fallback>
                <p:oleObj name="Equation" r:id="rId3" imgW="2209680" imgH="672840" progId="Equation.DSMT4">
                  <p:embed/>
                  <p:pic>
                    <p:nvPicPr>
                      <p:cNvPr id="278528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71850" y="2097707"/>
                        <a:ext cx="2903538" cy="879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042715"/>
              </p:ext>
            </p:extLst>
          </p:nvPr>
        </p:nvGraphicFramePr>
        <p:xfrm>
          <a:off x="1071563" y="2354013"/>
          <a:ext cx="1500186" cy="642939"/>
        </p:xfrm>
        <a:graphic>
          <a:graphicData uri="http://schemas.openxmlformats.org/drawingml/2006/table">
            <a:tbl>
              <a:tblPr/>
              <a:tblGrid>
                <a:gridCol w="50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A+B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C+D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A+C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B+D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5D5859-7618-4C6F-8B95-6D67412FA43D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9" name="Rectangle 108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0F5B3-A601-206D-92AF-24BB8049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523894EB-24F0-B754-81F3-79AFD3FD9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01" y="1353767"/>
            <a:ext cx="8459787" cy="4985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No R: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as.table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(c(5,1,34,26,2,5,2,3,21,3,3,1),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ncol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=3,nrow=4))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)&lt;-c('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Interior','Borda','Clareira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')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rownames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)&lt;-c('I','II','III','IV')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res&lt;-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chisq.test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Pearson's Chi-squared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tab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X-squared = 73.173,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6, p-value = 9.12e-14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res$stdres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#resíduos padronizados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     Borda      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 -5.651192 -0.8133805  6.7977558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 -3.309510  4.3782818  0.4921114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 4.037555 -1.5352130 -3.3357836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  3.256456 -0.2696375 -3.3865325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valorP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&lt;-2 * (1 -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pnorm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abs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res$stdres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))) #valor-P bilateral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Interior            Borda         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1.593390e-08 4.159999e-01 1.062617e-11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9.345950e-04 1.196186e-05 6.226406e-01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5.401110e-05 1.247315e-01 8.505934e-04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IV1.128123e-03 7.874392e-01 7.078188e-04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alpha_cor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&lt;-0.05/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# valor de significância de 5% corrigido por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Bonferroni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0.004166667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12CD3C3F-8204-6A85-F36A-B8C149F8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5D5859-7618-4C6F-8B95-6D67412FA43D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9" name="Rectangle 108">
            <a:extLst>
              <a:ext uri="{FF2B5EF4-FFF2-40B4-BE49-F238E27FC236}">
                <a16:creationId xmlns:a16="http://schemas.microsoft.com/office/drawing/2014/main" id="{3F7F99DA-4291-29E1-0970-6971A28922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FBAC1371-8128-C237-39A9-2E3675E40BDA}"/>
              </a:ext>
            </a:extLst>
          </p:cNvPr>
          <p:cNvGrpSpPr/>
          <p:nvPr/>
        </p:nvGrpSpPr>
        <p:grpSpPr>
          <a:xfrm>
            <a:off x="3203848" y="3131343"/>
            <a:ext cx="3816424" cy="830997"/>
            <a:chOff x="3203848" y="3411343"/>
            <a:chExt cx="3816424" cy="830997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A01BE6EA-8FBD-C3C5-683C-A42E93A916BD}"/>
                </a:ext>
              </a:extLst>
            </p:cNvPr>
            <p:cNvSpPr/>
            <p:nvPr/>
          </p:nvSpPr>
          <p:spPr>
            <a:xfrm>
              <a:off x="3203848" y="3411343"/>
              <a:ext cx="864096" cy="360040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Text Box 197">
              <a:extLst>
                <a:ext uri="{FF2B5EF4-FFF2-40B4-BE49-F238E27FC236}">
                  <a16:creationId xmlns:a16="http://schemas.microsoft.com/office/drawing/2014/main" id="{BDE21448-FD88-1F65-7E4D-FF6352330F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40200" y="3411343"/>
              <a:ext cx="288007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Conclusão: rejeita-se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a 5%, ou seja, as espécies não ocupam a floresta independentemente do ambiente (há uma preferência de algumas espécies)</a:t>
              </a:r>
              <a:endParaRPr lang="en-US" altLang="pt-BR" sz="1200" dirty="0">
                <a:latin typeface="Times New Roman" charset="0"/>
              </a:endParaRPr>
            </a:p>
          </p:txBody>
        </p:sp>
      </p:grpSp>
      <p:sp>
        <p:nvSpPr>
          <p:cNvPr id="12" name="Text Box 3">
            <a:extLst>
              <a:ext uri="{FF2B5EF4-FFF2-40B4-BE49-F238E27FC236}">
                <a16:creationId xmlns:a16="http://schemas.microsoft.com/office/drawing/2014/main" id="{08BD0C3F-21AF-2244-A2EB-9A35142C4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2120" y="4549085"/>
            <a:ext cx="2448272" cy="12926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valorP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alpha_cor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  Borda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    TRUE    FALSE  TRUE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II   TRUE    TRUE    FALSE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III  TRUE    FALSE  TRUE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IV  TRUE    FALSE  TRUE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37EA565-B288-F446-5BCA-2B48A1172570}"/>
              </a:ext>
            </a:extLst>
          </p:cNvPr>
          <p:cNvGrpSpPr/>
          <p:nvPr/>
        </p:nvGrpSpPr>
        <p:grpSpPr>
          <a:xfrm>
            <a:off x="870715" y="5013176"/>
            <a:ext cx="2945095" cy="781232"/>
            <a:chOff x="5930886" y="4352726"/>
            <a:chExt cx="2660720" cy="95829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2C5EEBD-D5A5-8A19-7F14-F8989B0D5D6F}"/>
                </a:ext>
              </a:extLst>
            </p:cNvPr>
            <p:cNvSpPr/>
            <p:nvPr/>
          </p:nvSpPr>
          <p:spPr>
            <a:xfrm>
              <a:off x="5930886" y="4352726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6C352C69-35FC-D0C7-CEB1-5367050D25C5}"/>
                </a:ext>
              </a:extLst>
            </p:cNvPr>
            <p:cNvSpPr/>
            <p:nvPr/>
          </p:nvSpPr>
          <p:spPr>
            <a:xfrm>
              <a:off x="7713461" y="4352726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79D5FF93-AF78-E97D-B0E5-DA683A562703}"/>
                </a:ext>
              </a:extLst>
            </p:cNvPr>
            <p:cNvSpPr/>
            <p:nvPr/>
          </p:nvSpPr>
          <p:spPr>
            <a:xfrm>
              <a:off x="5930886" y="4598605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64D4AE62-B52F-7CED-7E47-0180C1BE5103}"/>
                </a:ext>
              </a:extLst>
            </p:cNvPr>
            <p:cNvSpPr/>
            <p:nvPr/>
          </p:nvSpPr>
          <p:spPr>
            <a:xfrm>
              <a:off x="6824769" y="4598605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B3302CA6-680F-1816-1C17-B0CE164EF049}"/>
                </a:ext>
              </a:extLst>
            </p:cNvPr>
            <p:cNvSpPr/>
            <p:nvPr/>
          </p:nvSpPr>
          <p:spPr>
            <a:xfrm>
              <a:off x="5930886" y="4844484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AA7528DB-29F4-32D7-7DAD-EC621E7F598F}"/>
                </a:ext>
              </a:extLst>
            </p:cNvPr>
            <p:cNvSpPr/>
            <p:nvPr/>
          </p:nvSpPr>
          <p:spPr>
            <a:xfrm>
              <a:off x="7713461" y="4844484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A01896CD-81D5-E7E7-5CD6-7CA494C59FFE}"/>
                </a:ext>
              </a:extLst>
            </p:cNvPr>
            <p:cNvSpPr/>
            <p:nvPr/>
          </p:nvSpPr>
          <p:spPr>
            <a:xfrm>
              <a:off x="7713461" y="5090363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08CAB37C-4F43-53D0-20BB-ED6BBBD6086E}"/>
                </a:ext>
              </a:extLst>
            </p:cNvPr>
            <p:cNvSpPr/>
            <p:nvPr/>
          </p:nvSpPr>
          <p:spPr>
            <a:xfrm>
              <a:off x="5930886" y="5090363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F06BE018-4525-4994-5A2E-C1314F9A927B}"/>
              </a:ext>
            </a:extLst>
          </p:cNvPr>
          <p:cNvGrpSpPr/>
          <p:nvPr/>
        </p:nvGrpSpPr>
        <p:grpSpPr>
          <a:xfrm>
            <a:off x="916890" y="3869356"/>
            <a:ext cx="2303631" cy="731520"/>
            <a:chOff x="5930886" y="4352726"/>
            <a:chExt cx="2081194" cy="958299"/>
          </a:xfrm>
        </p:grpSpPr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E66F0641-466B-407D-00BB-26A746993AA9}"/>
                </a:ext>
              </a:extLst>
            </p:cNvPr>
            <p:cNvSpPr/>
            <p:nvPr/>
          </p:nvSpPr>
          <p:spPr>
            <a:xfrm>
              <a:off x="5930886" y="4352726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DB597CC5-5294-F6AC-F9CA-883424E05C73}"/>
                </a:ext>
              </a:extLst>
            </p:cNvPr>
            <p:cNvSpPr/>
            <p:nvPr/>
          </p:nvSpPr>
          <p:spPr>
            <a:xfrm>
              <a:off x="7329077" y="4352726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E26FC93B-7C35-B250-6725-051B320AF2CD}"/>
                </a:ext>
              </a:extLst>
            </p:cNvPr>
            <p:cNvSpPr/>
            <p:nvPr/>
          </p:nvSpPr>
          <p:spPr>
            <a:xfrm>
              <a:off x="5930886" y="4598605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7DBF26E7-64B4-C4CE-943A-2FD0E44A79C4}"/>
                </a:ext>
              </a:extLst>
            </p:cNvPr>
            <p:cNvSpPr/>
            <p:nvPr/>
          </p:nvSpPr>
          <p:spPr>
            <a:xfrm>
              <a:off x="6630864" y="4598605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96776C79-3A52-402C-A379-71273C04F0CB}"/>
                </a:ext>
              </a:extLst>
            </p:cNvPr>
            <p:cNvSpPr/>
            <p:nvPr/>
          </p:nvSpPr>
          <p:spPr>
            <a:xfrm>
              <a:off x="5930886" y="4844484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10B869B1-FCAD-216F-7DBB-C5F3FA11C1C7}"/>
                </a:ext>
              </a:extLst>
            </p:cNvPr>
            <p:cNvSpPr/>
            <p:nvPr/>
          </p:nvSpPr>
          <p:spPr>
            <a:xfrm>
              <a:off x="7329078" y="4844484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15BB6C8A-AA27-EFBC-2AA4-FD2364562912}"/>
                </a:ext>
              </a:extLst>
            </p:cNvPr>
            <p:cNvSpPr/>
            <p:nvPr/>
          </p:nvSpPr>
          <p:spPr>
            <a:xfrm>
              <a:off x="7329079" y="5090363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FC03577E-C7A4-6839-10BC-5C4486CC1E66}"/>
                </a:ext>
              </a:extLst>
            </p:cNvPr>
            <p:cNvSpPr/>
            <p:nvPr/>
          </p:nvSpPr>
          <p:spPr>
            <a:xfrm>
              <a:off x="5930886" y="5090363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2" name="Text Box 3">
            <a:extLst>
              <a:ext uri="{FF2B5EF4-FFF2-40B4-BE49-F238E27FC236}">
                <a16:creationId xmlns:a16="http://schemas.microsoft.com/office/drawing/2014/main" id="{452314B6-9DE1-7325-0647-487DDD03F2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104" y="1556792"/>
            <a:ext cx="244827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Borda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        5         2         21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        1         5          3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      34        2          3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       26        3          1</a:t>
            </a:r>
          </a:p>
        </p:txBody>
      </p:sp>
    </p:spTree>
    <p:extLst>
      <p:ext uri="{BB962C8B-B14F-4D97-AF65-F5344CB8AC3E}">
        <p14:creationId xmlns:p14="http://schemas.microsoft.com/office/powerpoint/2010/main" val="310575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481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diferentes mecanismos de dispersão de sementes de modo que, para algumas espécies, há a formação de agrupamentos enquanto que, para outras, há uma tendência de maior dispersão. A fim de avaliar a comportamento de duas espécies quaisquer, selecionou-se aleatoriamente algumas plântulas recém-germinadas e anotou-se a distância mínima que esta plântula estava de um indivíduo adulto da mesma espécie. Os resultados são apresentados abaixo. O que se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1000125" y="3571875"/>
          <a:ext cx="2078038" cy="298767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40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Distância (m)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4866" name="Text Box 122"/>
          <p:cNvSpPr txBox="1">
            <a:spLocks noChangeArrowheads="1"/>
          </p:cNvSpPr>
          <p:nvPr/>
        </p:nvSpPr>
        <p:spPr bwMode="auto">
          <a:xfrm>
            <a:off x="3357563" y="4143375"/>
            <a:ext cx="5072062" cy="152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Será que estes resultados poderiam ser obtidos mesmo que ambas espécies tivessem o mesmo comportamento de dispersão ou será que eles evidenciam a diferença entre estas espécies?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3080049-D4FB-4311-8291-EEA200023023}" type="slidenum">
              <a:rPr lang="pt-BR"/>
              <a:pPr>
                <a:defRPr/>
              </a:pPr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526272"/>
      </p:ext>
    </p:extLst>
  </p:cSld>
  <p:clrMapOvr>
    <a:masterClrMapping/>
  </p:clrMapOvr>
  <p:transition spd="slow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584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5916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846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B83FB7-C1DC-40F4-BCCF-2538A0DBF450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6506711"/>
      </p:ext>
    </p:extLst>
  </p:cSld>
  <p:clrMapOvr>
    <a:masterClrMapping/>
  </p:clrMapOvr>
  <p:transition spd="slow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6867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6940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49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</p:txBody>
      </p:sp>
      <p:sp>
        <p:nvSpPr>
          <p:cNvPr id="36941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6942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806E7-1C20-4F52-AD5C-483D27BCCC9D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775393"/>
      </p:ext>
    </p:extLst>
  </p:cSld>
  <p:clrMapOvr>
    <a:masterClrMapping/>
  </p:clrMapOvr>
  <p:transition spd="slow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789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7964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37965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7966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37968" name="Text Box 122"/>
          <p:cNvSpPr txBox="1">
            <a:spLocks noChangeArrowheads="1"/>
          </p:cNvSpPr>
          <p:nvPr/>
        </p:nvSpPr>
        <p:spPr bwMode="auto">
          <a:xfrm>
            <a:off x="4316413" y="4694238"/>
            <a:ext cx="8572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7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4368800" y="4689475"/>
            <a:ext cx="539750" cy="331788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" name="Grupo 35"/>
          <p:cNvGrpSpPr>
            <a:grpSpLocks/>
          </p:cNvGrpSpPr>
          <p:nvPr/>
        </p:nvGrpSpPr>
        <p:grpSpPr bwMode="auto">
          <a:xfrm>
            <a:off x="4773613" y="5335588"/>
            <a:ext cx="3504300" cy="307975"/>
            <a:chOff x="357158" y="5786454"/>
            <a:chExt cx="3504499" cy="307777"/>
          </a:xfrm>
        </p:grpSpPr>
        <p:sp>
          <p:nvSpPr>
            <p:cNvPr id="37985" name="CaixaDeTexto 12"/>
            <p:cNvSpPr txBox="1">
              <a:spLocks noChangeArrowheads="1"/>
            </p:cNvSpPr>
            <p:nvPr/>
          </p:nvSpPr>
          <p:spPr bwMode="auto">
            <a:xfrm>
              <a:off x="357158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6" name="CaixaDeTexto 13"/>
            <p:cNvSpPr txBox="1">
              <a:spLocks noChangeArrowheads="1"/>
            </p:cNvSpPr>
            <p:nvPr/>
          </p:nvSpPr>
          <p:spPr bwMode="auto">
            <a:xfrm>
              <a:off x="50032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7" name="CaixaDeTexto 14"/>
            <p:cNvSpPr txBox="1">
              <a:spLocks noChangeArrowheads="1"/>
            </p:cNvSpPr>
            <p:nvPr/>
          </p:nvSpPr>
          <p:spPr bwMode="auto">
            <a:xfrm>
              <a:off x="643486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8" name="CaixaDeTexto 15"/>
            <p:cNvSpPr txBox="1">
              <a:spLocks noChangeArrowheads="1"/>
            </p:cNvSpPr>
            <p:nvPr/>
          </p:nvSpPr>
          <p:spPr bwMode="auto">
            <a:xfrm>
              <a:off x="786650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9" name="CaixaDeTexto 16"/>
            <p:cNvSpPr txBox="1">
              <a:spLocks noChangeArrowheads="1"/>
            </p:cNvSpPr>
            <p:nvPr/>
          </p:nvSpPr>
          <p:spPr bwMode="auto">
            <a:xfrm>
              <a:off x="929814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0" name="CaixaDeTexto 18"/>
            <p:cNvSpPr txBox="1">
              <a:spLocks noChangeArrowheads="1"/>
            </p:cNvSpPr>
            <p:nvPr/>
          </p:nvSpPr>
          <p:spPr bwMode="auto">
            <a:xfrm>
              <a:off x="1084991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1" name="CaixaDeTexto 19"/>
            <p:cNvSpPr txBox="1">
              <a:spLocks noChangeArrowheads="1"/>
            </p:cNvSpPr>
            <p:nvPr/>
          </p:nvSpPr>
          <p:spPr bwMode="auto">
            <a:xfrm>
              <a:off x="1233774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2" name="CaixaDeTexto 20"/>
            <p:cNvSpPr txBox="1">
              <a:spLocks noChangeArrowheads="1"/>
            </p:cNvSpPr>
            <p:nvPr/>
          </p:nvSpPr>
          <p:spPr bwMode="auto">
            <a:xfrm>
              <a:off x="1376938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3" name="CaixaDeTexto 21"/>
            <p:cNvSpPr txBox="1">
              <a:spLocks noChangeArrowheads="1"/>
            </p:cNvSpPr>
            <p:nvPr/>
          </p:nvSpPr>
          <p:spPr bwMode="auto">
            <a:xfrm>
              <a:off x="152010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4" name="CaixaDeTexto 22"/>
            <p:cNvSpPr txBox="1">
              <a:spLocks noChangeArrowheads="1"/>
            </p:cNvSpPr>
            <p:nvPr/>
          </p:nvSpPr>
          <p:spPr bwMode="auto">
            <a:xfrm>
              <a:off x="1675280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5" name="CaixaDeTexto 23"/>
            <p:cNvSpPr txBox="1">
              <a:spLocks noChangeArrowheads="1"/>
            </p:cNvSpPr>
            <p:nvPr/>
          </p:nvSpPr>
          <p:spPr bwMode="auto">
            <a:xfrm>
              <a:off x="182406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6" name="CaixaDeTexto 24"/>
            <p:cNvSpPr txBox="1">
              <a:spLocks noChangeArrowheads="1"/>
            </p:cNvSpPr>
            <p:nvPr/>
          </p:nvSpPr>
          <p:spPr bwMode="auto">
            <a:xfrm>
              <a:off x="1967226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7" name="CaixaDeTexto 25"/>
            <p:cNvSpPr txBox="1">
              <a:spLocks noChangeArrowheads="1"/>
            </p:cNvSpPr>
            <p:nvPr/>
          </p:nvSpPr>
          <p:spPr bwMode="auto">
            <a:xfrm>
              <a:off x="2122403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8" name="CaixaDeTexto 26"/>
            <p:cNvSpPr txBox="1">
              <a:spLocks noChangeArrowheads="1"/>
            </p:cNvSpPr>
            <p:nvPr/>
          </p:nvSpPr>
          <p:spPr bwMode="auto">
            <a:xfrm>
              <a:off x="2283200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9" name="CaixaDeTexto 27"/>
            <p:cNvSpPr txBox="1">
              <a:spLocks noChangeArrowheads="1"/>
            </p:cNvSpPr>
            <p:nvPr/>
          </p:nvSpPr>
          <p:spPr bwMode="auto">
            <a:xfrm>
              <a:off x="2443996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0" name="CaixaDeTexto 28"/>
            <p:cNvSpPr txBox="1">
              <a:spLocks noChangeArrowheads="1"/>
            </p:cNvSpPr>
            <p:nvPr/>
          </p:nvSpPr>
          <p:spPr bwMode="auto">
            <a:xfrm>
              <a:off x="260479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1" name="CaixaDeTexto 29"/>
            <p:cNvSpPr txBox="1">
              <a:spLocks noChangeArrowheads="1"/>
            </p:cNvSpPr>
            <p:nvPr/>
          </p:nvSpPr>
          <p:spPr bwMode="auto">
            <a:xfrm>
              <a:off x="2765588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2" name="CaixaDeTexto 30"/>
            <p:cNvSpPr txBox="1">
              <a:spLocks noChangeArrowheads="1"/>
            </p:cNvSpPr>
            <p:nvPr/>
          </p:nvSpPr>
          <p:spPr bwMode="auto">
            <a:xfrm>
              <a:off x="2926384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3" name="CaixaDeTexto 31"/>
            <p:cNvSpPr txBox="1">
              <a:spLocks noChangeArrowheads="1"/>
            </p:cNvSpPr>
            <p:nvPr/>
          </p:nvSpPr>
          <p:spPr bwMode="auto">
            <a:xfrm>
              <a:off x="3087179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4" name="CaixaDeTexto 32"/>
            <p:cNvSpPr txBox="1">
              <a:spLocks noChangeArrowheads="1"/>
            </p:cNvSpPr>
            <p:nvPr/>
          </p:nvSpPr>
          <p:spPr bwMode="auto">
            <a:xfrm>
              <a:off x="3247975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5" name="CaixaDeTexto 33"/>
            <p:cNvSpPr txBox="1">
              <a:spLocks noChangeArrowheads="1"/>
            </p:cNvSpPr>
            <p:nvPr/>
          </p:nvSpPr>
          <p:spPr bwMode="auto">
            <a:xfrm>
              <a:off x="340877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6" name="CaixaDeTexto 34"/>
            <p:cNvSpPr txBox="1">
              <a:spLocks noChangeArrowheads="1"/>
            </p:cNvSpPr>
            <p:nvPr/>
          </p:nvSpPr>
          <p:spPr bwMode="auto">
            <a:xfrm>
              <a:off x="356957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</p:grpSp>
      <p:sp>
        <p:nvSpPr>
          <p:cNvPr id="38" name="CaixaDeTexto 37"/>
          <p:cNvSpPr txBox="1">
            <a:spLocks noChangeArrowheads="1"/>
          </p:cNvSpPr>
          <p:nvPr/>
        </p:nvSpPr>
        <p:spPr bwMode="auto">
          <a:xfrm>
            <a:off x="4524375" y="5549900"/>
            <a:ext cx="2619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39" name="CaixaDeTexto 38"/>
          <p:cNvSpPr txBox="1">
            <a:spLocks noChangeArrowheads="1"/>
          </p:cNvSpPr>
          <p:nvPr/>
        </p:nvSpPr>
        <p:spPr bwMode="auto">
          <a:xfrm>
            <a:off x="4524375" y="5743575"/>
            <a:ext cx="2619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40" name="CaixaDeTexto 39"/>
          <p:cNvSpPr txBox="1">
            <a:spLocks noChangeArrowheads="1"/>
          </p:cNvSpPr>
          <p:nvPr/>
        </p:nvSpPr>
        <p:spPr bwMode="auto">
          <a:xfrm>
            <a:off x="4524375" y="5938838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41" name="CaixaDeTexto 40"/>
          <p:cNvSpPr txBox="1">
            <a:spLocks noChangeArrowheads="1"/>
          </p:cNvSpPr>
          <p:nvPr/>
        </p:nvSpPr>
        <p:spPr bwMode="auto">
          <a:xfrm>
            <a:off x="4524375" y="6132513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</a:p>
        </p:txBody>
      </p:sp>
      <p:sp>
        <p:nvSpPr>
          <p:cNvPr id="42" name="CaixaDeTexto 41"/>
          <p:cNvSpPr txBox="1">
            <a:spLocks noChangeArrowheads="1"/>
          </p:cNvSpPr>
          <p:nvPr/>
        </p:nvSpPr>
        <p:spPr bwMode="auto">
          <a:xfrm>
            <a:off x="4524375" y="6326188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</a:p>
        </p:txBody>
      </p:sp>
      <p:cxnSp>
        <p:nvCxnSpPr>
          <p:cNvPr id="50" name="Forma 49"/>
          <p:cNvCxnSpPr>
            <a:endCxn id="38" idx="3"/>
          </p:cNvCxnSpPr>
          <p:nvPr/>
        </p:nvCxnSpPr>
        <p:spPr>
          <a:xfrm rot="5400000">
            <a:off x="5270501" y="5159375"/>
            <a:ext cx="44450" cy="1012825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Forma 50"/>
          <p:cNvCxnSpPr>
            <a:endCxn id="39" idx="3"/>
          </p:cNvCxnSpPr>
          <p:nvPr/>
        </p:nvCxnSpPr>
        <p:spPr>
          <a:xfrm rot="5400000">
            <a:off x="5244307" y="5185569"/>
            <a:ext cx="239712" cy="1155700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Forma 53"/>
          <p:cNvCxnSpPr>
            <a:endCxn id="40" idx="3"/>
          </p:cNvCxnSpPr>
          <p:nvPr/>
        </p:nvCxnSpPr>
        <p:spPr>
          <a:xfrm rot="5400000">
            <a:off x="5219700" y="5210176"/>
            <a:ext cx="433387" cy="1300162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Forma 59"/>
          <p:cNvCxnSpPr>
            <a:endCxn id="41" idx="3"/>
          </p:cNvCxnSpPr>
          <p:nvPr/>
        </p:nvCxnSpPr>
        <p:spPr>
          <a:xfrm rot="5400000">
            <a:off x="5274470" y="5155406"/>
            <a:ext cx="627062" cy="1603375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Forma 62"/>
          <p:cNvCxnSpPr>
            <a:endCxn id="42" idx="3"/>
          </p:cNvCxnSpPr>
          <p:nvPr/>
        </p:nvCxnSpPr>
        <p:spPr>
          <a:xfrm rot="5400000">
            <a:off x="5249069" y="5180807"/>
            <a:ext cx="820737" cy="1746250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to 66"/>
          <p:cNvCxnSpPr/>
          <p:nvPr/>
        </p:nvCxnSpPr>
        <p:spPr>
          <a:xfrm>
            <a:off x="4562475" y="6572250"/>
            <a:ext cx="180975" cy="1588"/>
          </a:xfrm>
          <a:prstGeom prst="line">
            <a:avLst/>
          </a:prstGeom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aixaDeTexto 67"/>
          <p:cNvSpPr txBox="1">
            <a:spLocks noChangeArrowheads="1"/>
          </p:cNvSpPr>
          <p:nvPr/>
        </p:nvSpPr>
        <p:spPr bwMode="auto">
          <a:xfrm>
            <a:off x="4529138" y="6581775"/>
            <a:ext cx="2619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7</a:t>
            </a:r>
          </a:p>
        </p:txBody>
      </p:sp>
      <p:sp>
        <p:nvSpPr>
          <p:cNvPr id="69" name="Text Box 122"/>
          <p:cNvSpPr txBox="1">
            <a:spLocks noChangeArrowheads="1"/>
          </p:cNvSpPr>
          <p:nvPr/>
        </p:nvSpPr>
        <p:spPr bwMode="auto">
          <a:xfrm>
            <a:off x="5092700" y="4643438"/>
            <a:ext cx="4000500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ahoma" panose="020B0604030504040204" pitchFamily="34" charset="0"/>
              </a:rPr>
              <a:t>W</a:t>
            </a:r>
            <a:r>
              <a:rPr lang="pt-BR" altLang="pt-BR" sz="1200" dirty="0">
                <a:latin typeface="Tahoma" panose="020B0604030504040204" pitchFamily="34" charset="0"/>
              </a:rPr>
              <a:t>  representa o número de vezes que um posto no grupo A precede um posto do grupo B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31FE10-F0C3-4B58-8217-A8FBE7600E2C}" type="slidenum">
              <a:rPr lang="pt-BR"/>
              <a:pPr>
                <a:defRPr/>
              </a:pPr>
              <a:t>50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7">
                <a:extLst>
                  <a:ext uri="{FF2B5EF4-FFF2-40B4-BE49-F238E27FC236}">
                    <a16:creationId xmlns:a16="http://schemas.microsoft.com/office/drawing/2014/main" id="{CEC8FC59-10BD-502F-9F78-C6C43688ED85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7" name="Object 67">
                <a:extLst>
                  <a:ext uri="{FF2B5EF4-FFF2-40B4-BE49-F238E27FC236}">
                    <a16:creationId xmlns:a16="http://schemas.microsoft.com/office/drawing/2014/main" id="{CEC8FC59-10BD-502F-9F78-C6C43688E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4673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39" grpId="0"/>
      <p:bldP spid="40" grpId="0"/>
      <p:bldP spid="41" grpId="0"/>
      <p:bldP spid="42" grpId="0"/>
      <p:bldP spid="68" grpId="0"/>
      <p:bldP spid="6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91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8988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8989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47" name="Text Box 122"/>
          <p:cNvSpPr txBox="1">
            <a:spLocks noChangeArrowheads="1"/>
          </p:cNvSpPr>
          <p:nvPr/>
        </p:nvSpPr>
        <p:spPr bwMode="auto">
          <a:xfrm>
            <a:off x="71438" y="4821238"/>
            <a:ext cx="4683125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comportamento das 2 espécies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esp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écie A dispersa-se mais do que a espécie B (unilateral)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8" name="Text Box 122"/>
          <p:cNvSpPr txBox="1">
            <a:spLocks noChangeArrowheads="1"/>
          </p:cNvSpPr>
          <p:nvPr/>
        </p:nvSpPr>
        <p:spPr bwMode="auto">
          <a:xfrm>
            <a:off x="3990975" y="4618038"/>
            <a:ext cx="4867275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38992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EB5B6D-AA2B-4B55-9B5D-25FE75BE7374}" type="slidenum">
              <a:rPr lang="pt-BR"/>
              <a:pPr>
                <a:defRPr/>
              </a:pPr>
              <a:t>51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67">
                <a:extLst>
                  <a:ext uri="{FF2B5EF4-FFF2-40B4-BE49-F238E27FC236}">
                    <a16:creationId xmlns:a16="http://schemas.microsoft.com/office/drawing/2014/main" id="{2E609665-60BF-23C2-14AE-D88F2129A449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" name="Object 67">
                <a:extLst>
                  <a:ext uri="{FF2B5EF4-FFF2-40B4-BE49-F238E27FC236}">
                    <a16:creationId xmlns:a16="http://schemas.microsoft.com/office/drawing/2014/main" id="{2E609665-60BF-23C2-14AE-D88F2129A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50491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build="p"/>
      <p:bldP spid="4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Bilateral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1%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E58453-0C34-4FF2-91F1-A70681A168A7}" type="slidenum">
              <a:rPr lang="pt-BR"/>
              <a:pPr>
                <a:defRPr/>
              </a:pPr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8116796"/>
      </p:ext>
    </p:extLst>
  </p:cSld>
  <p:clrMapOvr>
    <a:masterClrMapping/>
  </p:clrMapOvr>
  <p:transition spd="slow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Bilateral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5%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97516F-7C52-4670-8C86-E017292FD7AA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3858720"/>
      </p:ext>
    </p:extLst>
  </p:cSld>
  <p:clrMapOvr>
    <a:masterClrMapping/>
  </p:clrMapOvr>
  <p:transition spd="slow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Unilateral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1%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F5C4A-3E8E-4040-AD09-AD58B5E8B19E}" type="slidenum">
              <a:rPr lang="pt-BR"/>
              <a:pPr>
                <a:defRPr/>
              </a:pPr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3281222"/>
      </p:ext>
    </p:extLst>
  </p:cSld>
  <p:clrMapOvr>
    <a:masterClrMapping/>
  </p:clrMapOvr>
  <p:transition spd="slow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979488" y="4348163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4102100" y="2143125"/>
            <a:ext cx="285750" cy="220663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Unilateral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5%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9" name="Retângulo 8"/>
          <p:cNvSpPr/>
          <p:nvPr/>
        </p:nvSpPr>
        <p:spPr>
          <a:xfrm>
            <a:off x="4092575" y="4351338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EE3A623-765F-4F96-B1C0-71E3E8A29E66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485740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ext Box 122"/>
          <p:cNvSpPr txBox="1">
            <a:spLocks noChangeArrowheads="1"/>
          </p:cNvSpPr>
          <p:nvPr/>
        </p:nvSpPr>
        <p:spPr bwMode="auto">
          <a:xfrm>
            <a:off x="71438" y="4821238"/>
            <a:ext cx="4683125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comportamento das 2 espécies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esp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écie A dispersa-se mais do que a espécie B (unilateral)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4036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4109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44110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44111" name="Text Box 122"/>
          <p:cNvSpPr txBox="1">
            <a:spLocks noChangeArrowheads="1"/>
          </p:cNvSpPr>
          <p:nvPr/>
        </p:nvSpPr>
        <p:spPr bwMode="auto">
          <a:xfrm>
            <a:off x="428625" y="6113463"/>
            <a:ext cx="8572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W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obs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 = 7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460375" y="6097588"/>
            <a:ext cx="682625" cy="33178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4113" name="Text Box 122"/>
          <p:cNvSpPr txBox="1">
            <a:spLocks noChangeArrowheads="1"/>
          </p:cNvSpPr>
          <p:nvPr/>
        </p:nvSpPr>
        <p:spPr bwMode="auto">
          <a:xfrm>
            <a:off x="1357313" y="6121400"/>
            <a:ext cx="12144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W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crít</a:t>
            </a:r>
            <a:r>
              <a:rPr lang="pt-BR" altLang="pt-BR" sz="1400" i="1" baseline="-25000" dirty="0">
                <a:latin typeface="Times New Roman" charset="0"/>
                <a:cs typeface="Times New Roman" charset="0"/>
              </a:rPr>
              <a:t> 5%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 = 34</a:t>
            </a:r>
          </a:p>
        </p:txBody>
      </p:sp>
      <p:sp>
        <p:nvSpPr>
          <p:cNvPr id="44114" name="Text Box 122"/>
          <p:cNvSpPr txBox="1">
            <a:spLocks noChangeArrowheads="1"/>
          </p:cNvSpPr>
          <p:nvPr/>
        </p:nvSpPr>
        <p:spPr bwMode="auto">
          <a:xfrm>
            <a:off x="3990975" y="4618038"/>
            <a:ext cx="4867275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44115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21" name="Retângulo 20"/>
          <p:cNvSpPr>
            <a:spLocks noChangeArrowheads="1"/>
          </p:cNvSpPr>
          <p:nvPr/>
        </p:nvSpPr>
        <p:spPr bwMode="auto">
          <a:xfrm>
            <a:off x="2571750" y="5929313"/>
            <a:ext cx="4143375" cy="738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espécie A parece  dispersar-se mais do que a espécie B, adotando-se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2559C5-527E-4BDE-BB1C-CB1B95403C55}" type="slidenum">
              <a:rPr lang="pt-BR"/>
              <a:pPr>
                <a:defRPr/>
              </a:pPr>
              <a:t>56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67">
                <a:extLst>
                  <a:ext uri="{FF2B5EF4-FFF2-40B4-BE49-F238E27FC236}">
                    <a16:creationId xmlns:a16="http://schemas.microsoft.com/office/drawing/2014/main" id="{512E2DA4-CD42-2D09-C07E-5417700CD846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" name="Object 67">
                <a:extLst>
                  <a:ext uri="{FF2B5EF4-FFF2-40B4-BE49-F238E27FC236}">
                    <a16:creationId xmlns:a16="http://schemas.microsoft.com/office/drawing/2014/main" id="{512E2DA4-CD42-2D09-C07E-5417700CD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96352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um dos testes não paramétricos mais poderosos, sendo uma alternativa muito útil ao teste t</a:t>
            </a:r>
          </a:p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20</a:t>
            </a:r>
            <a:r>
              <a:rPr lang="pt-BR" altLang="pt-BR" sz="1600" dirty="0">
                <a:latin typeface="Tahoma" panose="020B0604030504040204" pitchFamily="34" charset="0"/>
              </a:rPr>
              <a:t>),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pode ser aproximada para uma normal. Nesse caso, utiliza-se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67"/>
              <p:cNvSpPr txBox="1"/>
              <p:nvPr/>
            </p:nvSpPr>
            <p:spPr bwMode="auto">
              <a:xfrm>
                <a:off x="1857375" y="2928938"/>
                <a:ext cx="4010768" cy="113823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+1)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57375" y="2928938"/>
                <a:ext cx="4010768" cy="11382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682625" y="4076700"/>
            <a:ext cx="845978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Quando ocorrem empates dentro do mesmo grupo, o valor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não é afetado. No entanto, quando o empate ocorre entre grupos diferentes, uma correção em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é necessária: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bject 10"/>
              <p:cNvSpPr txBox="1"/>
              <p:nvPr/>
            </p:nvSpPr>
            <p:spPr bwMode="auto">
              <a:xfrm>
                <a:off x="1857374" y="5000625"/>
                <a:ext cx="4010769" cy="7397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2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57374" y="5000625"/>
                <a:ext cx="4010769" cy="739775"/>
              </a:xfrm>
              <a:prstGeom prst="rect">
                <a:avLst/>
              </a:prstGeom>
              <a:blipFill>
                <a:blip r:embed="rId4"/>
                <a:stretch>
                  <a:fillRect b="-409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tângulo 42"/>
          <p:cNvSpPr>
            <a:spLocks noChangeArrowheads="1"/>
          </p:cNvSpPr>
          <p:nvPr/>
        </p:nvSpPr>
        <p:spPr bwMode="auto">
          <a:xfrm>
            <a:off x="1000125" y="5786438"/>
            <a:ext cx="70403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onde:</a:t>
            </a:r>
          </a:p>
        </p:txBody>
      </p:sp>
      <p:graphicFrame>
        <p:nvGraphicFramePr>
          <p:cNvPr id="44" name="Object 11"/>
          <p:cNvGraphicFramePr>
            <a:graphicFrameLocks noChangeAspect="1"/>
          </p:cNvGraphicFramePr>
          <p:nvPr/>
        </p:nvGraphicFramePr>
        <p:xfrm>
          <a:off x="3490913" y="5970588"/>
          <a:ext cx="100012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98500" imgH="228600" progId="Equation.DSMT4">
                  <p:embed/>
                </p:oleObj>
              </mc:Choice>
              <mc:Fallback>
                <p:oleObj name="Equation" r:id="rId5" imgW="698500" imgH="228600" progId="Equation.DSMT4">
                  <p:embed/>
                  <p:pic>
                    <p:nvPicPr>
                      <p:cNvPr id="44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0913" y="5970588"/>
                        <a:ext cx="1000125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Object 12"/>
          <p:cNvGraphicFramePr>
            <a:graphicFrameLocks noChangeAspect="1"/>
          </p:cNvGraphicFramePr>
          <p:nvPr/>
        </p:nvGraphicFramePr>
        <p:xfrm>
          <a:off x="1857375" y="6064250"/>
          <a:ext cx="140017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977476" imgH="482391" progId="Equation.DSMT4">
                  <p:embed/>
                </p:oleObj>
              </mc:Choice>
              <mc:Fallback>
                <p:oleObj name="Equation" r:id="rId7" imgW="977476" imgH="482391" progId="Equation.DSMT4">
                  <p:embed/>
                  <p:pic>
                    <p:nvPicPr>
                      <p:cNvPr id="45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7375" y="6064250"/>
                        <a:ext cx="140017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tângulo 45"/>
          <p:cNvSpPr>
            <a:spLocks noChangeArrowheads="1"/>
          </p:cNvSpPr>
          <p:nvPr/>
        </p:nvSpPr>
        <p:spPr bwMode="auto">
          <a:xfrm>
            <a:off x="3429000" y="6210300"/>
            <a:ext cx="478836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é o número de observações do posto empatado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i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é o número postos empatados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605533-E046-4F4A-9ACD-A6E23022AA93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308978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41" grpId="0" build="p"/>
      <p:bldP spid="42" grpId="0"/>
      <p:bldP spid="43" grpId="0"/>
      <p:bldP spid="4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B993-8EBC-C8A4-F109-0F8F67C9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A8CCBEC0-11D8-AEE0-DB11-BE54B9980C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9A26E2BD-1D64-EFD9-F50D-474E5BC09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605533-E046-4F4A-9ACD-A6E23022AA93}" type="slidenum">
              <a:rPr lang="pt-BR"/>
              <a:pPr>
                <a:defRPr/>
              </a:pPr>
              <a:t>58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EA0A1964-99A0-37B5-EE87-93E8B1AE3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776"/>
            <a:ext cx="8459787" cy="29204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pt-BR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No R:</a:t>
            </a:r>
          </a:p>
          <a:p>
            <a:pPr lvl="0">
              <a:lnSpc>
                <a:spcPct val="150000"/>
              </a:lnSpc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amostra1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&lt;-c(45.7,67.1,5.3,132.1,153,289.7,12.8,156.2,223.2,54,19.1,10.8)</a:t>
            </a:r>
          </a:p>
          <a:p>
            <a:pPr lvl="0">
              <a:lnSpc>
                <a:spcPct val="150000"/>
              </a:lnSpc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amostra2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&lt;-c(6.3,2.1,1.5,12,3.2,5.1,5,6.7,9.8,11.3)</a:t>
            </a:r>
          </a:p>
          <a:p>
            <a:pPr lvl="0">
              <a:lnSpc>
                <a:spcPct val="150000"/>
              </a:lnSpc>
              <a:defRPr/>
            </a:pPr>
            <a:r>
              <a:rPr 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wilcox.test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amostra1,amostra2,alternative = "greater"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0">
              <a:lnSpc>
                <a:spcPct val="150000"/>
              </a:lnSpc>
              <a:defRPr/>
            </a:pPr>
            <a:endParaRPr 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Wilcoxon rank sum exact test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amostra1 and amostra2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113, p-value = 6.959e-05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hypothesis: true location shift is greater than 0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98BD93C-05C2-8545-906D-5C7C653103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12902"/>
              </p:ext>
            </p:extLst>
          </p:nvPr>
        </p:nvGraphicFramePr>
        <p:xfrm>
          <a:off x="6199981" y="1562958"/>
          <a:ext cx="2078038" cy="298767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40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Distância (m)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15" name="Agrupar 14">
            <a:extLst>
              <a:ext uri="{FF2B5EF4-FFF2-40B4-BE49-F238E27FC236}">
                <a16:creationId xmlns:a16="http://schemas.microsoft.com/office/drawing/2014/main" id="{7B9C1E33-FFD5-271A-D3AF-4D3BC325F393}"/>
              </a:ext>
            </a:extLst>
          </p:cNvPr>
          <p:cNvGrpSpPr/>
          <p:nvPr/>
        </p:nvGrpSpPr>
        <p:grpSpPr>
          <a:xfrm>
            <a:off x="1547664" y="3056691"/>
            <a:ext cx="4652317" cy="732349"/>
            <a:chOff x="1403648" y="3056691"/>
            <a:chExt cx="4796333" cy="948373"/>
          </a:xfrm>
        </p:grpSpPr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FEF01A00-E94F-F6AB-CC56-39A7AB2A0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03648" y="3472189"/>
              <a:ext cx="2303909" cy="5328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A345ECC-B918-FA9F-DA05-BDD361199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7557" y="3056691"/>
              <a:ext cx="2492424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observe que no R, a estatística corresponde ao valor máximo</a:t>
              </a:r>
            </a:p>
          </p:txBody>
        </p:sp>
      </p:grpSp>
      <p:sp>
        <p:nvSpPr>
          <p:cNvPr id="11" name="Text Box 77">
            <a:extLst>
              <a:ext uri="{FF2B5EF4-FFF2-40B4-BE49-F238E27FC236}">
                <a16:creationId xmlns:a16="http://schemas.microsoft.com/office/drawing/2014/main" id="{A3D2F4B4-5724-0C58-0E28-E7B97DC35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4614962"/>
            <a:ext cx="484028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ou seja, a espécie A parece  dispersar-se mais do que a espécie B, adotando-se 5% de significância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95C5B27-02BC-230F-CF31-509435CD75B2}"/>
              </a:ext>
            </a:extLst>
          </p:cNvPr>
          <p:cNvSpPr/>
          <p:nvPr/>
        </p:nvSpPr>
        <p:spPr>
          <a:xfrm>
            <a:off x="2231740" y="3707668"/>
            <a:ext cx="82809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4595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1203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714375" y="2873375"/>
          <a:ext cx="2078038" cy="341376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 Box 122"/>
          <p:cNvSpPr txBox="1">
            <a:spLocks noChangeArrowheads="1"/>
          </p:cNvSpPr>
          <p:nvPr/>
        </p:nvSpPr>
        <p:spPr bwMode="auto">
          <a:xfrm>
            <a:off x="3214688" y="5654675"/>
            <a:ext cx="5500687" cy="703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82600" indent="-482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OBS: Apesar de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n</a:t>
            </a:r>
            <a:r>
              <a:rPr lang="pt-BR" altLang="pt-BR" sz="1400" dirty="0">
                <a:latin typeface="Tahoma" panose="020B0604030504040204" pitchFamily="34" charset="0"/>
              </a:rPr>
              <a:t>, os valores são independentes entre si (não são dados pareados)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C4DE68-F5F6-4DAF-BBA7-C50A4EF6BC68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2227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2228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49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Frequência Relativa Acumulada de cada valor para cada região</a:t>
            </a:r>
          </a:p>
        </p:txBody>
      </p:sp>
      <p:graphicFrame>
        <p:nvGraphicFramePr>
          <p:cNvPr id="12" name="Tabela 11"/>
          <p:cNvGraphicFramePr>
            <a:graphicFrameLocks noGrp="1"/>
          </p:cNvGraphicFramePr>
          <p:nvPr/>
        </p:nvGraphicFramePr>
        <p:xfrm>
          <a:off x="285750" y="2873375"/>
          <a:ext cx="2078038" cy="341376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551113" y="2601913"/>
          <a:ext cx="1295400" cy="4184649"/>
        </p:xfrm>
        <a:graphic>
          <a:graphicData uri="http://schemas.openxmlformats.org/drawingml/2006/table">
            <a:tbl>
              <a:tblPr/>
              <a:tblGrid>
                <a:gridCol w="43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5137D8-2735-40BB-9D25-A7397AFCA51D}" type="slidenum">
              <a:rPr lang="pt-BR"/>
              <a:pPr>
                <a:defRPr/>
              </a:pPr>
              <a:t>60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3251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3252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Frequência Relativa Acumulada de cada valor para cada região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diferença, em módulo, das Frequências Relativas Acumuladas de cada valor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357188" y="2601913"/>
          <a:ext cx="1728788" cy="4184649"/>
        </p:xfrm>
        <a:graphic>
          <a:graphicData uri="http://schemas.openxmlformats.org/drawingml/2006/table">
            <a:tbl>
              <a:tblPr/>
              <a:tblGrid>
                <a:gridCol w="432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1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Dif</a:t>
                      </a:r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7" name="Text Box 122"/>
          <p:cNvSpPr txBox="1">
            <a:spLocks noChangeArrowheads="1"/>
          </p:cNvSpPr>
          <p:nvPr/>
        </p:nvSpPr>
        <p:spPr bwMode="auto">
          <a:xfrm>
            <a:off x="4705350" y="4683125"/>
            <a:ext cx="4357688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Identifica-se a maior diferença relativa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e/ou o seu numerador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KD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), considerando que o denominador é igual 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). </a:t>
            </a:r>
          </a:p>
        </p:txBody>
      </p:sp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2571750" y="2500313"/>
            <a:ext cx="12144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4/15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</a:t>
            </a: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4705350" y="5341938"/>
            <a:ext cx="4357688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maior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10" name="Retângulo 9"/>
          <p:cNvSpPr/>
          <p:nvPr/>
        </p:nvSpPr>
        <p:spPr>
          <a:xfrm>
            <a:off x="1643063" y="4837113"/>
            <a:ext cx="428625" cy="214312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2286000" y="3286125"/>
            <a:ext cx="2357438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latin typeface="Tahoma" panose="020B0604030504040204" pitchFamily="34" charset="0"/>
              </a:rPr>
              <a:t> da mesma população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de populações diferentes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(bilateral)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ECD97D-288E-4DF1-B3A7-B707CB137756}" type="slidenum">
              <a:rPr lang="pt-BR"/>
              <a:pPr>
                <a:defRPr/>
              </a:pPr>
              <a:t>61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Valores Críticos de KD para o Teste KS (2 amostras)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642938" y="1571625"/>
          <a:ext cx="3492500" cy="3712086"/>
        </p:xfrm>
        <a:graphic>
          <a:graphicData uri="http://schemas.openxmlformats.org/drawingml/2006/table">
            <a:tbl>
              <a:tblPr/>
              <a:tblGrid>
                <a:gridCol w="61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3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Unilateral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(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 = 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)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4722813" y="1571625"/>
          <a:ext cx="3492500" cy="3712086"/>
        </p:xfrm>
        <a:graphic>
          <a:graphicData uri="http://schemas.openxmlformats.org/drawingml/2006/table">
            <a:tbl>
              <a:tblPr/>
              <a:tblGrid>
                <a:gridCol w="61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3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Unilateral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(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 = 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)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54463" name="Object 240"/>
          <p:cNvGraphicFramePr>
            <a:graphicFrameLocks noChangeAspect="1"/>
          </p:cNvGraphicFramePr>
          <p:nvPr/>
        </p:nvGraphicFramePr>
        <p:xfrm>
          <a:off x="2533650" y="5256213"/>
          <a:ext cx="4752975" cy="1258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619500" imgH="965200" progId="Equation.DSMT4">
                  <p:embed/>
                </p:oleObj>
              </mc:Choice>
              <mc:Fallback>
                <p:oleObj name="Equation" r:id="rId3" imgW="3619500" imgH="965200" progId="Equation.DSMT4">
                  <p:embed/>
                  <p:pic>
                    <p:nvPicPr>
                      <p:cNvPr id="54463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5256213"/>
                        <a:ext cx="4752975" cy="1258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464" name="Text Box 122"/>
          <p:cNvSpPr txBox="1">
            <a:spLocks noChangeArrowheads="1"/>
          </p:cNvSpPr>
          <p:nvPr/>
        </p:nvSpPr>
        <p:spPr bwMode="auto">
          <a:xfrm>
            <a:off x="560388" y="5295900"/>
            <a:ext cx="3654425" cy="420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40      </a:t>
            </a:r>
            <a:r>
              <a:rPr lang="pt-BR" altLang="pt-BR" sz="1200" dirty="0">
                <a:latin typeface="Tahoma" panose="020B0604030504040204" pitchFamily="34" charset="0"/>
                <a:cs typeface="Times New Roman" charset="0"/>
              </a:rPr>
              <a:t>Unilateral</a:t>
            </a:r>
          </a:p>
        </p:txBody>
      </p:sp>
      <p:sp>
        <p:nvSpPr>
          <p:cNvPr id="13" name="Retângulo 12"/>
          <p:cNvSpPr/>
          <p:nvPr/>
        </p:nvSpPr>
        <p:spPr>
          <a:xfrm>
            <a:off x="2703513" y="1785938"/>
            <a:ext cx="717550" cy="217487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642938" y="4643438"/>
            <a:ext cx="611187" cy="215900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2714625" y="4633913"/>
            <a:ext cx="717550" cy="217487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FDF5F52-89C7-4FA2-BD94-CC65A8E2A43B}" type="slidenum">
              <a:rPr lang="pt-BR"/>
              <a:pPr>
                <a:defRPr/>
              </a:pPr>
              <a:t>62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5299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5300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</a:t>
            </a:r>
            <a:r>
              <a:rPr lang="pt-BR" altLang="pt-BR" sz="1400" dirty="0" err="1">
                <a:latin typeface="Tahoma" panose="020B0604030504040204" pitchFamily="34" charset="0"/>
                <a:sym typeface="Symbol" pitchFamily="18" charset="2"/>
              </a:rPr>
              <a:t>Freqüência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Relativa Acumulada de cada valor para cada região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diferença, em módulo, das </a:t>
            </a:r>
            <a:r>
              <a:rPr lang="pt-BR" altLang="pt-BR" sz="1400" dirty="0" err="1">
                <a:latin typeface="Tahoma" panose="020B0604030504040204" pitchFamily="34" charset="0"/>
                <a:sym typeface="Symbol" pitchFamily="18" charset="2"/>
              </a:rPr>
              <a:t>Freqüências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Relativas Acumuladas de cada valor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357188" y="2601913"/>
          <a:ext cx="1728788" cy="4184649"/>
        </p:xfrm>
        <a:graphic>
          <a:graphicData uri="http://schemas.openxmlformats.org/drawingml/2006/table">
            <a:tbl>
              <a:tblPr/>
              <a:tblGrid>
                <a:gridCol w="432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1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Dif</a:t>
                      </a:r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55428" name="Text Box 122"/>
          <p:cNvSpPr txBox="1">
            <a:spLocks noChangeArrowheads="1"/>
          </p:cNvSpPr>
          <p:nvPr/>
        </p:nvSpPr>
        <p:spPr bwMode="auto">
          <a:xfrm>
            <a:off x="4705350" y="4683125"/>
            <a:ext cx="4357688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Identificar a maior diferença relativa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e/ou o seu numerador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KD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), considerando que o denominador é igual 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). </a:t>
            </a:r>
          </a:p>
        </p:txBody>
      </p:sp>
      <p:sp>
        <p:nvSpPr>
          <p:cNvPr id="55429" name="Text Box 122"/>
          <p:cNvSpPr txBox="1">
            <a:spLocks noChangeArrowheads="1"/>
          </p:cNvSpPr>
          <p:nvPr/>
        </p:nvSpPr>
        <p:spPr bwMode="auto">
          <a:xfrm>
            <a:off x="4705350" y="5341938"/>
            <a:ext cx="4357688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maior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10" name="Retângulo 9"/>
          <p:cNvSpPr/>
          <p:nvPr/>
        </p:nvSpPr>
        <p:spPr>
          <a:xfrm>
            <a:off x="1643063" y="4837113"/>
            <a:ext cx="428625" cy="214312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" name="Retângulo 11"/>
          <p:cNvSpPr>
            <a:spLocks noChangeArrowheads="1"/>
          </p:cNvSpPr>
          <p:nvPr/>
        </p:nvSpPr>
        <p:spPr bwMode="auto">
          <a:xfrm>
            <a:off x="2286000" y="5187950"/>
            <a:ext cx="2500313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as duas amostras proveem da mesma população, adotando-se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55432" name="Text Box 122"/>
          <p:cNvSpPr txBox="1">
            <a:spLocks noChangeArrowheads="1"/>
          </p:cNvSpPr>
          <p:nvPr/>
        </p:nvSpPr>
        <p:spPr bwMode="auto">
          <a:xfrm>
            <a:off x="2571750" y="2500313"/>
            <a:ext cx="12144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4/15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</a:t>
            </a:r>
          </a:p>
        </p:txBody>
      </p:sp>
      <p:sp>
        <p:nvSpPr>
          <p:cNvPr id="55433" name="Text Box 122"/>
          <p:cNvSpPr txBox="1">
            <a:spLocks noChangeArrowheads="1"/>
          </p:cNvSpPr>
          <p:nvPr/>
        </p:nvSpPr>
        <p:spPr bwMode="auto">
          <a:xfrm>
            <a:off x="2286000" y="3286125"/>
            <a:ext cx="2357438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latin typeface="Tahoma" panose="020B0604030504040204" pitchFamily="34" charset="0"/>
              </a:rPr>
              <a:t> da mesma população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de populações diferentes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(bilateral)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55434" name="Text Box 122"/>
          <p:cNvSpPr txBox="1">
            <a:spLocks noChangeArrowheads="1"/>
          </p:cNvSpPr>
          <p:nvPr/>
        </p:nvSpPr>
        <p:spPr bwMode="auto">
          <a:xfrm>
            <a:off x="2571750" y="4627563"/>
            <a:ext cx="121443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crít 5%</a:t>
            </a:r>
            <a:r>
              <a:rPr lang="pt-BR" altLang="pt-BR" sz="1600">
                <a:latin typeface="Times New Roman" charset="0"/>
                <a:cs typeface="Times New Roman" charset="0"/>
              </a:rPr>
              <a:t> = 8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FA6437-C213-4D79-B70B-1406C3A20A87}" type="slidenum">
              <a:rPr lang="pt-BR"/>
              <a:pPr>
                <a:defRPr/>
              </a:pPr>
              <a:t>63</a:t>
            </a:fld>
            <a:endParaRPr lang="pt-BR"/>
          </a:p>
        </p:txBody>
      </p:sp>
      <p:grpSp>
        <p:nvGrpSpPr>
          <p:cNvPr id="4" name="Grupo 3"/>
          <p:cNvGrpSpPr/>
          <p:nvPr/>
        </p:nvGrpSpPr>
        <p:grpSpPr>
          <a:xfrm>
            <a:off x="3246854" y="6357938"/>
            <a:ext cx="5065389" cy="523220"/>
            <a:chOff x="3246854" y="6357938"/>
            <a:chExt cx="5065389" cy="523220"/>
          </a:xfrm>
        </p:grpSpPr>
        <p:sp>
          <p:nvSpPr>
            <p:cNvPr id="14" name="Retângulo 13"/>
            <p:cNvSpPr>
              <a:spLocks noChangeArrowheads="1"/>
            </p:cNvSpPr>
            <p:nvPr/>
          </p:nvSpPr>
          <p:spPr bwMode="auto">
            <a:xfrm>
              <a:off x="3775739" y="6357938"/>
              <a:ext cx="4536504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74625" indent="-174625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  <a:sym typeface="Symbol" pitchFamily="18" charset="2"/>
                </a:rPr>
                <a:t>As duas amostras poderiam ser agrupadas para compor uma única amostra com 30 valores! 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3" name="Forma livre 2"/>
            <p:cNvSpPr/>
            <p:nvPr/>
          </p:nvSpPr>
          <p:spPr>
            <a:xfrm>
              <a:off x="3246854" y="6387152"/>
              <a:ext cx="533576" cy="273947"/>
            </a:xfrm>
            <a:custGeom>
              <a:avLst/>
              <a:gdLst>
                <a:gd name="connsiteX0" fmla="*/ 1313 w 533576"/>
                <a:gd name="connsiteY0" fmla="*/ 0 h 273947"/>
                <a:gd name="connsiteX1" fmla="*/ 83200 w 533576"/>
                <a:gd name="connsiteY1" fmla="*/ 232012 h 273947"/>
                <a:gd name="connsiteX2" fmla="*/ 533576 w 533576"/>
                <a:gd name="connsiteY2" fmla="*/ 272955 h 273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3576" h="273947">
                  <a:moveTo>
                    <a:pt x="1313" y="0"/>
                  </a:moveTo>
                  <a:cubicBezTo>
                    <a:pt x="-2099" y="93260"/>
                    <a:pt x="-5510" y="186520"/>
                    <a:pt x="83200" y="232012"/>
                  </a:cubicBezTo>
                  <a:cubicBezTo>
                    <a:pt x="171910" y="277504"/>
                    <a:pt x="352743" y="275229"/>
                    <a:pt x="533576" y="272955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stealth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amostras pequenas com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</a:rPr>
              <a:t>n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</a:rPr>
              <a:t>1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</a:rPr>
              <a:t> 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  <a:sym typeface="Symbol" pitchFamily="18" charset="2"/>
              </a:rPr>
              <a:t>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</a:rPr>
              <a:t>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</a:rPr>
              <a:t>n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deve-se buscar tabelas específicas para encontrar os valores críticos (http://www.jstor.org/stable/2285616)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amostras grandes, pode-se definir um número arbitrário de intervalos para os quais serão calculadas as frequências relativas acumuladas de cada grupo (utilizar tantos intervalos quanto possível)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Char char="-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64</a:t>
            </a:fld>
            <a:endParaRPr lang="pt-BR" dirty="0"/>
          </a:p>
        </p:txBody>
      </p:sp>
      <p:sp>
        <p:nvSpPr>
          <p:cNvPr id="6" name="Retângulo 5"/>
          <p:cNvSpPr/>
          <p:nvPr/>
        </p:nvSpPr>
        <p:spPr>
          <a:xfrm>
            <a:off x="684213" y="4482986"/>
            <a:ext cx="745231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amostra1 &lt;- c(81,78,61,89,69,58,64,84,89,83,88,56,87,95,75)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amostra2 &lt;- c(56,55,76,54,83,97,85,66,78,80,61,69,71,55,91)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ks.test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(amostra1,amostra2)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Two-sample Kolmogorov-Smirnov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amostra1 and amostra2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 = 0.26667, p-value = 0.6604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alternative hypothesis: two-sided</a:t>
            </a:r>
          </a:p>
        </p:txBody>
      </p:sp>
      <p:sp>
        <p:nvSpPr>
          <p:cNvPr id="7" name="Text Box 77"/>
          <p:cNvSpPr txBox="1">
            <a:spLocks noChangeArrowheads="1"/>
          </p:cNvSpPr>
          <p:nvPr/>
        </p:nvSpPr>
        <p:spPr bwMode="auto">
          <a:xfrm>
            <a:off x="3764161" y="5551066"/>
            <a:ext cx="48402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as duas amostras proveem da mesma população, adotando-se 5% de significância</a:t>
            </a:r>
          </a:p>
        </p:txBody>
      </p:sp>
      <p:sp>
        <p:nvSpPr>
          <p:cNvPr id="8" name="Elipse 7"/>
          <p:cNvSpPr/>
          <p:nvPr/>
        </p:nvSpPr>
        <p:spPr>
          <a:xfrm>
            <a:off x="2456472" y="5733256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  <p:bldP spid="6" grpId="0"/>
      <p:bldP spid="7" grpId="0"/>
      <p:bldP spid="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8761C-5AEF-CE79-FDB4-C7A651131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EC9A42A1-B39D-C2F5-2EA6-3E354483C4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Coeficiente de Correlação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EFFADE25-2AB7-8E93-08DD-E6F1891A7D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875"/>
            <a:ext cx="8459787" cy="48434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Muitas análises que trabalham com grande número de variáveis iniciam com o estudo das relações entre essas variáveis a fim de selecionar um conjunto de variáveis que tenham menor redundância ou então busca-se justamente identificar quais variáveis guardam relação entre si.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estatística paramétrica, a medida usual de correlação é o coeficiente de correlação de Pearson: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Esse coeficiente só é útil nos casos em que a relação existente é linear, o número de observações não é pequeno e os valores observados sejam bem distribuídos de modo a representar bem essa relação.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Relações não lineares, a presença de outliers, o número restrito de observações e uma distribuição irregular podem comprometer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desse coeficiente.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22A7953B-00F2-3970-038A-3474BFCF1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65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83">
                <a:extLst>
                  <a:ext uri="{FF2B5EF4-FFF2-40B4-BE49-F238E27FC236}">
                    <a16:creationId xmlns:a16="http://schemas.microsoft.com/office/drawing/2014/main" id="{AD756FFD-9C8B-3CDB-7E1C-B834F99CFBC9}"/>
                  </a:ext>
                </a:extLst>
              </p:cNvPr>
              <p:cNvSpPr txBox="1"/>
              <p:nvPr/>
            </p:nvSpPr>
            <p:spPr bwMode="auto">
              <a:xfrm>
                <a:off x="1763712" y="3573016"/>
                <a:ext cx="2592263" cy="598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𝐶𝑜𝑣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𝑉𝑎𝑟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𝑉𝑎𝑟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4" name="Object 83">
                <a:extLst>
                  <a:ext uri="{FF2B5EF4-FFF2-40B4-BE49-F238E27FC236}">
                    <a16:creationId xmlns:a16="http://schemas.microsoft.com/office/drawing/2014/main" id="{AD756FFD-9C8B-3CDB-7E1C-B834F99CF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3712" y="3573016"/>
                <a:ext cx="2592263" cy="598488"/>
              </a:xfrm>
              <a:prstGeom prst="rect">
                <a:avLst/>
              </a:prstGeom>
              <a:blipFill>
                <a:blip r:embed="rId3"/>
                <a:stretch>
                  <a:fillRect b="-1530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8031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  <p:bldP spid="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FDCE8-3270-6921-DC36-439B02E9C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F0891AFF-7687-89A0-5F9A-321BCEE832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Ranqueamento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EAF03DA3-1E79-F405-7F68-295A9684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66</a:t>
            </a:fld>
            <a:endParaRPr lang="pt-BR" dirty="0"/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4807DCA3-27C7-8F14-EDA0-DB8E080549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7544" y="2432545"/>
            <a:ext cx="3600000" cy="3600000"/>
          </a:xfrm>
          <a:prstGeom prst="rect">
            <a:avLst/>
          </a:prstGeom>
        </p:spPr>
      </p:pic>
      <p:sp>
        <p:nvSpPr>
          <p:cNvPr id="26" name="Forma Livre: Forma 25">
            <a:extLst>
              <a:ext uri="{FF2B5EF4-FFF2-40B4-BE49-F238E27FC236}">
                <a16:creationId xmlns:a16="http://schemas.microsoft.com/office/drawing/2014/main" id="{35709E52-D639-D3B7-5FAF-4FAD48523E8F}"/>
              </a:ext>
            </a:extLst>
          </p:cNvPr>
          <p:cNvSpPr/>
          <p:nvPr/>
        </p:nvSpPr>
        <p:spPr>
          <a:xfrm>
            <a:off x="1185122" y="3118757"/>
            <a:ext cx="2446728" cy="2252317"/>
          </a:xfrm>
          <a:custGeom>
            <a:avLst/>
            <a:gdLst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17140" h="1396592">
                <a:moveTo>
                  <a:pt x="0" y="1396592"/>
                </a:moveTo>
                <a:cubicBezTo>
                  <a:pt x="46063" y="997706"/>
                  <a:pt x="61254" y="431229"/>
                  <a:pt x="138189" y="199934"/>
                </a:cubicBezTo>
                <a:cubicBezTo>
                  <a:pt x="250406" y="-31361"/>
                  <a:pt x="425838" y="12741"/>
                  <a:pt x="461610" y="8821"/>
                </a:cubicBezTo>
                <a:lnTo>
                  <a:pt x="1517140" y="0"/>
                </a:lnTo>
              </a:path>
            </a:pathLst>
          </a:cu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2D51775A-D7CB-F1DF-6C91-0F3BD7EAD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32440" y="2493296"/>
            <a:ext cx="3600000" cy="3600000"/>
          </a:xfrm>
          <a:prstGeom prst="rect">
            <a:avLst/>
          </a:prstGeom>
        </p:spPr>
      </p:pic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78544E30-4295-D512-8BF9-64E049D819EF}"/>
              </a:ext>
            </a:extLst>
          </p:cNvPr>
          <p:cNvCxnSpPr>
            <a:cxnSpLocks/>
          </p:cNvCxnSpPr>
          <p:nvPr/>
        </p:nvCxnSpPr>
        <p:spPr>
          <a:xfrm flipV="1">
            <a:off x="5845928" y="2723825"/>
            <a:ext cx="2461109" cy="2380608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1B5B2BBD-F5E9-0F89-0E98-63F734B620AD}"/>
              </a:ext>
            </a:extLst>
          </p:cNvPr>
          <p:cNvSpPr/>
          <p:nvPr/>
        </p:nvSpPr>
        <p:spPr>
          <a:xfrm>
            <a:off x="4211560" y="3800697"/>
            <a:ext cx="648472" cy="504056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DB566C6E-3844-A9ED-2A1D-2FDD1D5D36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875"/>
            <a:ext cx="8459787" cy="7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alternativa para diminuir o impacto desses problemas, é promover o ranqueamento de cada variável que se quer estudar.</a:t>
            </a:r>
          </a:p>
        </p:txBody>
      </p:sp>
    </p:spTree>
    <p:extLst>
      <p:ext uri="{BB962C8B-B14F-4D97-AF65-F5344CB8AC3E}">
        <p14:creationId xmlns:p14="http://schemas.microsoft.com/office/powerpoint/2010/main" val="300104610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8466B-DFF4-3726-9E49-435350B7C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5D6757DC-BFB2-CFEC-998D-9C69F8AC99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Correlação de </a:t>
            </a:r>
            <a:r>
              <a:rPr lang="pt-BR" dirty="0" err="1"/>
              <a:t>Spearman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Box 3">
                <a:extLst>
                  <a:ext uri="{FF2B5EF4-FFF2-40B4-BE49-F238E27FC236}">
                    <a16:creationId xmlns:a16="http://schemas.microsoft.com/office/drawing/2014/main" id="{1E05A6C1-27F6-F68A-7655-D45B3E58CF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213" y="1412875"/>
                <a:ext cx="7992243" cy="51422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duas variáveis estão representadas por seus postos, então pode-se definir um novo coeficiente de correlação denominado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(correlação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representam os postos das variáveis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Quando não há empates entre os valores das amostras, essa equação pode ser reescrita como: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(diferença entre os postos de cada amostra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).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No R, a 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pode ser calculada pela função: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US" altLang="pt-BR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</a:t>
                </a: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(X, Y, method = "spearman")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	OBS: no R,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não é preciso ranquear as variáveis!</a:t>
                </a:r>
                <a:endParaRPr lang="pt-BR" alt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Text Box 3">
                <a:extLst>
                  <a:ext uri="{FF2B5EF4-FFF2-40B4-BE49-F238E27FC236}">
                    <a16:creationId xmlns:a16="http://schemas.microsoft.com/office/drawing/2014/main" id="{1E05A6C1-27F6-F68A-7655-D45B3E58C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1412875"/>
                <a:ext cx="7992243" cy="5142242"/>
              </a:xfrm>
              <a:prstGeom prst="rect">
                <a:avLst/>
              </a:prstGeom>
              <a:blipFill>
                <a:blip r:embed="rId3"/>
                <a:stretch>
                  <a:fillRect l="-381" t="-237" r="-686" b="-83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F137D538-14C0-9C9B-E296-1EFAB8570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972EB0A-7444-F419-736D-6F15E66E7B15}"/>
                  </a:ext>
                </a:extLst>
              </p:cNvPr>
              <p:cNvSpPr txBox="1"/>
              <p:nvPr/>
            </p:nvSpPr>
            <p:spPr>
              <a:xfrm>
                <a:off x="2915816" y="2181664"/>
                <a:ext cx="2627784" cy="7432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𝐶𝑜𝑣</m:t>
                          </m:r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e>
                            <m:sub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𝑉𝑎𝑟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kumimoji="0" 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𝑉𝑎𝑟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kumimoji="0" 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972EB0A-7444-F419-736D-6F15E66E7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2181664"/>
                <a:ext cx="2627784" cy="7432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7A2DDCD-50B1-C887-E804-C7F462ED7947}"/>
                  </a:ext>
                </a:extLst>
              </p:cNvPr>
              <p:cNvSpPr txBox="1"/>
              <p:nvPr/>
            </p:nvSpPr>
            <p:spPr>
              <a:xfrm>
                <a:off x="2915816" y="4366845"/>
                <a:ext cx="1905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1−</m:t>
                      </m:r>
                      <m:f>
                        <m:fPr>
                          <m:ctrlP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6</m:t>
                          </m:r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sSup>
                            <m:sSupPr>
                              <m:ctrlP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e>
                            <m:sup>
                              <m: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p>
                          </m:sSup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7A2DDCD-50B1-C887-E804-C7F462ED7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4366845"/>
                <a:ext cx="190500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60486F3-F685-2208-8F4F-28FF68532B87}"/>
                  </a:ext>
                </a:extLst>
              </p:cNvPr>
              <p:cNvSpPr txBox="1"/>
              <p:nvPr/>
            </p:nvSpPr>
            <p:spPr>
              <a:xfrm>
                <a:off x="5364088" y="2313943"/>
                <a:ext cx="2627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−1 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60486F3-F685-2208-8F4F-28FF68532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2313943"/>
                <a:ext cx="2627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3FF474E0-BC55-9E3D-E9CC-CDC88A4D0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0232" y="4330166"/>
            <a:ext cx="2233697" cy="22299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401E5FEA-215F-D911-07B6-1B6D91E21ACE}"/>
                  </a:ext>
                </a:extLst>
              </p:cNvPr>
              <p:cNvSpPr txBox="1"/>
              <p:nvPr/>
            </p:nvSpPr>
            <p:spPr>
              <a:xfrm>
                <a:off x="6982455" y="4569243"/>
                <a:ext cx="134680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altLang="pt-BR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pt-BR" altLang="pt-B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0,933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401E5FEA-215F-D911-07B6-1B6D91E21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2455" y="4569243"/>
                <a:ext cx="134680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60662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966A-6C48-B4FF-F7BD-6B3F4C412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3">
                <a:extLst>
                  <a:ext uri="{FF2B5EF4-FFF2-40B4-BE49-F238E27FC236}">
                    <a16:creationId xmlns:a16="http://schemas.microsoft.com/office/drawing/2014/main" id="{40C51514-E6E5-B89D-2B54-9F193A01CD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213" y="1412875"/>
                <a:ext cx="7992243" cy="5336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É importante notar que enquanto a correlação de Pearson mede o grau de associação linear entre duas variáveis, a 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mede o grau de associação monótona (ou monotônica).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amostras com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≥10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pode-se verificar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significativamente diferente de zero através da estatística:</a:t>
                </a: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que terá uma distribuição t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Student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com </a:t>
                </a:r>
                <a14:m>
                  <m:oMath xmlns:m="http://schemas.openxmlformats.org/officeDocument/2006/math"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−2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graus de liberdade.</a:t>
                </a: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Dessa forma,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for significativo, espera-se que a estatística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tenha valores extremos (muito positivo ou muito negativo), levando a conclusão de que há uma relação entre as variáveis.</a:t>
                </a:r>
              </a:p>
            </p:txBody>
          </p:sp>
        </mc:Choice>
        <mc:Fallback xmlns="">
          <p:sp>
            <p:nvSpPr>
              <p:cNvPr id="5" name="Text Box 3">
                <a:extLst>
                  <a:ext uri="{FF2B5EF4-FFF2-40B4-BE49-F238E27FC236}">
                    <a16:creationId xmlns:a16="http://schemas.microsoft.com/office/drawing/2014/main" id="{40C51514-E6E5-B89D-2B54-9F193A01C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1412875"/>
                <a:ext cx="7992243" cy="5336269"/>
              </a:xfrm>
              <a:prstGeom prst="rect">
                <a:avLst/>
              </a:prstGeom>
              <a:blipFill>
                <a:blip r:embed="rId3"/>
                <a:stretch>
                  <a:fillRect l="-381" t="-343" b="-57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464C1C79-54B6-9D93-0ED4-916846C0D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322" y="2263628"/>
            <a:ext cx="2091525" cy="18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C2B8277-180E-A040-BA4B-0DF4C0D48C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1847" y="2263628"/>
            <a:ext cx="1796617" cy="1800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34AAE94D-E26C-0501-8779-523882A15A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545" y="2263628"/>
            <a:ext cx="2091525" cy="180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9AFFBCA-802C-0E64-CAF2-B94DF87215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9070" y="2263628"/>
            <a:ext cx="1796617" cy="1800000"/>
          </a:xfrm>
          <a:prstGeom prst="rect">
            <a:avLst/>
          </a:prstGeom>
        </p:spPr>
      </p:pic>
      <p:sp>
        <p:nvSpPr>
          <p:cNvPr id="271362" name="Rectangle 2">
            <a:extLst>
              <a:ext uri="{FF2B5EF4-FFF2-40B4-BE49-F238E27FC236}">
                <a16:creationId xmlns:a16="http://schemas.microsoft.com/office/drawing/2014/main" id="{C27B33D9-6870-5625-D0F0-CD79876C91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Correlação de </a:t>
            </a:r>
            <a:r>
              <a:rPr lang="pt-BR" dirty="0" err="1"/>
              <a:t>Spearman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51D76910-DA03-821F-8437-350E26450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68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741846BB-12E6-B2B3-2459-FDFAB60CC3BC}"/>
                  </a:ext>
                </a:extLst>
              </p:cNvPr>
              <p:cNvSpPr txBox="1"/>
              <p:nvPr/>
            </p:nvSpPr>
            <p:spPr>
              <a:xfrm>
                <a:off x="3563888" y="4869160"/>
                <a:ext cx="1778855" cy="3744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85738" marR="0" lvl="0" indent="-185738" algn="l" defTabSz="914400" rtl="0" eaLnBrk="1" fontAlgn="base" latinLnBrk="0" hangingPunct="1">
                  <a:lnSpc>
                    <a:spcPts val="22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pt-BR" altLang="pt-BR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pt-BR" altLang="pt-BR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kumimoji="0" lang="pt-BR" altLang="pt-BR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−2</m:t>
                              </m:r>
                            </m:num>
                            <m:den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Sup>
                                <m:sSubSupPr>
                                  <m:ctrlP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rad>
                    </m:oMath>
                  </m:oMathPara>
                </a14:m>
                <a:endParaRPr kumimoji="0" lang="pt-BR" altLang="pt-B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741846BB-12E6-B2B3-2459-FDFAB60CC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4869160"/>
                <a:ext cx="1778855" cy="374461"/>
              </a:xfrm>
              <a:prstGeom prst="rect">
                <a:avLst/>
              </a:prstGeom>
              <a:blipFill>
                <a:blip r:embed="rId8"/>
                <a:stretch>
                  <a:fillRect t="-63934" b="-180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DAC0BE1C-FC76-7EC3-0E9A-6CDA53448E8A}"/>
              </a:ext>
            </a:extLst>
          </p:cNvPr>
          <p:cNvSpPr/>
          <p:nvPr/>
        </p:nvSpPr>
        <p:spPr>
          <a:xfrm>
            <a:off x="836125" y="2432450"/>
            <a:ext cx="1590415" cy="1292751"/>
          </a:xfrm>
          <a:custGeom>
            <a:avLst/>
            <a:gdLst>
              <a:gd name="connsiteX0" fmla="*/ 0 w 1590415"/>
              <a:gd name="connsiteY0" fmla="*/ 1291546 h 1291546"/>
              <a:gd name="connsiteX1" fmla="*/ 78275 w 1590415"/>
              <a:gd name="connsiteY1" fmla="*/ 1145669 h 1291546"/>
              <a:gd name="connsiteX2" fmla="*/ 231268 w 1590415"/>
              <a:gd name="connsiteY2" fmla="*/ 1142111 h 1291546"/>
              <a:gd name="connsiteX3" fmla="*/ 572834 w 1590415"/>
              <a:gd name="connsiteY3" fmla="*/ 729385 h 1291546"/>
              <a:gd name="connsiteX4" fmla="*/ 754291 w 1590415"/>
              <a:gd name="connsiteY4" fmla="*/ 601298 h 1291546"/>
              <a:gd name="connsiteX5" fmla="*/ 1035371 w 1590415"/>
              <a:gd name="connsiteY5" fmla="*/ 565718 h 1291546"/>
              <a:gd name="connsiteX6" fmla="*/ 1248849 w 1590415"/>
              <a:gd name="connsiteY6" fmla="*/ 138761 h 1291546"/>
              <a:gd name="connsiteX7" fmla="*/ 1405400 w 1590415"/>
              <a:gd name="connsiteY7" fmla="*/ 3558 h 1291546"/>
              <a:gd name="connsiteX8" fmla="*/ 1590415 w 1590415"/>
              <a:gd name="connsiteY8" fmla="*/ 0 h 1291546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64043 w 1590415"/>
              <a:gd name="connsiteY1" fmla="*/ 1160214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2751 h 1292751"/>
              <a:gd name="connsiteX1" fmla="*/ 88949 w 1590415"/>
              <a:gd name="connsiteY1" fmla="*/ 1150432 h 1292751"/>
              <a:gd name="connsiteX2" fmla="*/ 231268 w 1590415"/>
              <a:gd name="connsiteY2" fmla="*/ 1143316 h 1292751"/>
              <a:gd name="connsiteX3" fmla="*/ 572834 w 1590415"/>
              <a:gd name="connsiteY3" fmla="*/ 730590 h 1292751"/>
              <a:gd name="connsiteX4" fmla="*/ 754291 w 1590415"/>
              <a:gd name="connsiteY4" fmla="*/ 602503 h 1292751"/>
              <a:gd name="connsiteX5" fmla="*/ 1035371 w 1590415"/>
              <a:gd name="connsiteY5" fmla="*/ 566923 h 1292751"/>
              <a:gd name="connsiteX6" fmla="*/ 1248849 w 1590415"/>
              <a:gd name="connsiteY6" fmla="*/ 139966 h 1292751"/>
              <a:gd name="connsiteX7" fmla="*/ 1405400 w 1590415"/>
              <a:gd name="connsiteY7" fmla="*/ 4763 h 1292751"/>
              <a:gd name="connsiteX8" fmla="*/ 1590415 w 1590415"/>
              <a:gd name="connsiteY8" fmla="*/ 1205 h 129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0415" h="1292751">
                <a:moveTo>
                  <a:pt x="0" y="1292751"/>
                </a:moveTo>
                <a:cubicBezTo>
                  <a:pt x="26092" y="1244125"/>
                  <a:pt x="-2965" y="1267846"/>
                  <a:pt x="88949" y="1150432"/>
                </a:cubicBezTo>
                <a:cubicBezTo>
                  <a:pt x="159516" y="1146874"/>
                  <a:pt x="163074" y="1152212"/>
                  <a:pt x="231268" y="1143316"/>
                </a:cubicBezTo>
                <a:cubicBezTo>
                  <a:pt x="448897" y="892478"/>
                  <a:pt x="485664" y="820725"/>
                  <a:pt x="572834" y="730590"/>
                </a:cubicBezTo>
                <a:cubicBezTo>
                  <a:pt x="660004" y="640455"/>
                  <a:pt x="677202" y="629781"/>
                  <a:pt x="754291" y="602503"/>
                </a:cubicBezTo>
                <a:cubicBezTo>
                  <a:pt x="847984" y="590643"/>
                  <a:pt x="941678" y="607247"/>
                  <a:pt x="1035371" y="566923"/>
                </a:cubicBezTo>
                <a:cubicBezTo>
                  <a:pt x="1117797" y="489834"/>
                  <a:pt x="1187178" y="233659"/>
                  <a:pt x="1248849" y="139966"/>
                </a:cubicBezTo>
                <a:cubicBezTo>
                  <a:pt x="1310520" y="46273"/>
                  <a:pt x="1348472" y="27890"/>
                  <a:pt x="1405400" y="4763"/>
                </a:cubicBezTo>
                <a:cubicBezTo>
                  <a:pt x="1497908" y="-4132"/>
                  <a:pt x="1528743" y="2391"/>
                  <a:pt x="1590415" y="1205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1FDBE7CB-E82B-8D9E-5DC7-A5899FFE87AF}"/>
              </a:ext>
            </a:extLst>
          </p:cNvPr>
          <p:cNvSpPr/>
          <p:nvPr/>
        </p:nvSpPr>
        <p:spPr>
          <a:xfrm>
            <a:off x="5235308" y="2585471"/>
            <a:ext cx="1583299" cy="1059553"/>
          </a:xfrm>
          <a:custGeom>
            <a:avLst/>
            <a:gdLst>
              <a:gd name="connsiteX0" fmla="*/ 0 w 1590415"/>
              <a:gd name="connsiteY0" fmla="*/ 1291546 h 1291546"/>
              <a:gd name="connsiteX1" fmla="*/ 78275 w 1590415"/>
              <a:gd name="connsiteY1" fmla="*/ 1145669 h 1291546"/>
              <a:gd name="connsiteX2" fmla="*/ 231268 w 1590415"/>
              <a:gd name="connsiteY2" fmla="*/ 1142111 h 1291546"/>
              <a:gd name="connsiteX3" fmla="*/ 572834 w 1590415"/>
              <a:gd name="connsiteY3" fmla="*/ 729385 h 1291546"/>
              <a:gd name="connsiteX4" fmla="*/ 754291 w 1590415"/>
              <a:gd name="connsiteY4" fmla="*/ 601298 h 1291546"/>
              <a:gd name="connsiteX5" fmla="*/ 1035371 w 1590415"/>
              <a:gd name="connsiteY5" fmla="*/ 565718 h 1291546"/>
              <a:gd name="connsiteX6" fmla="*/ 1248849 w 1590415"/>
              <a:gd name="connsiteY6" fmla="*/ 138761 h 1291546"/>
              <a:gd name="connsiteX7" fmla="*/ 1405400 w 1590415"/>
              <a:gd name="connsiteY7" fmla="*/ 3558 h 1291546"/>
              <a:gd name="connsiteX8" fmla="*/ 1590415 w 1590415"/>
              <a:gd name="connsiteY8" fmla="*/ 0 h 1291546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64043 w 1590415"/>
              <a:gd name="connsiteY1" fmla="*/ 1160214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2751 h 1292751"/>
              <a:gd name="connsiteX1" fmla="*/ 88949 w 1590415"/>
              <a:gd name="connsiteY1" fmla="*/ 1150432 h 1292751"/>
              <a:gd name="connsiteX2" fmla="*/ 231268 w 1590415"/>
              <a:gd name="connsiteY2" fmla="*/ 1143316 h 1292751"/>
              <a:gd name="connsiteX3" fmla="*/ 572834 w 1590415"/>
              <a:gd name="connsiteY3" fmla="*/ 730590 h 1292751"/>
              <a:gd name="connsiteX4" fmla="*/ 754291 w 1590415"/>
              <a:gd name="connsiteY4" fmla="*/ 602503 h 1292751"/>
              <a:gd name="connsiteX5" fmla="*/ 1035371 w 1590415"/>
              <a:gd name="connsiteY5" fmla="*/ 566923 h 1292751"/>
              <a:gd name="connsiteX6" fmla="*/ 1248849 w 1590415"/>
              <a:gd name="connsiteY6" fmla="*/ 139966 h 1292751"/>
              <a:gd name="connsiteX7" fmla="*/ 1405400 w 1590415"/>
              <a:gd name="connsiteY7" fmla="*/ 4763 h 1292751"/>
              <a:gd name="connsiteX8" fmla="*/ 1590415 w 1590415"/>
              <a:gd name="connsiteY8" fmla="*/ 1205 h 1292751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248849 w 1565509"/>
              <a:gd name="connsiteY6" fmla="*/ 633320 h 1786105"/>
              <a:gd name="connsiteX7" fmla="*/ 1405400 w 1565509"/>
              <a:gd name="connsiteY7" fmla="*/ 498117 h 1786105"/>
              <a:gd name="connsiteX8" fmla="*/ 1565509 w 1565509"/>
              <a:gd name="connsiteY8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248849 w 1565509"/>
              <a:gd name="connsiteY6" fmla="*/ 633320 h 1786105"/>
              <a:gd name="connsiteX7" fmla="*/ 1565509 w 1565509"/>
              <a:gd name="connsiteY7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565509 w 1565509"/>
              <a:gd name="connsiteY6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565509 w 1565509"/>
              <a:gd name="connsiteY5" fmla="*/ 0 h 1786105"/>
              <a:gd name="connsiteX0" fmla="*/ 0 w 1583299"/>
              <a:gd name="connsiteY0" fmla="*/ 42697 h 1649389"/>
              <a:gd name="connsiteX1" fmla="*/ 106739 w 1583299"/>
              <a:gd name="connsiteY1" fmla="*/ 1643786 h 1649389"/>
              <a:gd name="connsiteX2" fmla="*/ 249058 w 1583299"/>
              <a:gd name="connsiteY2" fmla="*/ 1636670 h 1649389"/>
              <a:gd name="connsiteX3" fmla="*/ 590624 w 1583299"/>
              <a:gd name="connsiteY3" fmla="*/ 1223944 h 1649389"/>
              <a:gd name="connsiteX4" fmla="*/ 772081 w 1583299"/>
              <a:gd name="connsiteY4" fmla="*/ 1095857 h 1649389"/>
              <a:gd name="connsiteX5" fmla="*/ 1583299 w 1583299"/>
              <a:gd name="connsiteY5" fmla="*/ 0 h 1649389"/>
              <a:gd name="connsiteX0" fmla="*/ 0 w 1583299"/>
              <a:gd name="connsiteY0" fmla="*/ 42697 h 1680860"/>
              <a:gd name="connsiteX1" fmla="*/ 249058 w 1583299"/>
              <a:gd name="connsiteY1" fmla="*/ 1636670 h 1680860"/>
              <a:gd name="connsiteX2" fmla="*/ 590624 w 1583299"/>
              <a:gd name="connsiteY2" fmla="*/ 1223944 h 1680860"/>
              <a:gd name="connsiteX3" fmla="*/ 772081 w 1583299"/>
              <a:gd name="connsiteY3" fmla="*/ 1095857 h 1680860"/>
              <a:gd name="connsiteX4" fmla="*/ 1583299 w 1583299"/>
              <a:gd name="connsiteY4" fmla="*/ 0 h 1680860"/>
              <a:gd name="connsiteX0" fmla="*/ 0 w 1583299"/>
              <a:gd name="connsiteY0" fmla="*/ 42697 h 1223944"/>
              <a:gd name="connsiteX1" fmla="*/ 590624 w 1583299"/>
              <a:gd name="connsiteY1" fmla="*/ 1223944 h 1223944"/>
              <a:gd name="connsiteX2" fmla="*/ 772081 w 1583299"/>
              <a:gd name="connsiteY2" fmla="*/ 1095857 h 1223944"/>
              <a:gd name="connsiteX3" fmla="*/ 1583299 w 1583299"/>
              <a:gd name="connsiteY3" fmla="*/ 0 h 1223944"/>
              <a:gd name="connsiteX0" fmla="*/ 0 w 1583299"/>
              <a:gd name="connsiteY0" fmla="*/ 42697 h 1095901"/>
              <a:gd name="connsiteX1" fmla="*/ 772081 w 1583299"/>
              <a:gd name="connsiteY1" fmla="*/ 1095857 h 1095901"/>
              <a:gd name="connsiteX2" fmla="*/ 1583299 w 1583299"/>
              <a:gd name="connsiteY2" fmla="*/ 0 h 1095901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725"/>
              <a:gd name="connsiteX1" fmla="*/ 772081 w 1583299"/>
              <a:gd name="connsiteY1" fmla="*/ 1095857 h 1097725"/>
              <a:gd name="connsiteX2" fmla="*/ 1583299 w 1583299"/>
              <a:gd name="connsiteY2" fmla="*/ 0 h 1097725"/>
              <a:gd name="connsiteX0" fmla="*/ 0 w 1583299"/>
              <a:gd name="connsiteY0" fmla="*/ 42697 h 1097725"/>
              <a:gd name="connsiteX1" fmla="*/ 772081 w 1583299"/>
              <a:gd name="connsiteY1" fmla="*/ 1095857 h 1097725"/>
              <a:gd name="connsiteX2" fmla="*/ 1583299 w 1583299"/>
              <a:gd name="connsiteY2" fmla="*/ 0 h 109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83299" h="1097725">
                <a:moveTo>
                  <a:pt x="0" y="42697"/>
                </a:moveTo>
                <a:cubicBezTo>
                  <a:pt x="143060" y="386634"/>
                  <a:pt x="355205" y="1106531"/>
                  <a:pt x="772081" y="1095857"/>
                </a:cubicBezTo>
                <a:cubicBezTo>
                  <a:pt x="1101194" y="1133809"/>
                  <a:pt x="1321788" y="587659"/>
                  <a:pt x="1583299" y="0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EFB12236-56BF-32A8-0087-B76598BB7ED9}"/>
                  </a:ext>
                </a:extLst>
              </p:cNvPr>
              <p:cNvSpPr txBox="1"/>
              <p:nvPr/>
            </p:nvSpPr>
            <p:spPr>
              <a:xfrm>
                <a:off x="2911924" y="2432450"/>
                <a:ext cx="90229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=0,984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EFB12236-56BF-32A8-0087-B76598BB7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924" y="2432450"/>
                <a:ext cx="902298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2EED624E-11C0-C208-E659-11014BD08386}"/>
                  </a:ext>
                </a:extLst>
              </p:cNvPr>
              <p:cNvSpPr txBox="1"/>
              <p:nvPr/>
            </p:nvSpPr>
            <p:spPr>
              <a:xfrm>
                <a:off x="7628789" y="2694060"/>
                <a:ext cx="90229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0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2EED624E-11C0-C208-E659-11014BD08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8789" y="2694060"/>
                <a:ext cx="902298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Agrupar 25">
            <a:extLst>
              <a:ext uri="{FF2B5EF4-FFF2-40B4-BE49-F238E27FC236}">
                <a16:creationId xmlns:a16="http://schemas.microsoft.com/office/drawing/2014/main" id="{771B6CAA-D1EC-21BC-8E74-3954E19CFE50}"/>
              </a:ext>
            </a:extLst>
          </p:cNvPr>
          <p:cNvGrpSpPr/>
          <p:nvPr/>
        </p:nvGrpSpPr>
        <p:grpSpPr>
          <a:xfrm>
            <a:off x="4936522" y="2263628"/>
            <a:ext cx="3888142" cy="1669428"/>
            <a:chOff x="4936522" y="2065040"/>
            <a:chExt cx="3888142" cy="1872208"/>
          </a:xfrm>
        </p:grpSpPr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8E5BDBA-8C97-2750-8693-153F8532019D}"/>
                </a:ext>
              </a:extLst>
            </p:cNvPr>
            <p:cNvCxnSpPr>
              <a:cxnSpLocks/>
            </p:cNvCxnSpPr>
            <p:nvPr/>
          </p:nvCxnSpPr>
          <p:spPr>
            <a:xfrm>
              <a:off x="4936522" y="2065040"/>
              <a:ext cx="3888142" cy="18722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to 24">
              <a:extLst>
                <a:ext uri="{FF2B5EF4-FFF2-40B4-BE49-F238E27FC236}">
                  <a16:creationId xmlns:a16="http://schemas.microsoft.com/office/drawing/2014/main" id="{3678AEB0-4AD3-72A1-A947-5DDC1B9BCE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36522" y="2065040"/>
              <a:ext cx="3888142" cy="18722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8110613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 animBg="1"/>
      <p:bldP spid="19" grpId="0" animBg="1"/>
      <p:bldP spid="21" grpId="0"/>
      <p:bldP spid="22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12158</TotalTime>
  <Words>11112</Words>
  <Application>Microsoft Office PowerPoint</Application>
  <PresentationFormat>Apresentação na tela (4:3)</PresentationFormat>
  <Paragraphs>4648</Paragraphs>
  <Slides>68</Slides>
  <Notes>67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68</vt:i4>
      </vt:variant>
    </vt:vector>
  </HeadingPairs>
  <TitlesOfParts>
    <vt:vector size="79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Microsoft Excel Chart</vt:lpstr>
      <vt:lpstr>Equation</vt:lpstr>
      <vt:lpstr>Estatística: Aplicação ao Sensoriamento Remoto  SER 204  Estatística Não Paramétrica</vt:lpstr>
      <vt:lpstr>Escolha da Análise Estatística</vt:lpstr>
      <vt:lpstr>Escolha da Análise Estatística</vt:lpstr>
      <vt:lpstr>Escolha da Análise Estatística</vt:lpstr>
      <vt:lpstr>Escolha da Análise Estatística</vt:lpstr>
      <vt:lpstr>Estatística Paramétrica X Não Paramétrica</vt:lpstr>
      <vt:lpstr>Tipo de Mensuração</vt:lpstr>
      <vt:lpstr>Alguns Testes Não Paramétricos</vt:lpstr>
      <vt:lpstr>Alguns Testes Não Paramétricos</vt:lpstr>
      <vt:lpstr>Teste de Aderência</vt:lpstr>
      <vt:lpstr>Teste de Aderência</vt:lpstr>
      <vt:lpstr>Teste de Aderência</vt:lpstr>
      <vt:lpstr>Teste de Aderência</vt:lpstr>
      <vt:lpstr>Teste de Aderência</vt:lpstr>
      <vt:lpstr>Teste de Aderência</vt:lpstr>
      <vt:lpstr>Teste de Aderência para variáveis contínuas</vt:lpstr>
      <vt:lpstr>Teste de Kolmogorov-Smirnov</vt:lpstr>
      <vt:lpstr>Teste de Kolmogorov-Smirnov</vt:lpstr>
      <vt:lpstr>Teste de Kolmogorov-Smirnov</vt:lpstr>
      <vt:lpstr>Teste de Kolmogorov-Smirnov</vt:lpstr>
      <vt:lpstr>Teste de Kolmogorov-Smirnov</vt:lpstr>
      <vt:lpstr>Valores Críticos do Teste KS</vt:lpstr>
      <vt:lpstr>Teste de Kolmogorov-Smirnov</vt:lpstr>
      <vt:lpstr>Teste de Kolmogorov-Smirnov</vt:lpstr>
      <vt:lpstr>Alguns Testes Não Paramétricos</vt:lpstr>
      <vt:lpstr>Teste dos Sinais</vt:lpstr>
      <vt:lpstr>Teste dos Sinais</vt:lpstr>
      <vt:lpstr>Teste dos Sinais</vt:lpstr>
      <vt:lpstr>Teste dos Sinais</vt:lpstr>
      <vt:lpstr>Teste de Wilcoxon</vt:lpstr>
      <vt:lpstr>Teste de Wilcoxon</vt:lpstr>
      <vt:lpstr>Teste de Wilcoxon</vt:lpstr>
      <vt:lpstr>Teste de Wilcoxon</vt:lpstr>
      <vt:lpstr>Teste de Wilcoxon</vt:lpstr>
      <vt:lpstr>Teste de Wilcoxon</vt:lpstr>
      <vt:lpstr>Valores Críticos do Teste de Wilcoxon</vt:lpstr>
      <vt:lpstr>Teste de Wilcoxon</vt:lpstr>
      <vt:lpstr>Teste de Wilcoxon</vt:lpstr>
      <vt:lpstr>Alguns Testes Não Paramétricos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Mann-Withney</vt:lpstr>
      <vt:lpstr>Teste de Mann-Withney</vt:lpstr>
      <vt:lpstr>Teste de Mann-Withney</vt:lpstr>
      <vt:lpstr>Teste de Mann-Withney</vt:lpstr>
      <vt:lpstr>Teste de Mann-Withney</vt:lpstr>
      <vt:lpstr>Valores Críticos do Teste de Mann-Withney</vt:lpstr>
      <vt:lpstr>Valores Críticos do Teste de Mann-Withney</vt:lpstr>
      <vt:lpstr>Valores Críticos do Teste de Mann-Withney</vt:lpstr>
      <vt:lpstr>Valores Críticos do Teste de Mann-Withney</vt:lpstr>
      <vt:lpstr>Teste de Mann-Withney</vt:lpstr>
      <vt:lpstr>Teste de Mann-Withney</vt:lpstr>
      <vt:lpstr>Teste de Mann-Withney</vt:lpstr>
      <vt:lpstr>Teste de Kolmogorov-Smirnov (2 amostras)</vt:lpstr>
      <vt:lpstr>Teste de Kolmogorov-Smirnov (2 amostras)</vt:lpstr>
      <vt:lpstr>Teste de Kolmogorov-Smirnov (2 amostras)</vt:lpstr>
      <vt:lpstr>Valores Críticos de KD para o Teste KS (2 amostras)</vt:lpstr>
      <vt:lpstr>Teste de Kolmogorov-Smirnov (2 amostras)</vt:lpstr>
      <vt:lpstr>Teste de Kolmogorov-Smirnov (2 amostras)</vt:lpstr>
      <vt:lpstr>Coeficiente de Correlação</vt:lpstr>
      <vt:lpstr>Ranqueamento</vt:lpstr>
      <vt:lpstr>Correlação de Spearman</vt:lpstr>
      <vt:lpstr>Correlação de Spearman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Estatística não paramétrica</dc:title>
  <dc:creator>Camilo Daleles Rennó, DPI/INPE</dc:creator>
  <cp:lastModifiedBy>Camilo Daleles Rennó</cp:lastModifiedBy>
  <cp:revision>730</cp:revision>
  <cp:lastPrinted>2016-05-24T13:15:31Z</cp:lastPrinted>
  <dcterms:created xsi:type="dcterms:W3CDTF">2003-03-18T00:57:51Z</dcterms:created>
  <dcterms:modified xsi:type="dcterms:W3CDTF">2026-05-18T17:22:21Z</dcterms:modified>
</cp:coreProperties>
</file>