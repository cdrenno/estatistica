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45" r:id="rId2"/>
    <p:sldId id="374" r:id="rId3"/>
    <p:sldId id="375" r:id="rId4"/>
    <p:sldId id="366" r:id="rId5"/>
    <p:sldId id="388" r:id="rId6"/>
    <p:sldId id="393" r:id="rId7"/>
    <p:sldId id="377" r:id="rId8"/>
    <p:sldId id="394" r:id="rId9"/>
    <p:sldId id="395" r:id="rId10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DDDDDD"/>
    <a:srgbClr val="D9D9D9"/>
    <a:srgbClr val="000000"/>
    <a:srgbClr val="EAEAEA"/>
    <a:srgbClr val="FFFF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231E9-EFF7-4B35-A063-2CE70FCF688A}" v="3" dt="2025-06-09T12:42:30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714" autoAdjust="0"/>
  </p:normalViewPr>
  <p:slideViewPr>
    <p:cSldViewPr>
      <p:cViewPr varScale="1">
        <p:scale>
          <a:sx n="94" d="100"/>
          <a:sy n="94" d="100"/>
        </p:scale>
        <p:origin x="201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7" Type="http://schemas.openxmlformats.org/officeDocument/2006/relationships/slide" Target="slides/slide9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8.xml"/><Relationship Id="rId5" Type="http://schemas.openxmlformats.org/officeDocument/2006/relationships/slide" Target="slides/slide7.xml"/><Relationship Id="rId4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Rennó" userId="eac9aab033b2f962" providerId="LiveId" clId="{5395F24D-1F66-4E6A-99E7-5137BBD24C62}"/>
    <pc:docChg chg="modSld">
      <pc:chgData name="Camilo Rennó" userId="eac9aab033b2f962" providerId="LiveId" clId="{5395F24D-1F66-4E6A-99E7-5137BBD24C62}" dt="2024-06-10T16:12:16.548" v="4"/>
      <pc:docMkLst>
        <pc:docMk/>
      </pc:docMkLst>
      <pc:sldChg chg="modAnim">
        <pc:chgData name="Camilo Rennó" userId="eac9aab033b2f962" providerId="LiveId" clId="{5395F24D-1F66-4E6A-99E7-5137BBD24C62}" dt="2024-06-10T16:12:16.548" v="4"/>
        <pc:sldMkLst>
          <pc:docMk/>
          <pc:sldMk cId="3928394977" sldId="395"/>
        </pc:sldMkLst>
      </pc:sldChg>
    </pc:docChg>
  </pc:docChgLst>
  <pc:docChgLst>
    <pc:chgData name="Camilo Daleles Rennó" userId="eac9aab033b2f962" providerId="LiveId" clId="{435231E9-EFF7-4B35-A063-2CE70FCF688A}"/>
    <pc:docChg chg="modSld">
      <pc:chgData name="Camilo Daleles Rennó" userId="eac9aab033b2f962" providerId="LiveId" clId="{435231E9-EFF7-4B35-A063-2CE70FCF688A}" dt="2025-06-09T13:00:50.505" v="12" actId="6549"/>
      <pc:docMkLst>
        <pc:docMk/>
      </pc:docMkLst>
      <pc:sldChg chg="addSp delSp modSp mod modTransition modAnim">
        <pc:chgData name="Camilo Daleles Rennó" userId="eac9aab033b2f962" providerId="LiveId" clId="{435231E9-EFF7-4B35-A063-2CE70FCF688A}" dt="2025-06-09T13:00:50.505" v="12" actId="6549"/>
        <pc:sldMkLst>
          <pc:docMk/>
          <pc:sldMk cId="0" sldId="345"/>
        </pc:sldMkLst>
        <pc:spChg chg="mod">
          <ac:chgData name="Camilo Daleles Rennó" userId="eac9aab033b2f962" providerId="LiveId" clId="{435231E9-EFF7-4B35-A063-2CE70FCF688A}" dt="2025-06-09T13:00:50.505" v="12" actId="6549"/>
          <ac:spMkLst>
            <pc:docMk/>
            <pc:sldMk cId="0" sldId="345"/>
            <ac:spMk id="3074" creationId="{00000000-0000-0000-0000-000000000000}"/>
          </ac:spMkLst>
        </pc:spChg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0" sldId="345"/>
            <ac:picMk id="8" creationId="{D286D80D-6621-4F5B-C06A-73B862E84597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0" sldId="345"/>
            <ac:picMk id="10" creationId="{70ABD6FB-B281-E700-6D16-D523D81C1859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0" sldId="345"/>
            <ac:picMk id="11" creationId="{7BC73855-528A-64EC-1889-FC03BB10769B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0" sldId="366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0" sldId="366"/>
            <ac:picMk id="5" creationId="{7B531300-187C-47EE-0127-8A4BF0F7A55A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0" sldId="366"/>
            <ac:picMk id="6" creationId="{D68B8141-BC9D-7B68-7620-797A4AC25EE9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0" sldId="366"/>
            <ac:picMk id="7" creationId="{D000FDAB-8734-1D51-1D9A-3F3440C2A53A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33346296" sldId="374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33346296" sldId="374"/>
            <ac:picMk id="8" creationId="{8077F5D0-7FF3-7C3B-93E5-AB355AB072F8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33346296" sldId="374"/>
            <ac:picMk id="10" creationId="{9F8761B9-D9AD-5B7C-E239-4B29AEC42F95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33346296" sldId="374"/>
            <ac:picMk id="11" creationId="{FB357070-E09F-48FA-B3EF-666CF1D0134C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1916879497" sldId="375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1916879497" sldId="375"/>
            <ac:picMk id="79" creationId="{D568EDE2-3457-B433-030C-DA8566EF2575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1916879497" sldId="375"/>
            <ac:picMk id="80" creationId="{C7A7DD8F-E39D-2ACA-8BC5-C8E6BB74409E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1916879497" sldId="375"/>
            <ac:picMk id="81" creationId="{B0DE8F5F-567A-BF98-7BE6-8F0B77209FB4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2239123633" sldId="377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2239123633" sldId="377"/>
            <ac:picMk id="6" creationId="{974318C2-49BA-500A-EA70-973BA755C982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2239123633" sldId="377"/>
            <ac:picMk id="7" creationId="{27C5C9FB-370E-B26D-E7D4-979BF5DBA281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2239123633" sldId="377"/>
            <ac:picMk id="8" creationId="{C116E63C-A925-7AE5-14FF-BE1E92DB89DD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983261099" sldId="388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983261099" sldId="388"/>
            <ac:picMk id="5" creationId="{9C146D13-C44A-81AE-7380-149D2EB06AE2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983261099" sldId="388"/>
            <ac:picMk id="6" creationId="{81281036-E549-94A8-66E9-73EEC75005BC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983261099" sldId="388"/>
            <ac:picMk id="7" creationId="{16CFF5A2-BEC4-70E1-ECCC-A33817FE0F69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1877254047" sldId="393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1877254047" sldId="393"/>
            <ac:picMk id="5" creationId="{AF87929F-C015-ED89-673B-9A31C683B7D1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1877254047" sldId="393"/>
            <ac:picMk id="6" creationId="{B01CFB83-8109-3A28-C96B-86C1ABB73688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1877254047" sldId="393"/>
            <ac:picMk id="7" creationId="{5027E456-2CF7-1AB7-D60D-16D56DB9E74B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2956632756" sldId="394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2956632756" sldId="394"/>
            <ac:picMk id="6" creationId="{44094A92-B9DA-11F2-40EE-F2C66DFE4246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2956632756" sldId="394"/>
            <ac:picMk id="8" creationId="{67AFB0FD-9F3F-C085-3055-467CA2BF9898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2956632756" sldId="394"/>
            <ac:picMk id="9" creationId="{E3A7E23F-2F3C-AAF2-CA7E-D1FD75B53958}"/>
          </ac:picMkLst>
        </pc:picChg>
      </pc:sldChg>
      <pc:sldChg chg="addSp delSp modSp mod modTransition modAnim">
        <pc:chgData name="Camilo Daleles Rennó" userId="eac9aab033b2f962" providerId="LiveId" clId="{435231E9-EFF7-4B35-A063-2CE70FCF688A}" dt="2025-06-09T12:42:30.593" v="11"/>
        <pc:sldMkLst>
          <pc:docMk/>
          <pc:sldMk cId="3928394977" sldId="395"/>
        </pc:sldMkLst>
        <pc:picChg chg="add del mod">
          <ac:chgData name="Camilo Daleles Rennó" userId="eac9aab033b2f962" providerId="LiveId" clId="{435231E9-EFF7-4B35-A063-2CE70FCF688A}" dt="2025-06-09T12:41:56.159" v="10"/>
          <ac:picMkLst>
            <pc:docMk/>
            <pc:sldMk cId="3928394977" sldId="395"/>
            <ac:picMk id="14" creationId="{8C57CF06-4DC5-C092-4656-09B14D0198E3}"/>
          </ac:picMkLst>
        </pc:picChg>
        <pc:picChg chg="add del mod ord">
          <ac:chgData name="Camilo Daleles Rennó" userId="eac9aab033b2f962" providerId="LiveId" clId="{435231E9-EFF7-4B35-A063-2CE70FCF688A}" dt="2025-06-09T12:42:30.593" v="11"/>
          <ac:picMkLst>
            <pc:docMk/>
            <pc:sldMk cId="3928394977" sldId="395"/>
            <ac:picMk id="17" creationId="{17E7F14A-850A-1699-6B71-16D6DB4B93B3}"/>
          </ac:picMkLst>
        </pc:picChg>
        <pc:picChg chg="add mod">
          <ac:chgData name="Camilo Daleles Rennó" userId="eac9aab033b2f962" providerId="LiveId" clId="{435231E9-EFF7-4B35-A063-2CE70FCF688A}" dt="2025-06-09T12:42:30.593" v="11"/>
          <ac:picMkLst>
            <pc:docMk/>
            <pc:sldMk cId="3928394977" sldId="395"/>
            <ac:picMk id="18" creationId="{B4D12F94-1633-C5AD-54A8-5B22A2EF6E43}"/>
          </ac:picMkLst>
        </pc:picChg>
      </pc:sldChg>
    </pc:docChg>
  </pc:docChgLst>
  <pc:docChgLst>
    <pc:chgData name="Camilo Daleles Rennó" userId="eac9aab033b2f962" providerId="LiveId" clId="{ADCD9CA3-E248-4E12-A9F9-5574C4A5A6AF}"/>
    <pc:docChg chg="custSel modSld">
      <pc:chgData name="Camilo Daleles Rennó" userId="eac9aab033b2f962" providerId="LiveId" clId="{ADCD9CA3-E248-4E12-A9F9-5574C4A5A6AF}" dt="2025-05-08T13:26:00.041" v="19"/>
      <pc:docMkLst>
        <pc:docMk/>
      </pc:docMkLst>
      <pc:sldChg chg="addSp delSp modSp mod">
        <pc:chgData name="Camilo Daleles Rennó" userId="eac9aab033b2f962" providerId="LiveId" clId="{ADCD9CA3-E248-4E12-A9F9-5574C4A5A6AF}" dt="2025-05-08T13:26:00.041" v="19"/>
        <pc:sldMkLst>
          <pc:docMk/>
          <pc:sldMk cId="0" sldId="345"/>
        </pc:sldMkLst>
        <pc:spChg chg="add mod">
          <ac:chgData name="Camilo Daleles Rennó" userId="eac9aab033b2f962" providerId="LiveId" clId="{ADCD9CA3-E248-4E12-A9F9-5574C4A5A6AF}" dt="2025-05-08T13:26:00.041" v="19"/>
          <ac:spMkLst>
            <pc:docMk/>
            <pc:sldMk cId="0" sldId="345"/>
            <ac:spMk id="3" creationId="{E6E7F81D-312B-50C8-5DBB-78A2CB6ECA06}"/>
          </ac:spMkLst>
        </pc:spChg>
        <pc:spChg chg="mod">
          <ac:chgData name="Camilo Daleles Rennó" userId="eac9aab033b2f962" providerId="LiveId" clId="{ADCD9CA3-E248-4E12-A9F9-5574C4A5A6AF}" dt="2025-05-07T16:15:26.324" v="1" actId="20577"/>
          <ac:spMkLst>
            <pc:docMk/>
            <pc:sldMk cId="0" sldId="345"/>
            <ac:spMk id="3074" creationId="{00000000-0000-0000-0000-000000000000}"/>
          </ac:spMkLst>
        </pc:spChg>
      </pc:sldChg>
      <pc:sldChg chg="modSp mod">
        <pc:chgData name="Camilo Daleles Rennó" userId="eac9aab033b2f962" providerId="LiveId" clId="{ADCD9CA3-E248-4E12-A9F9-5574C4A5A6AF}" dt="2025-05-08T13:07:07.410" v="15" actId="20577"/>
        <pc:sldMkLst>
          <pc:docMk/>
          <pc:sldMk cId="33346296" sldId="374"/>
        </pc:sldMkLst>
        <pc:spChg chg="mod">
          <ac:chgData name="Camilo Daleles Rennó" userId="eac9aab033b2f962" providerId="LiveId" clId="{ADCD9CA3-E248-4E12-A9F9-5574C4A5A6AF}" dt="2025-05-08T13:07:07.410" v="15" actId="20577"/>
          <ac:spMkLst>
            <pc:docMk/>
            <pc:sldMk cId="33346296" sldId="374"/>
            <ac:spMk id="5" creationId="{00000000-0000-0000-0000-000000000000}"/>
          </ac:spMkLst>
        </pc:spChg>
      </pc:sldChg>
      <pc:sldChg chg="modSp mod">
        <pc:chgData name="Camilo Daleles Rennó" userId="eac9aab033b2f962" providerId="LiveId" clId="{ADCD9CA3-E248-4E12-A9F9-5574C4A5A6AF}" dt="2025-05-08T13:09:53.444" v="17" actId="732"/>
        <pc:sldMkLst>
          <pc:docMk/>
          <pc:sldMk cId="2956632756" sldId="394"/>
        </pc:sldMkLst>
        <pc:spChg chg="mod">
          <ac:chgData name="Camilo Daleles Rennó" userId="eac9aab033b2f962" providerId="LiveId" clId="{ADCD9CA3-E248-4E12-A9F9-5574C4A5A6AF}" dt="2025-05-08T13:09:36.502" v="16"/>
          <ac:spMkLst>
            <pc:docMk/>
            <pc:sldMk cId="2956632756" sldId="394"/>
            <ac:spMk id="2" creationId="{00000000-0000-0000-0000-000000000000}"/>
          </ac:spMkLst>
        </pc:spChg>
        <pc:picChg chg="mod modCrop">
          <ac:chgData name="Camilo Daleles Rennó" userId="eac9aab033b2f962" providerId="LiveId" clId="{ADCD9CA3-E248-4E12-A9F9-5574C4A5A6AF}" dt="2025-05-08T13:09:53.444" v="17" actId="732"/>
          <ac:picMkLst>
            <pc:docMk/>
            <pc:sldMk cId="2956632756" sldId="394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3D13E68-3F65-4956-B623-CDA8FD0840EC}" type="datetimeFigureOut">
              <a:rPr lang="pt-BR" smtClean="0"/>
              <a:pPr>
                <a:defRPr/>
              </a:pPr>
              <a:t>09/06/2025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282321D-B8BF-4AD2-B522-67950E411EA1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56463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8F26E-5B93-4304-BB4C-8EBE658FB52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56463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75E3667-2AED-4289-B46A-D8A255B210A4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3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DCDF4-4CD2-48E5-B655-36386C2264B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24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CE33F-CC5C-4EEC-81F7-66FC7C1E889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C82DA-2166-4F5E-A471-94EF30EB021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4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B8089-F15D-4D0A-824E-AB4B11AC165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97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20CA0-720B-4B39-B72F-DD031416D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09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B2210-A96D-4153-88DA-A4382B445B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36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482F2-E0F5-4454-9466-E80264FF34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5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EC83D-23FE-460E-8D63-2162A3AC7DD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503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A886F-1474-4337-B62F-6ADD50B314E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4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3577D123-9152-4530-BEFD-9C2BF789E3A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.png"/><Relationship Id="rId5" Type="http://schemas.openxmlformats.org/officeDocument/2006/relationships/hyperlink" Target="https://cdrenno.github.io/Estatistica/" TargetMode="External"/><Relationship Id="rId4" Type="http://schemas.openxmlformats.org/officeDocument/2006/relationships/hyperlink" Target="http://urlib.net/8JMKD2USNRW34T/4D6DMD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.png"/><Relationship Id="rId3" Type="http://schemas.openxmlformats.org/officeDocument/2006/relationships/audio" Target="../media/media3.m4a"/><Relationship Id="rId7" Type="http://schemas.openxmlformats.org/officeDocument/2006/relationships/image" Target="../media/image4.png"/><Relationship Id="rId12" Type="http://schemas.openxmlformats.org/officeDocument/2006/relationships/image" Target="../media/image9.jpeg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Apresentação da Disciplina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6E7F81D-312B-50C8-5DBB-78A2CB6EC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7BC73855-528A-64EC-1889-FC03BB1076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414"/>
    </mc:Choice>
    <mc:Fallback>
      <p:transition spd="slow" advTm="14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776" x="3473450" y="6573838"/>
          <p14:tracePt t="9782" x="3563938" y="6345238"/>
          <p14:tracePt t="9798" x="3694113" y="5775325"/>
          <p14:tracePt t="9815" x="3749675" y="5084763"/>
          <p14:tracePt t="9831" x="3856038" y="4392613"/>
          <p14:tracePt t="9848" x="3970338" y="3790950"/>
          <p14:tracePt t="9865" x="4132263" y="3335338"/>
          <p14:tracePt t="9882" x="4344988" y="3140075"/>
          <p14:tracePt t="9899" x="4652963" y="3001963"/>
          <p14:tracePt t="9915" x="5011738" y="2952750"/>
          <p14:tracePt t="9931" x="5394325" y="2968625"/>
          <p14:tracePt t="9950" x="5970588" y="3074988"/>
          <p14:tracePt t="9965" x="6191250" y="3148013"/>
          <p14:tracePt t="9982" x="6321425" y="3205163"/>
          <p14:tracePt t="9998" x="6378575" y="3246438"/>
          <p14:tracePt t="10015" x="6402388" y="3270250"/>
          <p14:tracePt t="10031" x="6410325" y="3294063"/>
          <p14:tracePt t="10048" x="6410325" y="3303588"/>
          <p14:tracePt t="10065" x="6353175" y="3319463"/>
          <p14:tracePt t="10081" x="6191250" y="3327400"/>
          <p14:tracePt t="10098" x="5954713" y="3327400"/>
          <p14:tracePt t="10115" x="5662613" y="3327400"/>
          <p14:tracePt t="10132" x="5483225" y="3319463"/>
          <p14:tracePt t="10133" x="5441950" y="3311525"/>
          <p14:tracePt t="10149" x="5384800" y="3311525"/>
          <p14:tracePt t="10165" x="5295900" y="3319463"/>
          <p14:tracePt t="10182" x="5165725" y="3408363"/>
          <p14:tracePt t="10198" x="5027613" y="3619500"/>
          <p14:tracePt t="10215" x="4962525" y="3986213"/>
          <p14:tracePt t="10231" x="4994275" y="4303713"/>
          <p14:tracePt t="10248" x="5133975" y="4522788"/>
          <p14:tracePt t="10265" x="5303838" y="4629150"/>
          <p14:tracePt t="10282" x="5483225" y="4645025"/>
          <p14:tracePt t="10298" x="5719763" y="4530725"/>
          <p14:tracePt t="10315" x="5954713" y="4214813"/>
          <p14:tracePt t="10332" x="6003925" y="3840163"/>
          <p14:tracePt t="10333" x="5954713" y="3603625"/>
          <p14:tracePt t="10350" x="5702300" y="3189288"/>
          <p14:tracePt t="10365" x="5491163" y="3009900"/>
          <p14:tracePt t="10382" x="5345113" y="2944813"/>
          <p14:tracePt t="10398" x="5149850" y="2944813"/>
          <p14:tracePt t="10415" x="4897438" y="3082925"/>
          <p14:tracePt t="10431" x="4686300" y="3343275"/>
          <p14:tracePt t="10448" x="4491038" y="3684588"/>
          <p14:tracePt t="10465" x="4441825" y="3897313"/>
          <p14:tracePt t="10482" x="4457700" y="4043363"/>
          <p14:tracePt t="10499" x="4548188" y="4116388"/>
          <p14:tracePt t="10515" x="4759325" y="4132263"/>
          <p14:tracePt t="10532" x="5141913" y="4010025"/>
          <p14:tracePt t="10533" x="5368925" y="3897313"/>
          <p14:tracePt t="10550" x="5727700" y="3660775"/>
          <p14:tracePt t="10565" x="5824538" y="3465513"/>
          <p14:tracePt t="10582" x="5767388" y="3327400"/>
          <p14:tracePt t="10598" x="5589588" y="3246438"/>
          <p14:tracePt t="10615" x="5272088" y="3221038"/>
          <p14:tracePt t="10631" x="4994275" y="3228975"/>
          <p14:tracePt t="10648" x="4929188" y="3270250"/>
          <p14:tracePt t="10665" x="4832350" y="3376613"/>
          <p14:tracePt t="10681" x="4808538" y="3473450"/>
          <p14:tracePt t="10698" x="4840288" y="3579813"/>
          <p14:tracePt t="10715" x="5003800" y="3668713"/>
          <p14:tracePt t="10732" x="5353050" y="3749675"/>
          <p14:tracePt t="10733" x="5605463" y="3759200"/>
          <p14:tracePt t="10749" x="6061075" y="3733800"/>
          <p14:tracePt t="10765" x="6280150" y="3676650"/>
          <p14:tracePt t="10781" x="6321425" y="3644900"/>
          <p14:tracePt t="10798" x="6264275" y="3603625"/>
          <p14:tracePt t="10814" x="6061075" y="3571875"/>
          <p14:tracePt t="10831" x="5816600" y="3579813"/>
          <p14:tracePt t="10848" x="5629275" y="3619500"/>
          <p14:tracePt t="10865" x="5524500" y="3668713"/>
          <p14:tracePt t="10881" x="5483225" y="3725863"/>
          <p14:tracePt t="10898" x="5491163" y="3783013"/>
          <p14:tracePt t="10915" x="5605463" y="3889375"/>
          <p14:tracePt t="10931" x="5832475" y="3962400"/>
          <p14:tracePt t="10949" x="6370638" y="4067175"/>
          <p14:tracePt t="10965" x="6646863" y="4100513"/>
          <p14:tracePt t="10981" x="6743700" y="4108450"/>
          <p14:tracePt t="10998" x="6769100" y="4116388"/>
          <p14:tracePt t="11015" x="6784975" y="4116388"/>
          <p14:tracePt t="11031" x="6800850" y="4132263"/>
          <p14:tracePt t="11048" x="6826250" y="4157663"/>
          <p14:tracePt t="11065" x="6850063" y="4165600"/>
          <p14:tracePt t="11082" x="6907213" y="4181475"/>
          <p14:tracePt t="11098" x="6954838" y="4197350"/>
          <p14:tracePt t="11115" x="7011988" y="4214813"/>
          <p14:tracePt t="11132" x="7061200" y="4214813"/>
          <p14:tracePt t="11133" x="7085013" y="4214813"/>
          <p14:tracePt t="11149" x="7134225" y="4222750"/>
          <p14:tracePt t="11165" x="7159625" y="4222750"/>
          <p14:tracePt t="11181" x="7183438" y="4222750"/>
          <p14:tracePt t="11198" x="7199313" y="4222750"/>
          <p14:tracePt t="11221" x="7199313" y="4230688"/>
          <p14:tracePt t="11232" x="7167563" y="4246563"/>
          <p14:tracePt t="11248" x="7029450" y="4295775"/>
          <p14:tracePt t="11265" x="6850063" y="4368800"/>
          <p14:tracePt t="11282" x="6670675" y="4441825"/>
          <p14:tracePt t="11298" x="6540500" y="4491038"/>
          <p14:tracePt t="11315" x="6451600" y="4514850"/>
          <p14:tracePt t="11332" x="6394450" y="4514850"/>
          <p14:tracePt t="11333" x="6378575" y="4506913"/>
          <p14:tracePt t="11350" x="6321425" y="4433888"/>
          <p14:tracePt t="11365" x="6215063" y="4279900"/>
          <p14:tracePt t="11381" x="6069013" y="4043363"/>
          <p14:tracePt t="11398" x="6011863" y="3832225"/>
          <p14:tracePt t="11415" x="6019800" y="3684588"/>
          <p14:tracePt t="11431" x="6134100" y="3603625"/>
          <p14:tracePt t="11448" x="6321425" y="3563938"/>
          <p14:tracePt t="11465" x="6686550" y="3611563"/>
          <p14:tracePt t="11481" x="7232650" y="3832225"/>
          <p14:tracePt t="11498" x="7639050" y="4051300"/>
          <p14:tracePt t="11515" x="7777163" y="4197350"/>
          <p14:tracePt t="11531" x="7793038" y="4287838"/>
          <p14:tracePt t="11533" x="7785100" y="4327525"/>
          <p14:tracePt t="11550" x="7670800" y="4410075"/>
          <p14:tracePt t="11565" x="7524750" y="4449763"/>
          <p14:tracePt t="11581" x="7402513" y="4475163"/>
          <p14:tracePt t="11598" x="7354888" y="4475163"/>
          <p14:tracePt t="11615" x="7313613" y="4475163"/>
          <p14:tracePt t="11632" x="7280275" y="4457700"/>
          <p14:tracePt t="11648" x="7240588" y="4425950"/>
          <p14:tracePt t="11665" x="7215188" y="4352925"/>
          <p14:tracePt t="11682" x="7207250" y="4303713"/>
          <p14:tracePt t="11698" x="7215188" y="4246563"/>
          <p14:tracePt t="11715" x="7297738" y="4197350"/>
          <p14:tracePt t="11731" x="7386638" y="4165600"/>
          <p14:tracePt t="11749" x="7516813" y="4149725"/>
          <p14:tracePt t="11765" x="7631113" y="4149725"/>
          <p14:tracePt t="11781" x="7727950" y="4149725"/>
          <p14:tracePt t="11798" x="7735888" y="4149725"/>
          <p14:tracePt t="11815" x="7745413" y="4149725"/>
          <p14:tracePt t="11831" x="7735888" y="4165600"/>
          <p14:tracePt t="11848" x="7654925" y="4181475"/>
          <p14:tracePt t="11865" x="7532688" y="4222750"/>
          <p14:tracePt t="11881" x="7386638" y="4246563"/>
          <p14:tracePt t="11898" x="7240588" y="4279900"/>
          <p14:tracePt t="11915" x="7118350" y="4295775"/>
          <p14:tracePt t="11931" x="7037388" y="4319588"/>
          <p14:tracePt t="11949" x="7011988" y="4319588"/>
          <p14:tracePt t="11965" x="7004050" y="4319588"/>
          <p14:tracePt t="12013" x="7037388" y="4311650"/>
          <p14:tracePt t="12021" x="7102475" y="4295775"/>
          <p14:tracePt t="12031" x="7175500" y="4270375"/>
          <p14:tracePt t="12048" x="7378700" y="4222750"/>
          <p14:tracePt t="12065" x="7485063" y="4197350"/>
          <p14:tracePt t="12081" x="7508875" y="4197350"/>
          <p14:tracePt t="12117" x="7500938" y="4181475"/>
          <p14:tracePt t="12126" x="7475538" y="4173538"/>
          <p14:tracePt t="12133" x="7402513" y="4165600"/>
          <p14:tracePt t="12150" x="7199313" y="4116388"/>
          <p14:tracePt t="12165" x="7069138" y="4092575"/>
          <p14:tracePt t="12181" x="7011988" y="4075113"/>
          <p14:tracePt t="12198" x="6996113" y="4067175"/>
          <p14:tracePt t="12215" x="6980238" y="4051300"/>
          <p14:tracePt t="12231" x="6972300" y="4051300"/>
          <p14:tracePt t="12248" x="6964363" y="4051300"/>
          <p14:tracePt t="12265" x="6964363" y="4035425"/>
          <p14:tracePt t="12281" x="6964363" y="4010025"/>
          <p14:tracePt t="12298" x="6988175" y="3978275"/>
          <p14:tracePt t="12315" x="7011988" y="3954463"/>
          <p14:tracePt t="12331" x="7019925" y="3954463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Apresentação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2996952"/>
            <a:ext cx="8458200" cy="43204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pt-BR" altLang="pt-BR" sz="2000" dirty="0"/>
              <a:t>Camilo D. Rennó </a:t>
            </a:r>
            <a:r>
              <a:rPr lang="pt-BR" altLang="pt-BR" sz="1800" dirty="0"/>
              <a:t>(camilo.renno@inpe.br)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2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3528" y="5258228"/>
            <a:ext cx="8458200" cy="12671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246063" eaLnBrk="1" hangingPunct="1">
              <a:buFontTx/>
              <a:buNone/>
            </a:pPr>
            <a:r>
              <a:rPr lang="pt-BR" altLang="pt-BR" sz="2000" kern="0" dirty="0">
                <a:latin typeface="Tahoma" panose="020B0604030504040204" pitchFamily="34" charset="0"/>
              </a:rPr>
              <a:t>Todo o conteúdo da disciplina está disponível em:</a:t>
            </a:r>
            <a:br>
              <a:rPr lang="pt-BR" altLang="pt-BR" sz="2000" kern="0" dirty="0">
                <a:latin typeface="Tahoma" panose="020B0604030504040204" pitchFamily="34" charset="0"/>
              </a:rPr>
            </a:br>
            <a:br>
              <a:rPr lang="pt-BR" altLang="pt-BR" sz="2000" kern="0" dirty="0">
                <a:latin typeface="Tahoma" panose="020B0604030504040204" pitchFamily="34" charset="0"/>
              </a:rPr>
            </a:br>
            <a:r>
              <a:rPr lang="pt-BR" altLang="pt-BR" sz="2000" kern="0" dirty="0">
                <a:latin typeface="Tahoma" panose="020B0604030504040204" pitchFamily="34" charset="0"/>
              </a:rPr>
              <a:t>							http://urlib.net/8JMKD2USNRW34T/4D6DMD2</a:t>
            </a:r>
          </a:p>
          <a:p>
            <a:pPr defTabSz="246063" eaLnBrk="1" hangingPunct="1">
              <a:buFontTx/>
              <a:buNone/>
            </a:pPr>
            <a:r>
              <a:rPr lang="pt-BR" sz="2000" kern="0" dirty="0">
                <a:latin typeface="Tahoma" panose="020B0604030504040204" pitchFamily="34" charset="0"/>
              </a:rPr>
              <a:t>								https://cdrenno.github.io/Estatistica/</a:t>
            </a:r>
            <a:endParaRPr lang="pt-BR" altLang="pt-BR" sz="2000" kern="0" dirty="0">
              <a:latin typeface="Tahoma" panose="020B0604030504040204" pitchFamily="34" charset="0"/>
            </a:endParaRPr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FB357070-E09F-48FA-B3EF-666CF1D013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346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59"/>
    </mc:Choice>
    <mc:Fallback>
      <p:transition spd="slow" advTm="22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 descr=" 16"/>
          <p:cNvGrpSpPr/>
          <p:nvPr/>
        </p:nvGrpSpPr>
        <p:grpSpPr>
          <a:xfrm>
            <a:off x="3969293" y="4365104"/>
            <a:ext cx="1610819" cy="1611835"/>
            <a:chOff x="1512888" y="2420938"/>
            <a:chExt cx="2519362" cy="2520950"/>
          </a:xfrm>
        </p:grpSpPr>
        <p:pic>
          <p:nvPicPr>
            <p:cNvPr id="17" name="Picture 2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888" y="2420938"/>
              <a:ext cx="2519362" cy="252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" name="Grupo 3"/>
            <p:cNvGrpSpPr>
              <a:grpSpLocks/>
            </p:cNvGrpSpPr>
            <p:nvPr/>
          </p:nvGrpSpPr>
          <p:grpSpPr bwMode="auto">
            <a:xfrm>
              <a:off x="1764231" y="3004186"/>
              <a:ext cx="144024" cy="144048"/>
              <a:chOff x="1371836" y="4693332"/>
              <a:chExt cx="144016" cy="144016"/>
            </a:xfrm>
          </p:grpSpPr>
          <p:cxnSp>
            <p:nvCxnSpPr>
              <p:cNvPr id="76" name="Conector reto 75"/>
              <p:cNvCxnSpPr/>
              <p:nvPr/>
            </p:nvCxnSpPr>
            <p:spPr>
              <a:xfrm>
                <a:off x="1444339" y="4692696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to 76"/>
              <p:cNvCxnSpPr/>
              <p:nvPr/>
            </p:nvCxnSpPr>
            <p:spPr>
              <a:xfrm rot="5400000">
                <a:off x="1443545" y="4693478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o 513"/>
            <p:cNvGrpSpPr>
              <a:grpSpLocks/>
            </p:cNvGrpSpPr>
            <p:nvPr/>
          </p:nvGrpSpPr>
          <p:grpSpPr bwMode="auto">
            <a:xfrm>
              <a:off x="2916426" y="2974831"/>
              <a:ext cx="144024" cy="144048"/>
              <a:chOff x="1371836" y="4693332"/>
              <a:chExt cx="144016" cy="144016"/>
            </a:xfrm>
          </p:grpSpPr>
          <p:cxnSp>
            <p:nvCxnSpPr>
              <p:cNvPr id="74" name="Conector reto 73"/>
              <p:cNvCxnSpPr/>
              <p:nvPr/>
            </p:nvCxnSpPr>
            <p:spPr>
              <a:xfrm>
                <a:off x="1444669" y="4693476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to 74"/>
              <p:cNvCxnSpPr/>
              <p:nvPr/>
            </p:nvCxnSpPr>
            <p:spPr>
              <a:xfrm rot="5400000">
                <a:off x="1443875" y="4694258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upo 516"/>
            <p:cNvGrpSpPr>
              <a:grpSpLocks/>
            </p:cNvGrpSpPr>
            <p:nvPr/>
          </p:nvGrpSpPr>
          <p:grpSpPr bwMode="auto">
            <a:xfrm>
              <a:off x="2123335" y="3688747"/>
              <a:ext cx="144024" cy="144048"/>
              <a:chOff x="1371836" y="4693332"/>
              <a:chExt cx="144016" cy="144016"/>
            </a:xfrm>
          </p:grpSpPr>
          <p:cxnSp>
            <p:nvCxnSpPr>
              <p:cNvPr id="72" name="Conector reto 71"/>
              <p:cNvCxnSpPr/>
              <p:nvPr/>
            </p:nvCxnSpPr>
            <p:spPr>
              <a:xfrm>
                <a:off x="1444010" y="4693935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to 72"/>
              <p:cNvCxnSpPr/>
              <p:nvPr/>
            </p:nvCxnSpPr>
            <p:spPr>
              <a:xfrm rot="5400000">
                <a:off x="1444010" y="4693923"/>
                <a:ext cx="0" cy="1428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upo 519"/>
            <p:cNvGrpSpPr>
              <a:grpSpLocks/>
            </p:cNvGrpSpPr>
            <p:nvPr/>
          </p:nvGrpSpPr>
          <p:grpSpPr bwMode="auto">
            <a:xfrm>
              <a:off x="3420511" y="3508353"/>
              <a:ext cx="144024" cy="144048"/>
              <a:chOff x="1371836" y="4693332"/>
              <a:chExt cx="144016" cy="144016"/>
            </a:xfrm>
          </p:grpSpPr>
          <p:cxnSp>
            <p:nvCxnSpPr>
              <p:cNvPr id="70" name="Conector reto 69"/>
              <p:cNvCxnSpPr/>
              <p:nvPr/>
            </p:nvCxnSpPr>
            <p:spPr>
              <a:xfrm>
                <a:off x="1443821" y="4693354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ector reto 70"/>
              <p:cNvCxnSpPr/>
              <p:nvPr/>
            </p:nvCxnSpPr>
            <p:spPr>
              <a:xfrm rot="5400000">
                <a:off x="1443822" y="4694929"/>
                <a:ext cx="0" cy="1428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upo 522"/>
            <p:cNvGrpSpPr>
              <a:grpSpLocks/>
            </p:cNvGrpSpPr>
            <p:nvPr/>
          </p:nvGrpSpPr>
          <p:grpSpPr bwMode="auto">
            <a:xfrm>
              <a:off x="2927274" y="4156567"/>
              <a:ext cx="144024" cy="144048"/>
              <a:chOff x="1371836" y="4693332"/>
              <a:chExt cx="144016" cy="144016"/>
            </a:xfrm>
          </p:grpSpPr>
          <p:cxnSp>
            <p:nvCxnSpPr>
              <p:cNvPr id="68" name="Conector reto 67"/>
              <p:cNvCxnSpPr/>
              <p:nvPr/>
            </p:nvCxnSpPr>
            <p:spPr>
              <a:xfrm>
                <a:off x="1444933" y="4692840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to 68"/>
              <p:cNvCxnSpPr/>
              <p:nvPr/>
            </p:nvCxnSpPr>
            <p:spPr>
              <a:xfrm rot="5400000">
                <a:off x="1444140" y="4693621"/>
                <a:ext cx="0" cy="1444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525"/>
            <p:cNvGrpSpPr>
              <a:grpSpLocks/>
            </p:cNvGrpSpPr>
            <p:nvPr/>
          </p:nvGrpSpPr>
          <p:grpSpPr bwMode="auto">
            <a:xfrm>
              <a:off x="3708560" y="2987904"/>
              <a:ext cx="144024" cy="144048"/>
              <a:chOff x="1371836" y="4693332"/>
              <a:chExt cx="144016" cy="144016"/>
            </a:xfrm>
          </p:grpSpPr>
          <p:cxnSp>
            <p:nvCxnSpPr>
              <p:cNvPr id="66" name="Conector reto 65"/>
              <p:cNvCxnSpPr/>
              <p:nvPr/>
            </p:nvCxnSpPr>
            <p:spPr>
              <a:xfrm>
                <a:off x="1444697" y="4693103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to 66"/>
              <p:cNvCxnSpPr/>
              <p:nvPr/>
            </p:nvCxnSpPr>
            <p:spPr>
              <a:xfrm rot="5400000">
                <a:off x="1443904" y="4693884"/>
                <a:ext cx="0" cy="1444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upo 528"/>
            <p:cNvGrpSpPr>
              <a:grpSpLocks/>
            </p:cNvGrpSpPr>
            <p:nvPr/>
          </p:nvGrpSpPr>
          <p:grpSpPr bwMode="auto">
            <a:xfrm>
              <a:off x="3491566" y="4162730"/>
              <a:ext cx="144024" cy="144048"/>
              <a:chOff x="1371836" y="4693332"/>
              <a:chExt cx="144016" cy="144016"/>
            </a:xfrm>
          </p:grpSpPr>
          <p:cxnSp>
            <p:nvCxnSpPr>
              <p:cNvPr id="64" name="Conector reto 63"/>
              <p:cNvCxnSpPr/>
              <p:nvPr/>
            </p:nvCxnSpPr>
            <p:spPr>
              <a:xfrm>
                <a:off x="1444204" y="4693027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to 64"/>
              <p:cNvCxnSpPr/>
              <p:nvPr/>
            </p:nvCxnSpPr>
            <p:spPr>
              <a:xfrm rot="5400000">
                <a:off x="1443410" y="4693809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531"/>
            <p:cNvGrpSpPr>
              <a:grpSpLocks/>
            </p:cNvGrpSpPr>
            <p:nvPr/>
          </p:nvGrpSpPr>
          <p:grpSpPr bwMode="auto">
            <a:xfrm>
              <a:off x="2136125" y="4588709"/>
              <a:ext cx="144024" cy="144048"/>
              <a:chOff x="1371836" y="4693332"/>
              <a:chExt cx="144016" cy="144016"/>
            </a:xfrm>
          </p:grpSpPr>
          <p:cxnSp>
            <p:nvCxnSpPr>
              <p:cNvPr id="62" name="Conector reto 61"/>
              <p:cNvCxnSpPr/>
              <p:nvPr/>
            </p:nvCxnSpPr>
            <p:spPr>
              <a:xfrm>
                <a:off x="1443920" y="4694086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to 62"/>
              <p:cNvCxnSpPr/>
              <p:nvPr/>
            </p:nvCxnSpPr>
            <p:spPr>
              <a:xfrm rot="5400000">
                <a:off x="1443920" y="4694073"/>
                <a:ext cx="0" cy="1428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upo 534"/>
            <p:cNvGrpSpPr>
              <a:grpSpLocks/>
            </p:cNvGrpSpPr>
            <p:nvPr/>
          </p:nvGrpSpPr>
          <p:grpSpPr bwMode="auto">
            <a:xfrm>
              <a:off x="3060450" y="4581065"/>
              <a:ext cx="144024" cy="144048"/>
              <a:chOff x="1371836" y="4693332"/>
              <a:chExt cx="144016" cy="144016"/>
            </a:xfrm>
          </p:grpSpPr>
          <p:cxnSp>
            <p:nvCxnSpPr>
              <p:cNvPr id="60" name="Conector reto 59"/>
              <p:cNvCxnSpPr/>
              <p:nvPr/>
            </p:nvCxnSpPr>
            <p:spPr>
              <a:xfrm>
                <a:off x="1445107" y="4693792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to 60"/>
              <p:cNvCxnSpPr/>
              <p:nvPr/>
            </p:nvCxnSpPr>
            <p:spPr>
              <a:xfrm rot="5400000">
                <a:off x="1444314" y="4692986"/>
                <a:ext cx="0" cy="1444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upo 537"/>
            <p:cNvGrpSpPr>
              <a:grpSpLocks/>
            </p:cNvGrpSpPr>
            <p:nvPr/>
          </p:nvGrpSpPr>
          <p:grpSpPr bwMode="auto">
            <a:xfrm>
              <a:off x="2627420" y="3212613"/>
              <a:ext cx="144024" cy="144048"/>
              <a:chOff x="1371836" y="4693332"/>
              <a:chExt cx="144016" cy="144016"/>
            </a:xfrm>
          </p:grpSpPr>
          <p:cxnSp>
            <p:nvCxnSpPr>
              <p:cNvPr id="58" name="Conector reto 57"/>
              <p:cNvCxnSpPr/>
              <p:nvPr/>
            </p:nvCxnSpPr>
            <p:spPr>
              <a:xfrm>
                <a:off x="1444750" y="4693819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to 58"/>
              <p:cNvCxnSpPr/>
              <p:nvPr/>
            </p:nvCxnSpPr>
            <p:spPr>
              <a:xfrm rot="5400000">
                <a:off x="1443956" y="4693014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upo 540"/>
            <p:cNvGrpSpPr>
              <a:grpSpLocks/>
            </p:cNvGrpSpPr>
            <p:nvPr/>
          </p:nvGrpSpPr>
          <p:grpSpPr bwMode="auto">
            <a:xfrm>
              <a:off x="2412341" y="2663057"/>
              <a:ext cx="144024" cy="144048"/>
              <a:chOff x="1371836" y="4693332"/>
              <a:chExt cx="144016" cy="144016"/>
            </a:xfrm>
          </p:grpSpPr>
          <p:cxnSp>
            <p:nvCxnSpPr>
              <p:cNvPr id="56" name="Conector reto 55"/>
              <p:cNvCxnSpPr/>
              <p:nvPr/>
            </p:nvCxnSpPr>
            <p:spPr>
              <a:xfrm>
                <a:off x="1443929" y="4694100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to 56"/>
              <p:cNvCxnSpPr/>
              <p:nvPr/>
            </p:nvCxnSpPr>
            <p:spPr>
              <a:xfrm rot="5400000">
                <a:off x="1443929" y="4694088"/>
                <a:ext cx="0" cy="1428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upo 543"/>
            <p:cNvGrpSpPr>
              <a:grpSpLocks/>
            </p:cNvGrpSpPr>
            <p:nvPr/>
          </p:nvGrpSpPr>
          <p:grpSpPr bwMode="auto">
            <a:xfrm>
              <a:off x="1743662" y="4004874"/>
              <a:ext cx="144024" cy="144048"/>
              <a:chOff x="1371836" y="4693332"/>
              <a:chExt cx="144016" cy="144016"/>
            </a:xfrm>
          </p:grpSpPr>
          <p:cxnSp>
            <p:nvCxnSpPr>
              <p:cNvPr id="54" name="Conector reto 53"/>
              <p:cNvCxnSpPr/>
              <p:nvPr/>
            </p:nvCxnSpPr>
            <p:spPr>
              <a:xfrm>
                <a:off x="1444270" y="4693721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to 54"/>
              <p:cNvCxnSpPr/>
              <p:nvPr/>
            </p:nvCxnSpPr>
            <p:spPr>
              <a:xfrm rot="5400000">
                <a:off x="1443477" y="4692914"/>
                <a:ext cx="0" cy="1444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upo 546"/>
            <p:cNvGrpSpPr>
              <a:grpSpLocks/>
            </p:cNvGrpSpPr>
            <p:nvPr/>
          </p:nvGrpSpPr>
          <p:grpSpPr bwMode="auto">
            <a:xfrm>
              <a:off x="3789584" y="4707352"/>
              <a:ext cx="144024" cy="144048"/>
              <a:chOff x="1371836" y="4693332"/>
              <a:chExt cx="144016" cy="144016"/>
            </a:xfrm>
          </p:grpSpPr>
          <p:cxnSp>
            <p:nvCxnSpPr>
              <p:cNvPr id="52" name="Conector reto 51"/>
              <p:cNvCxnSpPr/>
              <p:nvPr/>
            </p:nvCxnSpPr>
            <p:spPr>
              <a:xfrm>
                <a:off x="1444636" y="4692918"/>
                <a:ext cx="0" cy="1444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to 52"/>
              <p:cNvCxnSpPr/>
              <p:nvPr/>
            </p:nvCxnSpPr>
            <p:spPr>
              <a:xfrm rot="5400000">
                <a:off x="1443842" y="4693700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upo 549"/>
            <p:cNvGrpSpPr>
              <a:grpSpLocks/>
            </p:cNvGrpSpPr>
            <p:nvPr/>
          </p:nvGrpSpPr>
          <p:grpSpPr bwMode="auto">
            <a:xfrm>
              <a:off x="3059493" y="3819479"/>
              <a:ext cx="144024" cy="144048"/>
              <a:chOff x="1371836" y="4693332"/>
              <a:chExt cx="144016" cy="144016"/>
            </a:xfrm>
          </p:grpSpPr>
          <p:cxnSp>
            <p:nvCxnSpPr>
              <p:cNvPr id="50" name="Conector reto 49"/>
              <p:cNvCxnSpPr/>
              <p:nvPr/>
            </p:nvCxnSpPr>
            <p:spPr>
              <a:xfrm>
                <a:off x="1444477" y="4693378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/>
              <p:nvPr/>
            </p:nvCxnSpPr>
            <p:spPr>
              <a:xfrm rot="5400000">
                <a:off x="1443683" y="4694160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upo 552"/>
            <p:cNvGrpSpPr>
              <a:grpSpLocks/>
            </p:cNvGrpSpPr>
            <p:nvPr/>
          </p:nvGrpSpPr>
          <p:grpSpPr bwMode="auto">
            <a:xfrm>
              <a:off x="2484353" y="4143339"/>
              <a:ext cx="144024" cy="144048"/>
              <a:chOff x="1371836" y="4693332"/>
              <a:chExt cx="144016" cy="144016"/>
            </a:xfrm>
          </p:grpSpPr>
          <p:cxnSp>
            <p:nvCxnSpPr>
              <p:cNvPr id="48" name="Conector reto 47"/>
              <p:cNvCxnSpPr/>
              <p:nvPr/>
            </p:nvCxnSpPr>
            <p:spPr>
              <a:xfrm>
                <a:off x="1444942" y="4693368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/>
              <p:cNvCxnSpPr/>
              <p:nvPr/>
            </p:nvCxnSpPr>
            <p:spPr>
              <a:xfrm rot="5400000">
                <a:off x="1444148" y="4694150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upo 555"/>
            <p:cNvGrpSpPr>
              <a:grpSpLocks/>
            </p:cNvGrpSpPr>
            <p:nvPr/>
          </p:nvGrpSpPr>
          <p:grpSpPr bwMode="auto">
            <a:xfrm>
              <a:off x="3204475" y="2735081"/>
              <a:ext cx="144024" cy="144048"/>
              <a:chOff x="1371836" y="4693332"/>
              <a:chExt cx="144016" cy="144016"/>
            </a:xfrm>
          </p:grpSpPr>
          <p:cxnSp>
            <p:nvCxnSpPr>
              <p:cNvPr id="46" name="Conector reto 45"/>
              <p:cNvCxnSpPr/>
              <p:nvPr/>
            </p:nvCxnSpPr>
            <p:spPr>
              <a:xfrm>
                <a:off x="1443957" y="4693514"/>
                <a:ext cx="0" cy="1444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to 46"/>
              <p:cNvCxnSpPr/>
              <p:nvPr/>
            </p:nvCxnSpPr>
            <p:spPr>
              <a:xfrm rot="5400000">
                <a:off x="1443958" y="4695089"/>
                <a:ext cx="0" cy="1428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o 558"/>
            <p:cNvGrpSpPr>
              <a:grpSpLocks/>
            </p:cNvGrpSpPr>
            <p:nvPr/>
          </p:nvGrpSpPr>
          <p:grpSpPr bwMode="auto">
            <a:xfrm>
              <a:off x="1619250" y="2492375"/>
              <a:ext cx="144024" cy="144048"/>
              <a:chOff x="1371836" y="4693332"/>
              <a:chExt cx="144016" cy="144016"/>
            </a:xfrm>
          </p:grpSpPr>
          <p:cxnSp>
            <p:nvCxnSpPr>
              <p:cNvPr id="44" name="Conector reto 43"/>
              <p:cNvCxnSpPr/>
              <p:nvPr/>
            </p:nvCxnSpPr>
            <p:spPr>
              <a:xfrm>
                <a:off x="1444857" y="4693332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to 44"/>
              <p:cNvCxnSpPr/>
              <p:nvPr/>
            </p:nvCxnSpPr>
            <p:spPr>
              <a:xfrm rot="5400000">
                <a:off x="1444064" y="4694113"/>
                <a:ext cx="0" cy="1444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upo 561"/>
            <p:cNvGrpSpPr>
              <a:grpSpLocks/>
            </p:cNvGrpSpPr>
            <p:nvPr/>
          </p:nvGrpSpPr>
          <p:grpSpPr bwMode="auto">
            <a:xfrm>
              <a:off x="1754345" y="3292281"/>
              <a:ext cx="144024" cy="144048"/>
              <a:chOff x="1371836" y="4693332"/>
              <a:chExt cx="144016" cy="144016"/>
            </a:xfrm>
          </p:grpSpPr>
          <p:cxnSp>
            <p:nvCxnSpPr>
              <p:cNvPr id="42" name="Conector reto 41"/>
              <p:cNvCxnSpPr/>
              <p:nvPr/>
            </p:nvCxnSpPr>
            <p:spPr>
              <a:xfrm>
                <a:off x="1444700" y="4693526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/>
              <p:nvPr/>
            </p:nvCxnSpPr>
            <p:spPr>
              <a:xfrm rot="5400000">
                <a:off x="1443906" y="4694308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upo 564"/>
            <p:cNvGrpSpPr>
              <a:grpSpLocks/>
            </p:cNvGrpSpPr>
            <p:nvPr/>
          </p:nvGrpSpPr>
          <p:grpSpPr bwMode="auto">
            <a:xfrm>
              <a:off x="2484487" y="4509041"/>
              <a:ext cx="144024" cy="144048"/>
              <a:chOff x="1371836" y="4693332"/>
              <a:chExt cx="144016" cy="144016"/>
            </a:xfrm>
          </p:grpSpPr>
          <p:cxnSp>
            <p:nvCxnSpPr>
              <p:cNvPr id="40" name="Conector reto 39"/>
              <p:cNvCxnSpPr/>
              <p:nvPr/>
            </p:nvCxnSpPr>
            <p:spPr>
              <a:xfrm>
                <a:off x="1444808" y="4692791"/>
                <a:ext cx="0" cy="1444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 rot="5400000">
                <a:off x="1444014" y="4693573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o 567"/>
            <p:cNvGrpSpPr>
              <a:grpSpLocks/>
            </p:cNvGrpSpPr>
            <p:nvPr/>
          </p:nvGrpSpPr>
          <p:grpSpPr bwMode="auto">
            <a:xfrm>
              <a:off x="3059493" y="3212613"/>
              <a:ext cx="144024" cy="144048"/>
              <a:chOff x="1371836" y="4693332"/>
              <a:chExt cx="144016" cy="144016"/>
            </a:xfrm>
          </p:grpSpPr>
          <p:cxnSp>
            <p:nvCxnSpPr>
              <p:cNvPr id="38" name="Conector reto 37"/>
              <p:cNvCxnSpPr/>
              <p:nvPr/>
            </p:nvCxnSpPr>
            <p:spPr>
              <a:xfrm>
                <a:off x="1444477" y="4693819"/>
                <a:ext cx="0" cy="1428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to 38"/>
              <p:cNvCxnSpPr/>
              <p:nvPr/>
            </p:nvCxnSpPr>
            <p:spPr>
              <a:xfrm rot="5400000">
                <a:off x="1443683" y="4693014"/>
                <a:ext cx="0" cy="144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4" descr=" 6"/>
          <p:cNvGrpSpPr>
            <a:grpSpLocks/>
          </p:cNvGrpSpPr>
          <p:nvPr/>
        </p:nvGrpSpPr>
        <p:grpSpPr bwMode="auto">
          <a:xfrm>
            <a:off x="611560" y="3893885"/>
            <a:ext cx="2668588" cy="2578100"/>
            <a:chOff x="1296" y="912"/>
            <a:chExt cx="1681" cy="1624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912"/>
              <a:ext cx="1194" cy="1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392"/>
              <a:ext cx="1153" cy="1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7" descr=" 9"/>
          <p:cNvGrpSpPr>
            <a:grpSpLocks/>
          </p:cNvGrpSpPr>
          <p:nvPr/>
        </p:nvGrpSpPr>
        <p:grpSpPr bwMode="auto">
          <a:xfrm>
            <a:off x="5958408" y="3876947"/>
            <a:ext cx="2286000" cy="2792413"/>
            <a:chOff x="192" y="960"/>
            <a:chExt cx="1440" cy="1759"/>
          </a:xfrm>
        </p:grpSpPr>
        <p:pic>
          <p:nvPicPr>
            <p:cNvPr id="10" name="Picture 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1198"/>
              <a:ext cx="5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9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872"/>
              <a:ext cx="720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10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960"/>
              <a:ext cx="461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1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1488"/>
              <a:ext cx="624" cy="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2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2160"/>
              <a:ext cx="459" cy="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 descr=" 819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Apresentação</a:t>
            </a:r>
          </a:p>
        </p:txBody>
      </p:sp>
      <p:sp>
        <p:nvSpPr>
          <p:cNvPr id="19459" name="Rectangle 3" descr=" 19459"/>
          <p:cNvSpPr>
            <a:spLocks noGrp="1" noChangeArrowheads="1"/>
          </p:cNvSpPr>
          <p:nvPr>
            <p:ph type="body" idx="1"/>
          </p:nvPr>
        </p:nvSpPr>
        <p:spPr>
          <a:xfrm>
            <a:off x="323528" y="1340768"/>
            <a:ext cx="8458200" cy="2520280"/>
          </a:xfrm>
        </p:spPr>
        <p:txBody>
          <a:bodyPr/>
          <a:lstStyle/>
          <a:p>
            <a:pPr algn="just" eaLnBrk="1" hangingPunct="1">
              <a:buFontTx/>
              <a:buNone/>
            </a:pPr>
            <a:endParaRPr lang="pt-BR" altLang="pt-BR" sz="2000" dirty="0"/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O curso SER-204 tem como objetivo principal apresentar alguns conceitos de estatística fundamentais para o entendimento dos procedimentos estatísticos comumente utilizados em Sensoriamento Remoto e áreas afins. Por se tratar de uma disciplina aplicada, todos os exemplos e exercícios são voltados às questões ligadas ao Sensoriamento Remoto e Geoprocessamento. </a:t>
            </a:r>
          </a:p>
        </p:txBody>
      </p:sp>
      <p:sp>
        <p:nvSpPr>
          <p:cNvPr id="2" name="Espaço Reservado para Número de Slide 1" descr="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3</a:t>
            </a:r>
          </a:p>
        </p:txBody>
      </p:sp>
      <p:sp>
        <p:nvSpPr>
          <p:cNvPr id="78" name="Rectangle 3" descr=" 5"/>
          <p:cNvSpPr txBox="1">
            <a:spLocks noChangeArrowheads="1"/>
          </p:cNvSpPr>
          <p:nvPr/>
        </p:nvSpPr>
        <p:spPr bwMode="auto">
          <a:xfrm>
            <a:off x="323528" y="3890076"/>
            <a:ext cx="8458200" cy="2779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pt-BR" altLang="pt-BR" sz="2000" kern="0" dirty="0">
                <a:solidFill>
                  <a:schemeClr val="tx1">
                    <a:lumMod val="100000"/>
                  </a:schemeClr>
                </a:solidFill>
                <a:latin typeface="Tahoma" panose="020B0604030504040204" pitchFamily="34" charset="0"/>
                <a:cs typeface="Arial" charset="0"/>
              </a:rPr>
              <a:t>Espera-se que o aluno, ao final do curso, consiga compreender, adaptar e desenvolver análises estatísticas apropriadas ao conjunto de dados utilizado em seu trabalho de dissertação e tese.</a:t>
            </a:r>
            <a:endParaRPr lang="pt-BR" altLang="pt-BR" sz="2000" kern="0" dirty="0">
              <a:latin typeface="Tahoma" panose="020B0604030504040204" pitchFamily="34" charset="0"/>
            </a:endParaRPr>
          </a:p>
        </p:txBody>
      </p:sp>
      <p:pic>
        <p:nvPicPr>
          <p:cNvPr id="81" name="Áudio 80">
            <a:hlinkClick r:id="" action="ppaction://media"/>
            <a:extLst>
              <a:ext uri="{FF2B5EF4-FFF2-40B4-BE49-F238E27FC236}">
                <a16:creationId xmlns:a16="http://schemas.microsoft.com/office/drawing/2014/main" id="{B0DE8F5F-567A-BF98-7BE6-8F0B77209FB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3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6879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95">
        <p:cut/>
      </p:transition>
    </mc:Choice>
    <mc:Fallback>
      <p:transition spd="slow" advTm="7495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</p:childTnLst>
        </p:cTn>
      </p:par>
    </p:tnLst>
    <p:bldLst>
      <p:bldP spid="7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Conteúdo Programático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844824"/>
            <a:ext cx="6480720" cy="4176464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pt-BR" altLang="pt-BR" sz="2000" dirty="0"/>
              <a:t>Variáveis Aleatórias e Distribuições de Probabilidade</a:t>
            </a:r>
          </a:p>
          <a:p>
            <a:pPr algn="just" eaLnBrk="1" hangingPunct="1">
              <a:buNone/>
            </a:pPr>
            <a:r>
              <a:rPr lang="pt-BR" altLang="pt-BR" sz="2000" dirty="0"/>
              <a:t>Simulação Estocástica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Conceitos Básicos de Inferência Estatística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Intervalo de Confiança e Teste de Hipóteses</a:t>
            </a:r>
          </a:p>
          <a:p>
            <a:pPr algn="just" eaLnBrk="1" hangingPunct="1">
              <a:buNone/>
            </a:pPr>
            <a:r>
              <a:rPr lang="pt-BR" altLang="pt-BR" sz="2000" dirty="0"/>
              <a:t>Teoria de Amostragem e Técnicas de </a:t>
            </a:r>
            <a:r>
              <a:rPr lang="pt-BR" altLang="pt-BR" sz="2000" dirty="0" err="1"/>
              <a:t>Reamostragem</a:t>
            </a:r>
            <a:endParaRPr lang="pt-BR" altLang="pt-BR" sz="2000" dirty="0"/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Análise de Variância e Regressão 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Componentes Principais</a:t>
            </a:r>
          </a:p>
          <a:p>
            <a:pPr algn="just" eaLnBrk="1" hangingPunct="1">
              <a:buNone/>
            </a:pPr>
            <a:r>
              <a:rPr lang="pt-BR" altLang="pt-BR" sz="2000" dirty="0"/>
              <a:t>Avaliação de Classificação/Modelos</a:t>
            </a:r>
          </a:p>
          <a:p>
            <a:pPr algn="just" eaLnBrk="1" hangingPunct="1">
              <a:buNone/>
            </a:pPr>
            <a:r>
              <a:rPr lang="pt-BR" altLang="pt-BR" sz="2000" dirty="0"/>
              <a:t>Análise de Agrupamento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/>
              <a:t>Estatísticas Não-Paramétricas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4</a:t>
            </a:r>
          </a:p>
        </p:txBody>
      </p:sp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D000FDAB-8734-1D51-1D9A-3F3440C2A5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3"/>
    </mc:Choice>
    <mc:Fallback>
      <p:transition spd="slow" advTm="2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93" x="7029450" y="3954463"/>
          <p14:tracePt t="1301" x="7029450" y="4002088"/>
          <p14:tracePt t="1317" x="7019925" y="3994150"/>
          <p14:tracePt t="1324" x="7019925" y="4002088"/>
          <p14:tracePt t="1335" x="7037388" y="4002088"/>
          <p14:tracePt t="1352" x="8794750" y="4368800"/>
          <p14:tracePt t="1398" x="933450" y="5791200"/>
          <p14:tracePt t="1405" x="1752600" y="5981700"/>
          <p14:tracePt t="1420" x="2400300" y="6140450"/>
          <p14:tracePt t="1436" x="3289300" y="6261100"/>
          <p14:tracePt t="1453" x="3759200" y="6254750"/>
          <p14:tracePt t="1469" x="3797300" y="6254750"/>
          <p14:tracePt t="1487" x="3803650" y="62547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 descr=" 819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Dinâmica do curso</a:t>
            </a:r>
          </a:p>
        </p:txBody>
      </p:sp>
      <p:sp>
        <p:nvSpPr>
          <p:cNvPr id="3075" name="Rectangle 3" descr=" 3075"/>
          <p:cNvSpPr>
            <a:spLocks noGrp="1" noChangeArrowheads="1"/>
          </p:cNvSpPr>
          <p:nvPr>
            <p:ph type="body" idx="1"/>
          </p:nvPr>
        </p:nvSpPr>
        <p:spPr>
          <a:xfrm>
            <a:off x="685800" y="1388368"/>
            <a:ext cx="7772400" cy="4848944"/>
          </a:xfrm>
        </p:spPr>
        <p:txBody>
          <a:bodyPr/>
          <a:lstStyle/>
          <a:p>
            <a:pPr algn="just" eaLnBrk="1" hangingPunct="1">
              <a:buFontTx/>
              <a:buNone/>
              <a:defRPr/>
            </a:pPr>
            <a:r>
              <a:rPr lang="pt-BR" altLang="pt-BR" sz="2000" dirty="0"/>
              <a:t>Aulas:</a:t>
            </a:r>
          </a:p>
          <a:p>
            <a:pPr algn="just" eaLnBrk="1" hangingPunct="1">
              <a:buFontTx/>
              <a:buNone/>
              <a:defRPr/>
            </a:pPr>
            <a:endParaRPr lang="pt-BR" altLang="pt-BR" sz="2000" dirty="0"/>
          </a:p>
          <a:p>
            <a:pPr algn="just" eaLnBrk="1" hangingPunct="1"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Regulares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	</a:t>
            </a: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O material disponibilizado </a:t>
            </a:r>
            <a:r>
              <a:rPr lang="pt-BR" altLang="pt-BR" sz="1600" dirty="0">
                <a:solidFill>
                  <a:srgbClr val="FF0000"/>
                </a:solidFill>
              </a:rPr>
              <a:t>deve ser </a:t>
            </a: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estudado antes da aula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A aula será interativa com perguntas direcionadas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O material disponibilizado será utilizado como apoio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Intervenções durante as aulas para esclarecimento de dúvidas ou 			comentários serão incentivadas</a:t>
            </a:r>
          </a:p>
          <a:p>
            <a:pPr marL="0" indent="0" algn="just" eaLnBrk="1" hangingPunct="1">
              <a:buFontTx/>
              <a:buNone/>
              <a:defRPr/>
            </a:pPr>
            <a:endParaRPr lang="pt-BR" altLang="pt-BR" sz="2000" dirty="0"/>
          </a:p>
          <a:p>
            <a:pPr algn="just" eaLnBrk="1" hangingPunct="1"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“Tira Dúvidas”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	</a:t>
            </a: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Marcadas sempre antes das provas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Serão discutidos assuntos definidos pelos presentes, incluindo-se a 			resolução dos exercícios propostos caso haja interesse</a:t>
            </a:r>
          </a:p>
          <a:p>
            <a:pPr marL="0" indent="0" algn="just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Deverá acontecer preferencialmente no horário regular das aulas</a:t>
            </a:r>
          </a:p>
          <a:p>
            <a:pPr marL="0" indent="0" algn="just" eaLnBrk="1" hangingPunct="1">
              <a:buFontTx/>
              <a:buNone/>
              <a:defRPr/>
            </a:pPr>
            <a:endParaRPr lang="pt-BR" altLang="pt-BR" sz="1600" dirty="0"/>
          </a:p>
        </p:txBody>
      </p:sp>
      <p:sp>
        <p:nvSpPr>
          <p:cNvPr id="2" name="Espaço Reservado para Número de Slide 1" descr="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5</a:t>
            </a:r>
          </a:p>
        </p:txBody>
      </p:sp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16CFF5A2-BEC4-70E1-ECCC-A33817FE0F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83261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3">
        <p:cut/>
      </p:transition>
    </mc:Choice>
    <mc:Fallback>
      <p:transition spd="slow" advTm="433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 descr=" 819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Dinâmica do curso</a:t>
            </a:r>
          </a:p>
        </p:txBody>
      </p:sp>
      <p:sp>
        <p:nvSpPr>
          <p:cNvPr id="3075" name="Rectangle 3" descr=" 3075"/>
          <p:cNvSpPr>
            <a:spLocks noGrp="1" noChangeArrowheads="1"/>
          </p:cNvSpPr>
          <p:nvPr>
            <p:ph type="body" idx="1"/>
          </p:nvPr>
        </p:nvSpPr>
        <p:spPr>
          <a:xfrm>
            <a:off x="685800" y="1700808"/>
            <a:ext cx="7772400" cy="3816424"/>
          </a:xfrm>
        </p:spPr>
        <p:txBody>
          <a:bodyPr/>
          <a:lstStyle/>
          <a:p>
            <a:pPr algn="just" eaLnBrk="1" hangingPunct="1">
              <a:buFontTx/>
              <a:buNone/>
              <a:defRPr/>
            </a:pPr>
            <a:r>
              <a:rPr lang="pt-BR" altLang="pt-BR" sz="2000" dirty="0"/>
              <a:t>Avaliações:</a:t>
            </a:r>
          </a:p>
          <a:p>
            <a:pPr algn="just" eaLnBrk="1" hangingPunct="1">
              <a:buFontTx/>
              <a:buNone/>
              <a:defRPr/>
            </a:pPr>
            <a:endParaRPr lang="pt-BR" altLang="pt-BR" sz="2000" dirty="0"/>
          </a:p>
          <a:p>
            <a:pPr algn="just" eaLnBrk="1" hangingPunct="1"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Exercícios</a:t>
            </a:r>
          </a:p>
          <a:p>
            <a:pPr marL="0" indent="0" algn="just" defTabSz="217488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			Disponibilizados por tema, devendo ser resolvidos em grupos de 3							pessoas e enviadas para camilo.renno@inpe.br em data combinada</a:t>
            </a:r>
          </a:p>
          <a:p>
            <a:pPr marL="0" indent="0" algn="just" defTabSz="217488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			Devem ser entregues no formato </a:t>
            </a:r>
            <a:r>
              <a:rPr lang="pt-BR" altLang="pt-BR" sz="1600" dirty="0">
                <a:solidFill>
                  <a:srgbClr val="FF0000"/>
                </a:solidFill>
              </a:rPr>
              <a:t>PDF editável</a:t>
            </a:r>
          </a:p>
          <a:p>
            <a:pPr marL="0" indent="0" algn="just" defTabSz="217488" eaLnBrk="1" hangingPunct="1">
              <a:buNone/>
              <a:defRPr/>
            </a:pP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					e não serão aceitos arquivos em outros formatos (</a:t>
            </a:r>
            <a:r>
              <a:rPr lang="pt-BR" altLang="pt-BR" sz="1600" dirty="0" err="1">
                <a:solidFill>
                  <a:schemeClr val="tx1">
                    <a:lumMod val="100000"/>
                  </a:schemeClr>
                </a:solidFill>
              </a:rPr>
              <a:t>doc</a:t>
            </a: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, </a:t>
            </a:r>
            <a:r>
              <a:rPr lang="pt-BR" altLang="pt-BR" sz="1600" dirty="0" err="1">
                <a:solidFill>
                  <a:schemeClr val="tx1">
                    <a:lumMod val="100000"/>
                  </a:schemeClr>
                </a:solidFill>
              </a:rPr>
              <a:t>xls</a:t>
            </a: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, </a:t>
            </a:r>
            <a:r>
              <a:rPr lang="pt-BR" altLang="pt-BR" sz="1600" dirty="0" err="1">
                <a:solidFill>
                  <a:schemeClr val="tx1">
                    <a:lumMod val="100000"/>
                  </a:schemeClr>
                </a:solidFill>
              </a:rPr>
              <a:t>etc</a:t>
            </a:r>
            <a:r>
              <a:rPr lang="pt-BR" altLang="pt-BR" sz="1600" dirty="0">
                <a:solidFill>
                  <a:schemeClr val="tx1">
                    <a:lumMod val="100000"/>
                  </a:schemeClr>
                </a:solidFill>
              </a:rPr>
              <a:t>)</a:t>
            </a:r>
          </a:p>
          <a:p>
            <a:pPr marL="0" indent="0" algn="just" defTabSz="900113" eaLnBrk="1" hangingPunct="1">
              <a:buNone/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	</a:t>
            </a:r>
            <a:r>
              <a:rPr lang="pt-BR" altLang="pt-BR" sz="1600" dirty="0"/>
              <a:t>	</a:t>
            </a:r>
          </a:p>
          <a:p>
            <a:pPr algn="just" eaLnBrk="1" hangingPunct="1"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Provas</a:t>
            </a:r>
          </a:p>
          <a:p>
            <a:pPr marL="0" indent="0" algn="just" defTabSz="217488" eaLnBrk="1" hangingPunct="1">
              <a:buNone/>
              <a:defRPr/>
            </a:pPr>
            <a:r>
              <a:rPr lang="pt-BR" altLang="pt-BR" sz="2000" dirty="0">
                <a:solidFill>
                  <a:schemeClr val="tx1">
                    <a:lumMod val="100000"/>
                  </a:schemeClr>
                </a:solidFill>
              </a:rPr>
              <a:t>				</a:t>
            </a:r>
            <a:r>
              <a:rPr lang="pt-BR" altLang="pt-BR" sz="1600" dirty="0">
                <a:solidFill>
                  <a:srgbClr val="000000"/>
                </a:solidFill>
              </a:rPr>
              <a:t>3 provas individuais e não acumulativas</a:t>
            </a:r>
          </a:p>
          <a:p>
            <a:pPr marL="0" indent="0" algn="just" defTabSz="217488" eaLnBrk="1" hangingPunct="1">
              <a:buNone/>
              <a:defRPr/>
            </a:pPr>
            <a:r>
              <a:rPr lang="pt-BR" altLang="pt-BR" sz="1600" dirty="0">
                <a:solidFill>
                  <a:srgbClr val="000000"/>
                </a:solidFill>
              </a:rPr>
              <a:t>				É permitido a consulta a materiais impressos e o uso de calculadoras</a:t>
            </a:r>
          </a:p>
          <a:p>
            <a:pPr marL="0" indent="0" algn="just" defTabSz="217488" eaLnBrk="1" hangingPunct="1">
              <a:buNone/>
              <a:defRPr/>
            </a:pPr>
            <a:r>
              <a:rPr lang="pt-BR" altLang="pt-BR" sz="1600" dirty="0">
                <a:solidFill>
                  <a:srgbClr val="000000"/>
                </a:solidFill>
              </a:rPr>
              <a:t>				Não é permitido o uso de celulares, </a:t>
            </a:r>
            <a:r>
              <a:rPr lang="pt-BR" altLang="pt-BR" sz="1600" dirty="0" err="1">
                <a:solidFill>
                  <a:srgbClr val="000000"/>
                </a:solidFill>
              </a:rPr>
              <a:t>tablets</a:t>
            </a:r>
            <a:r>
              <a:rPr lang="pt-BR" altLang="pt-BR" sz="1600" dirty="0">
                <a:solidFill>
                  <a:srgbClr val="000000"/>
                </a:solidFill>
              </a:rPr>
              <a:t> e computadores</a:t>
            </a:r>
            <a:endParaRPr lang="pt-BR" altLang="pt-BR" sz="2000" dirty="0"/>
          </a:p>
        </p:txBody>
      </p:sp>
      <p:sp>
        <p:nvSpPr>
          <p:cNvPr id="2" name="Espaço Reservado para Número de Slide 1" descr="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6</a:t>
            </a:r>
          </a:p>
        </p:txBody>
      </p:sp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5027E456-2CF7-1AB7-D60D-16D56DB9E7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77254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2">
        <p:cut/>
      </p:transition>
    </mc:Choice>
    <mc:Fallback>
      <p:transition spd="slow" advTm="622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54088" y="3756151"/>
            <a:ext cx="4762714" cy="2913209"/>
          </a:xfrm>
          <a:prstGeom prst="rect">
            <a:avLst/>
          </a:prstGeom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Dinâmica do curso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40768"/>
            <a:ext cx="7772400" cy="2448272"/>
          </a:xfrm>
        </p:spPr>
        <p:txBody>
          <a:bodyPr/>
          <a:lstStyle/>
          <a:p>
            <a:pPr algn="just" eaLnBrk="1" hangingPunct="1">
              <a:buFontTx/>
              <a:buNone/>
              <a:defRPr/>
            </a:pPr>
            <a:r>
              <a:rPr lang="pt-BR" altLang="pt-BR" sz="2000" dirty="0"/>
              <a:t>Nota Final:</a:t>
            </a:r>
          </a:p>
          <a:p>
            <a:pPr algn="just" eaLnBrk="1" hangingPunct="1">
              <a:buFontTx/>
              <a:buNone/>
              <a:defRPr/>
            </a:pPr>
            <a:endParaRPr lang="pt-BR" altLang="pt-BR" sz="1000" dirty="0"/>
          </a:p>
          <a:p>
            <a:pPr marL="174625" indent="-174625" algn="just" eaLnBrk="1" hangingPunct="1">
              <a:buNone/>
              <a:defRPr/>
            </a:pPr>
            <a:r>
              <a:rPr lang="pt-BR" sz="1600" dirty="0"/>
              <a:t>Os alunos serão avaliados através de exercícios referentes a cada tema discutido em aula e 3 provas com consulta (P1, P2 e P3).</a:t>
            </a:r>
          </a:p>
          <a:p>
            <a:pPr marL="174625" indent="-174625" algn="just" eaLnBrk="1" hangingPunct="1">
              <a:buNone/>
              <a:defRPr/>
            </a:pPr>
            <a:r>
              <a:rPr lang="pt-BR" sz="1600" dirty="0"/>
              <a:t>A nota final (NF) será resultado da ponderação entre as notas das provas e a nota média de todos os exercícios (E), dada por:</a:t>
            </a:r>
          </a:p>
          <a:p>
            <a:pPr marL="174625" indent="-174625" algn="ctr" eaLnBrk="1" hangingPunct="1">
              <a:buNone/>
              <a:defRPr/>
            </a:pPr>
            <a:r>
              <a:rPr lang="pt-BR" sz="1600" dirty="0"/>
              <a:t>NF = 0,25P1 + 0,25P2 + 0,25P3 + 0,25E</a:t>
            </a:r>
          </a:p>
          <a:p>
            <a:pPr marL="174625" indent="-174625" algn="just" eaLnBrk="1" hangingPunct="1">
              <a:buNone/>
              <a:defRPr/>
            </a:pPr>
            <a:r>
              <a:rPr lang="pt-BR" sz="1600" dirty="0"/>
              <a:t>NF será posteriormente convertida num conceito segundo a tabela</a:t>
            </a:r>
            <a:r>
              <a:rPr lang="pt-BR" altLang="pt-BR" sz="1600" dirty="0"/>
              <a:t>: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7</a:t>
            </a:r>
          </a:p>
        </p:txBody>
      </p:sp>
      <p:pic>
        <p:nvPicPr>
          <p:cNvPr id="8" name="Áudio 7">
            <a:hlinkClick r:id="" action="ppaction://media"/>
            <a:extLst>
              <a:ext uri="{FF2B5EF4-FFF2-40B4-BE49-F238E27FC236}">
                <a16:creationId xmlns:a16="http://schemas.microsoft.com/office/drawing/2014/main" id="{C116E63C-A925-7AE5-14FF-BE1E92DB89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39123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7"/>
    </mc:Choice>
    <mc:Fallback>
      <p:transition spd="slow" advTm="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213" y="1038225"/>
            <a:ext cx="8010525" cy="4551015"/>
          </a:xfrm>
          <a:prstGeom prst="rect">
            <a:avLst/>
          </a:prstGeom>
        </p:spPr>
      </p:pic>
      <p:sp>
        <p:nvSpPr>
          <p:cNvPr id="7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72564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pt-BR" dirty="0"/>
              <a:t>8</a:t>
            </a:r>
          </a:p>
        </p:txBody>
      </p:sp>
      <p:sp>
        <p:nvSpPr>
          <p:cNvPr id="2" name="Retângulo 1"/>
          <p:cNvSpPr/>
          <p:nvPr/>
        </p:nvSpPr>
        <p:spPr>
          <a:xfrm>
            <a:off x="557213" y="699671"/>
            <a:ext cx="44117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kern="0" dirty="0">
                <a:latin typeface="Arial" panose="020B0604020202020204" pitchFamily="34" charset="0"/>
                <a:cs typeface="Arial" panose="020B0604020202020204" pitchFamily="34" charset="0"/>
              </a:rPr>
              <a:t>http://urlib.net/8JMKD2USNRW34T/4D6DMD2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Áudio 8">
            <a:hlinkClick r:id="" action="ppaction://media"/>
            <a:extLst>
              <a:ext uri="{FF2B5EF4-FFF2-40B4-BE49-F238E27FC236}">
                <a16:creationId xmlns:a16="http://schemas.microsoft.com/office/drawing/2014/main" id="{E3A7E23F-2F3C-AAF2-CA7E-D1FD75B539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56632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5"/>
    </mc:Choice>
    <mc:Fallback>
      <p:transition spd="slow" advTm="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57213" y="350093"/>
            <a:ext cx="8039100" cy="6229350"/>
          </a:xfrm>
          <a:prstGeom prst="rect">
            <a:avLst/>
          </a:prstGeom>
        </p:spPr>
      </p:pic>
      <p:sp>
        <p:nvSpPr>
          <p:cNvPr id="5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7256463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pt-BR" dirty="0"/>
              <a:t>9</a:t>
            </a:r>
          </a:p>
        </p:txBody>
      </p:sp>
      <p:sp>
        <p:nvSpPr>
          <p:cNvPr id="4" name="Elipse 3"/>
          <p:cNvSpPr/>
          <p:nvPr/>
        </p:nvSpPr>
        <p:spPr>
          <a:xfrm>
            <a:off x="2526748" y="1749755"/>
            <a:ext cx="1728192" cy="5700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9" name="Elipse 8"/>
          <p:cNvSpPr/>
          <p:nvPr/>
        </p:nvSpPr>
        <p:spPr>
          <a:xfrm>
            <a:off x="4499992" y="2476527"/>
            <a:ext cx="936104" cy="4484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2555776" y="3645112"/>
            <a:ext cx="2412268" cy="79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843808" y="3133482"/>
            <a:ext cx="2592288" cy="468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18" name="Áudio 17">
            <a:hlinkClick r:id="" action="ppaction://media"/>
            <a:extLst>
              <a:ext uri="{FF2B5EF4-FFF2-40B4-BE49-F238E27FC236}">
                <a16:creationId xmlns:a16="http://schemas.microsoft.com/office/drawing/2014/main" id="{B4D12F94-1633-C5AD-54A8-5B22A2EF6E4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8394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6"/>
    </mc:Choice>
    <mc:Fallback>
      <p:transition spd="slow" advTm="20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6|0.3|0.2"/>
</p:tagLst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18932</TotalTime>
  <Words>527</Words>
  <Application>Microsoft Office PowerPoint</Application>
  <PresentationFormat>Apresentação na tela (4:3)</PresentationFormat>
  <Paragraphs>64</Paragraphs>
  <Slides>9</Slides>
  <Notes>0</Notes>
  <HiddenSlides>0</HiddenSlides>
  <MMClips>9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 Unicode MS</vt:lpstr>
      <vt:lpstr>Arial</vt:lpstr>
      <vt:lpstr>Calibri</vt:lpstr>
      <vt:lpstr>Comic Sans MS</vt:lpstr>
      <vt:lpstr>Tahoma</vt:lpstr>
      <vt:lpstr>Times New Roman</vt:lpstr>
      <vt:lpstr>Estrutura padrão</vt:lpstr>
      <vt:lpstr>Estatística: Aplicação ao Sensoriamento Remoto  SER 204  Apresentação da Disciplina</vt:lpstr>
      <vt:lpstr>Apresentação</vt:lpstr>
      <vt:lpstr>Apresentação</vt:lpstr>
      <vt:lpstr>Conteúdo Programático</vt:lpstr>
      <vt:lpstr>Dinâmica do curso</vt:lpstr>
      <vt:lpstr>Dinâmica do curso</vt:lpstr>
      <vt:lpstr>Dinâmica do curso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Estatística</dc:title>
  <dc:creator>Camilo Daleles Rennó, DPI/INPE</dc:creator>
  <cp:lastModifiedBy>Camilo Daleles Rennó</cp:lastModifiedBy>
  <cp:revision>956</cp:revision>
  <dcterms:created xsi:type="dcterms:W3CDTF">2003-03-18T00:57:51Z</dcterms:created>
  <dcterms:modified xsi:type="dcterms:W3CDTF">2025-06-09T13:00:57Z</dcterms:modified>
</cp:coreProperties>
</file>