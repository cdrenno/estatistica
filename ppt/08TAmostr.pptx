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0"/>
  </p:notesMasterIdLst>
  <p:handoutMasterIdLst>
    <p:handoutMasterId r:id="rId51"/>
  </p:handoutMasterIdLst>
  <p:sldIdLst>
    <p:sldId id="340" r:id="rId2"/>
    <p:sldId id="319" r:id="rId3"/>
    <p:sldId id="320" r:id="rId4"/>
    <p:sldId id="322" r:id="rId5"/>
    <p:sldId id="312" r:id="rId6"/>
    <p:sldId id="330" r:id="rId7"/>
    <p:sldId id="359" r:id="rId8"/>
    <p:sldId id="361" r:id="rId9"/>
    <p:sldId id="301" r:id="rId10"/>
    <p:sldId id="349" r:id="rId11"/>
    <p:sldId id="348" r:id="rId12"/>
    <p:sldId id="350" r:id="rId13"/>
    <p:sldId id="351" r:id="rId14"/>
    <p:sldId id="295" r:id="rId15"/>
    <p:sldId id="354" r:id="rId16"/>
    <p:sldId id="363" r:id="rId17"/>
    <p:sldId id="352" r:id="rId18"/>
    <p:sldId id="313" r:id="rId19"/>
    <p:sldId id="358" r:id="rId20"/>
    <p:sldId id="296" r:id="rId21"/>
    <p:sldId id="341" r:id="rId22"/>
    <p:sldId id="342" r:id="rId23"/>
    <p:sldId id="370" r:id="rId24"/>
    <p:sldId id="343" r:id="rId25"/>
    <p:sldId id="344" r:id="rId26"/>
    <p:sldId id="362" r:id="rId27"/>
    <p:sldId id="388" r:id="rId28"/>
    <p:sldId id="368" r:id="rId29"/>
    <p:sldId id="369" r:id="rId30"/>
    <p:sldId id="364" r:id="rId31"/>
    <p:sldId id="366" r:id="rId32"/>
    <p:sldId id="389" r:id="rId33"/>
    <p:sldId id="373" r:id="rId34"/>
    <p:sldId id="378" r:id="rId35"/>
    <p:sldId id="380" r:id="rId36"/>
    <p:sldId id="397" r:id="rId37"/>
    <p:sldId id="384" r:id="rId38"/>
    <p:sldId id="385" r:id="rId39"/>
    <p:sldId id="382" r:id="rId40"/>
    <p:sldId id="374" r:id="rId41"/>
    <p:sldId id="375" r:id="rId42"/>
    <p:sldId id="376" r:id="rId43"/>
    <p:sldId id="377" r:id="rId44"/>
    <p:sldId id="387" r:id="rId45"/>
    <p:sldId id="399" r:id="rId46"/>
    <p:sldId id="392" r:id="rId47"/>
    <p:sldId id="371" r:id="rId48"/>
    <p:sldId id="396" r:id="rId49"/>
  </p:sldIdLst>
  <p:sldSz cx="9144000" cy="6858000" type="screen4x3"/>
  <p:notesSz cx="9926638" cy="6797675"/>
  <p:defaultTextStyle>
    <a:defPPr>
      <a:defRPr lang="pt-BR"/>
    </a:defPPr>
    <a:lvl1pPr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1pPr>
    <a:lvl2pPr marL="4572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2pPr>
    <a:lvl3pPr marL="9144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3pPr>
    <a:lvl4pPr marL="13716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4pPr>
    <a:lvl5pPr marL="18288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0000"/>
    <a:srgbClr val="05C70A"/>
    <a:srgbClr val="B36B01"/>
    <a:srgbClr val="A06002"/>
    <a:srgbClr val="FEDBA8"/>
    <a:srgbClr val="6C3900"/>
    <a:srgbClr val="EAEAEA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5C43E0-72B7-498A-865A-60B872F6E687}" v="2" dt="2026-05-18T17:18:00.9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1" autoAdjust="0"/>
    <p:restoredTop sz="94714" autoAdjust="0"/>
  </p:normalViewPr>
  <p:slideViewPr>
    <p:cSldViewPr>
      <p:cViewPr varScale="1">
        <p:scale>
          <a:sx n="70" d="100"/>
          <a:sy n="70" d="100"/>
        </p:scale>
        <p:origin x="1482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2F84B5F6-56BC-4922-A3EF-887C69771227}"/>
    <pc:docChg chg="custSel modSld">
      <pc:chgData name="Camilo Daleles Rennó" userId="eac9aab033b2f962" providerId="LiveId" clId="{2F84B5F6-56BC-4922-A3EF-887C69771227}" dt="2026-05-18T17:18:05.159" v="4" actId="120"/>
      <pc:docMkLst>
        <pc:docMk/>
      </pc:docMkLst>
      <pc:sldChg chg="addSp delSp modSp mod">
        <pc:chgData name="Camilo Daleles Rennó" userId="eac9aab033b2f962" providerId="LiveId" clId="{2F84B5F6-56BC-4922-A3EF-887C69771227}" dt="2026-05-18T17:18:05.159" v="4" actId="120"/>
        <pc:sldMkLst>
          <pc:docMk/>
          <pc:sldMk cId="0" sldId="340"/>
        </pc:sldMkLst>
        <pc:spChg chg="del">
          <ac:chgData name="Camilo Daleles Rennó" userId="eac9aab033b2f962" providerId="LiveId" clId="{2F84B5F6-56BC-4922-A3EF-887C69771227}" dt="2026-05-18T17:17:42.447" v="0" actId="478"/>
          <ac:spMkLst>
            <pc:docMk/>
            <pc:sldMk cId="0" sldId="340"/>
            <ac:spMk id="2" creationId="{CBBFC444-70E0-8B50-B9B0-7604850B2BDA}"/>
          </ac:spMkLst>
        </pc:spChg>
        <pc:spChg chg="add del mod">
          <ac:chgData name="Camilo Daleles Rennó" userId="eac9aab033b2f962" providerId="LiveId" clId="{2F84B5F6-56BC-4922-A3EF-887C69771227}" dt="2026-05-18T17:17:48.211" v="2" actId="478"/>
          <ac:spMkLst>
            <pc:docMk/>
            <pc:sldMk cId="0" sldId="340"/>
            <ac:spMk id="4" creationId="{73F3B767-39C0-E3FC-4327-F7644C151079}"/>
          </ac:spMkLst>
        </pc:spChg>
        <pc:spChg chg="add mod">
          <ac:chgData name="Camilo Daleles Rennó" userId="eac9aab033b2f962" providerId="LiveId" clId="{2F84B5F6-56BC-4922-A3EF-887C69771227}" dt="2026-05-18T17:18:05.159" v="4" actId="120"/>
          <ac:spMkLst>
            <pc:docMk/>
            <pc:sldMk cId="0" sldId="340"/>
            <ac:spMk id="5" creationId="{F7CC9A0C-6C12-3325-FDBA-B5F618588B6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625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5621696" y="0"/>
            <a:ext cx="4302625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BE4622-DE63-472B-88BE-97D518348F90}" type="datetimeFigureOut">
              <a:rPr lang="pt-BR" smtClean="0">
                <a:latin typeface="Tahoma" panose="020B0604030504040204" pitchFamily="34" charset="0"/>
              </a:rPr>
              <a:t>18/05/2026</a:t>
            </a:fld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6456324"/>
            <a:ext cx="4302625" cy="3402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5621696" y="6456324"/>
            <a:ext cx="4302625" cy="3402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6EECF-B3A6-497C-92B6-252C9D79BD51}" type="slidenum">
              <a:rPr lang="pt-BR" smtClean="0">
                <a:latin typeface="Tahoma" panose="020B0604030504040204" pitchFamily="34" charset="0"/>
              </a:rPr>
              <a:t>‹nº›</a:t>
            </a:fld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8803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5622799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6B5AA9A9-2589-4F29-A036-8CAC5B4695EA}" type="datetimeFigureOut">
              <a:rPr lang="pt-BR" smtClean="0"/>
              <a:pPr>
                <a:defRPr/>
              </a:pPr>
              <a:t>18/05/2026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263900" y="509588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992665" y="3228896"/>
            <a:ext cx="794131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6456611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5622799" y="6456611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A0CEF028-E39E-44E0-8F5E-0463B6600306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7809650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589A92A-0CE4-4EE0-8B46-23C868F66D4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8278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A3E1BBE9-3DFC-40D5-9183-E3B7E7A367B8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16570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6BD737-0EF4-4231-BF81-1B2FC03315B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622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D158F4-18D4-4258-B297-31011331561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969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6839CF7-F2A0-4C4E-9DFD-C1BD8A5EB60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8550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7A0979-0658-4A84-AA36-27EA795B1A0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0856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E6A2BEA-D6A5-45F7-86A4-918FF24F752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070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79F5B31-9805-4CC1-890B-820E7CF24DF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9268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18A4E1D-A849-4632-941E-9AD2D2E4111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219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CBB1E6A-C252-4919-901A-6F06D56956F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6511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C1A21D4-DAB8-4926-8F0A-CABC092CC9A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1275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fld id="{381264BF-B91A-4E6B-8874-AF6A797AF1B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13" Type="http://schemas.openxmlformats.org/officeDocument/2006/relationships/oleObject" Target="../embeddings/oleObject6.bin"/><Relationship Id="rId18" Type="http://schemas.openxmlformats.org/officeDocument/2006/relationships/image" Target="../media/image16.wmf"/><Relationship Id="rId3" Type="http://schemas.openxmlformats.org/officeDocument/2006/relationships/image" Target="../media/image8.wmf"/><Relationship Id="rId7" Type="http://schemas.openxmlformats.org/officeDocument/2006/relationships/oleObject" Target="../embeddings/oleObject3.bin"/><Relationship Id="rId12" Type="http://schemas.openxmlformats.org/officeDocument/2006/relationships/image" Target="../media/image13.wmf"/><Relationship Id="rId17" Type="http://schemas.openxmlformats.org/officeDocument/2006/relationships/oleObject" Target="../embeddings/oleObject8.bin"/><Relationship Id="rId2" Type="http://schemas.openxmlformats.org/officeDocument/2006/relationships/oleObject" Target="../embeddings/oleObject1.bin"/><Relationship Id="rId16" Type="http://schemas.openxmlformats.org/officeDocument/2006/relationships/image" Target="../media/image15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11" Type="http://schemas.openxmlformats.org/officeDocument/2006/relationships/oleObject" Target="../embeddings/oleObject5.bin"/><Relationship Id="rId5" Type="http://schemas.openxmlformats.org/officeDocument/2006/relationships/image" Target="../media/image9.wmf"/><Relationship Id="rId15" Type="http://schemas.openxmlformats.org/officeDocument/2006/relationships/oleObject" Target="../embeddings/oleObject7.bin"/><Relationship Id="rId10" Type="http://schemas.openxmlformats.org/officeDocument/2006/relationships/image" Target="../media/image12.wmf"/><Relationship Id="rId4" Type="http://schemas.openxmlformats.org/officeDocument/2006/relationships/oleObject" Target="../embeddings/oleObject2.bin"/><Relationship Id="rId9" Type="http://schemas.openxmlformats.org/officeDocument/2006/relationships/oleObject" Target="../embeddings/oleObject4.bin"/><Relationship Id="rId14" Type="http://schemas.openxmlformats.org/officeDocument/2006/relationships/image" Target="../media/image14.w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wmf"/><Relationship Id="rId13" Type="http://schemas.openxmlformats.org/officeDocument/2006/relationships/oleObject" Target="../embeddings/oleObject14.bin"/><Relationship Id="rId18" Type="http://schemas.openxmlformats.org/officeDocument/2006/relationships/image" Target="../media/image21.wmf"/><Relationship Id="rId3" Type="http://schemas.openxmlformats.org/officeDocument/2006/relationships/image" Target="../media/image17.wmf"/><Relationship Id="rId7" Type="http://schemas.openxmlformats.org/officeDocument/2006/relationships/oleObject" Target="../embeddings/oleObject11.bin"/><Relationship Id="rId12" Type="http://schemas.openxmlformats.org/officeDocument/2006/relationships/image" Target="../media/image13.wmf"/><Relationship Id="rId17" Type="http://schemas.openxmlformats.org/officeDocument/2006/relationships/oleObject" Target="../embeddings/oleObject16.bin"/><Relationship Id="rId2" Type="http://schemas.openxmlformats.org/officeDocument/2006/relationships/oleObject" Target="../embeddings/oleObject9.bin"/><Relationship Id="rId16" Type="http://schemas.openxmlformats.org/officeDocument/2006/relationships/image" Target="../media/image20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11" Type="http://schemas.openxmlformats.org/officeDocument/2006/relationships/oleObject" Target="../embeddings/oleObject13.bin"/><Relationship Id="rId5" Type="http://schemas.openxmlformats.org/officeDocument/2006/relationships/image" Target="../media/image18.wmf"/><Relationship Id="rId15" Type="http://schemas.openxmlformats.org/officeDocument/2006/relationships/oleObject" Target="../embeddings/oleObject15.bin"/><Relationship Id="rId10" Type="http://schemas.openxmlformats.org/officeDocument/2006/relationships/image" Target="../media/image12.wmf"/><Relationship Id="rId19" Type="http://schemas.openxmlformats.org/officeDocument/2006/relationships/image" Target="../media/image22.png"/><Relationship Id="rId4" Type="http://schemas.openxmlformats.org/officeDocument/2006/relationships/oleObject" Target="../embeddings/oleObject10.bin"/><Relationship Id="rId9" Type="http://schemas.openxmlformats.org/officeDocument/2006/relationships/oleObject" Target="../embeddings/oleObject12.bin"/><Relationship Id="rId14" Type="http://schemas.openxmlformats.org/officeDocument/2006/relationships/image" Target="../media/image14.w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7" Type="http://schemas.openxmlformats.org/officeDocument/2006/relationships/image" Target="../media/image24.wmf"/><Relationship Id="rId2" Type="http://schemas.openxmlformats.org/officeDocument/2006/relationships/oleObject" Target="../embeddings/oleObject1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9.bin"/><Relationship Id="rId5" Type="http://schemas.openxmlformats.org/officeDocument/2006/relationships/image" Target="../media/image23.wmf"/><Relationship Id="rId4" Type="http://schemas.openxmlformats.org/officeDocument/2006/relationships/oleObject" Target="../embeddings/oleObject18.bin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7" Type="http://schemas.openxmlformats.org/officeDocument/2006/relationships/image" Target="../media/image27.wmf"/><Relationship Id="rId2" Type="http://schemas.openxmlformats.org/officeDocument/2006/relationships/oleObject" Target="../embeddings/oleObject2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2.bin"/><Relationship Id="rId5" Type="http://schemas.openxmlformats.org/officeDocument/2006/relationships/image" Target="../media/image26.wmf"/><Relationship Id="rId4" Type="http://schemas.openxmlformats.org/officeDocument/2006/relationships/oleObject" Target="../embeddings/oleObject21.bin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5.bin"/><Relationship Id="rId5" Type="http://schemas.openxmlformats.org/officeDocument/2006/relationships/image" Target="../media/image29.wmf"/><Relationship Id="rId4" Type="http://schemas.openxmlformats.org/officeDocument/2006/relationships/oleObject" Target="../embeddings/oleObject24.bin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13" Type="http://schemas.openxmlformats.org/officeDocument/2006/relationships/oleObject" Target="../embeddings/oleObject31.bin"/><Relationship Id="rId18" Type="http://schemas.openxmlformats.org/officeDocument/2006/relationships/image" Target="../media/image37.wmf"/><Relationship Id="rId3" Type="http://schemas.openxmlformats.org/officeDocument/2006/relationships/oleObject" Target="../embeddings/oleObject26.bin"/><Relationship Id="rId7" Type="http://schemas.openxmlformats.org/officeDocument/2006/relationships/oleObject" Target="../embeddings/oleObject28.bin"/><Relationship Id="rId12" Type="http://schemas.openxmlformats.org/officeDocument/2006/relationships/image" Target="../media/image34.wmf"/><Relationship Id="rId17" Type="http://schemas.openxmlformats.org/officeDocument/2006/relationships/oleObject" Target="../embeddings/oleObject33.bin"/><Relationship Id="rId2" Type="http://schemas.openxmlformats.org/officeDocument/2006/relationships/image" Target="../media/image10.wmf"/><Relationship Id="rId16" Type="http://schemas.openxmlformats.org/officeDocument/2006/relationships/image" Target="../media/image3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wmf"/><Relationship Id="rId11" Type="http://schemas.openxmlformats.org/officeDocument/2006/relationships/oleObject" Target="../embeddings/oleObject30.bin"/><Relationship Id="rId5" Type="http://schemas.openxmlformats.org/officeDocument/2006/relationships/oleObject" Target="../embeddings/oleObject27.bin"/><Relationship Id="rId15" Type="http://schemas.openxmlformats.org/officeDocument/2006/relationships/oleObject" Target="../embeddings/oleObject32.bin"/><Relationship Id="rId10" Type="http://schemas.openxmlformats.org/officeDocument/2006/relationships/image" Target="../media/image33.wmf"/><Relationship Id="rId4" Type="http://schemas.openxmlformats.org/officeDocument/2006/relationships/image" Target="../media/image31.wmf"/><Relationship Id="rId9" Type="http://schemas.openxmlformats.org/officeDocument/2006/relationships/oleObject" Target="../embeddings/oleObject29.bin"/><Relationship Id="rId14" Type="http://schemas.openxmlformats.org/officeDocument/2006/relationships/image" Target="../media/image35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0.png"/><Relationship Id="rId3" Type="http://schemas.openxmlformats.org/officeDocument/2006/relationships/image" Target="../media/image40.png"/><Relationship Id="rId7" Type="http://schemas.openxmlformats.org/officeDocument/2006/relationships/image" Target="../media/image45.png"/><Relationship Id="rId12" Type="http://schemas.openxmlformats.org/officeDocument/2006/relationships/image" Target="../media/image38.emf"/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48.png"/><Relationship Id="rId5" Type="http://schemas.openxmlformats.org/officeDocument/2006/relationships/image" Target="../media/image43.png"/><Relationship Id="rId10" Type="http://schemas.openxmlformats.org/officeDocument/2006/relationships/image" Target="../media/image44.png"/><Relationship Id="rId4" Type="http://schemas.openxmlformats.org/officeDocument/2006/relationships/image" Target="../media/image41.png"/><Relationship Id="rId9" Type="http://schemas.openxmlformats.org/officeDocument/2006/relationships/image" Target="../media/image47.png"/><Relationship Id="rId14" Type="http://schemas.openxmlformats.org/officeDocument/2006/relationships/image" Target="../media/image49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7.bin"/><Relationship Id="rId3" Type="http://schemas.openxmlformats.org/officeDocument/2006/relationships/image" Target="../media/image53.wmf"/><Relationship Id="rId7" Type="http://schemas.openxmlformats.org/officeDocument/2006/relationships/image" Target="../media/image55.wmf"/><Relationship Id="rId2" Type="http://schemas.openxmlformats.org/officeDocument/2006/relationships/oleObject" Target="../embeddings/oleObject34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36.bin"/><Relationship Id="rId11" Type="http://schemas.openxmlformats.org/officeDocument/2006/relationships/image" Target="../media/image57.wmf"/><Relationship Id="rId5" Type="http://schemas.openxmlformats.org/officeDocument/2006/relationships/image" Target="../media/image54.wmf"/><Relationship Id="rId10" Type="http://schemas.openxmlformats.org/officeDocument/2006/relationships/oleObject" Target="../embeddings/oleObject38.bin"/><Relationship Id="rId4" Type="http://schemas.openxmlformats.org/officeDocument/2006/relationships/oleObject" Target="../embeddings/oleObject35.bin"/><Relationship Id="rId9" Type="http://schemas.openxmlformats.org/officeDocument/2006/relationships/image" Target="../media/image56.wmf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Teoria da amostragem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64DF7F95-F49B-9E7A-D64A-ABFB2761B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E1BBE9-3DFC-40D5-9183-E3B7E7A367B8}" type="slidenum">
              <a:rPr lang="pt-BR" smtClean="0"/>
              <a:pPr>
                <a:defRPr/>
              </a:pPr>
              <a:t>1</a:t>
            </a:fld>
            <a:endParaRPr lang="pt-BR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7CC9A0C-6C12-3325-FDBA-B5F618588B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920" y="5903913"/>
            <a:ext cx="506348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</a:rPr>
              <a:t>https://cdrenno.github.io/Estatistica/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Algumas Considerações...</a:t>
            </a:r>
          </a:p>
        </p:txBody>
      </p:sp>
      <p:sp>
        <p:nvSpPr>
          <p:cNvPr id="89" name="Text Box 28"/>
          <p:cNvSpPr txBox="1">
            <a:spLocks noChangeArrowheads="1"/>
          </p:cNvSpPr>
          <p:nvPr/>
        </p:nvSpPr>
        <p:spPr bwMode="auto">
          <a:xfrm>
            <a:off x="676275" y="1628775"/>
            <a:ext cx="7856538" cy="4154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importante ter consciência de que dominar as técnicas estatísticas não é suficiente para garantir o sucesso de uma análise, ou seja, conseguir chegar a conclusões “interessantes”.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 forma geral, para que as análises estatísticas sejam válidas, as amostras devem representar a população, ou seja, a menos que discrepâncias ocorram devido ao acaso, as amostras devem reproduzir as mesmas características da população considerando a variável estudada.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fundamental que as amostras sejam obtidas por processos adequados de modo a evitar que erros grosseiros possam comprometer a análise dos dados.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2F8D3F9-C757-4E1C-9349-2716DF0E5408}" type="slidenum">
              <a:rPr lang="pt-BR"/>
              <a:pPr>
                <a:defRPr/>
              </a:pPr>
              <a:t>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 build="p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Algumas Considerações...</a:t>
            </a:r>
          </a:p>
        </p:txBody>
      </p:sp>
      <p:sp>
        <p:nvSpPr>
          <p:cNvPr id="89" name="Text Box 28"/>
          <p:cNvSpPr txBox="1">
            <a:spLocks noChangeArrowheads="1"/>
          </p:cNvSpPr>
          <p:nvPr/>
        </p:nvSpPr>
        <p:spPr bwMode="auto">
          <a:xfrm>
            <a:off x="676275" y="1528525"/>
            <a:ext cx="7856538" cy="4474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muitos casos, é bastante tentador que as observações mais convenientes sejam as selecionadas para compor uma amostra ou então aplicar algum tipo de critério (ou julgamento) no momento dessa seleção.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Nesses casos, pode-se introduzir algum tipo de tendência que poderá causar uma super ou subestimativa dos parâmetros de interesse. A identificação (e descrição) desta tendência pode ser difícil (ou impossível) de ser feita após a coleta dessas amostras.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Algumas vezes, há sim um propósito explícito na escolha da amostra com o objetivo de se escolher poucas amostras representativas da população.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entanto, de modo geral, a seleção das amostras é feita através de algum processo aleatório, de modo que qualquer elemento da população tenha igual chance de ser escolhido para compor a amostra.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412409-51F3-43F3-947A-54A0C71FBA00}" type="slidenum">
              <a:rPr lang="pt-BR"/>
              <a:pPr>
                <a:defRPr/>
              </a:pPr>
              <a:t>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 build="p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Censo ou Amostragem?</a:t>
            </a:r>
          </a:p>
        </p:txBody>
      </p:sp>
      <p:sp>
        <p:nvSpPr>
          <p:cNvPr id="107558" name="Text Box 38"/>
          <p:cNvSpPr txBox="1">
            <a:spLocks noChangeArrowheads="1"/>
          </p:cNvSpPr>
          <p:nvPr/>
        </p:nvSpPr>
        <p:spPr bwMode="auto">
          <a:xfrm>
            <a:off x="357188" y="1643063"/>
            <a:ext cx="85725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que fazer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Censo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população é pequena ou amostragem “ideal” é quase tão grande quanto a população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necessita-se de uma precisão completa (não é permitido nenhum erro)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os dados de toda população já se encontram disponíveis</a:t>
            </a:r>
            <a:endParaRPr lang="pt-BR" altLang="pt-BR" sz="1600" dirty="0">
              <a:solidFill>
                <a:schemeClr val="accent2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que fazer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população é infinita (ou muito grande)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os custos de obtenção das medidas são elevados (análises muito caras)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 tempo para caracterização da população é muito longo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deseja-se aumentar a representatividade, amostrando-se diferentes populações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necessita-se melhorar a precisão das medidas (mais cuidado na obtenção dos dados)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obtenção das medidas requer a destruição das amostras (p. </a:t>
            </a:r>
            <a:r>
              <a:rPr lang="pt-BR" altLang="pt-BR" sz="1600" dirty="0" err="1">
                <a:latin typeface="Tahoma" panose="020B0604030504040204" pitchFamily="34" charset="0"/>
              </a:rPr>
              <a:t>ex</a:t>
            </a:r>
            <a:r>
              <a:rPr lang="pt-BR" altLang="pt-BR" sz="1600" dirty="0">
                <a:latin typeface="Tahoma" panose="020B0604030504040204" pitchFamily="34" charset="0"/>
              </a:rPr>
              <a:t>: biomassa)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A61DD6-CAD8-4162-97A0-D359D0C4FBC1}" type="slidenum">
              <a:rPr lang="pt-BR"/>
              <a:pPr>
                <a:defRPr/>
              </a:pPr>
              <a:t>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558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Amostragem</a:t>
            </a:r>
          </a:p>
        </p:txBody>
      </p:sp>
      <p:sp>
        <p:nvSpPr>
          <p:cNvPr id="89" name="Text Box 28"/>
          <p:cNvSpPr txBox="1">
            <a:spLocks noChangeArrowheads="1"/>
          </p:cNvSpPr>
          <p:nvPr/>
        </p:nvSpPr>
        <p:spPr bwMode="auto">
          <a:xfrm>
            <a:off x="3059832" y="1916113"/>
            <a:ext cx="5976490" cy="42780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Toda amostragem requer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planejamento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a) O que quero caracterizar neste estudo?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algum parâmetro específico (média, variância,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),</a:t>
            </a:r>
          </a:p>
          <a:p>
            <a:pPr defTabSz="355600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distribuição espacial e/ou variação temporal é importante?</a:t>
            </a:r>
          </a:p>
          <a:p>
            <a:pPr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b) Qual é a unidade amostral apropriada para o estudo?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quem é o elemento da população (unidade amostral)?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pt-BR" sz="1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c) Como estas amostras devem ser coletadas?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há variabilidade espacial e temporal?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quais fatores podem influenciar nos resultados?</a:t>
            </a:r>
          </a:p>
          <a:p>
            <a:pPr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d) Quantas amostras são necessárias?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qual é a precisão exigida?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quanto tempo e recurso disponho?</a:t>
            </a:r>
          </a:p>
          <a:p>
            <a:pPr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7172" name="Grupo 102"/>
          <p:cNvGrpSpPr>
            <a:grpSpLocks/>
          </p:cNvGrpSpPr>
          <p:nvPr/>
        </p:nvGrpSpPr>
        <p:grpSpPr bwMode="auto">
          <a:xfrm>
            <a:off x="557213" y="2636838"/>
            <a:ext cx="2500312" cy="2143125"/>
            <a:chOff x="557402" y="2571744"/>
            <a:chExt cx="2500330" cy="2143140"/>
          </a:xfrm>
        </p:grpSpPr>
        <p:sp>
          <p:nvSpPr>
            <p:cNvPr id="7174" name="Paralelogramo 91"/>
            <p:cNvSpPr>
              <a:spLocks noChangeArrowheads="1"/>
            </p:cNvSpPr>
            <p:nvPr/>
          </p:nvSpPr>
          <p:spPr bwMode="auto">
            <a:xfrm>
              <a:off x="557402" y="3286124"/>
              <a:ext cx="2500330" cy="1428760"/>
            </a:xfrm>
            <a:prstGeom prst="parallelogram">
              <a:avLst>
                <a:gd name="adj" fmla="val 60237"/>
              </a:avLst>
            </a:prstGeom>
            <a:solidFill>
              <a:srgbClr val="A06002">
                <a:alpha val="65881"/>
              </a:srgb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grpSp>
          <p:nvGrpSpPr>
            <p:cNvPr id="7175" name="Group 88"/>
            <p:cNvGrpSpPr>
              <a:grpSpLocks/>
            </p:cNvGrpSpPr>
            <p:nvPr/>
          </p:nvGrpSpPr>
          <p:grpSpPr bwMode="auto">
            <a:xfrm>
              <a:off x="1968114" y="2571744"/>
              <a:ext cx="559210" cy="1000132"/>
              <a:chOff x="3984" y="1056"/>
              <a:chExt cx="583" cy="893"/>
            </a:xfrm>
          </p:grpSpPr>
          <p:sp>
            <p:nvSpPr>
              <p:cNvPr id="7212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13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76" name="Group 88"/>
            <p:cNvGrpSpPr>
              <a:grpSpLocks/>
            </p:cNvGrpSpPr>
            <p:nvPr/>
          </p:nvGrpSpPr>
          <p:grpSpPr bwMode="auto">
            <a:xfrm>
              <a:off x="1027126" y="2643182"/>
              <a:ext cx="773524" cy="1000132"/>
              <a:chOff x="3984" y="1056"/>
              <a:chExt cx="583" cy="893"/>
            </a:xfrm>
          </p:grpSpPr>
          <p:sp>
            <p:nvSpPr>
              <p:cNvPr id="7210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11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77" name="Group 88"/>
            <p:cNvGrpSpPr>
              <a:grpSpLocks/>
            </p:cNvGrpSpPr>
            <p:nvPr/>
          </p:nvGrpSpPr>
          <p:grpSpPr bwMode="auto">
            <a:xfrm>
              <a:off x="1682362" y="2714620"/>
              <a:ext cx="559210" cy="1428760"/>
              <a:chOff x="3984" y="1056"/>
              <a:chExt cx="583" cy="893"/>
            </a:xfrm>
          </p:grpSpPr>
          <p:sp>
            <p:nvSpPr>
              <p:cNvPr id="7208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09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78" name="Group 88"/>
            <p:cNvGrpSpPr>
              <a:grpSpLocks/>
            </p:cNvGrpSpPr>
            <p:nvPr/>
          </p:nvGrpSpPr>
          <p:grpSpPr bwMode="auto">
            <a:xfrm>
              <a:off x="1241440" y="3214686"/>
              <a:ext cx="559210" cy="1000132"/>
              <a:chOff x="3984" y="1056"/>
              <a:chExt cx="583" cy="893"/>
            </a:xfrm>
          </p:grpSpPr>
          <p:sp>
            <p:nvSpPr>
              <p:cNvPr id="7206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07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79" name="Group 88"/>
            <p:cNvGrpSpPr>
              <a:grpSpLocks/>
            </p:cNvGrpSpPr>
            <p:nvPr/>
          </p:nvGrpSpPr>
          <p:grpSpPr bwMode="auto">
            <a:xfrm>
              <a:off x="2313010" y="3071810"/>
              <a:ext cx="285752" cy="928694"/>
              <a:chOff x="3984" y="1056"/>
              <a:chExt cx="583" cy="893"/>
            </a:xfrm>
          </p:grpSpPr>
          <p:sp>
            <p:nvSpPr>
              <p:cNvPr id="7204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05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0" name="Group 88"/>
            <p:cNvGrpSpPr>
              <a:grpSpLocks/>
            </p:cNvGrpSpPr>
            <p:nvPr/>
          </p:nvGrpSpPr>
          <p:grpSpPr bwMode="auto">
            <a:xfrm>
              <a:off x="1598630" y="3357562"/>
              <a:ext cx="559210" cy="1000132"/>
              <a:chOff x="3984" y="1056"/>
              <a:chExt cx="583" cy="893"/>
            </a:xfrm>
          </p:grpSpPr>
          <p:sp>
            <p:nvSpPr>
              <p:cNvPr id="7202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03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1" name="Group 88"/>
            <p:cNvGrpSpPr>
              <a:grpSpLocks/>
            </p:cNvGrpSpPr>
            <p:nvPr/>
          </p:nvGrpSpPr>
          <p:grpSpPr bwMode="auto">
            <a:xfrm>
              <a:off x="955688" y="2857496"/>
              <a:ext cx="416334" cy="1143008"/>
              <a:chOff x="3984" y="1056"/>
              <a:chExt cx="583" cy="893"/>
            </a:xfrm>
          </p:grpSpPr>
          <p:sp>
            <p:nvSpPr>
              <p:cNvPr id="7200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01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2" name="Group 88"/>
            <p:cNvGrpSpPr>
              <a:grpSpLocks/>
            </p:cNvGrpSpPr>
            <p:nvPr/>
          </p:nvGrpSpPr>
          <p:grpSpPr bwMode="auto">
            <a:xfrm>
              <a:off x="1027126" y="3429000"/>
              <a:ext cx="559210" cy="1000132"/>
              <a:chOff x="3984" y="1056"/>
              <a:chExt cx="583" cy="893"/>
            </a:xfrm>
          </p:grpSpPr>
          <p:sp>
            <p:nvSpPr>
              <p:cNvPr id="7198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9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3" name="Group 88"/>
            <p:cNvGrpSpPr>
              <a:grpSpLocks/>
            </p:cNvGrpSpPr>
            <p:nvPr/>
          </p:nvGrpSpPr>
          <p:grpSpPr bwMode="auto">
            <a:xfrm>
              <a:off x="1437014" y="3786197"/>
              <a:ext cx="447368" cy="800106"/>
              <a:chOff x="3984" y="1056"/>
              <a:chExt cx="583" cy="893"/>
            </a:xfrm>
          </p:grpSpPr>
          <p:sp>
            <p:nvSpPr>
              <p:cNvPr id="7196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7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4" name="Group 88"/>
            <p:cNvGrpSpPr>
              <a:grpSpLocks/>
            </p:cNvGrpSpPr>
            <p:nvPr/>
          </p:nvGrpSpPr>
          <p:grpSpPr bwMode="auto">
            <a:xfrm>
              <a:off x="1741506" y="3429000"/>
              <a:ext cx="987838" cy="1000132"/>
              <a:chOff x="3984" y="1056"/>
              <a:chExt cx="583" cy="893"/>
            </a:xfrm>
          </p:grpSpPr>
          <p:sp>
            <p:nvSpPr>
              <p:cNvPr id="7194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5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5" name="Group 88"/>
            <p:cNvGrpSpPr>
              <a:grpSpLocks/>
            </p:cNvGrpSpPr>
            <p:nvPr/>
          </p:nvGrpSpPr>
          <p:grpSpPr bwMode="auto">
            <a:xfrm>
              <a:off x="2598762" y="3000372"/>
              <a:ext cx="285752" cy="500066"/>
              <a:chOff x="3984" y="1056"/>
              <a:chExt cx="583" cy="893"/>
            </a:xfrm>
          </p:grpSpPr>
          <p:sp>
            <p:nvSpPr>
              <p:cNvPr id="7192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3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6" name="Group 88"/>
            <p:cNvGrpSpPr>
              <a:grpSpLocks/>
            </p:cNvGrpSpPr>
            <p:nvPr/>
          </p:nvGrpSpPr>
          <p:grpSpPr bwMode="auto">
            <a:xfrm>
              <a:off x="884250" y="3929066"/>
              <a:ext cx="428628" cy="428628"/>
              <a:chOff x="3984" y="1056"/>
              <a:chExt cx="583" cy="893"/>
            </a:xfrm>
          </p:grpSpPr>
          <p:sp>
            <p:nvSpPr>
              <p:cNvPr id="7190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1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7" name="Group 88"/>
            <p:cNvGrpSpPr>
              <a:grpSpLocks/>
            </p:cNvGrpSpPr>
            <p:nvPr/>
          </p:nvGrpSpPr>
          <p:grpSpPr bwMode="auto">
            <a:xfrm>
              <a:off x="884250" y="4143380"/>
              <a:ext cx="142876" cy="428628"/>
              <a:chOff x="3984" y="1056"/>
              <a:chExt cx="583" cy="893"/>
            </a:xfrm>
          </p:grpSpPr>
          <p:sp>
            <p:nvSpPr>
              <p:cNvPr id="7188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89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7B3912-FB15-4986-BDF5-B0B71B3F887B}" type="slidenum">
              <a:rPr lang="pt-BR"/>
              <a:pPr>
                <a:defRPr/>
              </a:pPr>
              <a:t>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 build="p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Unidade Amostral</a:t>
            </a:r>
          </a:p>
        </p:txBody>
      </p:sp>
      <p:sp>
        <p:nvSpPr>
          <p:cNvPr id="52" name="CaixaDeTexto 51"/>
          <p:cNvSpPr txBox="1">
            <a:spLocks noChangeArrowheads="1"/>
          </p:cNvSpPr>
          <p:nvPr/>
        </p:nvSpPr>
        <p:spPr bwMode="auto">
          <a:xfrm>
            <a:off x="539750" y="1596856"/>
            <a:ext cx="8174038" cy="3416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6213" indent="-1762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unidade amostral representa a menor entidade identificada na população e é considerada o objeto de estudo.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Ela constitui o elemento da população na qual são coletadas as medidas ou informações (qualitativas ou quantitativas) que serão analisadas.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estudos na área de Sensoriamento Remoto e Geoprocessamento, podem ser representados por: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pontos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objetos (polígonos ou linhas)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A334C8-0880-4160-B2FE-81076B57C8D0}" type="slidenum">
              <a:rPr lang="pt-BR"/>
              <a:pPr>
                <a:defRPr/>
              </a:pPr>
              <a:t>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Unidade Amostral</a:t>
            </a:r>
          </a:p>
        </p:txBody>
      </p:sp>
      <p:sp>
        <p:nvSpPr>
          <p:cNvPr id="52" name="CaixaDeTexto 51"/>
          <p:cNvSpPr txBox="1">
            <a:spLocks noChangeArrowheads="1"/>
          </p:cNvSpPr>
          <p:nvPr/>
        </p:nvSpPr>
        <p:spPr bwMode="auto">
          <a:xfrm>
            <a:off x="539750" y="1434262"/>
            <a:ext cx="817403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6213" indent="-1762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Pontos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A334C8-0880-4160-B2FE-81076B57C8D0}" type="slidenum">
              <a:rPr lang="pt-BR"/>
              <a:pPr>
                <a:defRPr/>
              </a:pPr>
              <a:t>7</a:t>
            </a:fld>
            <a:endParaRPr lang="pt-BR"/>
          </a:p>
        </p:txBody>
      </p:sp>
      <p:grpSp>
        <p:nvGrpSpPr>
          <p:cNvPr id="107526" name="Grupo 107525"/>
          <p:cNvGrpSpPr/>
          <p:nvPr/>
        </p:nvGrpSpPr>
        <p:grpSpPr>
          <a:xfrm>
            <a:off x="843146" y="1949946"/>
            <a:ext cx="1800000" cy="2810236"/>
            <a:chOff x="843146" y="1949946"/>
            <a:chExt cx="1800000" cy="2810236"/>
          </a:xfrm>
        </p:grpSpPr>
        <p:sp>
          <p:nvSpPr>
            <p:cNvPr id="41" name="Retângulo 40"/>
            <p:cNvSpPr/>
            <p:nvPr/>
          </p:nvSpPr>
          <p:spPr bwMode="auto">
            <a:xfrm>
              <a:off x="843146" y="1949946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107520" name="Grupo 107519"/>
            <p:cNvGrpSpPr/>
            <p:nvPr/>
          </p:nvGrpSpPr>
          <p:grpSpPr>
            <a:xfrm>
              <a:off x="2123728" y="2308169"/>
              <a:ext cx="180000" cy="180000"/>
              <a:chOff x="1551864" y="2505008"/>
              <a:chExt cx="288000" cy="288000"/>
            </a:xfrm>
          </p:grpSpPr>
          <p:cxnSp>
            <p:nvCxnSpPr>
              <p:cNvPr id="4" name="Conector reto 3"/>
              <p:cNvCxnSpPr/>
              <p:nvPr/>
            </p:nvCxnSpPr>
            <p:spPr bwMode="auto">
              <a:xfrm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88" name="Conector reto 87"/>
              <p:cNvCxnSpPr/>
              <p:nvPr/>
            </p:nvCxnSpPr>
            <p:spPr bwMode="auto">
              <a:xfrm rot="5400000"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sp>
          <p:nvSpPr>
            <p:cNvPr id="107525" name="CaixaDeTexto 107524"/>
            <p:cNvSpPr txBox="1"/>
            <p:nvPr/>
          </p:nvSpPr>
          <p:spPr>
            <a:xfrm>
              <a:off x="863611" y="4298517"/>
              <a:ext cx="175907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posição no espaço</a:t>
              </a:r>
            </a:p>
            <a:p>
              <a:r>
                <a:rPr lang="pt-BR" dirty="0">
                  <a:latin typeface="Tahoma" panose="020B0604030504040204" pitchFamily="34" charset="0"/>
                </a:rPr>
                <a:t>(p.ex. ponto num lago)</a:t>
              </a:r>
            </a:p>
          </p:txBody>
        </p:sp>
        <p:grpSp>
          <p:nvGrpSpPr>
            <p:cNvPr id="131" name="Grupo 130"/>
            <p:cNvGrpSpPr/>
            <p:nvPr/>
          </p:nvGrpSpPr>
          <p:grpSpPr>
            <a:xfrm>
              <a:off x="1187624" y="3480988"/>
              <a:ext cx="180000" cy="180000"/>
              <a:chOff x="1551864" y="2505008"/>
              <a:chExt cx="288000" cy="288000"/>
            </a:xfrm>
          </p:grpSpPr>
          <p:cxnSp>
            <p:nvCxnSpPr>
              <p:cNvPr id="132" name="Conector reto 131"/>
              <p:cNvCxnSpPr/>
              <p:nvPr/>
            </p:nvCxnSpPr>
            <p:spPr bwMode="auto">
              <a:xfrm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33" name="Conector reto 132"/>
              <p:cNvCxnSpPr/>
              <p:nvPr/>
            </p:nvCxnSpPr>
            <p:spPr bwMode="auto">
              <a:xfrm rot="5400000"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134" name="Grupo 133"/>
            <p:cNvGrpSpPr/>
            <p:nvPr/>
          </p:nvGrpSpPr>
          <p:grpSpPr>
            <a:xfrm>
              <a:off x="2248090" y="3794461"/>
              <a:ext cx="180000" cy="180000"/>
              <a:chOff x="1551864" y="2505008"/>
              <a:chExt cx="288000" cy="288000"/>
            </a:xfrm>
          </p:grpSpPr>
          <p:cxnSp>
            <p:nvCxnSpPr>
              <p:cNvPr id="135" name="Conector reto 134"/>
              <p:cNvCxnSpPr/>
              <p:nvPr/>
            </p:nvCxnSpPr>
            <p:spPr bwMode="auto">
              <a:xfrm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36" name="Conector reto 135"/>
              <p:cNvCxnSpPr/>
              <p:nvPr/>
            </p:nvCxnSpPr>
            <p:spPr bwMode="auto">
              <a:xfrm rot="5400000"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137" name="Grupo 136"/>
            <p:cNvGrpSpPr/>
            <p:nvPr/>
          </p:nvGrpSpPr>
          <p:grpSpPr>
            <a:xfrm>
              <a:off x="1439672" y="2600928"/>
              <a:ext cx="180000" cy="180000"/>
              <a:chOff x="1354305" y="3059980"/>
              <a:chExt cx="288000" cy="288000"/>
            </a:xfrm>
          </p:grpSpPr>
          <p:cxnSp>
            <p:nvCxnSpPr>
              <p:cNvPr id="138" name="Conector reto 137"/>
              <p:cNvCxnSpPr/>
              <p:nvPr/>
            </p:nvCxnSpPr>
            <p:spPr bwMode="auto">
              <a:xfrm>
                <a:off x="1498305" y="3059980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39" name="Conector reto 138"/>
              <p:cNvCxnSpPr/>
              <p:nvPr/>
            </p:nvCxnSpPr>
            <p:spPr bwMode="auto">
              <a:xfrm rot="5400000">
                <a:off x="1498305" y="3059980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</p:grpSp>
      <p:grpSp>
        <p:nvGrpSpPr>
          <p:cNvPr id="107527" name="Grupo 107526"/>
          <p:cNvGrpSpPr/>
          <p:nvPr/>
        </p:nvGrpSpPr>
        <p:grpSpPr>
          <a:xfrm>
            <a:off x="3119681" y="1955367"/>
            <a:ext cx="2182008" cy="2804815"/>
            <a:chOff x="3228870" y="1955367"/>
            <a:chExt cx="2182008" cy="2804815"/>
          </a:xfrm>
        </p:grpSpPr>
        <p:grpSp>
          <p:nvGrpSpPr>
            <p:cNvPr id="92" name="Grupo 91"/>
            <p:cNvGrpSpPr/>
            <p:nvPr/>
          </p:nvGrpSpPr>
          <p:grpSpPr>
            <a:xfrm>
              <a:off x="3419872" y="1955367"/>
              <a:ext cx="1800000" cy="2343150"/>
              <a:chOff x="1763688" y="2742034"/>
              <a:chExt cx="1800000" cy="2343150"/>
            </a:xfrm>
          </p:grpSpPr>
          <p:sp>
            <p:nvSpPr>
              <p:cNvPr id="93" name="Retângulo 92"/>
              <p:cNvSpPr/>
              <p:nvPr/>
            </p:nvSpPr>
            <p:spPr bwMode="auto">
              <a:xfrm>
                <a:off x="1763688" y="2742034"/>
                <a:ext cx="1800000" cy="2343150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4" name="Elipse 93"/>
              <p:cNvSpPr/>
              <p:nvPr/>
            </p:nvSpPr>
            <p:spPr bwMode="auto">
              <a:xfrm>
                <a:off x="1982369" y="32766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Elipse 94"/>
              <p:cNvSpPr/>
              <p:nvPr/>
            </p:nvSpPr>
            <p:spPr bwMode="auto">
              <a:xfrm>
                <a:off x="2270409" y="34290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Elipse 95"/>
              <p:cNvSpPr/>
              <p:nvPr/>
            </p:nvSpPr>
            <p:spPr bwMode="auto">
              <a:xfrm>
                <a:off x="2492160" y="364503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7" name="Elipse 96"/>
              <p:cNvSpPr/>
              <p:nvPr/>
            </p:nvSpPr>
            <p:spPr bwMode="auto">
              <a:xfrm>
                <a:off x="2123728" y="393306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8" name="Elipse 97"/>
              <p:cNvSpPr/>
              <p:nvPr/>
            </p:nvSpPr>
            <p:spPr bwMode="auto">
              <a:xfrm>
                <a:off x="2483776" y="414908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9" name="Elipse 98"/>
              <p:cNvSpPr/>
              <p:nvPr/>
            </p:nvSpPr>
            <p:spPr bwMode="auto">
              <a:xfrm>
                <a:off x="2051720" y="45091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0" name="Elipse 99"/>
              <p:cNvSpPr/>
              <p:nvPr/>
            </p:nvSpPr>
            <p:spPr bwMode="auto">
              <a:xfrm>
                <a:off x="2411768" y="46615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1" name="Elipse 100"/>
              <p:cNvSpPr/>
              <p:nvPr/>
            </p:nvSpPr>
            <p:spPr bwMode="auto">
              <a:xfrm>
                <a:off x="2771808" y="48139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2" name="Elipse 101"/>
              <p:cNvSpPr/>
              <p:nvPr/>
            </p:nvSpPr>
            <p:spPr bwMode="auto">
              <a:xfrm>
                <a:off x="2924208" y="45091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3" name="Elipse 102"/>
              <p:cNvSpPr/>
              <p:nvPr/>
            </p:nvSpPr>
            <p:spPr bwMode="auto">
              <a:xfrm>
                <a:off x="3076608" y="486916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4" name="Elipse 103"/>
              <p:cNvSpPr/>
              <p:nvPr/>
            </p:nvSpPr>
            <p:spPr bwMode="auto">
              <a:xfrm>
                <a:off x="3149526" y="474195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5" name="Elipse 104"/>
              <p:cNvSpPr/>
              <p:nvPr/>
            </p:nvSpPr>
            <p:spPr bwMode="auto">
              <a:xfrm>
                <a:off x="2888208" y="38784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6" name="Elipse 105"/>
              <p:cNvSpPr/>
              <p:nvPr/>
            </p:nvSpPr>
            <p:spPr bwMode="auto">
              <a:xfrm>
                <a:off x="2852208" y="408080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7" name="Elipse 106"/>
              <p:cNvSpPr/>
              <p:nvPr/>
            </p:nvSpPr>
            <p:spPr bwMode="auto">
              <a:xfrm>
                <a:off x="3347864" y="432165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8" name="Elipse 107"/>
              <p:cNvSpPr/>
              <p:nvPr/>
            </p:nvSpPr>
            <p:spPr bwMode="auto">
              <a:xfrm>
                <a:off x="3148608" y="366441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Elipse 108"/>
              <p:cNvSpPr/>
              <p:nvPr/>
            </p:nvSpPr>
            <p:spPr bwMode="auto">
              <a:xfrm>
                <a:off x="2591688" y="32711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Elipse 109"/>
              <p:cNvSpPr/>
              <p:nvPr/>
            </p:nvSpPr>
            <p:spPr bwMode="auto">
              <a:xfrm>
                <a:off x="3077526" y="32313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1" name="Elipse 110"/>
              <p:cNvSpPr/>
              <p:nvPr/>
            </p:nvSpPr>
            <p:spPr bwMode="auto">
              <a:xfrm>
                <a:off x="2852208" y="356753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2" name="Elipse 111"/>
              <p:cNvSpPr/>
              <p:nvPr/>
            </p:nvSpPr>
            <p:spPr bwMode="auto">
              <a:xfrm>
                <a:off x="1777482" y="360277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Elipse 112"/>
              <p:cNvSpPr/>
              <p:nvPr/>
            </p:nvSpPr>
            <p:spPr bwMode="auto">
              <a:xfrm>
                <a:off x="1766264" y="42479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Elipse 113"/>
              <p:cNvSpPr/>
              <p:nvPr/>
            </p:nvSpPr>
            <p:spPr bwMode="auto">
              <a:xfrm>
                <a:off x="2087728" y="48177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5" name="Elipse 114"/>
              <p:cNvSpPr/>
              <p:nvPr/>
            </p:nvSpPr>
            <p:spPr bwMode="auto">
              <a:xfrm>
                <a:off x="1845077" y="490426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6" name="Elipse 115"/>
              <p:cNvSpPr/>
              <p:nvPr/>
            </p:nvSpPr>
            <p:spPr bwMode="auto">
              <a:xfrm>
                <a:off x="2434438" y="491265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7" name="Elipse 116"/>
              <p:cNvSpPr/>
              <p:nvPr/>
            </p:nvSpPr>
            <p:spPr bwMode="auto">
              <a:xfrm>
                <a:off x="3358033" y="396919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8" name="Elipse 117"/>
              <p:cNvSpPr/>
              <p:nvPr/>
            </p:nvSpPr>
            <p:spPr bwMode="auto">
              <a:xfrm>
                <a:off x="3418726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9" name="Elipse 118"/>
              <p:cNvSpPr/>
              <p:nvPr/>
            </p:nvSpPr>
            <p:spPr bwMode="auto">
              <a:xfrm>
                <a:off x="2538509" y="2938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0" name="Elipse 119"/>
              <p:cNvSpPr/>
              <p:nvPr/>
            </p:nvSpPr>
            <p:spPr bwMode="auto">
              <a:xfrm>
                <a:off x="2856513" y="3240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1" name="Elipse 120"/>
              <p:cNvSpPr/>
              <p:nvPr/>
            </p:nvSpPr>
            <p:spPr bwMode="auto">
              <a:xfrm>
                <a:off x="2781905" y="31547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2" name="Elipse 121"/>
              <p:cNvSpPr/>
              <p:nvPr/>
            </p:nvSpPr>
            <p:spPr bwMode="auto">
              <a:xfrm>
                <a:off x="1835060" y="2772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3" name="Elipse 122"/>
              <p:cNvSpPr/>
              <p:nvPr/>
            </p:nvSpPr>
            <p:spPr bwMode="auto">
              <a:xfrm>
                <a:off x="2269016" y="2902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4" name="Elipse 123"/>
              <p:cNvSpPr/>
              <p:nvPr/>
            </p:nvSpPr>
            <p:spPr bwMode="auto">
              <a:xfrm>
                <a:off x="2993789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5" name="Elipse 124"/>
              <p:cNvSpPr/>
              <p:nvPr/>
            </p:nvSpPr>
            <p:spPr bwMode="auto">
              <a:xfrm>
                <a:off x="3454726" y="3312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26" name="Elipse 125"/>
            <p:cNvSpPr/>
            <p:nvPr/>
          </p:nvSpPr>
          <p:spPr bwMode="auto">
            <a:xfrm>
              <a:off x="4132637" y="2845621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9" name="CaixaDeTexto 128"/>
            <p:cNvSpPr txBox="1"/>
            <p:nvPr/>
          </p:nvSpPr>
          <p:spPr>
            <a:xfrm>
              <a:off x="3228870" y="4298517"/>
              <a:ext cx="218200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indivíduo da população</a:t>
              </a:r>
            </a:p>
            <a:p>
              <a:r>
                <a:rPr lang="pt-BR" dirty="0">
                  <a:latin typeface="Tahoma" panose="020B0604030504040204" pitchFamily="34" charset="0"/>
                </a:rPr>
                <a:t>(p.ex. árvore numa floresta)</a:t>
              </a:r>
            </a:p>
          </p:txBody>
        </p:sp>
        <p:sp>
          <p:nvSpPr>
            <p:cNvPr id="143" name="Elipse 142"/>
            <p:cNvSpPr/>
            <p:nvPr/>
          </p:nvSpPr>
          <p:spPr bwMode="auto">
            <a:xfrm>
              <a:off x="4049952" y="3856861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4" name="Elipse 143"/>
            <p:cNvSpPr/>
            <p:nvPr/>
          </p:nvSpPr>
          <p:spPr bwMode="auto">
            <a:xfrm>
              <a:off x="4986048" y="3164525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5" name="Elipse 144"/>
            <p:cNvSpPr/>
            <p:nvPr/>
          </p:nvSpPr>
          <p:spPr bwMode="auto">
            <a:xfrm>
              <a:off x="4409992" y="235011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107528" name="Grupo 107527"/>
          <p:cNvGrpSpPr/>
          <p:nvPr/>
        </p:nvGrpSpPr>
        <p:grpSpPr>
          <a:xfrm>
            <a:off x="5778225" y="1949946"/>
            <a:ext cx="1980029" cy="2620149"/>
            <a:chOff x="5778225" y="1949946"/>
            <a:chExt cx="1980029" cy="2620149"/>
          </a:xfrm>
        </p:grpSpPr>
        <p:grpSp>
          <p:nvGrpSpPr>
            <p:cNvPr id="5" name="Group 64"/>
            <p:cNvGrpSpPr>
              <a:grpSpLocks/>
            </p:cNvGrpSpPr>
            <p:nvPr/>
          </p:nvGrpSpPr>
          <p:grpSpPr bwMode="auto">
            <a:xfrm>
              <a:off x="5868119" y="1949946"/>
              <a:ext cx="1800225" cy="2343150"/>
              <a:chOff x="2200" y="1661"/>
              <a:chExt cx="1134" cy="1476"/>
            </a:xfrm>
          </p:grpSpPr>
          <p:grpSp>
            <p:nvGrpSpPr>
              <p:cNvPr id="6" name="Group 63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134" cy="1476"/>
              </a:xfrm>
            </p:grpSpPr>
            <p:sp>
              <p:nvSpPr>
                <p:cNvPr id="22" name="Line 35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" name="Line 36"/>
                <p:cNvSpPr>
                  <a:spLocks noChangeShapeType="1"/>
                </p:cNvSpPr>
                <p:nvPr/>
              </p:nvSpPr>
              <p:spPr bwMode="auto">
                <a:xfrm>
                  <a:off x="2200" y="174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" name="Line 37"/>
                <p:cNvSpPr>
                  <a:spLocks noChangeShapeType="1"/>
                </p:cNvSpPr>
                <p:nvPr/>
              </p:nvSpPr>
              <p:spPr bwMode="auto">
                <a:xfrm>
                  <a:off x="2200" y="183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" name="Line 38"/>
                <p:cNvSpPr>
                  <a:spLocks noChangeShapeType="1"/>
                </p:cNvSpPr>
                <p:nvPr/>
              </p:nvSpPr>
              <p:spPr bwMode="auto">
                <a:xfrm>
                  <a:off x="2200" y="192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" name="Line 39"/>
                <p:cNvSpPr>
                  <a:spLocks noChangeShapeType="1"/>
                </p:cNvSpPr>
                <p:nvPr/>
              </p:nvSpPr>
              <p:spPr bwMode="auto">
                <a:xfrm>
                  <a:off x="2200" y="200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" name="Line 40"/>
                <p:cNvSpPr>
                  <a:spLocks noChangeShapeType="1"/>
                </p:cNvSpPr>
                <p:nvPr/>
              </p:nvSpPr>
              <p:spPr bwMode="auto">
                <a:xfrm>
                  <a:off x="2200" y="209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" name="Line 41"/>
                <p:cNvSpPr>
                  <a:spLocks noChangeShapeType="1"/>
                </p:cNvSpPr>
                <p:nvPr/>
              </p:nvSpPr>
              <p:spPr bwMode="auto">
                <a:xfrm>
                  <a:off x="2200" y="218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" name="Line 42"/>
                <p:cNvSpPr>
                  <a:spLocks noChangeShapeType="1"/>
                </p:cNvSpPr>
                <p:nvPr/>
              </p:nvSpPr>
              <p:spPr bwMode="auto">
                <a:xfrm>
                  <a:off x="2200" y="226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" name="Line 43"/>
                <p:cNvSpPr>
                  <a:spLocks noChangeShapeType="1"/>
                </p:cNvSpPr>
                <p:nvPr/>
              </p:nvSpPr>
              <p:spPr bwMode="auto">
                <a:xfrm>
                  <a:off x="2200" y="235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" name="Line 44"/>
                <p:cNvSpPr>
                  <a:spLocks noChangeShapeType="1"/>
                </p:cNvSpPr>
                <p:nvPr/>
              </p:nvSpPr>
              <p:spPr bwMode="auto">
                <a:xfrm>
                  <a:off x="2200" y="244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" name="Line 45"/>
                <p:cNvSpPr>
                  <a:spLocks noChangeShapeType="1"/>
                </p:cNvSpPr>
                <p:nvPr/>
              </p:nvSpPr>
              <p:spPr bwMode="auto">
                <a:xfrm>
                  <a:off x="2200" y="252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" name="Line 46"/>
                <p:cNvSpPr>
                  <a:spLocks noChangeShapeType="1"/>
                </p:cNvSpPr>
                <p:nvPr/>
              </p:nvSpPr>
              <p:spPr bwMode="auto">
                <a:xfrm>
                  <a:off x="2200" y="261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" name="Line 51"/>
                <p:cNvSpPr>
                  <a:spLocks noChangeShapeType="1"/>
                </p:cNvSpPr>
                <p:nvPr/>
              </p:nvSpPr>
              <p:spPr bwMode="auto">
                <a:xfrm>
                  <a:off x="2200" y="270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" name="Line 52"/>
                <p:cNvSpPr>
                  <a:spLocks noChangeShapeType="1"/>
                </p:cNvSpPr>
                <p:nvPr/>
              </p:nvSpPr>
              <p:spPr bwMode="auto">
                <a:xfrm>
                  <a:off x="2200" y="279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" name="Line 53"/>
                <p:cNvSpPr>
                  <a:spLocks noChangeShapeType="1"/>
                </p:cNvSpPr>
                <p:nvPr/>
              </p:nvSpPr>
              <p:spPr bwMode="auto">
                <a:xfrm>
                  <a:off x="2200" y="287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" name="Line 54"/>
                <p:cNvSpPr>
                  <a:spLocks noChangeShapeType="1"/>
                </p:cNvSpPr>
                <p:nvPr/>
              </p:nvSpPr>
              <p:spPr bwMode="auto">
                <a:xfrm>
                  <a:off x="2200" y="296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" name="Line 55"/>
                <p:cNvSpPr>
                  <a:spLocks noChangeShapeType="1"/>
                </p:cNvSpPr>
                <p:nvPr/>
              </p:nvSpPr>
              <p:spPr bwMode="auto">
                <a:xfrm>
                  <a:off x="2200" y="305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9" name="Line 56"/>
                <p:cNvSpPr>
                  <a:spLocks noChangeShapeType="1"/>
                </p:cNvSpPr>
                <p:nvPr/>
              </p:nvSpPr>
              <p:spPr bwMode="auto">
                <a:xfrm>
                  <a:off x="2200" y="313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7" name="Group 47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768" cy="1452"/>
              </a:xfrm>
            </p:grpSpPr>
            <p:sp>
              <p:nvSpPr>
                <p:cNvPr id="8" name="Line 21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" name="Line 22"/>
                <p:cNvSpPr>
                  <a:spLocks noChangeShapeType="1"/>
                </p:cNvSpPr>
                <p:nvPr/>
              </p:nvSpPr>
              <p:spPr bwMode="auto">
                <a:xfrm>
                  <a:off x="233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" name="Line 23"/>
                <p:cNvSpPr>
                  <a:spLocks noChangeShapeType="1"/>
                </p:cNvSpPr>
                <p:nvPr/>
              </p:nvSpPr>
              <p:spPr bwMode="auto">
                <a:xfrm>
                  <a:off x="247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" name="Line 24"/>
                <p:cNvSpPr>
                  <a:spLocks noChangeShapeType="1"/>
                </p:cNvSpPr>
                <p:nvPr/>
              </p:nvSpPr>
              <p:spPr bwMode="auto">
                <a:xfrm>
                  <a:off x="260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" name="Line 25"/>
                <p:cNvSpPr>
                  <a:spLocks noChangeShapeType="1"/>
                </p:cNvSpPr>
                <p:nvPr/>
              </p:nvSpPr>
              <p:spPr bwMode="auto">
                <a:xfrm>
                  <a:off x="274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" name="Line 26"/>
                <p:cNvSpPr>
                  <a:spLocks noChangeShapeType="1"/>
                </p:cNvSpPr>
                <p:nvPr/>
              </p:nvSpPr>
              <p:spPr bwMode="auto">
                <a:xfrm>
                  <a:off x="288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" name="Line 27"/>
                <p:cNvSpPr>
                  <a:spLocks noChangeShapeType="1"/>
                </p:cNvSpPr>
                <p:nvPr/>
              </p:nvSpPr>
              <p:spPr bwMode="auto">
                <a:xfrm>
                  <a:off x="301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" name="Line 28"/>
                <p:cNvSpPr>
                  <a:spLocks noChangeShapeType="1"/>
                </p:cNvSpPr>
                <p:nvPr/>
              </p:nvSpPr>
              <p:spPr bwMode="auto">
                <a:xfrm>
                  <a:off x="315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" name="Line 29"/>
                <p:cNvSpPr>
                  <a:spLocks noChangeShapeType="1"/>
                </p:cNvSpPr>
                <p:nvPr/>
              </p:nvSpPr>
              <p:spPr bwMode="auto">
                <a:xfrm>
                  <a:off x="328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" name="Line 30"/>
                <p:cNvSpPr>
                  <a:spLocks noChangeShapeType="1"/>
                </p:cNvSpPr>
                <p:nvPr/>
              </p:nvSpPr>
              <p:spPr bwMode="auto">
                <a:xfrm>
                  <a:off x="342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" name="Line 31"/>
                <p:cNvSpPr>
                  <a:spLocks noChangeShapeType="1"/>
                </p:cNvSpPr>
                <p:nvPr/>
              </p:nvSpPr>
              <p:spPr bwMode="auto">
                <a:xfrm>
                  <a:off x="356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" name="Line 32"/>
                <p:cNvSpPr>
                  <a:spLocks noChangeShapeType="1"/>
                </p:cNvSpPr>
                <p:nvPr/>
              </p:nvSpPr>
              <p:spPr bwMode="auto">
                <a:xfrm>
                  <a:off x="369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" name="Line 33"/>
                <p:cNvSpPr>
                  <a:spLocks noChangeShapeType="1"/>
                </p:cNvSpPr>
                <p:nvPr/>
              </p:nvSpPr>
              <p:spPr bwMode="auto">
                <a:xfrm>
                  <a:off x="383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" name="Line 34"/>
                <p:cNvSpPr>
                  <a:spLocks noChangeShapeType="1"/>
                </p:cNvSpPr>
                <p:nvPr/>
              </p:nvSpPr>
              <p:spPr bwMode="auto">
                <a:xfrm>
                  <a:off x="396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76" name="Rectangle 65"/>
            <p:cNvSpPr>
              <a:spLocks noChangeArrowheads="1"/>
            </p:cNvSpPr>
            <p:nvPr/>
          </p:nvSpPr>
          <p:spPr bwMode="auto">
            <a:xfrm>
              <a:off x="6144710" y="2217926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0" name="CaixaDeTexto 129"/>
            <p:cNvSpPr txBox="1"/>
            <p:nvPr/>
          </p:nvSpPr>
          <p:spPr>
            <a:xfrm>
              <a:off x="5778225" y="4293096"/>
              <a:ext cx="19800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latin typeface="Tahoma" panose="020B0604030504040204" pitchFamily="34" charset="0"/>
                </a:rPr>
                <a:t>pixel</a:t>
              </a:r>
              <a:r>
                <a:rPr lang="pt-BR" dirty="0">
                  <a:latin typeface="Tahoma" panose="020B0604030504040204" pitchFamily="34" charset="0"/>
                </a:rPr>
                <a:t> da imagem ou grade</a:t>
              </a:r>
            </a:p>
          </p:txBody>
        </p:sp>
        <p:sp>
          <p:nvSpPr>
            <p:cNvPr id="146" name="Rectangle 65"/>
            <p:cNvSpPr>
              <a:spLocks noChangeArrowheads="1"/>
            </p:cNvSpPr>
            <p:nvPr/>
          </p:nvSpPr>
          <p:spPr bwMode="auto">
            <a:xfrm>
              <a:off x="6979561" y="2907209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47" name="Rectangle 65"/>
            <p:cNvSpPr>
              <a:spLocks noChangeArrowheads="1"/>
            </p:cNvSpPr>
            <p:nvPr/>
          </p:nvSpPr>
          <p:spPr bwMode="auto">
            <a:xfrm>
              <a:off x="7115131" y="3460074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48" name="Rectangle 65"/>
            <p:cNvSpPr>
              <a:spLocks noChangeArrowheads="1"/>
            </p:cNvSpPr>
            <p:nvPr/>
          </p:nvSpPr>
          <p:spPr bwMode="auto">
            <a:xfrm>
              <a:off x="6145878" y="3604090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sp>
        <p:nvSpPr>
          <p:cNvPr id="155" name="CaixaDeTexto 154"/>
          <p:cNvSpPr txBox="1">
            <a:spLocks noChangeArrowheads="1"/>
          </p:cNvSpPr>
          <p:nvPr/>
        </p:nvSpPr>
        <p:spPr bwMode="auto">
          <a:xfrm>
            <a:off x="598954" y="5157192"/>
            <a:ext cx="817403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6213" indent="-1762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sorteio aleatório é facilitado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em coletas em campo, </a:t>
            </a:r>
            <a:r>
              <a:rPr lang="en-US" altLang="pt-BR" sz="1600" dirty="0">
                <a:latin typeface="Tahoma" panose="020B0604030504040204" pitchFamily="34" charset="0"/>
              </a:rPr>
              <a:t>a </a:t>
            </a:r>
            <a:r>
              <a:rPr lang="pt-BR" altLang="pt-BR" sz="1600" dirty="0">
                <a:latin typeface="Tahoma" panose="020B0604030504040204" pitchFamily="34" charset="0"/>
              </a:rPr>
              <a:t>localização precisa do ponto sorteado pode ser difícil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pode induzir a erros em regiões heterogêneas</a:t>
            </a:r>
          </a:p>
        </p:txBody>
      </p:sp>
    </p:spTree>
    <p:extLst>
      <p:ext uri="{BB962C8B-B14F-4D97-AF65-F5344CB8AC3E}">
        <p14:creationId xmlns:p14="http://schemas.microsoft.com/office/powerpoint/2010/main" val="1114225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Unidade Amostral</a:t>
            </a:r>
          </a:p>
        </p:txBody>
      </p:sp>
      <p:sp>
        <p:nvSpPr>
          <p:cNvPr id="52" name="CaixaDeTexto 51"/>
          <p:cNvSpPr txBox="1">
            <a:spLocks noChangeArrowheads="1"/>
          </p:cNvSpPr>
          <p:nvPr/>
        </p:nvSpPr>
        <p:spPr bwMode="auto">
          <a:xfrm>
            <a:off x="539750" y="1434262"/>
            <a:ext cx="817403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6213" indent="-1762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Objetos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A334C8-0880-4160-B2FE-81076B57C8D0}" type="slidenum">
              <a:rPr lang="pt-BR"/>
              <a:pPr>
                <a:defRPr/>
              </a:pPr>
              <a:t>8</a:t>
            </a:fld>
            <a:endParaRPr lang="pt-BR"/>
          </a:p>
        </p:txBody>
      </p:sp>
      <p:sp>
        <p:nvSpPr>
          <p:cNvPr id="155" name="CaixaDeTexto 154"/>
          <p:cNvSpPr txBox="1">
            <a:spLocks noChangeArrowheads="1"/>
          </p:cNvSpPr>
          <p:nvPr/>
        </p:nvSpPr>
        <p:spPr bwMode="auto">
          <a:xfrm>
            <a:off x="603883" y="5152279"/>
            <a:ext cx="8174038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6213" indent="-1762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deve representar áreas homogêneas (deve-se evitar áreas de transição)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em coletas de campo, minimiza problemas de posicionamento quando informação contextual é considerada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mesmo podendo conter muitos valores medidos, deve ser contabilizado como apenas uma observação e portanto deve-se adotar uma medida representativa (total, média, mediana,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67" name="Grupo 66"/>
          <p:cNvGrpSpPr/>
          <p:nvPr/>
        </p:nvGrpSpPr>
        <p:grpSpPr>
          <a:xfrm>
            <a:off x="4768380" y="1955367"/>
            <a:ext cx="1827744" cy="2804815"/>
            <a:chOff x="3406002" y="1955367"/>
            <a:chExt cx="1827744" cy="2804815"/>
          </a:xfrm>
        </p:grpSpPr>
        <p:grpSp>
          <p:nvGrpSpPr>
            <p:cNvPr id="92" name="Grupo 91"/>
            <p:cNvGrpSpPr/>
            <p:nvPr/>
          </p:nvGrpSpPr>
          <p:grpSpPr>
            <a:xfrm>
              <a:off x="3419872" y="1955367"/>
              <a:ext cx="1800000" cy="2343150"/>
              <a:chOff x="1763688" y="2742034"/>
              <a:chExt cx="1800000" cy="2343150"/>
            </a:xfrm>
          </p:grpSpPr>
          <p:sp>
            <p:nvSpPr>
              <p:cNvPr id="93" name="Retângulo 92"/>
              <p:cNvSpPr/>
              <p:nvPr/>
            </p:nvSpPr>
            <p:spPr bwMode="auto">
              <a:xfrm>
                <a:off x="1763688" y="2742034"/>
                <a:ext cx="1800000" cy="2343150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4" name="Elipse 93"/>
              <p:cNvSpPr/>
              <p:nvPr/>
            </p:nvSpPr>
            <p:spPr bwMode="auto">
              <a:xfrm>
                <a:off x="1982369" y="32766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Elipse 94"/>
              <p:cNvSpPr/>
              <p:nvPr/>
            </p:nvSpPr>
            <p:spPr bwMode="auto">
              <a:xfrm>
                <a:off x="2270409" y="34290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Elipse 95"/>
              <p:cNvSpPr/>
              <p:nvPr/>
            </p:nvSpPr>
            <p:spPr bwMode="auto">
              <a:xfrm>
                <a:off x="2492160" y="364503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7" name="Elipse 96"/>
              <p:cNvSpPr/>
              <p:nvPr/>
            </p:nvSpPr>
            <p:spPr bwMode="auto">
              <a:xfrm>
                <a:off x="2123728" y="393306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8" name="Elipse 97"/>
              <p:cNvSpPr/>
              <p:nvPr/>
            </p:nvSpPr>
            <p:spPr bwMode="auto">
              <a:xfrm>
                <a:off x="2483776" y="414908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9" name="Elipse 98"/>
              <p:cNvSpPr/>
              <p:nvPr/>
            </p:nvSpPr>
            <p:spPr bwMode="auto">
              <a:xfrm>
                <a:off x="2051720" y="45091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0" name="Elipse 99"/>
              <p:cNvSpPr/>
              <p:nvPr/>
            </p:nvSpPr>
            <p:spPr bwMode="auto">
              <a:xfrm>
                <a:off x="2411768" y="46615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1" name="Elipse 100"/>
              <p:cNvSpPr/>
              <p:nvPr/>
            </p:nvSpPr>
            <p:spPr bwMode="auto">
              <a:xfrm>
                <a:off x="2771808" y="48139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2" name="Elipse 101"/>
              <p:cNvSpPr/>
              <p:nvPr/>
            </p:nvSpPr>
            <p:spPr bwMode="auto">
              <a:xfrm>
                <a:off x="2924208" y="45091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3" name="Elipse 102"/>
              <p:cNvSpPr/>
              <p:nvPr/>
            </p:nvSpPr>
            <p:spPr bwMode="auto">
              <a:xfrm>
                <a:off x="3076608" y="486916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4" name="Elipse 103"/>
              <p:cNvSpPr/>
              <p:nvPr/>
            </p:nvSpPr>
            <p:spPr bwMode="auto">
              <a:xfrm>
                <a:off x="3149526" y="474195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5" name="Elipse 104"/>
              <p:cNvSpPr/>
              <p:nvPr/>
            </p:nvSpPr>
            <p:spPr bwMode="auto">
              <a:xfrm>
                <a:off x="2888208" y="38784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6" name="Elipse 105"/>
              <p:cNvSpPr/>
              <p:nvPr/>
            </p:nvSpPr>
            <p:spPr bwMode="auto">
              <a:xfrm>
                <a:off x="2852208" y="408080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7" name="Elipse 106"/>
              <p:cNvSpPr/>
              <p:nvPr/>
            </p:nvSpPr>
            <p:spPr bwMode="auto">
              <a:xfrm>
                <a:off x="3347864" y="432165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8" name="Elipse 107"/>
              <p:cNvSpPr/>
              <p:nvPr/>
            </p:nvSpPr>
            <p:spPr bwMode="auto">
              <a:xfrm>
                <a:off x="3148608" y="366441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Elipse 108"/>
              <p:cNvSpPr/>
              <p:nvPr/>
            </p:nvSpPr>
            <p:spPr bwMode="auto">
              <a:xfrm>
                <a:off x="2591688" y="32711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Elipse 109"/>
              <p:cNvSpPr/>
              <p:nvPr/>
            </p:nvSpPr>
            <p:spPr bwMode="auto">
              <a:xfrm>
                <a:off x="3077526" y="32313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1" name="Elipse 110"/>
              <p:cNvSpPr/>
              <p:nvPr/>
            </p:nvSpPr>
            <p:spPr bwMode="auto">
              <a:xfrm>
                <a:off x="2852208" y="356753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2" name="Elipse 111"/>
              <p:cNvSpPr/>
              <p:nvPr/>
            </p:nvSpPr>
            <p:spPr bwMode="auto">
              <a:xfrm>
                <a:off x="1777482" y="360277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Elipse 112"/>
              <p:cNvSpPr/>
              <p:nvPr/>
            </p:nvSpPr>
            <p:spPr bwMode="auto">
              <a:xfrm>
                <a:off x="1766264" y="42479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Elipse 113"/>
              <p:cNvSpPr/>
              <p:nvPr/>
            </p:nvSpPr>
            <p:spPr bwMode="auto">
              <a:xfrm>
                <a:off x="2087728" y="48177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5" name="Elipse 114"/>
              <p:cNvSpPr/>
              <p:nvPr/>
            </p:nvSpPr>
            <p:spPr bwMode="auto">
              <a:xfrm>
                <a:off x="1845077" y="490426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6" name="Elipse 115"/>
              <p:cNvSpPr/>
              <p:nvPr/>
            </p:nvSpPr>
            <p:spPr bwMode="auto">
              <a:xfrm>
                <a:off x="2434438" y="491265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7" name="Elipse 116"/>
              <p:cNvSpPr/>
              <p:nvPr/>
            </p:nvSpPr>
            <p:spPr bwMode="auto">
              <a:xfrm>
                <a:off x="3358033" y="396919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8" name="Elipse 117"/>
              <p:cNvSpPr/>
              <p:nvPr/>
            </p:nvSpPr>
            <p:spPr bwMode="auto">
              <a:xfrm>
                <a:off x="3418726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9" name="Elipse 118"/>
              <p:cNvSpPr/>
              <p:nvPr/>
            </p:nvSpPr>
            <p:spPr bwMode="auto">
              <a:xfrm>
                <a:off x="2538509" y="2938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0" name="Elipse 119"/>
              <p:cNvSpPr/>
              <p:nvPr/>
            </p:nvSpPr>
            <p:spPr bwMode="auto">
              <a:xfrm>
                <a:off x="2856513" y="3240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1" name="Elipse 120"/>
              <p:cNvSpPr/>
              <p:nvPr/>
            </p:nvSpPr>
            <p:spPr bwMode="auto">
              <a:xfrm>
                <a:off x="2781905" y="31547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2" name="Elipse 121"/>
              <p:cNvSpPr/>
              <p:nvPr/>
            </p:nvSpPr>
            <p:spPr bwMode="auto">
              <a:xfrm>
                <a:off x="1835060" y="2772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3" name="Elipse 122"/>
              <p:cNvSpPr/>
              <p:nvPr/>
            </p:nvSpPr>
            <p:spPr bwMode="auto">
              <a:xfrm>
                <a:off x="2269016" y="2902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4" name="Elipse 123"/>
              <p:cNvSpPr/>
              <p:nvPr/>
            </p:nvSpPr>
            <p:spPr bwMode="auto">
              <a:xfrm>
                <a:off x="2993789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5" name="Elipse 124"/>
              <p:cNvSpPr/>
              <p:nvPr/>
            </p:nvSpPr>
            <p:spPr bwMode="auto">
              <a:xfrm>
                <a:off x="3454726" y="3312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29" name="CaixaDeTexto 128"/>
            <p:cNvSpPr txBox="1"/>
            <p:nvPr/>
          </p:nvSpPr>
          <p:spPr>
            <a:xfrm>
              <a:off x="3406002" y="4298517"/>
              <a:ext cx="18277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indivíduos da população</a:t>
              </a:r>
            </a:p>
            <a:p>
              <a:r>
                <a:rPr lang="pt-BR" dirty="0">
                  <a:latin typeface="Tahoma" panose="020B0604030504040204" pitchFamily="34" charset="0"/>
                </a:rPr>
                <a:t>(p.ex. </a:t>
              </a:r>
              <a:r>
                <a:rPr lang="pt-BR" dirty="0" err="1">
                  <a:latin typeface="Tahoma" panose="020B0604030504040204" pitchFamily="34" charset="0"/>
                </a:rPr>
                <a:t>transecto</a:t>
              </a:r>
              <a:r>
                <a:rPr lang="pt-BR" dirty="0">
                  <a:latin typeface="Tahoma" panose="020B0604030504040204" pitchFamily="34" charset="0"/>
                </a:rPr>
                <a:t>)</a:t>
              </a:r>
            </a:p>
          </p:txBody>
        </p:sp>
        <p:sp>
          <p:nvSpPr>
            <p:cNvPr id="3" name="Retângulo 2"/>
            <p:cNvSpPr/>
            <p:nvPr/>
          </p:nvSpPr>
          <p:spPr bwMode="auto">
            <a:xfrm rot="1173982">
              <a:off x="4203566" y="2217926"/>
              <a:ext cx="571088" cy="1849177"/>
            </a:xfrm>
            <a:prstGeom prst="rect">
              <a:avLst/>
            </a:prstGeom>
            <a:solidFill>
              <a:srgbClr val="FF0000">
                <a:alpha val="21000"/>
              </a:srgbClr>
            </a:solidFill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107523" name="Conector reto 107522"/>
            <p:cNvCxnSpPr>
              <a:stCxn id="3" idx="2"/>
              <a:endCxn id="3" idx="0"/>
            </p:cNvCxnSpPr>
            <p:nvPr/>
          </p:nvCxnSpPr>
          <p:spPr bwMode="auto">
            <a:xfrm flipV="1">
              <a:off x="4179467" y="2271317"/>
              <a:ext cx="619286" cy="174239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6" name="Grupo 65"/>
          <p:cNvGrpSpPr/>
          <p:nvPr/>
        </p:nvGrpSpPr>
        <p:grpSpPr>
          <a:xfrm>
            <a:off x="467544" y="1949946"/>
            <a:ext cx="1800000" cy="2810236"/>
            <a:chOff x="843146" y="1949946"/>
            <a:chExt cx="1800000" cy="2810236"/>
          </a:xfrm>
        </p:grpSpPr>
        <p:sp>
          <p:nvSpPr>
            <p:cNvPr id="41" name="Retângulo 40"/>
            <p:cNvSpPr/>
            <p:nvPr/>
          </p:nvSpPr>
          <p:spPr bwMode="auto">
            <a:xfrm>
              <a:off x="843146" y="1949946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07525" name="CaixaDeTexto 107524"/>
            <p:cNvSpPr txBox="1"/>
            <p:nvPr/>
          </p:nvSpPr>
          <p:spPr>
            <a:xfrm>
              <a:off x="882976" y="4298517"/>
              <a:ext cx="17203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região no espaço</a:t>
              </a:r>
            </a:p>
            <a:p>
              <a:r>
                <a:rPr lang="pt-BR" dirty="0">
                  <a:latin typeface="Tahoma" panose="020B0604030504040204" pitchFamily="34" charset="0"/>
                </a:rPr>
                <a:t>(p.ex. talhão agrícola)</a:t>
              </a:r>
            </a:p>
          </p:txBody>
        </p:sp>
        <p:cxnSp>
          <p:nvCxnSpPr>
            <p:cNvPr id="107529" name="Conector reto 107528"/>
            <p:cNvCxnSpPr/>
            <p:nvPr/>
          </p:nvCxnSpPr>
          <p:spPr bwMode="auto">
            <a:xfrm flipV="1">
              <a:off x="843146" y="1955367"/>
              <a:ext cx="704518" cy="681967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31" name="Conector reto 107530"/>
            <p:cNvCxnSpPr>
              <a:stCxn id="41" idx="1"/>
            </p:cNvCxnSpPr>
            <p:nvPr/>
          </p:nvCxnSpPr>
          <p:spPr bwMode="auto">
            <a:xfrm flipV="1">
              <a:off x="843146" y="1949946"/>
              <a:ext cx="1640622" cy="117157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33" name="Conector reto 107532"/>
            <p:cNvCxnSpPr>
              <a:endCxn id="41" idx="3"/>
            </p:cNvCxnSpPr>
            <p:nvPr/>
          </p:nvCxnSpPr>
          <p:spPr bwMode="auto">
            <a:xfrm flipV="1">
              <a:off x="843146" y="3121521"/>
              <a:ext cx="1800000" cy="48142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35" name="Conector reto 107534"/>
            <p:cNvCxnSpPr/>
            <p:nvPr/>
          </p:nvCxnSpPr>
          <p:spPr bwMode="auto">
            <a:xfrm flipV="1">
              <a:off x="843146" y="3794453"/>
              <a:ext cx="1800000" cy="39514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37" name="Conector reto 107536"/>
            <p:cNvCxnSpPr/>
            <p:nvPr/>
          </p:nvCxnSpPr>
          <p:spPr bwMode="auto">
            <a:xfrm flipV="1">
              <a:off x="843146" y="1955367"/>
              <a:ext cx="1064558" cy="92237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41" name="Conector reto 107540"/>
            <p:cNvCxnSpPr/>
            <p:nvPr/>
          </p:nvCxnSpPr>
          <p:spPr bwMode="auto">
            <a:xfrm>
              <a:off x="1871700" y="2404117"/>
              <a:ext cx="771446" cy="54562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43" name="Conector reto 107542"/>
            <p:cNvCxnSpPr/>
            <p:nvPr/>
          </p:nvCxnSpPr>
          <p:spPr bwMode="auto">
            <a:xfrm>
              <a:off x="2195736" y="2151436"/>
              <a:ext cx="447410" cy="25268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45" name="Conector reto 107544"/>
            <p:cNvCxnSpPr/>
            <p:nvPr/>
          </p:nvCxnSpPr>
          <p:spPr bwMode="auto">
            <a:xfrm flipH="1">
              <a:off x="1547664" y="3254525"/>
              <a:ext cx="648072" cy="77657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47" name="Conector reto 107546"/>
            <p:cNvCxnSpPr/>
            <p:nvPr/>
          </p:nvCxnSpPr>
          <p:spPr bwMode="auto">
            <a:xfrm flipV="1">
              <a:off x="2257423" y="3398421"/>
              <a:ext cx="385723" cy="47644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2" name="Conector reto 41"/>
            <p:cNvCxnSpPr>
              <a:stCxn id="46" idx="3"/>
            </p:cNvCxnSpPr>
            <p:nvPr/>
          </p:nvCxnSpPr>
          <p:spPr bwMode="auto">
            <a:xfrm flipH="1">
              <a:off x="1043608" y="3410706"/>
              <a:ext cx="517247" cy="74289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4" name="Conector reto 43"/>
            <p:cNvCxnSpPr/>
            <p:nvPr/>
          </p:nvCxnSpPr>
          <p:spPr bwMode="auto">
            <a:xfrm>
              <a:off x="1547664" y="4031103"/>
              <a:ext cx="648072" cy="26741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6" name="Forma livre 45"/>
            <p:cNvSpPr/>
            <p:nvPr/>
          </p:nvSpPr>
          <p:spPr bwMode="auto">
            <a:xfrm>
              <a:off x="1173998" y="2626468"/>
              <a:ext cx="1021912" cy="784238"/>
            </a:xfrm>
            <a:custGeom>
              <a:avLst/>
              <a:gdLst>
                <a:gd name="connsiteX0" fmla="*/ 0 w 696036"/>
                <a:gd name="connsiteY0" fmla="*/ 163773 h 545910"/>
                <a:gd name="connsiteX1" fmla="*/ 232012 w 696036"/>
                <a:gd name="connsiteY1" fmla="*/ 0 h 545910"/>
                <a:gd name="connsiteX2" fmla="*/ 696036 w 696036"/>
                <a:gd name="connsiteY2" fmla="*/ 436728 h 545910"/>
                <a:gd name="connsiteX3" fmla="*/ 313899 w 696036"/>
                <a:gd name="connsiteY3" fmla="*/ 545910 h 545910"/>
                <a:gd name="connsiteX4" fmla="*/ 0 w 696036"/>
                <a:gd name="connsiteY4" fmla="*/ 163773 h 545910"/>
                <a:gd name="connsiteX0" fmla="*/ 0 w 841951"/>
                <a:gd name="connsiteY0" fmla="*/ 134590 h 545910"/>
                <a:gd name="connsiteX1" fmla="*/ 377927 w 841951"/>
                <a:gd name="connsiteY1" fmla="*/ 0 h 545910"/>
                <a:gd name="connsiteX2" fmla="*/ 841951 w 841951"/>
                <a:gd name="connsiteY2" fmla="*/ 436728 h 545910"/>
                <a:gd name="connsiteX3" fmla="*/ 459814 w 841951"/>
                <a:gd name="connsiteY3" fmla="*/ 545910 h 545910"/>
                <a:gd name="connsiteX4" fmla="*/ 0 w 841951"/>
                <a:gd name="connsiteY4" fmla="*/ 134590 h 545910"/>
                <a:gd name="connsiteX0" fmla="*/ 0 w 841951"/>
                <a:gd name="connsiteY0" fmla="*/ 251322 h 662642"/>
                <a:gd name="connsiteX1" fmla="*/ 377927 w 841951"/>
                <a:gd name="connsiteY1" fmla="*/ 0 h 662642"/>
                <a:gd name="connsiteX2" fmla="*/ 841951 w 841951"/>
                <a:gd name="connsiteY2" fmla="*/ 553460 h 662642"/>
                <a:gd name="connsiteX3" fmla="*/ 459814 w 841951"/>
                <a:gd name="connsiteY3" fmla="*/ 662642 h 662642"/>
                <a:gd name="connsiteX4" fmla="*/ 0 w 841951"/>
                <a:gd name="connsiteY4" fmla="*/ 251322 h 662642"/>
                <a:gd name="connsiteX0" fmla="*/ 0 w 1031640"/>
                <a:gd name="connsiteY0" fmla="*/ 251322 h 662642"/>
                <a:gd name="connsiteX1" fmla="*/ 377927 w 1031640"/>
                <a:gd name="connsiteY1" fmla="*/ 0 h 662642"/>
                <a:gd name="connsiteX2" fmla="*/ 1031640 w 1031640"/>
                <a:gd name="connsiteY2" fmla="*/ 626417 h 662642"/>
                <a:gd name="connsiteX3" fmla="*/ 459814 w 1031640"/>
                <a:gd name="connsiteY3" fmla="*/ 662642 h 662642"/>
                <a:gd name="connsiteX4" fmla="*/ 0 w 1031640"/>
                <a:gd name="connsiteY4" fmla="*/ 251322 h 662642"/>
                <a:gd name="connsiteX0" fmla="*/ 0 w 1031640"/>
                <a:gd name="connsiteY0" fmla="*/ 251322 h 784238"/>
                <a:gd name="connsiteX1" fmla="*/ 377927 w 1031640"/>
                <a:gd name="connsiteY1" fmla="*/ 0 h 784238"/>
                <a:gd name="connsiteX2" fmla="*/ 1031640 w 1031640"/>
                <a:gd name="connsiteY2" fmla="*/ 626417 h 784238"/>
                <a:gd name="connsiteX3" fmla="*/ 396585 w 1031640"/>
                <a:gd name="connsiteY3" fmla="*/ 784238 h 784238"/>
                <a:gd name="connsiteX4" fmla="*/ 0 w 1031640"/>
                <a:gd name="connsiteY4" fmla="*/ 251322 h 784238"/>
                <a:gd name="connsiteX0" fmla="*/ 0 w 1021912"/>
                <a:gd name="connsiteY0" fmla="*/ 261049 h 784238"/>
                <a:gd name="connsiteX1" fmla="*/ 368199 w 1021912"/>
                <a:gd name="connsiteY1" fmla="*/ 0 h 784238"/>
                <a:gd name="connsiteX2" fmla="*/ 1021912 w 1021912"/>
                <a:gd name="connsiteY2" fmla="*/ 626417 h 784238"/>
                <a:gd name="connsiteX3" fmla="*/ 386857 w 1021912"/>
                <a:gd name="connsiteY3" fmla="*/ 784238 h 784238"/>
                <a:gd name="connsiteX4" fmla="*/ 0 w 1021912"/>
                <a:gd name="connsiteY4" fmla="*/ 261049 h 784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21912" h="784238">
                  <a:moveTo>
                    <a:pt x="0" y="261049"/>
                  </a:moveTo>
                  <a:lnTo>
                    <a:pt x="368199" y="0"/>
                  </a:lnTo>
                  <a:lnTo>
                    <a:pt x="1021912" y="626417"/>
                  </a:lnTo>
                  <a:lnTo>
                    <a:pt x="386857" y="784238"/>
                  </a:lnTo>
                  <a:lnTo>
                    <a:pt x="0" y="261049"/>
                  </a:lnTo>
                  <a:close/>
                </a:path>
              </a:pathLst>
            </a:custGeom>
            <a:solidFill>
              <a:srgbClr val="FF0000">
                <a:alpha val="21000"/>
              </a:srgbClr>
            </a:solidFill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5" name="Grupo 64"/>
          <p:cNvGrpSpPr/>
          <p:nvPr/>
        </p:nvGrpSpPr>
        <p:grpSpPr>
          <a:xfrm>
            <a:off x="6939602" y="1947817"/>
            <a:ext cx="1808862" cy="2622278"/>
            <a:chOff x="5863389" y="1947817"/>
            <a:chExt cx="1808862" cy="2622278"/>
          </a:xfrm>
        </p:grpSpPr>
        <p:grpSp>
          <p:nvGrpSpPr>
            <p:cNvPr id="5" name="Group 64"/>
            <p:cNvGrpSpPr>
              <a:grpSpLocks/>
            </p:cNvGrpSpPr>
            <p:nvPr/>
          </p:nvGrpSpPr>
          <p:grpSpPr bwMode="auto">
            <a:xfrm>
              <a:off x="5868119" y="1949946"/>
              <a:ext cx="1800225" cy="2343150"/>
              <a:chOff x="2200" y="1661"/>
              <a:chExt cx="1134" cy="1476"/>
            </a:xfrm>
          </p:grpSpPr>
          <p:grpSp>
            <p:nvGrpSpPr>
              <p:cNvPr id="6" name="Group 63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134" cy="1476"/>
              </a:xfrm>
            </p:grpSpPr>
            <p:sp>
              <p:nvSpPr>
                <p:cNvPr id="22" name="Line 35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" name="Line 36"/>
                <p:cNvSpPr>
                  <a:spLocks noChangeShapeType="1"/>
                </p:cNvSpPr>
                <p:nvPr/>
              </p:nvSpPr>
              <p:spPr bwMode="auto">
                <a:xfrm>
                  <a:off x="2200" y="174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" name="Line 37"/>
                <p:cNvSpPr>
                  <a:spLocks noChangeShapeType="1"/>
                </p:cNvSpPr>
                <p:nvPr/>
              </p:nvSpPr>
              <p:spPr bwMode="auto">
                <a:xfrm>
                  <a:off x="2200" y="183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" name="Line 38"/>
                <p:cNvSpPr>
                  <a:spLocks noChangeShapeType="1"/>
                </p:cNvSpPr>
                <p:nvPr/>
              </p:nvSpPr>
              <p:spPr bwMode="auto">
                <a:xfrm>
                  <a:off x="2200" y="192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" name="Line 39"/>
                <p:cNvSpPr>
                  <a:spLocks noChangeShapeType="1"/>
                </p:cNvSpPr>
                <p:nvPr/>
              </p:nvSpPr>
              <p:spPr bwMode="auto">
                <a:xfrm>
                  <a:off x="2200" y="200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" name="Line 40"/>
                <p:cNvSpPr>
                  <a:spLocks noChangeShapeType="1"/>
                </p:cNvSpPr>
                <p:nvPr/>
              </p:nvSpPr>
              <p:spPr bwMode="auto">
                <a:xfrm>
                  <a:off x="2200" y="209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" name="Line 41"/>
                <p:cNvSpPr>
                  <a:spLocks noChangeShapeType="1"/>
                </p:cNvSpPr>
                <p:nvPr/>
              </p:nvSpPr>
              <p:spPr bwMode="auto">
                <a:xfrm>
                  <a:off x="2200" y="218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" name="Line 42"/>
                <p:cNvSpPr>
                  <a:spLocks noChangeShapeType="1"/>
                </p:cNvSpPr>
                <p:nvPr/>
              </p:nvSpPr>
              <p:spPr bwMode="auto">
                <a:xfrm>
                  <a:off x="2200" y="226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" name="Line 43"/>
                <p:cNvSpPr>
                  <a:spLocks noChangeShapeType="1"/>
                </p:cNvSpPr>
                <p:nvPr/>
              </p:nvSpPr>
              <p:spPr bwMode="auto">
                <a:xfrm>
                  <a:off x="2200" y="235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" name="Line 44"/>
                <p:cNvSpPr>
                  <a:spLocks noChangeShapeType="1"/>
                </p:cNvSpPr>
                <p:nvPr/>
              </p:nvSpPr>
              <p:spPr bwMode="auto">
                <a:xfrm>
                  <a:off x="2200" y="244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" name="Line 45"/>
                <p:cNvSpPr>
                  <a:spLocks noChangeShapeType="1"/>
                </p:cNvSpPr>
                <p:nvPr/>
              </p:nvSpPr>
              <p:spPr bwMode="auto">
                <a:xfrm>
                  <a:off x="2200" y="252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" name="Line 46"/>
                <p:cNvSpPr>
                  <a:spLocks noChangeShapeType="1"/>
                </p:cNvSpPr>
                <p:nvPr/>
              </p:nvSpPr>
              <p:spPr bwMode="auto">
                <a:xfrm>
                  <a:off x="2200" y="261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" name="Line 51"/>
                <p:cNvSpPr>
                  <a:spLocks noChangeShapeType="1"/>
                </p:cNvSpPr>
                <p:nvPr/>
              </p:nvSpPr>
              <p:spPr bwMode="auto">
                <a:xfrm>
                  <a:off x="2200" y="270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" name="Line 52"/>
                <p:cNvSpPr>
                  <a:spLocks noChangeShapeType="1"/>
                </p:cNvSpPr>
                <p:nvPr/>
              </p:nvSpPr>
              <p:spPr bwMode="auto">
                <a:xfrm>
                  <a:off x="2200" y="279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" name="Line 53"/>
                <p:cNvSpPr>
                  <a:spLocks noChangeShapeType="1"/>
                </p:cNvSpPr>
                <p:nvPr/>
              </p:nvSpPr>
              <p:spPr bwMode="auto">
                <a:xfrm>
                  <a:off x="2200" y="287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" name="Line 54"/>
                <p:cNvSpPr>
                  <a:spLocks noChangeShapeType="1"/>
                </p:cNvSpPr>
                <p:nvPr/>
              </p:nvSpPr>
              <p:spPr bwMode="auto">
                <a:xfrm>
                  <a:off x="2200" y="296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" name="Line 55"/>
                <p:cNvSpPr>
                  <a:spLocks noChangeShapeType="1"/>
                </p:cNvSpPr>
                <p:nvPr/>
              </p:nvSpPr>
              <p:spPr bwMode="auto">
                <a:xfrm>
                  <a:off x="2200" y="305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9" name="Line 56"/>
                <p:cNvSpPr>
                  <a:spLocks noChangeShapeType="1"/>
                </p:cNvSpPr>
                <p:nvPr/>
              </p:nvSpPr>
              <p:spPr bwMode="auto">
                <a:xfrm>
                  <a:off x="2200" y="313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7" name="Group 47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768" cy="1452"/>
              </a:xfrm>
            </p:grpSpPr>
            <p:sp>
              <p:nvSpPr>
                <p:cNvPr id="8" name="Line 21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" name="Line 22"/>
                <p:cNvSpPr>
                  <a:spLocks noChangeShapeType="1"/>
                </p:cNvSpPr>
                <p:nvPr/>
              </p:nvSpPr>
              <p:spPr bwMode="auto">
                <a:xfrm>
                  <a:off x="233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" name="Line 23"/>
                <p:cNvSpPr>
                  <a:spLocks noChangeShapeType="1"/>
                </p:cNvSpPr>
                <p:nvPr/>
              </p:nvSpPr>
              <p:spPr bwMode="auto">
                <a:xfrm>
                  <a:off x="247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" name="Line 24"/>
                <p:cNvSpPr>
                  <a:spLocks noChangeShapeType="1"/>
                </p:cNvSpPr>
                <p:nvPr/>
              </p:nvSpPr>
              <p:spPr bwMode="auto">
                <a:xfrm>
                  <a:off x="260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" name="Line 25"/>
                <p:cNvSpPr>
                  <a:spLocks noChangeShapeType="1"/>
                </p:cNvSpPr>
                <p:nvPr/>
              </p:nvSpPr>
              <p:spPr bwMode="auto">
                <a:xfrm>
                  <a:off x="274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" name="Line 26"/>
                <p:cNvSpPr>
                  <a:spLocks noChangeShapeType="1"/>
                </p:cNvSpPr>
                <p:nvPr/>
              </p:nvSpPr>
              <p:spPr bwMode="auto">
                <a:xfrm>
                  <a:off x="288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" name="Line 27"/>
                <p:cNvSpPr>
                  <a:spLocks noChangeShapeType="1"/>
                </p:cNvSpPr>
                <p:nvPr/>
              </p:nvSpPr>
              <p:spPr bwMode="auto">
                <a:xfrm>
                  <a:off x="301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" name="Line 28"/>
                <p:cNvSpPr>
                  <a:spLocks noChangeShapeType="1"/>
                </p:cNvSpPr>
                <p:nvPr/>
              </p:nvSpPr>
              <p:spPr bwMode="auto">
                <a:xfrm>
                  <a:off x="315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" name="Line 29"/>
                <p:cNvSpPr>
                  <a:spLocks noChangeShapeType="1"/>
                </p:cNvSpPr>
                <p:nvPr/>
              </p:nvSpPr>
              <p:spPr bwMode="auto">
                <a:xfrm>
                  <a:off x="328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" name="Line 30"/>
                <p:cNvSpPr>
                  <a:spLocks noChangeShapeType="1"/>
                </p:cNvSpPr>
                <p:nvPr/>
              </p:nvSpPr>
              <p:spPr bwMode="auto">
                <a:xfrm>
                  <a:off x="342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" name="Line 31"/>
                <p:cNvSpPr>
                  <a:spLocks noChangeShapeType="1"/>
                </p:cNvSpPr>
                <p:nvPr/>
              </p:nvSpPr>
              <p:spPr bwMode="auto">
                <a:xfrm>
                  <a:off x="356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" name="Line 32"/>
                <p:cNvSpPr>
                  <a:spLocks noChangeShapeType="1"/>
                </p:cNvSpPr>
                <p:nvPr/>
              </p:nvSpPr>
              <p:spPr bwMode="auto">
                <a:xfrm>
                  <a:off x="369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" name="Line 33"/>
                <p:cNvSpPr>
                  <a:spLocks noChangeShapeType="1"/>
                </p:cNvSpPr>
                <p:nvPr/>
              </p:nvSpPr>
              <p:spPr bwMode="auto">
                <a:xfrm>
                  <a:off x="383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" name="Line 34"/>
                <p:cNvSpPr>
                  <a:spLocks noChangeShapeType="1"/>
                </p:cNvSpPr>
                <p:nvPr/>
              </p:nvSpPr>
              <p:spPr bwMode="auto">
                <a:xfrm>
                  <a:off x="396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130" name="CaixaDeTexto 129"/>
            <p:cNvSpPr txBox="1"/>
            <p:nvPr/>
          </p:nvSpPr>
          <p:spPr>
            <a:xfrm>
              <a:off x="6336072" y="4293096"/>
              <a:ext cx="8643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segmento</a:t>
              </a:r>
            </a:p>
          </p:txBody>
        </p:sp>
        <p:sp>
          <p:nvSpPr>
            <p:cNvPr id="51" name="Forma livre 50"/>
            <p:cNvSpPr/>
            <p:nvPr/>
          </p:nvSpPr>
          <p:spPr bwMode="auto">
            <a:xfrm>
              <a:off x="5869577" y="1947817"/>
              <a:ext cx="830217" cy="966652"/>
            </a:xfrm>
            <a:custGeom>
              <a:avLst/>
              <a:gdLst>
                <a:gd name="connsiteX0" fmla="*/ 830217 w 830217"/>
                <a:gd name="connsiteY0" fmla="*/ 0 h 966652"/>
                <a:gd name="connsiteX1" fmla="*/ 830217 w 830217"/>
                <a:gd name="connsiteY1" fmla="*/ 412206 h 966652"/>
                <a:gd name="connsiteX2" fmla="*/ 690880 w 830217"/>
                <a:gd name="connsiteY2" fmla="*/ 415109 h 966652"/>
                <a:gd name="connsiteX3" fmla="*/ 690880 w 830217"/>
                <a:gd name="connsiteY3" fmla="*/ 551543 h 966652"/>
                <a:gd name="connsiteX4" fmla="*/ 554446 w 830217"/>
                <a:gd name="connsiteY4" fmla="*/ 551543 h 966652"/>
                <a:gd name="connsiteX5" fmla="*/ 551543 w 830217"/>
                <a:gd name="connsiteY5" fmla="*/ 827314 h 966652"/>
                <a:gd name="connsiteX6" fmla="*/ 136434 w 830217"/>
                <a:gd name="connsiteY6" fmla="*/ 827314 h 966652"/>
                <a:gd name="connsiteX7" fmla="*/ 139337 w 830217"/>
                <a:gd name="connsiteY7" fmla="*/ 963749 h 966652"/>
                <a:gd name="connsiteX8" fmla="*/ 0 w 830217"/>
                <a:gd name="connsiteY8" fmla="*/ 963749 h 966652"/>
                <a:gd name="connsiteX9" fmla="*/ 2903 w 830217"/>
                <a:gd name="connsiteY9" fmla="*/ 957943 h 966652"/>
                <a:gd name="connsiteX10" fmla="*/ 2903 w 830217"/>
                <a:gd name="connsiteY10" fmla="*/ 957943 h 966652"/>
                <a:gd name="connsiteX11" fmla="*/ 2903 w 830217"/>
                <a:gd name="connsiteY11" fmla="*/ 966652 h 966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30217" h="966652">
                  <a:moveTo>
                    <a:pt x="830217" y="0"/>
                  </a:moveTo>
                  <a:lnTo>
                    <a:pt x="830217" y="412206"/>
                  </a:lnTo>
                  <a:lnTo>
                    <a:pt x="690880" y="415109"/>
                  </a:lnTo>
                  <a:lnTo>
                    <a:pt x="690880" y="551543"/>
                  </a:lnTo>
                  <a:lnTo>
                    <a:pt x="554446" y="551543"/>
                  </a:lnTo>
                  <a:cubicBezTo>
                    <a:pt x="553478" y="643467"/>
                    <a:pt x="552511" y="735390"/>
                    <a:pt x="551543" y="827314"/>
                  </a:cubicBezTo>
                  <a:lnTo>
                    <a:pt x="136434" y="827314"/>
                  </a:lnTo>
                  <a:cubicBezTo>
                    <a:pt x="137402" y="872792"/>
                    <a:pt x="138369" y="918271"/>
                    <a:pt x="139337" y="963749"/>
                  </a:cubicBezTo>
                  <a:lnTo>
                    <a:pt x="0" y="963749"/>
                  </a:lnTo>
                  <a:lnTo>
                    <a:pt x="2903" y="957943"/>
                  </a:lnTo>
                  <a:lnTo>
                    <a:pt x="2903" y="957943"/>
                  </a:lnTo>
                  <a:lnTo>
                    <a:pt x="2903" y="966652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3" name="Forma livre 52"/>
            <p:cNvSpPr/>
            <p:nvPr/>
          </p:nvSpPr>
          <p:spPr bwMode="auto">
            <a:xfrm>
              <a:off x="5869577" y="3884023"/>
              <a:ext cx="554446" cy="409303"/>
            </a:xfrm>
            <a:custGeom>
              <a:avLst/>
              <a:gdLst>
                <a:gd name="connsiteX0" fmla="*/ 0 w 554446"/>
                <a:gd name="connsiteY0" fmla="*/ 130628 h 409303"/>
                <a:gd name="connsiteX1" fmla="*/ 275772 w 554446"/>
                <a:gd name="connsiteY1" fmla="*/ 133531 h 409303"/>
                <a:gd name="connsiteX2" fmla="*/ 278674 w 554446"/>
                <a:gd name="connsiteY2" fmla="*/ 2903 h 409303"/>
                <a:gd name="connsiteX3" fmla="*/ 554446 w 554446"/>
                <a:gd name="connsiteY3" fmla="*/ 0 h 409303"/>
                <a:gd name="connsiteX4" fmla="*/ 548640 w 554446"/>
                <a:gd name="connsiteY4" fmla="*/ 409303 h 40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4446" h="409303">
                  <a:moveTo>
                    <a:pt x="0" y="130628"/>
                  </a:moveTo>
                  <a:lnTo>
                    <a:pt x="275772" y="133531"/>
                  </a:lnTo>
                  <a:cubicBezTo>
                    <a:pt x="276739" y="89988"/>
                    <a:pt x="277707" y="46446"/>
                    <a:pt x="278674" y="2903"/>
                  </a:cubicBezTo>
                  <a:lnTo>
                    <a:pt x="554446" y="0"/>
                  </a:lnTo>
                  <a:cubicBezTo>
                    <a:pt x="552511" y="136434"/>
                    <a:pt x="550575" y="272869"/>
                    <a:pt x="548640" y="409303"/>
                  </a:cubicBez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4" name="Forma livre 53"/>
            <p:cNvSpPr/>
            <p:nvPr/>
          </p:nvSpPr>
          <p:spPr bwMode="auto">
            <a:xfrm>
              <a:off x="5869577" y="3320869"/>
              <a:ext cx="696686" cy="563154"/>
            </a:xfrm>
            <a:custGeom>
              <a:avLst/>
              <a:gdLst>
                <a:gd name="connsiteX0" fmla="*/ 0 w 696686"/>
                <a:gd name="connsiteY0" fmla="*/ 0 h 563154"/>
                <a:gd name="connsiteX1" fmla="*/ 551543 w 696686"/>
                <a:gd name="connsiteY1" fmla="*/ 5805 h 563154"/>
                <a:gd name="connsiteX2" fmla="*/ 551543 w 696686"/>
                <a:gd name="connsiteY2" fmla="*/ 287382 h 563154"/>
                <a:gd name="connsiteX3" fmla="*/ 696686 w 696686"/>
                <a:gd name="connsiteY3" fmla="*/ 284480 h 563154"/>
                <a:gd name="connsiteX4" fmla="*/ 687977 w 696686"/>
                <a:gd name="connsiteY4" fmla="*/ 560251 h 563154"/>
                <a:gd name="connsiteX5" fmla="*/ 554446 w 696686"/>
                <a:gd name="connsiteY5" fmla="*/ 563154 h 563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6686" h="563154">
                  <a:moveTo>
                    <a:pt x="0" y="0"/>
                  </a:moveTo>
                  <a:lnTo>
                    <a:pt x="551543" y="5805"/>
                  </a:lnTo>
                  <a:lnTo>
                    <a:pt x="551543" y="287382"/>
                  </a:lnTo>
                  <a:lnTo>
                    <a:pt x="696686" y="284480"/>
                  </a:lnTo>
                  <a:lnTo>
                    <a:pt x="687977" y="560251"/>
                  </a:lnTo>
                  <a:lnTo>
                    <a:pt x="554446" y="563154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5" name="Forma livre 54"/>
            <p:cNvSpPr/>
            <p:nvPr/>
          </p:nvSpPr>
          <p:spPr bwMode="auto">
            <a:xfrm>
              <a:off x="6284686" y="2783840"/>
              <a:ext cx="415108" cy="821509"/>
            </a:xfrm>
            <a:custGeom>
              <a:avLst/>
              <a:gdLst>
                <a:gd name="connsiteX0" fmla="*/ 0 w 415108"/>
                <a:gd name="connsiteY0" fmla="*/ 0 h 821509"/>
                <a:gd name="connsiteX1" fmla="*/ 0 w 415108"/>
                <a:gd name="connsiteY1" fmla="*/ 403497 h 821509"/>
                <a:gd name="connsiteX2" fmla="*/ 415108 w 415108"/>
                <a:gd name="connsiteY2" fmla="*/ 403497 h 821509"/>
                <a:gd name="connsiteX3" fmla="*/ 415108 w 415108"/>
                <a:gd name="connsiteY3" fmla="*/ 821509 h 821509"/>
                <a:gd name="connsiteX4" fmla="*/ 275771 w 415108"/>
                <a:gd name="connsiteY4" fmla="*/ 821509 h 821509"/>
                <a:gd name="connsiteX5" fmla="*/ 278674 w 415108"/>
                <a:gd name="connsiteY5" fmla="*/ 821509 h 821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5108" h="821509">
                  <a:moveTo>
                    <a:pt x="0" y="0"/>
                  </a:moveTo>
                  <a:lnTo>
                    <a:pt x="0" y="403497"/>
                  </a:lnTo>
                  <a:lnTo>
                    <a:pt x="415108" y="403497"/>
                  </a:lnTo>
                  <a:lnTo>
                    <a:pt x="415108" y="821509"/>
                  </a:lnTo>
                  <a:lnTo>
                    <a:pt x="275771" y="821509"/>
                  </a:lnTo>
                  <a:lnTo>
                    <a:pt x="278674" y="821509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6" name="Forma livre 55"/>
            <p:cNvSpPr/>
            <p:nvPr/>
          </p:nvSpPr>
          <p:spPr bwMode="auto">
            <a:xfrm>
              <a:off x="6705600" y="3187337"/>
              <a:ext cx="960846" cy="136434"/>
            </a:xfrm>
            <a:custGeom>
              <a:avLst/>
              <a:gdLst>
                <a:gd name="connsiteX0" fmla="*/ 0 w 960846"/>
                <a:gd name="connsiteY0" fmla="*/ 136434 h 136434"/>
                <a:gd name="connsiteX1" fmla="*/ 827314 w 960846"/>
                <a:gd name="connsiteY1" fmla="*/ 133532 h 136434"/>
                <a:gd name="connsiteX2" fmla="*/ 824411 w 960846"/>
                <a:gd name="connsiteY2" fmla="*/ 2903 h 136434"/>
                <a:gd name="connsiteX3" fmla="*/ 960846 w 960846"/>
                <a:gd name="connsiteY3" fmla="*/ 0 h 136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0846" h="136434">
                  <a:moveTo>
                    <a:pt x="0" y="136434"/>
                  </a:moveTo>
                  <a:lnTo>
                    <a:pt x="827314" y="133532"/>
                  </a:lnTo>
                  <a:cubicBezTo>
                    <a:pt x="826346" y="89989"/>
                    <a:pt x="825379" y="46446"/>
                    <a:pt x="824411" y="2903"/>
                  </a:cubicBezTo>
                  <a:lnTo>
                    <a:pt x="960846" y="0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7" name="Forma livre 56"/>
            <p:cNvSpPr/>
            <p:nvPr/>
          </p:nvSpPr>
          <p:spPr bwMode="auto">
            <a:xfrm>
              <a:off x="7251337" y="2087154"/>
              <a:ext cx="420914" cy="1103086"/>
            </a:xfrm>
            <a:custGeom>
              <a:avLst/>
              <a:gdLst>
                <a:gd name="connsiteX0" fmla="*/ 420914 w 420914"/>
                <a:gd name="connsiteY0" fmla="*/ 0 h 1103086"/>
                <a:gd name="connsiteX1" fmla="*/ 5806 w 420914"/>
                <a:gd name="connsiteY1" fmla="*/ 0 h 1103086"/>
                <a:gd name="connsiteX2" fmla="*/ 0 w 420914"/>
                <a:gd name="connsiteY2" fmla="*/ 406400 h 1103086"/>
                <a:gd name="connsiteX3" fmla="*/ 148046 w 420914"/>
                <a:gd name="connsiteY3" fmla="*/ 406400 h 1103086"/>
                <a:gd name="connsiteX4" fmla="*/ 142240 w 420914"/>
                <a:gd name="connsiteY4" fmla="*/ 693783 h 1103086"/>
                <a:gd name="connsiteX5" fmla="*/ 281577 w 420914"/>
                <a:gd name="connsiteY5" fmla="*/ 690880 h 1103086"/>
                <a:gd name="connsiteX6" fmla="*/ 278674 w 420914"/>
                <a:gd name="connsiteY6" fmla="*/ 1103086 h 110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0914" h="1103086">
                  <a:moveTo>
                    <a:pt x="420914" y="0"/>
                  </a:moveTo>
                  <a:lnTo>
                    <a:pt x="5806" y="0"/>
                  </a:lnTo>
                  <a:cubicBezTo>
                    <a:pt x="3871" y="135467"/>
                    <a:pt x="1935" y="270933"/>
                    <a:pt x="0" y="406400"/>
                  </a:cubicBezTo>
                  <a:lnTo>
                    <a:pt x="148046" y="406400"/>
                  </a:lnTo>
                  <a:lnTo>
                    <a:pt x="142240" y="693783"/>
                  </a:lnTo>
                  <a:lnTo>
                    <a:pt x="281577" y="690880"/>
                  </a:lnTo>
                  <a:cubicBezTo>
                    <a:pt x="280609" y="828282"/>
                    <a:pt x="279642" y="965684"/>
                    <a:pt x="278674" y="1103086"/>
                  </a:cubicBez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8" name="Forma livre 57"/>
            <p:cNvSpPr/>
            <p:nvPr/>
          </p:nvSpPr>
          <p:spPr bwMode="auto">
            <a:xfrm>
              <a:off x="6836229" y="2084251"/>
              <a:ext cx="281577" cy="560252"/>
            </a:xfrm>
            <a:custGeom>
              <a:avLst/>
              <a:gdLst>
                <a:gd name="connsiteX0" fmla="*/ 0 w 281577"/>
                <a:gd name="connsiteY0" fmla="*/ 0 h 560252"/>
                <a:gd name="connsiteX1" fmla="*/ 281577 w 281577"/>
                <a:gd name="connsiteY1" fmla="*/ 5806 h 560252"/>
                <a:gd name="connsiteX2" fmla="*/ 278674 w 281577"/>
                <a:gd name="connsiteY2" fmla="*/ 560252 h 560252"/>
                <a:gd name="connsiteX3" fmla="*/ 145142 w 281577"/>
                <a:gd name="connsiteY3" fmla="*/ 554446 h 560252"/>
                <a:gd name="connsiteX4" fmla="*/ 136434 w 281577"/>
                <a:gd name="connsiteY4" fmla="*/ 415109 h 560252"/>
                <a:gd name="connsiteX5" fmla="*/ 2902 w 281577"/>
                <a:gd name="connsiteY5" fmla="*/ 412206 h 560252"/>
                <a:gd name="connsiteX6" fmla="*/ 0 w 281577"/>
                <a:gd name="connsiteY6" fmla="*/ 0 h 560252"/>
                <a:gd name="connsiteX0" fmla="*/ 0 w 281577"/>
                <a:gd name="connsiteY0" fmla="*/ 0 h 560252"/>
                <a:gd name="connsiteX1" fmla="*/ 281577 w 281577"/>
                <a:gd name="connsiteY1" fmla="*/ 5806 h 560252"/>
                <a:gd name="connsiteX2" fmla="*/ 278674 w 281577"/>
                <a:gd name="connsiteY2" fmla="*/ 560252 h 560252"/>
                <a:gd name="connsiteX3" fmla="*/ 145142 w 281577"/>
                <a:gd name="connsiteY3" fmla="*/ 554446 h 560252"/>
                <a:gd name="connsiteX4" fmla="*/ 142240 w 281577"/>
                <a:gd name="connsiteY4" fmla="*/ 420915 h 560252"/>
                <a:gd name="connsiteX5" fmla="*/ 2902 w 281577"/>
                <a:gd name="connsiteY5" fmla="*/ 412206 h 560252"/>
                <a:gd name="connsiteX6" fmla="*/ 0 w 281577"/>
                <a:gd name="connsiteY6" fmla="*/ 0 h 560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1577" h="560252">
                  <a:moveTo>
                    <a:pt x="0" y="0"/>
                  </a:moveTo>
                  <a:lnTo>
                    <a:pt x="281577" y="5806"/>
                  </a:lnTo>
                  <a:cubicBezTo>
                    <a:pt x="280609" y="190621"/>
                    <a:pt x="279642" y="375437"/>
                    <a:pt x="278674" y="560252"/>
                  </a:cubicBezTo>
                  <a:lnTo>
                    <a:pt x="145142" y="554446"/>
                  </a:lnTo>
                  <a:cubicBezTo>
                    <a:pt x="144175" y="509936"/>
                    <a:pt x="143207" y="465425"/>
                    <a:pt x="142240" y="420915"/>
                  </a:cubicBezTo>
                  <a:lnTo>
                    <a:pt x="2902" y="412206"/>
                  </a:lnTo>
                  <a:cubicBezTo>
                    <a:pt x="1935" y="274804"/>
                    <a:pt x="967" y="137402"/>
                    <a:pt x="0" y="0"/>
                  </a:cubicBezTo>
                  <a:close/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9" name="Forma livre 58"/>
            <p:cNvSpPr/>
            <p:nvPr/>
          </p:nvSpPr>
          <p:spPr bwMode="auto">
            <a:xfrm>
              <a:off x="6836229" y="3744686"/>
              <a:ext cx="833120" cy="548640"/>
            </a:xfrm>
            <a:custGeom>
              <a:avLst/>
              <a:gdLst>
                <a:gd name="connsiteX0" fmla="*/ 833120 w 833120"/>
                <a:gd name="connsiteY0" fmla="*/ 0 h 548640"/>
                <a:gd name="connsiteX1" fmla="*/ 418011 w 833120"/>
                <a:gd name="connsiteY1" fmla="*/ 0 h 548640"/>
                <a:gd name="connsiteX2" fmla="*/ 415108 w 833120"/>
                <a:gd name="connsiteY2" fmla="*/ 412205 h 548640"/>
                <a:gd name="connsiteX3" fmla="*/ 0 w 833120"/>
                <a:gd name="connsiteY3" fmla="*/ 412205 h 548640"/>
                <a:gd name="connsiteX4" fmla="*/ 2902 w 833120"/>
                <a:gd name="connsiteY4" fmla="*/ 548640 h 548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3120" h="548640">
                  <a:moveTo>
                    <a:pt x="833120" y="0"/>
                  </a:moveTo>
                  <a:lnTo>
                    <a:pt x="418011" y="0"/>
                  </a:lnTo>
                  <a:cubicBezTo>
                    <a:pt x="417043" y="137402"/>
                    <a:pt x="416076" y="274803"/>
                    <a:pt x="415108" y="412205"/>
                  </a:cubicBezTo>
                  <a:lnTo>
                    <a:pt x="0" y="412205"/>
                  </a:lnTo>
                  <a:cubicBezTo>
                    <a:pt x="967" y="457683"/>
                    <a:pt x="1935" y="503162"/>
                    <a:pt x="2902" y="548640"/>
                  </a:cubicBez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0" name="Forma livre 59"/>
            <p:cNvSpPr/>
            <p:nvPr/>
          </p:nvSpPr>
          <p:spPr bwMode="auto">
            <a:xfrm>
              <a:off x="6554651" y="3878217"/>
              <a:ext cx="693783" cy="2903"/>
            </a:xfrm>
            <a:custGeom>
              <a:avLst/>
              <a:gdLst>
                <a:gd name="connsiteX0" fmla="*/ 0 w 693783"/>
                <a:gd name="connsiteY0" fmla="*/ 2903 h 2903"/>
                <a:gd name="connsiteX1" fmla="*/ 693783 w 693783"/>
                <a:gd name="connsiteY1" fmla="*/ 0 h 2903"/>
                <a:gd name="connsiteX2" fmla="*/ 693783 w 693783"/>
                <a:gd name="connsiteY2" fmla="*/ 0 h 2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3783" h="2903">
                  <a:moveTo>
                    <a:pt x="0" y="2903"/>
                  </a:moveTo>
                  <a:lnTo>
                    <a:pt x="693783" y="0"/>
                  </a:lnTo>
                  <a:lnTo>
                    <a:pt x="693783" y="0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1" name="Forma livre 60"/>
            <p:cNvSpPr/>
            <p:nvPr/>
          </p:nvSpPr>
          <p:spPr bwMode="auto">
            <a:xfrm>
              <a:off x="6413213" y="2776300"/>
              <a:ext cx="562707" cy="550295"/>
            </a:xfrm>
            <a:custGeom>
              <a:avLst/>
              <a:gdLst>
                <a:gd name="connsiteX0" fmla="*/ 0 w 562707"/>
                <a:gd name="connsiteY0" fmla="*/ 4138 h 550295"/>
                <a:gd name="connsiteX1" fmla="*/ 289629 w 562707"/>
                <a:gd name="connsiteY1" fmla="*/ 0 h 550295"/>
                <a:gd name="connsiteX2" fmla="*/ 285491 w 562707"/>
                <a:gd name="connsiteY2" fmla="*/ 140677 h 550295"/>
                <a:gd name="connsiteX3" fmla="*/ 562707 w 562707"/>
                <a:gd name="connsiteY3" fmla="*/ 136540 h 550295"/>
                <a:gd name="connsiteX4" fmla="*/ 562707 w 562707"/>
                <a:gd name="connsiteY4" fmla="*/ 550295 h 550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2707" h="550295">
                  <a:moveTo>
                    <a:pt x="0" y="4138"/>
                  </a:moveTo>
                  <a:lnTo>
                    <a:pt x="289629" y="0"/>
                  </a:lnTo>
                  <a:lnTo>
                    <a:pt x="285491" y="140677"/>
                  </a:lnTo>
                  <a:lnTo>
                    <a:pt x="562707" y="136540"/>
                  </a:lnTo>
                  <a:lnTo>
                    <a:pt x="562707" y="550295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2" name="Forma livre 61"/>
            <p:cNvSpPr/>
            <p:nvPr/>
          </p:nvSpPr>
          <p:spPr bwMode="auto">
            <a:xfrm>
              <a:off x="5863389" y="1949116"/>
              <a:ext cx="421106" cy="417095"/>
            </a:xfrm>
            <a:custGeom>
              <a:avLst/>
              <a:gdLst>
                <a:gd name="connsiteX0" fmla="*/ 0 w 421106"/>
                <a:gd name="connsiteY0" fmla="*/ 413084 h 417095"/>
                <a:gd name="connsiteX1" fmla="*/ 276727 w 421106"/>
                <a:gd name="connsiteY1" fmla="*/ 417095 h 417095"/>
                <a:gd name="connsiteX2" fmla="*/ 280737 w 421106"/>
                <a:gd name="connsiteY2" fmla="*/ 140368 h 417095"/>
                <a:gd name="connsiteX3" fmla="*/ 421106 w 421106"/>
                <a:gd name="connsiteY3" fmla="*/ 140368 h 417095"/>
                <a:gd name="connsiteX4" fmla="*/ 421106 w 421106"/>
                <a:gd name="connsiteY4" fmla="*/ 0 h 417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1106" h="417095">
                  <a:moveTo>
                    <a:pt x="0" y="413084"/>
                  </a:moveTo>
                  <a:lnTo>
                    <a:pt x="276727" y="417095"/>
                  </a:lnTo>
                  <a:cubicBezTo>
                    <a:pt x="278064" y="324853"/>
                    <a:pt x="279400" y="232610"/>
                    <a:pt x="280737" y="140368"/>
                  </a:cubicBezTo>
                  <a:lnTo>
                    <a:pt x="421106" y="140368"/>
                  </a:lnTo>
                  <a:lnTo>
                    <a:pt x="421106" y="0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3" name="Forma livre 62"/>
            <p:cNvSpPr/>
            <p:nvPr/>
          </p:nvSpPr>
          <p:spPr bwMode="auto">
            <a:xfrm>
              <a:off x="7251032" y="3320716"/>
              <a:ext cx="140368" cy="421105"/>
            </a:xfrm>
            <a:custGeom>
              <a:avLst/>
              <a:gdLst>
                <a:gd name="connsiteX0" fmla="*/ 0 w 140368"/>
                <a:gd name="connsiteY0" fmla="*/ 421105 h 421105"/>
                <a:gd name="connsiteX1" fmla="*/ 4010 w 140368"/>
                <a:gd name="connsiteY1" fmla="*/ 288758 h 421105"/>
                <a:gd name="connsiteX2" fmla="*/ 136357 w 140368"/>
                <a:gd name="connsiteY2" fmla="*/ 280737 h 421105"/>
                <a:gd name="connsiteX3" fmla="*/ 140368 w 140368"/>
                <a:gd name="connsiteY3" fmla="*/ 0 h 421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0368" h="421105">
                  <a:moveTo>
                    <a:pt x="0" y="421105"/>
                  </a:moveTo>
                  <a:lnTo>
                    <a:pt x="4010" y="288758"/>
                  </a:lnTo>
                  <a:lnTo>
                    <a:pt x="136357" y="280737"/>
                  </a:lnTo>
                  <a:lnTo>
                    <a:pt x="140368" y="0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4" name="Forma livre 63"/>
            <p:cNvSpPr/>
            <p:nvPr/>
          </p:nvSpPr>
          <p:spPr bwMode="auto">
            <a:xfrm>
              <a:off x="6280484" y="2771274"/>
              <a:ext cx="697832" cy="557463"/>
            </a:xfrm>
            <a:custGeom>
              <a:avLst/>
              <a:gdLst>
                <a:gd name="connsiteX0" fmla="*/ 0 w 697832"/>
                <a:gd name="connsiteY0" fmla="*/ 0 h 557463"/>
                <a:gd name="connsiteX1" fmla="*/ 413084 w 697832"/>
                <a:gd name="connsiteY1" fmla="*/ 4010 h 557463"/>
                <a:gd name="connsiteX2" fmla="*/ 421105 w 697832"/>
                <a:gd name="connsiteY2" fmla="*/ 140368 h 557463"/>
                <a:gd name="connsiteX3" fmla="*/ 693821 w 697832"/>
                <a:gd name="connsiteY3" fmla="*/ 144379 h 557463"/>
                <a:gd name="connsiteX4" fmla="*/ 697832 w 697832"/>
                <a:gd name="connsiteY4" fmla="*/ 553452 h 557463"/>
                <a:gd name="connsiteX5" fmla="*/ 421105 w 697832"/>
                <a:gd name="connsiteY5" fmla="*/ 557463 h 557463"/>
                <a:gd name="connsiteX6" fmla="*/ 421105 w 697832"/>
                <a:gd name="connsiteY6" fmla="*/ 417094 h 557463"/>
                <a:gd name="connsiteX7" fmla="*/ 8021 w 697832"/>
                <a:gd name="connsiteY7" fmla="*/ 417094 h 557463"/>
                <a:gd name="connsiteX8" fmla="*/ 0 w 697832"/>
                <a:gd name="connsiteY8" fmla="*/ 0 h 557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97832" h="557463">
                  <a:moveTo>
                    <a:pt x="0" y="0"/>
                  </a:moveTo>
                  <a:lnTo>
                    <a:pt x="413084" y="4010"/>
                  </a:lnTo>
                  <a:lnTo>
                    <a:pt x="421105" y="140368"/>
                  </a:lnTo>
                  <a:lnTo>
                    <a:pt x="693821" y="144379"/>
                  </a:lnTo>
                  <a:lnTo>
                    <a:pt x="697832" y="553452"/>
                  </a:lnTo>
                  <a:lnTo>
                    <a:pt x="421105" y="557463"/>
                  </a:lnTo>
                  <a:lnTo>
                    <a:pt x="421105" y="417094"/>
                  </a:lnTo>
                  <a:lnTo>
                    <a:pt x="8021" y="417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21000"/>
              </a:srgbClr>
            </a:solidFill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80" name="Grupo 79"/>
          <p:cNvGrpSpPr/>
          <p:nvPr/>
        </p:nvGrpSpPr>
        <p:grpSpPr>
          <a:xfrm>
            <a:off x="2624897" y="1947817"/>
            <a:ext cx="1800000" cy="2804815"/>
            <a:chOff x="2624897" y="1947817"/>
            <a:chExt cx="1800000" cy="2804815"/>
          </a:xfrm>
        </p:grpSpPr>
        <p:sp>
          <p:nvSpPr>
            <p:cNvPr id="161" name="Retângulo 160"/>
            <p:cNvSpPr/>
            <p:nvPr/>
          </p:nvSpPr>
          <p:spPr bwMode="auto">
            <a:xfrm>
              <a:off x="2624897" y="1947817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8" name="CaixaDeTexto 157"/>
            <p:cNvSpPr txBox="1"/>
            <p:nvPr/>
          </p:nvSpPr>
          <p:spPr>
            <a:xfrm>
              <a:off x="2748342" y="4290967"/>
              <a:ext cx="155311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linha</a:t>
              </a:r>
            </a:p>
            <a:p>
              <a:r>
                <a:rPr lang="pt-BR" dirty="0">
                  <a:latin typeface="Tahoma" panose="020B0604030504040204" pitchFamily="34" charset="0"/>
                </a:rPr>
                <a:t>(p.ex. trecho de rio)</a:t>
              </a:r>
            </a:p>
          </p:txBody>
        </p:sp>
        <p:grpSp>
          <p:nvGrpSpPr>
            <p:cNvPr id="79" name="Grupo 78"/>
            <p:cNvGrpSpPr/>
            <p:nvPr/>
          </p:nvGrpSpPr>
          <p:grpSpPr>
            <a:xfrm>
              <a:off x="2756848" y="1971196"/>
              <a:ext cx="1666638" cy="2319771"/>
              <a:chOff x="2756848" y="1971196"/>
              <a:chExt cx="1666638" cy="2319771"/>
            </a:xfrm>
          </p:grpSpPr>
          <p:sp>
            <p:nvSpPr>
              <p:cNvPr id="68" name="Forma livre 67"/>
              <p:cNvSpPr/>
              <p:nvPr/>
            </p:nvSpPr>
            <p:spPr bwMode="auto">
              <a:xfrm>
                <a:off x="2756848" y="2197290"/>
                <a:ext cx="1651379" cy="2093677"/>
              </a:xfrm>
              <a:custGeom>
                <a:avLst/>
                <a:gdLst>
                  <a:gd name="connsiteX0" fmla="*/ 13648 w 1651379"/>
                  <a:gd name="connsiteY0" fmla="*/ 2074459 h 2074459"/>
                  <a:gd name="connsiteX1" fmla="*/ 0 w 1651379"/>
                  <a:gd name="connsiteY1" fmla="*/ 2006220 h 2074459"/>
                  <a:gd name="connsiteX2" fmla="*/ 27295 w 1651379"/>
                  <a:gd name="connsiteY2" fmla="*/ 1883391 h 2074459"/>
                  <a:gd name="connsiteX3" fmla="*/ 40943 w 1651379"/>
                  <a:gd name="connsiteY3" fmla="*/ 1815152 h 2074459"/>
                  <a:gd name="connsiteX4" fmla="*/ 95534 w 1651379"/>
                  <a:gd name="connsiteY4" fmla="*/ 1692322 h 2074459"/>
                  <a:gd name="connsiteX5" fmla="*/ 177421 w 1651379"/>
                  <a:gd name="connsiteY5" fmla="*/ 1637731 h 2074459"/>
                  <a:gd name="connsiteX6" fmla="*/ 259307 w 1651379"/>
                  <a:gd name="connsiteY6" fmla="*/ 1596788 h 2074459"/>
                  <a:gd name="connsiteX7" fmla="*/ 395785 w 1651379"/>
                  <a:gd name="connsiteY7" fmla="*/ 1569492 h 2074459"/>
                  <a:gd name="connsiteX8" fmla="*/ 436728 w 1651379"/>
                  <a:gd name="connsiteY8" fmla="*/ 1528549 h 2074459"/>
                  <a:gd name="connsiteX9" fmla="*/ 518615 w 1651379"/>
                  <a:gd name="connsiteY9" fmla="*/ 1487606 h 2074459"/>
                  <a:gd name="connsiteX10" fmla="*/ 559558 w 1651379"/>
                  <a:gd name="connsiteY10" fmla="*/ 1446662 h 2074459"/>
                  <a:gd name="connsiteX11" fmla="*/ 586853 w 1651379"/>
                  <a:gd name="connsiteY11" fmla="*/ 1405719 h 2074459"/>
                  <a:gd name="connsiteX12" fmla="*/ 627797 w 1651379"/>
                  <a:gd name="connsiteY12" fmla="*/ 1392071 h 2074459"/>
                  <a:gd name="connsiteX13" fmla="*/ 682388 w 1651379"/>
                  <a:gd name="connsiteY13" fmla="*/ 1310185 h 2074459"/>
                  <a:gd name="connsiteX14" fmla="*/ 696036 w 1651379"/>
                  <a:gd name="connsiteY14" fmla="*/ 1269241 h 2074459"/>
                  <a:gd name="connsiteX15" fmla="*/ 736979 w 1651379"/>
                  <a:gd name="connsiteY15" fmla="*/ 1187355 h 2074459"/>
                  <a:gd name="connsiteX16" fmla="*/ 723331 w 1651379"/>
                  <a:gd name="connsiteY16" fmla="*/ 887104 h 2074459"/>
                  <a:gd name="connsiteX17" fmla="*/ 709683 w 1651379"/>
                  <a:gd name="connsiteY17" fmla="*/ 846161 h 2074459"/>
                  <a:gd name="connsiteX18" fmla="*/ 696036 w 1651379"/>
                  <a:gd name="connsiteY18" fmla="*/ 791570 h 2074459"/>
                  <a:gd name="connsiteX19" fmla="*/ 709683 w 1651379"/>
                  <a:gd name="connsiteY19" fmla="*/ 573206 h 2074459"/>
                  <a:gd name="connsiteX20" fmla="*/ 791570 w 1651379"/>
                  <a:gd name="connsiteY20" fmla="*/ 409432 h 2074459"/>
                  <a:gd name="connsiteX21" fmla="*/ 832513 w 1651379"/>
                  <a:gd name="connsiteY21" fmla="*/ 382137 h 2074459"/>
                  <a:gd name="connsiteX22" fmla="*/ 914400 w 1651379"/>
                  <a:gd name="connsiteY22" fmla="*/ 313898 h 2074459"/>
                  <a:gd name="connsiteX23" fmla="*/ 996286 w 1651379"/>
                  <a:gd name="connsiteY23" fmla="*/ 286603 h 2074459"/>
                  <a:gd name="connsiteX24" fmla="*/ 1050877 w 1651379"/>
                  <a:gd name="connsiteY24" fmla="*/ 245659 h 2074459"/>
                  <a:gd name="connsiteX25" fmla="*/ 1187355 w 1651379"/>
                  <a:gd name="connsiteY25" fmla="*/ 218364 h 2074459"/>
                  <a:gd name="connsiteX26" fmla="*/ 1364776 w 1651379"/>
                  <a:gd name="connsiteY26" fmla="*/ 177420 h 2074459"/>
                  <a:gd name="connsiteX27" fmla="*/ 1446662 w 1651379"/>
                  <a:gd name="connsiteY27" fmla="*/ 150125 h 2074459"/>
                  <a:gd name="connsiteX28" fmla="*/ 1487606 w 1651379"/>
                  <a:gd name="connsiteY28" fmla="*/ 136477 h 2074459"/>
                  <a:gd name="connsiteX29" fmla="*/ 1514901 w 1651379"/>
                  <a:gd name="connsiteY29" fmla="*/ 95534 h 2074459"/>
                  <a:gd name="connsiteX30" fmla="*/ 1555845 w 1651379"/>
                  <a:gd name="connsiteY30" fmla="*/ 81886 h 2074459"/>
                  <a:gd name="connsiteX31" fmla="*/ 1596788 w 1651379"/>
                  <a:gd name="connsiteY31" fmla="*/ 54591 h 2074459"/>
                  <a:gd name="connsiteX32" fmla="*/ 1651379 w 1651379"/>
                  <a:gd name="connsiteY32" fmla="*/ 0 h 2074459"/>
                  <a:gd name="connsiteX0" fmla="*/ 13648 w 1651379"/>
                  <a:gd name="connsiteY0" fmla="*/ 2074459 h 2074459"/>
                  <a:gd name="connsiteX1" fmla="*/ 0 w 1651379"/>
                  <a:gd name="connsiteY1" fmla="*/ 2006220 h 2074459"/>
                  <a:gd name="connsiteX2" fmla="*/ 27295 w 1651379"/>
                  <a:gd name="connsiteY2" fmla="*/ 1883391 h 2074459"/>
                  <a:gd name="connsiteX3" fmla="*/ 40943 w 1651379"/>
                  <a:gd name="connsiteY3" fmla="*/ 1815152 h 2074459"/>
                  <a:gd name="connsiteX4" fmla="*/ 95534 w 1651379"/>
                  <a:gd name="connsiteY4" fmla="*/ 1692322 h 2074459"/>
                  <a:gd name="connsiteX5" fmla="*/ 177421 w 1651379"/>
                  <a:gd name="connsiteY5" fmla="*/ 1637731 h 2074459"/>
                  <a:gd name="connsiteX6" fmla="*/ 259307 w 1651379"/>
                  <a:gd name="connsiteY6" fmla="*/ 1596788 h 2074459"/>
                  <a:gd name="connsiteX7" fmla="*/ 395785 w 1651379"/>
                  <a:gd name="connsiteY7" fmla="*/ 1569492 h 2074459"/>
                  <a:gd name="connsiteX8" fmla="*/ 436728 w 1651379"/>
                  <a:gd name="connsiteY8" fmla="*/ 1528549 h 2074459"/>
                  <a:gd name="connsiteX9" fmla="*/ 518615 w 1651379"/>
                  <a:gd name="connsiteY9" fmla="*/ 1487606 h 2074459"/>
                  <a:gd name="connsiteX10" fmla="*/ 559558 w 1651379"/>
                  <a:gd name="connsiteY10" fmla="*/ 1446662 h 2074459"/>
                  <a:gd name="connsiteX11" fmla="*/ 586853 w 1651379"/>
                  <a:gd name="connsiteY11" fmla="*/ 1405719 h 2074459"/>
                  <a:gd name="connsiteX12" fmla="*/ 627797 w 1651379"/>
                  <a:gd name="connsiteY12" fmla="*/ 1392071 h 2074459"/>
                  <a:gd name="connsiteX13" fmla="*/ 682388 w 1651379"/>
                  <a:gd name="connsiteY13" fmla="*/ 1310185 h 2074459"/>
                  <a:gd name="connsiteX14" fmla="*/ 696036 w 1651379"/>
                  <a:gd name="connsiteY14" fmla="*/ 1269241 h 2074459"/>
                  <a:gd name="connsiteX15" fmla="*/ 736979 w 1651379"/>
                  <a:gd name="connsiteY15" fmla="*/ 1187355 h 2074459"/>
                  <a:gd name="connsiteX16" fmla="*/ 723331 w 1651379"/>
                  <a:gd name="connsiteY16" fmla="*/ 887104 h 2074459"/>
                  <a:gd name="connsiteX17" fmla="*/ 709683 w 1651379"/>
                  <a:gd name="connsiteY17" fmla="*/ 846161 h 2074459"/>
                  <a:gd name="connsiteX18" fmla="*/ 696036 w 1651379"/>
                  <a:gd name="connsiteY18" fmla="*/ 791570 h 2074459"/>
                  <a:gd name="connsiteX19" fmla="*/ 709683 w 1651379"/>
                  <a:gd name="connsiteY19" fmla="*/ 573206 h 2074459"/>
                  <a:gd name="connsiteX20" fmla="*/ 791570 w 1651379"/>
                  <a:gd name="connsiteY20" fmla="*/ 409432 h 2074459"/>
                  <a:gd name="connsiteX21" fmla="*/ 832513 w 1651379"/>
                  <a:gd name="connsiteY21" fmla="*/ 382137 h 2074459"/>
                  <a:gd name="connsiteX22" fmla="*/ 914400 w 1651379"/>
                  <a:gd name="connsiteY22" fmla="*/ 313898 h 2074459"/>
                  <a:gd name="connsiteX23" fmla="*/ 996286 w 1651379"/>
                  <a:gd name="connsiteY23" fmla="*/ 286603 h 2074459"/>
                  <a:gd name="connsiteX24" fmla="*/ 1050877 w 1651379"/>
                  <a:gd name="connsiteY24" fmla="*/ 245659 h 2074459"/>
                  <a:gd name="connsiteX25" fmla="*/ 1187355 w 1651379"/>
                  <a:gd name="connsiteY25" fmla="*/ 218364 h 2074459"/>
                  <a:gd name="connsiteX26" fmla="*/ 1364776 w 1651379"/>
                  <a:gd name="connsiteY26" fmla="*/ 177420 h 2074459"/>
                  <a:gd name="connsiteX27" fmla="*/ 1446662 w 1651379"/>
                  <a:gd name="connsiteY27" fmla="*/ 150125 h 2074459"/>
                  <a:gd name="connsiteX28" fmla="*/ 1487606 w 1651379"/>
                  <a:gd name="connsiteY28" fmla="*/ 136477 h 2074459"/>
                  <a:gd name="connsiteX29" fmla="*/ 1514901 w 1651379"/>
                  <a:gd name="connsiteY29" fmla="*/ 95534 h 2074459"/>
                  <a:gd name="connsiteX30" fmla="*/ 1555845 w 1651379"/>
                  <a:gd name="connsiteY30" fmla="*/ 81886 h 2074459"/>
                  <a:gd name="connsiteX31" fmla="*/ 1596788 w 1651379"/>
                  <a:gd name="connsiteY31" fmla="*/ 54591 h 2074459"/>
                  <a:gd name="connsiteX32" fmla="*/ 1651379 w 1651379"/>
                  <a:gd name="connsiteY32" fmla="*/ 0 h 2074459"/>
                  <a:gd name="connsiteX0" fmla="*/ 13648 w 1651379"/>
                  <a:gd name="connsiteY0" fmla="*/ 2074459 h 2074459"/>
                  <a:gd name="connsiteX1" fmla="*/ 0 w 1651379"/>
                  <a:gd name="connsiteY1" fmla="*/ 2006220 h 2074459"/>
                  <a:gd name="connsiteX2" fmla="*/ 27295 w 1651379"/>
                  <a:gd name="connsiteY2" fmla="*/ 1883391 h 2074459"/>
                  <a:gd name="connsiteX3" fmla="*/ 40943 w 1651379"/>
                  <a:gd name="connsiteY3" fmla="*/ 1815152 h 2074459"/>
                  <a:gd name="connsiteX4" fmla="*/ 95534 w 1651379"/>
                  <a:gd name="connsiteY4" fmla="*/ 1692322 h 2074459"/>
                  <a:gd name="connsiteX5" fmla="*/ 177421 w 1651379"/>
                  <a:gd name="connsiteY5" fmla="*/ 1637731 h 2074459"/>
                  <a:gd name="connsiteX6" fmla="*/ 259307 w 1651379"/>
                  <a:gd name="connsiteY6" fmla="*/ 1596788 h 2074459"/>
                  <a:gd name="connsiteX7" fmla="*/ 395785 w 1651379"/>
                  <a:gd name="connsiteY7" fmla="*/ 1569492 h 2074459"/>
                  <a:gd name="connsiteX8" fmla="*/ 436728 w 1651379"/>
                  <a:gd name="connsiteY8" fmla="*/ 1528549 h 2074459"/>
                  <a:gd name="connsiteX9" fmla="*/ 518615 w 1651379"/>
                  <a:gd name="connsiteY9" fmla="*/ 1487606 h 2074459"/>
                  <a:gd name="connsiteX10" fmla="*/ 559558 w 1651379"/>
                  <a:gd name="connsiteY10" fmla="*/ 1446662 h 2074459"/>
                  <a:gd name="connsiteX11" fmla="*/ 586853 w 1651379"/>
                  <a:gd name="connsiteY11" fmla="*/ 1405719 h 2074459"/>
                  <a:gd name="connsiteX12" fmla="*/ 627797 w 1651379"/>
                  <a:gd name="connsiteY12" fmla="*/ 1392071 h 2074459"/>
                  <a:gd name="connsiteX13" fmla="*/ 682388 w 1651379"/>
                  <a:gd name="connsiteY13" fmla="*/ 1310185 h 2074459"/>
                  <a:gd name="connsiteX14" fmla="*/ 696036 w 1651379"/>
                  <a:gd name="connsiteY14" fmla="*/ 1269241 h 2074459"/>
                  <a:gd name="connsiteX15" fmla="*/ 736979 w 1651379"/>
                  <a:gd name="connsiteY15" fmla="*/ 1187355 h 2074459"/>
                  <a:gd name="connsiteX16" fmla="*/ 723331 w 1651379"/>
                  <a:gd name="connsiteY16" fmla="*/ 887104 h 2074459"/>
                  <a:gd name="connsiteX17" fmla="*/ 709683 w 1651379"/>
                  <a:gd name="connsiteY17" fmla="*/ 846161 h 2074459"/>
                  <a:gd name="connsiteX18" fmla="*/ 696036 w 1651379"/>
                  <a:gd name="connsiteY18" fmla="*/ 791570 h 2074459"/>
                  <a:gd name="connsiteX19" fmla="*/ 709683 w 1651379"/>
                  <a:gd name="connsiteY19" fmla="*/ 573206 h 2074459"/>
                  <a:gd name="connsiteX20" fmla="*/ 791570 w 1651379"/>
                  <a:gd name="connsiteY20" fmla="*/ 409432 h 2074459"/>
                  <a:gd name="connsiteX21" fmla="*/ 832513 w 1651379"/>
                  <a:gd name="connsiteY21" fmla="*/ 382137 h 2074459"/>
                  <a:gd name="connsiteX22" fmla="*/ 914400 w 1651379"/>
                  <a:gd name="connsiteY22" fmla="*/ 313898 h 2074459"/>
                  <a:gd name="connsiteX23" fmla="*/ 996286 w 1651379"/>
                  <a:gd name="connsiteY23" fmla="*/ 286603 h 2074459"/>
                  <a:gd name="connsiteX24" fmla="*/ 1050877 w 1651379"/>
                  <a:gd name="connsiteY24" fmla="*/ 245659 h 2074459"/>
                  <a:gd name="connsiteX25" fmla="*/ 1187355 w 1651379"/>
                  <a:gd name="connsiteY25" fmla="*/ 218364 h 2074459"/>
                  <a:gd name="connsiteX26" fmla="*/ 1364776 w 1651379"/>
                  <a:gd name="connsiteY26" fmla="*/ 177420 h 2074459"/>
                  <a:gd name="connsiteX27" fmla="*/ 1446662 w 1651379"/>
                  <a:gd name="connsiteY27" fmla="*/ 150125 h 2074459"/>
                  <a:gd name="connsiteX28" fmla="*/ 1487606 w 1651379"/>
                  <a:gd name="connsiteY28" fmla="*/ 136477 h 2074459"/>
                  <a:gd name="connsiteX29" fmla="*/ 1514901 w 1651379"/>
                  <a:gd name="connsiteY29" fmla="*/ 95534 h 2074459"/>
                  <a:gd name="connsiteX30" fmla="*/ 1555845 w 1651379"/>
                  <a:gd name="connsiteY30" fmla="*/ 81886 h 2074459"/>
                  <a:gd name="connsiteX31" fmla="*/ 1596788 w 1651379"/>
                  <a:gd name="connsiteY31" fmla="*/ 54591 h 2074459"/>
                  <a:gd name="connsiteX32" fmla="*/ 1651379 w 1651379"/>
                  <a:gd name="connsiteY32" fmla="*/ 0 h 2074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651379" h="2074459">
                    <a:moveTo>
                      <a:pt x="13648" y="2074459"/>
                    </a:moveTo>
                    <a:cubicBezTo>
                      <a:pt x="9099" y="2051713"/>
                      <a:pt x="0" y="2029417"/>
                      <a:pt x="0" y="2006220"/>
                    </a:cubicBezTo>
                    <a:cubicBezTo>
                      <a:pt x="0" y="1931118"/>
                      <a:pt x="13223" y="1939682"/>
                      <a:pt x="27295" y="1883391"/>
                    </a:cubicBezTo>
                    <a:cubicBezTo>
                      <a:pt x="32921" y="1860887"/>
                      <a:pt x="34839" y="1837531"/>
                      <a:pt x="40943" y="1815152"/>
                    </a:cubicBezTo>
                    <a:cubicBezTo>
                      <a:pt x="48681" y="1786780"/>
                      <a:pt x="66386" y="1717827"/>
                      <a:pt x="95534" y="1692322"/>
                    </a:cubicBezTo>
                    <a:cubicBezTo>
                      <a:pt x="120222" y="1670720"/>
                      <a:pt x="150125" y="1655928"/>
                      <a:pt x="177421" y="1637731"/>
                    </a:cubicBezTo>
                    <a:cubicBezTo>
                      <a:pt x="215179" y="1612559"/>
                      <a:pt x="216095" y="1606760"/>
                      <a:pt x="259307" y="1596788"/>
                    </a:cubicBezTo>
                    <a:cubicBezTo>
                      <a:pt x="304513" y="1586356"/>
                      <a:pt x="395785" y="1569492"/>
                      <a:pt x="395785" y="1569492"/>
                    </a:cubicBezTo>
                    <a:cubicBezTo>
                      <a:pt x="409433" y="1555844"/>
                      <a:pt x="420669" y="1539255"/>
                      <a:pt x="436728" y="1528549"/>
                    </a:cubicBezTo>
                    <a:lnTo>
                      <a:pt x="518615" y="1487606"/>
                    </a:lnTo>
                    <a:cubicBezTo>
                      <a:pt x="533442" y="1475250"/>
                      <a:pt x="547202" y="1461490"/>
                      <a:pt x="559558" y="1446662"/>
                    </a:cubicBezTo>
                    <a:cubicBezTo>
                      <a:pt x="570058" y="1434061"/>
                      <a:pt x="574045" y="1415965"/>
                      <a:pt x="586853" y="1405719"/>
                    </a:cubicBezTo>
                    <a:cubicBezTo>
                      <a:pt x="598087" y="1396732"/>
                      <a:pt x="614149" y="1396620"/>
                      <a:pt x="627797" y="1392071"/>
                    </a:cubicBezTo>
                    <a:cubicBezTo>
                      <a:pt x="645994" y="1364776"/>
                      <a:pt x="672014" y="1341307"/>
                      <a:pt x="682388" y="1310185"/>
                    </a:cubicBezTo>
                    <a:cubicBezTo>
                      <a:pt x="686937" y="1296537"/>
                      <a:pt x="689602" y="1282108"/>
                      <a:pt x="696036" y="1269241"/>
                    </a:cubicBezTo>
                    <a:lnTo>
                      <a:pt x="736979" y="1187355"/>
                    </a:lnTo>
                    <a:cubicBezTo>
                      <a:pt x="732430" y="1087271"/>
                      <a:pt x="731321" y="986972"/>
                      <a:pt x="723331" y="887104"/>
                    </a:cubicBezTo>
                    <a:cubicBezTo>
                      <a:pt x="722184" y="872764"/>
                      <a:pt x="713635" y="859993"/>
                      <a:pt x="709683" y="846161"/>
                    </a:cubicBezTo>
                    <a:cubicBezTo>
                      <a:pt x="704530" y="828126"/>
                      <a:pt x="700585" y="809767"/>
                      <a:pt x="696036" y="791570"/>
                    </a:cubicBezTo>
                    <a:cubicBezTo>
                      <a:pt x="700585" y="718782"/>
                      <a:pt x="699829" y="645467"/>
                      <a:pt x="709683" y="573206"/>
                    </a:cubicBezTo>
                    <a:cubicBezTo>
                      <a:pt x="719369" y="502173"/>
                      <a:pt x="752926" y="467399"/>
                      <a:pt x="791570" y="409432"/>
                    </a:cubicBezTo>
                    <a:cubicBezTo>
                      <a:pt x="800668" y="395784"/>
                      <a:pt x="818865" y="391235"/>
                      <a:pt x="832513" y="382137"/>
                    </a:cubicBezTo>
                    <a:cubicBezTo>
                      <a:pt x="866018" y="331881"/>
                      <a:pt x="851435" y="339084"/>
                      <a:pt x="914400" y="313898"/>
                    </a:cubicBezTo>
                    <a:cubicBezTo>
                      <a:pt x="941114" y="303212"/>
                      <a:pt x="996286" y="286603"/>
                      <a:pt x="996286" y="286603"/>
                    </a:cubicBezTo>
                    <a:cubicBezTo>
                      <a:pt x="1014483" y="272955"/>
                      <a:pt x="1030532" y="255832"/>
                      <a:pt x="1050877" y="245659"/>
                    </a:cubicBezTo>
                    <a:cubicBezTo>
                      <a:pt x="1071571" y="235312"/>
                      <a:pt x="1176580" y="220323"/>
                      <a:pt x="1187355" y="218364"/>
                    </a:cubicBezTo>
                    <a:cubicBezTo>
                      <a:pt x="1264366" y="204362"/>
                      <a:pt x="1278394" y="199016"/>
                      <a:pt x="1364776" y="177420"/>
                    </a:cubicBezTo>
                    <a:cubicBezTo>
                      <a:pt x="1392689" y="170442"/>
                      <a:pt x="1419367" y="159223"/>
                      <a:pt x="1446662" y="150125"/>
                    </a:cubicBezTo>
                    <a:lnTo>
                      <a:pt x="1487606" y="136477"/>
                    </a:lnTo>
                    <a:cubicBezTo>
                      <a:pt x="1496704" y="122829"/>
                      <a:pt x="1502093" y="105780"/>
                      <a:pt x="1514901" y="95534"/>
                    </a:cubicBezTo>
                    <a:cubicBezTo>
                      <a:pt x="1526135" y="86547"/>
                      <a:pt x="1542978" y="88320"/>
                      <a:pt x="1555845" y="81886"/>
                    </a:cubicBezTo>
                    <a:cubicBezTo>
                      <a:pt x="1570516" y="74551"/>
                      <a:pt x="1583140" y="63689"/>
                      <a:pt x="1596788" y="54591"/>
                    </a:cubicBezTo>
                    <a:cubicBezTo>
                      <a:pt x="1629726" y="5183"/>
                      <a:pt x="1609412" y="20982"/>
                      <a:pt x="1651379" y="0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9" name="Forma livre 68"/>
              <p:cNvSpPr/>
              <p:nvPr/>
            </p:nvSpPr>
            <p:spPr bwMode="auto">
              <a:xfrm>
                <a:off x="3126949" y="3762216"/>
                <a:ext cx="1296537" cy="279348"/>
              </a:xfrm>
              <a:custGeom>
                <a:avLst/>
                <a:gdLst>
                  <a:gd name="connsiteX0" fmla="*/ 0 w 1296537"/>
                  <a:gd name="connsiteY0" fmla="*/ 27295 h 279348"/>
                  <a:gd name="connsiteX1" fmla="*/ 286603 w 1296537"/>
                  <a:gd name="connsiteY1" fmla="*/ 13647 h 279348"/>
                  <a:gd name="connsiteX2" fmla="*/ 354841 w 1296537"/>
                  <a:gd name="connsiteY2" fmla="*/ 0 h 279348"/>
                  <a:gd name="connsiteX3" fmla="*/ 723331 w 1296537"/>
                  <a:gd name="connsiteY3" fmla="*/ 13647 h 279348"/>
                  <a:gd name="connsiteX4" fmla="*/ 818865 w 1296537"/>
                  <a:gd name="connsiteY4" fmla="*/ 54591 h 279348"/>
                  <a:gd name="connsiteX5" fmla="*/ 887104 w 1296537"/>
                  <a:gd name="connsiteY5" fmla="*/ 122829 h 279348"/>
                  <a:gd name="connsiteX6" fmla="*/ 914400 w 1296537"/>
                  <a:gd name="connsiteY6" fmla="*/ 163773 h 279348"/>
                  <a:gd name="connsiteX7" fmla="*/ 996286 w 1296537"/>
                  <a:gd name="connsiteY7" fmla="*/ 218364 h 279348"/>
                  <a:gd name="connsiteX8" fmla="*/ 1160059 w 1296537"/>
                  <a:gd name="connsiteY8" fmla="*/ 272955 h 279348"/>
                  <a:gd name="connsiteX9" fmla="*/ 1296537 w 1296537"/>
                  <a:gd name="connsiteY9" fmla="*/ 272955 h 279348"/>
                  <a:gd name="connsiteX0" fmla="*/ 0 w 1296537"/>
                  <a:gd name="connsiteY0" fmla="*/ 27295 h 279348"/>
                  <a:gd name="connsiteX1" fmla="*/ 286603 w 1296537"/>
                  <a:gd name="connsiteY1" fmla="*/ 13647 h 279348"/>
                  <a:gd name="connsiteX2" fmla="*/ 354841 w 1296537"/>
                  <a:gd name="connsiteY2" fmla="*/ 0 h 279348"/>
                  <a:gd name="connsiteX3" fmla="*/ 723331 w 1296537"/>
                  <a:gd name="connsiteY3" fmla="*/ 13647 h 279348"/>
                  <a:gd name="connsiteX4" fmla="*/ 818865 w 1296537"/>
                  <a:gd name="connsiteY4" fmla="*/ 54591 h 279348"/>
                  <a:gd name="connsiteX5" fmla="*/ 887104 w 1296537"/>
                  <a:gd name="connsiteY5" fmla="*/ 122829 h 279348"/>
                  <a:gd name="connsiteX6" fmla="*/ 914400 w 1296537"/>
                  <a:gd name="connsiteY6" fmla="*/ 163773 h 279348"/>
                  <a:gd name="connsiteX7" fmla="*/ 996286 w 1296537"/>
                  <a:gd name="connsiteY7" fmla="*/ 218364 h 279348"/>
                  <a:gd name="connsiteX8" fmla="*/ 1160059 w 1296537"/>
                  <a:gd name="connsiteY8" fmla="*/ 272955 h 279348"/>
                  <a:gd name="connsiteX9" fmla="*/ 1296537 w 1296537"/>
                  <a:gd name="connsiteY9" fmla="*/ 272955 h 2793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96537" h="279348">
                    <a:moveTo>
                      <a:pt x="0" y="27295"/>
                    </a:moveTo>
                    <a:cubicBezTo>
                      <a:pt x="95534" y="22746"/>
                      <a:pt x="191242" y="20982"/>
                      <a:pt x="286603" y="13647"/>
                    </a:cubicBezTo>
                    <a:cubicBezTo>
                      <a:pt x="309731" y="11868"/>
                      <a:pt x="331645" y="0"/>
                      <a:pt x="354841" y="0"/>
                    </a:cubicBezTo>
                    <a:cubicBezTo>
                      <a:pt x="477755" y="0"/>
                      <a:pt x="600501" y="9098"/>
                      <a:pt x="723331" y="13647"/>
                    </a:cubicBezTo>
                    <a:cubicBezTo>
                      <a:pt x="765095" y="24088"/>
                      <a:pt x="787447" y="23173"/>
                      <a:pt x="818865" y="54591"/>
                    </a:cubicBezTo>
                    <a:lnTo>
                      <a:pt x="887104" y="122829"/>
                    </a:lnTo>
                    <a:cubicBezTo>
                      <a:pt x="896203" y="136477"/>
                      <a:pt x="902056" y="152972"/>
                      <a:pt x="914400" y="163773"/>
                    </a:cubicBezTo>
                    <a:cubicBezTo>
                      <a:pt x="939088" y="185375"/>
                      <a:pt x="965164" y="207990"/>
                      <a:pt x="996286" y="218364"/>
                    </a:cubicBezTo>
                    <a:lnTo>
                      <a:pt x="1160059" y="272955"/>
                    </a:lnTo>
                    <a:cubicBezTo>
                      <a:pt x="1203217" y="287341"/>
                      <a:pt x="1251044" y="272955"/>
                      <a:pt x="1296537" y="272955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" name="Forma livre 69"/>
              <p:cNvSpPr/>
              <p:nvPr/>
            </p:nvSpPr>
            <p:spPr bwMode="auto">
              <a:xfrm>
                <a:off x="2806668" y="2702257"/>
                <a:ext cx="682388" cy="518615"/>
              </a:xfrm>
              <a:custGeom>
                <a:avLst/>
                <a:gdLst>
                  <a:gd name="connsiteX0" fmla="*/ 682388 w 682388"/>
                  <a:gd name="connsiteY0" fmla="*/ 518615 h 518615"/>
                  <a:gd name="connsiteX1" fmla="*/ 532263 w 682388"/>
                  <a:gd name="connsiteY1" fmla="*/ 368489 h 518615"/>
                  <a:gd name="connsiteX2" fmla="*/ 491319 w 682388"/>
                  <a:gd name="connsiteY2" fmla="*/ 341194 h 518615"/>
                  <a:gd name="connsiteX3" fmla="*/ 450376 w 682388"/>
                  <a:gd name="connsiteY3" fmla="*/ 300250 h 518615"/>
                  <a:gd name="connsiteX4" fmla="*/ 327546 w 682388"/>
                  <a:gd name="connsiteY4" fmla="*/ 232012 h 518615"/>
                  <a:gd name="connsiteX5" fmla="*/ 286603 w 682388"/>
                  <a:gd name="connsiteY5" fmla="*/ 204716 h 518615"/>
                  <a:gd name="connsiteX6" fmla="*/ 204716 w 682388"/>
                  <a:gd name="connsiteY6" fmla="*/ 177421 h 518615"/>
                  <a:gd name="connsiteX7" fmla="*/ 122830 w 682388"/>
                  <a:gd name="connsiteY7" fmla="*/ 122830 h 518615"/>
                  <a:gd name="connsiteX8" fmla="*/ 95534 w 682388"/>
                  <a:gd name="connsiteY8" fmla="*/ 81886 h 518615"/>
                  <a:gd name="connsiteX9" fmla="*/ 54591 w 682388"/>
                  <a:gd name="connsiteY9" fmla="*/ 54591 h 518615"/>
                  <a:gd name="connsiteX10" fmla="*/ 13648 w 682388"/>
                  <a:gd name="connsiteY10" fmla="*/ 13647 h 518615"/>
                  <a:gd name="connsiteX11" fmla="*/ 0 w 682388"/>
                  <a:gd name="connsiteY11" fmla="*/ 0 h 5186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2388" h="518615">
                    <a:moveTo>
                      <a:pt x="682388" y="518615"/>
                    </a:moveTo>
                    <a:lnTo>
                      <a:pt x="532263" y="368489"/>
                    </a:lnTo>
                    <a:cubicBezTo>
                      <a:pt x="520665" y="356890"/>
                      <a:pt x="503920" y="351695"/>
                      <a:pt x="491319" y="341194"/>
                    </a:cubicBezTo>
                    <a:cubicBezTo>
                      <a:pt x="476492" y="328838"/>
                      <a:pt x="465611" y="312100"/>
                      <a:pt x="450376" y="300250"/>
                    </a:cubicBezTo>
                    <a:cubicBezTo>
                      <a:pt x="379984" y="245500"/>
                      <a:pt x="389322" y="252603"/>
                      <a:pt x="327546" y="232012"/>
                    </a:cubicBezTo>
                    <a:cubicBezTo>
                      <a:pt x="313898" y="222913"/>
                      <a:pt x="301592" y="211378"/>
                      <a:pt x="286603" y="204716"/>
                    </a:cubicBezTo>
                    <a:cubicBezTo>
                      <a:pt x="260311" y="193031"/>
                      <a:pt x="204716" y="177421"/>
                      <a:pt x="204716" y="177421"/>
                    </a:cubicBezTo>
                    <a:cubicBezTo>
                      <a:pt x="177421" y="159224"/>
                      <a:pt x="141027" y="150125"/>
                      <a:pt x="122830" y="122830"/>
                    </a:cubicBezTo>
                    <a:cubicBezTo>
                      <a:pt x="113731" y="109182"/>
                      <a:pt x="107133" y="93485"/>
                      <a:pt x="95534" y="81886"/>
                    </a:cubicBezTo>
                    <a:cubicBezTo>
                      <a:pt x="83936" y="70288"/>
                      <a:pt x="67192" y="65092"/>
                      <a:pt x="54591" y="54591"/>
                    </a:cubicBezTo>
                    <a:cubicBezTo>
                      <a:pt x="39764" y="42235"/>
                      <a:pt x="27296" y="27295"/>
                      <a:pt x="13648" y="13647"/>
                    </a:cubicBezTo>
                    <a:lnTo>
                      <a:pt x="0" y="0"/>
                    </a:ln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" name="Forma livre 70"/>
              <p:cNvSpPr/>
              <p:nvPr/>
            </p:nvSpPr>
            <p:spPr bwMode="auto">
              <a:xfrm>
                <a:off x="2914111" y="2279177"/>
                <a:ext cx="206456" cy="641444"/>
              </a:xfrm>
              <a:custGeom>
                <a:avLst/>
                <a:gdLst>
                  <a:gd name="connsiteX0" fmla="*/ 206456 w 206456"/>
                  <a:gd name="connsiteY0" fmla="*/ 641444 h 641444"/>
                  <a:gd name="connsiteX1" fmla="*/ 179160 w 206456"/>
                  <a:gd name="connsiteY1" fmla="*/ 573206 h 641444"/>
                  <a:gd name="connsiteX2" fmla="*/ 151865 w 206456"/>
                  <a:gd name="connsiteY2" fmla="*/ 532262 h 641444"/>
                  <a:gd name="connsiteX3" fmla="*/ 110921 w 206456"/>
                  <a:gd name="connsiteY3" fmla="*/ 450376 h 641444"/>
                  <a:gd name="connsiteX4" fmla="*/ 56330 w 206456"/>
                  <a:gd name="connsiteY4" fmla="*/ 286603 h 641444"/>
                  <a:gd name="connsiteX5" fmla="*/ 42682 w 206456"/>
                  <a:gd name="connsiteY5" fmla="*/ 245659 h 641444"/>
                  <a:gd name="connsiteX6" fmla="*/ 15387 w 206456"/>
                  <a:gd name="connsiteY6" fmla="*/ 204716 h 641444"/>
                  <a:gd name="connsiteX7" fmla="*/ 1739 w 206456"/>
                  <a:gd name="connsiteY7" fmla="*/ 0 h 641444"/>
                  <a:gd name="connsiteX0" fmla="*/ 206456 w 206456"/>
                  <a:gd name="connsiteY0" fmla="*/ 641444 h 641444"/>
                  <a:gd name="connsiteX1" fmla="*/ 179160 w 206456"/>
                  <a:gd name="connsiteY1" fmla="*/ 573206 h 641444"/>
                  <a:gd name="connsiteX2" fmla="*/ 151865 w 206456"/>
                  <a:gd name="connsiteY2" fmla="*/ 532262 h 641444"/>
                  <a:gd name="connsiteX3" fmla="*/ 110921 w 206456"/>
                  <a:gd name="connsiteY3" fmla="*/ 450376 h 641444"/>
                  <a:gd name="connsiteX4" fmla="*/ 56330 w 206456"/>
                  <a:gd name="connsiteY4" fmla="*/ 286603 h 641444"/>
                  <a:gd name="connsiteX5" fmla="*/ 42682 w 206456"/>
                  <a:gd name="connsiteY5" fmla="*/ 245659 h 641444"/>
                  <a:gd name="connsiteX6" fmla="*/ 15387 w 206456"/>
                  <a:gd name="connsiteY6" fmla="*/ 204716 h 641444"/>
                  <a:gd name="connsiteX7" fmla="*/ 1739 w 206456"/>
                  <a:gd name="connsiteY7" fmla="*/ 0 h 641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06456" h="641444">
                    <a:moveTo>
                      <a:pt x="206456" y="641444"/>
                    </a:moveTo>
                    <a:cubicBezTo>
                      <a:pt x="197357" y="618698"/>
                      <a:pt x="190116" y="595118"/>
                      <a:pt x="179160" y="573206"/>
                    </a:cubicBezTo>
                    <a:cubicBezTo>
                      <a:pt x="171825" y="558535"/>
                      <a:pt x="159200" y="546933"/>
                      <a:pt x="151865" y="532262"/>
                    </a:cubicBezTo>
                    <a:lnTo>
                      <a:pt x="110921" y="450376"/>
                    </a:lnTo>
                    <a:lnTo>
                      <a:pt x="56330" y="286603"/>
                    </a:lnTo>
                    <a:cubicBezTo>
                      <a:pt x="51781" y="272955"/>
                      <a:pt x="50662" y="257629"/>
                      <a:pt x="42682" y="245659"/>
                    </a:cubicBezTo>
                    <a:lnTo>
                      <a:pt x="15387" y="204716"/>
                    </a:lnTo>
                    <a:cubicBezTo>
                      <a:pt x="-7183" y="91868"/>
                      <a:pt x="1739" y="159674"/>
                      <a:pt x="1739" y="0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" name="Forma livre 71"/>
              <p:cNvSpPr/>
              <p:nvPr/>
            </p:nvSpPr>
            <p:spPr bwMode="auto">
              <a:xfrm>
                <a:off x="3490868" y="3227708"/>
                <a:ext cx="382137" cy="164667"/>
              </a:xfrm>
              <a:custGeom>
                <a:avLst/>
                <a:gdLst>
                  <a:gd name="connsiteX0" fmla="*/ 0 w 382137"/>
                  <a:gd name="connsiteY0" fmla="*/ 164667 h 164667"/>
                  <a:gd name="connsiteX1" fmla="*/ 54591 w 382137"/>
                  <a:gd name="connsiteY1" fmla="*/ 96428 h 164667"/>
                  <a:gd name="connsiteX2" fmla="*/ 95534 w 382137"/>
                  <a:gd name="connsiteY2" fmla="*/ 82780 h 164667"/>
                  <a:gd name="connsiteX3" fmla="*/ 136477 w 382137"/>
                  <a:gd name="connsiteY3" fmla="*/ 55484 h 164667"/>
                  <a:gd name="connsiteX4" fmla="*/ 218364 w 382137"/>
                  <a:gd name="connsiteY4" fmla="*/ 28189 h 164667"/>
                  <a:gd name="connsiteX5" fmla="*/ 327546 w 382137"/>
                  <a:gd name="connsiteY5" fmla="*/ 893 h 164667"/>
                  <a:gd name="connsiteX6" fmla="*/ 382137 w 382137"/>
                  <a:gd name="connsiteY6" fmla="*/ 893 h 164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82137" h="164667">
                    <a:moveTo>
                      <a:pt x="0" y="164667"/>
                    </a:moveTo>
                    <a:cubicBezTo>
                      <a:pt x="18197" y="141921"/>
                      <a:pt x="32474" y="115385"/>
                      <a:pt x="54591" y="96428"/>
                    </a:cubicBezTo>
                    <a:cubicBezTo>
                      <a:pt x="65514" y="87066"/>
                      <a:pt x="82667" y="89214"/>
                      <a:pt x="95534" y="82780"/>
                    </a:cubicBezTo>
                    <a:cubicBezTo>
                      <a:pt x="110205" y="75444"/>
                      <a:pt x="121488" y="62146"/>
                      <a:pt x="136477" y="55484"/>
                    </a:cubicBezTo>
                    <a:cubicBezTo>
                      <a:pt x="162769" y="43799"/>
                      <a:pt x="191068" y="37287"/>
                      <a:pt x="218364" y="28189"/>
                    </a:cubicBezTo>
                    <a:cubicBezTo>
                      <a:pt x="260889" y="14014"/>
                      <a:pt x="278135" y="6383"/>
                      <a:pt x="327546" y="893"/>
                    </a:cubicBezTo>
                    <a:cubicBezTo>
                      <a:pt x="345632" y="-1117"/>
                      <a:pt x="363940" y="893"/>
                      <a:pt x="382137" y="893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" name="Forma livre 72"/>
              <p:cNvSpPr/>
              <p:nvPr/>
            </p:nvSpPr>
            <p:spPr bwMode="auto">
              <a:xfrm>
                <a:off x="3831397" y="1971196"/>
                <a:ext cx="150126" cy="464023"/>
              </a:xfrm>
              <a:custGeom>
                <a:avLst/>
                <a:gdLst>
                  <a:gd name="connsiteX0" fmla="*/ 110 w 150236"/>
                  <a:gd name="connsiteY0" fmla="*/ 464023 h 464023"/>
                  <a:gd name="connsiteX1" fmla="*/ 109292 w 150236"/>
                  <a:gd name="connsiteY1" fmla="*/ 409432 h 464023"/>
                  <a:gd name="connsiteX2" fmla="*/ 136588 w 150236"/>
                  <a:gd name="connsiteY2" fmla="*/ 327546 h 464023"/>
                  <a:gd name="connsiteX3" fmla="*/ 150236 w 150236"/>
                  <a:gd name="connsiteY3" fmla="*/ 286603 h 464023"/>
                  <a:gd name="connsiteX4" fmla="*/ 109292 w 150236"/>
                  <a:gd name="connsiteY4" fmla="*/ 136477 h 464023"/>
                  <a:gd name="connsiteX5" fmla="*/ 95645 w 150236"/>
                  <a:gd name="connsiteY5" fmla="*/ 95534 h 464023"/>
                  <a:gd name="connsiteX6" fmla="*/ 54701 w 150236"/>
                  <a:gd name="connsiteY6" fmla="*/ 68238 h 464023"/>
                  <a:gd name="connsiteX7" fmla="*/ 41054 w 150236"/>
                  <a:gd name="connsiteY7" fmla="*/ 27295 h 464023"/>
                  <a:gd name="connsiteX8" fmla="*/ 110 w 150236"/>
                  <a:gd name="connsiteY8" fmla="*/ 0 h 464023"/>
                  <a:gd name="connsiteX0" fmla="*/ 0 w 150126"/>
                  <a:gd name="connsiteY0" fmla="*/ 464023 h 464023"/>
                  <a:gd name="connsiteX1" fmla="*/ 109182 w 150126"/>
                  <a:gd name="connsiteY1" fmla="*/ 409432 h 464023"/>
                  <a:gd name="connsiteX2" fmla="*/ 136478 w 150126"/>
                  <a:gd name="connsiteY2" fmla="*/ 327546 h 464023"/>
                  <a:gd name="connsiteX3" fmla="*/ 150126 w 150126"/>
                  <a:gd name="connsiteY3" fmla="*/ 286603 h 464023"/>
                  <a:gd name="connsiteX4" fmla="*/ 109182 w 150126"/>
                  <a:gd name="connsiteY4" fmla="*/ 136477 h 464023"/>
                  <a:gd name="connsiteX5" fmla="*/ 95535 w 150126"/>
                  <a:gd name="connsiteY5" fmla="*/ 95534 h 464023"/>
                  <a:gd name="connsiteX6" fmla="*/ 54591 w 150126"/>
                  <a:gd name="connsiteY6" fmla="*/ 68238 h 464023"/>
                  <a:gd name="connsiteX7" fmla="*/ 40944 w 150126"/>
                  <a:gd name="connsiteY7" fmla="*/ 27295 h 464023"/>
                  <a:gd name="connsiteX8" fmla="*/ 0 w 150126"/>
                  <a:gd name="connsiteY8" fmla="*/ 0 h 4640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50126" h="464023">
                    <a:moveTo>
                      <a:pt x="0" y="464023"/>
                    </a:moveTo>
                    <a:cubicBezTo>
                      <a:pt x="52706" y="453482"/>
                      <a:pt x="80508" y="461045"/>
                      <a:pt x="109182" y="409432"/>
                    </a:cubicBezTo>
                    <a:cubicBezTo>
                      <a:pt x="123155" y="384281"/>
                      <a:pt x="127379" y="354841"/>
                      <a:pt x="136478" y="327546"/>
                    </a:cubicBezTo>
                    <a:lnTo>
                      <a:pt x="150126" y="286603"/>
                    </a:lnTo>
                    <a:cubicBezTo>
                      <a:pt x="125566" y="90123"/>
                      <a:pt x="160793" y="239701"/>
                      <a:pt x="109182" y="136477"/>
                    </a:cubicBezTo>
                    <a:cubicBezTo>
                      <a:pt x="102749" y="123610"/>
                      <a:pt x="104522" y="106767"/>
                      <a:pt x="95535" y="95534"/>
                    </a:cubicBezTo>
                    <a:cubicBezTo>
                      <a:pt x="85288" y="82726"/>
                      <a:pt x="68239" y="77337"/>
                      <a:pt x="54591" y="68238"/>
                    </a:cubicBezTo>
                    <a:cubicBezTo>
                      <a:pt x="50042" y="54590"/>
                      <a:pt x="51116" y="37467"/>
                      <a:pt x="40944" y="27295"/>
                    </a:cubicBezTo>
                    <a:lnTo>
                      <a:pt x="0" y="0"/>
                    </a:ln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" name="Forma livre 73"/>
              <p:cNvSpPr/>
              <p:nvPr/>
            </p:nvSpPr>
            <p:spPr bwMode="auto">
              <a:xfrm>
                <a:off x="3889612" y="3405562"/>
                <a:ext cx="262381" cy="382137"/>
              </a:xfrm>
              <a:custGeom>
                <a:avLst/>
                <a:gdLst>
                  <a:gd name="connsiteX0" fmla="*/ 0 w 262381"/>
                  <a:gd name="connsiteY0" fmla="*/ 382137 h 382137"/>
                  <a:gd name="connsiteX1" fmla="*/ 68239 w 262381"/>
                  <a:gd name="connsiteY1" fmla="*/ 341194 h 382137"/>
                  <a:gd name="connsiteX2" fmla="*/ 150125 w 262381"/>
                  <a:gd name="connsiteY2" fmla="*/ 286603 h 382137"/>
                  <a:gd name="connsiteX3" fmla="*/ 177421 w 262381"/>
                  <a:gd name="connsiteY3" fmla="*/ 245660 h 382137"/>
                  <a:gd name="connsiteX4" fmla="*/ 218364 w 262381"/>
                  <a:gd name="connsiteY4" fmla="*/ 218364 h 382137"/>
                  <a:gd name="connsiteX5" fmla="*/ 232012 w 262381"/>
                  <a:gd name="connsiteY5" fmla="*/ 177421 h 382137"/>
                  <a:gd name="connsiteX6" fmla="*/ 259307 w 262381"/>
                  <a:gd name="connsiteY6" fmla="*/ 136478 h 382137"/>
                  <a:gd name="connsiteX7" fmla="*/ 259307 w 262381"/>
                  <a:gd name="connsiteY7" fmla="*/ 0 h 382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62381" h="382137">
                    <a:moveTo>
                      <a:pt x="0" y="382137"/>
                    </a:moveTo>
                    <a:cubicBezTo>
                      <a:pt x="22746" y="368489"/>
                      <a:pt x="45860" y="355435"/>
                      <a:pt x="68239" y="341194"/>
                    </a:cubicBezTo>
                    <a:cubicBezTo>
                      <a:pt x="95915" y="323582"/>
                      <a:pt x="150125" y="286603"/>
                      <a:pt x="150125" y="286603"/>
                    </a:cubicBezTo>
                    <a:cubicBezTo>
                      <a:pt x="159224" y="272955"/>
                      <a:pt x="165823" y="257258"/>
                      <a:pt x="177421" y="245660"/>
                    </a:cubicBezTo>
                    <a:cubicBezTo>
                      <a:pt x="189019" y="234062"/>
                      <a:pt x="208117" y="231172"/>
                      <a:pt x="218364" y="218364"/>
                    </a:cubicBezTo>
                    <a:cubicBezTo>
                      <a:pt x="227351" y="207130"/>
                      <a:pt x="225578" y="190288"/>
                      <a:pt x="232012" y="177421"/>
                    </a:cubicBezTo>
                    <a:cubicBezTo>
                      <a:pt x="239347" y="162750"/>
                      <a:pt x="256813" y="152690"/>
                      <a:pt x="259307" y="136478"/>
                    </a:cubicBezTo>
                    <a:cubicBezTo>
                      <a:pt x="266224" y="91514"/>
                      <a:pt x="259307" y="45493"/>
                      <a:pt x="259307" y="0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" name="Forma livre 74"/>
              <p:cNvSpPr/>
              <p:nvPr/>
            </p:nvSpPr>
            <p:spPr bwMode="auto">
              <a:xfrm>
                <a:off x="2770496" y="3607091"/>
                <a:ext cx="95646" cy="313923"/>
              </a:xfrm>
              <a:custGeom>
                <a:avLst/>
                <a:gdLst>
                  <a:gd name="connsiteX0" fmla="*/ 68238 w 95646"/>
                  <a:gd name="connsiteY0" fmla="*/ 313923 h 313923"/>
                  <a:gd name="connsiteX1" fmla="*/ 95534 w 95646"/>
                  <a:gd name="connsiteY1" fmla="*/ 245684 h 313923"/>
                  <a:gd name="connsiteX2" fmla="*/ 68238 w 95646"/>
                  <a:gd name="connsiteY2" fmla="*/ 81911 h 313923"/>
                  <a:gd name="connsiteX3" fmla="*/ 0 w 95646"/>
                  <a:gd name="connsiteY3" fmla="*/ 24 h 313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646" h="313923">
                    <a:moveTo>
                      <a:pt x="68238" y="313923"/>
                    </a:moveTo>
                    <a:cubicBezTo>
                      <a:pt x="77337" y="291177"/>
                      <a:pt x="93789" y="270120"/>
                      <a:pt x="95534" y="245684"/>
                    </a:cubicBezTo>
                    <a:cubicBezTo>
                      <a:pt x="96676" y="229697"/>
                      <a:pt x="89194" y="119631"/>
                      <a:pt x="68238" y="81911"/>
                    </a:cubicBezTo>
                    <a:cubicBezTo>
                      <a:pt x="20642" y="-3761"/>
                      <a:pt x="45132" y="24"/>
                      <a:pt x="0" y="24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7" name="Forma livre 76"/>
              <p:cNvSpPr/>
              <p:nvPr/>
            </p:nvSpPr>
            <p:spPr bwMode="auto">
              <a:xfrm>
                <a:off x="3325301" y="2251881"/>
                <a:ext cx="246103" cy="368489"/>
              </a:xfrm>
              <a:custGeom>
                <a:avLst/>
                <a:gdLst>
                  <a:gd name="connsiteX0" fmla="*/ 218364 w 246103"/>
                  <a:gd name="connsiteY0" fmla="*/ 368489 h 368489"/>
                  <a:gd name="connsiteX1" fmla="*/ 245660 w 246103"/>
                  <a:gd name="connsiteY1" fmla="*/ 300250 h 368489"/>
                  <a:gd name="connsiteX2" fmla="*/ 232012 w 246103"/>
                  <a:gd name="connsiteY2" fmla="*/ 204716 h 368489"/>
                  <a:gd name="connsiteX3" fmla="*/ 191069 w 246103"/>
                  <a:gd name="connsiteY3" fmla="*/ 122829 h 368489"/>
                  <a:gd name="connsiteX4" fmla="*/ 150126 w 246103"/>
                  <a:gd name="connsiteY4" fmla="*/ 95534 h 368489"/>
                  <a:gd name="connsiteX5" fmla="*/ 40943 w 246103"/>
                  <a:gd name="connsiteY5" fmla="*/ 27295 h 368489"/>
                  <a:gd name="connsiteX6" fmla="*/ 0 w 246103"/>
                  <a:gd name="connsiteY6" fmla="*/ 0 h 368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46103" h="368489">
                    <a:moveTo>
                      <a:pt x="218364" y="368489"/>
                    </a:moveTo>
                    <a:cubicBezTo>
                      <a:pt x="227463" y="345743"/>
                      <a:pt x="243625" y="324664"/>
                      <a:pt x="245660" y="300250"/>
                    </a:cubicBezTo>
                    <a:cubicBezTo>
                      <a:pt x="248331" y="268193"/>
                      <a:pt x="238321" y="236259"/>
                      <a:pt x="232012" y="204716"/>
                    </a:cubicBezTo>
                    <a:cubicBezTo>
                      <a:pt x="226462" y="176968"/>
                      <a:pt x="211196" y="142956"/>
                      <a:pt x="191069" y="122829"/>
                    </a:cubicBezTo>
                    <a:cubicBezTo>
                      <a:pt x="179471" y="111231"/>
                      <a:pt x="163774" y="104632"/>
                      <a:pt x="150126" y="95534"/>
                    </a:cubicBezTo>
                    <a:cubicBezTo>
                      <a:pt x="84648" y="-2680"/>
                      <a:pt x="177370" y="118245"/>
                      <a:pt x="40943" y="27295"/>
                    </a:cubicBezTo>
                    <a:lnTo>
                      <a:pt x="0" y="0"/>
                    </a:ln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8" name="Forma livre 77"/>
              <p:cNvSpPr/>
              <p:nvPr/>
            </p:nvSpPr>
            <p:spPr bwMode="auto">
              <a:xfrm>
                <a:off x="3416861" y="2169994"/>
                <a:ext cx="41941" cy="150125"/>
              </a:xfrm>
              <a:custGeom>
                <a:avLst/>
                <a:gdLst>
                  <a:gd name="connsiteX0" fmla="*/ 41941 w 41941"/>
                  <a:gd name="connsiteY0" fmla="*/ 150125 h 150125"/>
                  <a:gd name="connsiteX1" fmla="*/ 997 w 41941"/>
                  <a:gd name="connsiteY1" fmla="*/ 40943 h 150125"/>
                  <a:gd name="connsiteX2" fmla="*/ 997 w 41941"/>
                  <a:gd name="connsiteY2" fmla="*/ 0 h 150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941" h="150125">
                    <a:moveTo>
                      <a:pt x="41941" y="150125"/>
                    </a:moveTo>
                    <a:cubicBezTo>
                      <a:pt x="40530" y="146597"/>
                      <a:pt x="4054" y="59284"/>
                      <a:pt x="997" y="40943"/>
                    </a:cubicBezTo>
                    <a:cubicBezTo>
                      <a:pt x="-1247" y="27481"/>
                      <a:pt x="997" y="13648"/>
                      <a:pt x="997" y="0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04" name="Forma livre 203"/>
            <p:cNvSpPr/>
            <p:nvPr/>
          </p:nvSpPr>
          <p:spPr bwMode="auto">
            <a:xfrm>
              <a:off x="3154518" y="3390157"/>
              <a:ext cx="344459" cy="398741"/>
            </a:xfrm>
            <a:custGeom>
              <a:avLst/>
              <a:gdLst>
                <a:gd name="connsiteX0" fmla="*/ 13648 w 1651379"/>
                <a:gd name="connsiteY0" fmla="*/ 2074459 h 2074459"/>
                <a:gd name="connsiteX1" fmla="*/ 0 w 1651379"/>
                <a:gd name="connsiteY1" fmla="*/ 2006220 h 2074459"/>
                <a:gd name="connsiteX2" fmla="*/ 27295 w 1651379"/>
                <a:gd name="connsiteY2" fmla="*/ 1883391 h 2074459"/>
                <a:gd name="connsiteX3" fmla="*/ 40943 w 1651379"/>
                <a:gd name="connsiteY3" fmla="*/ 1815152 h 2074459"/>
                <a:gd name="connsiteX4" fmla="*/ 95534 w 1651379"/>
                <a:gd name="connsiteY4" fmla="*/ 1692322 h 2074459"/>
                <a:gd name="connsiteX5" fmla="*/ 177421 w 1651379"/>
                <a:gd name="connsiteY5" fmla="*/ 1637731 h 2074459"/>
                <a:gd name="connsiteX6" fmla="*/ 259307 w 1651379"/>
                <a:gd name="connsiteY6" fmla="*/ 1596788 h 2074459"/>
                <a:gd name="connsiteX7" fmla="*/ 395785 w 1651379"/>
                <a:gd name="connsiteY7" fmla="*/ 1569492 h 2074459"/>
                <a:gd name="connsiteX8" fmla="*/ 436728 w 1651379"/>
                <a:gd name="connsiteY8" fmla="*/ 1528549 h 2074459"/>
                <a:gd name="connsiteX9" fmla="*/ 518615 w 1651379"/>
                <a:gd name="connsiteY9" fmla="*/ 1487606 h 2074459"/>
                <a:gd name="connsiteX10" fmla="*/ 559558 w 1651379"/>
                <a:gd name="connsiteY10" fmla="*/ 1446662 h 2074459"/>
                <a:gd name="connsiteX11" fmla="*/ 586853 w 1651379"/>
                <a:gd name="connsiteY11" fmla="*/ 1405719 h 2074459"/>
                <a:gd name="connsiteX12" fmla="*/ 627797 w 1651379"/>
                <a:gd name="connsiteY12" fmla="*/ 1392071 h 2074459"/>
                <a:gd name="connsiteX13" fmla="*/ 682388 w 1651379"/>
                <a:gd name="connsiteY13" fmla="*/ 1310185 h 2074459"/>
                <a:gd name="connsiteX14" fmla="*/ 696036 w 1651379"/>
                <a:gd name="connsiteY14" fmla="*/ 1269241 h 2074459"/>
                <a:gd name="connsiteX15" fmla="*/ 736979 w 1651379"/>
                <a:gd name="connsiteY15" fmla="*/ 1187355 h 2074459"/>
                <a:gd name="connsiteX16" fmla="*/ 723331 w 1651379"/>
                <a:gd name="connsiteY16" fmla="*/ 887104 h 2074459"/>
                <a:gd name="connsiteX17" fmla="*/ 709683 w 1651379"/>
                <a:gd name="connsiteY17" fmla="*/ 846161 h 2074459"/>
                <a:gd name="connsiteX18" fmla="*/ 696036 w 1651379"/>
                <a:gd name="connsiteY18" fmla="*/ 791570 h 2074459"/>
                <a:gd name="connsiteX19" fmla="*/ 709683 w 1651379"/>
                <a:gd name="connsiteY19" fmla="*/ 573206 h 2074459"/>
                <a:gd name="connsiteX20" fmla="*/ 791570 w 1651379"/>
                <a:gd name="connsiteY20" fmla="*/ 409432 h 2074459"/>
                <a:gd name="connsiteX21" fmla="*/ 832513 w 1651379"/>
                <a:gd name="connsiteY21" fmla="*/ 382137 h 2074459"/>
                <a:gd name="connsiteX22" fmla="*/ 914400 w 1651379"/>
                <a:gd name="connsiteY22" fmla="*/ 313898 h 2074459"/>
                <a:gd name="connsiteX23" fmla="*/ 996286 w 1651379"/>
                <a:gd name="connsiteY23" fmla="*/ 286603 h 2074459"/>
                <a:gd name="connsiteX24" fmla="*/ 1050877 w 1651379"/>
                <a:gd name="connsiteY24" fmla="*/ 245659 h 2074459"/>
                <a:gd name="connsiteX25" fmla="*/ 1187355 w 1651379"/>
                <a:gd name="connsiteY25" fmla="*/ 218364 h 2074459"/>
                <a:gd name="connsiteX26" fmla="*/ 1364776 w 1651379"/>
                <a:gd name="connsiteY26" fmla="*/ 177420 h 2074459"/>
                <a:gd name="connsiteX27" fmla="*/ 1446662 w 1651379"/>
                <a:gd name="connsiteY27" fmla="*/ 150125 h 2074459"/>
                <a:gd name="connsiteX28" fmla="*/ 1487606 w 1651379"/>
                <a:gd name="connsiteY28" fmla="*/ 136477 h 2074459"/>
                <a:gd name="connsiteX29" fmla="*/ 1514901 w 1651379"/>
                <a:gd name="connsiteY29" fmla="*/ 95534 h 2074459"/>
                <a:gd name="connsiteX30" fmla="*/ 1555845 w 1651379"/>
                <a:gd name="connsiteY30" fmla="*/ 81886 h 2074459"/>
                <a:gd name="connsiteX31" fmla="*/ 1596788 w 1651379"/>
                <a:gd name="connsiteY31" fmla="*/ 54591 h 2074459"/>
                <a:gd name="connsiteX32" fmla="*/ 1651379 w 1651379"/>
                <a:gd name="connsiteY32" fmla="*/ 0 h 2074459"/>
                <a:gd name="connsiteX0" fmla="*/ 13648 w 1651379"/>
                <a:gd name="connsiteY0" fmla="*/ 2074459 h 2074459"/>
                <a:gd name="connsiteX1" fmla="*/ 0 w 1651379"/>
                <a:gd name="connsiteY1" fmla="*/ 2006220 h 2074459"/>
                <a:gd name="connsiteX2" fmla="*/ 27295 w 1651379"/>
                <a:gd name="connsiteY2" fmla="*/ 1883391 h 2074459"/>
                <a:gd name="connsiteX3" fmla="*/ 40943 w 1651379"/>
                <a:gd name="connsiteY3" fmla="*/ 1815152 h 2074459"/>
                <a:gd name="connsiteX4" fmla="*/ 95534 w 1651379"/>
                <a:gd name="connsiteY4" fmla="*/ 1692322 h 2074459"/>
                <a:gd name="connsiteX5" fmla="*/ 177421 w 1651379"/>
                <a:gd name="connsiteY5" fmla="*/ 1637731 h 2074459"/>
                <a:gd name="connsiteX6" fmla="*/ 259307 w 1651379"/>
                <a:gd name="connsiteY6" fmla="*/ 1596788 h 2074459"/>
                <a:gd name="connsiteX7" fmla="*/ 395785 w 1651379"/>
                <a:gd name="connsiteY7" fmla="*/ 1569492 h 2074459"/>
                <a:gd name="connsiteX8" fmla="*/ 436728 w 1651379"/>
                <a:gd name="connsiteY8" fmla="*/ 1528549 h 2074459"/>
                <a:gd name="connsiteX9" fmla="*/ 518615 w 1651379"/>
                <a:gd name="connsiteY9" fmla="*/ 1487606 h 2074459"/>
                <a:gd name="connsiteX10" fmla="*/ 559558 w 1651379"/>
                <a:gd name="connsiteY10" fmla="*/ 1446662 h 2074459"/>
                <a:gd name="connsiteX11" fmla="*/ 586853 w 1651379"/>
                <a:gd name="connsiteY11" fmla="*/ 1405719 h 2074459"/>
                <a:gd name="connsiteX12" fmla="*/ 627797 w 1651379"/>
                <a:gd name="connsiteY12" fmla="*/ 1392071 h 2074459"/>
                <a:gd name="connsiteX13" fmla="*/ 682388 w 1651379"/>
                <a:gd name="connsiteY13" fmla="*/ 1310185 h 2074459"/>
                <a:gd name="connsiteX14" fmla="*/ 696036 w 1651379"/>
                <a:gd name="connsiteY14" fmla="*/ 1269241 h 2074459"/>
                <a:gd name="connsiteX15" fmla="*/ 736979 w 1651379"/>
                <a:gd name="connsiteY15" fmla="*/ 1187355 h 2074459"/>
                <a:gd name="connsiteX16" fmla="*/ 723331 w 1651379"/>
                <a:gd name="connsiteY16" fmla="*/ 887104 h 2074459"/>
                <a:gd name="connsiteX17" fmla="*/ 709683 w 1651379"/>
                <a:gd name="connsiteY17" fmla="*/ 846161 h 2074459"/>
                <a:gd name="connsiteX18" fmla="*/ 696036 w 1651379"/>
                <a:gd name="connsiteY18" fmla="*/ 791570 h 2074459"/>
                <a:gd name="connsiteX19" fmla="*/ 709683 w 1651379"/>
                <a:gd name="connsiteY19" fmla="*/ 573206 h 2074459"/>
                <a:gd name="connsiteX20" fmla="*/ 791570 w 1651379"/>
                <a:gd name="connsiteY20" fmla="*/ 409432 h 2074459"/>
                <a:gd name="connsiteX21" fmla="*/ 832513 w 1651379"/>
                <a:gd name="connsiteY21" fmla="*/ 382137 h 2074459"/>
                <a:gd name="connsiteX22" fmla="*/ 914400 w 1651379"/>
                <a:gd name="connsiteY22" fmla="*/ 313898 h 2074459"/>
                <a:gd name="connsiteX23" fmla="*/ 996286 w 1651379"/>
                <a:gd name="connsiteY23" fmla="*/ 286603 h 2074459"/>
                <a:gd name="connsiteX24" fmla="*/ 1050877 w 1651379"/>
                <a:gd name="connsiteY24" fmla="*/ 245659 h 2074459"/>
                <a:gd name="connsiteX25" fmla="*/ 1187355 w 1651379"/>
                <a:gd name="connsiteY25" fmla="*/ 218364 h 2074459"/>
                <a:gd name="connsiteX26" fmla="*/ 1364776 w 1651379"/>
                <a:gd name="connsiteY26" fmla="*/ 177420 h 2074459"/>
                <a:gd name="connsiteX27" fmla="*/ 1446662 w 1651379"/>
                <a:gd name="connsiteY27" fmla="*/ 150125 h 2074459"/>
                <a:gd name="connsiteX28" fmla="*/ 1487606 w 1651379"/>
                <a:gd name="connsiteY28" fmla="*/ 136477 h 2074459"/>
                <a:gd name="connsiteX29" fmla="*/ 1514901 w 1651379"/>
                <a:gd name="connsiteY29" fmla="*/ 95534 h 2074459"/>
                <a:gd name="connsiteX30" fmla="*/ 1555845 w 1651379"/>
                <a:gd name="connsiteY30" fmla="*/ 81886 h 2074459"/>
                <a:gd name="connsiteX31" fmla="*/ 1596788 w 1651379"/>
                <a:gd name="connsiteY31" fmla="*/ 54591 h 2074459"/>
                <a:gd name="connsiteX32" fmla="*/ 1651379 w 1651379"/>
                <a:gd name="connsiteY32" fmla="*/ 0 h 2074459"/>
                <a:gd name="connsiteX0" fmla="*/ 13648 w 1651379"/>
                <a:gd name="connsiteY0" fmla="*/ 2074459 h 2074459"/>
                <a:gd name="connsiteX1" fmla="*/ 0 w 1651379"/>
                <a:gd name="connsiteY1" fmla="*/ 2006220 h 2074459"/>
                <a:gd name="connsiteX2" fmla="*/ 27295 w 1651379"/>
                <a:gd name="connsiteY2" fmla="*/ 1883391 h 2074459"/>
                <a:gd name="connsiteX3" fmla="*/ 40943 w 1651379"/>
                <a:gd name="connsiteY3" fmla="*/ 1815152 h 2074459"/>
                <a:gd name="connsiteX4" fmla="*/ 95534 w 1651379"/>
                <a:gd name="connsiteY4" fmla="*/ 1692322 h 2074459"/>
                <a:gd name="connsiteX5" fmla="*/ 177421 w 1651379"/>
                <a:gd name="connsiteY5" fmla="*/ 1637731 h 2074459"/>
                <a:gd name="connsiteX6" fmla="*/ 259307 w 1651379"/>
                <a:gd name="connsiteY6" fmla="*/ 1596788 h 2074459"/>
                <a:gd name="connsiteX7" fmla="*/ 395785 w 1651379"/>
                <a:gd name="connsiteY7" fmla="*/ 1569492 h 2074459"/>
                <a:gd name="connsiteX8" fmla="*/ 436728 w 1651379"/>
                <a:gd name="connsiteY8" fmla="*/ 1528549 h 2074459"/>
                <a:gd name="connsiteX9" fmla="*/ 518615 w 1651379"/>
                <a:gd name="connsiteY9" fmla="*/ 1487606 h 2074459"/>
                <a:gd name="connsiteX10" fmla="*/ 559558 w 1651379"/>
                <a:gd name="connsiteY10" fmla="*/ 1446662 h 2074459"/>
                <a:gd name="connsiteX11" fmla="*/ 586853 w 1651379"/>
                <a:gd name="connsiteY11" fmla="*/ 1405719 h 2074459"/>
                <a:gd name="connsiteX12" fmla="*/ 627797 w 1651379"/>
                <a:gd name="connsiteY12" fmla="*/ 1392071 h 2074459"/>
                <a:gd name="connsiteX13" fmla="*/ 682388 w 1651379"/>
                <a:gd name="connsiteY13" fmla="*/ 1310185 h 2074459"/>
                <a:gd name="connsiteX14" fmla="*/ 696036 w 1651379"/>
                <a:gd name="connsiteY14" fmla="*/ 1269241 h 2074459"/>
                <a:gd name="connsiteX15" fmla="*/ 736979 w 1651379"/>
                <a:gd name="connsiteY15" fmla="*/ 1187355 h 2074459"/>
                <a:gd name="connsiteX16" fmla="*/ 723331 w 1651379"/>
                <a:gd name="connsiteY16" fmla="*/ 887104 h 2074459"/>
                <a:gd name="connsiteX17" fmla="*/ 709683 w 1651379"/>
                <a:gd name="connsiteY17" fmla="*/ 846161 h 2074459"/>
                <a:gd name="connsiteX18" fmla="*/ 696036 w 1651379"/>
                <a:gd name="connsiteY18" fmla="*/ 791570 h 2074459"/>
                <a:gd name="connsiteX19" fmla="*/ 709683 w 1651379"/>
                <a:gd name="connsiteY19" fmla="*/ 573206 h 2074459"/>
                <a:gd name="connsiteX20" fmla="*/ 791570 w 1651379"/>
                <a:gd name="connsiteY20" fmla="*/ 409432 h 2074459"/>
                <a:gd name="connsiteX21" fmla="*/ 832513 w 1651379"/>
                <a:gd name="connsiteY21" fmla="*/ 382137 h 2074459"/>
                <a:gd name="connsiteX22" fmla="*/ 914400 w 1651379"/>
                <a:gd name="connsiteY22" fmla="*/ 313898 h 2074459"/>
                <a:gd name="connsiteX23" fmla="*/ 996286 w 1651379"/>
                <a:gd name="connsiteY23" fmla="*/ 286603 h 2074459"/>
                <a:gd name="connsiteX24" fmla="*/ 1050877 w 1651379"/>
                <a:gd name="connsiteY24" fmla="*/ 245659 h 2074459"/>
                <a:gd name="connsiteX25" fmla="*/ 1187355 w 1651379"/>
                <a:gd name="connsiteY25" fmla="*/ 218364 h 2074459"/>
                <a:gd name="connsiteX26" fmla="*/ 1364776 w 1651379"/>
                <a:gd name="connsiteY26" fmla="*/ 177420 h 2074459"/>
                <a:gd name="connsiteX27" fmla="*/ 1446662 w 1651379"/>
                <a:gd name="connsiteY27" fmla="*/ 150125 h 2074459"/>
                <a:gd name="connsiteX28" fmla="*/ 1487606 w 1651379"/>
                <a:gd name="connsiteY28" fmla="*/ 136477 h 2074459"/>
                <a:gd name="connsiteX29" fmla="*/ 1514901 w 1651379"/>
                <a:gd name="connsiteY29" fmla="*/ 95534 h 2074459"/>
                <a:gd name="connsiteX30" fmla="*/ 1555845 w 1651379"/>
                <a:gd name="connsiteY30" fmla="*/ 81886 h 2074459"/>
                <a:gd name="connsiteX31" fmla="*/ 1596788 w 1651379"/>
                <a:gd name="connsiteY31" fmla="*/ 54591 h 2074459"/>
                <a:gd name="connsiteX32" fmla="*/ 1651379 w 1651379"/>
                <a:gd name="connsiteY32" fmla="*/ 0 h 2074459"/>
                <a:gd name="connsiteX0" fmla="*/ 13648 w 1596788"/>
                <a:gd name="connsiteY0" fmla="*/ 2019868 h 2019868"/>
                <a:gd name="connsiteX1" fmla="*/ 0 w 1596788"/>
                <a:gd name="connsiteY1" fmla="*/ 1951629 h 2019868"/>
                <a:gd name="connsiteX2" fmla="*/ 27295 w 1596788"/>
                <a:gd name="connsiteY2" fmla="*/ 1828800 h 2019868"/>
                <a:gd name="connsiteX3" fmla="*/ 40943 w 1596788"/>
                <a:gd name="connsiteY3" fmla="*/ 1760561 h 2019868"/>
                <a:gd name="connsiteX4" fmla="*/ 95534 w 1596788"/>
                <a:gd name="connsiteY4" fmla="*/ 1637731 h 2019868"/>
                <a:gd name="connsiteX5" fmla="*/ 177421 w 1596788"/>
                <a:gd name="connsiteY5" fmla="*/ 1583140 h 2019868"/>
                <a:gd name="connsiteX6" fmla="*/ 259307 w 1596788"/>
                <a:gd name="connsiteY6" fmla="*/ 1542197 h 2019868"/>
                <a:gd name="connsiteX7" fmla="*/ 395785 w 1596788"/>
                <a:gd name="connsiteY7" fmla="*/ 1514901 h 2019868"/>
                <a:gd name="connsiteX8" fmla="*/ 436728 w 1596788"/>
                <a:gd name="connsiteY8" fmla="*/ 1473958 h 2019868"/>
                <a:gd name="connsiteX9" fmla="*/ 518615 w 1596788"/>
                <a:gd name="connsiteY9" fmla="*/ 1433015 h 2019868"/>
                <a:gd name="connsiteX10" fmla="*/ 559558 w 1596788"/>
                <a:gd name="connsiteY10" fmla="*/ 1392071 h 2019868"/>
                <a:gd name="connsiteX11" fmla="*/ 586853 w 1596788"/>
                <a:gd name="connsiteY11" fmla="*/ 1351128 h 2019868"/>
                <a:gd name="connsiteX12" fmla="*/ 627797 w 1596788"/>
                <a:gd name="connsiteY12" fmla="*/ 1337480 h 2019868"/>
                <a:gd name="connsiteX13" fmla="*/ 682388 w 1596788"/>
                <a:gd name="connsiteY13" fmla="*/ 1255594 h 2019868"/>
                <a:gd name="connsiteX14" fmla="*/ 696036 w 1596788"/>
                <a:gd name="connsiteY14" fmla="*/ 1214650 h 2019868"/>
                <a:gd name="connsiteX15" fmla="*/ 736979 w 1596788"/>
                <a:gd name="connsiteY15" fmla="*/ 1132764 h 2019868"/>
                <a:gd name="connsiteX16" fmla="*/ 723331 w 1596788"/>
                <a:gd name="connsiteY16" fmla="*/ 832513 h 2019868"/>
                <a:gd name="connsiteX17" fmla="*/ 709683 w 1596788"/>
                <a:gd name="connsiteY17" fmla="*/ 791570 h 2019868"/>
                <a:gd name="connsiteX18" fmla="*/ 696036 w 1596788"/>
                <a:gd name="connsiteY18" fmla="*/ 736979 h 2019868"/>
                <a:gd name="connsiteX19" fmla="*/ 709683 w 1596788"/>
                <a:gd name="connsiteY19" fmla="*/ 518615 h 2019868"/>
                <a:gd name="connsiteX20" fmla="*/ 791570 w 1596788"/>
                <a:gd name="connsiteY20" fmla="*/ 354841 h 2019868"/>
                <a:gd name="connsiteX21" fmla="*/ 832513 w 1596788"/>
                <a:gd name="connsiteY21" fmla="*/ 327546 h 2019868"/>
                <a:gd name="connsiteX22" fmla="*/ 914400 w 1596788"/>
                <a:gd name="connsiteY22" fmla="*/ 259307 h 2019868"/>
                <a:gd name="connsiteX23" fmla="*/ 996286 w 1596788"/>
                <a:gd name="connsiteY23" fmla="*/ 232012 h 2019868"/>
                <a:gd name="connsiteX24" fmla="*/ 1050877 w 1596788"/>
                <a:gd name="connsiteY24" fmla="*/ 191068 h 2019868"/>
                <a:gd name="connsiteX25" fmla="*/ 1187355 w 1596788"/>
                <a:gd name="connsiteY25" fmla="*/ 163773 h 2019868"/>
                <a:gd name="connsiteX26" fmla="*/ 1364776 w 1596788"/>
                <a:gd name="connsiteY26" fmla="*/ 122829 h 2019868"/>
                <a:gd name="connsiteX27" fmla="*/ 1446662 w 1596788"/>
                <a:gd name="connsiteY27" fmla="*/ 95534 h 2019868"/>
                <a:gd name="connsiteX28" fmla="*/ 1487606 w 1596788"/>
                <a:gd name="connsiteY28" fmla="*/ 81886 h 2019868"/>
                <a:gd name="connsiteX29" fmla="*/ 1514901 w 1596788"/>
                <a:gd name="connsiteY29" fmla="*/ 40943 h 2019868"/>
                <a:gd name="connsiteX30" fmla="*/ 1555845 w 1596788"/>
                <a:gd name="connsiteY30" fmla="*/ 27295 h 2019868"/>
                <a:gd name="connsiteX31" fmla="*/ 1596788 w 1596788"/>
                <a:gd name="connsiteY31" fmla="*/ 0 h 2019868"/>
                <a:gd name="connsiteX0" fmla="*/ 13648 w 1555845"/>
                <a:gd name="connsiteY0" fmla="*/ 1992573 h 1992573"/>
                <a:gd name="connsiteX1" fmla="*/ 0 w 1555845"/>
                <a:gd name="connsiteY1" fmla="*/ 1924334 h 1992573"/>
                <a:gd name="connsiteX2" fmla="*/ 27295 w 1555845"/>
                <a:gd name="connsiteY2" fmla="*/ 1801505 h 1992573"/>
                <a:gd name="connsiteX3" fmla="*/ 40943 w 1555845"/>
                <a:gd name="connsiteY3" fmla="*/ 1733266 h 1992573"/>
                <a:gd name="connsiteX4" fmla="*/ 95534 w 1555845"/>
                <a:gd name="connsiteY4" fmla="*/ 1610436 h 1992573"/>
                <a:gd name="connsiteX5" fmla="*/ 177421 w 1555845"/>
                <a:gd name="connsiteY5" fmla="*/ 1555845 h 1992573"/>
                <a:gd name="connsiteX6" fmla="*/ 259307 w 1555845"/>
                <a:gd name="connsiteY6" fmla="*/ 1514902 h 1992573"/>
                <a:gd name="connsiteX7" fmla="*/ 395785 w 1555845"/>
                <a:gd name="connsiteY7" fmla="*/ 1487606 h 1992573"/>
                <a:gd name="connsiteX8" fmla="*/ 436728 w 1555845"/>
                <a:gd name="connsiteY8" fmla="*/ 1446663 h 1992573"/>
                <a:gd name="connsiteX9" fmla="*/ 518615 w 1555845"/>
                <a:gd name="connsiteY9" fmla="*/ 1405720 h 1992573"/>
                <a:gd name="connsiteX10" fmla="*/ 559558 w 1555845"/>
                <a:gd name="connsiteY10" fmla="*/ 1364776 h 1992573"/>
                <a:gd name="connsiteX11" fmla="*/ 586853 w 1555845"/>
                <a:gd name="connsiteY11" fmla="*/ 1323833 h 1992573"/>
                <a:gd name="connsiteX12" fmla="*/ 627797 w 1555845"/>
                <a:gd name="connsiteY12" fmla="*/ 1310185 h 1992573"/>
                <a:gd name="connsiteX13" fmla="*/ 682388 w 1555845"/>
                <a:gd name="connsiteY13" fmla="*/ 1228299 h 1992573"/>
                <a:gd name="connsiteX14" fmla="*/ 696036 w 1555845"/>
                <a:gd name="connsiteY14" fmla="*/ 1187355 h 1992573"/>
                <a:gd name="connsiteX15" fmla="*/ 736979 w 1555845"/>
                <a:gd name="connsiteY15" fmla="*/ 1105469 h 1992573"/>
                <a:gd name="connsiteX16" fmla="*/ 723331 w 1555845"/>
                <a:gd name="connsiteY16" fmla="*/ 805218 h 1992573"/>
                <a:gd name="connsiteX17" fmla="*/ 709683 w 1555845"/>
                <a:gd name="connsiteY17" fmla="*/ 764275 h 1992573"/>
                <a:gd name="connsiteX18" fmla="*/ 696036 w 1555845"/>
                <a:gd name="connsiteY18" fmla="*/ 709684 h 1992573"/>
                <a:gd name="connsiteX19" fmla="*/ 709683 w 1555845"/>
                <a:gd name="connsiteY19" fmla="*/ 491320 h 1992573"/>
                <a:gd name="connsiteX20" fmla="*/ 791570 w 1555845"/>
                <a:gd name="connsiteY20" fmla="*/ 327546 h 1992573"/>
                <a:gd name="connsiteX21" fmla="*/ 832513 w 1555845"/>
                <a:gd name="connsiteY21" fmla="*/ 300251 h 1992573"/>
                <a:gd name="connsiteX22" fmla="*/ 914400 w 1555845"/>
                <a:gd name="connsiteY22" fmla="*/ 232012 h 1992573"/>
                <a:gd name="connsiteX23" fmla="*/ 996286 w 1555845"/>
                <a:gd name="connsiteY23" fmla="*/ 204717 h 1992573"/>
                <a:gd name="connsiteX24" fmla="*/ 1050877 w 1555845"/>
                <a:gd name="connsiteY24" fmla="*/ 163773 h 1992573"/>
                <a:gd name="connsiteX25" fmla="*/ 1187355 w 1555845"/>
                <a:gd name="connsiteY25" fmla="*/ 136478 h 1992573"/>
                <a:gd name="connsiteX26" fmla="*/ 1364776 w 1555845"/>
                <a:gd name="connsiteY26" fmla="*/ 95534 h 1992573"/>
                <a:gd name="connsiteX27" fmla="*/ 1446662 w 1555845"/>
                <a:gd name="connsiteY27" fmla="*/ 68239 h 1992573"/>
                <a:gd name="connsiteX28" fmla="*/ 1487606 w 1555845"/>
                <a:gd name="connsiteY28" fmla="*/ 54591 h 1992573"/>
                <a:gd name="connsiteX29" fmla="*/ 1514901 w 1555845"/>
                <a:gd name="connsiteY29" fmla="*/ 13648 h 1992573"/>
                <a:gd name="connsiteX30" fmla="*/ 1555845 w 1555845"/>
                <a:gd name="connsiteY30" fmla="*/ 0 h 1992573"/>
                <a:gd name="connsiteX0" fmla="*/ 13648 w 1514901"/>
                <a:gd name="connsiteY0" fmla="*/ 1978925 h 1978925"/>
                <a:gd name="connsiteX1" fmla="*/ 0 w 1514901"/>
                <a:gd name="connsiteY1" fmla="*/ 1910686 h 1978925"/>
                <a:gd name="connsiteX2" fmla="*/ 27295 w 1514901"/>
                <a:gd name="connsiteY2" fmla="*/ 1787857 h 1978925"/>
                <a:gd name="connsiteX3" fmla="*/ 40943 w 1514901"/>
                <a:gd name="connsiteY3" fmla="*/ 1719618 h 1978925"/>
                <a:gd name="connsiteX4" fmla="*/ 95534 w 1514901"/>
                <a:gd name="connsiteY4" fmla="*/ 1596788 h 1978925"/>
                <a:gd name="connsiteX5" fmla="*/ 177421 w 1514901"/>
                <a:gd name="connsiteY5" fmla="*/ 1542197 h 1978925"/>
                <a:gd name="connsiteX6" fmla="*/ 259307 w 1514901"/>
                <a:gd name="connsiteY6" fmla="*/ 1501254 h 1978925"/>
                <a:gd name="connsiteX7" fmla="*/ 395785 w 1514901"/>
                <a:gd name="connsiteY7" fmla="*/ 1473958 h 1978925"/>
                <a:gd name="connsiteX8" fmla="*/ 436728 w 1514901"/>
                <a:gd name="connsiteY8" fmla="*/ 1433015 h 1978925"/>
                <a:gd name="connsiteX9" fmla="*/ 518615 w 1514901"/>
                <a:gd name="connsiteY9" fmla="*/ 1392072 h 1978925"/>
                <a:gd name="connsiteX10" fmla="*/ 559558 w 1514901"/>
                <a:gd name="connsiteY10" fmla="*/ 1351128 h 1978925"/>
                <a:gd name="connsiteX11" fmla="*/ 586853 w 1514901"/>
                <a:gd name="connsiteY11" fmla="*/ 1310185 h 1978925"/>
                <a:gd name="connsiteX12" fmla="*/ 627797 w 1514901"/>
                <a:gd name="connsiteY12" fmla="*/ 1296537 h 1978925"/>
                <a:gd name="connsiteX13" fmla="*/ 682388 w 1514901"/>
                <a:gd name="connsiteY13" fmla="*/ 1214651 h 1978925"/>
                <a:gd name="connsiteX14" fmla="*/ 696036 w 1514901"/>
                <a:gd name="connsiteY14" fmla="*/ 1173707 h 1978925"/>
                <a:gd name="connsiteX15" fmla="*/ 736979 w 1514901"/>
                <a:gd name="connsiteY15" fmla="*/ 1091821 h 1978925"/>
                <a:gd name="connsiteX16" fmla="*/ 723331 w 1514901"/>
                <a:gd name="connsiteY16" fmla="*/ 791570 h 1978925"/>
                <a:gd name="connsiteX17" fmla="*/ 709683 w 1514901"/>
                <a:gd name="connsiteY17" fmla="*/ 750627 h 1978925"/>
                <a:gd name="connsiteX18" fmla="*/ 696036 w 1514901"/>
                <a:gd name="connsiteY18" fmla="*/ 696036 h 1978925"/>
                <a:gd name="connsiteX19" fmla="*/ 709683 w 1514901"/>
                <a:gd name="connsiteY19" fmla="*/ 477672 h 1978925"/>
                <a:gd name="connsiteX20" fmla="*/ 791570 w 1514901"/>
                <a:gd name="connsiteY20" fmla="*/ 313898 h 1978925"/>
                <a:gd name="connsiteX21" fmla="*/ 832513 w 1514901"/>
                <a:gd name="connsiteY21" fmla="*/ 286603 h 1978925"/>
                <a:gd name="connsiteX22" fmla="*/ 914400 w 1514901"/>
                <a:gd name="connsiteY22" fmla="*/ 218364 h 1978925"/>
                <a:gd name="connsiteX23" fmla="*/ 996286 w 1514901"/>
                <a:gd name="connsiteY23" fmla="*/ 191069 h 1978925"/>
                <a:gd name="connsiteX24" fmla="*/ 1050877 w 1514901"/>
                <a:gd name="connsiteY24" fmla="*/ 150125 h 1978925"/>
                <a:gd name="connsiteX25" fmla="*/ 1187355 w 1514901"/>
                <a:gd name="connsiteY25" fmla="*/ 122830 h 1978925"/>
                <a:gd name="connsiteX26" fmla="*/ 1364776 w 1514901"/>
                <a:gd name="connsiteY26" fmla="*/ 81886 h 1978925"/>
                <a:gd name="connsiteX27" fmla="*/ 1446662 w 1514901"/>
                <a:gd name="connsiteY27" fmla="*/ 54591 h 1978925"/>
                <a:gd name="connsiteX28" fmla="*/ 1487606 w 1514901"/>
                <a:gd name="connsiteY28" fmla="*/ 40943 h 1978925"/>
                <a:gd name="connsiteX29" fmla="*/ 1514901 w 1514901"/>
                <a:gd name="connsiteY29" fmla="*/ 0 h 1978925"/>
                <a:gd name="connsiteX0" fmla="*/ 13648 w 1487606"/>
                <a:gd name="connsiteY0" fmla="*/ 1937982 h 1937982"/>
                <a:gd name="connsiteX1" fmla="*/ 0 w 1487606"/>
                <a:gd name="connsiteY1" fmla="*/ 1869743 h 1937982"/>
                <a:gd name="connsiteX2" fmla="*/ 27295 w 1487606"/>
                <a:gd name="connsiteY2" fmla="*/ 1746914 h 1937982"/>
                <a:gd name="connsiteX3" fmla="*/ 40943 w 1487606"/>
                <a:gd name="connsiteY3" fmla="*/ 1678675 h 1937982"/>
                <a:gd name="connsiteX4" fmla="*/ 95534 w 1487606"/>
                <a:gd name="connsiteY4" fmla="*/ 1555845 h 1937982"/>
                <a:gd name="connsiteX5" fmla="*/ 177421 w 1487606"/>
                <a:gd name="connsiteY5" fmla="*/ 1501254 h 1937982"/>
                <a:gd name="connsiteX6" fmla="*/ 259307 w 1487606"/>
                <a:gd name="connsiteY6" fmla="*/ 1460311 h 1937982"/>
                <a:gd name="connsiteX7" fmla="*/ 395785 w 1487606"/>
                <a:gd name="connsiteY7" fmla="*/ 1433015 h 1937982"/>
                <a:gd name="connsiteX8" fmla="*/ 436728 w 1487606"/>
                <a:gd name="connsiteY8" fmla="*/ 1392072 h 1937982"/>
                <a:gd name="connsiteX9" fmla="*/ 518615 w 1487606"/>
                <a:gd name="connsiteY9" fmla="*/ 1351129 h 1937982"/>
                <a:gd name="connsiteX10" fmla="*/ 559558 w 1487606"/>
                <a:gd name="connsiteY10" fmla="*/ 1310185 h 1937982"/>
                <a:gd name="connsiteX11" fmla="*/ 586853 w 1487606"/>
                <a:gd name="connsiteY11" fmla="*/ 1269242 h 1937982"/>
                <a:gd name="connsiteX12" fmla="*/ 627797 w 1487606"/>
                <a:gd name="connsiteY12" fmla="*/ 1255594 h 1937982"/>
                <a:gd name="connsiteX13" fmla="*/ 682388 w 1487606"/>
                <a:gd name="connsiteY13" fmla="*/ 1173708 h 1937982"/>
                <a:gd name="connsiteX14" fmla="*/ 696036 w 1487606"/>
                <a:gd name="connsiteY14" fmla="*/ 1132764 h 1937982"/>
                <a:gd name="connsiteX15" fmla="*/ 736979 w 1487606"/>
                <a:gd name="connsiteY15" fmla="*/ 1050878 h 1937982"/>
                <a:gd name="connsiteX16" fmla="*/ 723331 w 1487606"/>
                <a:gd name="connsiteY16" fmla="*/ 750627 h 1937982"/>
                <a:gd name="connsiteX17" fmla="*/ 709683 w 1487606"/>
                <a:gd name="connsiteY17" fmla="*/ 709684 h 1937982"/>
                <a:gd name="connsiteX18" fmla="*/ 696036 w 1487606"/>
                <a:gd name="connsiteY18" fmla="*/ 655093 h 1937982"/>
                <a:gd name="connsiteX19" fmla="*/ 709683 w 1487606"/>
                <a:gd name="connsiteY19" fmla="*/ 436729 h 1937982"/>
                <a:gd name="connsiteX20" fmla="*/ 791570 w 1487606"/>
                <a:gd name="connsiteY20" fmla="*/ 272955 h 1937982"/>
                <a:gd name="connsiteX21" fmla="*/ 832513 w 1487606"/>
                <a:gd name="connsiteY21" fmla="*/ 245660 h 1937982"/>
                <a:gd name="connsiteX22" fmla="*/ 914400 w 1487606"/>
                <a:gd name="connsiteY22" fmla="*/ 177421 h 1937982"/>
                <a:gd name="connsiteX23" fmla="*/ 996286 w 1487606"/>
                <a:gd name="connsiteY23" fmla="*/ 150126 h 1937982"/>
                <a:gd name="connsiteX24" fmla="*/ 1050877 w 1487606"/>
                <a:gd name="connsiteY24" fmla="*/ 109182 h 1937982"/>
                <a:gd name="connsiteX25" fmla="*/ 1187355 w 1487606"/>
                <a:gd name="connsiteY25" fmla="*/ 81887 h 1937982"/>
                <a:gd name="connsiteX26" fmla="*/ 1364776 w 1487606"/>
                <a:gd name="connsiteY26" fmla="*/ 40943 h 1937982"/>
                <a:gd name="connsiteX27" fmla="*/ 1446662 w 1487606"/>
                <a:gd name="connsiteY27" fmla="*/ 13648 h 1937982"/>
                <a:gd name="connsiteX28" fmla="*/ 1487606 w 1487606"/>
                <a:gd name="connsiteY28" fmla="*/ 0 h 1937982"/>
                <a:gd name="connsiteX0" fmla="*/ 13648 w 1446662"/>
                <a:gd name="connsiteY0" fmla="*/ 1924334 h 1924334"/>
                <a:gd name="connsiteX1" fmla="*/ 0 w 1446662"/>
                <a:gd name="connsiteY1" fmla="*/ 1856095 h 1924334"/>
                <a:gd name="connsiteX2" fmla="*/ 27295 w 1446662"/>
                <a:gd name="connsiteY2" fmla="*/ 1733266 h 1924334"/>
                <a:gd name="connsiteX3" fmla="*/ 40943 w 1446662"/>
                <a:gd name="connsiteY3" fmla="*/ 1665027 h 1924334"/>
                <a:gd name="connsiteX4" fmla="*/ 95534 w 1446662"/>
                <a:gd name="connsiteY4" fmla="*/ 1542197 h 1924334"/>
                <a:gd name="connsiteX5" fmla="*/ 177421 w 1446662"/>
                <a:gd name="connsiteY5" fmla="*/ 1487606 h 1924334"/>
                <a:gd name="connsiteX6" fmla="*/ 259307 w 1446662"/>
                <a:gd name="connsiteY6" fmla="*/ 1446663 h 1924334"/>
                <a:gd name="connsiteX7" fmla="*/ 395785 w 1446662"/>
                <a:gd name="connsiteY7" fmla="*/ 1419367 h 1924334"/>
                <a:gd name="connsiteX8" fmla="*/ 436728 w 1446662"/>
                <a:gd name="connsiteY8" fmla="*/ 1378424 h 1924334"/>
                <a:gd name="connsiteX9" fmla="*/ 518615 w 1446662"/>
                <a:gd name="connsiteY9" fmla="*/ 1337481 h 1924334"/>
                <a:gd name="connsiteX10" fmla="*/ 559558 w 1446662"/>
                <a:gd name="connsiteY10" fmla="*/ 1296537 h 1924334"/>
                <a:gd name="connsiteX11" fmla="*/ 586853 w 1446662"/>
                <a:gd name="connsiteY11" fmla="*/ 1255594 h 1924334"/>
                <a:gd name="connsiteX12" fmla="*/ 627797 w 1446662"/>
                <a:gd name="connsiteY12" fmla="*/ 1241946 h 1924334"/>
                <a:gd name="connsiteX13" fmla="*/ 682388 w 1446662"/>
                <a:gd name="connsiteY13" fmla="*/ 1160060 h 1924334"/>
                <a:gd name="connsiteX14" fmla="*/ 696036 w 1446662"/>
                <a:gd name="connsiteY14" fmla="*/ 1119116 h 1924334"/>
                <a:gd name="connsiteX15" fmla="*/ 736979 w 1446662"/>
                <a:gd name="connsiteY15" fmla="*/ 1037230 h 1924334"/>
                <a:gd name="connsiteX16" fmla="*/ 723331 w 1446662"/>
                <a:gd name="connsiteY16" fmla="*/ 736979 h 1924334"/>
                <a:gd name="connsiteX17" fmla="*/ 709683 w 1446662"/>
                <a:gd name="connsiteY17" fmla="*/ 696036 h 1924334"/>
                <a:gd name="connsiteX18" fmla="*/ 696036 w 1446662"/>
                <a:gd name="connsiteY18" fmla="*/ 641445 h 1924334"/>
                <a:gd name="connsiteX19" fmla="*/ 709683 w 1446662"/>
                <a:gd name="connsiteY19" fmla="*/ 423081 h 1924334"/>
                <a:gd name="connsiteX20" fmla="*/ 791570 w 1446662"/>
                <a:gd name="connsiteY20" fmla="*/ 259307 h 1924334"/>
                <a:gd name="connsiteX21" fmla="*/ 832513 w 1446662"/>
                <a:gd name="connsiteY21" fmla="*/ 232012 h 1924334"/>
                <a:gd name="connsiteX22" fmla="*/ 914400 w 1446662"/>
                <a:gd name="connsiteY22" fmla="*/ 163773 h 1924334"/>
                <a:gd name="connsiteX23" fmla="*/ 996286 w 1446662"/>
                <a:gd name="connsiteY23" fmla="*/ 136478 h 1924334"/>
                <a:gd name="connsiteX24" fmla="*/ 1050877 w 1446662"/>
                <a:gd name="connsiteY24" fmla="*/ 95534 h 1924334"/>
                <a:gd name="connsiteX25" fmla="*/ 1187355 w 1446662"/>
                <a:gd name="connsiteY25" fmla="*/ 68239 h 1924334"/>
                <a:gd name="connsiteX26" fmla="*/ 1364776 w 1446662"/>
                <a:gd name="connsiteY26" fmla="*/ 27295 h 1924334"/>
                <a:gd name="connsiteX27" fmla="*/ 1446662 w 1446662"/>
                <a:gd name="connsiteY27" fmla="*/ 0 h 1924334"/>
                <a:gd name="connsiteX0" fmla="*/ 13648 w 1364776"/>
                <a:gd name="connsiteY0" fmla="*/ 1897039 h 1897039"/>
                <a:gd name="connsiteX1" fmla="*/ 0 w 1364776"/>
                <a:gd name="connsiteY1" fmla="*/ 1828800 h 1897039"/>
                <a:gd name="connsiteX2" fmla="*/ 27295 w 1364776"/>
                <a:gd name="connsiteY2" fmla="*/ 1705971 h 1897039"/>
                <a:gd name="connsiteX3" fmla="*/ 40943 w 1364776"/>
                <a:gd name="connsiteY3" fmla="*/ 1637732 h 1897039"/>
                <a:gd name="connsiteX4" fmla="*/ 95534 w 1364776"/>
                <a:gd name="connsiteY4" fmla="*/ 1514902 h 1897039"/>
                <a:gd name="connsiteX5" fmla="*/ 177421 w 1364776"/>
                <a:gd name="connsiteY5" fmla="*/ 1460311 h 1897039"/>
                <a:gd name="connsiteX6" fmla="*/ 259307 w 1364776"/>
                <a:gd name="connsiteY6" fmla="*/ 1419368 h 1897039"/>
                <a:gd name="connsiteX7" fmla="*/ 395785 w 1364776"/>
                <a:gd name="connsiteY7" fmla="*/ 1392072 h 1897039"/>
                <a:gd name="connsiteX8" fmla="*/ 436728 w 1364776"/>
                <a:gd name="connsiteY8" fmla="*/ 1351129 h 1897039"/>
                <a:gd name="connsiteX9" fmla="*/ 518615 w 1364776"/>
                <a:gd name="connsiteY9" fmla="*/ 1310186 h 1897039"/>
                <a:gd name="connsiteX10" fmla="*/ 559558 w 1364776"/>
                <a:gd name="connsiteY10" fmla="*/ 1269242 h 1897039"/>
                <a:gd name="connsiteX11" fmla="*/ 586853 w 1364776"/>
                <a:gd name="connsiteY11" fmla="*/ 1228299 h 1897039"/>
                <a:gd name="connsiteX12" fmla="*/ 627797 w 1364776"/>
                <a:gd name="connsiteY12" fmla="*/ 1214651 h 1897039"/>
                <a:gd name="connsiteX13" fmla="*/ 682388 w 1364776"/>
                <a:gd name="connsiteY13" fmla="*/ 1132765 h 1897039"/>
                <a:gd name="connsiteX14" fmla="*/ 696036 w 1364776"/>
                <a:gd name="connsiteY14" fmla="*/ 1091821 h 1897039"/>
                <a:gd name="connsiteX15" fmla="*/ 736979 w 1364776"/>
                <a:gd name="connsiteY15" fmla="*/ 1009935 h 1897039"/>
                <a:gd name="connsiteX16" fmla="*/ 723331 w 1364776"/>
                <a:gd name="connsiteY16" fmla="*/ 709684 h 1897039"/>
                <a:gd name="connsiteX17" fmla="*/ 709683 w 1364776"/>
                <a:gd name="connsiteY17" fmla="*/ 668741 h 1897039"/>
                <a:gd name="connsiteX18" fmla="*/ 696036 w 1364776"/>
                <a:gd name="connsiteY18" fmla="*/ 614150 h 1897039"/>
                <a:gd name="connsiteX19" fmla="*/ 709683 w 1364776"/>
                <a:gd name="connsiteY19" fmla="*/ 395786 h 1897039"/>
                <a:gd name="connsiteX20" fmla="*/ 791570 w 1364776"/>
                <a:gd name="connsiteY20" fmla="*/ 232012 h 1897039"/>
                <a:gd name="connsiteX21" fmla="*/ 832513 w 1364776"/>
                <a:gd name="connsiteY21" fmla="*/ 204717 h 1897039"/>
                <a:gd name="connsiteX22" fmla="*/ 914400 w 1364776"/>
                <a:gd name="connsiteY22" fmla="*/ 136478 h 1897039"/>
                <a:gd name="connsiteX23" fmla="*/ 996286 w 1364776"/>
                <a:gd name="connsiteY23" fmla="*/ 109183 h 1897039"/>
                <a:gd name="connsiteX24" fmla="*/ 1050877 w 1364776"/>
                <a:gd name="connsiteY24" fmla="*/ 68239 h 1897039"/>
                <a:gd name="connsiteX25" fmla="*/ 1187355 w 1364776"/>
                <a:gd name="connsiteY25" fmla="*/ 40944 h 1897039"/>
                <a:gd name="connsiteX26" fmla="*/ 1364776 w 1364776"/>
                <a:gd name="connsiteY26" fmla="*/ 0 h 1897039"/>
                <a:gd name="connsiteX0" fmla="*/ 13648 w 1187355"/>
                <a:gd name="connsiteY0" fmla="*/ 1856095 h 1856095"/>
                <a:gd name="connsiteX1" fmla="*/ 0 w 1187355"/>
                <a:gd name="connsiteY1" fmla="*/ 1787856 h 1856095"/>
                <a:gd name="connsiteX2" fmla="*/ 27295 w 1187355"/>
                <a:gd name="connsiteY2" fmla="*/ 1665027 h 1856095"/>
                <a:gd name="connsiteX3" fmla="*/ 40943 w 1187355"/>
                <a:gd name="connsiteY3" fmla="*/ 1596788 h 1856095"/>
                <a:gd name="connsiteX4" fmla="*/ 95534 w 1187355"/>
                <a:gd name="connsiteY4" fmla="*/ 1473958 h 1856095"/>
                <a:gd name="connsiteX5" fmla="*/ 177421 w 1187355"/>
                <a:gd name="connsiteY5" fmla="*/ 1419367 h 1856095"/>
                <a:gd name="connsiteX6" fmla="*/ 259307 w 1187355"/>
                <a:gd name="connsiteY6" fmla="*/ 1378424 h 1856095"/>
                <a:gd name="connsiteX7" fmla="*/ 395785 w 1187355"/>
                <a:gd name="connsiteY7" fmla="*/ 1351128 h 1856095"/>
                <a:gd name="connsiteX8" fmla="*/ 436728 w 1187355"/>
                <a:gd name="connsiteY8" fmla="*/ 1310185 h 1856095"/>
                <a:gd name="connsiteX9" fmla="*/ 518615 w 1187355"/>
                <a:gd name="connsiteY9" fmla="*/ 1269242 h 1856095"/>
                <a:gd name="connsiteX10" fmla="*/ 559558 w 1187355"/>
                <a:gd name="connsiteY10" fmla="*/ 1228298 h 1856095"/>
                <a:gd name="connsiteX11" fmla="*/ 586853 w 1187355"/>
                <a:gd name="connsiteY11" fmla="*/ 1187355 h 1856095"/>
                <a:gd name="connsiteX12" fmla="*/ 627797 w 1187355"/>
                <a:gd name="connsiteY12" fmla="*/ 1173707 h 1856095"/>
                <a:gd name="connsiteX13" fmla="*/ 682388 w 1187355"/>
                <a:gd name="connsiteY13" fmla="*/ 1091821 h 1856095"/>
                <a:gd name="connsiteX14" fmla="*/ 696036 w 1187355"/>
                <a:gd name="connsiteY14" fmla="*/ 1050877 h 1856095"/>
                <a:gd name="connsiteX15" fmla="*/ 736979 w 1187355"/>
                <a:gd name="connsiteY15" fmla="*/ 968991 h 1856095"/>
                <a:gd name="connsiteX16" fmla="*/ 723331 w 1187355"/>
                <a:gd name="connsiteY16" fmla="*/ 668740 h 1856095"/>
                <a:gd name="connsiteX17" fmla="*/ 709683 w 1187355"/>
                <a:gd name="connsiteY17" fmla="*/ 627797 h 1856095"/>
                <a:gd name="connsiteX18" fmla="*/ 696036 w 1187355"/>
                <a:gd name="connsiteY18" fmla="*/ 573206 h 1856095"/>
                <a:gd name="connsiteX19" fmla="*/ 709683 w 1187355"/>
                <a:gd name="connsiteY19" fmla="*/ 354842 h 1856095"/>
                <a:gd name="connsiteX20" fmla="*/ 791570 w 1187355"/>
                <a:gd name="connsiteY20" fmla="*/ 191068 h 1856095"/>
                <a:gd name="connsiteX21" fmla="*/ 832513 w 1187355"/>
                <a:gd name="connsiteY21" fmla="*/ 163773 h 1856095"/>
                <a:gd name="connsiteX22" fmla="*/ 914400 w 1187355"/>
                <a:gd name="connsiteY22" fmla="*/ 95534 h 1856095"/>
                <a:gd name="connsiteX23" fmla="*/ 996286 w 1187355"/>
                <a:gd name="connsiteY23" fmla="*/ 68239 h 1856095"/>
                <a:gd name="connsiteX24" fmla="*/ 1050877 w 1187355"/>
                <a:gd name="connsiteY24" fmla="*/ 27295 h 1856095"/>
                <a:gd name="connsiteX25" fmla="*/ 1187355 w 1187355"/>
                <a:gd name="connsiteY25" fmla="*/ 0 h 1856095"/>
                <a:gd name="connsiteX0" fmla="*/ 13648 w 1050877"/>
                <a:gd name="connsiteY0" fmla="*/ 1828800 h 1828800"/>
                <a:gd name="connsiteX1" fmla="*/ 0 w 1050877"/>
                <a:gd name="connsiteY1" fmla="*/ 1760561 h 1828800"/>
                <a:gd name="connsiteX2" fmla="*/ 27295 w 1050877"/>
                <a:gd name="connsiteY2" fmla="*/ 1637732 h 1828800"/>
                <a:gd name="connsiteX3" fmla="*/ 40943 w 1050877"/>
                <a:gd name="connsiteY3" fmla="*/ 1569493 h 1828800"/>
                <a:gd name="connsiteX4" fmla="*/ 95534 w 1050877"/>
                <a:gd name="connsiteY4" fmla="*/ 1446663 h 1828800"/>
                <a:gd name="connsiteX5" fmla="*/ 177421 w 1050877"/>
                <a:gd name="connsiteY5" fmla="*/ 1392072 h 1828800"/>
                <a:gd name="connsiteX6" fmla="*/ 259307 w 1050877"/>
                <a:gd name="connsiteY6" fmla="*/ 1351129 h 1828800"/>
                <a:gd name="connsiteX7" fmla="*/ 395785 w 1050877"/>
                <a:gd name="connsiteY7" fmla="*/ 1323833 h 1828800"/>
                <a:gd name="connsiteX8" fmla="*/ 436728 w 1050877"/>
                <a:gd name="connsiteY8" fmla="*/ 1282890 h 1828800"/>
                <a:gd name="connsiteX9" fmla="*/ 518615 w 1050877"/>
                <a:gd name="connsiteY9" fmla="*/ 1241947 h 1828800"/>
                <a:gd name="connsiteX10" fmla="*/ 559558 w 1050877"/>
                <a:gd name="connsiteY10" fmla="*/ 1201003 h 1828800"/>
                <a:gd name="connsiteX11" fmla="*/ 586853 w 1050877"/>
                <a:gd name="connsiteY11" fmla="*/ 1160060 h 1828800"/>
                <a:gd name="connsiteX12" fmla="*/ 627797 w 1050877"/>
                <a:gd name="connsiteY12" fmla="*/ 1146412 h 1828800"/>
                <a:gd name="connsiteX13" fmla="*/ 682388 w 1050877"/>
                <a:gd name="connsiteY13" fmla="*/ 1064526 h 1828800"/>
                <a:gd name="connsiteX14" fmla="*/ 696036 w 1050877"/>
                <a:gd name="connsiteY14" fmla="*/ 1023582 h 1828800"/>
                <a:gd name="connsiteX15" fmla="*/ 736979 w 1050877"/>
                <a:gd name="connsiteY15" fmla="*/ 941696 h 1828800"/>
                <a:gd name="connsiteX16" fmla="*/ 723331 w 1050877"/>
                <a:gd name="connsiteY16" fmla="*/ 641445 h 1828800"/>
                <a:gd name="connsiteX17" fmla="*/ 709683 w 1050877"/>
                <a:gd name="connsiteY17" fmla="*/ 600502 h 1828800"/>
                <a:gd name="connsiteX18" fmla="*/ 696036 w 1050877"/>
                <a:gd name="connsiteY18" fmla="*/ 545911 h 1828800"/>
                <a:gd name="connsiteX19" fmla="*/ 709683 w 1050877"/>
                <a:gd name="connsiteY19" fmla="*/ 327547 h 1828800"/>
                <a:gd name="connsiteX20" fmla="*/ 791570 w 1050877"/>
                <a:gd name="connsiteY20" fmla="*/ 163773 h 1828800"/>
                <a:gd name="connsiteX21" fmla="*/ 832513 w 1050877"/>
                <a:gd name="connsiteY21" fmla="*/ 136478 h 1828800"/>
                <a:gd name="connsiteX22" fmla="*/ 914400 w 1050877"/>
                <a:gd name="connsiteY22" fmla="*/ 68239 h 1828800"/>
                <a:gd name="connsiteX23" fmla="*/ 996286 w 1050877"/>
                <a:gd name="connsiteY23" fmla="*/ 40944 h 1828800"/>
                <a:gd name="connsiteX24" fmla="*/ 1050877 w 1050877"/>
                <a:gd name="connsiteY24" fmla="*/ 0 h 1828800"/>
                <a:gd name="connsiteX0" fmla="*/ 13648 w 996286"/>
                <a:gd name="connsiteY0" fmla="*/ 1787856 h 1787856"/>
                <a:gd name="connsiteX1" fmla="*/ 0 w 996286"/>
                <a:gd name="connsiteY1" fmla="*/ 1719617 h 1787856"/>
                <a:gd name="connsiteX2" fmla="*/ 27295 w 996286"/>
                <a:gd name="connsiteY2" fmla="*/ 1596788 h 1787856"/>
                <a:gd name="connsiteX3" fmla="*/ 40943 w 996286"/>
                <a:gd name="connsiteY3" fmla="*/ 1528549 h 1787856"/>
                <a:gd name="connsiteX4" fmla="*/ 95534 w 996286"/>
                <a:gd name="connsiteY4" fmla="*/ 1405719 h 1787856"/>
                <a:gd name="connsiteX5" fmla="*/ 177421 w 996286"/>
                <a:gd name="connsiteY5" fmla="*/ 1351128 h 1787856"/>
                <a:gd name="connsiteX6" fmla="*/ 259307 w 996286"/>
                <a:gd name="connsiteY6" fmla="*/ 1310185 h 1787856"/>
                <a:gd name="connsiteX7" fmla="*/ 395785 w 996286"/>
                <a:gd name="connsiteY7" fmla="*/ 1282889 h 1787856"/>
                <a:gd name="connsiteX8" fmla="*/ 436728 w 996286"/>
                <a:gd name="connsiteY8" fmla="*/ 1241946 h 1787856"/>
                <a:gd name="connsiteX9" fmla="*/ 518615 w 996286"/>
                <a:gd name="connsiteY9" fmla="*/ 1201003 h 1787856"/>
                <a:gd name="connsiteX10" fmla="*/ 559558 w 996286"/>
                <a:gd name="connsiteY10" fmla="*/ 1160059 h 1787856"/>
                <a:gd name="connsiteX11" fmla="*/ 586853 w 996286"/>
                <a:gd name="connsiteY11" fmla="*/ 1119116 h 1787856"/>
                <a:gd name="connsiteX12" fmla="*/ 627797 w 996286"/>
                <a:gd name="connsiteY12" fmla="*/ 1105468 h 1787856"/>
                <a:gd name="connsiteX13" fmla="*/ 682388 w 996286"/>
                <a:gd name="connsiteY13" fmla="*/ 1023582 h 1787856"/>
                <a:gd name="connsiteX14" fmla="*/ 696036 w 996286"/>
                <a:gd name="connsiteY14" fmla="*/ 982638 h 1787856"/>
                <a:gd name="connsiteX15" fmla="*/ 736979 w 996286"/>
                <a:gd name="connsiteY15" fmla="*/ 900752 h 1787856"/>
                <a:gd name="connsiteX16" fmla="*/ 723331 w 996286"/>
                <a:gd name="connsiteY16" fmla="*/ 600501 h 1787856"/>
                <a:gd name="connsiteX17" fmla="*/ 709683 w 996286"/>
                <a:gd name="connsiteY17" fmla="*/ 559558 h 1787856"/>
                <a:gd name="connsiteX18" fmla="*/ 696036 w 996286"/>
                <a:gd name="connsiteY18" fmla="*/ 504967 h 1787856"/>
                <a:gd name="connsiteX19" fmla="*/ 709683 w 996286"/>
                <a:gd name="connsiteY19" fmla="*/ 286603 h 1787856"/>
                <a:gd name="connsiteX20" fmla="*/ 791570 w 996286"/>
                <a:gd name="connsiteY20" fmla="*/ 122829 h 1787856"/>
                <a:gd name="connsiteX21" fmla="*/ 832513 w 996286"/>
                <a:gd name="connsiteY21" fmla="*/ 95534 h 1787856"/>
                <a:gd name="connsiteX22" fmla="*/ 914400 w 996286"/>
                <a:gd name="connsiteY22" fmla="*/ 27295 h 1787856"/>
                <a:gd name="connsiteX23" fmla="*/ 996286 w 996286"/>
                <a:gd name="connsiteY23" fmla="*/ 0 h 1787856"/>
                <a:gd name="connsiteX0" fmla="*/ 13648 w 914400"/>
                <a:gd name="connsiteY0" fmla="*/ 1760561 h 1760561"/>
                <a:gd name="connsiteX1" fmla="*/ 0 w 914400"/>
                <a:gd name="connsiteY1" fmla="*/ 1692322 h 1760561"/>
                <a:gd name="connsiteX2" fmla="*/ 27295 w 914400"/>
                <a:gd name="connsiteY2" fmla="*/ 1569493 h 1760561"/>
                <a:gd name="connsiteX3" fmla="*/ 40943 w 914400"/>
                <a:gd name="connsiteY3" fmla="*/ 1501254 h 1760561"/>
                <a:gd name="connsiteX4" fmla="*/ 95534 w 914400"/>
                <a:gd name="connsiteY4" fmla="*/ 1378424 h 1760561"/>
                <a:gd name="connsiteX5" fmla="*/ 177421 w 914400"/>
                <a:gd name="connsiteY5" fmla="*/ 1323833 h 1760561"/>
                <a:gd name="connsiteX6" fmla="*/ 259307 w 914400"/>
                <a:gd name="connsiteY6" fmla="*/ 1282890 h 1760561"/>
                <a:gd name="connsiteX7" fmla="*/ 395785 w 914400"/>
                <a:gd name="connsiteY7" fmla="*/ 1255594 h 1760561"/>
                <a:gd name="connsiteX8" fmla="*/ 436728 w 914400"/>
                <a:gd name="connsiteY8" fmla="*/ 1214651 h 1760561"/>
                <a:gd name="connsiteX9" fmla="*/ 518615 w 914400"/>
                <a:gd name="connsiteY9" fmla="*/ 1173708 h 1760561"/>
                <a:gd name="connsiteX10" fmla="*/ 559558 w 914400"/>
                <a:gd name="connsiteY10" fmla="*/ 1132764 h 1760561"/>
                <a:gd name="connsiteX11" fmla="*/ 586853 w 914400"/>
                <a:gd name="connsiteY11" fmla="*/ 1091821 h 1760561"/>
                <a:gd name="connsiteX12" fmla="*/ 627797 w 914400"/>
                <a:gd name="connsiteY12" fmla="*/ 1078173 h 1760561"/>
                <a:gd name="connsiteX13" fmla="*/ 682388 w 914400"/>
                <a:gd name="connsiteY13" fmla="*/ 996287 h 1760561"/>
                <a:gd name="connsiteX14" fmla="*/ 696036 w 914400"/>
                <a:gd name="connsiteY14" fmla="*/ 955343 h 1760561"/>
                <a:gd name="connsiteX15" fmla="*/ 736979 w 914400"/>
                <a:gd name="connsiteY15" fmla="*/ 873457 h 1760561"/>
                <a:gd name="connsiteX16" fmla="*/ 723331 w 914400"/>
                <a:gd name="connsiteY16" fmla="*/ 573206 h 1760561"/>
                <a:gd name="connsiteX17" fmla="*/ 709683 w 914400"/>
                <a:gd name="connsiteY17" fmla="*/ 532263 h 1760561"/>
                <a:gd name="connsiteX18" fmla="*/ 696036 w 914400"/>
                <a:gd name="connsiteY18" fmla="*/ 477672 h 1760561"/>
                <a:gd name="connsiteX19" fmla="*/ 709683 w 914400"/>
                <a:gd name="connsiteY19" fmla="*/ 259308 h 1760561"/>
                <a:gd name="connsiteX20" fmla="*/ 791570 w 914400"/>
                <a:gd name="connsiteY20" fmla="*/ 95534 h 1760561"/>
                <a:gd name="connsiteX21" fmla="*/ 832513 w 914400"/>
                <a:gd name="connsiteY21" fmla="*/ 68239 h 1760561"/>
                <a:gd name="connsiteX22" fmla="*/ 914400 w 914400"/>
                <a:gd name="connsiteY22" fmla="*/ 0 h 1760561"/>
                <a:gd name="connsiteX0" fmla="*/ 13648 w 832513"/>
                <a:gd name="connsiteY0" fmla="*/ 1692322 h 1692322"/>
                <a:gd name="connsiteX1" fmla="*/ 0 w 832513"/>
                <a:gd name="connsiteY1" fmla="*/ 1624083 h 1692322"/>
                <a:gd name="connsiteX2" fmla="*/ 27295 w 832513"/>
                <a:gd name="connsiteY2" fmla="*/ 1501254 h 1692322"/>
                <a:gd name="connsiteX3" fmla="*/ 40943 w 832513"/>
                <a:gd name="connsiteY3" fmla="*/ 1433015 h 1692322"/>
                <a:gd name="connsiteX4" fmla="*/ 95534 w 832513"/>
                <a:gd name="connsiteY4" fmla="*/ 1310185 h 1692322"/>
                <a:gd name="connsiteX5" fmla="*/ 177421 w 832513"/>
                <a:gd name="connsiteY5" fmla="*/ 1255594 h 1692322"/>
                <a:gd name="connsiteX6" fmla="*/ 259307 w 832513"/>
                <a:gd name="connsiteY6" fmla="*/ 1214651 h 1692322"/>
                <a:gd name="connsiteX7" fmla="*/ 395785 w 832513"/>
                <a:gd name="connsiteY7" fmla="*/ 1187355 h 1692322"/>
                <a:gd name="connsiteX8" fmla="*/ 436728 w 832513"/>
                <a:gd name="connsiteY8" fmla="*/ 1146412 h 1692322"/>
                <a:gd name="connsiteX9" fmla="*/ 518615 w 832513"/>
                <a:gd name="connsiteY9" fmla="*/ 1105469 h 1692322"/>
                <a:gd name="connsiteX10" fmla="*/ 559558 w 832513"/>
                <a:gd name="connsiteY10" fmla="*/ 1064525 h 1692322"/>
                <a:gd name="connsiteX11" fmla="*/ 586853 w 832513"/>
                <a:gd name="connsiteY11" fmla="*/ 1023582 h 1692322"/>
                <a:gd name="connsiteX12" fmla="*/ 627797 w 832513"/>
                <a:gd name="connsiteY12" fmla="*/ 1009934 h 1692322"/>
                <a:gd name="connsiteX13" fmla="*/ 682388 w 832513"/>
                <a:gd name="connsiteY13" fmla="*/ 928048 h 1692322"/>
                <a:gd name="connsiteX14" fmla="*/ 696036 w 832513"/>
                <a:gd name="connsiteY14" fmla="*/ 887104 h 1692322"/>
                <a:gd name="connsiteX15" fmla="*/ 736979 w 832513"/>
                <a:gd name="connsiteY15" fmla="*/ 805218 h 1692322"/>
                <a:gd name="connsiteX16" fmla="*/ 723331 w 832513"/>
                <a:gd name="connsiteY16" fmla="*/ 504967 h 1692322"/>
                <a:gd name="connsiteX17" fmla="*/ 709683 w 832513"/>
                <a:gd name="connsiteY17" fmla="*/ 464024 h 1692322"/>
                <a:gd name="connsiteX18" fmla="*/ 696036 w 832513"/>
                <a:gd name="connsiteY18" fmla="*/ 409433 h 1692322"/>
                <a:gd name="connsiteX19" fmla="*/ 709683 w 832513"/>
                <a:gd name="connsiteY19" fmla="*/ 191069 h 1692322"/>
                <a:gd name="connsiteX20" fmla="*/ 791570 w 832513"/>
                <a:gd name="connsiteY20" fmla="*/ 27295 h 1692322"/>
                <a:gd name="connsiteX21" fmla="*/ 832513 w 832513"/>
                <a:gd name="connsiteY21" fmla="*/ 0 h 1692322"/>
                <a:gd name="connsiteX0" fmla="*/ 13648 w 791570"/>
                <a:gd name="connsiteY0" fmla="*/ 1665027 h 1665027"/>
                <a:gd name="connsiteX1" fmla="*/ 0 w 791570"/>
                <a:gd name="connsiteY1" fmla="*/ 1596788 h 1665027"/>
                <a:gd name="connsiteX2" fmla="*/ 27295 w 791570"/>
                <a:gd name="connsiteY2" fmla="*/ 1473959 h 1665027"/>
                <a:gd name="connsiteX3" fmla="*/ 40943 w 791570"/>
                <a:gd name="connsiteY3" fmla="*/ 1405720 h 1665027"/>
                <a:gd name="connsiteX4" fmla="*/ 95534 w 791570"/>
                <a:gd name="connsiteY4" fmla="*/ 1282890 h 1665027"/>
                <a:gd name="connsiteX5" fmla="*/ 177421 w 791570"/>
                <a:gd name="connsiteY5" fmla="*/ 1228299 h 1665027"/>
                <a:gd name="connsiteX6" fmla="*/ 259307 w 791570"/>
                <a:gd name="connsiteY6" fmla="*/ 1187356 h 1665027"/>
                <a:gd name="connsiteX7" fmla="*/ 395785 w 791570"/>
                <a:gd name="connsiteY7" fmla="*/ 1160060 h 1665027"/>
                <a:gd name="connsiteX8" fmla="*/ 436728 w 791570"/>
                <a:gd name="connsiteY8" fmla="*/ 1119117 h 1665027"/>
                <a:gd name="connsiteX9" fmla="*/ 518615 w 791570"/>
                <a:gd name="connsiteY9" fmla="*/ 1078174 h 1665027"/>
                <a:gd name="connsiteX10" fmla="*/ 559558 w 791570"/>
                <a:gd name="connsiteY10" fmla="*/ 1037230 h 1665027"/>
                <a:gd name="connsiteX11" fmla="*/ 586853 w 791570"/>
                <a:gd name="connsiteY11" fmla="*/ 996287 h 1665027"/>
                <a:gd name="connsiteX12" fmla="*/ 627797 w 791570"/>
                <a:gd name="connsiteY12" fmla="*/ 982639 h 1665027"/>
                <a:gd name="connsiteX13" fmla="*/ 682388 w 791570"/>
                <a:gd name="connsiteY13" fmla="*/ 900753 h 1665027"/>
                <a:gd name="connsiteX14" fmla="*/ 696036 w 791570"/>
                <a:gd name="connsiteY14" fmla="*/ 859809 h 1665027"/>
                <a:gd name="connsiteX15" fmla="*/ 736979 w 791570"/>
                <a:gd name="connsiteY15" fmla="*/ 777923 h 1665027"/>
                <a:gd name="connsiteX16" fmla="*/ 723331 w 791570"/>
                <a:gd name="connsiteY16" fmla="*/ 477672 h 1665027"/>
                <a:gd name="connsiteX17" fmla="*/ 709683 w 791570"/>
                <a:gd name="connsiteY17" fmla="*/ 436729 h 1665027"/>
                <a:gd name="connsiteX18" fmla="*/ 696036 w 791570"/>
                <a:gd name="connsiteY18" fmla="*/ 382138 h 1665027"/>
                <a:gd name="connsiteX19" fmla="*/ 709683 w 791570"/>
                <a:gd name="connsiteY19" fmla="*/ 163774 h 1665027"/>
                <a:gd name="connsiteX20" fmla="*/ 791570 w 791570"/>
                <a:gd name="connsiteY20" fmla="*/ 0 h 1665027"/>
                <a:gd name="connsiteX0" fmla="*/ 13648 w 736979"/>
                <a:gd name="connsiteY0" fmla="*/ 1501253 h 1501253"/>
                <a:gd name="connsiteX1" fmla="*/ 0 w 736979"/>
                <a:gd name="connsiteY1" fmla="*/ 1433014 h 1501253"/>
                <a:gd name="connsiteX2" fmla="*/ 27295 w 736979"/>
                <a:gd name="connsiteY2" fmla="*/ 1310185 h 1501253"/>
                <a:gd name="connsiteX3" fmla="*/ 40943 w 736979"/>
                <a:gd name="connsiteY3" fmla="*/ 1241946 h 1501253"/>
                <a:gd name="connsiteX4" fmla="*/ 95534 w 736979"/>
                <a:gd name="connsiteY4" fmla="*/ 1119116 h 1501253"/>
                <a:gd name="connsiteX5" fmla="*/ 177421 w 736979"/>
                <a:gd name="connsiteY5" fmla="*/ 1064525 h 1501253"/>
                <a:gd name="connsiteX6" fmla="*/ 259307 w 736979"/>
                <a:gd name="connsiteY6" fmla="*/ 1023582 h 1501253"/>
                <a:gd name="connsiteX7" fmla="*/ 395785 w 736979"/>
                <a:gd name="connsiteY7" fmla="*/ 996286 h 1501253"/>
                <a:gd name="connsiteX8" fmla="*/ 436728 w 736979"/>
                <a:gd name="connsiteY8" fmla="*/ 955343 h 1501253"/>
                <a:gd name="connsiteX9" fmla="*/ 518615 w 736979"/>
                <a:gd name="connsiteY9" fmla="*/ 914400 h 1501253"/>
                <a:gd name="connsiteX10" fmla="*/ 559558 w 736979"/>
                <a:gd name="connsiteY10" fmla="*/ 873456 h 1501253"/>
                <a:gd name="connsiteX11" fmla="*/ 586853 w 736979"/>
                <a:gd name="connsiteY11" fmla="*/ 832513 h 1501253"/>
                <a:gd name="connsiteX12" fmla="*/ 627797 w 736979"/>
                <a:gd name="connsiteY12" fmla="*/ 818865 h 1501253"/>
                <a:gd name="connsiteX13" fmla="*/ 682388 w 736979"/>
                <a:gd name="connsiteY13" fmla="*/ 736979 h 1501253"/>
                <a:gd name="connsiteX14" fmla="*/ 696036 w 736979"/>
                <a:gd name="connsiteY14" fmla="*/ 696035 h 1501253"/>
                <a:gd name="connsiteX15" fmla="*/ 736979 w 736979"/>
                <a:gd name="connsiteY15" fmla="*/ 614149 h 1501253"/>
                <a:gd name="connsiteX16" fmla="*/ 723331 w 736979"/>
                <a:gd name="connsiteY16" fmla="*/ 313898 h 1501253"/>
                <a:gd name="connsiteX17" fmla="*/ 709683 w 736979"/>
                <a:gd name="connsiteY17" fmla="*/ 272955 h 1501253"/>
                <a:gd name="connsiteX18" fmla="*/ 696036 w 736979"/>
                <a:gd name="connsiteY18" fmla="*/ 218364 h 1501253"/>
                <a:gd name="connsiteX19" fmla="*/ 709683 w 736979"/>
                <a:gd name="connsiteY19" fmla="*/ 0 h 1501253"/>
                <a:gd name="connsiteX0" fmla="*/ 13648 w 736979"/>
                <a:gd name="connsiteY0" fmla="*/ 1282889 h 1282889"/>
                <a:gd name="connsiteX1" fmla="*/ 0 w 736979"/>
                <a:gd name="connsiteY1" fmla="*/ 1214650 h 1282889"/>
                <a:gd name="connsiteX2" fmla="*/ 27295 w 736979"/>
                <a:gd name="connsiteY2" fmla="*/ 1091821 h 1282889"/>
                <a:gd name="connsiteX3" fmla="*/ 40943 w 736979"/>
                <a:gd name="connsiteY3" fmla="*/ 1023582 h 1282889"/>
                <a:gd name="connsiteX4" fmla="*/ 95534 w 736979"/>
                <a:gd name="connsiteY4" fmla="*/ 900752 h 1282889"/>
                <a:gd name="connsiteX5" fmla="*/ 177421 w 736979"/>
                <a:gd name="connsiteY5" fmla="*/ 846161 h 1282889"/>
                <a:gd name="connsiteX6" fmla="*/ 259307 w 736979"/>
                <a:gd name="connsiteY6" fmla="*/ 805218 h 1282889"/>
                <a:gd name="connsiteX7" fmla="*/ 395785 w 736979"/>
                <a:gd name="connsiteY7" fmla="*/ 777922 h 1282889"/>
                <a:gd name="connsiteX8" fmla="*/ 436728 w 736979"/>
                <a:gd name="connsiteY8" fmla="*/ 736979 h 1282889"/>
                <a:gd name="connsiteX9" fmla="*/ 518615 w 736979"/>
                <a:gd name="connsiteY9" fmla="*/ 696036 h 1282889"/>
                <a:gd name="connsiteX10" fmla="*/ 559558 w 736979"/>
                <a:gd name="connsiteY10" fmla="*/ 655092 h 1282889"/>
                <a:gd name="connsiteX11" fmla="*/ 586853 w 736979"/>
                <a:gd name="connsiteY11" fmla="*/ 614149 h 1282889"/>
                <a:gd name="connsiteX12" fmla="*/ 627797 w 736979"/>
                <a:gd name="connsiteY12" fmla="*/ 600501 h 1282889"/>
                <a:gd name="connsiteX13" fmla="*/ 682388 w 736979"/>
                <a:gd name="connsiteY13" fmla="*/ 518615 h 1282889"/>
                <a:gd name="connsiteX14" fmla="*/ 696036 w 736979"/>
                <a:gd name="connsiteY14" fmla="*/ 477671 h 1282889"/>
                <a:gd name="connsiteX15" fmla="*/ 736979 w 736979"/>
                <a:gd name="connsiteY15" fmla="*/ 395785 h 1282889"/>
                <a:gd name="connsiteX16" fmla="*/ 723331 w 736979"/>
                <a:gd name="connsiteY16" fmla="*/ 95534 h 1282889"/>
                <a:gd name="connsiteX17" fmla="*/ 709683 w 736979"/>
                <a:gd name="connsiteY17" fmla="*/ 54591 h 1282889"/>
                <a:gd name="connsiteX18" fmla="*/ 696036 w 736979"/>
                <a:gd name="connsiteY18" fmla="*/ 0 h 1282889"/>
                <a:gd name="connsiteX0" fmla="*/ 13648 w 736979"/>
                <a:gd name="connsiteY0" fmla="*/ 1228298 h 1228298"/>
                <a:gd name="connsiteX1" fmla="*/ 0 w 736979"/>
                <a:gd name="connsiteY1" fmla="*/ 1160059 h 1228298"/>
                <a:gd name="connsiteX2" fmla="*/ 27295 w 736979"/>
                <a:gd name="connsiteY2" fmla="*/ 1037230 h 1228298"/>
                <a:gd name="connsiteX3" fmla="*/ 40943 w 736979"/>
                <a:gd name="connsiteY3" fmla="*/ 968991 h 1228298"/>
                <a:gd name="connsiteX4" fmla="*/ 95534 w 736979"/>
                <a:gd name="connsiteY4" fmla="*/ 846161 h 1228298"/>
                <a:gd name="connsiteX5" fmla="*/ 177421 w 736979"/>
                <a:gd name="connsiteY5" fmla="*/ 791570 h 1228298"/>
                <a:gd name="connsiteX6" fmla="*/ 259307 w 736979"/>
                <a:gd name="connsiteY6" fmla="*/ 750627 h 1228298"/>
                <a:gd name="connsiteX7" fmla="*/ 395785 w 736979"/>
                <a:gd name="connsiteY7" fmla="*/ 723331 h 1228298"/>
                <a:gd name="connsiteX8" fmla="*/ 436728 w 736979"/>
                <a:gd name="connsiteY8" fmla="*/ 682388 h 1228298"/>
                <a:gd name="connsiteX9" fmla="*/ 518615 w 736979"/>
                <a:gd name="connsiteY9" fmla="*/ 641445 h 1228298"/>
                <a:gd name="connsiteX10" fmla="*/ 559558 w 736979"/>
                <a:gd name="connsiteY10" fmla="*/ 600501 h 1228298"/>
                <a:gd name="connsiteX11" fmla="*/ 586853 w 736979"/>
                <a:gd name="connsiteY11" fmla="*/ 559558 h 1228298"/>
                <a:gd name="connsiteX12" fmla="*/ 627797 w 736979"/>
                <a:gd name="connsiteY12" fmla="*/ 545910 h 1228298"/>
                <a:gd name="connsiteX13" fmla="*/ 682388 w 736979"/>
                <a:gd name="connsiteY13" fmla="*/ 464024 h 1228298"/>
                <a:gd name="connsiteX14" fmla="*/ 696036 w 736979"/>
                <a:gd name="connsiteY14" fmla="*/ 423080 h 1228298"/>
                <a:gd name="connsiteX15" fmla="*/ 736979 w 736979"/>
                <a:gd name="connsiteY15" fmla="*/ 341194 h 1228298"/>
                <a:gd name="connsiteX16" fmla="*/ 723331 w 736979"/>
                <a:gd name="connsiteY16" fmla="*/ 40943 h 1228298"/>
                <a:gd name="connsiteX17" fmla="*/ 709683 w 736979"/>
                <a:gd name="connsiteY17" fmla="*/ 0 h 1228298"/>
                <a:gd name="connsiteX0" fmla="*/ 13648 w 736979"/>
                <a:gd name="connsiteY0" fmla="*/ 1187355 h 1187355"/>
                <a:gd name="connsiteX1" fmla="*/ 0 w 736979"/>
                <a:gd name="connsiteY1" fmla="*/ 1119116 h 1187355"/>
                <a:gd name="connsiteX2" fmla="*/ 27295 w 736979"/>
                <a:gd name="connsiteY2" fmla="*/ 996287 h 1187355"/>
                <a:gd name="connsiteX3" fmla="*/ 40943 w 736979"/>
                <a:gd name="connsiteY3" fmla="*/ 928048 h 1187355"/>
                <a:gd name="connsiteX4" fmla="*/ 95534 w 736979"/>
                <a:gd name="connsiteY4" fmla="*/ 805218 h 1187355"/>
                <a:gd name="connsiteX5" fmla="*/ 177421 w 736979"/>
                <a:gd name="connsiteY5" fmla="*/ 750627 h 1187355"/>
                <a:gd name="connsiteX6" fmla="*/ 259307 w 736979"/>
                <a:gd name="connsiteY6" fmla="*/ 709684 h 1187355"/>
                <a:gd name="connsiteX7" fmla="*/ 395785 w 736979"/>
                <a:gd name="connsiteY7" fmla="*/ 682388 h 1187355"/>
                <a:gd name="connsiteX8" fmla="*/ 436728 w 736979"/>
                <a:gd name="connsiteY8" fmla="*/ 641445 h 1187355"/>
                <a:gd name="connsiteX9" fmla="*/ 518615 w 736979"/>
                <a:gd name="connsiteY9" fmla="*/ 600502 h 1187355"/>
                <a:gd name="connsiteX10" fmla="*/ 559558 w 736979"/>
                <a:gd name="connsiteY10" fmla="*/ 559558 h 1187355"/>
                <a:gd name="connsiteX11" fmla="*/ 586853 w 736979"/>
                <a:gd name="connsiteY11" fmla="*/ 518615 h 1187355"/>
                <a:gd name="connsiteX12" fmla="*/ 627797 w 736979"/>
                <a:gd name="connsiteY12" fmla="*/ 504967 h 1187355"/>
                <a:gd name="connsiteX13" fmla="*/ 682388 w 736979"/>
                <a:gd name="connsiteY13" fmla="*/ 423081 h 1187355"/>
                <a:gd name="connsiteX14" fmla="*/ 696036 w 736979"/>
                <a:gd name="connsiteY14" fmla="*/ 382137 h 1187355"/>
                <a:gd name="connsiteX15" fmla="*/ 736979 w 736979"/>
                <a:gd name="connsiteY15" fmla="*/ 300251 h 1187355"/>
                <a:gd name="connsiteX16" fmla="*/ 723331 w 736979"/>
                <a:gd name="connsiteY16" fmla="*/ 0 h 1187355"/>
                <a:gd name="connsiteX0" fmla="*/ 13648 w 808777"/>
                <a:gd name="connsiteY0" fmla="*/ 1112934 h 1112934"/>
                <a:gd name="connsiteX1" fmla="*/ 0 w 808777"/>
                <a:gd name="connsiteY1" fmla="*/ 1044695 h 1112934"/>
                <a:gd name="connsiteX2" fmla="*/ 27295 w 808777"/>
                <a:gd name="connsiteY2" fmla="*/ 921866 h 1112934"/>
                <a:gd name="connsiteX3" fmla="*/ 40943 w 808777"/>
                <a:gd name="connsiteY3" fmla="*/ 853627 h 1112934"/>
                <a:gd name="connsiteX4" fmla="*/ 95534 w 808777"/>
                <a:gd name="connsiteY4" fmla="*/ 730797 h 1112934"/>
                <a:gd name="connsiteX5" fmla="*/ 177421 w 808777"/>
                <a:gd name="connsiteY5" fmla="*/ 676206 h 1112934"/>
                <a:gd name="connsiteX6" fmla="*/ 259307 w 808777"/>
                <a:gd name="connsiteY6" fmla="*/ 635263 h 1112934"/>
                <a:gd name="connsiteX7" fmla="*/ 395785 w 808777"/>
                <a:gd name="connsiteY7" fmla="*/ 607967 h 1112934"/>
                <a:gd name="connsiteX8" fmla="*/ 436728 w 808777"/>
                <a:gd name="connsiteY8" fmla="*/ 567024 h 1112934"/>
                <a:gd name="connsiteX9" fmla="*/ 518615 w 808777"/>
                <a:gd name="connsiteY9" fmla="*/ 526081 h 1112934"/>
                <a:gd name="connsiteX10" fmla="*/ 559558 w 808777"/>
                <a:gd name="connsiteY10" fmla="*/ 485137 h 1112934"/>
                <a:gd name="connsiteX11" fmla="*/ 586853 w 808777"/>
                <a:gd name="connsiteY11" fmla="*/ 444194 h 1112934"/>
                <a:gd name="connsiteX12" fmla="*/ 627797 w 808777"/>
                <a:gd name="connsiteY12" fmla="*/ 430546 h 1112934"/>
                <a:gd name="connsiteX13" fmla="*/ 682388 w 808777"/>
                <a:gd name="connsiteY13" fmla="*/ 348660 h 1112934"/>
                <a:gd name="connsiteX14" fmla="*/ 696036 w 808777"/>
                <a:gd name="connsiteY14" fmla="*/ 307716 h 1112934"/>
                <a:gd name="connsiteX15" fmla="*/ 736979 w 808777"/>
                <a:gd name="connsiteY15" fmla="*/ 225830 h 1112934"/>
                <a:gd name="connsiteX16" fmla="*/ 808240 w 808777"/>
                <a:gd name="connsiteY16" fmla="*/ 0 h 1112934"/>
                <a:gd name="connsiteX0" fmla="*/ 13648 w 736979"/>
                <a:gd name="connsiteY0" fmla="*/ 887104 h 887104"/>
                <a:gd name="connsiteX1" fmla="*/ 0 w 736979"/>
                <a:gd name="connsiteY1" fmla="*/ 818865 h 887104"/>
                <a:gd name="connsiteX2" fmla="*/ 27295 w 736979"/>
                <a:gd name="connsiteY2" fmla="*/ 696036 h 887104"/>
                <a:gd name="connsiteX3" fmla="*/ 40943 w 736979"/>
                <a:gd name="connsiteY3" fmla="*/ 627797 h 887104"/>
                <a:gd name="connsiteX4" fmla="*/ 95534 w 736979"/>
                <a:gd name="connsiteY4" fmla="*/ 504967 h 887104"/>
                <a:gd name="connsiteX5" fmla="*/ 177421 w 736979"/>
                <a:gd name="connsiteY5" fmla="*/ 450376 h 887104"/>
                <a:gd name="connsiteX6" fmla="*/ 259307 w 736979"/>
                <a:gd name="connsiteY6" fmla="*/ 409433 h 887104"/>
                <a:gd name="connsiteX7" fmla="*/ 395785 w 736979"/>
                <a:gd name="connsiteY7" fmla="*/ 382137 h 887104"/>
                <a:gd name="connsiteX8" fmla="*/ 436728 w 736979"/>
                <a:gd name="connsiteY8" fmla="*/ 341194 h 887104"/>
                <a:gd name="connsiteX9" fmla="*/ 518615 w 736979"/>
                <a:gd name="connsiteY9" fmla="*/ 300251 h 887104"/>
                <a:gd name="connsiteX10" fmla="*/ 559558 w 736979"/>
                <a:gd name="connsiteY10" fmla="*/ 259307 h 887104"/>
                <a:gd name="connsiteX11" fmla="*/ 586853 w 736979"/>
                <a:gd name="connsiteY11" fmla="*/ 218364 h 887104"/>
                <a:gd name="connsiteX12" fmla="*/ 627797 w 736979"/>
                <a:gd name="connsiteY12" fmla="*/ 204716 h 887104"/>
                <a:gd name="connsiteX13" fmla="*/ 682388 w 736979"/>
                <a:gd name="connsiteY13" fmla="*/ 122830 h 887104"/>
                <a:gd name="connsiteX14" fmla="*/ 696036 w 736979"/>
                <a:gd name="connsiteY14" fmla="*/ 81886 h 887104"/>
                <a:gd name="connsiteX15" fmla="*/ 736979 w 736979"/>
                <a:gd name="connsiteY15" fmla="*/ 0 h 887104"/>
                <a:gd name="connsiteX0" fmla="*/ 13648 w 740244"/>
                <a:gd name="connsiteY0" fmla="*/ 900047 h 900047"/>
                <a:gd name="connsiteX1" fmla="*/ 0 w 740244"/>
                <a:gd name="connsiteY1" fmla="*/ 831808 h 900047"/>
                <a:gd name="connsiteX2" fmla="*/ 27295 w 740244"/>
                <a:gd name="connsiteY2" fmla="*/ 708979 h 900047"/>
                <a:gd name="connsiteX3" fmla="*/ 40943 w 740244"/>
                <a:gd name="connsiteY3" fmla="*/ 640740 h 900047"/>
                <a:gd name="connsiteX4" fmla="*/ 95534 w 740244"/>
                <a:gd name="connsiteY4" fmla="*/ 517910 h 900047"/>
                <a:gd name="connsiteX5" fmla="*/ 177421 w 740244"/>
                <a:gd name="connsiteY5" fmla="*/ 463319 h 900047"/>
                <a:gd name="connsiteX6" fmla="*/ 259307 w 740244"/>
                <a:gd name="connsiteY6" fmla="*/ 422376 h 900047"/>
                <a:gd name="connsiteX7" fmla="*/ 395785 w 740244"/>
                <a:gd name="connsiteY7" fmla="*/ 395080 h 900047"/>
                <a:gd name="connsiteX8" fmla="*/ 436728 w 740244"/>
                <a:gd name="connsiteY8" fmla="*/ 354137 h 900047"/>
                <a:gd name="connsiteX9" fmla="*/ 518615 w 740244"/>
                <a:gd name="connsiteY9" fmla="*/ 313194 h 900047"/>
                <a:gd name="connsiteX10" fmla="*/ 559558 w 740244"/>
                <a:gd name="connsiteY10" fmla="*/ 272250 h 900047"/>
                <a:gd name="connsiteX11" fmla="*/ 586853 w 740244"/>
                <a:gd name="connsiteY11" fmla="*/ 231307 h 900047"/>
                <a:gd name="connsiteX12" fmla="*/ 627797 w 740244"/>
                <a:gd name="connsiteY12" fmla="*/ 217659 h 900047"/>
                <a:gd name="connsiteX13" fmla="*/ 682388 w 740244"/>
                <a:gd name="connsiteY13" fmla="*/ 135773 h 900047"/>
                <a:gd name="connsiteX14" fmla="*/ 696036 w 740244"/>
                <a:gd name="connsiteY14" fmla="*/ 94829 h 900047"/>
                <a:gd name="connsiteX15" fmla="*/ 740244 w 740244"/>
                <a:gd name="connsiteY15" fmla="*/ 0 h 900047"/>
                <a:gd name="connsiteX0" fmla="*/ 0 w 740244"/>
                <a:gd name="connsiteY0" fmla="*/ 831808 h 831808"/>
                <a:gd name="connsiteX1" fmla="*/ 27295 w 740244"/>
                <a:gd name="connsiteY1" fmla="*/ 708979 h 831808"/>
                <a:gd name="connsiteX2" fmla="*/ 40943 w 740244"/>
                <a:gd name="connsiteY2" fmla="*/ 640740 h 831808"/>
                <a:gd name="connsiteX3" fmla="*/ 95534 w 740244"/>
                <a:gd name="connsiteY3" fmla="*/ 517910 h 831808"/>
                <a:gd name="connsiteX4" fmla="*/ 177421 w 740244"/>
                <a:gd name="connsiteY4" fmla="*/ 463319 h 831808"/>
                <a:gd name="connsiteX5" fmla="*/ 259307 w 740244"/>
                <a:gd name="connsiteY5" fmla="*/ 422376 h 831808"/>
                <a:gd name="connsiteX6" fmla="*/ 395785 w 740244"/>
                <a:gd name="connsiteY6" fmla="*/ 395080 h 831808"/>
                <a:gd name="connsiteX7" fmla="*/ 436728 w 740244"/>
                <a:gd name="connsiteY7" fmla="*/ 354137 h 831808"/>
                <a:gd name="connsiteX8" fmla="*/ 518615 w 740244"/>
                <a:gd name="connsiteY8" fmla="*/ 313194 h 831808"/>
                <a:gd name="connsiteX9" fmla="*/ 559558 w 740244"/>
                <a:gd name="connsiteY9" fmla="*/ 272250 h 831808"/>
                <a:gd name="connsiteX10" fmla="*/ 586853 w 740244"/>
                <a:gd name="connsiteY10" fmla="*/ 231307 h 831808"/>
                <a:gd name="connsiteX11" fmla="*/ 627797 w 740244"/>
                <a:gd name="connsiteY11" fmla="*/ 217659 h 831808"/>
                <a:gd name="connsiteX12" fmla="*/ 682388 w 740244"/>
                <a:gd name="connsiteY12" fmla="*/ 135773 h 831808"/>
                <a:gd name="connsiteX13" fmla="*/ 696036 w 740244"/>
                <a:gd name="connsiteY13" fmla="*/ 94829 h 831808"/>
                <a:gd name="connsiteX14" fmla="*/ 740244 w 740244"/>
                <a:gd name="connsiteY14" fmla="*/ 0 h 831808"/>
                <a:gd name="connsiteX0" fmla="*/ 0 w 712949"/>
                <a:gd name="connsiteY0" fmla="*/ 708979 h 708979"/>
                <a:gd name="connsiteX1" fmla="*/ 13648 w 712949"/>
                <a:gd name="connsiteY1" fmla="*/ 640740 h 708979"/>
                <a:gd name="connsiteX2" fmla="*/ 68239 w 712949"/>
                <a:gd name="connsiteY2" fmla="*/ 517910 h 708979"/>
                <a:gd name="connsiteX3" fmla="*/ 150126 w 712949"/>
                <a:gd name="connsiteY3" fmla="*/ 463319 h 708979"/>
                <a:gd name="connsiteX4" fmla="*/ 232012 w 712949"/>
                <a:gd name="connsiteY4" fmla="*/ 422376 h 708979"/>
                <a:gd name="connsiteX5" fmla="*/ 368490 w 712949"/>
                <a:gd name="connsiteY5" fmla="*/ 395080 h 708979"/>
                <a:gd name="connsiteX6" fmla="*/ 409433 w 712949"/>
                <a:gd name="connsiteY6" fmla="*/ 354137 h 708979"/>
                <a:gd name="connsiteX7" fmla="*/ 491320 w 712949"/>
                <a:gd name="connsiteY7" fmla="*/ 313194 h 708979"/>
                <a:gd name="connsiteX8" fmla="*/ 532263 w 712949"/>
                <a:gd name="connsiteY8" fmla="*/ 272250 h 708979"/>
                <a:gd name="connsiteX9" fmla="*/ 559558 w 712949"/>
                <a:gd name="connsiteY9" fmla="*/ 231307 h 708979"/>
                <a:gd name="connsiteX10" fmla="*/ 600502 w 712949"/>
                <a:gd name="connsiteY10" fmla="*/ 217659 h 708979"/>
                <a:gd name="connsiteX11" fmla="*/ 655093 w 712949"/>
                <a:gd name="connsiteY11" fmla="*/ 135773 h 708979"/>
                <a:gd name="connsiteX12" fmla="*/ 668741 w 712949"/>
                <a:gd name="connsiteY12" fmla="*/ 94829 h 708979"/>
                <a:gd name="connsiteX13" fmla="*/ 712949 w 712949"/>
                <a:gd name="connsiteY13" fmla="*/ 0 h 708979"/>
                <a:gd name="connsiteX0" fmla="*/ 0 w 712949"/>
                <a:gd name="connsiteY0" fmla="*/ 708979 h 708979"/>
                <a:gd name="connsiteX1" fmla="*/ 13648 w 712949"/>
                <a:gd name="connsiteY1" fmla="*/ 640740 h 708979"/>
                <a:gd name="connsiteX2" fmla="*/ 68239 w 712949"/>
                <a:gd name="connsiteY2" fmla="*/ 517910 h 708979"/>
                <a:gd name="connsiteX3" fmla="*/ 150126 w 712949"/>
                <a:gd name="connsiteY3" fmla="*/ 463319 h 708979"/>
                <a:gd name="connsiteX4" fmla="*/ 368490 w 712949"/>
                <a:gd name="connsiteY4" fmla="*/ 395080 h 708979"/>
                <a:gd name="connsiteX5" fmla="*/ 409433 w 712949"/>
                <a:gd name="connsiteY5" fmla="*/ 354137 h 708979"/>
                <a:gd name="connsiteX6" fmla="*/ 491320 w 712949"/>
                <a:gd name="connsiteY6" fmla="*/ 313194 h 708979"/>
                <a:gd name="connsiteX7" fmla="*/ 532263 w 712949"/>
                <a:gd name="connsiteY7" fmla="*/ 272250 h 708979"/>
                <a:gd name="connsiteX8" fmla="*/ 559558 w 712949"/>
                <a:gd name="connsiteY8" fmla="*/ 231307 h 708979"/>
                <a:gd name="connsiteX9" fmla="*/ 600502 w 712949"/>
                <a:gd name="connsiteY9" fmla="*/ 217659 h 708979"/>
                <a:gd name="connsiteX10" fmla="*/ 655093 w 712949"/>
                <a:gd name="connsiteY10" fmla="*/ 135773 h 708979"/>
                <a:gd name="connsiteX11" fmla="*/ 668741 w 712949"/>
                <a:gd name="connsiteY11" fmla="*/ 94829 h 708979"/>
                <a:gd name="connsiteX12" fmla="*/ 712949 w 712949"/>
                <a:gd name="connsiteY12" fmla="*/ 0 h 708979"/>
                <a:gd name="connsiteX0" fmla="*/ 0 w 712949"/>
                <a:gd name="connsiteY0" fmla="*/ 708979 h 708979"/>
                <a:gd name="connsiteX1" fmla="*/ 13648 w 712949"/>
                <a:gd name="connsiteY1" fmla="*/ 640740 h 708979"/>
                <a:gd name="connsiteX2" fmla="*/ 68239 w 712949"/>
                <a:gd name="connsiteY2" fmla="*/ 517910 h 708979"/>
                <a:gd name="connsiteX3" fmla="*/ 368490 w 712949"/>
                <a:gd name="connsiteY3" fmla="*/ 395080 h 708979"/>
                <a:gd name="connsiteX4" fmla="*/ 409433 w 712949"/>
                <a:gd name="connsiteY4" fmla="*/ 354137 h 708979"/>
                <a:gd name="connsiteX5" fmla="*/ 491320 w 712949"/>
                <a:gd name="connsiteY5" fmla="*/ 313194 h 708979"/>
                <a:gd name="connsiteX6" fmla="*/ 532263 w 712949"/>
                <a:gd name="connsiteY6" fmla="*/ 272250 h 708979"/>
                <a:gd name="connsiteX7" fmla="*/ 559558 w 712949"/>
                <a:gd name="connsiteY7" fmla="*/ 231307 h 708979"/>
                <a:gd name="connsiteX8" fmla="*/ 600502 w 712949"/>
                <a:gd name="connsiteY8" fmla="*/ 217659 h 708979"/>
                <a:gd name="connsiteX9" fmla="*/ 655093 w 712949"/>
                <a:gd name="connsiteY9" fmla="*/ 135773 h 708979"/>
                <a:gd name="connsiteX10" fmla="*/ 668741 w 712949"/>
                <a:gd name="connsiteY10" fmla="*/ 94829 h 708979"/>
                <a:gd name="connsiteX11" fmla="*/ 712949 w 712949"/>
                <a:gd name="connsiteY11" fmla="*/ 0 h 708979"/>
                <a:gd name="connsiteX0" fmla="*/ 16176 w 729125"/>
                <a:gd name="connsiteY0" fmla="*/ 708979 h 708979"/>
                <a:gd name="connsiteX1" fmla="*/ 29824 w 729125"/>
                <a:gd name="connsiteY1" fmla="*/ 640740 h 708979"/>
                <a:gd name="connsiteX2" fmla="*/ 384666 w 729125"/>
                <a:gd name="connsiteY2" fmla="*/ 395080 h 708979"/>
                <a:gd name="connsiteX3" fmla="*/ 425609 w 729125"/>
                <a:gd name="connsiteY3" fmla="*/ 354137 h 708979"/>
                <a:gd name="connsiteX4" fmla="*/ 507496 w 729125"/>
                <a:gd name="connsiteY4" fmla="*/ 313194 h 708979"/>
                <a:gd name="connsiteX5" fmla="*/ 548439 w 729125"/>
                <a:gd name="connsiteY5" fmla="*/ 272250 h 708979"/>
                <a:gd name="connsiteX6" fmla="*/ 575734 w 729125"/>
                <a:gd name="connsiteY6" fmla="*/ 231307 h 708979"/>
                <a:gd name="connsiteX7" fmla="*/ 616678 w 729125"/>
                <a:gd name="connsiteY7" fmla="*/ 217659 h 708979"/>
                <a:gd name="connsiteX8" fmla="*/ 671269 w 729125"/>
                <a:gd name="connsiteY8" fmla="*/ 135773 h 708979"/>
                <a:gd name="connsiteX9" fmla="*/ 684917 w 729125"/>
                <a:gd name="connsiteY9" fmla="*/ 94829 h 708979"/>
                <a:gd name="connsiteX10" fmla="*/ 729125 w 729125"/>
                <a:gd name="connsiteY10" fmla="*/ 0 h 708979"/>
                <a:gd name="connsiteX0" fmla="*/ 0 w 712949"/>
                <a:gd name="connsiteY0" fmla="*/ 708979 h 708979"/>
                <a:gd name="connsiteX1" fmla="*/ 368490 w 712949"/>
                <a:gd name="connsiteY1" fmla="*/ 395080 h 708979"/>
                <a:gd name="connsiteX2" fmla="*/ 409433 w 712949"/>
                <a:gd name="connsiteY2" fmla="*/ 354137 h 708979"/>
                <a:gd name="connsiteX3" fmla="*/ 491320 w 712949"/>
                <a:gd name="connsiteY3" fmla="*/ 313194 h 708979"/>
                <a:gd name="connsiteX4" fmla="*/ 532263 w 712949"/>
                <a:gd name="connsiteY4" fmla="*/ 272250 h 708979"/>
                <a:gd name="connsiteX5" fmla="*/ 559558 w 712949"/>
                <a:gd name="connsiteY5" fmla="*/ 231307 h 708979"/>
                <a:gd name="connsiteX6" fmla="*/ 600502 w 712949"/>
                <a:gd name="connsiteY6" fmla="*/ 217659 h 708979"/>
                <a:gd name="connsiteX7" fmla="*/ 655093 w 712949"/>
                <a:gd name="connsiteY7" fmla="*/ 135773 h 708979"/>
                <a:gd name="connsiteX8" fmla="*/ 668741 w 712949"/>
                <a:gd name="connsiteY8" fmla="*/ 94829 h 708979"/>
                <a:gd name="connsiteX9" fmla="*/ 712949 w 712949"/>
                <a:gd name="connsiteY9" fmla="*/ 0 h 708979"/>
                <a:gd name="connsiteX0" fmla="*/ 0 w 344459"/>
                <a:gd name="connsiteY0" fmla="*/ 395080 h 395080"/>
                <a:gd name="connsiteX1" fmla="*/ 40943 w 344459"/>
                <a:gd name="connsiteY1" fmla="*/ 354137 h 395080"/>
                <a:gd name="connsiteX2" fmla="*/ 122830 w 344459"/>
                <a:gd name="connsiteY2" fmla="*/ 313194 h 395080"/>
                <a:gd name="connsiteX3" fmla="*/ 163773 w 344459"/>
                <a:gd name="connsiteY3" fmla="*/ 272250 h 395080"/>
                <a:gd name="connsiteX4" fmla="*/ 191068 w 344459"/>
                <a:gd name="connsiteY4" fmla="*/ 231307 h 395080"/>
                <a:gd name="connsiteX5" fmla="*/ 232012 w 344459"/>
                <a:gd name="connsiteY5" fmla="*/ 217659 h 395080"/>
                <a:gd name="connsiteX6" fmla="*/ 286603 w 344459"/>
                <a:gd name="connsiteY6" fmla="*/ 135773 h 395080"/>
                <a:gd name="connsiteX7" fmla="*/ 300251 w 344459"/>
                <a:gd name="connsiteY7" fmla="*/ 94829 h 395080"/>
                <a:gd name="connsiteX8" fmla="*/ 344459 w 344459"/>
                <a:gd name="connsiteY8" fmla="*/ 0 h 395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59" h="395080">
                  <a:moveTo>
                    <a:pt x="0" y="395080"/>
                  </a:moveTo>
                  <a:cubicBezTo>
                    <a:pt x="68239" y="335940"/>
                    <a:pt x="24884" y="364843"/>
                    <a:pt x="40943" y="354137"/>
                  </a:cubicBezTo>
                  <a:lnTo>
                    <a:pt x="122830" y="313194"/>
                  </a:lnTo>
                  <a:cubicBezTo>
                    <a:pt x="137657" y="300838"/>
                    <a:pt x="151417" y="287078"/>
                    <a:pt x="163773" y="272250"/>
                  </a:cubicBezTo>
                  <a:cubicBezTo>
                    <a:pt x="174273" y="259649"/>
                    <a:pt x="178260" y="241553"/>
                    <a:pt x="191068" y="231307"/>
                  </a:cubicBezTo>
                  <a:cubicBezTo>
                    <a:pt x="202302" y="222320"/>
                    <a:pt x="218364" y="222208"/>
                    <a:pt x="232012" y="217659"/>
                  </a:cubicBezTo>
                  <a:cubicBezTo>
                    <a:pt x="250209" y="190364"/>
                    <a:pt x="276229" y="166895"/>
                    <a:pt x="286603" y="135773"/>
                  </a:cubicBezTo>
                  <a:cubicBezTo>
                    <a:pt x="291152" y="122125"/>
                    <a:pt x="290608" y="117458"/>
                    <a:pt x="300251" y="94829"/>
                  </a:cubicBezTo>
                  <a:cubicBezTo>
                    <a:pt x="309894" y="72200"/>
                    <a:pt x="329723" y="31610"/>
                    <a:pt x="344459" y="0"/>
                  </a:cubicBezTo>
                </a:path>
              </a:pathLst>
            </a:cu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271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5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Tipos de Amostragem</a:t>
            </a:r>
          </a:p>
        </p:txBody>
      </p:sp>
      <p:sp>
        <p:nvSpPr>
          <p:cNvPr id="175112" name="Rectangle 8"/>
          <p:cNvSpPr>
            <a:spLocks noChangeArrowheads="1"/>
          </p:cNvSpPr>
          <p:nvPr/>
        </p:nvSpPr>
        <p:spPr bwMode="auto">
          <a:xfrm>
            <a:off x="251521" y="2276475"/>
            <a:ext cx="8247063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defTabSz="45085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4508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45085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45085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45085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 probabilística: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cada elemento da população tem uma probabilidade (não nula) de ser escolhido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em geral, todo elemento tem a mesma probabilidade de ser escolhido</a:t>
            </a:r>
          </a:p>
        </p:txBody>
      </p:sp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251521" y="1412875"/>
            <a:ext cx="8366125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Como amostrar?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amostragem probabilística X não probabilística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5B5703-481C-4C7B-B4EA-750098F86FE2}" type="slidenum">
              <a:rPr lang="pt-BR"/>
              <a:pPr>
                <a:defRPr/>
              </a:pPr>
              <a:t>9</a:t>
            </a:fld>
            <a:endParaRPr lang="pt-BR"/>
          </a:p>
        </p:txBody>
      </p:sp>
      <p:pic>
        <p:nvPicPr>
          <p:cNvPr id="52" name="Picture 4" descr="C:\Users\Camilo\AppData\Local\Microsoft\Windows\INetCache\IE\CQ86S3QM\Wellness_People[1]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724992"/>
            <a:ext cx="4413504" cy="2944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tângulo 12"/>
          <p:cNvSpPr/>
          <p:nvPr/>
        </p:nvSpPr>
        <p:spPr>
          <a:xfrm>
            <a:off x="5220072" y="4005064"/>
            <a:ext cx="3716924" cy="18962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7800" lvl="0" indent="-177800" algn="l">
              <a:lnSpc>
                <a:spcPct val="150000"/>
              </a:lnSpc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Neste tipo de amostragem, todos os elementos devem ser previamente identificados  e a escolha é feita por sorteio realizado posteriormente e de forma independente</a:t>
            </a:r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12" grpId="0" build="p"/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Tipos de Amostragem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5B5703-481C-4C7B-B4EA-750098F86FE2}" type="slidenum">
              <a:rPr lang="pt-BR"/>
              <a:pPr>
                <a:defRPr/>
              </a:pPr>
              <a:t>10</a:t>
            </a:fld>
            <a:endParaRPr lang="pt-BR"/>
          </a:p>
        </p:txBody>
      </p:sp>
      <p:pic>
        <p:nvPicPr>
          <p:cNvPr id="23556" name="Picture 4" descr="C:\Users\Camilo\AppData\Local\Microsoft\Windows\INetCache\IE\CQ86S3QM\Wellness_People[1]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724992"/>
            <a:ext cx="4413504" cy="2944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o 10"/>
          <p:cNvGrpSpPr/>
          <p:nvPr/>
        </p:nvGrpSpPr>
        <p:grpSpPr>
          <a:xfrm>
            <a:off x="4402579" y="3924876"/>
            <a:ext cx="1077098" cy="828247"/>
            <a:chOff x="5217459" y="4590918"/>
            <a:chExt cx="1077098" cy="828247"/>
          </a:xfrm>
        </p:grpSpPr>
        <p:grpSp>
          <p:nvGrpSpPr>
            <p:cNvPr id="9" name="Grupo 8"/>
            <p:cNvGrpSpPr/>
            <p:nvPr/>
          </p:nvGrpSpPr>
          <p:grpSpPr>
            <a:xfrm>
              <a:off x="5217459" y="4590918"/>
              <a:ext cx="1077098" cy="828247"/>
              <a:chOff x="5217459" y="4590918"/>
              <a:chExt cx="1077098" cy="828247"/>
            </a:xfrm>
          </p:grpSpPr>
          <p:grpSp>
            <p:nvGrpSpPr>
              <p:cNvPr id="6" name="Grupo 5"/>
              <p:cNvGrpSpPr/>
              <p:nvPr/>
            </p:nvGrpSpPr>
            <p:grpSpPr>
              <a:xfrm rot="8666499">
                <a:off x="5574477" y="4590918"/>
                <a:ext cx="720080" cy="360040"/>
                <a:chOff x="5940152" y="4509120"/>
                <a:chExt cx="720080" cy="360040"/>
              </a:xfrm>
            </p:grpSpPr>
            <p:sp>
              <p:nvSpPr>
                <p:cNvPr id="3" name="Pentágono 2"/>
                <p:cNvSpPr/>
                <p:nvPr/>
              </p:nvSpPr>
              <p:spPr bwMode="auto">
                <a:xfrm>
                  <a:off x="5940152" y="4509120"/>
                  <a:ext cx="720080" cy="360040"/>
                </a:xfrm>
                <a:prstGeom prst="homePlate">
                  <a:avLst/>
                </a:prstGeom>
                <a:solidFill>
                  <a:schemeClr val="bg1"/>
                </a:solidFill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" name="Elipse 3"/>
                <p:cNvSpPr/>
                <p:nvPr/>
              </p:nvSpPr>
              <p:spPr bwMode="auto">
                <a:xfrm>
                  <a:off x="6502776" y="4653140"/>
                  <a:ext cx="72000" cy="72000"/>
                </a:xfrm>
                <a:prstGeom prst="ellipse">
                  <a:avLst/>
                </a:prstGeom>
                <a:noFill/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8" name="Forma livre 7"/>
              <p:cNvSpPr/>
              <p:nvPr/>
            </p:nvSpPr>
            <p:spPr bwMode="auto">
              <a:xfrm>
                <a:off x="5217459" y="4921624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0" name="CaixaDeTexto 9"/>
            <p:cNvSpPr txBox="1"/>
            <p:nvPr/>
          </p:nvSpPr>
          <p:spPr>
            <a:xfrm>
              <a:off x="5819177" y="4593141"/>
              <a:ext cx="348173" cy="276999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01</a:t>
              </a:r>
            </a:p>
          </p:txBody>
        </p:sp>
      </p:grpSp>
      <p:grpSp>
        <p:nvGrpSpPr>
          <p:cNvPr id="26" name="Grupo 25"/>
          <p:cNvGrpSpPr/>
          <p:nvPr/>
        </p:nvGrpSpPr>
        <p:grpSpPr>
          <a:xfrm>
            <a:off x="3178908" y="3676218"/>
            <a:ext cx="717058" cy="551390"/>
            <a:chOff x="5217459" y="4590918"/>
            <a:chExt cx="1077098" cy="828247"/>
          </a:xfrm>
        </p:grpSpPr>
        <p:grpSp>
          <p:nvGrpSpPr>
            <p:cNvPr id="27" name="Grupo 26"/>
            <p:cNvGrpSpPr/>
            <p:nvPr/>
          </p:nvGrpSpPr>
          <p:grpSpPr>
            <a:xfrm>
              <a:off x="5217459" y="4590918"/>
              <a:ext cx="1077098" cy="828247"/>
              <a:chOff x="5217459" y="4590918"/>
              <a:chExt cx="1077098" cy="828247"/>
            </a:xfrm>
          </p:grpSpPr>
          <p:grpSp>
            <p:nvGrpSpPr>
              <p:cNvPr id="29" name="Grupo 28"/>
              <p:cNvGrpSpPr/>
              <p:nvPr/>
            </p:nvGrpSpPr>
            <p:grpSpPr>
              <a:xfrm rot="8666499">
                <a:off x="5574477" y="4590918"/>
                <a:ext cx="720080" cy="360040"/>
                <a:chOff x="5940152" y="4509120"/>
                <a:chExt cx="720080" cy="360040"/>
              </a:xfrm>
            </p:grpSpPr>
            <p:sp>
              <p:nvSpPr>
                <p:cNvPr id="31" name="Pentágono 30"/>
                <p:cNvSpPr/>
                <p:nvPr/>
              </p:nvSpPr>
              <p:spPr bwMode="auto">
                <a:xfrm>
                  <a:off x="5940152" y="4509120"/>
                  <a:ext cx="720080" cy="360040"/>
                </a:xfrm>
                <a:prstGeom prst="homePlate">
                  <a:avLst/>
                </a:prstGeom>
                <a:solidFill>
                  <a:schemeClr val="bg1"/>
                </a:solidFill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" name="Elipse 31"/>
                <p:cNvSpPr/>
                <p:nvPr/>
              </p:nvSpPr>
              <p:spPr bwMode="auto">
                <a:xfrm>
                  <a:off x="6502776" y="4653140"/>
                  <a:ext cx="72000" cy="72000"/>
                </a:xfrm>
                <a:prstGeom prst="ellipse">
                  <a:avLst/>
                </a:prstGeom>
                <a:noFill/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0" name="Forma livre 29"/>
              <p:cNvSpPr/>
              <p:nvPr/>
            </p:nvSpPr>
            <p:spPr bwMode="auto">
              <a:xfrm>
                <a:off x="5217459" y="4921624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8" name="CaixaDeTexto 27"/>
            <p:cNvSpPr txBox="1"/>
            <p:nvPr/>
          </p:nvSpPr>
          <p:spPr>
            <a:xfrm>
              <a:off x="5770293" y="4593141"/>
              <a:ext cx="445940" cy="323620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pt-BR" sz="800" dirty="0">
                  <a:latin typeface="Tahoma" panose="020B0604030504040204" pitchFamily="34" charset="0"/>
                </a:rPr>
                <a:t>02</a:t>
              </a:r>
            </a:p>
          </p:txBody>
        </p:sp>
      </p:grpSp>
      <p:grpSp>
        <p:nvGrpSpPr>
          <p:cNvPr id="33" name="Grupo 32"/>
          <p:cNvGrpSpPr/>
          <p:nvPr/>
        </p:nvGrpSpPr>
        <p:grpSpPr>
          <a:xfrm>
            <a:off x="1084552" y="3799068"/>
            <a:ext cx="717058" cy="551390"/>
            <a:chOff x="5217459" y="4590918"/>
            <a:chExt cx="1077098" cy="828247"/>
          </a:xfrm>
        </p:grpSpPr>
        <p:grpSp>
          <p:nvGrpSpPr>
            <p:cNvPr id="34" name="Grupo 33"/>
            <p:cNvGrpSpPr/>
            <p:nvPr/>
          </p:nvGrpSpPr>
          <p:grpSpPr>
            <a:xfrm>
              <a:off x="5217459" y="4590918"/>
              <a:ext cx="1077098" cy="828247"/>
              <a:chOff x="5217459" y="4590918"/>
              <a:chExt cx="1077098" cy="828247"/>
            </a:xfrm>
          </p:grpSpPr>
          <p:grpSp>
            <p:nvGrpSpPr>
              <p:cNvPr id="36" name="Grupo 35"/>
              <p:cNvGrpSpPr/>
              <p:nvPr/>
            </p:nvGrpSpPr>
            <p:grpSpPr>
              <a:xfrm rot="8666499">
                <a:off x="5574477" y="4590918"/>
                <a:ext cx="720080" cy="360040"/>
                <a:chOff x="5940152" y="4509120"/>
                <a:chExt cx="720080" cy="360040"/>
              </a:xfrm>
            </p:grpSpPr>
            <p:sp>
              <p:nvSpPr>
                <p:cNvPr id="38" name="Pentágono 37"/>
                <p:cNvSpPr/>
                <p:nvPr/>
              </p:nvSpPr>
              <p:spPr bwMode="auto">
                <a:xfrm>
                  <a:off x="5940152" y="4509120"/>
                  <a:ext cx="720080" cy="360040"/>
                </a:xfrm>
                <a:prstGeom prst="homePlate">
                  <a:avLst/>
                </a:prstGeom>
                <a:solidFill>
                  <a:schemeClr val="bg1"/>
                </a:solidFill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9" name="Elipse 38"/>
                <p:cNvSpPr/>
                <p:nvPr/>
              </p:nvSpPr>
              <p:spPr bwMode="auto">
                <a:xfrm>
                  <a:off x="6502776" y="4653140"/>
                  <a:ext cx="72000" cy="72000"/>
                </a:xfrm>
                <a:prstGeom prst="ellipse">
                  <a:avLst/>
                </a:prstGeom>
                <a:noFill/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7" name="Forma livre 36"/>
              <p:cNvSpPr/>
              <p:nvPr/>
            </p:nvSpPr>
            <p:spPr bwMode="auto">
              <a:xfrm>
                <a:off x="5217459" y="4921624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5" name="CaixaDeTexto 34"/>
            <p:cNvSpPr txBox="1"/>
            <p:nvPr/>
          </p:nvSpPr>
          <p:spPr>
            <a:xfrm>
              <a:off x="5770293" y="4593141"/>
              <a:ext cx="445940" cy="323620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pt-BR" sz="800" dirty="0">
                  <a:latin typeface="Tahoma" panose="020B0604030504040204" pitchFamily="34" charset="0"/>
                </a:rPr>
                <a:t>03</a:t>
              </a:r>
            </a:p>
          </p:txBody>
        </p:sp>
      </p:grpSp>
      <p:grpSp>
        <p:nvGrpSpPr>
          <p:cNvPr id="40" name="Grupo 39"/>
          <p:cNvGrpSpPr/>
          <p:nvPr/>
        </p:nvGrpSpPr>
        <p:grpSpPr>
          <a:xfrm>
            <a:off x="1678235" y="3734448"/>
            <a:ext cx="1080000" cy="864000"/>
            <a:chOff x="5217459" y="4590918"/>
            <a:chExt cx="1077098" cy="828247"/>
          </a:xfrm>
        </p:grpSpPr>
        <p:grpSp>
          <p:nvGrpSpPr>
            <p:cNvPr id="41" name="Grupo 40"/>
            <p:cNvGrpSpPr/>
            <p:nvPr/>
          </p:nvGrpSpPr>
          <p:grpSpPr>
            <a:xfrm>
              <a:off x="5217459" y="4590918"/>
              <a:ext cx="1077098" cy="828247"/>
              <a:chOff x="5217459" y="4590918"/>
              <a:chExt cx="1077098" cy="828247"/>
            </a:xfrm>
          </p:grpSpPr>
          <p:grpSp>
            <p:nvGrpSpPr>
              <p:cNvPr id="43" name="Grupo 42"/>
              <p:cNvGrpSpPr/>
              <p:nvPr/>
            </p:nvGrpSpPr>
            <p:grpSpPr>
              <a:xfrm rot="8666499">
                <a:off x="5574477" y="4590918"/>
                <a:ext cx="720080" cy="360040"/>
                <a:chOff x="5940152" y="4509120"/>
                <a:chExt cx="720080" cy="360040"/>
              </a:xfrm>
            </p:grpSpPr>
            <p:sp>
              <p:nvSpPr>
                <p:cNvPr id="45" name="Pentágono 44"/>
                <p:cNvSpPr/>
                <p:nvPr/>
              </p:nvSpPr>
              <p:spPr bwMode="auto">
                <a:xfrm>
                  <a:off x="5940152" y="4509120"/>
                  <a:ext cx="720080" cy="360040"/>
                </a:xfrm>
                <a:prstGeom prst="homePlate">
                  <a:avLst/>
                </a:prstGeom>
                <a:solidFill>
                  <a:schemeClr val="bg1"/>
                </a:solidFill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6" name="Elipse 45"/>
                <p:cNvSpPr/>
                <p:nvPr/>
              </p:nvSpPr>
              <p:spPr bwMode="auto">
                <a:xfrm>
                  <a:off x="6502776" y="4653140"/>
                  <a:ext cx="72000" cy="72000"/>
                </a:xfrm>
                <a:prstGeom prst="ellipse">
                  <a:avLst/>
                </a:prstGeom>
                <a:noFill/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44" name="Forma livre 43"/>
              <p:cNvSpPr/>
              <p:nvPr/>
            </p:nvSpPr>
            <p:spPr bwMode="auto">
              <a:xfrm>
                <a:off x="5217459" y="4921624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2" name="CaixaDeTexto 41"/>
            <p:cNvSpPr txBox="1"/>
            <p:nvPr/>
          </p:nvSpPr>
          <p:spPr>
            <a:xfrm>
              <a:off x="5818048" y="4593141"/>
              <a:ext cx="350434" cy="265537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04</a:t>
              </a:r>
            </a:p>
          </p:txBody>
        </p:sp>
      </p:grpSp>
      <p:grpSp>
        <p:nvGrpSpPr>
          <p:cNvPr id="12" name="Grupo 11"/>
          <p:cNvGrpSpPr/>
          <p:nvPr/>
        </p:nvGrpSpPr>
        <p:grpSpPr>
          <a:xfrm>
            <a:off x="4995647" y="3936097"/>
            <a:ext cx="2312657" cy="1775455"/>
            <a:chOff x="4995647" y="3936097"/>
            <a:chExt cx="2312657" cy="1775455"/>
          </a:xfrm>
        </p:grpSpPr>
        <p:grpSp>
          <p:nvGrpSpPr>
            <p:cNvPr id="47" name="Grupo 46"/>
            <p:cNvGrpSpPr/>
            <p:nvPr/>
          </p:nvGrpSpPr>
          <p:grpSpPr>
            <a:xfrm>
              <a:off x="6156176" y="4509120"/>
              <a:ext cx="1152128" cy="1202432"/>
              <a:chOff x="6156176" y="4797152"/>
              <a:chExt cx="792088" cy="914400"/>
            </a:xfrm>
          </p:grpSpPr>
          <p:cxnSp>
            <p:nvCxnSpPr>
              <p:cNvPr id="48" name="Conector reto 47"/>
              <p:cNvCxnSpPr/>
              <p:nvPr/>
            </p:nvCxnSpPr>
            <p:spPr bwMode="auto">
              <a:xfrm>
                <a:off x="6156176" y="4797152"/>
                <a:ext cx="0" cy="91440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9" name="Conector reto 48"/>
              <p:cNvCxnSpPr/>
              <p:nvPr/>
            </p:nvCxnSpPr>
            <p:spPr bwMode="auto">
              <a:xfrm>
                <a:off x="6156176" y="5711552"/>
                <a:ext cx="792088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0" name="Conector reto 49"/>
              <p:cNvCxnSpPr/>
              <p:nvPr/>
            </p:nvCxnSpPr>
            <p:spPr bwMode="auto">
              <a:xfrm flipV="1">
                <a:off x="6948264" y="4797152"/>
                <a:ext cx="0" cy="91440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sp>
          <p:nvSpPr>
            <p:cNvPr id="51" name="Arco 50"/>
            <p:cNvSpPr/>
            <p:nvPr/>
          </p:nvSpPr>
          <p:spPr bwMode="auto">
            <a:xfrm>
              <a:off x="4995647" y="3936097"/>
              <a:ext cx="1744283" cy="1049250"/>
            </a:xfrm>
            <a:prstGeom prst="arc">
              <a:avLst>
                <a:gd name="adj1" fmla="val 16111489"/>
                <a:gd name="adj2" fmla="val 0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52" name="Rectangle 8"/>
          <p:cNvSpPr>
            <a:spLocks noChangeArrowheads="1"/>
          </p:cNvSpPr>
          <p:nvPr/>
        </p:nvSpPr>
        <p:spPr bwMode="auto">
          <a:xfrm>
            <a:off x="251521" y="2276475"/>
            <a:ext cx="8247063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defTabSz="45085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4508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45085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45085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45085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 probabilística: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cada elemento da população tem uma probabilidade (não nula) de ser escolhido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em geral, todo elemento tem a mesma probabilidade de ser escolhido</a:t>
            </a:r>
          </a:p>
        </p:txBody>
      </p:sp>
      <p:sp>
        <p:nvSpPr>
          <p:cNvPr id="53" name="Text Box 4"/>
          <p:cNvSpPr txBox="1">
            <a:spLocks noChangeArrowheads="1"/>
          </p:cNvSpPr>
          <p:nvPr/>
        </p:nvSpPr>
        <p:spPr bwMode="auto">
          <a:xfrm>
            <a:off x="251521" y="1412875"/>
            <a:ext cx="8366125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Como amostrar?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amostragem probabilística X não probabilística</a:t>
            </a:r>
          </a:p>
        </p:txBody>
      </p:sp>
    </p:spTree>
    <p:extLst>
      <p:ext uri="{BB962C8B-B14F-4D97-AF65-F5344CB8AC3E}">
        <p14:creationId xmlns:p14="http://schemas.microsoft.com/office/powerpoint/2010/main" val="1016384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Tipos de Amostragem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5B5703-481C-4C7B-B4EA-750098F86FE2}" type="slidenum">
              <a:rPr lang="pt-BR"/>
              <a:pPr>
                <a:defRPr/>
              </a:pPr>
              <a:t>11</a:t>
            </a:fld>
            <a:endParaRPr lang="pt-BR"/>
          </a:p>
        </p:txBody>
      </p:sp>
      <p:pic>
        <p:nvPicPr>
          <p:cNvPr id="23556" name="Picture 4" descr="C:\Users\Camilo\AppData\Local\Microsoft\Windows\INetCache\IE\CQ86S3QM\Wellness_People[1]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724992"/>
            <a:ext cx="4413504" cy="2944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upo 17"/>
          <p:cNvGrpSpPr/>
          <p:nvPr/>
        </p:nvGrpSpPr>
        <p:grpSpPr>
          <a:xfrm>
            <a:off x="6156176" y="4509120"/>
            <a:ext cx="1152128" cy="1202432"/>
            <a:chOff x="6156176" y="4797152"/>
            <a:chExt cx="792088" cy="914400"/>
          </a:xfrm>
        </p:grpSpPr>
        <p:cxnSp>
          <p:nvCxnSpPr>
            <p:cNvPr id="12" name="Conector reto 11"/>
            <p:cNvCxnSpPr/>
            <p:nvPr/>
          </p:nvCxnSpPr>
          <p:spPr bwMode="auto">
            <a:xfrm>
              <a:off x="6156176" y="4797152"/>
              <a:ext cx="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Conector reto 14"/>
            <p:cNvCxnSpPr/>
            <p:nvPr/>
          </p:nvCxnSpPr>
          <p:spPr bwMode="auto">
            <a:xfrm>
              <a:off x="6156176" y="5711552"/>
              <a:ext cx="792088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Conector reto 16"/>
            <p:cNvCxnSpPr/>
            <p:nvPr/>
          </p:nvCxnSpPr>
          <p:spPr bwMode="auto">
            <a:xfrm flipV="1">
              <a:off x="6948264" y="4797152"/>
              <a:ext cx="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47" name="Elipse 46"/>
          <p:cNvSpPr/>
          <p:nvPr/>
        </p:nvSpPr>
        <p:spPr bwMode="auto">
          <a:xfrm>
            <a:off x="6156176" y="4672421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01</a:t>
            </a:r>
          </a:p>
        </p:txBody>
      </p:sp>
      <p:sp>
        <p:nvSpPr>
          <p:cNvPr id="48" name="Elipse 47"/>
          <p:cNvSpPr/>
          <p:nvPr/>
        </p:nvSpPr>
        <p:spPr bwMode="auto">
          <a:xfrm>
            <a:off x="6230649" y="5046984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15</a:t>
            </a:r>
          </a:p>
        </p:txBody>
      </p:sp>
      <p:sp>
        <p:nvSpPr>
          <p:cNvPr id="49" name="Elipse 48"/>
          <p:cNvSpPr/>
          <p:nvPr/>
        </p:nvSpPr>
        <p:spPr bwMode="auto">
          <a:xfrm>
            <a:off x="6430551" y="4750336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25</a:t>
            </a:r>
          </a:p>
        </p:txBody>
      </p:sp>
      <p:sp>
        <p:nvSpPr>
          <p:cNvPr id="50" name="Elipse 49"/>
          <p:cNvSpPr/>
          <p:nvPr/>
        </p:nvSpPr>
        <p:spPr bwMode="auto">
          <a:xfrm>
            <a:off x="6516216" y="5017176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29</a:t>
            </a:r>
          </a:p>
        </p:txBody>
      </p:sp>
      <p:sp>
        <p:nvSpPr>
          <p:cNvPr id="51" name="Elipse 50"/>
          <p:cNvSpPr/>
          <p:nvPr/>
        </p:nvSpPr>
        <p:spPr bwMode="auto">
          <a:xfrm>
            <a:off x="6732240" y="4802306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36</a:t>
            </a:r>
          </a:p>
        </p:txBody>
      </p:sp>
      <p:sp>
        <p:nvSpPr>
          <p:cNvPr id="52" name="Elipse 51"/>
          <p:cNvSpPr/>
          <p:nvPr/>
        </p:nvSpPr>
        <p:spPr bwMode="auto">
          <a:xfrm>
            <a:off x="6948264" y="4744154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07</a:t>
            </a:r>
          </a:p>
        </p:txBody>
      </p:sp>
      <p:sp>
        <p:nvSpPr>
          <p:cNvPr id="59" name="Elipse 58"/>
          <p:cNvSpPr/>
          <p:nvPr/>
        </p:nvSpPr>
        <p:spPr bwMode="auto">
          <a:xfrm>
            <a:off x="6948264" y="5120904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53</a:t>
            </a:r>
          </a:p>
        </p:txBody>
      </p:sp>
      <p:sp>
        <p:nvSpPr>
          <p:cNvPr id="53" name="Elipse 52"/>
          <p:cNvSpPr/>
          <p:nvPr/>
        </p:nvSpPr>
        <p:spPr bwMode="auto">
          <a:xfrm>
            <a:off x="6845575" y="5101466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11</a:t>
            </a:r>
          </a:p>
        </p:txBody>
      </p:sp>
      <p:sp>
        <p:nvSpPr>
          <p:cNvPr id="54" name="Elipse 53"/>
          <p:cNvSpPr/>
          <p:nvPr/>
        </p:nvSpPr>
        <p:spPr bwMode="auto">
          <a:xfrm>
            <a:off x="6336196" y="5337862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02</a:t>
            </a:r>
          </a:p>
        </p:txBody>
      </p:sp>
      <p:sp>
        <p:nvSpPr>
          <p:cNvPr id="55" name="Elipse 54"/>
          <p:cNvSpPr/>
          <p:nvPr/>
        </p:nvSpPr>
        <p:spPr bwMode="auto">
          <a:xfrm>
            <a:off x="6660232" y="5345920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98</a:t>
            </a:r>
          </a:p>
        </p:txBody>
      </p:sp>
      <p:sp>
        <p:nvSpPr>
          <p:cNvPr id="56" name="Elipse 55"/>
          <p:cNvSpPr/>
          <p:nvPr/>
        </p:nvSpPr>
        <p:spPr bwMode="auto">
          <a:xfrm>
            <a:off x="6948264" y="5334544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09</a:t>
            </a:r>
          </a:p>
        </p:txBody>
      </p:sp>
      <p:sp>
        <p:nvSpPr>
          <p:cNvPr id="57" name="Elipse 56"/>
          <p:cNvSpPr/>
          <p:nvPr/>
        </p:nvSpPr>
        <p:spPr bwMode="auto">
          <a:xfrm>
            <a:off x="6156176" y="5342152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82</a:t>
            </a:r>
          </a:p>
        </p:txBody>
      </p:sp>
      <p:sp>
        <p:nvSpPr>
          <p:cNvPr id="58" name="Elipse 57"/>
          <p:cNvSpPr/>
          <p:nvPr/>
        </p:nvSpPr>
        <p:spPr bwMode="auto">
          <a:xfrm>
            <a:off x="6156176" y="4845672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44</a:t>
            </a:r>
          </a:p>
        </p:txBody>
      </p:sp>
      <p:sp>
        <p:nvSpPr>
          <p:cNvPr id="60" name="Elipse 59"/>
          <p:cNvSpPr/>
          <p:nvPr/>
        </p:nvSpPr>
        <p:spPr bwMode="auto">
          <a:xfrm>
            <a:off x="6588224" y="4581128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76</a:t>
            </a:r>
          </a:p>
        </p:txBody>
      </p:sp>
      <p:grpSp>
        <p:nvGrpSpPr>
          <p:cNvPr id="25" name="Grupo 24"/>
          <p:cNvGrpSpPr/>
          <p:nvPr/>
        </p:nvGrpSpPr>
        <p:grpSpPr>
          <a:xfrm>
            <a:off x="6776674" y="3967926"/>
            <a:ext cx="1296144" cy="1049250"/>
            <a:chOff x="6776674" y="3967926"/>
            <a:chExt cx="1296144" cy="1049250"/>
          </a:xfrm>
        </p:grpSpPr>
        <p:sp>
          <p:nvSpPr>
            <p:cNvPr id="22" name="Arco 21"/>
            <p:cNvSpPr/>
            <p:nvPr/>
          </p:nvSpPr>
          <p:spPr bwMode="auto">
            <a:xfrm>
              <a:off x="6776674" y="3967926"/>
              <a:ext cx="1116124" cy="1049250"/>
            </a:xfrm>
            <a:prstGeom prst="arc">
              <a:avLst>
                <a:gd name="adj1" fmla="val 10838815"/>
                <a:gd name="adj2" fmla="val 0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2" name="Elipse 61"/>
            <p:cNvSpPr/>
            <p:nvPr/>
          </p:nvSpPr>
          <p:spPr bwMode="auto">
            <a:xfrm>
              <a:off x="7712778" y="4561466"/>
              <a:ext cx="360040" cy="36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39</a:t>
              </a:r>
            </a:p>
          </p:txBody>
        </p:sp>
      </p:grpSp>
      <p:grpSp>
        <p:nvGrpSpPr>
          <p:cNvPr id="24" name="Grupo 23"/>
          <p:cNvGrpSpPr/>
          <p:nvPr/>
        </p:nvGrpSpPr>
        <p:grpSpPr>
          <a:xfrm>
            <a:off x="2087451" y="3895242"/>
            <a:ext cx="1278481" cy="2699433"/>
            <a:chOff x="2087451" y="3895242"/>
            <a:chExt cx="1278481" cy="2699433"/>
          </a:xfrm>
        </p:grpSpPr>
        <p:grpSp>
          <p:nvGrpSpPr>
            <p:cNvPr id="70" name="Grupo 69"/>
            <p:cNvGrpSpPr/>
            <p:nvPr/>
          </p:nvGrpSpPr>
          <p:grpSpPr>
            <a:xfrm>
              <a:off x="2288834" y="3895242"/>
              <a:ext cx="1077098" cy="828247"/>
              <a:chOff x="5217459" y="4590918"/>
              <a:chExt cx="1077098" cy="828247"/>
            </a:xfrm>
          </p:grpSpPr>
          <p:grpSp>
            <p:nvGrpSpPr>
              <p:cNvPr id="71" name="Grupo 70"/>
              <p:cNvGrpSpPr/>
              <p:nvPr/>
            </p:nvGrpSpPr>
            <p:grpSpPr>
              <a:xfrm>
                <a:off x="5217459" y="4590918"/>
                <a:ext cx="1077098" cy="828247"/>
                <a:chOff x="5217459" y="4590918"/>
                <a:chExt cx="1077098" cy="828247"/>
              </a:xfrm>
            </p:grpSpPr>
            <p:grpSp>
              <p:nvGrpSpPr>
                <p:cNvPr id="73" name="Grupo 72"/>
                <p:cNvGrpSpPr/>
                <p:nvPr/>
              </p:nvGrpSpPr>
              <p:grpSpPr>
                <a:xfrm rot="8666499">
                  <a:off x="5574477" y="4590918"/>
                  <a:ext cx="720080" cy="360040"/>
                  <a:chOff x="5940152" y="4509120"/>
                  <a:chExt cx="720080" cy="360040"/>
                </a:xfrm>
              </p:grpSpPr>
              <p:sp>
                <p:nvSpPr>
                  <p:cNvPr id="75" name="Pentágono 74"/>
                  <p:cNvSpPr/>
                  <p:nvPr/>
                </p:nvSpPr>
                <p:spPr bwMode="auto">
                  <a:xfrm>
                    <a:off x="5940152" y="4509120"/>
                    <a:ext cx="720080" cy="360040"/>
                  </a:xfrm>
                  <a:prstGeom prst="homePlate">
                    <a:avLst/>
                  </a:prstGeom>
                  <a:solidFill>
                    <a:schemeClr val="bg1"/>
                  </a:solidFill>
                  <a:ln w="28575" cap="flat" cmpd="sng" algn="ctr">
                    <a:solidFill>
                      <a:srgbClr val="FF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pt-BR" sz="12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ahoma" panose="020B0604030504040204" pitchFamily="34" charset="0"/>
                    </a:endParaRPr>
                  </a:p>
                </p:txBody>
              </p:sp>
              <p:sp>
                <p:nvSpPr>
                  <p:cNvPr id="76" name="Elipse 75"/>
                  <p:cNvSpPr/>
                  <p:nvPr/>
                </p:nvSpPr>
                <p:spPr bwMode="auto">
                  <a:xfrm>
                    <a:off x="6502776" y="4653140"/>
                    <a:ext cx="72000" cy="72000"/>
                  </a:xfrm>
                  <a:prstGeom prst="ellipse">
                    <a:avLst/>
                  </a:prstGeom>
                  <a:noFill/>
                  <a:ln w="28575" cap="flat" cmpd="sng" algn="ctr">
                    <a:solidFill>
                      <a:srgbClr val="FF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pt-BR" sz="12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ahoma" panose="020B0604030504040204" pitchFamily="34" charset="0"/>
                    </a:endParaRPr>
                  </a:p>
                </p:txBody>
              </p:sp>
            </p:grpSp>
            <p:sp>
              <p:nvSpPr>
                <p:cNvPr id="74" name="Forma livre 73"/>
                <p:cNvSpPr/>
                <p:nvPr/>
              </p:nvSpPr>
              <p:spPr bwMode="auto">
                <a:xfrm>
                  <a:off x="5217459" y="4921624"/>
                  <a:ext cx="497541" cy="497541"/>
                </a:xfrm>
                <a:custGeom>
                  <a:avLst/>
                  <a:gdLst>
                    <a:gd name="connsiteX0" fmla="*/ 0 w 497541"/>
                    <a:gd name="connsiteY0" fmla="*/ 497541 h 497541"/>
                    <a:gd name="connsiteX1" fmla="*/ 174812 w 497541"/>
                    <a:gd name="connsiteY1" fmla="*/ 141194 h 497541"/>
                    <a:gd name="connsiteX2" fmla="*/ 497541 w 497541"/>
                    <a:gd name="connsiteY2" fmla="*/ 0 h 4975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97541" h="497541">
                      <a:moveTo>
                        <a:pt x="0" y="497541"/>
                      </a:moveTo>
                      <a:cubicBezTo>
                        <a:pt x="45944" y="360829"/>
                        <a:pt x="91889" y="224117"/>
                        <a:pt x="174812" y="141194"/>
                      </a:cubicBezTo>
                      <a:cubicBezTo>
                        <a:pt x="257735" y="58271"/>
                        <a:pt x="377638" y="29135"/>
                        <a:pt x="497541" y="0"/>
                      </a:cubicBezTo>
                    </a:path>
                  </a:pathLst>
                </a:custGeom>
                <a:noFill/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72" name="CaixaDeTexto 71"/>
              <p:cNvSpPr txBox="1"/>
              <p:nvPr/>
            </p:nvSpPr>
            <p:spPr>
              <a:xfrm>
                <a:off x="5817574" y="4593141"/>
                <a:ext cx="351378" cy="276999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39</a:t>
                </a:r>
              </a:p>
            </p:txBody>
          </p:sp>
        </p:grpSp>
        <p:sp>
          <p:nvSpPr>
            <p:cNvPr id="23" name="Forma livre 22"/>
            <p:cNvSpPr/>
            <p:nvPr/>
          </p:nvSpPr>
          <p:spPr bwMode="auto">
            <a:xfrm>
              <a:off x="2087451" y="4710025"/>
              <a:ext cx="483551" cy="1884650"/>
            </a:xfrm>
            <a:custGeom>
              <a:avLst/>
              <a:gdLst>
                <a:gd name="connsiteX0" fmla="*/ 195532 w 501656"/>
                <a:gd name="connsiteY0" fmla="*/ 17253 h 1846053"/>
                <a:gd name="connsiteX1" fmla="*/ 195532 w 501656"/>
                <a:gd name="connsiteY1" fmla="*/ 17253 h 1846053"/>
                <a:gd name="connsiteX2" fmla="*/ 138022 w 501656"/>
                <a:gd name="connsiteY2" fmla="*/ 57509 h 1846053"/>
                <a:gd name="connsiteX3" fmla="*/ 120769 w 501656"/>
                <a:gd name="connsiteY3" fmla="*/ 69011 h 1846053"/>
                <a:gd name="connsiteX4" fmla="*/ 109268 w 501656"/>
                <a:gd name="connsiteY4" fmla="*/ 86264 h 1846053"/>
                <a:gd name="connsiteX5" fmla="*/ 92015 w 501656"/>
                <a:gd name="connsiteY5" fmla="*/ 103517 h 1846053"/>
                <a:gd name="connsiteX6" fmla="*/ 97766 w 501656"/>
                <a:gd name="connsiteY6" fmla="*/ 230038 h 1846053"/>
                <a:gd name="connsiteX7" fmla="*/ 120769 w 501656"/>
                <a:gd name="connsiteY7" fmla="*/ 281796 h 1846053"/>
                <a:gd name="connsiteX8" fmla="*/ 126520 w 501656"/>
                <a:gd name="connsiteY8" fmla="*/ 299049 h 1846053"/>
                <a:gd name="connsiteX9" fmla="*/ 115018 w 501656"/>
                <a:gd name="connsiteY9" fmla="*/ 316302 h 1846053"/>
                <a:gd name="connsiteX10" fmla="*/ 92015 w 501656"/>
                <a:gd name="connsiteY10" fmla="*/ 322053 h 1846053"/>
                <a:gd name="connsiteX11" fmla="*/ 40256 w 501656"/>
                <a:gd name="connsiteY11" fmla="*/ 345056 h 1846053"/>
                <a:gd name="connsiteX12" fmla="*/ 23003 w 501656"/>
                <a:gd name="connsiteY12" fmla="*/ 506083 h 1846053"/>
                <a:gd name="connsiteX13" fmla="*/ 17252 w 501656"/>
                <a:gd name="connsiteY13" fmla="*/ 523336 h 1846053"/>
                <a:gd name="connsiteX14" fmla="*/ 0 w 501656"/>
                <a:gd name="connsiteY14" fmla="*/ 586596 h 1846053"/>
                <a:gd name="connsiteX15" fmla="*/ 5751 w 501656"/>
                <a:gd name="connsiteY15" fmla="*/ 626853 h 1846053"/>
                <a:gd name="connsiteX16" fmla="*/ 11502 w 501656"/>
                <a:gd name="connsiteY16" fmla="*/ 644105 h 1846053"/>
                <a:gd name="connsiteX17" fmla="*/ 17252 w 501656"/>
                <a:gd name="connsiteY17" fmla="*/ 741872 h 1846053"/>
                <a:gd name="connsiteX18" fmla="*/ 28754 w 501656"/>
                <a:gd name="connsiteY18" fmla="*/ 776377 h 1846053"/>
                <a:gd name="connsiteX19" fmla="*/ 34505 w 501656"/>
                <a:gd name="connsiteY19" fmla="*/ 799381 h 1846053"/>
                <a:gd name="connsiteX20" fmla="*/ 40256 w 501656"/>
                <a:gd name="connsiteY20" fmla="*/ 948905 h 1846053"/>
                <a:gd name="connsiteX21" fmla="*/ 46007 w 501656"/>
                <a:gd name="connsiteY21" fmla="*/ 971909 h 1846053"/>
                <a:gd name="connsiteX22" fmla="*/ 57509 w 501656"/>
                <a:gd name="connsiteY22" fmla="*/ 1006415 h 1846053"/>
                <a:gd name="connsiteX23" fmla="*/ 69011 w 501656"/>
                <a:gd name="connsiteY23" fmla="*/ 1075426 h 1846053"/>
                <a:gd name="connsiteX24" fmla="*/ 74762 w 501656"/>
                <a:gd name="connsiteY24" fmla="*/ 1092679 h 1846053"/>
                <a:gd name="connsiteX25" fmla="*/ 80513 w 501656"/>
                <a:gd name="connsiteY25" fmla="*/ 1115683 h 1846053"/>
                <a:gd name="connsiteX26" fmla="*/ 97766 w 501656"/>
                <a:gd name="connsiteY26" fmla="*/ 1167441 h 1846053"/>
                <a:gd name="connsiteX27" fmla="*/ 103517 w 501656"/>
                <a:gd name="connsiteY27" fmla="*/ 1184694 h 1846053"/>
                <a:gd name="connsiteX28" fmla="*/ 97766 w 501656"/>
                <a:gd name="connsiteY28" fmla="*/ 1644770 h 1846053"/>
                <a:gd name="connsiteX29" fmla="*/ 92015 w 501656"/>
                <a:gd name="connsiteY29" fmla="*/ 1662022 h 1846053"/>
                <a:gd name="connsiteX30" fmla="*/ 97766 w 501656"/>
                <a:gd name="connsiteY30" fmla="*/ 1725283 h 1846053"/>
                <a:gd name="connsiteX31" fmla="*/ 92015 w 501656"/>
                <a:gd name="connsiteY31" fmla="*/ 1782792 h 1846053"/>
                <a:gd name="connsiteX32" fmla="*/ 80513 w 501656"/>
                <a:gd name="connsiteY32" fmla="*/ 1817298 h 1846053"/>
                <a:gd name="connsiteX33" fmla="*/ 86264 w 501656"/>
                <a:gd name="connsiteY33" fmla="*/ 1840302 h 1846053"/>
                <a:gd name="connsiteX34" fmla="*/ 103517 w 501656"/>
                <a:gd name="connsiteY34" fmla="*/ 1846053 h 1846053"/>
                <a:gd name="connsiteX35" fmla="*/ 161026 w 501656"/>
                <a:gd name="connsiteY35" fmla="*/ 1840302 h 1846053"/>
                <a:gd name="connsiteX36" fmla="*/ 155275 w 501656"/>
                <a:gd name="connsiteY36" fmla="*/ 1823049 h 1846053"/>
                <a:gd name="connsiteX37" fmla="*/ 172528 w 501656"/>
                <a:gd name="connsiteY37" fmla="*/ 1788543 h 1846053"/>
                <a:gd name="connsiteX38" fmla="*/ 195532 w 501656"/>
                <a:gd name="connsiteY38" fmla="*/ 1736785 h 1846053"/>
                <a:gd name="connsiteX39" fmla="*/ 212785 w 501656"/>
                <a:gd name="connsiteY39" fmla="*/ 1731034 h 1846053"/>
                <a:gd name="connsiteX40" fmla="*/ 253041 w 501656"/>
                <a:gd name="connsiteY40" fmla="*/ 1736785 h 1846053"/>
                <a:gd name="connsiteX41" fmla="*/ 270294 w 501656"/>
                <a:gd name="connsiteY41" fmla="*/ 1771290 h 1846053"/>
                <a:gd name="connsiteX42" fmla="*/ 287547 w 501656"/>
                <a:gd name="connsiteY42" fmla="*/ 1782792 h 1846053"/>
                <a:gd name="connsiteX43" fmla="*/ 299049 w 501656"/>
                <a:gd name="connsiteY43" fmla="*/ 1800045 h 1846053"/>
                <a:gd name="connsiteX44" fmla="*/ 362309 w 501656"/>
                <a:gd name="connsiteY44" fmla="*/ 1805796 h 1846053"/>
                <a:gd name="connsiteX45" fmla="*/ 373811 w 501656"/>
                <a:gd name="connsiteY45" fmla="*/ 1765539 h 1846053"/>
                <a:gd name="connsiteX46" fmla="*/ 385313 w 501656"/>
                <a:gd name="connsiteY46" fmla="*/ 1731034 h 1846053"/>
                <a:gd name="connsiteX47" fmla="*/ 391064 w 501656"/>
                <a:gd name="connsiteY47" fmla="*/ 1713781 h 1846053"/>
                <a:gd name="connsiteX48" fmla="*/ 396815 w 501656"/>
                <a:gd name="connsiteY48" fmla="*/ 1696528 h 1846053"/>
                <a:gd name="connsiteX49" fmla="*/ 391064 w 501656"/>
                <a:gd name="connsiteY49" fmla="*/ 1650521 h 1846053"/>
                <a:gd name="connsiteX50" fmla="*/ 379562 w 501656"/>
                <a:gd name="connsiteY50" fmla="*/ 1610264 h 1846053"/>
                <a:gd name="connsiteX51" fmla="*/ 373811 w 501656"/>
                <a:gd name="connsiteY51" fmla="*/ 1449238 h 1846053"/>
                <a:gd name="connsiteX52" fmla="*/ 368060 w 501656"/>
                <a:gd name="connsiteY52" fmla="*/ 1431985 h 1846053"/>
                <a:gd name="connsiteX53" fmla="*/ 373811 w 501656"/>
                <a:gd name="connsiteY53" fmla="*/ 1299713 h 1846053"/>
                <a:gd name="connsiteX54" fmla="*/ 379562 w 501656"/>
                <a:gd name="connsiteY54" fmla="*/ 1276709 h 1846053"/>
                <a:gd name="connsiteX55" fmla="*/ 385313 w 501656"/>
                <a:gd name="connsiteY55" fmla="*/ 1247955 h 1846053"/>
                <a:gd name="connsiteX56" fmla="*/ 391064 w 501656"/>
                <a:gd name="connsiteY56" fmla="*/ 1207698 h 1846053"/>
                <a:gd name="connsiteX57" fmla="*/ 402566 w 501656"/>
                <a:gd name="connsiteY57" fmla="*/ 1173192 h 1846053"/>
                <a:gd name="connsiteX58" fmla="*/ 419818 w 501656"/>
                <a:gd name="connsiteY58" fmla="*/ 1121434 h 1846053"/>
                <a:gd name="connsiteX59" fmla="*/ 437071 w 501656"/>
                <a:gd name="connsiteY59" fmla="*/ 1069675 h 1846053"/>
                <a:gd name="connsiteX60" fmla="*/ 442822 w 501656"/>
                <a:gd name="connsiteY60" fmla="*/ 1052422 h 1846053"/>
                <a:gd name="connsiteX61" fmla="*/ 454324 w 501656"/>
                <a:gd name="connsiteY61" fmla="*/ 1012166 h 1846053"/>
                <a:gd name="connsiteX62" fmla="*/ 465826 w 501656"/>
                <a:gd name="connsiteY62" fmla="*/ 971909 h 1846053"/>
                <a:gd name="connsiteX63" fmla="*/ 471577 w 501656"/>
                <a:gd name="connsiteY63" fmla="*/ 759124 h 1846053"/>
                <a:gd name="connsiteX64" fmla="*/ 488830 w 501656"/>
                <a:gd name="connsiteY64" fmla="*/ 701615 h 1846053"/>
                <a:gd name="connsiteX65" fmla="*/ 494581 w 501656"/>
                <a:gd name="connsiteY65" fmla="*/ 684362 h 1846053"/>
                <a:gd name="connsiteX66" fmla="*/ 500332 w 501656"/>
                <a:gd name="connsiteY66" fmla="*/ 667109 h 1846053"/>
                <a:gd name="connsiteX67" fmla="*/ 494581 w 501656"/>
                <a:gd name="connsiteY67" fmla="*/ 327804 h 1846053"/>
                <a:gd name="connsiteX68" fmla="*/ 460075 w 501656"/>
                <a:gd name="connsiteY68" fmla="*/ 316302 h 1846053"/>
                <a:gd name="connsiteX69" fmla="*/ 391064 w 501656"/>
                <a:gd name="connsiteY69" fmla="*/ 293298 h 1846053"/>
                <a:gd name="connsiteX70" fmla="*/ 368060 w 501656"/>
                <a:gd name="connsiteY70" fmla="*/ 281796 h 1846053"/>
                <a:gd name="connsiteX71" fmla="*/ 350807 w 501656"/>
                <a:gd name="connsiteY71" fmla="*/ 276045 h 1846053"/>
                <a:gd name="connsiteX72" fmla="*/ 345056 w 501656"/>
                <a:gd name="connsiteY72" fmla="*/ 258792 h 1846053"/>
                <a:gd name="connsiteX73" fmla="*/ 339305 w 501656"/>
                <a:gd name="connsiteY73" fmla="*/ 74762 h 1846053"/>
                <a:gd name="connsiteX74" fmla="*/ 281796 w 501656"/>
                <a:gd name="connsiteY74" fmla="*/ 28755 h 1846053"/>
                <a:gd name="connsiteX75" fmla="*/ 264543 w 501656"/>
                <a:gd name="connsiteY75" fmla="*/ 23004 h 1846053"/>
                <a:gd name="connsiteX76" fmla="*/ 218535 w 501656"/>
                <a:gd name="connsiteY76" fmla="*/ 0 h 1846053"/>
                <a:gd name="connsiteX77" fmla="*/ 166777 w 501656"/>
                <a:gd name="connsiteY77" fmla="*/ 17253 h 1846053"/>
                <a:gd name="connsiteX78" fmla="*/ 149524 w 501656"/>
                <a:gd name="connsiteY78" fmla="*/ 23004 h 1846053"/>
                <a:gd name="connsiteX79" fmla="*/ 138022 w 501656"/>
                <a:gd name="connsiteY79" fmla="*/ 46007 h 1846053"/>
                <a:gd name="connsiteX80" fmla="*/ 138022 w 501656"/>
                <a:gd name="connsiteY80" fmla="*/ 40256 h 1846053"/>
                <a:gd name="connsiteX0" fmla="*/ 195532 w 501656"/>
                <a:gd name="connsiteY0" fmla="*/ 17253 h 1846053"/>
                <a:gd name="connsiteX1" fmla="*/ 195532 w 501656"/>
                <a:gd name="connsiteY1" fmla="*/ 17253 h 1846053"/>
                <a:gd name="connsiteX2" fmla="*/ 138022 w 501656"/>
                <a:gd name="connsiteY2" fmla="*/ 57509 h 1846053"/>
                <a:gd name="connsiteX3" fmla="*/ 120769 w 501656"/>
                <a:gd name="connsiteY3" fmla="*/ 69011 h 1846053"/>
                <a:gd name="connsiteX4" fmla="*/ 109268 w 501656"/>
                <a:gd name="connsiteY4" fmla="*/ 86264 h 1846053"/>
                <a:gd name="connsiteX5" fmla="*/ 92015 w 501656"/>
                <a:gd name="connsiteY5" fmla="*/ 103517 h 1846053"/>
                <a:gd name="connsiteX6" fmla="*/ 97766 w 501656"/>
                <a:gd name="connsiteY6" fmla="*/ 230038 h 1846053"/>
                <a:gd name="connsiteX7" fmla="*/ 120769 w 501656"/>
                <a:gd name="connsiteY7" fmla="*/ 281796 h 1846053"/>
                <a:gd name="connsiteX8" fmla="*/ 126520 w 501656"/>
                <a:gd name="connsiteY8" fmla="*/ 299049 h 1846053"/>
                <a:gd name="connsiteX9" fmla="*/ 115018 w 501656"/>
                <a:gd name="connsiteY9" fmla="*/ 316302 h 1846053"/>
                <a:gd name="connsiteX10" fmla="*/ 92015 w 501656"/>
                <a:gd name="connsiteY10" fmla="*/ 322053 h 1846053"/>
                <a:gd name="connsiteX11" fmla="*/ 40256 w 501656"/>
                <a:gd name="connsiteY11" fmla="*/ 345056 h 1846053"/>
                <a:gd name="connsiteX12" fmla="*/ 23003 w 501656"/>
                <a:gd name="connsiteY12" fmla="*/ 506083 h 1846053"/>
                <a:gd name="connsiteX13" fmla="*/ 17252 w 501656"/>
                <a:gd name="connsiteY13" fmla="*/ 523336 h 1846053"/>
                <a:gd name="connsiteX14" fmla="*/ 0 w 501656"/>
                <a:gd name="connsiteY14" fmla="*/ 586596 h 1846053"/>
                <a:gd name="connsiteX15" fmla="*/ 5751 w 501656"/>
                <a:gd name="connsiteY15" fmla="*/ 626853 h 1846053"/>
                <a:gd name="connsiteX16" fmla="*/ 49747 w 501656"/>
                <a:gd name="connsiteY16" fmla="*/ 668443 h 1846053"/>
                <a:gd name="connsiteX17" fmla="*/ 17252 w 501656"/>
                <a:gd name="connsiteY17" fmla="*/ 741872 h 1846053"/>
                <a:gd name="connsiteX18" fmla="*/ 28754 w 501656"/>
                <a:gd name="connsiteY18" fmla="*/ 776377 h 1846053"/>
                <a:gd name="connsiteX19" fmla="*/ 34505 w 501656"/>
                <a:gd name="connsiteY19" fmla="*/ 799381 h 1846053"/>
                <a:gd name="connsiteX20" fmla="*/ 40256 w 501656"/>
                <a:gd name="connsiteY20" fmla="*/ 948905 h 1846053"/>
                <a:gd name="connsiteX21" fmla="*/ 46007 w 501656"/>
                <a:gd name="connsiteY21" fmla="*/ 971909 h 1846053"/>
                <a:gd name="connsiteX22" fmla="*/ 57509 w 501656"/>
                <a:gd name="connsiteY22" fmla="*/ 1006415 h 1846053"/>
                <a:gd name="connsiteX23" fmla="*/ 69011 w 501656"/>
                <a:gd name="connsiteY23" fmla="*/ 1075426 h 1846053"/>
                <a:gd name="connsiteX24" fmla="*/ 74762 w 501656"/>
                <a:gd name="connsiteY24" fmla="*/ 1092679 h 1846053"/>
                <a:gd name="connsiteX25" fmla="*/ 80513 w 501656"/>
                <a:gd name="connsiteY25" fmla="*/ 1115683 h 1846053"/>
                <a:gd name="connsiteX26" fmla="*/ 97766 w 501656"/>
                <a:gd name="connsiteY26" fmla="*/ 1167441 h 1846053"/>
                <a:gd name="connsiteX27" fmla="*/ 103517 w 501656"/>
                <a:gd name="connsiteY27" fmla="*/ 1184694 h 1846053"/>
                <a:gd name="connsiteX28" fmla="*/ 97766 w 501656"/>
                <a:gd name="connsiteY28" fmla="*/ 1644770 h 1846053"/>
                <a:gd name="connsiteX29" fmla="*/ 92015 w 501656"/>
                <a:gd name="connsiteY29" fmla="*/ 1662022 h 1846053"/>
                <a:gd name="connsiteX30" fmla="*/ 97766 w 501656"/>
                <a:gd name="connsiteY30" fmla="*/ 1725283 h 1846053"/>
                <a:gd name="connsiteX31" fmla="*/ 92015 w 501656"/>
                <a:gd name="connsiteY31" fmla="*/ 1782792 h 1846053"/>
                <a:gd name="connsiteX32" fmla="*/ 80513 w 501656"/>
                <a:gd name="connsiteY32" fmla="*/ 1817298 h 1846053"/>
                <a:gd name="connsiteX33" fmla="*/ 86264 w 501656"/>
                <a:gd name="connsiteY33" fmla="*/ 1840302 h 1846053"/>
                <a:gd name="connsiteX34" fmla="*/ 103517 w 501656"/>
                <a:gd name="connsiteY34" fmla="*/ 1846053 h 1846053"/>
                <a:gd name="connsiteX35" fmla="*/ 161026 w 501656"/>
                <a:gd name="connsiteY35" fmla="*/ 1840302 h 1846053"/>
                <a:gd name="connsiteX36" fmla="*/ 155275 w 501656"/>
                <a:gd name="connsiteY36" fmla="*/ 1823049 h 1846053"/>
                <a:gd name="connsiteX37" fmla="*/ 172528 w 501656"/>
                <a:gd name="connsiteY37" fmla="*/ 1788543 h 1846053"/>
                <a:gd name="connsiteX38" fmla="*/ 195532 w 501656"/>
                <a:gd name="connsiteY38" fmla="*/ 1736785 h 1846053"/>
                <a:gd name="connsiteX39" fmla="*/ 212785 w 501656"/>
                <a:gd name="connsiteY39" fmla="*/ 1731034 h 1846053"/>
                <a:gd name="connsiteX40" fmla="*/ 253041 w 501656"/>
                <a:gd name="connsiteY40" fmla="*/ 1736785 h 1846053"/>
                <a:gd name="connsiteX41" fmla="*/ 270294 w 501656"/>
                <a:gd name="connsiteY41" fmla="*/ 1771290 h 1846053"/>
                <a:gd name="connsiteX42" fmla="*/ 287547 w 501656"/>
                <a:gd name="connsiteY42" fmla="*/ 1782792 h 1846053"/>
                <a:gd name="connsiteX43" fmla="*/ 299049 w 501656"/>
                <a:gd name="connsiteY43" fmla="*/ 1800045 h 1846053"/>
                <a:gd name="connsiteX44" fmla="*/ 362309 w 501656"/>
                <a:gd name="connsiteY44" fmla="*/ 1805796 h 1846053"/>
                <a:gd name="connsiteX45" fmla="*/ 373811 w 501656"/>
                <a:gd name="connsiteY45" fmla="*/ 1765539 h 1846053"/>
                <a:gd name="connsiteX46" fmla="*/ 385313 w 501656"/>
                <a:gd name="connsiteY46" fmla="*/ 1731034 h 1846053"/>
                <a:gd name="connsiteX47" fmla="*/ 391064 w 501656"/>
                <a:gd name="connsiteY47" fmla="*/ 1713781 h 1846053"/>
                <a:gd name="connsiteX48" fmla="*/ 396815 w 501656"/>
                <a:gd name="connsiteY48" fmla="*/ 1696528 h 1846053"/>
                <a:gd name="connsiteX49" fmla="*/ 391064 w 501656"/>
                <a:gd name="connsiteY49" fmla="*/ 1650521 h 1846053"/>
                <a:gd name="connsiteX50" fmla="*/ 379562 w 501656"/>
                <a:gd name="connsiteY50" fmla="*/ 1610264 h 1846053"/>
                <a:gd name="connsiteX51" fmla="*/ 373811 w 501656"/>
                <a:gd name="connsiteY51" fmla="*/ 1449238 h 1846053"/>
                <a:gd name="connsiteX52" fmla="*/ 368060 w 501656"/>
                <a:gd name="connsiteY52" fmla="*/ 1431985 h 1846053"/>
                <a:gd name="connsiteX53" fmla="*/ 373811 w 501656"/>
                <a:gd name="connsiteY53" fmla="*/ 1299713 h 1846053"/>
                <a:gd name="connsiteX54" fmla="*/ 379562 w 501656"/>
                <a:gd name="connsiteY54" fmla="*/ 1276709 h 1846053"/>
                <a:gd name="connsiteX55" fmla="*/ 385313 w 501656"/>
                <a:gd name="connsiteY55" fmla="*/ 1247955 h 1846053"/>
                <a:gd name="connsiteX56" fmla="*/ 391064 w 501656"/>
                <a:gd name="connsiteY56" fmla="*/ 1207698 h 1846053"/>
                <a:gd name="connsiteX57" fmla="*/ 402566 w 501656"/>
                <a:gd name="connsiteY57" fmla="*/ 1173192 h 1846053"/>
                <a:gd name="connsiteX58" fmla="*/ 419818 w 501656"/>
                <a:gd name="connsiteY58" fmla="*/ 1121434 h 1846053"/>
                <a:gd name="connsiteX59" fmla="*/ 437071 w 501656"/>
                <a:gd name="connsiteY59" fmla="*/ 1069675 h 1846053"/>
                <a:gd name="connsiteX60" fmla="*/ 442822 w 501656"/>
                <a:gd name="connsiteY60" fmla="*/ 1052422 h 1846053"/>
                <a:gd name="connsiteX61" fmla="*/ 454324 w 501656"/>
                <a:gd name="connsiteY61" fmla="*/ 1012166 h 1846053"/>
                <a:gd name="connsiteX62" fmla="*/ 465826 w 501656"/>
                <a:gd name="connsiteY62" fmla="*/ 971909 h 1846053"/>
                <a:gd name="connsiteX63" fmla="*/ 471577 w 501656"/>
                <a:gd name="connsiteY63" fmla="*/ 759124 h 1846053"/>
                <a:gd name="connsiteX64" fmla="*/ 488830 w 501656"/>
                <a:gd name="connsiteY64" fmla="*/ 701615 h 1846053"/>
                <a:gd name="connsiteX65" fmla="*/ 494581 w 501656"/>
                <a:gd name="connsiteY65" fmla="*/ 684362 h 1846053"/>
                <a:gd name="connsiteX66" fmla="*/ 500332 w 501656"/>
                <a:gd name="connsiteY66" fmla="*/ 667109 h 1846053"/>
                <a:gd name="connsiteX67" fmla="*/ 494581 w 501656"/>
                <a:gd name="connsiteY67" fmla="*/ 327804 h 1846053"/>
                <a:gd name="connsiteX68" fmla="*/ 460075 w 501656"/>
                <a:gd name="connsiteY68" fmla="*/ 316302 h 1846053"/>
                <a:gd name="connsiteX69" fmla="*/ 391064 w 501656"/>
                <a:gd name="connsiteY69" fmla="*/ 293298 h 1846053"/>
                <a:gd name="connsiteX70" fmla="*/ 368060 w 501656"/>
                <a:gd name="connsiteY70" fmla="*/ 281796 h 1846053"/>
                <a:gd name="connsiteX71" fmla="*/ 350807 w 501656"/>
                <a:gd name="connsiteY71" fmla="*/ 276045 h 1846053"/>
                <a:gd name="connsiteX72" fmla="*/ 345056 w 501656"/>
                <a:gd name="connsiteY72" fmla="*/ 258792 h 1846053"/>
                <a:gd name="connsiteX73" fmla="*/ 339305 w 501656"/>
                <a:gd name="connsiteY73" fmla="*/ 74762 h 1846053"/>
                <a:gd name="connsiteX74" fmla="*/ 281796 w 501656"/>
                <a:gd name="connsiteY74" fmla="*/ 28755 h 1846053"/>
                <a:gd name="connsiteX75" fmla="*/ 264543 w 501656"/>
                <a:gd name="connsiteY75" fmla="*/ 23004 h 1846053"/>
                <a:gd name="connsiteX76" fmla="*/ 218535 w 501656"/>
                <a:gd name="connsiteY76" fmla="*/ 0 h 1846053"/>
                <a:gd name="connsiteX77" fmla="*/ 166777 w 501656"/>
                <a:gd name="connsiteY77" fmla="*/ 17253 h 1846053"/>
                <a:gd name="connsiteX78" fmla="*/ 149524 w 501656"/>
                <a:gd name="connsiteY78" fmla="*/ 23004 h 1846053"/>
                <a:gd name="connsiteX79" fmla="*/ 138022 w 501656"/>
                <a:gd name="connsiteY79" fmla="*/ 46007 h 1846053"/>
                <a:gd name="connsiteX80" fmla="*/ 138022 w 501656"/>
                <a:gd name="connsiteY80" fmla="*/ 40256 h 1846053"/>
                <a:gd name="connsiteX0" fmla="*/ 195532 w 501656"/>
                <a:gd name="connsiteY0" fmla="*/ 17253 h 1846053"/>
                <a:gd name="connsiteX1" fmla="*/ 195532 w 501656"/>
                <a:gd name="connsiteY1" fmla="*/ 17253 h 1846053"/>
                <a:gd name="connsiteX2" fmla="*/ 138022 w 501656"/>
                <a:gd name="connsiteY2" fmla="*/ 57509 h 1846053"/>
                <a:gd name="connsiteX3" fmla="*/ 120769 w 501656"/>
                <a:gd name="connsiteY3" fmla="*/ 69011 h 1846053"/>
                <a:gd name="connsiteX4" fmla="*/ 109268 w 501656"/>
                <a:gd name="connsiteY4" fmla="*/ 86264 h 1846053"/>
                <a:gd name="connsiteX5" fmla="*/ 92015 w 501656"/>
                <a:gd name="connsiteY5" fmla="*/ 103517 h 1846053"/>
                <a:gd name="connsiteX6" fmla="*/ 97766 w 501656"/>
                <a:gd name="connsiteY6" fmla="*/ 230038 h 1846053"/>
                <a:gd name="connsiteX7" fmla="*/ 120769 w 501656"/>
                <a:gd name="connsiteY7" fmla="*/ 281796 h 1846053"/>
                <a:gd name="connsiteX8" fmla="*/ 126520 w 501656"/>
                <a:gd name="connsiteY8" fmla="*/ 299049 h 1846053"/>
                <a:gd name="connsiteX9" fmla="*/ 115018 w 501656"/>
                <a:gd name="connsiteY9" fmla="*/ 316302 h 1846053"/>
                <a:gd name="connsiteX10" fmla="*/ 92015 w 501656"/>
                <a:gd name="connsiteY10" fmla="*/ 322053 h 1846053"/>
                <a:gd name="connsiteX11" fmla="*/ 40256 w 501656"/>
                <a:gd name="connsiteY11" fmla="*/ 345056 h 1846053"/>
                <a:gd name="connsiteX12" fmla="*/ 23003 w 501656"/>
                <a:gd name="connsiteY12" fmla="*/ 506083 h 1846053"/>
                <a:gd name="connsiteX13" fmla="*/ 17252 w 501656"/>
                <a:gd name="connsiteY13" fmla="*/ 523336 h 1846053"/>
                <a:gd name="connsiteX14" fmla="*/ 0 w 501656"/>
                <a:gd name="connsiteY14" fmla="*/ 586596 h 1846053"/>
                <a:gd name="connsiteX15" fmla="*/ 33565 w 501656"/>
                <a:gd name="connsiteY15" fmla="*/ 626853 h 1846053"/>
                <a:gd name="connsiteX16" fmla="*/ 49747 w 501656"/>
                <a:gd name="connsiteY16" fmla="*/ 668443 h 1846053"/>
                <a:gd name="connsiteX17" fmla="*/ 17252 w 501656"/>
                <a:gd name="connsiteY17" fmla="*/ 741872 h 1846053"/>
                <a:gd name="connsiteX18" fmla="*/ 28754 w 501656"/>
                <a:gd name="connsiteY18" fmla="*/ 776377 h 1846053"/>
                <a:gd name="connsiteX19" fmla="*/ 34505 w 501656"/>
                <a:gd name="connsiteY19" fmla="*/ 799381 h 1846053"/>
                <a:gd name="connsiteX20" fmla="*/ 40256 w 501656"/>
                <a:gd name="connsiteY20" fmla="*/ 948905 h 1846053"/>
                <a:gd name="connsiteX21" fmla="*/ 46007 w 501656"/>
                <a:gd name="connsiteY21" fmla="*/ 971909 h 1846053"/>
                <a:gd name="connsiteX22" fmla="*/ 57509 w 501656"/>
                <a:gd name="connsiteY22" fmla="*/ 1006415 h 1846053"/>
                <a:gd name="connsiteX23" fmla="*/ 69011 w 501656"/>
                <a:gd name="connsiteY23" fmla="*/ 1075426 h 1846053"/>
                <a:gd name="connsiteX24" fmla="*/ 74762 w 501656"/>
                <a:gd name="connsiteY24" fmla="*/ 1092679 h 1846053"/>
                <a:gd name="connsiteX25" fmla="*/ 80513 w 501656"/>
                <a:gd name="connsiteY25" fmla="*/ 1115683 h 1846053"/>
                <a:gd name="connsiteX26" fmla="*/ 97766 w 501656"/>
                <a:gd name="connsiteY26" fmla="*/ 1167441 h 1846053"/>
                <a:gd name="connsiteX27" fmla="*/ 103517 w 501656"/>
                <a:gd name="connsiteY27" fmla="*/ 1184694 h 1846053"/>
                <a:gd name="connsiteX28" fmla="*/ 97766 w 501656"/>
                <a:gd name="connsiteY28" fmla="*/ 1644770 h 1846053"/>
                <a:gd name="connsiteX29" fmla="*/ 92015 w 501656"/>
                <a:gd name="connsiteY29" fmla="*/ 1662022 h 1846053"/>
                <a:gd name="connsiteX30" fmla="*/ 97766 w 501656"/>
                <a:gd name="connsiteY30" fmla="*/ 1725283 h 1846053"/>
                <a:gd name="connsiteX31" fmla="*/ 92015 w 501656"/>
                <a:gd name="connsiteY31" fmla="*/ 1782792 h 1846053"/>
                <a:gd name="connsiteX32" fmla="*/ 80513 w 501656"/>
                <a:gd name="connsiteY32" fmla="*/ 1817298 h 1846053"/>
                <a:gd name="connsiteX33" fmla="*/ 86264 w 501656"/>
                <a:gd name="connsiteY33" fmla="*/ 1840302 h 1846053"/>
                <a:gd name="connsiteX34" fmla="*/ 103517 w 501656"/>
                <a:gd name="connsiteY34" fmla="*/ 1846053 h 1846053"/>
                <a:gd name="connsiteX35" fmla="*/ 161026 w 501656"/>
                <a:gd name="connsiteY35" fmla="*/ 1840302 h 1846053"/>
                <a:gd name="connsiteX36" fmla="*/ 155275 w 501656"/>
                <a:gd name="connsiteY36" fmla="*/ 1823049 h 1846053"/>
                <a:gd name="connsiteX37" fmla="*/ 172528 w 501656"/>
                <a:gd name="connsiteY37" fmla="*/ 1788543 h 1846053"/>
                <a:gd name="connsiteX38" fmla="*/ 195532 w 501656"/>
                <a:gd name="connsiteY38" fmla="*/ 1736785 h 1846053"/>
                <a:gd name="connsiteX39" fmla="*/ 212785 w 501656"/>
                <a:gd name="connsiteY39" fmla="*/ 1731034 h 1846053"/>
                <a:gd name="connsiteX40" fmla="*/ 253041 w 501656"/>
                <a:gd name="connsiteY40" fmla="*/ 1736785 h 1846053"/>
                <a:gd name="connsiteX41" fmla="*/ 270294 w 501656"/>
                <a:gd name="connsiteY41" fmla="*/ 1771290 h 1846053"/>
                <a:gd name="connsiteX42" fmla="*/ 287547 w 501656"/>
                <a:gd name="connsiteY42" fmla="*/ 1782792 h 1846053"/>
                <a:gd name="connsiteX43" fmla="*/ 299049 w 501656"/>
                <a:gd name="connsiteY43" fmla="*/ 1800045 h 1846053"/>
                <a:gd name="connsiteX44" fmla="*/ 362309 w 501656"/>
                <a:gd name="connsiteY44" fmla="*/ 1805796 h 1846053"/>
                <a:gd name="connsiteX45" fmla="*/ 373811 w 501656"/>
                <a:gd name="connsiteY45" fmla="*/ 1765539 h 1846053"/>
                <a:gd name="connsiteX46" fmla="*/ 385313 w 501656"/>
                <a:gd name="connsiteY46" fmla="*/ 1731034 h 1846053"/>
                <a:gd name="connsiteX47" fmla="*/ 391064 w 501656"/>
                <a:gd name="connsiteY47" fmla="*/ 1713781 h 1846053"/>
                <a:gd name="connsiteX48" fmla="*/ 396815 w 501656"/>
                <a:gd name="connsiteY48" fmla="*/ 1696528 h 1846053"/>
                <a:gd name="connsiteX49" fmla="*/ 391064 w 501656"/>
                <a:gd name="connsiteY49" fmla="*/ 1650521 h 1846053"/>
                <a:gd name="connsiteX50" fmla="*/ 379562 w 501656"/>
                <a:gd name="connsiteY50" fmla="*/ 1610264 h 1846053"/>
                <a:gd name="connsiteX51" fmla="*/ 373811 w 501656"/>
                <a:gd name="connsiteY51" fmla="*/ 1449238 h 1846053"/>
                <a:gd name="connsiteX52" fmla="*/ 368060 w 501656"/>
                <a:gd name="connsiteY52" fmla="*/ 1431985 h 1846053"/>
                <a:gd name="connsiteX53" fmla="*/ 373811 w 501656"/>
                <a:gd name="connsiteY53" fmla="*/ 1299713 h 1846053"/>
                <a:gd name="connsiteX54" fmla="*/ 379562 w 501656"/>
                <a:gd name="connsiteY54" fmla="*/ 1276709 h 1846053"/>
                <a:gd name="connsiteX55" fmla="*/ 385313 w 501656"/>
                <a:gd name="connsiteY55" fmla="*/ 1247955 h 1846053"/>
                <a:gd name="connsiteX56" fmla="*/ 391064 w 501656"/>
                <a:gd name="connsiteY56" fmla="*/ 1207698 h 1846053"/>
                <a:gd name="connsiteX57" fmla="*/ 402566 w 501656"/>
                <a:gd name="connsiteY57" fmla="*/ 1173192 h 1846053"/>
                <a:gd name="connsiteX58" fmla="*/ 419818 w 501656"/>
                <a:gd name="connsiteY58" fmla="*/ 1121434 h 1846053"/>
                <a:gd name="connsiteX59" fmla="*/ 437071 w 501656"/>
                <a:gd name="connsiteY59" fmla="*/ 1069675 h 1846053"/>
                <a:gd name="connsiteX60" fmla="*/ 442822 w 501656"/>
                <a:gd name="connsiteY60" fmla="*/ 1052422 h 1846053"/>
                <a:gd name="connsiteX61" fmla="*/ 454324 w 501656"/>
                <a:gd name="connsiteY61" fmla="*/ 1012166 h 1846053"/>
                <a:gd name="connsiteX62" fmla="*/ 465826 w 501656"/>
                <a:gd name="connsiteY62" fmla="*/ 971909 h 1846053"/>
                <a:gd name="connsiteX63" fmla="*/ 471577 w 501656"/>
                <a:gd name="connsiteY63" fmla="*/ 759124 h 1846053"/>
                <a:gd name="connsiteX64" fmla="*/ 488830 w 501656"/>
                <a:gd name="connsiteY64" fmla="*/ 701615 h 1846053"/>
                <a:gd name="connsiteX65" fmla="*/ 494581 w 501656"/>
                <a:gd name="connsiteY65" fmla="*/ 684362 h 1846053"/>
                <a:gd name="connsiteX66" fmla="*/ 500332 w 501656"/>
                <a:gd name="connsiteY66" fmla="*/ 667109 h 1846053"/>
                <a:gd name="connsiteX67" fmla="*/ 494581 w 501656"/>
                <a:gd name="connsiteY67" fmla="*/ 327804 h 1846053"/>
                <a:gd name="connsiteX68" fmla="*/ 460075 w 501656"/>
                <a:gd name="connsiteY68" fmla="*/ 316302 h 1846053"/>
                <a:gd name="connsiteX69" fmla="*/ 391064 w 501656"/>
                <a:gd name="connsiteY69" fmla="*/ 293298 h 1846053"/>
                <a:gd name="connsiteX70" fmla="*/ 368060 w 501656"/>
                <a:gd name="connsiteY70" fmla="*/ 281796 h 1846053"/>
                <a:gd name="connsiteX71" fmla="*/ 350807 w 501656"/>
                <a:gd name="connsiteY71" fmla="*/ 276045 h 1846053"/>
                <a:gd name="connsiteX72" fmla="*/ 345056 w 501656"/>
                <a:gd name="connsiteY72" fmla="*/ 258792 h 1846053"/>
                <a:gd name="connsiteX73" fmla="*/ 339305 w 501656"/>
                <a:gd name="connsiteY73" fmla="*/ 74762 h 1846053"/>
                <a:gd name="connsiteX74" fmla="*/ 281796 w 501656"/>
                <a:gd name="connsiteY74" fmla="*/ 28755 h 1846053"/>
                <a:gd name="connsiteX75" fmla="*/ 264543 w 501656"/>
                <a:gd name="connsiteY75" fmla="*/ 23004 h 1846053"/>
                <a:gd name="connsiteX76" fmla="*/ 218535 w 501656"/>
                <a:gd name="connsiteY76" fmla="*/ 0 h 1846053"/>
                <a:gd name="connsiteX77" fmla="*/ 166777 w 501656"/>
                <a:gd name="connsiteY77" fmla="*/ 17253 h 1846053"/>
                <a:gd name="connsiteX78" fmla="*/ 149524 w 501656"/>
                <a:gd name="connsiteY78" fmla="*/ 23004 h 1846053"/>
                <a:gd name="connsiteX79" fmla="*/ 138022 w 501656"/>
                <a:gd name="connsiteY79" fmla="*/ 46007 h 1846053"/>
                <a:gd name="connsiteX80" fmla="*/ 138022 w 501656"/>
                <a:gd name="connsiteY80" fmla="*/ 40256 h 1846053"/>
                <a:gd name="connsiteX0" fmla="*/ 178950 w 485074"/>
                <a:gd name="connsiteY0" fmla="*/ 17253 h 1846053"/>
                <a:gd name="connsiteX1" fmla="*/ 178950 w 485074"/>
                <a:gd name="connsiteY1" fmla="*/ 17253 h 1846053"/>
                <a:gd name="connsiteX2" fmla="*/ 121440 w 485074"/>
                <a:gd name="connsiteY2" fmla="*/ 57509 h 1846053"/>
                <a:gd name="connsiteX3" fmla="*/ 104187 w 485074"/>
                <a:gd name="connsiteY3" fmla="*/ 69011 h 1846053"/>
                <a:gd name="connsiteX4" fmla="*/ 92686 w 485074"/>
                <a:gd name="connsiteY4" fmla="*/ 86264 h 1846053"/>
                <a:gd name="connsiteX5" fmla="*/ 75433 w 485074"/>
                <a:gd name="connsiteY5" fmla="*/ 103517 h 1846053"/>
                <a:gd name="connsiteX6" fmla="*/ 81184 w 485074"/>
                <a:gd name="connsiteY6" fmla="*/ 230038 h 1846053"/>
                <a:gd name="connsiteX7" fmla="*/ 104187 w 485074"/>
                <a:gd name="connsiteY7" fmla="*/ 281796 h 1846053"/>
                <a:gd name="connsiteX8" fmla="*/ 109938 w 485074"/>
                <a:gd name="connsiteY8" fmla="*/ 299049 h 1846053"/>
                <a:gd name="connsiteX9" fmla="*/ 98436 w 485074"/>
                <a:gd name="connsiteY9" fmla="*/ 316302 h 1846053"/>
                <a:gd name="connsiteX10" fmla="*/ 75433 w 485074"/>
                <a:gd name="connsiteY10" fmla="*/ 322053 h 1846053"/>
                <a:gd name="connsiteX11" fmla="*/ 23674 w 485074"/>
                <a:gd name="connsiteY11" fmla="*/ 345056 h 1846053"/>
                <a:gd name="connsiteX12" fmla="*/ 6421 w 485074"/>
                <a:gd name="connsiteY12" fmla="*/ 506083 h 1846053"/>
                <a:gd name="connsiteX13" fmla="*/ 670 w 485074"/>
                <a:gd name="connsiteY13" fmla="*/ 523336 h 1846053"/>
                <a:gd name="connsiteX14" fmla="*/ 11232 w 485074"/>
                <a:gd name="connsiteY14" fmla="*/ 586596 h 1846053"/>
                <a:gd name="connsiteX15" fmla="*/ 16983 w 485074"/>
                <a:gd name="connsiteY15" fmla="*/ 626853 h 1846053"/>
                <a:gd name="connsiteX16" fmla="*/ 33165 w 485074"/>
                <a:gd name="connsiteY16" fmla="*/ 668443 h 1846053"/>
                <a:gd name="connsiteX17" fmla="*/ 670 w 485074"/>
                <a:gd name="connsiteY17" fmla="*/ 741872 h 1846053"/>
                <a:gd name="connsiteX18" fmla="*/ 12172 w 485074"/>
                <a:gd name="connsiteY18" fmla="*/ 776377 h 1846053"/>
                <a:gd name="connsiteX19" fmla="*/ 17923 w 485074"/>
                <a:gd name="connsiteY19" fmla="*/ 799381 h 1846053"/>
                <a:gd name="connsiteX20" fmla="*/ 23674 w 485074"/>
                <a:gd name="connsiteY20" fmla="*/ 948905 h 1846053"/>
                <a:gd name="connsiteX21" fmla="*/ 29425 w 485074"/>
                <a:gd name="connsiteY21" fmla="*/ 971909 h 1846053"/>
                <a:gd name="connsiteX22" fmla="*/ 40927 w 485074"/>
                <a:gd name="connsiteY22" fmla="*/ 1006415 h 1846053"/>
                <a:gd name="connsiteX23" fmla="*/ 52429 w 485074"/>
                <a:gd name="connsiteY23" fmla="*/ 1075426 h 1846053"/>
                <a:gd name="connsiteX24" fmla="*/ 58180 w 485074"/>
                <a:gd name="connsiteY24" fmla="*/ 1092679 h 1846053"/>
                <a:gd name="connsiteX25" fmla="*/ 63931 w 485074"/>
                <a:gd name="connsiteY25" fmla="*/ 1115683 h 1846053"/>
                <a:gd name="connsiteX26" fmla="*/ 81184 w 485074"/>
                <a:gd name="connsiteY26" fmla="*/ 1167441 h 1846053"/>
                <a:gd name="connsiteX27" fmla="*/ 86935 w 485074"/>
                <a:gd name="connsiteY27" fmla="*/ 1184694 h 1846053"/>
                <a:gd name="connsiteX28" fmla="*/ 81184 w 485074"/>
                <a:gd name="connsiteY28" fmla="*/ 1644770 h 1846053"/>
                <a:gd name="connsiteX29" fmla="*/ 75433 w 485074"/>
                <a:gd name="connsiteY29" fmla="*/ 1662022 h 1846053"/>
                <a:gd name="connsiteX30" fmla="*/ 81184 w 485074"/>
                <a:gd name="connsiteY30" fmla="*/ 1725283 h 1846053"/>
                <a:gd name="connsiteX31" fmla="*/ 75433 w 485074"/>
                <a:gd name="connsiteY31" fmla="*/ 1782792 h 1846053"/>
                <a:gd name="connsiteX32" fmla="*/ 63931 w 485074"/>
                <a:gd name="connsiteY32" fmla="*/ 1817298 h 1846053"/>
                <a:gd name="connsiteX33" fmla="*/ 69682 w 485074"/>
                <a:gd name="connsiteY33" fmla="*/ 1840302 h 1846053"/>
                <a:gd name="connsiteX34" fmla="*/ 86935 w 485074"/>
                <a:gd name="connsiteY34" fmla="*/ 1846053 h 1846053"/>
                <a:gd name="connsiteX35" fmla="*/ 144444 w 485074"/>
                <a:gd name="connsiteY35" fmla="*/ 1840302 h 1846053"/>
                <a:gd name="connsiteX36" fmla="*/ 138693 w 485074"/>
                <a:gd name="connsiteY36" fmla="*/ 1823049 h 1846053"/>
                <a:gd name="connsiteX37" fmla="*/ 155946 w 485074"/>
                <a:gd name="connsiteY37" fmla="*/ 1788543 h 1846053"/>
                <a:gd name="connsiteX38" fmla="*/ 178950 w 485074"/>
                <a:gd name="connsiteY38" fmla="*/ 1736785 h 1846053"/>
                <a:gd name="connsiteX39" fmla="*/ 196203 w 485074"/>
                <a:gd name="connsiteY39" fmla="*/ 1731034 h 1846053"/>
                <a:gd name="connsiteX40" fmla="*/ 236459 w 485074"/>
                <a:gd name="connsiteY40" fmla="*/ 1736785 h 1846053"/>
                <a:gd name="connsiteX41" fmla="*/ 253712 w 485074"/>
                <a:gd name="connsiteY41" fmla="*/ 1771290 h 1846053"/>
                <a:gd name="connsiteX42" fmla="*/ 270965 w 485074"/>
                <a:gd name="connsiteY42" fmla="*/ 1782792 h 1846053"/>
                <a:gd name="connsiteX43" fmla="*/ 282467 w 485074"/>
                <a:gd name="connsiteY43" fmla="*/ 1800045 h 1846053"/>
                <a:gd name="connsiteX44" fmla="*/ 345727 w 485074"/>
                <a:gd name="connsiteY44" fmla="*/ 1805796 h 1846053"/>
                <a:gd name="connsiteX45" fmla="*/ 357229 w 485074"/>
                <a:gd name="connsiteY45" fmla="*/ 1765539 h 1846053"/>
                <a:gd name="connsiteX46" fmla="*/ 368731 w 485074"/>
                <a:gd name="connsiteY46" fmla="*/ 1731034 h 1846053"/>
                <a:gd name="connsiteX47" fmla="*/ 374482 w 485074"/>
                <a:gd name="connsiteY47" fmla="*/ 1713781 h 1846053"/>
                <a:gd name="connsiteX48" fmla="*/ 380233 w 485074"/>
                <a:gd name="connsiteY48" fmla="*/ 1696528 h 1846053"/>
                <a:gd name="connsiteX49" fmla="*/ 374482 w 485074"/>
                <a:gd name="connsiteY49" fmla="*/ 1650521 h 1846053"/>
                <a:gd name="connsiteX50" fmla="*/ 362980 w 485074"/>
                <a:gd name="connsiteY50" fmla="*/ 1610264 h 1846053"/>
                <a:gd name="connsiteX51" fmla="*/ 357229 w 485074"/>
                <a:gd name="connsiteY51" fmla="*/ 1449238 h 1846053"/>
                <a:gd name="connsiteX52" fmla="*/ 351478 w 485074"/>
                <a:gd name="connsiteY52" fmla="*/ 1431985 h 1846053"/>
                <a:gd name="connsiteX53" fmla="*/ 357229 w 485074"/>
                <a:gd name="connsiteY53" fmla="*/ 1299713 h 1846053"/>
                <a:gd name="connsiteX54" fmla="*/ 362980 w 485074"/>
                <a:gd name="connsiteY54" fmla="*/ 1276709 h 1846053"/>
                <a:gd name="connsiteX55" fmla="*/ 368731 w 485074"/>
                <a:gd name="connsiteY55" fmla="*/ 1247955 h 1846053"/>
                <a:gd name="connsiteX56" fmla="*/ 374482 w 485074"/>
                <a:gd name="connsiteY56" fmla="*/ 1207698 h 1846053"/>
                <a:gd name="connsiteX57" fmla="*/ 385984 w 485074"/>
                <a:gd name="connsiteY57" fmla="*/ 1173192 h 1846053"/>
                <a:gd name="connsiteX58" fmla="*/ 403236 w 485074"/>
                <a:gd name="connsiteY58" fmla="*/ 1121434 h 1846053"/>
                <a:gd name="connsiteX59" fmla="*/ 420489 w 485074"/>
                <a:gd name="connsiteY59" fmla="*/ 1069675 h 1846053"/>
                <a:gd name="connsiteX60" fmla="*/ 426240 w 485074"/>
                <a:gd name="connsiteY60" fmla="*/ 1052422 h 1846053"/>
                <a:gd name="connsiteX61" fmla="*/ 437742 w 485074"/>
                <a:gd name="connsiteY61" fmla="*/ 1012166 h 1846053"/>
                <a:gd name="connsiteX62" fmla="*/ 449244 w 485074"/>
                <a:gd name="connsiteY62" fmla="*/ 971909 h 1846053"/>
                <a:gd name="connsiteX63" fmla="*/ 454995 w 485074"/>
                <a:gd name="connsiteY63" fmla="*/ 759124 h 1846053"/>
                <a:gd name="connsiteX64" fmla="*/ 472248 w 485074"/>
                <a:gd name="connsiteY64" fmla="*/ 701615 h 1846053"/>
                <a:gd name="connsiteX65" fmla="*/ 477999 w 485074"/>
                <a:gd name="connsiteY65" fmla="*/ 684362 h 1846053"/>
                <a:gd name="connsiteX66" fmla="*/ 483750 w 485074"/>
                <a:gd name="connsiteY66" fmla="*/ 667109 h 1846053"/>
                <a:gd name="connsiteX67" fmla="*/ 477999 w 485074"/>
                <a:gd name="connsiteY67" fmla="*/ 327804 h 1846053"/>
                <a:gd name="connsiteX68" fmla="*/ 443493 w 485074"/>
                <a:gd name="connsiteY68" fmla="*/ 316302 h 1846053"/>
                <a:gd name="connsiteX69" fmla="*/ 374482 w 485074"/>
                <a:gd name="connsiteY69" fmla="*/ 293298 h 1846053"/>
                <a:gd name="connsiteX70" fmla="*/ 351478 w 485074"/>
                <a:gd name="connsiteY70" fmla="*/ 281796 h 1846053"/>
                <a:gd name="connsiteX71" fmla="*/ 334225 w 485074"/>
                <a:gd name="connsiteY71" fmla="*/ 276045 h 1846053"/>
                <a:gd name="connsiteX72" fmla="*/ 328474 w 485074"/>
                <a:gd name="connsiteY72" fmla="*/ 258792 h 1846053"/>
                <a:gd name="connsiteX73" fmla="*/ 322723 w 485074"/>
                <a:gd name="connsiteY73" fmla="*/ 74762 h 1846053"/>
                <a:gd name="connsiteX74" fmla="*/ 265214 w 485074"/>
                <a:gd name="connsiteY74" fmla="*/ 28755 h 1846053"/>
                <a:gd name="connsiteX75" fmla="*/ 247961 w 485074"/>
                <a:gd name="connsiteY75" fmla="*/ 23004 h 1846053"/>
                <a:gd name="connsiteX76" fmla="*/ 201953 w 485074"/>
                <a:gd name="connsiteY76" fmla="*/ 0 h 1846053"/>
                <a:gd name="connsiteX77" fmla="*/ 150195 w 485074"/>
                <a:gd name="connsiteY77" fmla="*/ 17253 h 1846053"/>
                <a:gd name="connsiteX78" fmla="*/ 132942 w 485074"/>
                <a:gd name="connsiteY78" fmla="*/ 23004 h 1846053"/>
                <a:gd name="connsiteX79" fmla="*/ 121440 w 485074"/>
                <a:gd name="connsiteY79" fmla="*/ 46007 h 1846053"/>
                <a:gd name="connsiteX80" fmla="*/ 121440 w 485074"/>
                <a:gd name="connsiteY80" fmla="*/ 40256 h 1846053"/>
                <a:gd name="connsiteX0" fmla="*/ 178532 w 484656"/>
                <a:gd name="connsiteY0" fmla="*/ 17253 h 1846053"/>
                <a:gd name="connsiteX1" fmla="*/ 178532 w 484656"/>
                <a:gd name="connsiteY1" fmla="*/ 17253 h 1846053"/>
                <a:gd name="connsiteX2" fmla="*/ 121022 w 484656"/>
                <a:gd name="connsiteY2" fmla="*/ 57509 h 1846053"/>
                <a:gd name="connsiteX3" fmla="*/ 103769 w 484656"/>
                <a:gd name="connsiteY3" fmla="*/ 69011 h 1846053"/>
                <a:gd name="connsiteX4" fmla="*/ 92268 w 484656"/>
                <a:gd name="connsiteY4" fmla="*/ 86264 h 1846053"/>
                <a:gd name="connsiteX5" fmla="*/ 75015 w 484656"/>
                <a:gd name="connsiteY5" fmla="*/ 103517 h 1846053"/>
                <a:gd name="connsiteX6" fmla="*/ 80766 w 484656"/>
                <a:gd name="connsiteY6" fmla="*/ 230038 h 1846053"/>
                <a:gd name="connsiteX7" fmla="*/ 103769 w 484656"/>
                <a:gd name="connsiteY7" fmla="*/ 281796 h 1846053"/>
                <a:gd name="connsiteX8" fmla="*/ 109520 w 484656"/>
                <a:gd name="connsiteY8" fmla="*/ 299049 h 1846053"/>
                <a:gd name="connsiteX9" fmla="*/ 98018 w 484656"/>
                <a:gd name="connsiteY9" fmla="*/ 316302 h 1846053"/>
                <a:gd name="connsiteX10" fmla="*/ 75015 w 484656"/>
                <a:gd name="connsiteY10" fmla="*/ 322053 h 1846053"/>
                <a:gd name="connsiteX11" fmla="*/ 23256 w 484656"/>
                <a:gd name="connsiteY11" fmla="*/ 345056 h 1846053"/>
                <a:gd name="connsiteX12" fmla="*/ 6003 w 484656"/>
                <a:gd name="connsiteY12" fmla="*/ 506083 h 1846053"/>
                <a:gd name="connsiteX13" fmla="*/ 252 w 484656"/>
                <a:gd name="connsiteY13" fmla="*/ 523336 h 1846053"/>
                <a:gd name="connsiteX14" fmla="*/ 10814 w 484656"/>
                <a:gd name="connsiteY14" fmla="*/ 586596 h 1846053"/>
                <a:gd name="connsiteX15" fmla="*/ 16565 w 484656"/>
                <a:gd name="connsiteY15" fmla="*/ 626853 h 1846053"/>
                <a:gd name="connsiteX16" fmla="*/ 32747 w 484656"/>
                <a:gd name="connsiteY16" fmla="*/ 668443 h 1846053"/>
                <a:gd name="connsiteX17" fmla="*/ 252 w 484656"/>
                <a:gd name="connsiteY17" fmla="*/ 741872 h 1846053"/>
                <a:gd name="connsiteX18" fmla="*/ 53476 w 484656"/>
                <a:gd name="connsiteY18" fmla="*/ 776377 h 1846053"/>
                <a:gd name="connsiteX19" fmla="*/ 17505 w 484656"/>
                <a:gd name="connsiteY19" fmla="*/ 799381 h 1846053"/>
                <a:gd name="connsiteX20" fmla="*/ 23256 w 484656"/>
                <a:gd name="connsiteY20" fmla="*/ 948905 h 1846053"/>
                <a:gd name="connsiteX21" fmla="*/ 29007 w 484656"/>
                <a:gd name="connsiteY21" fmla="*/ 971909 h 1846053"/>
                <a:gd name="connsiteX22" fmla="*/ 40509 w 484656"/>
                <a:gd name="connsiteY22" fmla="*/ 1006415 h 1846053"/>
                <a:gd name="connsiteX23" fmla="*/ 52011 w 484656"/>
                <a:gd name="connsiteY23" fmla="*/ 1075426 h 1846053"/>
                <a:gd name="connsiteX24" fmla="*/ 57762 w 484656"/>
                <a:gd name="connsiteY24" fmla="*/ 1092679 h 1846053"/>
                <a:gd name="connsiteX25" fmla="*/ 63513 w 484656"/>
                <a:gd name="connsiteY25" fmla="*/ 1115683 h 1846053"/>
                <a:gd name="connsiteX26" fmla="*/ 80766 w 484656"/>
                <a:gd name="connsiteY26" fmla="*/ 1167441 h 1846053"/>
                <a:gd name="connsiteX27" fmla="*/ 86517 w 484656"/>
                <a:gd name="connsiteY27" fmla="*/ 1184694 h 1846053"/>
                <a:gd name="connsiteX28" fmla="*/ 80766 w 484656"/>
                <a:gd name="connsiteY28" fmla="*/ 1644770 h 1846053"/>
                <a:gd name="connsiteX29" fmla="*/ 75015 w 484656"/>
                <a:gd name="connsiteY29" fmla="*/ 1662022 h 1846053"/>
                <a:gd name="connsiteX30" fmla="*/ 80766 w 484656"/>
                <a:gd name="connsiteY30" fmla="*/ 1725283 h 1846053"/>
                <a:gd name="connsiteX31" fmla="*/ 75015 w 484656"/>
                <a:gd name="connsiteY31" fmla="*/ 1782792 h 1846053"/>
                <a:gd name="connsiteX32" fmla="*/ 63513 w 484656"/>
                <a:gd name="connsiteY32" fmla="*/ 1817298 h 1846053"/>
                <a:gd name="connsiteX33" fmla="*/ 69264 w 484656"/>
                <a:gd name="connsiteY33" fmla="*/ 1840302 h 1846053"/>
                <a:gd name="connsiteX34" fmla="*/ 86517 w 484656"/>
                <a:gd name="connsiteY34" fmla="*/ 1846053 h 1846053"/>
                <a:gd name="connsiteX35" fmla="*/ 144026 w 484656"/>
                <a:gd name="connsiteY35" fmla="*/ 1840302 h 1846053"/>
                <a:gd name="connsiteX36" fmla="*/ 138275 w 484656"/>
                <a:gd name="connsiteY36" fmla="*/ 1823049 h 1846053"/>
                <a:gd name="connsiteX37" fmla="*/ 155528 w 484656"/>
                <a:gd name="connsiteY37" fmla="*/ 1788543 h 1846053"/>
                <a:gd name="connsiteX38" fmla="*/ 178532 w 484656"/>
                <a:gd name="connsiteY38" fmla="*/ 1736785 h 1846053"/>
                <a:gd name="connsiteX39" fmla="*/ 195785 w 484656"/>
                <a:gd name="connsiteY39" fmla="*/ 1731034 h 1846053"/>
                <a:gd name="connsiteX40" fmla="*/ 236041 w 484656"/>
                <a:gd name="connsiteY40" fmla="*/ 1736785 h 1846053"/>
                <a:gd name="connsiteX41" fmla="*/ 253294 w 484656"/>
                <a:gd name="connsiteY41" fmla="*/ 1771290 h 1846053"/>
                <a:gd name="connsiteX42" fmla="*/ 270547 w 484656"/>
                <a:gd name="connsiteY42" fmla="*/ 1782792 h 1846053"/>
                <a:gd name="connsiteX43" fmla="*/ 282049 w 484656"/>
                <a:gd name="connsiteY43" fmla="*/ 1800045 h 1846053"/>
                <a:gd name="connsiteX44" fmla="*/ 345309 w 484656"/>
                <a:gd name="connsiteY44" fmla="*/ 1805796 h 1846053"/>
                <a:gd name="connsiteX45" fmla="*/ 356811 w 484656"/>
                <a:gd name="connsiteY45" fmla="*/ 1765539 h 1846053"/>
                <a:gd name="connsiteX46" fmla="*/ 368313 w 484656"/>
                <a:gd name="connsiteY46" fmla="*/ 1731034 h 1846053"/>
                <a:gd name="connsiteX47" fmla="*/ 374064 w 484656"/>
                <a:gd name="connsiteY47" fmla="*/ 1713781 h 1846053"/>
                <a:gd name="connsiteX48" fmla="*/ 379815 w 484656"/>
                <a:gd name="connsiteY48" fmla="*/ 1696528 h 1846053"/>
                <a:gd name="connsiteX49" fmla="*/ 374064 w 484656"/>
                <a:gd name="connsiteY49" fmla="*/ 1650521 h 1846053"/>
                <a:gd name="connsiteX50" fmla="*/ 362562 w 484656"/>
                <a:gd name="connsiteY50" fmla="*/ 1610264 h 1846053"/>
                <a:gd name="connsiteX51" fmla="*/ 356811 w 484656"/>
                <a:gd name="connsiteY51" fmla="*/ 1449238 h 1846053"/>
                <a:gd name="connsiteX52" fmla="*/ 351060 w 484656"/>
                <a:gd name="connsiteY52" fmla="*/ 1431985 h 1846053"/>
                <a:gd name="connsiteX53" fmla="*/ 356811 w 484656"/>
                <a:gd name="connsiteY53" fmla="*/ 1299713 h 1846053"/>
                <a:gd name="connsiteX54" fmla="*/ 362562 w 484656"/>
                <a:gd name="connsiteY54" fmla="*/ 1276709 h 1846053"/>
                <a:gd name="connsiteX55" fmla="*/ 368313 w 484656"/>
                <a:gd name="connsiteY55" fmla="*/ 1247955 h 1846053"/>
                <a:gd name="connsiteX56" fmla="*/ 374064 w 484656"/>
                <a:gd name="connsiteY56" fmla="*/ 1207698 h 1846053"/>
                <a:gd name="connsiteX57" fmla="*/ 385566 w 484656"/>
                <a:gd name="connsiteY57" fmla="*/ 1173192 h 1846053"/>
                <a:gd name="connsiteX58" fmla="*/ 402818 w 484656"/>
                <a:gd name="connsiteY58" fmla="*/ 1121434 h 1846053"/>
                <a:gd name="connsiteX59" fmla="*/ 420071 w 484656"/>
                <a:gd name="connsiteY59" fmla="*/ 1069675 h 1846053"/>
                <a:gd name="connsiteX60" fmla="*/ 425822 w 484656"/>
                <a:gd name="connsiteY60" fmla="*/ 1052422 h 1846053"/>
                <a:gd name="connsiteX61" fmla="*/ 437324 w 484656"/>
                <a:gd name="connsiteY61" fmla="*/ 1012166 h 1846053"/>
                <a:gd name="connsiteX62" fmla="*/ 448826 w 484656"/>
                <a:gd name="connsiteY62" fmla="*/ 971909 h 1846053"/>
                <a:gd name="connsiteX63" fmla="*/ 454577 w 484656"/>
                <a:gd name="connsiteY63" fmla="*/ 759124 h 1846053"/>
                <a:gd name="connsiteX64" fmla="*/ 471830 w 484656"/>
                <a:gd name="connsiteY64" fmla="*/ 701615 h 1846053"/>
                <a:gd name="connsiteX65" fmla="*/ 477581 w 484656"/>
                <a:gd name="connsiteY65" fmla="*/ 684362 h 1846053"/>
                <a:gd name="connsiteX66" fmla="*/ 483332 w 484656"/>
                <a:gd name="connsiteY66" fmla="*/ 667109 h 1846053"/>
                <a:gd name="connsiteX67" fmla="*/ 477581 w 484656"/>
                <a:gd name="connsiteY67" fmla="*/ 327804 h 1846053"/>
                <a:gd name="connsiteX68" fmla="*/ 443075 w 484656"/>
                <a:gd name="connsiteY68" fmla="*/ 316302 h 1846053"/>
                <a:gd name="connsiteX69" fmla="*/ 374064 w 484656"/>
                <a:gd name="connsiteY69" fmla="*/ 293298 h 1846053"/>
                <a:gd name="connsiteX70" fmla="*/ 351060 w 484656"/>
                <a:gd name="connsiteY70" fmla="*/ 281796 h 1846053"/>
                <a:gd name="connsiteX71" fmla="*/ 333807 w 484656"/>
                <a:gd name="connsiteY71" fmla="*/ 276045 h 1846053"/>
                <a:gd name="connsiteX72" fmla="*/ 328056 w 484656"/>
                <a:gd name="connsiteY72" fmla="*/ 258792 h 1846053"/>
                <a:gd name="connsiteX73" fmla="*/ 322305 w 484656"/>
                <a:gd name="connsiteY73" fmla="*/ 74762 h 1846053"/>
                <a:gd name="connsiteX74" fmla="*/ 264796 w 484656"/>
                <a:gd name="connsiteY74" fmla="*/ 28755 h 1846053"/>
                <a:gd name="connsiteX75" fmla="*/ 247543 w 484656"/>
                <a:gd name="connsiteY75" fmla="*/ 23004 h 1846053"/>
                <a:gd name="connsiteX76" fmla="*/ 201535 w 484656"/>
                <a:gd name="connsiteY76" fmla="*/ 0 h 1846053"/>
                <a:gd name="connsiteX77" fmla="*/ 149777 w 484656"/>
                <a:gd name="connsiteY77" fmla="*/ 17253 h 1846053"/>
                <a:gd name="connsiteX78" fmla="*/ 132524 w 484656"/>
                <a:gd name="connsiteY78" fmla="*/ 23004 h 1846053"/>
                <a:gd name="connsiteX79" fmla="*/ 121022 w 484656"/>
                <a:gd name="connsiteY79" fmla="*/ 46007 h 1846053"/>
                <a:gd name="connsiteX80" fmla="*/ 121022 w 484656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17326 w 484477"/>
                <a:gd name="connsiteY19" fmla="*/ 799381 h 1846053"/>
                <a:gd name="connsiteX20" fmla="*/ 23077 w 484477"/>
                <a:gd name="connsiteY20" fmla="*/ 948905 h 1846053"/>
                <a:gd name="connsiteX21" fmla="*/ 28828 w 484477"/>
                <a:gd name="connsiteY21" fmla="*/ 971909 h 1846053"/>
                <a:gd name="connsiteX22" fmla="*/ 40330 w 484477"/>
                <a:gd name="connsiteY22" fmla="*/ 1006415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56632 w 484477"/>
                <a:gd name="connsiteY53" fmla="*/ 1299713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23077 w 484477"/>
                <a:gd name="connsiteY20" fmla="*/ 948905 h 1846053"/>
                <a:gd name="connsiteX21" fmla="*/ 28828 w 484477"/>
                <a:gd name="connsiteY21" fmla="*/ 971909 h 1846053"/>
                <a:gd name="connsiteX22" fmla="*/ 40330 w 484477"/>
                <a:gd name="connsiteY22" fmla="*/ 1006415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56632 w 484477"/>
                <a:gd name="connsiteY53" fmla="*/ 1299713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28828 w 484477"/>
                <a:gd name="connsiteY21" fmla="*/ 971909 h 1846053"/>
                <a:gd name="connsiteX22" fmla="*/ 40330 w 484477"/>
                <a:gd name="connsiteY22" fmla="*/ 1006415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56632 w 484477"/>
                <a:gd name="connsiteY53" fmla="*/ 1299713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40330 w 484477"/>
                <a:gd name="connsiteY22" fmla="*/ 1006415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56632 w 484477"/>
                <a:gd name="connsiteY53" fmla="*/ 1299713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56632 w 484477"/>
                <a:gd name="connsiteY53" fmla="*/ 1299713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72814 w 484477"/>
                <a:gd name="connsiteY54" fmla="*/ 1294093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72814 w 484477"/>
                <a:gd name="connsiteY54" fmla="*/ 1294093 h 1846053"/>
                <a:gd name="connsiteX55" fmla="*/ 368134 w 484477"/>
                <a:gd name="connsiteY55" fmla="*/ 1247955 h 1846053"/>
                <a:gd name="connsiteX56" fmla="*/ 38431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72814 w 484477"/>
                <a:gd name="connsiteY54" fmla="*/ 1294093 h 1846053"/>
                <a:gd name="connsiteX55" fmla="*/ 368134 w 484477"/>
                <a:gd name="connsiteY55" fmla="*/ 1247955 h 1846053"/>
                <a:gd name="connsiteX56" fmla="*/ 384315 w 484477"/>
                <a:gd name="connsiteY56" fmla="*/ 1207698 h 1846053"/>
                <a:gd name="connsiteX57" fmla="*/ 395818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44999 w 484477"/>
                <a:gd name="connsiteY50" fmla="*/ 1620695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72814 w 484477"/>
                <a:gd name="connsiteY54" fmla="*/ 1294093 h 1846053"/>
                <a:gd name="connsiteX55" fmla="*/ 368134 w 484477"/>
                <a:gd name="connsiteY55" fmla="*/ 1247955 h 1846053"/>
                <a:gd name="connsiteX56" fmla="*/ 384315 w 484477"/>
                <a:gd name="connsiteY56" fmla="*/ 1207698 h 1846053"/>
                <a:gd name="connsiteX57" fmla="*/ 395818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39117 w 484477"/>
                <a:gd name="connsiteY49" fmla="*/ 1660951 h 1846053"/>
                <a:gd name="connsiteX50" fmla="*/ 344999 w 484477"/>
                <a:gd name="connsiteY50" fmla="*/ 1620695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72814 w 484477"/>
                <a:gd name="connsiteY54" fmla="*/ 1294093 h 1846053"/>
                <a:gd name="connsiteX55" fmla="*/ 368134 w 484477"/>
                <a:gd name="connsiteY55" fmla="*/ 1247955 h 1846053"/>
                <a:gd name="connsiteX56" fmla="*/ 384315 w 484477"/>
                <a:gd name="connsiteY56" fmla="*/ 1207698 h 1846053"/>
                <a:gd name="connsiteX57" fmla="*/ 395818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39117 w 484477"/>
                <a:gd name="connsiteY48" fmla="*/ 1660951 h 1846053"/>
                <a:gd name="connsiteX49" fmla="*/ 344999 w 484477"/>
                <a:gd name="connsiteY49" fmla="*/ 1620695 h 1846053"/>
                <a:gd name="connsiteX50" fmla="*/ 356632 w 484477"/>
                <a:gd name="connsiteY50" fmla="*/ 1449238 h 1846053"/>
                <a:gd name="connsiteX51" fmla="*/ 350881 w 484477"/>
                <a:gd name="connsiteY51" fmla="*/ 1431985 h 1846053"/>
                <a:gd name="connsiteX52" fmla="*/ 377493 w 484477"/>
                <a:gd name="connsiteY52" fmla="*/ 1358819 h 1846053"/>
                <a:gd name="connsiteX53" fmla="*/ 372814 w 484477"/>
                <a:gd name="connsiteY53" fmla="*/ 1294093 h 1846053"/>
                <a:gd name="connsiteX54" fmla="*/ 368134 w 484477"/>
                <a:gd name="connsiteY54" fmla="*/ 1247955 h 1846053"/>
                <a:gd name="connsiteX55" fmla="*/ 384315 w 484477"/>
                <a:gd name="connsiteY55" fmla="*/ 1207698 h 1846053"/>
                <a:gd name="connsiteX56" fmla="*/ 395818 w 484477"/>
                <a:gd name="connsiteY56" fmla="*/ 1173192 h 1846053"/>
                <a:gd name="connsiteX57" fmla="*/ 402639 w 484477"/>
                <a:gd name="connsiteY57" fmla="*/ 1121434 h 1846053"/>
                <a:gd name="connsiteX58" fmla="*/ 419892 w 484477"/>
                <a:gd name="connsiteY58" fmla="*/ 1069675 h 1846053"/>
                <a:gd name="connsiteX59" fmla="*/ 425643 w 484477"/>
                <a:gd name="connsiteY59" fmla="*/ 1052422 h 1846053"/>
                <a:gd name="connsiteX60" fmla="*/ 437145 w 484477"/>
                <a:gd name="connsiteY60" fmla="*/ 1012166 h 1846053"/>
                <a:gd name="connsiteX61" fmla="*/ 448647 w 484477"/>
                <a:gd name="connsiteY61" fmla="*/ 971909 h 1846053"/>
                <a:gd name="connsiteX62" fmla="*/ 454398 w 484477"/>
                <a:gd name="connsiteY62" fmla="*/ 759124 h 1846053"/>
                <a:gd name="connsiteX63" fmla="*/ 471651 w 484477"/>
                <a:gd name="connsiteY63" fmla="*/ 701615 h 1846053"/>
                <a:gd name="connsiteX64" fmla="*/ 477402 w 484477"/>
                <a:gd name="connsiteY64" fmla="*/ 684362 h 1846053"/>
                <a:gd name="connsiteX65" fmla="*/ 483153 w 484477"/>
                <a:gd name="connsiteY65" fmla="*/ 667109 h 1846053"/>
                <a:gd name="connsiteX66" fmla="*/ 477402 w 484477"/>
                <a:gd name="connsiteY66" fmla="*/ 327804 h 1846053"/>
                <a:gd name="connsiteX67" fmla="*/ 442896 w 484477"/>
                <a:gd name="connsiteY67" fmla="*/ 316302 h 1846053"/>
                <a:gd name="connsiteX68" fmla="*/ 373885 w 484477"/>
                <a:gd name="connsiteY68" fmla="*/ 293298 h 1846053"/>
                <a:gd name="connsiteX69" fmla="*/ 350881 w 484477"/>
                <a:gd name="connsiteY69" fmla="*/ 281796 h 1846053"/>
                <a:gd name="connsiteX70" fmla="*/ 333628 w 484477"/>
                <a:gd name="connsiteY70" fmla="*/ 276045 h 1846053"/>
                <a:gd name="connsiteX71" fmla="*/ 327877 w 484477"/>
                <a:gd name="connsiteY71" fmla="*/ 258792 h 1846053"/>
                <a:gd name="connsiteX72" fmla="*/ 322126 w 484477"/>
                <a:gd name="connsiteY72" fmla="*/ 74762 h 1846053"/>
                <a:gd name="connsiteX73" fmla="*/ 264617 w 484477"/>
                <a:gd name="connsiteY73" fmla="*/ 28755 h 1846053"/>
                <a:gd name="connsiteX74" fmla="*/ 247364 w 484477"/>
                <a:gd name="connsiteY74" fmla="*/ 23004 h 1846053"/>
                <a:gd name="connsiteX75" fmla="*/ 201356 w 484477"/>
                <a:gd name="connsiteY75" fmla="*/ 0 h 1846053"/>
                <a:gd name="connsiteX76" fmla="*/ 149598 w 484477"/>
                <a:gd name="connsiteY76" fmla="*/ 17253 h 1846053"/>
                <a:gd name="connsiteX77" fmla="*/ 132345 w 484477"/>
                <a:gd name="connsiteY77" fmla="*/ 23004 h 1846053"/>
                <a:gd name="connsiteX78" fmla="*/ 120843 w 484477"/>
                <a:gd name="connsiteY78" fmla="*/ 46007 h 1846053"/>
                <a:gd name="connsiteX79" fmla="*/ 120843 w 484477"/>
                <a:gd name="connsiteY79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56501 w 484477"/>
                <a:gd name="connsiteY47" fmla="*/ 1717257 h 1846053"/>
                <a:gd name="connsiteX48" fmla="*/ 339117 w 484477"/>
                <a:gd name="connsiteY48" fmla="*/ 1660951 h 1846053"/>
                <a:gd name="connsiteX49" fmla="*/ 344999 w 484477"/>
                <a:gd name="connsiteY49" fmla="*/ 1620695 h 1846053"/>
                <a:gd name="connsiteX50" fmla="*/ 356632 w 484477"/>
                <a:gd name="connsiteY50" fmla="*/ 1449238 h 1846053"/>
                <a:gd name="connsiteX51" fmla="*/ 350881 w 484477"/>
                <a:gd name="connsiteY51" fmla="*/ 1431985 h 1846053"/>
                <a:gd name="connsiteX52" fmla="*/ 377493 w 484477"/>
                <a:gd name="connsiteY52" fmla="*/ 1358819 h 1846053"/>
                <a:gd name="connsiteX53" fmla="*/ 372814 w 484477"/>
                <a:gd name="connsiteY53" fmla="*/ 1294093 h 1846053"/>
                <a:gd name="connsiteX54" fmla="*/ 368134 w 484477"/>
                <a:gd name="connsiteY54" fmla="*/ 1247955 h 1846053"/>
                <a:gd name="connsiteX55" fmla="*/ 384315 w 484477"/>
                <a:gd name="connsiteY55" fmla="*/ 1207698 h 1846053"/>
                <a:gd name="connsiteX56" fmla="*/ 395818 w 484477"/>
                <a:gd name="connsiteY56" fmla="*/ 1173192 h 1846053"/>
                <a:gd name="connsiteX57" fmla="*/ 402639 w 484477"/>
                <a:gd name="connsiteY57" fmla="*/ 1121434 h 1846053"/>
                <a:gd name="connsiteX58" fmla="*/ 419892 w 484477"/>
                <a:gd name="connsiteY58" fmla="*/ 1069675 h 1846053"/>
                <a:gd name="connsiteX59" fmla="*/ 425643 w 484477"/>
                <a:gd name="connsiteY59" fmla="*/ 1052422 h 1846053"/>
                <a:gd name="connsiteX60" fmla="*/ 437145 w 484477"/>
                <a:gd name="connsiteY60" fmla="*/ 1012166 h 1846053"/>
                <a:gd name="connsiteX61" fmla="*/ 448647 w 484477"/>
                <a:gd name="connsiteY61" fmla="*/ 971909 h 1846053"/>
                <a:gd name="connsiteX62" fmla="*/ 454398 w 484477"/>
                <a:gd name="connsiteY62" fmla="*/ 759124 h 1846053"/>
                <a:gd name="connsiteX63" fmla="*/ 471651 w 484477"/>
                <a:gd name="connsiteY63" fmla="*/ 701615 h 1846053"/>
                <a:gd name="connsiteX64" fmla="*/ 477402 w 484477"/>
                <a:gd name="connsiteY64" fmla="*/ 684362 h 1846053"/>
                <a:gd name="connsiteX65" fmla="*/ 483153 w 484477"/>
                <a:gd name="connsiteY65" fmla="*/ 667109 h 1846053"/>
                <a:gd name="connsiteX66" fmla="*/ 477402 w 484477"/>
                <a:gd name="connsiteY66" fmla="*/ 327804 h 1846053"/>
                <a:gd name="connsiteX67" fmla="*/ 442896 w 484477"/>
                <a:gd name="connsiteY67" fmla="*/ 316302 h 1846053"/>
                <a:gd name="connsiteX68" fmla="*/ 373885 w 484477"/>
                <a:gd name="connsiteY68" fmla="*/ 293298 h 1846053"/>
                <a:gd name="connsiteX69" fmla="*/ 350881 w 484477"/>
                <a:gd name="connsiteY69" fmla="*/ 281796 h 1846053"/>
                <a:gd name="connsiteX70" fmla="*/ 333628 w 484477"/>
                <a:gd name="connsiteY70" fmla="*/ 276045 h 1846053"/>
                <a:gd name="connsiteX71" fmla="*/ 327877 w 484477"/>
                <a:gd name="connsiteY71" fmla="*/ 258792 h 1846053"/>
                <a:gd name="connsiteX72" fmla="*/ 322126 w 484477"/>
                <a:gd name="connsiteY72" fmla="*/ 74762 h 1846053"/>
                <a:gd name="connsiteX73" fmla="*/ 264617 w 484477"/>
                <a:gd name="connsiteY73" fmla="*/ 28755 h 1846053"/>
                <a:gd name="connsiteX74" fmla="*/ 247364 w 484477"/>
                <a:gd name="connsiteY74" fmla="*/ 23004 h 1846053"/>
                <a:gd name="connsiteX75" fmla="*/ 201356 w 484477"/>
                <a:gd name="connsiteY75" fmla="*/ 0 h 1846053"/>
                <a:gd name="connsiteX76" fmla="*/ 149598 w 484477"/>
                <a:gd name="connsiteY76" fmla="*/ 17253 h 1846053"/>
                <a:gd name="connsiteX77" fmla="*/ 132345 w 484477"/>
                <a:gd name="connsiteY77" fmla="*/ 23004 h 1846053"/>
                <a:gd name="connsiteX78" fmla="*/ 120843 w 484477"/>
                <a:gd name="connsiteY78" fmla="*/ 46007 h 1846053"/>
                <a:gd name="connsiteX79" fmla="*/ 120843 w 484477"/>
                <a:gd name="connsiteY79" fmla="*/ 40256 h 1846053"/>
                <a:gd name="connsiteX0" fmla="*/ 178353 w 484477"/>
                <a:gd name="connsiteY0" fmla="*/ 17253 h 1901682"/>
                <a:gd name="connsiteX1" fmla="*/ 178353 w 484477"/>
                <a:gd name="connsiteY1" fmla="*/ 17253 h 1901682"/>
                <a:gd name="connsiteX2" fmla="*/ 120843 w 484477"/>
                <a:gd name="connsiteY2" fmla="*/ 57509 h 1901682"/>
                <a:gd name="connsiteX3" fmla="*/ 103590 w 484477"/>
                <a:gd name="connsiteY3" fmla="*/ 69011 h 1901682"/>
                <a:gd name="connsiteX4" fmla="*/ 92089 w 484477"/>
                <a:gd name="connsiteY4" fmla="*/ 86264 h 1901682"/>
                <a:gd name="connsiteX5" fmla="*/ 74836 w 484477"/>
                <a:gd name="connsiteY5" fmla="*/ 103517 h 1901682"/>
                <a:gd name="connsiteX6" fmla="*/ 80587 w 484477"/>
                <a:gd name="connsiteY6" fmla="*/ 230038 h 1901682"/>
                <a:gd name="connsiteX7" fmla="*/ 103590 w 484477"/>
                <a:gd name="connsiteY7" fmla="*/ 281796 h 1901682"/>
                <a:gd name="connsiteX8" fmla="*/ 109341 w 484477"/>
                <a:gd name="connsiteY8" fmla="*/ 299049 h 1901682"/>
                <a:gd name="connsiteX9" fmla="*/ 97839 w 484477"/>
                <a:gd name="connsiteY9" fmla="*/ 316302 h 1901682"/>
                <a:gd name="connsiteX10" fmla="*/ 74836 w 484477"/>
                <a:gd name="connsiteY10" fmla="*/ 322053 h 1901682"/>
                <a:gd name="connsiteX11" fmla="*/ 23077 w 484477"/>
                <a:gd name="connsiteY11" fmla="*/ 345056 h 1901682"/>
                <a:gd name="connsiteX12" fmla="*/ 5824 w 484477"/>
                <a:gd name="connsiteY12" fmla="*/ 506083 h 1901682"/>
                <a:gd name="connsiteX13" fmla="*/ 73 w 484477"/>
                <a:gd name="connsiteY13" fmla="*/ 523336 h 1901682"/>
                <a:gd name="connsiteX14" fmla="*/ 10635 w 484477"/>
                <a:gd name="connsiteY14" fmla="*/ 586596 h 1901682"/>
                <a:gd name="connsiteX15" fmla="*/ 16386 w 484477"/>
                <a:gd name="connsiteY15" fmla="*/ 626853 h 1901682"/>
                <a:gd name="connsiteX16" fmla="*/ 32568 w 484477"/>
                <a:gd name="connsiteY16" fmla="*/ 668443 h 1901682"/>
                <a:gd name="connsiteX17" fmla="*/ 41795 w 484477"/>
                <a:gd name="connsiteY17" fmla="*/ 734918 h 1901682"/>
                <a:gd name="connsiteX18" fmla="*/ 53297 w 484477"/>
                <a:gd name="connsiteY18" fmla="*/ 776377 h 1901682"/>
                <a:gd name="connsiteX19" fmla="*/ 48617 w 484477"/>
                <a:gd name="connsiteY19" fmla="*/ 851533 h 1901682"/>
                <a:gd name="connsiteX20" fmla="*/ 43938 w 484477"/>
                <a:gd name="connsiteY20" fmla="*/ 955859 h 1901682"/>
                <a:gd name="connsiteX21" fmla="*/ 46212 w 484477"/>
                <a:gd name="connsiteY21" fmla="*/ 992770 h 1901682"/>
                <a:gd name="connsiteX22" fmla="*/ 54237 w 484477"/>
                <a:gd name="connsiteY22" fmla="*/ 1027276 h 1901682"/>
                <a:gd name="connsiteX23" fmla="*/ 51832 w 484477"/>
                <a:gd name="connsiteY23" fmla="*/ 1075426 h 1901682"/>
                <a:gd name="connsiteX24" fmla="*/ 57583 w 484477"/>
                <a:gd name="connsiteY24" fmla="*/ 1092679 h 1901682"/>
                <a:gd name="connsiteX25" fmla="*/ 63334 w 484477"/>
                <a:gd name="connsiteY25" fmla="*/ 1115683 h 1901682"/>
                <a:gd name="connsiteX26" fmla="*/ 80587 w 484477"/>
                <a:gd name="connsiteY26" fmla="*/ 1167441 h 1901682"/>
                <a:gd name="connsiteX27" fmla="*/ 86338 w 484477"/>
                <a:gd name="connsiteY27" fmla="*/ 1184694 h 1901682"/>
                <a:gd name="connsiteX28" fmla="*/ 80587 w 484477"/>
                <a:gd name="connsiteY28" fmla="*/ 1644770 h 1901682"/>
                <a:gd name="connsiteX29" fmla="*/ 74836 w 484477"/>
                <a:gd name="connsiteY29" fmla="*/ 1662022 h 1901682"/>
                <a:gd name="connsiteX30" fmla="*/ 80587 w 484477"/>
                <a:gd name="connsiteY30" fmla="*/ 1725283 h 1901682"/>
                <a:gd name="connsiteX31" fmla="*/ 74836 w 484477"/>
                <a:gd name="connsiteY31" fmla="*/ 1782792 h 1901682"/>
                <a:gd name="connsiteX32" fmla="*/ 63334 w 484477"/>
                <a:gd name="connsiteY32" fmla="*/ 1817298 h 1901682"/>
                <a:gd name="connsiteX33" fmla="*/ 69085 w 484477"/>
                <a:gd name="connsiteY33" fmla="*/ 1840302 h 1901682"/>
                <a:gd name="connsiteX34" fmla="*/ 68954 w 484477"/>
                <a:gd name="connsiteY34" fmla="*/ 1901682 h 1901682"/>
                <a:gd name="connsiteX35" fmla="*/ 143847 w 484477"/>
                <a:gd name="connsiteY35" fmla="*/ 1840302 h 1901682"/>
                <a:gd name="connsiteX36" fmla="*/ 138096 w 484477"/>
                <a:gd name="connsiteY36" fmla="*/ 1823049 h 1901682"/>
                <a:gd name="connsiteX37" fmla="*/ 155349 w 484477"/>
                <a:gd name="connsiteY37" fmla="*/ 1788543 h 1901682"/>
                <a:gd name="connsiteX38" fmla="*/ 178353 w 484477"/>
                <a:gd name="connsiteY38" fmla="*/ 1736785 h 1901682"/>
                <a:gd name="connsiteX39" fmla="*/ 195606 w 484477"/>
                <a:gd name="connsiteY39" fmla="*/ 1731034 h 1901682"/>
                <a:gd name="connsiteX40" fmla="*/ 235862 w 484477"/>
                <a:gd name="connsiteY40" fmla="*/ 1736785 h 1901682"/>
                <a:gd name="connsiteX41" fmla="*/ 253115 w 484477"/>
                <a:gd name="connsiteY41" fmla="*/ 1771290 h 1901682"/>
                <a:gd name="connsiteX42" fmla="*/ 270368 w 484477"/>
                <a:gd name="connsiteY42" fmla="*/ 1782792 h 1901682"/>
                <a:gd name="connsiteX43" fmla="*/ 281870 w 484477"/>
                <a:gd name="connsiteY43" fmla="*/ 1800045 h 1901682"/>
                <a:gd name="connsiteX44" fmla="*/ 345130 w 484477"/>
                <a:gd name="connsiteY44" fmla="*/ 1805796 h 1901682"/>
                <a:gd name="connsiteX45" fmla="*/ 356632 w 484477"/>
                <a:gd name="connsiteY45" fmla="*/ 1765539 h 1901682"/>
                <a:gd name="connsiteX46" fmla="*/ 368134 w 484477"/>
                <a:gd name="connsiteY46" fmla="*/ 1731034 h 1901682"/>
                <a:gd name="connsiteX47" fmla="*/ 356501 w 484477"/>
                <a:gd name="connsiteY47" fmla="*/ 1717257 h 1901682"/>
                <a:gd name="connsiteX48" fmla="*/ 339117 w 484477"/>
                <a:gd name="connsiteY48" fmla="*/ 1660951 h 1901682"/>
                <a:gd name="connsiteX49" fmla="*/ 344999 w 484477"/>
                <a:gd name="connsiteY49" fmla="*/ 1620695 h 1901682"/>
                <a:gd name="connsiteX50" fmla="*/ 356632 w 484477"/>
                <a:gd name="connsiteY50" fmla="*/ 1449238 h 1901682"/>
                <a:gd name="connsiteX51" fmla="*/ 350881 w 484477"/>
                <a:gd name="connsiteY51" fmla="*/ 1431985 h 1901682"/>
                <a:gd name="connsiteX52" fmla="*/ 377493 w 484477"/>
                <a:gd name="connsiteY52" fmla="*/ 1358819 h 1901682"/>
                <a:gd name="connsiteX53" fmla="*/ 372814 w 484477"/>
                <a:gd name="connsiteY53" fmla="*/ 1294093 h 1901682"/>
                <a:gd name="connsiteX54" fmla="*/ 368134 w 484477"/>
                <a:gd name="connsiteY54" fmla="*/ 1247955 h 1901682"/>
                <a:gd name="connsiteX55" fmla="*/ 384315 w 484477"/>
                <a:gd name="connsiteY55" fmla="*/ 1207698 h 1901682"/>
                <a:gd name="connsiteX56" fmla="*/ 395818 w 484477"/>
                <a:gd name="connsiteY56" fmla="*/ 1173192 h 1901682"/>
                <a:gd name="connsiteX57" fmla="*/ 402639 w 484477"/>
                <a:gd name="connsiteY57" fmla="*/ 1121434 h 1901682"/>
                <a:gd name="connsiteX58" fmla="*/ 419892 w 484477"/>
                <a:gd name="connsiteY58" fmla="*/ 1069675 h 1901682"/>
                <a:gd name="connsiteX59" fmla="*/ 425643 w 484477"/>
                <a:gd name="connsiteY59" fmla="*/ 1052422 h 1901682"/>
                <a:gd name="connsiteX60" fmla="*/ 437145 w 484477"/>
                <a:gd name="connsiteY60" fmla="*/ 1012166 h 1901682"/>
                <a:gd name="connsiteX61" fmla="*/ 448647 w 484477"/>
                <a:gd name="connsiteY61" fmla="*/ 971909 h 1901682"/>
                <a:gd name="connsiteX62" fmla="*/ 454398 w 484477"/>
                <a:gd name="connsiteY62" fmla="*/ 759124 h 1901682"/>
                <a:gd name="connsiteX63" fmla="*/ 471651 w 484477"/>
                <a:gd name="connsiteY63" fmla="*/ 701615 h 1901682"/>
                <a:gd name="connsiteX64" fmla="*/ 477402 w 484477"/>
                <a:gd name="connsiteY64" fmla="*/ 684362 h 1901682"/>
                <a:gd name="connsiteX65" fmla="*/ 483153 w 484477"/>
                <a:gd name="connsiteY65" fmla="*/ 667109 h 1901682"/>
                <a:gd name="connsiteX66" fmla="*/ 477402 w 484477"/>
                <a:gd name="connsiteY66" fmla="*/ 327804 h 1901682"/>
                <a:gd name="connsiteX67" fmla="*/ 442896 w 484477"/>
                <a:gd name="connsiteY67" fmla="*/ 316302 h 1901682"/>
                <a:gd name="connsiteX68" fmla="*/ 373885 w 484477"/>
                <a:gd name="connsiteY68" fmla="*/ 293298 h 1901682"/>
                <a:gd name="connsiteX69" fmla="*/ 350881 w 484477"/>
                <a:gd name="connsiteY69" fmla="*/ 281796 h 1901682"/>
                <a:gd name="connsiteX70" fmla="*/ 333628 w 484477"/>
                <a:gd name="connsiteY70" fmla="*/ 276045 h 1901682"/>
                <a:gd name="connsiteX71" fmla="*/ 327877 w 484477"/>
                <a:gd name="connsiteY71" fmla="*/ 258792 h 1901682"/>
                <a:gd name="connsiteX72" fmla="*/ 322126 w 484477"/>
                <a:gd name="connsiteY72" fmla="*/ 74762 h 1901682"/>
                <a:gd name="connsiteX73" fmla="*/ 264617 w 484477"/>
                <a:gd name="connsiteY73" fmla="*/ 28755 h 1901682"/>
                <a:gd name="connsiteX74" fmla="*/ 247364 w 484477"/>
                <a:gd name="connsiteY74" fmla="*/ 23004 h 1901682"/>
                <a:gd name="connsiteX75" fmla="*/ 201356 w 484477"/>
                <a:gd name="connsiteY75" fmla="*/ 0 h 1901682"/>
                <a:gd name="connsiteX76" fmla="*/ 149598 w 484477"/>
                <a:gd name="connsiteY76" fmla="*/ 17253 h 1901682"/>
                <a:gd name="connsiteX77" fmla="*/ 132345 w 484477"/>
                <a:gd name="connsiteY77" fmla="*/ 23004 h 1901682"/>
                <a:gd name="connsiteX78" fmla="*/ 120843 w 484477"/>
                <a:gd name="connsiteY78" fmla="*/ 46007 h 1901682"/>
                <a:gd name="connsiteX79" fmla="*/ 120843 w 484477"/>
                <a:gd name="connsiteY79" fmla="*/ 40256 h 1901682"/>
                <a:gd name="connsiteX0" fmla="*/ 178353 w 484477"/>
                <a:gd name="connsiteY0" fmla="*/ 17253 h 1903259"/>
                <a:gd name="connsiteX1" fmla="*/ 178353 w 484477"/>
                <a:gd name="connsiteY1" fmla="*/ 17253 h 1903259"/>
                <a:gd name="connsiteX2" fmla="*/ 120843 w 484477"/>
                <a:gd name="connsiteY2" fmla="*/ 57509 h 1903259"/>
                <a:gd name="connsiteX3" fmla="*/ 103590 w 484477"/>
                <a:gd name="connsiteY3" fmla="*/ 69011 h 1903259"/>
                <a:gd name="connsiteX4" fmla="*/ 92089 w 484477"/>
                <a:gd name="connsiteY4" fmla="*/ 86264 h 1903259"/>
                <a:gd name="connsiteX5" fmla="*/ 74836 w 484477"/>
                <a:gd name="connsiteY5" fmla="*/ 103517 h 1903259"/>
                <a:gd name="connsiteX6" fmla="*/ 80587 w 484477"/>
                <a:gd name="connsiteY6" fmla="*/ 230038 h 1903259"/>
                <a:gd name="connsiteX7" fmla="*/ 103590 w 484477"/>
                <a:gd name="connsiteY7" fmla="*/ 281796 h 1903259"/>
                <a:gd name="connsiteX8" fmla="*/ 109341 w 484477"/>
                <a:gd name="connsiteY8" fmla="*/ 299049 h 1903259"/>
                <a:gd name="connsiteX9" fmla="*/ 97839 w 484477"/>
                <a:gd name="connsiteY9" fmla="*/ 316302 h 1903259"/>
                <a:gd name="connsiteX10" fmla="*/ 74836 w 484477"/>
                <a:gd name="connsiteY10" fmla="*/ 322053 h 1903259"/>
                <a:gd name="connsiteX11" fmla="*/ 23077 w 484477"/>
                <a:gd name="connsiteY11" fmla="*/ 345056 h 1903259"/>
                <a:gd name="connsiteX12" fmla="*/ 5824 w 484477"/>
                <a:gd name="connsiteY12" fmla="*/ 506083 h 1903259"/>
                <a:gd name="connsiteX13" fmla="*/ 73 w 484477"/>
                <a:gd name="connsiteY13" fmla="*/ 523336 h 1903259"/>
                <a:gd name="connsiteX14" fmla="*/ 10635 w 484477"/>
                <a:gd name="connsiteY14" fmla="*/ 586596 h 1903259"/>
                <a:gd name="connsiteX15" fmla="*/ 16386 w 484477"/>
                <a:gd name="connsiteY15" fmla="*/ 626853 h 1903259"/>
                <a:gd name="connsiteX16" fmla="*/ 32568 w 484477"/>
                <a:gd name="connsiteY16" fmla="*/ 668443 h 1903259"/>
                <a:gd name="connsiteX17" fmla="*/ 41795 w 484477"/>
                <a:gd name="connsiteY17" fmla="*/ 734918 h 1903259"/>
                <a:gd name="connsiteX18" fmla="*/ 53297 w 484477"/>
                <a:gd name="connsiteY18" fmla="*/ 776377 h 1903259"/>
                <a:gd name="connsiteX19" fmla="*/ 48617 w 484477"/>
                <a:gd name="connsiteY19" fmla="*/ 851533 h 1903259"/>
                <a:gd name="connsiteX20" fmla="*/ 43938 w 484477"/>
                <a:gd name="connsiteY20" fmla="*/ 955859 h 1903259"/>
                <a:gd name="connsiteX21" fmla="*/ 46212 w 484477"/>
                <a:gd name="connsiteY21" fmla="*/ 992770 h 1903259"/>
                <a:gd name="connsiteX22" fmla="*/ 54237 w 484477"/>
                <a:gd name="connsiteY22" fmla="*/ 1027276 h 1903259"/>
                <a:gd name="connsiteX23" fmla="*/ 51832 w 484477"/>
                <a:gd name="connsiteY23" fmla="*/ 1075426 h 1903259"/>
                <a:gd name="connsiteX24" fmla="*/ 57583 w 484477"/>
                <a:gd name="connsiteY24" fmla="*/ 1092679 h 1903259"/>
                <a:gd name="connsiteX25" fmla="*/ 63334 w 484477"/>
                <a:gd name="connsiteY25" fmla="*/ 1115683 h 1903259"/>
                <a:gd name="connsiteX26" fmla="*/ 80587 w 484477"/>
                <a:gd name="connsiteY26" fmla="*/ 1167441 h 1903259"/>
                <a:gd name="connsiteX27" fmla="*/ 86338 w 484477"/>
                <a:gd name="connsiteY27" fmla="*/ 1184694 h 1903259"/>
                <a:gd name="connsiteX28" fmla="*/ 80587 w 484477"/>
                <a:gd name="connsiteY28" fmla="*/ 1644770 h 1903259"/>
                <a:gd name="connsiteX29" fmla="*/ 74836 w 484477"/>
                <a:gd name="connsiteY29" fmla="*/ 1662022 h 1903259"/>
                <a:gd name="connsiteX30" fmla="*/ 80587 w 484477"/>
                <a:gd name="connsiteY30" fmla="*/ 1725283 h 1903259"/>
                <a:gd name="connsiteX31" fmla="*/ 74836 w 484477"/>
                <a:gd name="connsiteY31" fmla="*/ 1782792 h 1903259"/>
                <a:gd name="connsiteX32" fmla="*/ 63334 w 484477"/>
                <a:gd name="connsiteY32" fmla="*/ 1817298 h 1903259"/>
                <a:gd name="connsiteX33" fmla="*/ 69085 w 484477"/>
                <a:gd name="connsiteY33" fmla="*/ 1840302 h 1903259"/>
                <a:gd name="connsiteX34" fmla="*/ 68954 w 484477"/>
                <a:gd name="connsiteY34" fmla="*/ 1901682 h 1903259"/>
                <a:gd name="connsiteX35" fmla="*/ 133416 w 484477"/>
                <a:gd name="connsiteY35" fmla="*/ 1885501 h 1903259"/>
                <a:gd name="connsiteX36" fmla="*/ 138096 w 484477"/>
                <a:gd name="connsiteY36" fmla="*/ 1823049 h 1903259"/>
                <a:gd name="connsiteX37" fmla="*/ 155349 w 484477"/>
                <a:gd name="connsiteY37" fmla="*/ 1788543 h 1903259"/>
                <a:gd name="connsiteX38" fmla="*/ 178353 w 484477"/>
                <a:gd name="connsiteY38" fmla="*/ 1736785 h 1903259"/>
                <a:gd name="connsiteX39" fmla="*/ 195606 w 484477"/>
                <a:gd name="connsiteY39" fmla="*/ 1731034 h 1903259"/>
                <a:gd name="connsiteX40" fmla="*/ 235862 w 484477"/>
                <a:gd name="connsiteY40" fmla="*/ 1736785 h 1903259"/>
                <a:gd name="connsiteX41" fmla="*/ 253115 w 484477"/>
                <a:gd name="connsiteY41" fmla="*/ 1771290 h 1903259"/>
                <a:gd name="connsiteX42" fmla="*/ 270368 w 484477"/>
                <a:gd name="connsiteY42" fmla="*/ 1782792 h 1903259"/>
                <a:gd name="connsiteX43" fmla="*/ 281870 w 484477"/>
                <a:gd name="connsiteY43" fmla="*/ 1800045 h 1903259"/>
                <a:gd name="connsiteX44" fmla="*/ 345130 w 484477"/>
                <a:gd name="connsiteY44" fmla="*/ 1805796 h 1903259"/>
                <a:gd name="connsiteX45" fmla="*/ 356632 w 484477"/>
                <a:gd name="connsiteY45" fmla="*/ 1765539 h 1903259"/>
                <a:gd name="connsiteX46" fmla="*/ 368134 w 484477"/>
                <a:gd name="connsiteY46" fmla="*/ 1731034 h 1903259"/>
                <a:gd name="connsiteX47" fmla="*/ 356501 w 484477"/>
                <a:gd name="connsiteY47" fmla="*/ 1717257 h 1903259"/>
                <a:gd name="connsiteX48" fmla="*/ 339117 w 484477"/>
                <a:gd name="connsiteY48" fmla="*/ 1660951 h 1903259"/>
                <a:gd name="connsiteX49" fmla="*/ 344999 w 484477"/>
                <a:gd name="connsiteY49" fmla="*/ 1620695 h 1903259"/>
                <a:gd name="connsiteX50" fmla="*/ 356632 w 484477"/>
                <a:gd name="connsiteY50" fmla="*/ 1449238 h 1903259"/>
                <a:gd name="connsiteX51" fmla="*/ 350881 w 484477"/>
                <a:gd name="connsiteY51" fmla="*/ 1431985 h 1903259"/>
                <a:gd name="connsiteX52" fmla="*/ 377493 w 484477"/>
                <a:gd name="connsiteY52" fmla="*/ 1358819 h 1903259"/>
                <a:gd name="connsiteX53" fmla="*/ 372814 w 484477"/>
                <a:gd name="connsiteY53" fmla="*/ 1294093 h 1903259"/>
                <a:gd name="connsiteX54" fmla="*/ 368134 w 484477"/>
                <a:gd name="connsiteY54" fmla="*/ 1247955 h 1903259"/>
                <a:gd name="connsiteX55" fmla="*/ 384315 w 484477"/>
                <a:gd name="connsiteY55" fmla="*/ 1207698 h 1903259"/>
                <a:gd name="connsiteX56" fmla="*/ 395818 w 484477"/>
                <a:gd name="connsiteY56" fmla="*/ 1173192 h 1903259"/>
                <a:gd name="connsiteX57" fmla="*/ 402639 w 484477"/>
                <a:gd name="connsiteY57" fmla="*/ 1121434 h 1903259"/>
                <a:gd name="connsiteX58" fmla="*/ 419892 w 484477"/>
                <a:gd name="connsiteY58" fmla="*/ 1069675 h 1903259"/>
                <a:gd name="connsiteX59" fmla="*/ 425643 w 484477"/>
                <a:gd name="connsiteY59" fmla="*/ 1052422 h 1903259"/>
                <a:gd name="connsiteX60" fmla="*/ 437145 w 484477"/>
                <a:gd name="connsiteY60" fmla="*/ 1012166 h 1903259"/>
                <a:gd name="connsiteX61" fmla="*/ 448647 w 484477"/>
                <a:gd name="connsiteY61" fmla="*/ 971909 h 1903259"/>
                <a:gd name="connsiteX62" fmla="*/ 454398 w 484477"/>
                <a:gd name="connsiteY62" fmla="*/ 759124 h 1903259"/>
                <a:gd name="connsiteX63" fmla="*/ 471651 w 484477"/>
                <a:gd name="connsiteY63" fmla="*/ 701615 h 1903259"/>
                <a:gd name="connsiteX64" fmla="*/ 477402 w 484477"/>
                <a:gd name="connsiteY64" fmla="*/ 684362 h 1903259"/>
                <a:gd name="connsiteX65" fmla="*/ 483153 w 484477"/>
                <a:gd name="connsiteY65" fmla="*/ 667109 h 1903259"/>
                <a:gd name="connsiteX66" fmla="*/ 477402 w 484477"/>
                <a:gd name="connsiteY66" fmla="*/ 327804 h 1903259"/>
                <a:gd name="connsiteX67" fmla="*/ 442896 w 484477"/>
                <a:gd name="connsiteY67" fmla="*/ 316302 h 1903259"/>
                <a:gd name="connsiteX68" fmla="*/ 373885 w 484477"/>
                <a:gd name="connsiteY68" fmla="*/ 293298 h 1903259"/>
                <a:gd name="connsiteX69" fmla="*/ 350881 w 484477"/>
                <a:gd name="connsiteY69" fmla="*/ 281796 h 1903259"/>
                <a:gd name="connsiteX70" fmla="*/ 333628 w 484477"/>
                <a:gd name="connsiteY70" fmla="*/ 276045 h 1903259"/>
                <a:gd name="connsiteX71" fmla="*/ 327877 w 484477"/>
                <a:gd name="connsiteY71" fmla="*/ 258792 h 1903259"/>
                <a:gd name="connsiteX72" fmla="*/ 322126 w 484477"/>
                <a:gd name="connsiteY72" fmla="*/ 74762 h 1903259"/>
                <a:gd name="connsiteX73" fmla="*/ 264617 w 484477"/>
                <a:gd name="connsiteY73" fmla="*/ 28755 h 1903259"/>
                <a:gd name="connsiteX74" fmla="*/ 247364 w 484477"/>
                <a:gd name="connsiteY74" fmla="*/ 23004 h 1903259"/>
                <a:gd name="connsiteX75" fmla="*/ 201356 w 484477"/>
                <a:gd name="connsiteY75" fmla="*/ 0 h 1903259"/>
                <a:gd name="connsiteX76" fmla="*/ 149598 w 484477"/>
                <a:gd name="connsiteY76" fmla="*/ 17253 h 1903259"/>
                <a:gd name="connsiteX77" fmla="*/ 132345 w 484477"/>
                <a:gd name="connsiteY77" fmla="*/ 23004 h 1903259"/>
                <a:gd name="connsiteX78" fmla="*/ 120843 w 484477"/>
                <a:gd name="connsiteY78" fmla="*/ 46007 h 1903259"/>
                <a:gd name="connsiteX79" fmla="*/ 120843 w 484477"/>
                <a:gd name="connsiteY79" fmla="*/ 40256 h 1903259"/>
                <a:gd name="connsiteX0" fmla="*/ 178353 w 484477"/>
                <a:gd name="connsiteY0" fmla="*/ 17253 h 1901903"/>
                <a:gd name="connsiteX1" fmla="*/ 178353 w 484477"/>
                <a:gd name="connsiteY1" fmla="*/ 17253 h 1901903"/>
                <a:gd name="connsiteX2" fmla="*/ 120843 w 484477"/>
                <a:gd name="connsiteY2" fmla="*/ 57509 h 1901903"/>
                <a:gd name="connsiteX3" fmla="*/ 103590 w 484477"/>
                <a:gd name="connsiteY3" fmla="*/ 69011 h 1901903"/>
                <a:gd name="connsiteX4" fmla="*/ 92089 w 484477"/>
                <a:gd name="connsiteY4" fmla="*/ 86264 h 1901903"/>
                <a:gd name="connsiteX5" fmla="*/ 74836 w 484477"/>
                <a:gd name="connsiteY5" fmla="*/ 103517 h 1901903"/>
                <a:gd name="connsiteX6" fmla="*/ 80587 w 484477"/>
                <a:gd name="connsiteY6" fmla="*/ 230038 h 1901903"/>
                <a:gd name="connsiteX7" fmla="*/ 103590 w 484477"/>
                <a:gd name="connsiteY7" fmla="*/ 281796 h 1901903"/>
                <a:gd name="connsiteX8" fmla="*/ 109341 w 484477"/>
                <a:gd name="connsiteY8" fmla="*/ 299049 h 1901903"/>
                <a:gd name="connsiteX9" fmla="*/ 97839 w 484477"/>
                <a:gd name="connsiteY9" fmla="*/ 316302 h 1901903"/>
                <a:gd name="connsiteX10" fmla="*/ 74836 w 484477"/>
                <a:gd name="connsiteY10" fmla="*/ 322053 h 1901903"/>
                <a:gd name="connsiteX11" fmla="*/ 23077 w 484477"/>
                <a:gd name="connsiteY11" fmla="*/ 345056 h 1901903"/>
                <a:gd name="connsiteX12" fmla="*/ 5824 w 484477"/>
                <a:gd name="connsiteY12" fmla="*/ 506083 h 1901903"/>
                <a:gd name="connsiteX13" fmla="*/ 73 w 484477"/>
                <a:gd name="connsiteY13" fmla="*/ 523336 h 1901903"/>
                <a:gd name="connsiteX14" fmla="*/ 10635 w 484477"/>
                <a:gd name="connsiteY14" fmla="*/ 586596 h 1901903"/>
                <a:gd name="connsiteX15" fmla="*/ 16386 w 484477"/>
                <a:gd name="connsiteY15" fmla="*/ 626853 h 1901903"/>
                <a:gd name="connsiteX16" fmla="*/ 32568 w 484477"/>
                <a:gd name="connsiteY16" fmla="*/ 668443 h 1901903"/>
                <a:gd name="connsiteX17" fmla="*/ 41795 w 484477"/>
                <a:gd name="connsiteY17" fmla="*/ 734918 h 1901903"/>
                <a:gd name="connsiteX18" fmla="*/ 53297 w 484477"/>
                <a:gd name="connsiteY18" fmla="*/ 776377 h 1901903"/>
                <a:gd name="connsiteX19" fmla="*/ 48617 w 484477"/>
                <a:gd name="connsiteY19" fmla="*/ 851533 h 1901903"/>
                <a:gd name="connsiteX20" fmla="*/ 43938 w 484477"/>
                <a:gd name="connsiteY20" fmla="*/ 955859 h 1901903"/>
                <a:gd name="connsiteX21" fmla="*/ 46212 w 484477"/>
                <a:gd name="connsiteY21" fmla="*/ 992770 h 1901903"/>
                <a:gd name="connsiteX22" fmla="*/ 54237 w 484477"/>
                <a:gd name="connsiteY22" fmla="*/ 1027276 h 1901903"/>
                <a:gd name="connsiteX23" fmla="*/ 51832 w 484477"/>
                <a:gd name="connsiteY23" fmla="*/ 1075426 h 1901903"/>
                <a:gd name="connsiteX24" fmla="*/ 57583 w 484477"/>
                <a:gd name="connsiteY24" fmla="*/ 1092679 h 1901903"/>
                <a:gd name="connsiteX25" fmla="*/ 63334 w 484477"/>
                <a:gd name="connsiteY25" fmla="*/ 1115683 h 1901903"/>
                <a:gd name="connsiteX26" fmla="*/ 80587 w 484477"/>
                <a:gd name="connsiteY26" fmla="*/ 1167441 h 1901903"/>
                <a:gd name="connsiteX27" fmla="*/ 86338 w 484477"/>
                <a:gd name="connsiteY27" fmla="*/ 1184694 h 1901903"/>
                <a:gd name="connsiteX28" fmla="*/ 80587 w 484477"/>
                <a:gd name="connsiteY28" fmla="*/ 1644770 h 1901903"/>
                <a:gd name="connsiteX29" fmla="*/ 74836 w 484477"/>
                <a:gd name="connsiteY29" fmla="*/ 1662022 h 1901903"/>
                <a:gd name="connsiteX30" fmla="*/ 80587 w 484477"/>
                <a:gd name="connsiteY30" fmla="*/ 1725283 h 1901903"/>
                <a:gd name="connsiteX31" fmla="*/ 74836 w 484477"/>
                <a:gd name="connsiteY31" fmla="*/ 1782792 h 1901903"/>
                <a:gd name="connsiteX32" fmla="*/ 63334 w 484477"/>
                <a:gd name="connsiteY32" fmla="*/ 1817298 h 1901903"/>
                <a:gd name="connsiteX33" fmla="*/ 51701 w 484477"/>
                <a:gd name="connsiteY33" fmla="*/ 1871593 h 1901903"/>
                <a:gd name="connsiteX34" fmla="*/ 68954 w 484477"/>
                <a:gd name="connsiteY34" fmla="*/ 1901682 h 1901903"/>
                <a:gd name="connsiteX35" fmla="*/ 133416 w 484477"/>
                <a:gd name="connsiteY35" fmla="*/ 1885501 h 1901903"/>
                <a:gd name="connsiteX36" fmla="*/ 138096 w 484477"/>
                <a:gd name="connsiteY36" fmla="*/ 1823049 h 1901903"/>
                <a:gd name="connsiteX37" fmla="*/ 155349 w 484477"/>
                <a:gd name="connsiteY37" fmla="*/ 1788543 h 1901903"/>
                <a:gd name="connsiteX38" fmla="*/ 178353 w 484477"/>
                <a:gd name="connsiteY38" fmla="*/ 1736785 h 1901903"/>
                <a:gd name="connsiteX39" fmla="*/ 195606 w 484477"/>
                <a:gd name="connsiteY39" fmla="*/ 1731034 h 1901903"/>
                <a:gd name="connsiteX40" fmla="*/ 235862 w 484477"/>
                <a:gd name="connsiteY40" fmla="*/ 1736785 h 1901903"/>
                <a:gd name="connsiteX41" fmla="*/ 253115 w 484477"/>
                <a:gd name="connsiteY41" fmla="*/ 1771290 h 1901903"/>
                <a:gd name="connsiteX42" fmla="*/ 270368 w 484477"/>
                <a:gd name="connsiteY42" fmla="*/ 1782792 h 1901903"/>
                <a:gd name="connsiteX43" fmla="*/ 281870 w 484477"/>
                <a:gd name="connsiteY43" fmla="*/ 1800045 h 1901903"/>
                <a:gd name="connsiteX44" fmla="*/ 345130 w 484477"/>
                <a:gd name="connsiteY44" fmla="*/ 1805796 h 1901903"/>
                <a:gd name="connsiteX45" fmla="*/ 356632 w 484477"/>
                <a:gd name="connsiteY45" fmla="*/ 1765539 h 1901903"/>
                <a:gd name="connsiteX46" fmla="*/ 368134 w 484477"/>
                <a:gd name="connsiteY46" fmla="*/ 1731034 h 1901903"/>
                <a:gd name="connsiteX47" fmla="*/ 356501 w 484477"/>
                <a:gd name="connsiteY47" fmla="*/ 1717257 h 1901903"/>
                <a:gd name="connsiteX48" fmla="*/ 339117 w 484477"/>
                <a:gd name="connsiteY48" fmla="*/ 1660951 h 1901903"/>
                <a:gd name="connsiteX49" fmla="*/ 344999 w 484477"/>
                <a:gd name="connsiteY49" fmla="*/ 1620695 h 1901903"/>
                <a:gd name="connsiteX50" fmla="*/ 356632 w 484477"/>
                <a:gd name="connsiteY50" fmla="*/ 1449238 h 1901903"/>
                <a:gd name="connsiteX51" fmla="*/ 350881 w 484477"/>
                <a:gd name="connsiteY51" fmla="*/ 1431985 h 1901903"/>
                <a:gd name="connsiteX52" fmla="*/ 377493 w 484477"/>
                <a:gd name="connsiteY52" fmla="*/ 1358819 h 1901903"/>
                <a:gd name="connsiteX53" fmla="*/ 372814 w 484477"/>
                <a:gd name="connsiteY53" fmla="*/ 1294093 h 1901903"/>
                <a:gd name="connsiteX54" fmla="*/ 368134 w 484477"/>
                <a:gd name="connsiteY54" fmla="*/ 1247955 h 1901903"/>
                <a:gd name="connsiteX55" fmla="*/ 384315 w 484477"/>
                <a:gd name="connsiteY55" fmla="*/ 1207698 h 1901903"/>
                <a:gd name="connsiteX56" fmla="*/ 395818 w 484477"/>
                <a:gd name="connsiteY56" fmla="*/ 1173192 h 1901903"/>
                <a:gd name="connsiteX57" fmla="*/ 402639 w 484477"/>
                <a:gd name="connsiteY57" fmla="*/ 1121434 h 1901903"/>
                <a:gd name="connsiteX58" fmla="*/ 419892 w 484477"/>
                <a:gd name="connsiteY58" fmla="*/ 1069675 h 1901903"/>
                <a:gd name="connsiteX59" fmla="*/ 425643 w 484477"/>
                <a:gd name="connsiteY59" fmla="*/ 1052422 h 1901903"/>
                <a:gd name="connsiteX60" fmla="*/ 437145 w 484477"/>
                <a:gd name="connsiteY60" fmla="*/ 1012166 h 1901903"/>
                <a:gd name="connsiteX61" fmla="*/ 448647 w 484477"/>
                <a:gd name="connsiteY61" fmla="*/ 971909 h 1901903"/>
                <a:gd name="connsiteX62" fmla="*/ 454398 w 484477"/>
                <a:gd name="connsiteY62" fmla="*/ 759124 h 1901903"/>
                <a:gd name="connsiteX63" fmla="*/ 471651 w 484477"/>
                <a:gd name="connsiteY63" fmla="*/ 701615 h 1901903"/>
                <a:gd name="connsiteX64" fmla="*/ 477402 w 484477"/>
                <a:gd name="connsiteY64" fmla="*/ 684362 h 1901903"/>
                <a:gd name="connsiteX65" fmla="*/ 483153 w 484477"/>
                <a:gd name="connsiteY65" fmla="*/ 667109 h 1901903"/>
                <a:gd name="connsiteX66" fmla="*/ 477402 w 484477"/>
                <a:gd name="connsiteY66" fmla="*/ 327804 h 1901903"/>
                <a:gd name="connsiteX67" fmla="*/ 442896 w 484477"/>
                <a:gd name="connsiteY67" fmla="*/ 316302 h 1901903"/>
                <a:gd name="connsiteX68" fmla="*/ 373885 w 484477"/>
                <a:gd name="connsiteY68" fmla="*/ 293298 h 1901903"/>
                <a:gd name="connsiteX69" fmla="*/ 350881 w 484477"/>
                <a:gd name="connsiteY69" fmla="*/ 281796 h 1901903"/>
                <a:gd name="connsiteX70" fmla="*/ 333628 w 484477"/>
                <a:gd name="connsiteY70" fmla="*/ 276045 h 1901903"/>
                <a:gd name="connsiteX71" fmla="*/ 327877 w 484477"/>
                <a:gd name="connsiteY71" fmla="*/ 258792 h 1901903"/>
                <a:gd name="connsiteX72" fmla="*/ 322126 w 484477"/>
                <a:gd name="connsiteY72" fmla="*/ 74762 h 1901903"/>
                <a:gd name="connsiteX73" fmla="*/ 264617 w 484477"/>
                <a:gd name="connsiteY73" fmla="*/ 28755 h 1901903"/>
                <a:gd name="connsiteX74" fmla="*/ 247364 w 484477"/>
                <a:gd name="connsiteY74" fmla="*/ 23004 h 1901903"/>
                <a:gd name="connsiteX75" fmla="*/ 201356 w 484477"/>
                <a:gd name="connsiteY75" fmla="*/ 0 h 1901903"/>
                <a:gd name="connsiteX76" fmla="*/ 149598 w 484477"/>
                <a:gd name="connsiteY76" fmla="*/ 17253 h 1901903"/>
                <a:gd name="connsiteX77" fmla="*/ 132345 w 484477"/>
                <a:gd name="connsiteY77" fmla="*/ 23004 h 1901903"/>
                <a:gd name="connsiteX78" fmla="*/ 120843 w 484477"/>
                <a:gd name="connsiteY78" fmla="*/ 46007 h 1901903"/>
                <a:gd name="connsiteX79" fmla="*/ 120843 w 484477"/>
                <a:gd name="connsiteY79" fmla="*/ 40256 h 1901903"/>
                <a:gd name="connsiteX0" fmla="*/ 178353 w 484477"/>
                <a:gd name="connsiteY0" fmla="*/ 17253 h 1901903"/>
                <a:gd name="connsiteX1" fmla="*/ 178353 w 484477"/>
                <a:gd name="connsiteY1" fmla="*/ 17253 h 1901903"/>
                <a:gd name="connsiteX2" fmla="*/ 120843 w 484477"/>
                <a:gd name="connsiteY2" fmla="*/ 57509 h 1901903"/>
                <a:gd name="connsiteX3" fmla="*/ 103590 w 484477"/>
                <a:gd name="connsiteY3" fmla="*/ 69011 h 1901903"/>
                <a:gd name="connsiteX4" fmla="*/ 92089 w 484477"/>
                <a:gd name="connsiteY4" fmla="*/ 86264 h 1901903"/>
                <a:gd name="connsiteX5" fmla="*/ 88744 w 484477"/>
                <a:gd name="connsiteY5" fmla="*/ 155669 h 1901903"/>
                <a:gd name="connsiteX6" fmla="*/ 80587 w 484477"/>
                <a:gd name="connsiteY6" fmla="*/ 230038 h 1901903"/>
                <a:gd name="connsiteX7" fmla="*/ 103590 w 484477"/>
                <a:gd name="connsiteY7" fmla="*/ 281796 h 1901903"/>
                <a:gd name="connsiteX8" fmla="*/ 109341 w 484477"/>
                <a:gd name="connsiteY8" fmla="*/ 299049 h 1901903"/>
                <a:gd name="connsiteX9" fmla="*/ 97839 w 484477"/>
                <a:gd name="connsiteY9" fmla="*/ 316302 h 1901903"/>
                <a:gd name="connsiteX10" fmla="*/ 74836 w 484477"/>
                <a:gd name="connsiteY10" fmla="*/ 322053 h 1901903"/>
                <a:gd name="connsiteX11" fmla="*/ 23077 w 484477"/>
                <a:gd name="connsiteY11" fmla="*/ 345056 h 1901903"/>
                <a:gd name="connsiteX12" fmla="*/ 5824 w 484477"/>
                <a:gd name="connsiteY12" fmla="*/ 506083 h 1901903"/>
                <a:gd name="connsiteX13" fmla="*/ 73 w 484477"/>
                <a:gd name="connsiteY13" fmla="*/ 523336 h 1901903"/>
                <a:gd name="connsiteX14" fmla="*/ 10635 w 484477"/>
                <a:gd name="connsiteY14" fmla="*/ 586596 h 1901903"/>
                <a:gd name="connsiteX15" fmla="*/ 16386 w 484477"/>
                <a:gd name="connsiteY15" fmla="*/ 626853 h 1901903"/>
                <a:gd name="connsiteX16" fmla="*/ 32568 w 484477"/>
                <a:gd name="connsiteY16" fmla="*/ 668443 h 1901903"/>
                <a:gd name="connsiteX17" fmla="*/ 41795 w 484477"/>
                <a:gd name="connsiteY17" fmla="*/ 734918 h 1901903"/>
                <a:gd name="connsiteX18" fmla="*/ 53297 w 484477"/>
                <a:gd name="connsiteY18" fmla="*/ 776377 h 1901903"/>
                <a:gd name="connsiteX19" fmla="*/ 48617 w 484477"/>
                <a:gd name="connsiteY19" fmla="*/ 851533 h 1901903"/>
                <a:gd name="connsiteX20" fmla="*/ 43938 w 484477"/>
                <a:gd name="connsiteY20" fmla="*/ 955859 h 1901903"/>
                <a:gd name="connsiteX21" fmla="*/ 46212 w 484477"/>
                <a:gd name="connsiteY21" fmla="*/ 992770 h 1901903"/>
                <a:gd name="connsiteX22" fmla="*/ 54237 w 484477"/>
                <a:gd name="connsiteY22" fmla="*/ 1027276 h 1901903"/>
                <a:gd name="connsiteX23" fmla="*/ 51832 w 484477"/>
                <a:gd name="connsiteY23" fmla="*/ 1075426 h 1901903"/>
                <a:gd name="connsiteX24" fmla="*/ 57583 w 484477"/>
                <a:gd name="connsiteY24" fmla="*/ 1092679 h 1901903"/>
                <a:gd name="connsiteX25" fmla="*/ 63334 w 484477"/>
                <a:gd name="connsiteY25" fmla="*/ 1115683 h 1901903"/>
                <a:gd name="connsiteX26" fmla="*/ 80587 w 484477"/>
                <a:gd name="connsiteY26" fmla="*/ 1167441 h 1901903"/>
                <a:gd name="connsiteX27" fmla="*/ 86338 w 484477"/>
                <a:gd name="connsiteY27" fmla="*/ 1184694 h 1901903"/>
                <a:gd name="connsiteX28" fmla="*/ 80587 w 484477"/>
                <a:gd name="connsiteY28" fmla="*/ 1644770 h 1901903"/>
                <a:gd name="connsiteX29" fmla="*/ 74836 w 484477"/>
                <a:gd name="connsiteY29" fmla="*/ 1662022 h 1901903"/>
                <a:gd name="connsiteX30" fmla="*/ 80587 w 484477"/>
                <a:gd name="connsiteY30" fmla="*/ 1725283 h 1901903"/>
                <a:gd name="connsiteX31" fmla="*/ 74836 w 484477"/>
                <a:gd name="connsiteY31" fmla="*/ 1782792 h 1901903"/>
                <a:gd name="connsiteX32" fmla="*/ 63334 w 484477"/>
                <a:gd name="connsiteY32" fmla="*/ 1817298 h 1901903"/>
                <a:gd name="connsiteX33" fmla="*/ 51701 w 484477"/>
                <a:gd name="connsiteY33" fmla="*/ 1871593 h 1901903"/>
                <a:gd name="connsiteX34" fmla="*/ 68954 w 484477"/>
                <a:gd name="connsiteY34" fmla="*/ 1901682 h 1901903"/>
                <a:gd name="connsiteX35" fmla="*/ 133416 w 484477"/>
                <a:gd name="connsiteY35" fmla="*/ 1885501 h 1901903"/>
                <a:gd name="connsiteX36" fmla="*/ 138096 w 484477"/>
                <a:gd name="connsiteY36" fmla="*/ 1823049 h 1901903"/>
                <a:gd name="connsiteX37" fmla="*/ 155349 w 484477"/>
                <a:gd name="connsiteY37" fmla="*/ 1788543 h 1901903"/>
                <a:gd name="connsiteX38" fmla="*/ 178353 w 484477"/>
                <a:gd name="connsiteY38" fmla="*/ 1736785 h 1901903"/>
                <a:gd name="connsiteX39" fmla="*/ 195606 w 484477"/>
                <a:gd name="connsiteY39" fmla="*/ 1731034 h 1901903"/>
                <a:gd name="connsiteX40" fmla="*/ 235862 w 484477"/>
                <a:gd name="connsiteY40" fmla="*/ 1736785 h 1901903"/>
                <a:gd name="connsiteX41" fmla="*/ 253115 w 484477"/>
                <a:gd name="connsiteY41" fmla="*/ 1771290 h 1901903"/>
                <a:gd name="connsiteX42" fmla="*/ 270368 w 484477"/>
                <a:gd name="connsiteY42" fmla="*/ 1782792 h 1901903"/>
                <a:gd name="connsiteX43" fmla="*/ 281870 w 484477"/>
                <a:gd name="connsiteY43" fmla="*/ 1800045 h 1901903"/>
                <a:gd name="connsiteX44" fmla="*/ 345130 w 484477"/>
                <a:gd name="connsiteY44" fmla="*/ 1805796 h 1901903"/>
                <a:gd name="connsiteX45" fmla="*/ 356632 w 484477"/>
                <a:gd name="connsiteY45" fmla="*/ 1765539 h 1901903"/>
                <a:gd name="connsiteX46" fmla="*/ 368134 w 484477"/>
                <a:gd name="connsiteY46" fmla="*/ 1731034 h 1901903"/>
                <a:gd name="connsiteX47" fmla="*/ 356501 w 484477"/>
                <a:gd name="connsiteY47" fmla="*/ 1717257 h 1901903"/>
                <a:gd name="connsiteX48" fmla="*/ 339117 w 484477"/>
                <a:gd name="connsiteY48" fmla="*/ 1660951 h 1901903"/>
                <a:gd name="connsiteX49" fmla="*/ 344999 w 484477"/>
                <a:gd name="connsiteY49" fmla="*/ 1620695 h 1901903"/>
                <a:gd name="connsiteX50" fmla="*/ 356632 w 484477"/>
                <a:gd name="connsiteY50" fmla="*/ 1449238 h 1901903"/>
                <a:gd name="connsiteX51" fmla="*/ 350881 w 484477"/>
                <a:gd name="connsiteY51" fmla="*/ 1431985 h 1901903"/>
                <a:gd name="connsiteX52" fmla="*/ 377493 w 484477"/>
                <a:gd name="connsiteY52" fmla="*/ 1358819 h 1901903"/>
                <a:gd name="connsiteX53" fmla="*/ 372814 w 484477"/>
                <a:gd name="connsiteY53" fmla="*/ 1294093 h 1901903"/>
                <a:gd name="connsiteX54" fmla="*/ 368134 w 484477"/>
                <a:gd name="connsiteY54" fmla="*/ 1247955 h 1901903"/>
                <a:gd name="connsiteX55" fmla="*/ 384315 w 484477"/>
                <a:gd name="connsiteY55" fmla="*/ 1207698 h 1901903"/>
                <a:gd name="connsiteX56" fmla="*/ 395818 w 484477"/>
                <a:gd name="connsiteY56" fmla="*/ 1173192 h 1901903"/>
                <a:gd name="connsiteX57" fmla="*/ 402639 w 484477"/>
                <a:gd name="connsiteY57" fmla="*/ 1121434 h 1901903"/>
                <a:gd name="connsiteX58" fmla="*/ 419892 w 484477"/>
                <a:gd name="connsiteY58" fmla="*/ 1069675 h 1901903"/>
                <a:gd name="connsiteX59" fmla="*/ 425643 w 484477"/>
                <a:gd name="connsiteY59" fmla="*/ 1052422 h 1901903"/>
                <a:gd name="connsiteX60" fmla="*/ 437145 w 484477"/>
                <a:gd name="connsiteY60" fmla="*/ 1012166 h 1901903"/>
                <a:gd name="connsiteX61" fmla="*/ 448647 w 484477"/>
                <a:gd name="connsiteY61" fmla="*/ 971909 h 1901903"/>
                <a:gd name="connsiteX62" fmla="*/ 454398 w 484477"/>
                <a:gd name="connsiteY62" fmla="*/ 759124 h 1901903"/>
                <a:gd name="connsiteX63" fmla="*/ 471651 w 484477"/>
                <a:gd name="connsiteY63" fmla="*/ 701615 h 1901903"/>
                <a:gd name="connsiteX64" fmla="*/ 477402 w 484477"/>
                <a:gd name="connsiteY64" fmla="*/ 684362 h 1901903"/>
                <a:gd name="connsiteX65" fmla="*/ 483153 w 484477"/>
                <a:gd name="connsiteY65" fmla="*/ 667109 h 1901903"/>
                <a:gd name="connsiteX66" fmla="*/ 477402 w 484477"/>
                <a:gd name="connsiteY66" fmla="*/ 327804 h 1901903"/>
                <a:gd name="connsiteX67" fmla="*/ 442896 w 484477"/>
                <a:gd name="connsiteY67" fmla="*/ 316302 h 1901903"/>
                <a:gd name="connsiteX68" fmla="*/ 373885 w 484477"/>
                <a:gd name="connsiteY68" fmla="*/ 293298 h 1901903"/>
                <a:gd name="connsiteX69" fmla="*/ 350881 w 484477"/>
                <a:gd name="connsiteY69" fmla="*/ 281796 h 1901903"/>
                <a:gd name="connsiteX70" fmla="*/ 333628 w 484477"/>
                <a:gd name="connsiteY70" fmla="*/ 276045 h 1901903"/>
                <a:gd name="connsiteX71" fmla="*/ 327877 w 484477"/>
                <a:gd name="connsiteY71" fmla="*/ 258792 h 1901903"/>
                <a:gd name="connsiteX72" fmla="*/ 322126 w 484477"/>
                <a:gd name="connsiteY72" fmla="*/ 74762 h 1901903"/>
                <a:gd name="connsiteX73" fmla="*/ 264617 w 484477"/>
                <a:gd name="connsiteY73" fmla="*/ 28755 h 1901903"/>
                <a:gd name="connsiteX74" fmla="*/ 247364 w 484477"/>
                <a:gd name="connsiteY74" fmla="*/ 23004 h 1901903"/>
                <a:gd name="connsiteX75" fmla="*/ 201356 w 484477"/>
                <a:gd name="connsiteY75" fmla="*/ 0 h 1901903"/>
                <a:gd name="connsiteX76" fmla="*/ 149598 w 484477"/>
                <a:gd name="connsiteY76" fmla="*/ 17253 h 1901903"/>
                <a:gd name="connsiteX77" fmla="*/ 132345 w 484477"/>
                <a:gd name="connsiteY77" fmla="*/ 23004 h 1901903"/>
                <a:gd name="connsiteX78" fmla="*/ 120843 w 484477"/>
                <a:gd name="connsiteY78" fmla="*/ 46007 h 1901903"/>
                <a:gd name="connsiteX79" fmla="*/ 120843 w 484477"/>
                <a:gd name="connsiteY79" fmla="*/ 40256 h 1901903"/>
                <a:gd name="connsiteX0" fmla="*/ 178353 w 484477"/>
                <a:gd name="connsiteY0" fmla="*/ 17253 h 1901903"/>
                <a:gd name="connsiteX1" fmla="*/ 178353 w 484477"/>
                <a:gd name="connsiteY1" fmla="*/ 17253 h 1901903"/>
                <a:gd name="connsiteX2" fmla="*/ 120843 w 484477"/>
                <a:gd name="connsiteY2" fmla="*/ 57509 h 1901903"/>
                <a:gd name="connsiteX3" fmla="*/ 103590 w 484477"/>
                <a:gd name="connsiteY3" fmla="*/ 69011 h 1901903"/>
                <a:gd name="connsiteX4" fmla="*/ 92089 w 484477"/>
                <a:gd name="connsiteY4" fmla="*/ 86264 h 1901903"/>
                <a:gd name="connsiteX5" fmla="*/ 88744 w 484477"/>
                <a:gd name="connsiteY5" fmla="*/ 155669 h 1901903"/>
                <a:gd name="connsiteX6" fmla="*/ 94494 w 484477"/>
                <a:gd name="connsiteY6" fmla="*/ 230038 h 1901903"/>
                <a:gd name="connsiteX7" fmla="*/ 103590 w 484477"/>
                <a:gd name="connsiteY7" fmla="*/ 281796 h 1901903"/>
                <a:gd name="connsiteX8" fmla="*/ 109341 w 484477"/>
                <a:gd name="connsiteY8" fmla="*/ 299049 h 1901903"/>
                <a:gd name="connsiteX9" fmla="*/ 97839 w 484477"/>
                <a:gd name="connsiteY9" fmla="*/ 316302 h 1901903"/>
                <a:gd name="connsiteX10" fmla="*/ 74836 w 484477"/>
                <a:gd name="connsiteY10" fmla="*/ 322053 h 1901903"/>
                <a:gd name="connsiteX11" fmla="*/ 23077 w 484477"/>
                <a:gd name="connsiteY11" fmla="*/ 345056 h 1901903"/>
                <a:gd name="connsiteX12" fmla="*/ 5824 w 484477"/>
                <a:gd name="connsiteY12" fmla="*/ 506083 h 1901903"/>
                <a:gd name="connsiteX13" fmla="*/ 73 w 484477"/>
                <a:gd name="connsiteY13" fmla="*/ 523336 h 1901903"/>
                <a:gd name="connsiteX14" fmla="*/ 10635 w 484477"/>
                <a:gd name="connsiteY14" fmla="*/ 586596 h 1901903"/>
                <a:gd name="connsiteX15" fmla="*/ 16386 w 484477"/>
                <a:gd name="connsiteY15" fmla="*/ 626853 h 1901903"/>
                <a:gd name="connsiteX16" fmla="*/ 32568 w 484477"/>
                <a:gd name="connsiteY16" fmla="*/ 668443 h 1901903"/>
                <a:gd name="connsiteX17" fmla="*/ 41795 w 484477"/>
                <a:gd name="connsiteY17" fmla="*/ 734918 h 1901903"/>
                <a:gd name="connsiteX18" fmla="*/ 53297 w 484477"/>
                <a:gd name="connsiteY18" fmla="*/ 776377 h 1901903"/>
                <a:gd name="connsiteX19" fmla="*/ 48617 w 484477"/>
                <a:gd name="connsiteY19" fmla="*/ 851533 h 1901903"/>
                <a:gd name="connsiteX20" fmla="*/ 43938 w 484477"/>
                <a:gd name="connsiteY20" fmla="*/ 955859 h 1901903"/>
                <a:gd name="connsiteX21" fmla="*/ 46212 w 484477"/>
                <a:gd name="connsiteY21" fmla="*/ 992770 h 1901903"/>
                <a:gd name="connsiteX22" fmla="*/ 54237 w 484477"/>
                <a:gd name="connsiteY22" fmla="*/ 1027276 h 1901903"/>
                <a:gd name="connsiteX23" fmla="*/ 51832 w 484477"/>
                <a:gd name="connsiteY23" fmla="*/ 1075426 h 1901903"/>
                <a:gd name="connsiteX24" fmla="*/ 57583 w 484477"/>
                <a:gd name="connsiteY24" fmla="*/ 1092679 h 1901903"/>
                <a:gd name="connsiteX25" fmla="*/ 63334 w 484477"/>
                <a:gd name="connsiteY25" fmla="*/ 1115683 h 1901903"/>
                <a:gd name="connsiteX26" fmla="*/ 80587 w 484477"/>
                <a:gd name="connsiteY26" fmla="*/ 1167441 h 1901903"/>
                <a:gd name="connsiteX27" fmla="*/ 86338 w 484477"/>
                <a:gd name="connsiteY27" fmla="*/ 1184694 h 1901903"/>
                <a:gd name="connsiteX28" fmla="*/ 80587 w 484477"/>
                <a:gd name="connsiteY28" fmla="*/ 1644770 h 1901903"/>
                <a:gd name="connsiteX29" fmla="*/ 74836 w 484477"/>
                <a:gd name="connsiteY29" fmla="*/ 1662022 h 1901903"/>
                <a:gd name="connsiteX30" fmla="*/ 80587 w 484477"/>
                <a:gd name="connsiteY30" fmla="*/ 1725283 h 1901903"/>
                <a:gd name="connsiteX31" fmla="*/ 74836 w 484477"/>
                <a:gd name="connsiteY31" fmla="*/ 1782792 h 1901903"/>
                <a:gd name="connsiteX32" fmla="*/ 63334 w 484477"/>
                <a:gd name="connsiteY32" fmla="*/ 1817298 h 1901903"/>
                <a:gd name="connsiteX33" fmla="*/ 51701 w 484477"/>
                <a:gd name="connsiteY33" fmla="*/ 1871593 h 1901903"/>
                <a:gd name="connsiteX34" fmla="*/ 68954 w 484477"/>
                <a:gd name="connsiteY34" fmla="*/ 1901682 h 1901903"/>
                <a:gd name="connsiteX35" fmla="*/ 133416 w 484477"/>
                <a:gd name="connsiteY35" fmla="*/ 1885501 h 1901903"/>
                <a:gd name="connsiteX36" fmla="*/ 138096 w 484477"/>
                <a:gd name="connsiteY36" fmla="*/ 1823049 h 1901903"/>
                <a:gd name="connsiteX37" fmla="*/ 155349 w 484477"/>
                <a:gd name="connsiteY37" fmla="*/ 1788543 h 1901903"/>
                <a:gd name="connsiteX38" fmla="*/ 178353 w 484477"/>
                <a:gd name="connsiteY38" fmla="*/ 1736785 h 1901903"/>
                <a:gd name="connsiteX39" fmla="*/ 195606 w 484477"/>
                <a:gd name="connsiteY39" fmla="*/ 1731034 h 1901903"/>
                <a:gd name="connsiteX40" fmla="*/ 235862 w 484477"/>
                <a:gd name="connsiteY40" fmla="*/ 1736785 h 1901903"/>
                <a:gd name="connsiteX41" fmla="*/ 253115 w 484477"/>
                <a:gd name="connsiteY41" fmla="*/ 1771290 h 1901903"/>
                <a:gd name="connsiteX42" fmla="*/ 270368 w 484477"/>
                <a:gd name="connsiteY42" fmla="*/ 1782792 h 1901903"/>
                <a:gd name="connsiteX43" fmla="*/ 281870 w 484477"/>
                <a:gd name="connsiteY43" fmla="*/ 1800045 h 1901903"/>
                <a:gd name="connsiteX44" fmla="*/ 345130 w 484477"/>
                <a:gd name="connsiteY44" fmla="*/ 1805796 h 1901903"/>
                <a:gd name="connsiteX45" fmla="*/ 356632 w 484477"/>
                <a:gd name="connsiteY45" fmla="*/ 1765539 h 1901903"/>
                <a:gd name="connsiteX46" fmla="*/ 368134 w 484477"/>
                <a:gd name="connsiteY46" fmla="*/ 1731034 h 1901903"/>
                <a:gd name="connsiteX47" fmla="*/ 356501 w 484477"/>
                <a:gd name="connsiteY47" fmla="*/ 1717257 h 1901903"/>
                <a:gd name="connsiteX48" fmla="*/ 339117 w 484477"/>
                <a:gd name="connsiteY48" fmla="*/ 1660951 h 1901903"/>
                <a:gd name="connsiteX49" fmla="*/ 344999 w 484477"/>
                <a:gd name="connsiteY49" fmla="*/ 1620695 h 1901903"/>
                <a:gd name="connsiteX50" fmla="*/ 356632 w 484477"/>
                <a:gd name="connsiteY50" fmla="*/ 1449238 h 1901903"/>
                <a:gd name="connsiteX51" fmla="*/ 350881 w 484477"/>
                <a:gd name="connsiteY51" fmla="*/ 1431985 h 1901903"/>
                <a:gd name="connsiteX52" fmla="*/ 377493 w 484477"/>
                <a:gd name="connsiteY52" fmla="*/ 1358819 h 1901903"/>
                <a:gd name="connsiteX53" fmla="*/ 372814 w 484477"/>
                <a:gd name="connsiteY53" fmla="*/ 1294093 h 1901903"/>
                <a:gd name="connsiteX54" fmla="*/ 368134 w 484477"/>
                <a:gd name="connsiteY54" fmla="*/ 1247955 h 1901903"/>
                <a:gd name="connsiteX55" fmla="*/ 384315 w 484477"/>
                <a:gd name="connsiteY55" fmla="*/ 1207698 h 1901903"/>
                <a:gd name="connsiteX56" fmla="*/ 395818 w 484477"/>
                <a:gd name="connsiteY56" fmla="*/ 1173192 h 1901903"/>
                <a:gd name="connsiteX57" fmla="*/ 402639 w 484477"/>
                <a:gd name="connsiteY57" fmla="*/ 1121434 h 1901903"/>
                <a:gd name="connsiteX58" fmla="*/ 419892 w 484477"/>
                <a:gd name="connsiteY58" fmla="*/ 1069675 h 1901903"/>
                <a:gd name="connsiteX59" fmla="*/ 425643 w 484477"/>
                <a:gd name="connsiteY59" fmla="*/ 1052422 h 1901903"/>
                <a:gd name="connsiteX60" fmla="*/ 437145 w 484477"/>
                <a:gd name="connsiteY60" fmla="*/ 1012166 h 1901903"/>
                <a:gd name="connsiteX61" fmla="*/ 448647 w 484477"/>
                <a:gd name="connsiteY61" fmla="*/ 971909 h 1901903"/>
                <a:gd name="connsiteX62" fmla="*/ 454398 w 484477"/>
                <a:gd name="connsiteY62" fmla="*/ 759124 h 1901903"/>
                <a:gd name="connsiteX63" fmla="*/ 471651 w 484477"/>
                <a:gd name="connsiteY63" fmla="*/ 701615 h 1901903"/>
                <a:gd name="connsiteX64" fmla="*/ 477402 w 484477"/>
                <a:gd name="connsiteY64" fmla="*/ 684362 h 1901903"/>
                <a:gd name="connsiteX65" fmla="*/ 483153 w 484477"/>
                <a:gd name="connsiteY65" fmla="*/ 667109 h 1901903"/>
                <a:gd name="connsiteX66" fmla="*/ 477402 w 484477"/>
                <a:gd name="connsiteY66" fmla="*/ 327804 h 1901903"/>
                <a:gd name="connsiteX67" fmla="*/ 442896 w 484477"/>
                <a:gd name="connsiteY67" fmla="*/ 316302 h 1901903"/>
                <a:gd name="connsiteX68" fmla="*/ 373885 w 484477"/>
                <a:gd name="connsiteY68" fmla="*/ 293298 h 1901903"/>
                <a:gd name="connsiteX69" fmla="*/ 350881 w 484477"/>
                <a:gd name="connsiteY69" fmla="*/ 281796 h 1901903"/>
                <a:gd name="connsiteX70" fmla="*/ 333628 w 484477"/>
                <a:gd name="connsiteY70" fmla="*/ 276045 h 1901903"/>
                <a:gd name="connsiteX71" fmla="*/ 327877 w 484477"/>
                <a:gd name="connsiteY71" fmla="*/ 258792 h 1901903"/>
                <a:gd name="connsiteX72" fmla="*/ 322126 w 484477"/>
                <a:gd name="connsiteY72" fmla="*/ 74762 h 1901903"/>
                <a:gd name="connsiteX73" fmla="*/ 264617 w 484477"/>
                <a:gd name="connsiteY73" fmla="*/ 28755 h 1901903"/>
                <a:gd name="connsiteX74" fmla="*/ 247364 w 484477"/>
                <a:gd name="connsiteY74" fmla="*/ 23004 h 1901903"/>
                <a:gd name="connsiteX75" fmla="*/ 201356 w 484477"/>
                <a:gd name="connsiteY75" fmla="*/ 0 h 1901903"/>
                <a:gd name="connsiteX76" fmla="*/ 149598 w 484477"/>
                <a:gd name="connsiteY76" fmla="*/ 17253 h 1901903"/>
                <a:gd name="connsiteX77" fmla="*/ 132345 w 484477"/>
                <a:gd name="connsiteY77" fmla="*/ 23004 h 1901903"/>
                <a:gd name="connsiteX78" fmla="*/ 120843 w 484477"/>
                <a:gd name="connsiteY78" fmla="*/ 46007 h 1901903"/>
                <a:gd name="connsiteX79" fmla="*/ 120843 w 484477"/>
                <a:gd name="connsiteY79" fmla="*/ 40256 h 1901903"/>
                <a:gd name="connsiteX0" fmla="*/ 178420 w 484544"/>
                <a:gd name="connsiteY0" fmla="*/ 17253 h 1901903"/>
                <a:gd name="connsiteX1" fmla="*/ 178420 w 484544"/>
                <a:gd name="connsiteY1" fmla="*/ 17253 h 1901903"/>
                <a:gd name="connsiteX2" fmla="*/ 120910 w 484544"/>
                <a:gd name="connsiteY2" fmla="*/ 57509 h 1901903"/>
                <a:gd name="connsiteX3" fmla="*/ 103657 w 484544"/>
                <a:gd name="connsiteY3" fmla="*/ 69011 h 1901903"/>
                <a:gd name="connsiteX4" fmla="*/ 92156 w 484544"/>
                <a:gd name="connsiteY4" fmla="*/ 86264 h 1901903"/>
                <a:gd name="connsiteX5" fmla="*/ 88811 w 484544"/>
                <a:gd name="connsiteY5" fmla="*/ 155669 h 1901903"/>
                <a:gd name="connsiteX6" fmla="*/ 94561 w 484544"/>
                <a:gd name="connsiteY6" fmla="*/ 230038 h 1901903"/>
                <a:gd name="connsiteX7" fmla="*/ 103657 w 484544"/>
                <a:gd name="connsiteY7" fmla="*/ 281796 h 1901903"/>
                <a:gd name="connsiteX8" fmla="*/ 109408 w 484544"/>
                <a:gd name="connsiteY8" fmla="*/ 299049 h 1901903"/>
                <a:gd name="connsiteX9" fmla="*/ 97906 w 484544"/>
                <a:gd name="connsiteY9" fmla="*/ 316302 h 1901903"/>
                <a:gd name="connsiteX10" fmla="*/ 74903 w 484544"/>
                <a:gd name="connsiteY10" fmla="*/ 322053 h 1901903"/>
                <a:gd name="connsiteX11" fmla="*/ 23144 w 484544"/>
                <a:gd name="connsiteY11" fmla="*/ 362440 h 1901903"/>
                <a:gd name="connsiteX12" fmla="*/ 5891 w 484544"/>
                <a:gd name="connsiteY12" fmla="*/ 506083 h 1901903"/>
                <a:gd name="connsiteX13" fmla="*/ 140 w 484544"/>
                <a:gd name="connsiteY13" fmla="*/ 523336 h 1901903"/>
                <a:gd name="connsiteX14" fmla="*/ 10702 w 484544"/>
                <a:gd name="connsiteY14" fmla="*/ 586596 h 1901903"/>
                <a:gd name="connsiteX15" fmla="*/ 16453 w 484544"/>
                <a:gd name="connsiteY15" fmla="*/ 626853 h 1901903"/>
                <a:gd name="connsiteX16" fmla="*/ 32635 w 484544"/>
                <a:gd name="connsiteY16" fmla="*/ 668443 h 1901903"/>
                <a:gd name="connsiteX17" fmla="*/ 41862 w 484544"/>
                <a:gd name="connsiteY17" fmla="*/ 734918 h 1901903"/>
                <a:gd name="connsiteX18" fmla="*/ 53364 w 484544"/>
                <a:gd name="connsiteY18" fmla="*/ 776377 h 1901903"/>
                <a:gd name="connsiteX19" fmla="*/ 48684 w 484544"/>
                <a:gd name="connsiteY19" fmla="*/ 851533 h 1901903"/>
                <a:gd name="connsiteX20" fmla="*/ 44005 w 484544"/>
                <a:gd name="connsiteY20" fmla="*/ 955859 h 1901903"/>
                <a:gd name="connsiteX21" fmla="*/ 46279 w 484544"/>
                <a:gd name="connsiteY21" fmla="*/ 992770 h 1901903"/>
                <a:gd name="connsiteX22" fmla="*/ 54304 w 484544"/>
                <a:gd name="connsiteY22" fmla="*/ 1027276 h 1901903"/>
                <a:gd name="connsiteX23" fmla="*/ 51899 w 484544"/>
                <a:gd name="connsiteY23" fmla="*/ 1075426 h 1901903"/>
                <a:gd name="connsiteX24" fmla="*/ 57650 w 484544"/>
                <a:gd name="connsiteY24" fmla="*/ 1092679 h 1901903"/>
                <a:gd name="connsiteX25" fmla="*/ 63401 w 484544"/>
                <a:gd name="connsiteY25" fmla="*/ 1115683 h 1901903"/>
                <a:gd name="connsiteX26" fmla="*/ 80654 w 484544"/>
                <a:gd name="connsiteY26" fmla="*/ 1167441 h 1901903"/>
                <a:gd name="connsiteX27" fmla="*/ 86405 w 484544"/>
                <a:gd name="connsiteY27" fmla="*/ 1184694 h 1901903"/>
                <a:gd name="connsiteX28" fmla="*/ 80654 w 484544"/>
                <a:gd name="connsiteY28" fmla="*/ 1644770 h 1901903"/>
                <a:gd name="connsiteX29" fmla="*/ 74903 w 484544"/>
                <a:gd name="connsiteY29" fmla="*/ 1662022 h 1901903"/>
                <a:gd name="connsiteX30" fmla="*/ 80654 w 484544"/>
                <a:gd name="connsiteY30" fmla="*/ 1725283 h 1901903"/>
                <a:gd name="connsiteX31" fmla="*/ 74903 w 484544"/>
                <a:gd name="connsiteY31" fmla="*/ 1782792 h 1901903"/>
                <a:gd name="connsiteX32" fmla="*/ 63401 w 484544"/>
                <a:gd name="connsiteY32" fmla="*/ 1817298 h 1901903"/>
                <a:gd name="connsiteX33" fmla="*/ 51768 w 484544"/>
                <a:gd name="connsiteY33" fmla="*/ 1871593 h 1901903"/>
                <a:gd name="connsiteX34" fmla="*/ 69021 w 484544"/>
                <a:gd name="connsiteY34" fmla="*/ 1901682 h 1901903"/>
                <a:gd name="connsiteX35" fmla="*/ 133483 w 484544"/>
                <a:gd name="connsiteY35" fmla="*/ 1885501 h 1901903"/>
                <a:gd name="connsiteX36" fmla="*/ 138163 w 484544"/>
                <a:gd name="connsiteY36" fmla="*/ 1823049 h 1901903"/>
                <a:gd name="connsiteX37" fmla="*/ 155416 w 484544"/>
                <a:gd name="connsiteY37" fmla="*/ 1788543 h 1901903"/>
                <a:gd name="connsiteX38" fmla="*/ 178420 w 484544"/>
                <a:gd name="connsiteY38" fmla="*/ 1736785 h 1901903"/>
                <a:gd name="connsiteX39" fmla="*/ 195673 w 484544"/>
                <a:gd name="connsiteY39" fmla="*/ 1731034 h 1901903"/>
                <a:gd name="connsiteX40" fmla="*/ 235929 w 484544"/>
                <a:gd name="connsiteY40" fmla="*/ 1736785 h 1901903"/>
                <a:gd name="connsiteX41" fmla="*/ 253182 w 484544"/>
                <a:gd name="connsiteY41" fmla="*/ 1771290 h 1901903"/>
                <a:gd name="connsiteX42" fmla="*/ 270435 w 484544"/>
                <a:gd name="connsiteY42" fmla="*/ 1782792 h 1901903"/>
                <a:gd name="connsiteX43" fmla="*/ 281937 w 484544"/>
                <a:gd name="connsiteY43" fmla="*/ 1800045 h 1901903"/>
                <a:gd name="connsiteX44" fmla="*/ 345197 w 484544"/>
                <a:gd name="connsiteY44" fmla="*/ 1805796 h 1901903"/>
                <a:gd name="connsiteX45" fmla="*/ 356699 w 484544"/>
                <a:gd name="connsiteY45" fmla="*/ 1765539 h 1901903"/>
                <a:gd name="connsiteX46" fmla="*/ 368201 w 484544"/>
                <a:gd name="connsiteY46" fmla="*/ 1731034 h 1901903"/>
                <a:gd name="connsiteX47" fmla="*/ 356568 w 484544"/>
                <a:gd name="connsiteY47" fmla="*/ 1717257 h 1901903"/>
                <a:gd name="connsiteX48" fmla="*/ 339184 w 484544"/>
                <a:gd name="connsiteY48" fmla="*/ 1660951 h 1901903"/>
                <a:gd name="connsiteX49" fmla="*/ 345066 w 484544"/>
                <a:gd name="connsiteY49" fmla="*/ 1620695 h 1901903"/>
                <a:gd name="connsiteX50" fmla="*/ 356699 w 484544"/>
                <a:gd name="connsiteY50" fmla="*/ 1449238 h 1901903"/>
                <a:gd name="connsiteX51" fmla="*/ 350948 w 484544"/>
                <a:gd name="connsiteY51" fmla="*/ 1431985 h 1901903"/>
                <a:gd name="connsiteX52" fmla="*/ 377560 w 484544"/>
                <a:gd name="connsiteY52" fmla="*/ 1358819 h 1901903"/>
                <a:gd name="connsiteX53" fmla="*/ 372881 w 484544"/>
                <a:gd name="connsiteY53" fmla="*/ 1294093 h 1901903"/>
                <a:gd name="connsiteX54" fmla="*/ 368201 w 484544"/>
                <a:gd name="connsiteY54" fmla="*/ 1247955 h 1901903"/>
                <a:gd name="connsiteX55" fmla="*/ 384382 w 484544"/>
                <a:gd name="connsiteY55" fmla="*/ 1207698 h 1901903"/>
                <a:gd name="connsiteX56" fmla="*/ 395885 w 484544"/>
                <a:gd name="connsiteY56" fmla="*/ 1173192 h 1901903"/>
                <a:gd name="connsiteX57" fmla="*/ 402706 w 484544"/>
                <a:gd name="connsiteY57" fmla="*/ 1121434 h 1901903"/>
                <a:gd name="connsiteX58" fmla="*/ 419959 w 484544"/>
                <a:gd name="connsiteY58" fmla="*/ 1069675 h 1901903"/>
                <a:gd name="connsiteX59" fmla="*/ 425710 w 484544"/>
                <a:gd name="connsiteY59" fmla="*/ 1052422 h 1901903"/>
                <a:gd name="connsiteX60" fmla="*/ 437212 w 484544"/>
                <a:gd name="connsiteY60" fmla="*/ 1012166 h 1901903"/>
                <a:gd name="connsiteX61" fmla="*/ 448714 w 484544"/>
                <a:gd name="connsiteY61" fmla="*/ 971909 h 1901903"/>
                <a:gd name="connsiteX62" fmla="*/ 454465 w 484544"/>
                <a:gd name="connsiteY62" fmla="*/ 759124 h 1901903"/>
                <a:gd name="connsiteX63" fmla="*/ 471718 w 484544"/>
                <a:gd name="connsiteY63" fmla="*/ 701615 h 1901903"/>
                <a:gd name="connsiteX64" fmla="*/ 477469 w 484544"/>
                <a:gd name="connsiteY64" fmla="*/ 684362 h 1901903"/>
                <a:gd name="connsiteX65" fmla="*/ 483220 w 484544"/>
                <a:gd name="connsiteY65" fmla="*/ 667109 h 1901903"/>
                <a:gd name="connsiteX66" fmla="*/ 477469 w 484544"/>
                <a:gd name="connsiteY66" fmla="*/ 327804 h 1901903"/>
                <a:gd name="connsiteX67" fmla="*/ 442963 w 484544"/>
                <a:gd name="connsiteY67" fmla="*/ 316302 h 1901903"/>
                <a:gd name="connsiteX68" fmla="*/ 373952 w 484544"/>
                <a:gd name="connsiteY68" fmla="*/ 293298 h 1901903"/>
                <a:gd name="connsiteX69" fmla="*/ 350948 w 484544"/>
                <a:gd name="connsiteY69" fmla="*/ 281796 h 1901903"/>
                <a:gd name="connsiteX70" fmla="*/ 333695 w 484544"/>
                <a:gd name="connsiteY70" fmla="*/ 276045 h 1901903"/>
                <a:gd name="connsiteX71" fmla="*/ 327944 w 484544"/>
                <a:gd name="connsiteY71" fmla="*/ 258792 h 1901903"/>
                <a:gd name="connsiteX72" fmla="*/ 322193 w 484544"/>
                <a:gd name="connsiteY72" fmla="*/ 74762 h 1901903"/>
                <a:gd name="connsiteX73" fmla="*/ 264684 w 484544"/>
                <a:gd name="connsiteY73" fmla="*/ 28755 h 1901903"/>
                <a:gd name="connsiteX74" fmla="*/ 247431 w 484544"/>
                <a:gd name="connsiteY74" fmla="*/ 23004 h 1901903"/>
                <a:gd name="connsiteX75" fmla="*/ 201423 w 484544"/>
                <a:gd name="connsiteY75" fmla="*/ 0 h 1901903"/>
                <a:gd name="connsiteX76" fmla="*/ 149665 w 484544"/>
                <a:gd name="connsiteY76" fmla="*/ 17253 h 1901903"/>
                <a:gd name="connsiteX77" fmla="*/ 132412 w 484544"/>
                <a:gd name="connsiteY77" fmla="*/ 23004 h 1901903"/>
                <a:gd name="connsiteX78" fmla="*/ 120910 w 484544"/>
                <a:gd name="connsiteY78" fmla="*/ 46007 h 1901903"/>
                <a:gd name="connsiteX79" fmla="*/ 120910 w 484544"/>
                <a:gd name="connsiteY79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42963 w 483551"/>
                <a:gd name="connsiteY67" fmla="*/ 316302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22193 w 483551"/>
                <a:gd name="connsiteY72" fmla="*/ 74762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49665 w 483551"/>
                <a:gd name="connsiteY76" fmla="*/ 17253 h 1901903"/>
                <a:gd name="connsiteX77" fmla="*/ 132412 w 483551"/>
                <a:gd name="connsiteY77" fmla="*/ 23004 h 1901903"/>
                <a:gd name="connsiteX78" fmla="*/ 120910 w 483551"/>
                <a:gd name="connsiteY78" fmla="*/ 46007 h 1901903"/>
                <a:gd name="connsiteX79" fmla="*/ 120910 w 483551"/>
                <a:gd name="connsiteY79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22193 w 483551"/>
                <a:gd name="connsiteY72" fmla="*/ 74762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49665 w 483551"/>
                <a:gd name="connsiteY76" fmla="*/ 17253 h 1901903"/>
                <a:gd name="connsiteX77" fmla="*/ 132412 w 483551"/>
                <a:gd name="connsiteY77" fmla="*/ 23004 h 1901903"/>
                <a:gd name="connsiteX78" fmla="*/ 120910 w 483551"/>
                <a:gd name="connsiteY78" fmla="*/ 46007 h 1901903"/>
                <a:gd name="connsiteX79" fmla="*/ 120910 w 483551"/>
                <a:gd name="connsiteY79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15240 w 483551"/>
                <a:gd name="connsiteY72" fmla="*/ 106053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49665 w 483551"/>
                <a:gd name="connsiteY76" fmla="*/ 17253 h 1901903"/>
                <a:gd name="connsiteX77" fmla="*/ 132412 w 483551"/>
                <a:gd name="connsiteY77" fmla="*/ 23004 h 1901903"/>
                <a:gd name="connsiteX78" fmla="*/ 120910 w 483551"/>
                <a:gd name="connsiteY78" fmla="*/ 46007 h 1901903"/>
                <a:gd name="connsiteX79" fmla="*/ 120910 w 483551"/>
                <a:gd name="connsiteY79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15240 w 483551"/>
                <a:gd name="connsiteY72" fmla="*/ 106053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49665 w 483551"/>
                <a:gd name="connsiteY76" fmla="*/ 17253 h 1901903"/>
                <a:gd name="connsiteX77" fmla="*/ 120910 w 483551"/>
                <a:gd name="connsiteY77" fmla="*/ 46007 h 1901903"/>
                <a:gd name="connsiteX78" fmla="*/ 120910 w 483551"/>
                <a:gd name="connsiteY78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15240 w 483551"/>
                <a:gd name="connsiteY72" fmla="*/ 106053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20910 w 483551"/>
                <a:gd name="connsiteY76" fmla="*/ 46007 h 1901903"/>
                <a:gd name="connsiteX77" fmla="*/ 120910 w 483551"/>
                <a:gd name="connsiteY77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15240 w 483551"/>
                <a:gd name="connsiteY72" fmla="*/ 106053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20910 w 483551"/>
                <a:gd name="connsiteY76" fmla="*/ 46007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15240 w 483551"/>
                <a:gd name="connsiteY72" fmla="*/ 106053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0" fmla="*/ 178420 w 483551"/>
                <a:gd name="connsiteY0" fmla="*/ 0 h 1884650"/>
                <a:gd name="connsiteX1" fmla="*/ 178420 w 483551"/>
                <a:gd name="connsiteY1" fmla="*/ 0 h 1884650"/>
                <a:gd name="connsiteX2" fmla="*/ 120910 w 483551"/>
                <a:gd name="connsiteY2" fmla="*/ 40256 h 1884650"/>
                <a:gd name="connsiteX3" fmla="*/ 103657 w 483551"/>
                <a:gd name="connsiteY3" fmla="*/ 51758 h 1884650"/>
                <a:gd name="connsiteX4" fmla="*/ 92156 w 483551"/>
                <a:gd name="connsiteY4" fmla="*/ 69011 h 1884650"/>
                <a:gd name="connsiteX5" fmla="*/ 88811 w 483551"/>
                <a:gd name="connsiteY5" fmla="*/ 138416 h 1884650"/>
                <a:gd name="connsiteX6" fmla="*/ 94561 w 483551"/>
                <a:gd name="connsiteY6" fmla="*/ 212785 h 1884650"/>
                <a:gd name="connsiteX7" fmla="*/ 103657 w 483551"/>
                <a:gd name="connsiteY7" fmla="*/ 264543 h 1884650"/>
                <a:gd name="connsiteX8" fmla="*/ 109408 w 483551"/>
                <a:gd name="connsiteY8" fmla="*/ 281796 h 1884650"/>
                <a:gd name="connsiteX9" fmla="*/ 97906 w 483551"/>
                <a:gd name="connsiteY9" fmla="*/ 299049 h 1884650"/>
                <a:gd name="connsiteX10" fmla="*/ 74903 w 483551"/>
                <a:gd name="connsiteY10" fmla="*/ 304800 h 1884650"/>
                <a:gd name="connsiteX11" fmla="*/ 23144 w 483551"/>
                <a:gd name="connsiteY11" fmla="*/ 345187 h 1884650"/>
                <a:gd name="connsiteX12" fmla="*/ 5891 w 483551"/>
                <a:gd name="connsiteY12" fmla="*/ 488830 h 1884650"/>
                <a:gd name="connsiteX13" fmla="*/ 140 w 483551"/>
                <a:gd name="connsiteY13" fmla="*/ 506083 h 1884650"/>
                <a:gd name="connsiteX14" fmla="*/ 10702 w 483551"/>
                <a:gd name="connsiteY14" fmla="*/ 569343 h 1884650"/>
                <a:gd name="connsiteX15" fmla="*/ 16453 w 483551"/>
                <a:gd name="connsiteY15" fmla="*/ 609600 h 1884650"/>
                <a:gd name="connsiteX16" fmla="*/ 32635 w 483551"/>
                <a:gd name="connsiteY16" fmla="*/ 651190 h 1884650"/>
                <a:gd name="connsiteX17" fmla="*/ 41862 w 483551"/>
                <a:gd name="connsiteY17" fmla="*/ 717665 h 1884650"/>
                <a:gd name="connsiteX18" fmla="*/ 53364 w 483551"/>
                <a:gd name="connsiteY18" fmla="*/ 759124 h 1884650"/>
                <a:gd name="connsiteX19" fmla="*/ 48684 w 483551"/>
                <a:gd name="connsiteY19" fmla="*/ 834280 h 1884650"/>
                <a:gd name="connsiteX20" fmla="*/ 44005 w 483551"/>
                <a:gd name="connsiteY20" fmla="*/ 938606 h 1884650"/>
                <a:gd name="connsiteX21" fmla="*/ 46279 w 483551"/>
                <a:gd name="connsiteY21" fmla="*/ 975517 h 1884650"/>
                <a:gd name="connsiteX22" fmla="*/ 54304 w 483551"/>
                <a:gd name="connsiteY22" fmla="*/ 1010023 h 1884650"/>
                <a:gd name="connsiteX23" fmla="*/ 51899 w 483551"/>
                <a:gd name="connsiteY23" fmla="*/ 1058173 h 1884650"/>
                <a:gd name="connsiteX24" fmla="*/ 57650 w 483551"/>
                <a:gd name="connsiteY24" fmla="*/ 1075426 h 1884650"/>
                <a:gd name="connsiteX25" fmla="*/ 63401 w 483551"/>
                <a:gd name="connsiteY25" fmla="*/ 1098430 h 1884650"/>
                <a:gd name="connsiteX26" fmla="*/ 80654 w 483551"/>
                <a:gd name="connsiteY26" fmla="*/ 1150188 h 1884650"/>
                <a:gd name="connsiteX27" fmla="*/ 86405 w 483551"/>
                <a:gd name="connsiteY27" fmla="*/ 1167441 h 1884650"/>
                <a:gd name="connsiteX28" fmla="*/ 80654 w 483551"/>
                <a:gd name="connsiteY28" fmla="*/ 1627517 h 1884650"/>
                <a:gd name="connsiteX29" fmla="*/ 74903 w 483551"/>
                <a:gd name="connsiteY29" fmla="*/ 1644769 h 1884650"/>
                <a:gd name="connsiteX30" fmla="*/ 80654 w 483551"/>
                <a:gd name="connsiteY30" fmla="*/ 1708030 h 1884650"/>
                <a:gd name="connsiteX31" fmla="*/ 74903 w 483551"/>
                <a:gd name="connsiteY31" fmla="*/ 1765539 h 1884650"/>
                <a:gd name="connsiteX32" fmla="*/ 63401 w 483551"/>
                <a:gd name="connsiteY32" fmla="*/ 1800045 h 1884650"/>
                <a:gd name="connsiteX33" fmla="*/ 51768 w 483551"/>
                <a:gd name="connsiteY33" fmla="*/ 1854340 h 1884650"/>
                <a:gd name="connsiteX34" fmla="*/ 69021 w 483551"/>
                <a:gd name="connsiteY34" fmla="*/ 1884429 h 1884650"/>
                <a:gd name="connsiteX35" fmla="*/ 133483 w 483551"/>
                <a:gd name="connsiteY35" fmla="*/ 1868248 h 1884650"/>
                <a:gd name="connsiteX36" fmla="*/ 138163 w 483551"/>
                <a:gd name="connsiteY36" fmla="*/ 1805796 h 1884650"/>
                <a:gd name="connsiteX37" fmla="*/ 155416 w 483551"/>
                <a:gd name="connsiteY37" fmla="*/ 1771290 h 1884650"/>
                <a:gd name="connsiteX38" fmla="*/ 178420 w 483551"/>
                <a:gd name="connsiteY38" fmla="*/ 1719532 h 1884650"/>
                <a:gd name="connsiteX39" fmla="*/ 195673 w 483551"/>
                <a:gd name="connsiteY39" fmla="*/ 1713781 h 1884650"/>
                <a:gd name="connsiteX40" fmla="*/ 235929 w 483551"/>
                <a:gd name="connsiteY40" fmla="*/ 1719532 h 1884650"/>
                <a:gd name="connsiteX41" fmla="*/ 253182 w 483551"/>
                <a:gd name="connsiteY41" fmla="*/ 1754037 h 1884650"/>
                <a:gd name="connsiteX42" fmla="*/ 270435 w 483551"/>
                <a:gd name="connsiteY42" fmla="*/ 1765539 h 1884650"/>
                <a:gd name="connsiteX43" fmla="*/ 281937 w 483551"/>
                <a:gd name="connsiteY43" fmla="*/ 1782792 h 1884650"/>
                <a:gd name="connsiteX44" fmla="*/ 345197 w 483551"/>
                <a:gd name="connsiteY44" fmla="*/ 1788543 h 1884650"/>
                <a:gd name="connsiteX45" fmla="*/ 356699 w 483551"/>
                <a:gd name="connsiteY45" fmla="*/ 1748286 h 1884650"/>
                <a:gd name="connsiteX46" fmla="*/ 368201 w 483551"/>
                <a:gd name="connsiteY46" fmla="*/ 1713781 h 1884650"/>
                <a:gd name="connsiteX47" fmla="*/ 356568 w 483551"/>
                <a:gd name="connsiteY47" fmla="*/ 1700004 h 1884650"/>
                <a:gd name="connsiteX48" fmla="*/ 339184 w 483551"/>
                <a:gd name="connsiteY48" fmla="*/ 1643698 h 1884650"/>
                <a:gd name="connsiteX49" fmla="*/ 345066 w 483551"/>
                <a:gd name="connsiteY49" fmla="*/ 1603442 h 1884650"/>
                <a:gd name="connsiteX50" fmla="*/ 356699 w 483551"/>
                <a:gd name="connsiteY50" fmla="*/ 1431985 h 1884650"/>
                <a:gd name="connsiteX51" fmla="*/ 350948 w 483551"/>
                <a:gd name="connsiteY51" fmla="*/ 1414732 h 1884650"/>
                <a:gd name="connsiteX52" fmla="*/ 377560 w 483551"/>
                <a:gd name="connsiteY52" fmla="*/ 1341566 h 1884650"/>
                <a:gd name="connsiteX53" fmla="*/ 372881 w 483551"/>
                <a:gd name="connsiteY53" fmla="*/ 1276840 h 1884650"/>
                <a:gd name="connsiteX54" fmla="*/ 368201 w 483551"/>
                <a:gd name="connsiteY54" fmla="*/ 1230702 h 1884650"/>
                <a:gd name="connsiteX55" fmla="*/ 384382 w 483551"/>
                <a:gd name="connsiteY55" fmla="*/ 1190445 h 1884650"/>
                <a:gd name="connsiteX56" fmla="*/ 395885 w 483551"/>
                <a:gd name="connsiteY56" fmla="*/ 1155939 h 1884650"/>
                <a:gd name="connsiteX57" fmla="*/ 402706 w 483551"/>
                <a:gd name="connsiteY57" fmla="*/ 1104181 h 1884650"/>
                <a:gd name="connsiteX58" fmla="*/ 419959 w 483551"/>
                <a:gd name="connsiteY58" fmla="*/ 1052422 h 1884650"/>
                <a:gd name="connsiteX59" fmla="*/ 425710 w 483551"/>
                <a:gd name="connsiteY59" fmla="*/ 1035169 h 1884650"/>
                <a:gd name="connsiteX60" fmla="*/ 437212 w 483551"/>
                <a:gd name="connsiteY60" fmla="*/ 994913 h 1884650"/>
                <a:gd name="connsiteX61" fmla="*/ 448714 w 483551"/>
                <a:gd name="connsiteY61" fmla="*/ 954656 h 1884650"/>
                <a:gd name="connsiteX62" fmla="*/ 454465 w 483551"/>
                <a:gd name="connsiteY62" fmla="*/ 741871 h 1884650"/>
                <a:gd name="connsiteX63" fmla="*/ 471718 w 483551"/>
                <a:gd name="connsiteY63" fmla="*/ 684362 h 1884650"/>
                <a:gd name="connsiteX64" fmla="*/ 477469 w 483551"/>
                <a:gd name="connsiteY64" fmla="*/ 667109 h 1884650"/>
                <a:gd name="connsiteX65" fmla="*/ 483220 w 483551"/>
                <a:gd name="connsiteY65" fmla="*/ 649856 h 1884650"/>
                <a:gd name="connsiteX66" fmla="*/ 467038 w 483551"/>
                <a:gd name="connsiteY66" fmla="*/ 355750 h 1884650"/>
                <a:gd name="connsiteX67" fmla="*/ 422102 w 483551"/>
                <a:gd name="connsiteY67" fmla="*/ 319910 h 1884650"/>
                <a:gd name="connsiteX68" fmla="*/ 373952 w 483551"/>
                <a:gd name="connsiteY68" fmla="*/ 276045 h 1884650"/>
                <a:gd name="connsiteX69" fmla="*/ 350948 w 483551"/>
                <a:gd name="connsiteY69" fmla="*/ 264543 h 1884650"/>
                <a:gd name="connsiteX70" fmla="*/ 333695 w 483551"/>
                <a:gd name="connsiteY70" fmla="*/ 258792 h 1884650"/>
                <a:gd name="connsiteX71" fmla="*/ 327944 w 483551"/>
                <a:gd name="connsiteY71" fmla="*/ 241539 h 1884650"/>
                <a:gd name="connsiteX72" fmla="*/ 315240 w 483551"/>
                <a:gd name="connsiteY72" fmla="*/ 88800 h 1884650"/>
                <a:gd name="connsiteX73" fmla="*/ 264684 w 483551"/>
                <a:gd name="connsiteY73" fmla="*/ 11502 h 1884650"/>
                <a:gd name="connsiteX74" fmla="*/ 247431 w 483551"/>
                <a:gd name="connsiteY74" fmla="*/ 5751 h 1884650"/>
                <a:gd name="connsiteX75" fmla="*/ 207033 w 483551"/>
                <a:gd name="connsiteY75" fmla="*/ 7991 h 1884650"/>
                <a:gd name="connsiteX0" fmla="*/ 178420 w 483551"/>
                <a:gd name="connsiteY0" fmla="*/ 0 h 1884650"/>
                <a:gd name="connsiteX1" fmla="*/ 178420 w 483551"/>
                <a:gd name="connsiteY1" fmla="*/ 0 h 1884650"/>
                <a:gd name="connsiteX2" fmla="*/ 120910 w 483551"/>
                <a:gd name="connsiteY2" fmla="*/ 40256 h 1884650"/>
                <a:gd name="connsiteX3" fmla="*/ 103657 w 483551"/>
                <a:gd name="connsiteY3" fmla="*/ 51758 h 1884650"/>
                <a:gd name="connsiteX4" fmla="*/ 92156 w 483551"/>
                <a:gd name="connsiteY4" fmla="*/ 69011 h 1884650"/>
                <a:gd name="connsiteX5" fmla="*/ 88811 w 483551"/>
                <a:gd name="connsiteY5" fmla="*/ 138416 h 1884650"/>
                <a:gd name="connsiteX6" fmla="*/ 94561 w 483551"/>
                <a:gd name="connsiteY6" fmla="*/ 212785 h 1884650"/>
                <a:gd name="connsiteX7" fmla="*/ 103657 w 483551"/>
                <a:gd name="connsiteY7" fmla="*/ 264543 h 1884650"/>
                <a:gd name="connsiteX8" fmla="*/ 109408 w 483551"/>
                <a:gd name="connsiteY8" fmla="*/ 281796 h 1884650"/>
                <a:gd name="connsiteX9" fmla="*/ 97906 w 483551"/>
                <a:gd name="connsiteY9" fmla="*/ 299049 h 1884650"/>
                <a:gd name="connsiteX10" fmla="*/ 74903 w 483551"/>
                <a:gd name="connsiteY10" fmla="*/ 304800 h 1884650"/>
                <a:gd name="connsiteX11" fmla="*/ 23144 w 483551"/>
                <a:gd name="connsiteY11" fmla="*/ 345187 h 1884650"/>
                <a:gd name="connsiteX12" fmla="*/ 5891 w 483551"/>
                <a:gd name="connsiteY12" fmla="*/ 488830 h 1884650"/>
                <a:gd name="connsiteX13" fmla="*/ 140 w 483551"/>
                <a:gd name="connsiteY13" fmla="*/ 506083 h 1884650"/>
                <a:gd name="connsiteX14" fmla="*/ 10702 w 483551"/>
                <a:gd name="connsiteY14" fmla="*/ 569343 h 1884650"/>
                <a:gd name="connsiteX15" fmla="*/ 16453 w 483551"/>
                <a:gd name="connsiteY15" fmla="*/ 609600 h 1884650"/>
                <a:gd name="connsiteX16" fmla="*/ 32635 w 483551"/>
                <a:gd name="connsiteY16" fmla="*/ 651190 h 1884650"/>
                <a:gd name="connsiteX17" fmla="*/ 41862 w 483551"/>
                <a:gd name="connsiteY17" fmla="*/ 717665 h 1884650"/>
                <a:gd name="connsiteX18" fmla="*/ 53364 w 483551"/>
                <a:gd name="connsiteY18" fmla="*/ 759124 h 1884650"/>
                <a:gd name="connsiteX19" fmla="*/ 48684 w 483551"/>
                <a:gd name="connsiteY19" fmla="*/ 834280 h 1884650"/>
                <a:gd name="connsiteX20" fmla="*/ 44005 w 483551"/>
                <a:gd name="connsiteY20" fmla="*/ 938606 h 1884650"/>
                <a:gd name="connsiteX21" fmla="*/ 46279 w 483551"/>
                <a:gd name="connsiteY21" fmla="*/ 975517 h 1884650"/>
                <a:gd name="connsiteX22" fmla="*/ 54304 w 483551"/>
                <a:gd name="connsiteY22" fmla="*/ 1010023 h 1884650"/>
                <a:gd name="connsiteX23" fmla="*/ 51899 w 483551"/>
                <a:gd name="connsiteY23" fmla="*/ 1058173 h 1884650"/>
                <a:gd name="connsiteX24" fmla="*/ 57650 w 483551"/>
                <a:gd name="connsiteY24" fmla="*/ 1075426 h 1884650"/>
                <a:gd name="connsiteX25" fmla="*/ 63401 w 483551"/>
                <a:gd name="connsiteY25" fmla="*/ 1098430 h 1884650"/>
                <a:gd name="connsiteX26" fmla="*/ 80654 w 483551"/>
                <a:gd name="connsiteY26" fmla="*/ 1150188 h 1884650"/>
                <a:gd name="connsiteX27" fmla="*/ 86405 w 483551"/>
                <a:gd name="connsiteY27" fmla="*/ 1167441 h 1884650"/>
                <a:gd name="connsiteX28" fmla="*/ 80654 w 483551"/>
                <a:gd name="connsiteY28" fmla="*/ 1627517 h 1884650"/>
                <a:gd name="connsiteX29" fmla="*/ 74903 w 483551"/>
                <a:gd name="connsiteY29" fmla="*/ 1644769 h 1884650"/>
                <a:gd name="connsiteX30" fmla="*/ 80654 w 483551"/>
                <a:gd name="connsiteY30" fmla="*/ 1708030 h 1884650"/>
                <a:gd name="connsiteX31" fmla="*/ 74903 w 483551"/>
                <a:gd name="connsiteY31" fmla="*/ 1765539 h 1884650"/>
                <a:gd name="connsiteX32" fmla="*/ 63401 w 483551"/>
                <a:gd name="connsiteY32" fmla="*/ 1800045 h 1884650"/>
                <a:gd name="connsiteX33" fmla="*/ 51768 w 483551"/>
                <a:gd name="connsiteY33" fmla="*/ 1854340 h 1884650"/>
                <a:gd name="connsiteX34" fmla="*/ 69021 w 483551"/>
                <a:gd name="connsiteY34" fmla="*/ 1884429 h 1884650"/>
                <a:gd name="connsiteX35" fmla="*/ 133483 w 483551"/>
                <a:gd name="connsiteY35" fmla="*/ 1868248 h 1884650"/>
                <a:gd name="connsiteX36" fmla="*/ 138163 w 483551"/>
                <a:gd name="connsiteY36" fmla="*/ 1805796 h 1884650"/>
                <a:gd name="connsiteX37" fmla="*/ 155416 w 483551"/>
                <a:gd name="connsiteY37" fmla="*/ 1771290 h 1884650"/>
                <a:gd name="connsiteX38" fmla="*/ 178420 w 483551"/>
                <a:gd name="connsiteY38" fmla="*/ 1719532 h 1884650"/>
                <a:gd name="connsiteX39" fmla="*/ 195673 w 483551"/>
                <a:gd name="connsiteY39" fmla="*/ 1713781 h 1884650"/>
                <a:gd name="connsiteX40" fmla="*/ 235929 w 483551"/>
                <a:gd name="connsiteY40" fmla="*/ 1719532 h 1884650"/>
                <a:gd name="connsiteX41" fmla="*/ 253182 w 483551"/>
                <a:gd name="connsiteY41" fmla="*/ 1754037 h 1884650"/>
                <a:gd name="connsiteX42" fmla="*/ 270435 w 483551"/>
                <a:gd name="connsiteY42" fmla="*/ 1765539 h 1884650"/>
                <a:gd name="connsiteX43" fmla="*/ 281937 w 483551"/>
                <a:gd name="connsiteY43" fmla="*/ 1782792 h 1884650"/>
                <a:gd name="connsiteX44" fmla="*/ 345197 w 483551"/>
                <a:gd name="connsiteY44" fmla="*/ 1788543 h 1884650"/>
                <a:gd name="connsiteX45" fmla="*/ 356699 w 483551"/>
                <a:gd name="connsiteY45" fmla="*/ 1748286 h 1884650"/>
                <a:gd name="connsiteX46" fmla="*/ 368201 w 483551"/>
                <a:gd name="connsiteY46" fmla="*/ 1713781 h 1884650"/>
                <a:gd name="connsiteX47" fmla="*/ 356568 w 483551"/>
                <a:gd name="connsiteY47" fmla="*/ 1700004 h 1884650"/>
                <a:gd name="connsiteX48" fmla="*/ 339184 w 483551"/>
                <a:gd name="connsiteY48" fmla="*/ 1643698 h 1884650"/>
                <a:gd name="connsiteX49" fmla="*/ 345066 w 483551"/>
                <a:gd name="connsiteY49" fmla="*/ 1603442 h 1884650"/>
                <a:gd name="connsiteX50" fmla="*/ 356699 w 483551"/>
                <a:gd name="connsiteY50" fmla="*/ 1431985 h 1884650"/>
                <a:gd name="connsiteX51" fmla="*/ 350948 w 483551"/>
                <a:gd name="connsiteY51" fmla="*/ 1414732 h 1884650"/>
                <a:gd name="connsiteX52" fmla="*/ 377560 w 483551"/>
                <a:gd name="connsiteY52" fmla="*/ 1341566 h 1884650"/>
                <a:gd name="connsiteX53" fmla="*/ 372881 w 483551"/>
                <a:gd name="connsiteY53" fmla="*/ 1276840 h 1884650"/>
                <a:gd name="connsiteX54" fmla="*/ 368201 w 483551"/>
                <a:gd name="connsiteY54" fmla="*/ 1230702 h 1884650"/>
                <a:gd name="connsiteX55" fmla="*/ 384382 w 483551"/>
                <a:gd name="connsiteY55" fmla="*/ 1190445 h 1884650"/>
                <a:gd name="connsiteX56" fmla="*/ 395885 w 483551"/>
                <a:gd name="connsiteY56" fmla="*/ 1155939 h 1884650"/>
                <a:gd name="connsiteX57" fmla="*/ 402706 w 483551"/>
                <a:gd name="connsiteY57" fmla="*/ 1104181 h 1884650"/>
                <a:gd name="connsiteX58" fmla="*/ 419959 w 483551"/>
                <a:gd name="connsiteY58" fmla="*/ 1052422 h 1884650"/>
                <a:gd name="connsiteX59" fmla="*/ 425710 w 483551"/>
                <a:gd name="connsiteY59" fmla="*/ 1035169 h 1884650"/>
                <a:gd name="connsiteX60" fmla="*/ 437212 w 483551"/>
                <a:gd name="connsiteY60" fmla="*/ 994913 h 1884650"/>
                <a:gd name="connsiteX61" fmla="*/ 448714 w 483551"/>
                <a:gd name="connsiteY61" fmla="*/ 954656 h 1884650"/>
                <a:gd name="connsiteX62" fmla="*/ 454465 w 483551"/>
                <a:gd name="connsiteY62" fmla="*/ 741871 h 1884650"/>
                <a:gd name="connsiteX63" fmla="*/ 471718 w 483551"/>
                <a:gd name="connsiteY63" fmla="*/ 684362 h 1884650"/>
                <a:gd name="connsiteX64" fmla="*/ 477469 w 483551"/>
                <a:gd name="connsiteY64" fmla="*/ 667109 h 1884650"/>
                <a:gd name="connsiteX65" fmla="*/ 483220 w 483551"/>
                <a:gd name="connsiteY65" fmla="*/ 649856 h 1884650"/>
                <a:gd name="connsiteX66" fmla="*/ 467038 w 483551"/>
                <a:gd name="connsiteY66" fmla="*/ 355750 h 1884650"/>
                <a:gd name="connsiteX67" fmla="*/ 422102 w 483551"/>
                <a:gd name="connsiteY67" fmla="*/ 319910 h 1884650"/>
                <a:gd name="connsiteX68" fmla="*/ 373952 w 483551"/>
                <a:gd name="connsiteY68" fmla="*/ 276045 h 1884650"/>
                <a:gd name="connsiteX69" fmla="*/ 350948 w 483551"/>
                <a:gd name="connsiteY69" fmla="*/ 264543 h 1884650"/>
                <a:gd name="connsiteX70" fmla="*/ 333695 w 483551"/>
                <a:gd name="connsiteY70" fmla="*/ 258792 h 1884650"/>
                <a:gd name="connsiteX71" fmla="*/ 327944 w 483551"/>
                <a:gd name="connsiteY71" fmla="*/ 241539 h 1884650"/>
                <a:gd name="connsiteX72" fmla="*/ 315240 w 483551"/>
                <a:gd name="connsiteY72" fmla="*/ 88800 h 1884650"/>
                <a:gd name="connsiteX73" fmla="*/ 264684 w 483551"/>
                <a:gd name="connsiteY73" fmla="*/ 11502 h 1884650"/>
                <a:gd name="connsiteX74" fmla="*/ 247431 w 483551"/>
                <a:gd name="connsiteY74" fmla="*/ 5751 h 1884650"/>
                <a:gd name="connsiteX75" fmla="*/ 207033 w 483551"/>
                <a:gd name="connsiteY75" fmla="*/ 7991 h 1884650"/>
                <a:gd name="connsiteX76" fmla="*/ 178420 w 483551"/>
                <a:gd name="connsiteY76" fmla="*/ 0 h 1884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483551" h="1884650">
                  <a:moveTo>
                    <a:pt x="178420" y="0"/>
                  </a:moveTo>
                  <a:lnTo>
                    <a:pt x="178420" y="0"/>
                  </a:lnTo>
                  <a:lnTo>
                    <a:pt x="120910" y="40256"/>
                  </a:lnTo>
                  <a:cubicBezTo>
                    <a:pt x="115227" y="44190"/>
                    <a:pt x="103657" y="51758"/>
                    <a:pt x="103657" y="51758"/>
                  </a:cubicBezTo>
                  <a:cubicBezTo>
                    <a:pt x="99823" y="57509"/>
                    <a:pt x="94630" y="54568"/>
                    <a:pt x="92156" y="69011"/>
                  </a:cubicBezTo>
                  <a:cubicBezTo>
                    <a:pt x="89682" y="83454"/>
                    <a:pt x="88410" y="114454"/>
                    <a:pt x="88811" y="138416"/>
                  </a:cubicBezTo>
                  <a:cubicBezTo>
                    <a:pt x="89212" y="162378"/>
                    <a:pt x="92087" y="191764"/>
                    <a:pt x="94561" y="212785"/>
                  </a:cubicBezTo>
                  <a:cubicBezTo>
                    <a:pt x="97035" y="233806"/>
                    <a:pt x="101183" y="253041"/>
                    <a:pt x="103657" y="264543"/>
                  </a:cubicBezTo>
                  <a:cubicBezTo>
                    <a:pt x="106131" y="276045"/>
                    <a:pt x="107491" y="276045"/>
                    <a:pt x="109408" y="281796"/>
                  </a:cubicBezTo>
                  <a:cubicBezTo>
                    <a:pt x="105574" y="287547"/>
                    <a:pt x="103657" y="295215"/>
                    <a:pt x="97906" y="299049"/>
                  </a:cubicBezTo>
                  <a:cubicBezTo>
                    <a:pt x="91330" y="303433"/>
                    <a:pt x="87363" y="297110"/>
                    <a:pt x="74903" y="304800"/>
                  </a:cubicBezTo>
                  <a:cubicBezTo>
                    <a:pt x="62443" y="312490"/>
                    <a:pt x="48357" y="328380"/>
                    <a:pt x="23144" y="345187"/>
                  </a:cubicBezTo>
                  <a:cubicBezTo>
                    <a:pt x="-15727" y="403494"/>
                    <a:pt x="9725" y="462014"/>
                    <a:pt x="5891" y="488830"/>
                  </a:cubicBezTo>
                  <a:cubicBezTo>
                    <a:pt x="2057" y="515646"/>
                    <a:pt x="-662" y="492664"/>
                    <a:pt x="140" y="506083"/>
                  </a:cubicBezTo>
                  <a:cubicBezTo>
                    <a:pt x="942" y="519502"/>
                    <a:pt x="23939" y="529631"/>
                    <a:pt x="10702" y="569343"/>
                  </a:cubicBezTo>
                  <a:cubicBezTo>
                    <a:pt x="12619" y="582762"/>
                    <a:pt x="12798" y="595959"/>
                    <a:pt x="16453" y="609600"/>
                  </a:cubicBezTo>
                  <a:cubicBezTo>
                    <a:pt x="20108" y="623241"/>
                    <a:pt x="28400" y="633179"/>
                    <a:pt x="32635" y="651190"/>
                  </a:cubicBezTo>
                  <a:cubicBezTo>
                    <a:pt x="36870" y="669201"/>
                    <a:pt x="38407" y="699676"/>
                    <a:pt x="41862" y="717665"/>
                  </a:cubicBezTo>
                  <a:cubicBezTo>
                    <a:pt x="45317" y="735654"/>
                    <a:pt x="52227" y="739688"/>
                    <a:pt x="53364" y="759124"/>
                  </a:cubicBezTo>
                  <a:cubicBezTo>
                    <a:pt x="54501" y="778560"/>
                    <a:pt x="46767" y="826612"/>
                    <a:pt x="48684" y="834280"/>
                  </a:cubicBezTo>
                  <a:cubicBezTo>
                    <a:pt x="50601" y="884121"/>
                    <a:pt x="44406" y="915067"/>
                    <a:pt x="44005" y="938606"/>
                  </a:cubicBezTo>
                  <a:cubicBezTo>
                    <a:pt x="43604" y="962145"/>
                    <a:pt x="44562" y="963614"/>
                    <a:pt x="46279" y="975517"/>
                  </a:cubicBezTo>
                  <a:cubicBezTo>
                    <a:pt x="47996" y="987420"/>
                    <a:pt x="53367" y="996247"/>
                    <a:pt x="54304" y="1010023"/>
                  </a:cubicBezTo>
                  <a:cubicBezTo>
                    <a:pt x="55241" y="1023799"/>
                    <a:pt x="51341" y="1047273"/>
                    <a:pt x="51899" y="1058173"/>
                  </a:cubicBezTo>
                  <a:cubicBezTo>
                    <a:pt x="52457" y="1069073"/>
                    <a:pt x="55985" y="1069597"/>
                    <a:pt x="57650" y="1075426"/>
                  </a:cubicBezTo>
                  <a:cubicBezTo>
                    <a:pt x="59821" y="1083026"/>
                    <a:pt x="61130" y="1090859"/>
                    <a:pt x="63401" y="1098430"/>
                  </a:cubicBezTo>
                  <a:cubicBezTo>
                    <a:pt x="68627" y="1115849"/>
                    <a:pt x="74903" y="1132935"/>
                    <a:pt x="80654" y="1150188"/>
                  </a:cubicBezTo>
                  <a:lnTo>
                    <a:pt x="86405" y="1167441"/>
                  </a:lnTo>
                  <a:cubicBezTo>
                    <a:pt x="84488" y="1320800"/>
                    <a:pt x="84349" y="1474191"/>
                    <a:pt x="80654" y="1627517"/>
                  </a:cubicBezTo>
                  <a:cubicBezTo>
                    <a:pt x="80508" y="1633577"/>
                    <a:pt x="74903" y="1638707"/>
                    <a:pt x="74903" y="1644769"/>
                  </a:cubicBezTo>
                  <a:cubicBezTo>
                    <a:pt x="74903" y="1665943"/>
                    <a:pt x="78737" y="1686943"/>
                    <a:pt x="80654" y="1708030"/>
                  </a:cubicBezTo>
                  <a:cubicBezTo>
                    <a:pt x="78737" y="1727200"/>
                    <a:pt x="78453" y="1746604"/>
                    <a:pt x="74903" y="1765539"/>
                  </a:cubicBezTo>
                  <a:cubicBezTo>
                    <a:pt x="72669" y="1777456"/>
                    <a:pt x="67257" y="1785245"/>
                    <a:pt x="63401" y="1800045"/>
                  </a:cubicBezTo>
                  <a:cubicBezTo>
                    <a:pt x="59545" y="1814845"/>
                    <a:pt x="50831" y="1840276"/>
                    <a:pt x="51768" y="1854340"/>
                  </a:cubicBezTo>
                  <a:cubicBezTo>
                    <a:pt x="52705" y="1868404"/>
                    <a:pt x="55402" y="1882111"/>
                    <a:pt x="69021" y="1884429"/>
                  </a:cubicBezTo>
                  <a:cubicBezTo>
                    <a:pt x="82640" y="1886747"/>
                    <a:pt x="114313" y="1870165"/>
                    <a:pt x="133483" y="1868248"/>
                  </a:cubicBezTo>
                  <a:cubicBezTo>
                    <a:pt x="131566" y="1862497"/>
                    <a:pt x="134507" y="1821956"/>
                    <a:pt x="138163" y="1805796"/>
                  </a:cubicBezTo>
                  <a:cubicBezTo>
                    <a:pt x="141819" y="1789636"/>
                    <a:pt x="149601" y="1784374"/>
                    <a:pt x="155416" y="1771290"/>
                  </a:cubicBezTo>
                  <a:cubicBezTo>
                    <a:pt x="160748" y="1759292"/>
                    <a:pt x="164956" y="1730303"/>
                    <a:pt x="178420" y="1719532"/>
                  </a:cubicBezTo>
                  <a:cubicBezTo>
                    <a:pt x="183154" y="1715745"/>
                    <a:pt x="189922" y="1715698"/>
                    <a:pt x="195673" y="1713781"/>
                  </a:cubicBezTo>
                  <a:cubicBezTo>
                    <a:pt x="209092" y="1715698"/>
                    <a:pt x="223542" y="1714027"/>
                    <a:pt x="235929" y="1719532"/>
                  </a:cubicBezTo>
                  <a:cubicBezTo>
                    <a:pt x="250975" y="1726219"/>
                    <a:pt x="245086" y="1743918"/>
                    <a:pt x="253182" y="1754037"/>
                  </a:cubicBezTo>
                  <a:cubicBezTo>
                    <a:pt x="257500" y="1759434"/>
                    <a:pt x="264684" y="1761705"/>
                    <a:pt x="270435" y="1765539"/>
                  </a:cubicBezTo>
                  <a:cubicBezTo>
                    <a:pt x="274269" y="1771290"/>
                    <a:pt x="277050" y="1777905"/>
                    <a:pt x="281937" y="1782792"/>
                  </a:cubicBezTo>
                  <a:cubicBezTo>
                    <a:pt x="303127" y="1803982"/>
                    <a:pt x="312282" y="1792658"/>
                    <a:pt x="345197" y="1788543"/>
                  </a:cubicBezTo>
                  <a:cubicBezTo>
                    <a:pt x="364527" y="1730552"/>
                    <a:pt x="335031" y="1820510"/>
                    <a:pt x="356699" y="1748286"/>
                  </a:cubicBezTo>
                  <a:cubicBezTo>
                    <a:pt x="360183" y="1736673"/>
                    <a:pt x="368223" y="1721828"/>
                    <a:pt x="368201" y="1713781"/>
                  </a:cubicBezTo>
                  <a:cubicBezTo>
                    <a:pt x="368179" y="1705734"/>
                    <a:pt x="361404" y="1711684"/>
                    <a:pt x="356568" y="1700004"/>
                  </a:cubicBezTo>
                  <a:cubicBezTo>
                    <a:pt x="351732" y="1688324"/>
                    <a:pt x="341101" y="1659792"/>
                    <a:pt x="339184" y="1643698"/>
                  </a:cubicBezTo>
                  <a:cubicBezTo>
                    <a:pt x="337267" y="1627604"/>
                    <a:pt x="349624" y="1617117"/>
                    <a:pt x="345066" y="1603442"/>
                  </a:cubicBezTo>
                  <a:cubicBezTo>
                    <a:pt x="343149" y="1549767"/>
                    <a:pt x="360157" y="1485583"/>
                    <a:pt x="356699" y="1431985"/>
                  </a:cubicBezTo>
                  <a:cubicBezTo>
                    <a:pt x="356309" y="1425935"/>
                    <a:pt x="347471" y="1429802"/>
                    <a:pt x="350948" y="1414732"/>
                  </a:cubicBezTo>
                  <a:cubicBezTo>
                    <a:pt x="354425" y="1399662"/>
                    <a:pt x="373905" y="1364548"/>
                    <a:pt x="377560" y="1341566"/>
                  </a:cubicBezTo>
                  <a:cubicBezTo>
                    <a:pt x="381215" y="1318584"/>
                    <a:pt x="374441" y="1295317"/>
                    <a:pt x="372881" y="1276840"/>
                  </a:cubicBezTo>
                  <a:cubicBezTo>
                    <a:pt x="371321" y="1258363"/>
                    <a:pt x="366284" y="1245101"/>
                    <a:pt x="368201" y="1230702"/>
                  </a:cubicBezTo>
                  <a:cubicBezTo>
                    <a:pt x="370118" y="1216303"/>
                    <a:pt x="379768" y="1202906"/>
                    <a:pt x="384382" y="1190445"/>
                  </a:cubicBezTo>
                  <a:cubicBezTo>
                    <a:pt x="388996" y="1177984"/>
                    <a:pt x="392831" y="1170316"/>
                    <a:pt x="395885" y="1155939"/>
                  </a:cubicBezTo>
                  <a:cubicBezTo>
                    <a:pt x="398939" y="1141562"/>
                    <a:pt x="398694" y="1121434"/>
                    <a:pt x="402706" y="1104181"/>
                  </a:cubicBezTo>
                  <a:cubicBezTo>
                    <a:pt x="406718" y="1086928"/>
                    <a:pt x="414208" y="1069675"/>
                    <a:pt x="419959" y="1052422"/>
                  </a:cubicBezTo>
                  <a:cubicBezTo>
                    <a:pt x="421876" y="1046671"/>
                    <a:pt x="424240" y="1041050"/>
                    <a:pt x="425710" y="1035169"/>
                  </a:cubicBezTo>
                  <a:cubicBezTo>
                    <a:pt x="443692" y="963245"/>
                    <a:pt x="420708" y="1052676"/>
                    <a:pt x="437212" y="994913"/>
                  </a:cubicBezTo>
                  <a:cubicBezTo>
                    <a:pt x="451655" y="944364"/>
                    <a:pt x="434925" y="996023"/>
                    <a:pt x="448714" y="954656"/>
                  </a:cubicBezTo>
                  <a:cubicBezTo>
                    <a:pt x="450631" y="883728"/>
                    <a:pt x="451008" y="812741"/>
                    <a:pt x="454465" y="741871"/>
                  </a:cubicBezTo>
                  <a:cubicBezTo>
                    <a:pt x="454962" y="731691"/>
                    <a:pt x="470288" y="688653"/>
                    <a:pt x="471718" y="684362"/>
                  </a:cubicBezTo>
                  <a:lnTo>
                    <a:pt x="477469" y="667109"/>
                  </a:lnTo>
                  <a:cubicBezTo>
                    <a:pt x="479386" y="661358"/>
                    <a:pt x="484958" y="701749"/>
                    <a:pt x="483220" y="649856"/>
                  </a:cubicBezTo>
                  <a:cubicBezTo>
                    <a:pt x="481482" y="597963"/>
                    <a:pt x="477224" y="410741"/>
                    <a:pt x="467038" y="355750"/>
                  </a:cubicBezTo>
                  <a:cubicBezTo>
                    <a:pt x="456852" y="300759"/>
                    <a:pt x="437616" y="333194"/>
                    <a:pt x="422102" y="319910"/>
                  </a:cubicBezTo>
                  <a:cubicBezTo>
                    <a:pt x="406588" y="306626"/>
                    <a:pt x="385811" y="285273"/>
                    <a:pt x="373952" y="276045"/>
                  </a:cubicBezTo>
                  <a:cubicBezTo>
                    <a:pt x="362093" y="266817"/>
                    <a:pt x="358828" y="267920"/>
                    <a:pt x="350948" y="264543"/>
                  </a:cubicBezTo>
                  <a:cubicBezTo>
                    <a:pt x="345376" y="262155"/>
                    <a:pt x="339446" y="260709"/>
                    <a:pt x="333695" y="258792"/>
                  </a:cubicBezTo>
                  <a:cubicBezTo>
                    <a:pt x="331778" y="253041"/>
                    <a:pt x="331020" y="269871"/>
                    <a:pt x="327944" y="241539"/>
                  </a:cubicBezTo>
                  <a:cubicBezTo>
                    <a:pt x="324868" y="213207"/>
                    <a:pt x="323246" y="149649"/>
                    <a:pt x="315240" y="88800"/>
                  </a:cubicBezTo>
                  <a:cubicBezTo>
                    <a:pt x="310467" y="52523"/>
                    <a:pt x="275985" y="25343"/>
                    <a:pt x="264684" y="11502"/>
                  </a:cubicBezTo>
                  <a:cubicBezTo>
                    <a:pt x="253383" y="-2339"/>
                    <a:pt x="257039" y="6336"/>
                    <a:pt x="247431" y="5751"/>
                  </a:cubicBezTo>
                  <a:lnTo>
                    <a:pt x="207033" y="7991"/>
                  </a:lnTo>
                  <a:lnTo>
                    <a:pt x="178420" y="0"/>
                  </a:lnTo>
                  <a:close/>
                </a:path>
              </a:pathLst>
            </a:custGeom>
            <a:solidFill>
              <a:srgbClr val="FF0000">
                <a:alpha val="43137"/>
              </a:srgbClr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39" name="Rectangle 8"/>
          <p:cNvSpPr>
            <a:spLocks noChangeArrowheads="1"/>
          </p:cNvSpPr>
          <p:nvPr/>
        </p:nvSpPr>
        <p:spPr bwMode="auto">
          <a:xfrm>
            <a:off x="251521" y="2276475"/>
            <a:ext cx="8247063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defTabSz="45085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4508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45085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45085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45085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 probabilística: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cada elemento da população tem uma probabilidade (não nula) de ser escolhido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em geral, todo elemento tem a mesma probabilidade de ser escolhido</a:t>
            </a:r>
          </a:p>
        </p:txBody>
      </p:sp>
      <p:sp>
        <p:nvSpPr>
          <p:cNvPr id="40" name="Text Box 4"/>
          <p:cNvSpPr txBox="1">
            <a:spLocks noChangeArrowheads="1"/>
          </p:cNvSpPr>
          <p:nvPr/>
        </p:nvSpPr>
        <p:spPr bwMode="auto">
          <a:xfrm>
            <a:off x="251521" y="1412875"/>
            <a:ext cx="8366125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Como amostrar?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amostragem probabilística X não probabilística</a:t>
            </a:r>
          </a:p>
        </p:txBody>
      </p:sp>
    </p:spTree>
    <p:extLst>
      <p:ext uri="{BB962C8B-B14F-4D97-AF65-F5344CB8AC3E}">
        <p14:creationId xmlns:p14="http://schemas.microsoft.com/office/powerpoint/2010/main" val="4072377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Tipos de Amostragem</a:t>
            </a:r>
          </a:p>
        </p:txBody>
      </p:sp>
      <p:sp>
        <p:nvSpPr>
          <p:cNvPr id="175113" name="Rectangle 9"/>
          <p:cNvSpPr>
            <a:spLocks noChangeArrowheads="1"/>
          </p:cNvSpPr>
          <p:nvPr/>
        </p:nvSpPr>
        <p:spPr bwMode="auto">
          <a:xfrm>
            <a:off x="251520" y="2276872"/>
            <a:ext cx="8892479" cy="452431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0850">
              <a:lnSpc>
                <a:spcPct val="150000"/>
              </a:lnSpc>
              <a:defRPr/>
            </a:pPr>
            <a:r>
              <a:rPr 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 não probabilística: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escolha a esmo (rotulagem inviável ou impossível)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	populações muito grandes (</a:t>
            </a:r>
            <a:r>
              <a:rPr lang="pt-BR" sz="1600" dirty="0" err="1">
                <a:latin typeface="Tahoma" panose="020B0604030504040204" pitchFamily="34" charset="0"/>
              </a:rPr>
              <a:t>ex</a:t>
            </a:r>
            <a:r>
              <a:rPr lang="pt-BR" sz="1600" dirty="0">
                <a:latin typeface="Tahoma" panose="020B0604030504040204" pitchFamily="34" charset="0"/>
              </a:rPr>
              <a:t>: estudo sobre a variabilidade no DAP em talhões de reflorestamento de eucalipto)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	populações dinâmicas (</a:t>
            </a:r>
            <a:r>
              <a:rPr lang="pt-BR" sz="1600" dirty="0" err="1">
                <a:latin typeface="Tahoma" panose="020B0604030504040204" pitchFamily="34" charset="0"/>
              </a:rPr>
              <a:t>ex</a:t>
            </a:r>
            <a:r>
              <a:rPr lang="pt-BR" sz="1600" dirty="0">
                <a:latin typeface="Tahoma" panose="020B0604030504040204" pitchFamily="34" charset="0"/>
              </a:rPr>
              <a:t>: estudo sobre qualidade de água num rio)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amostragem restrita aos elementos que se tem acesso (</a:t>
            </a:r>
            <a:r>
              <a:rPr lang="pt-BR" sz="1600" dirty="0" err="1">
                <a:latin typeface="Tahoma" panose="020B0604030504040204" pitchFamily="34" charset="0"/>
              </a:rPr>
              <a:t>ex</a:t>
            </a:r>
            <a:r>
              <a:rPr lang="pt-BR" sz="1600" dirty="0">
                <a:latin typeface="Tahoma" panose="020B0604030504040204" pitchFamily="34" charset="0"/>
              </a:rPr>
              <a:t>: estudo sobre ocorrência de focos de dengue em casas de veraneio)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amostragem intencional ou por julgamento (</a:t>
            </a:r>
            <a:r>
              <a:rPr lang="pt-BR" sz="1600" dirty="0" err="1">
                <a:latin typeface="Tahoma" panose="020B0604030504040204" pitchFamily="34" charset="0"/>
              </a:rPr>
              <a:t>ex</a:t>
            </a:r>
            <a:r>
              <a:rPr lang="pt-BR" sz="1600" dirty="0">
                <a:latin typeface="Tahoma" panose="020B0604030504040204" pitchFamily="34" charset="0"/>
              </a:rPr>
              <a:t>: estudo sobre diversidade florística </a:t>
            </a:r>
            <a:r>
              <a:rPr 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de plantas com DAP maior que 30cm dentro de um </a:t>
            </a:r>
            <a:r>
              <a:rPr lang="pt-BR" sz="1600" dirty="0" err="1">
                <a:solidFill>
                  <a:srgbClr val="000000"/>
                </a:solidFill>
                <a:latin typeface="Tahoma" panose="020B0604030504040204" pitchFamily="34" charset="0"/>
              </a:rPr>
              <a:t>transecto</a:t>
            </a:r>
            <a:r>
              <a:rPr lang="pt-BR" sz="1600" dirty="0">
                <a:latin typeface="Tahoma" panose="020B0604030504040204" pitchFamily="34" charset="0"/>
              </a:rPr>
              <a:t>)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voluntários (</a:t>
            </a:r>
            <a:r>
              <a:rPr lang="pt-BR" sz="1600" dirty="0" err="1">
                <a:latin typeface="Tahoma" panose="020B0604030504040204" pitchFamily="34" charset="0"/>
              </a:rPr>
              <a:t>ex</a:t>
            </a:r>
            <a:r>
              <a:rPr lang="pt-BR" sz="1600" dirty="0">
                <a:latin typeface="Tahoma" panose="020B0604030504040204" pitchFamily="34" charset="0"/>
              </a:rPr>
              <a:t>: estudo sobre a eficácia de uma nova vacina contra febre amarela)</a:t>
            </a:r>
          </a:p>
          <a:p>
            <a:pPr marL="355600" indent="-355600" algn="l" defTabSz="450850">
              <a:lnSpc>
                <a:spcPct val="150000"/>
              </a:lnSpc>
              <a:defRPr/>
            </a:pPr>
            <a:r>
              <a:rPr 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sz="1600" dirty="0">
                <a:latin typeface="Tahoma" panose="020B0604030504040204" pitchFamily="34" charset="0"/>
              </a:rPr>
              <a:t> escolha a esmo é a abordagem que mais se assemelha à amostragem probabilística desde que se garanta que não haja nenhum tipo de influência na seleção das amostras</a:t>
            </a:r>
          </a:p>
        </p:txBody>
      </p:sp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251521" y="1412875"/>
            <a:ext cx="8568630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Como amostrar?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amostragem probabilística X não probabilística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5B5703-481C-4C7B-B4EA-750098F86FE2}" type="slidenum">
              <a:rPr lang="pt-BR"/>
              <a:pPr>
                <a:defRPr/>
              </a:pPr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8729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1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Tipos de Amostragem</a:t>
            </a:r>
          </a:p>
        </p:txBody>
      </p:sp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454025" y="1484784"/>
            <a:ext cx="8366125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Do ponto de vista estatístico, a amostragem probabilística é a ideal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Sempre que uma abordagem não probabilística for adotada, deve-se explicitá-la no trabalho de pesquisa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5B5703-481C-4C7B-B4EA-750098F86FE2}" type="slidenum">
              <a:rPr lang="pt-BR"/>
              <a:pPr>
                <a:defRPr/>
              </a:pPr>
              <a:t>13</a:t>
            </a:fld>
            <a:endParaRPr lang="pt-BR"/>
          </a:p>
        </p:txBody>
      </p:sp>
      <p:grpSp>
        <p:nvGrpSpPr>
          <p:cNvPr id="23552" name="Grupo 23551"/>
          <p:cNvGrpSpPr/>
          <p:nvPr/>
        </p:nvGrpSpPr>
        <p:grpSpPr>
          <a:xfrm>
            <a:off x="494978" y="2837643"/>
            <a:ext cx="7829170" cy="2751597"/>
            <a:chOff x="494978" y="2910428"/>
            <a:chExt cx="7829170" cy="2751597"/>
          </a:xfrm>
        </p:grpSpPr>
        <p:pic>
          <p:nvPicPr>
            <p:cNvPr id="12" name="Imagem 1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978" y="2914358"/>
              <a:ext cx="2474598" cy="2474598"/>
            </a:xfrm>
            <a:prstGeom prst="rect">
              <a:avLst/>
            </a:prstGeom>
          </p:spPr>
        </p:pic>
        <p:pic>
          <p:nvPicPr>
            <p:cNvPr id="28" name="Imagem 2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91880" y="2910428"/>
              <a:ext cx="2474598" cy="2474598"/>
            </a:xfrm>
            <a:prstGeom prst="rect">
              <a:avLst/>
            </a:prstGeom>
          </p:spPr>
        </p:pic>
        <p:sp>
          <p:nvSpPr>
            <p:cNvPr id="29" name="CaixaDeTexto 28"/>
            <p:cNvSpPr txBox="1"/>
            <p:nvPr/>
          </p:nvSpPr>
          <p:spPr>
            <a:xfrm>
              <a:off x="886532" y="5385026"/>
              <a:ext cx="169148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OLI/</a:t>
              </a:r>
              <a:r>
                <a:rPr lang="pt-BR" dirty="0" err="1">
                  <a:latin typeface="Tahoma" panose="020B0604030504040204" pitchFamily="34" charset="0"/>
                </a:rPr>
                <a:t>Landsat</a:t>
              </a:r>
              <a:r>
                <a:rPr lang="pt-BR" dirty="0">
                  <a:latin typeface="Tahoma" panose="020B0604030504040204" pitchFamily="34" charset="0"/>
                </a:rPr>
                <a:t>  R6G5B4</a:t>
              </a:r>
            </a:p>
          </p:txBody>
        </p:sp>
        <p:sp>
          <p:nvSpPr>
            <p:cNvPr id="35" name="CaixaDeTexto 34"/>
            <p:cNvSpPr txBox="1"/>
            <p:nvPr/>
          </p:nvSpPr>
          <p:spPr>
            <a:xfrm>
              <a:off x="4118996" y="5385025"/>
              <a:ext cx="103618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Classificação</a:t>
              </a:r>
            </a:p>
          </p:txBody>
        </p:sp>
        <p:sp>
          <p:nvSpPr>
            <p:cNvPr id="30" name="Retângulo 29"/>
            <p:cNvSpPr/>
            <p:nvPr/>
          </p:nvSpPr>
          <p:spPr bwMode="auto">
            <a:xfrm>
              <a:off x="6228184" y="3126452"/>
              <a:ext cx="288032" cy="288032"/>
            </a:xfrm>
            <a:prstGeom prst="rect">
              <a:avLst/>
            </a:prstGeom>
            <a:solidFill>
              <a:srgbClr val="05C70A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7" name="Retângulo 36"/>
            <p:cNvSpPr/>
            <p:nvPr/>
          </p:nvSpPr>
          <p:spPr bwMode="auto">
            <a:xfrm>
              <a:off x="6228184" y="3576502"/>
              <a:ext cx="288032" cy="288032"/>
            </a:xfrm>
            <a:prstGeom prst="rect">
              <a:avLst/>
            </a:prstGeom>
            <a:solidFill>
              <a:srgbClr val="FFFF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8" name="Retângulo 37"/>
            <p:cNvSpPr/>
            <p:nvPr/>
          </p:nvSpPr>
          <p:spPr bwMode="auto">
            <a:xfrm>
              <a:off x="6228184" y="4026552"/>
              <a:ext cx="288032" cy="288032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9" name="Retângulo 38"/>
            <p:cNvSpPr/>
            <p:nvPr/>
          </p:nvSpPr>
          <p:spPr bwMode="auto">
            <a:xfrm>
              <a:off x="6228184" y="4476602"/>
              <a:ext cx="288032" cy="288032"/>
            </a:xfrm>
            <a:prstGeom prst="rect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40" name="Retângulo 39"/>
            <p:cNvSpPr/>
            <p:nvPr/>
          </p:nvSpPr>
          <p:spPr bwMode="auto">
            <a:xfrm>
              <a:off x="6228184" y="4926652"/>
              <a:ext cx="288032" cy="288032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1" name="CaixaDeTexto 30"/>
            <p:cNvSpPr txBox="1"/>
            <p:nvPr/>
          </p:nvSpPr>
          <p:spPr>
            <a:xfrm>
              <a:off x="6550906" y="3126452"/>
              <a:ext cx="7209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dirty="0">
                  <a:latin typeface="Tahoma" panose="020B0604030504040204" pitchFamily="34" charset="0"/>
                </a:rPr>
                <a:t>Floresta</a:t>
              </a:r>
            </a:p>
          </p:txBody>
        </p:sp>
        <p:sp>
          <p:nvSpPr>
            <p:cNvPr id="42" name="CaixaDeTexto 41"/>
            <p:cNvSpPr txBox="1"/>
            <p:nvPr/>
          </p:nvSpPr>
          <p:spPr>
            <a:xfrm>
              <a:off x="6550906" y="3576502"/>
              <a:ext cx="108715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dirty="0">
                  <a:latin typeface="Tahoma" panose="020B0604030504040204" pitchFamily="34" charset="0"/>
                </a:rPr>
                <a:t>Regeneração</a:t>
              </a:r>
            </a:p>
          </p:txBody>
        </p:sp>
        <p:sp>
          <p:nvSpPr>
            <p:cNvPr id="43" name="CaixaDeTexto 42"/>
            <p:cNvSpPr txBox="1"/>
            <p:nvPr/>
          </p:nvSpPr>
          <p:spPr>
            <a:xfrm>
              <a:off x="6550906" y="4026552"/>
              <a:ext cx="177324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dirty="0">
                  <a:latin typeface="Tahoma" panose="020B0604030504040204" pitchFamily="34" charset="0"/>
                </a:rPr>
                <a:t>Pastagem/Solo Exposto</a:t>
              </a:r>
            </a:p>
          </p:txBody>
        </p:sp>
        <p:sp>
          <p:nvSpPr>
            <p:cNvPr id="44" name="CaixaDeTexto 43"/>
            <p:cNvSpPr txBox="1"/>
            <p:nvPr/>
          </p:nvSpPr>
          <p:spPr>
            <a:xfrm>
              <a:off x="6550906" y="4476602"/>
              <a:ext cx="12846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dirty="0">
                  <a:latin typeface="Tahoma" panose="020B0604030504040204" pitchFamily="34" charset="0"/>
                </a:rPr>
                <a:t>Não Classificado</a:t>
              </a:r>
            </a:p>
          </p:txBody>
        </p:sp>
        <p:sp>
          <p:nvSpPr>
            <p:cNvPr id="45" name="CaixaDeTexto 44"/>
            <p:cNvSpPr txBox="1"/>
            <p:nvPr/>
          </p:nvSpPr>
          <p:spPr>
            <a:xfrm>
              <a:off x="6550906" y="4926652"/>
              <a:ext cx="122206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dirty="0">
                  <a:latin typeface="Tahoma" panose="020B0604030504040204" pitchFamily="34" charset="0"/>
                </a:rPr>
                <a:t>Não Observado</a:t>
              </a:r>
            </a:p>
          </p:txBody>
        </p:sp>
      </p:grpSp>
      <p:sp>
        <p:nvSpPr>
          <p:cNvPr id="47" name="CaixaDeTexto 46"/>
          <p:cNvSpPr txBox="1"/>
          <p:nvPr/>
        </p:nvSpPr>
        <p:spPr>
          <a:xfrm>
            <a:off x="439062" y="5661248"/>
            <a:ext cx="82676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5125" indent="-365125" algn="l"/>
            <a:r>
              <a:rPr lang="pt-BR" sz="1400" dirty="0">
                <a:latin typeface="Tahoma" panose="020B0604030504040204" pitchFamily="34" charset="0"/>
              </a:rPr>
              <a:t>Numa análise sobre a qualidade da classificação, deve-se explicitar que as regiões marcadas como “Não Classificado” e “Não Observado” não serão consideradas na avaliação</a:t>
            </a:r>
          </a:p>
          <a:p>
            <a:pPr marL="365125" indent="-365125" algn="l"/>
            <a:r>
              <a:rPr lang="pt-BR" sz="1400" dirty="0">
                <a:latin typeface="Tahoma" panose="020B0604030504040204" pitchFamily="34" charset="0"/>
              </a:rPr>
              <a:t>Nesse caso, a amostragem não é tipicamente probabilística pois os pixels pertencentes a essas classes não podem ser sorteados (probabilidade nula)</a:t>
            </a:r>
          </a:p>
        </p:txBody>
      </p:sp>
    </p:spTree>
    <p:extLst>
      <p:ext uri="{BB962C8B-B14F-4D97-AF65-F5344CB8AC3E}">
        <p14:creationId xmlns:p14="http://schemas.microsoft.com/office/powerpoint/2010/main" val="3812492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Desenho amostral (</a:t>
            </a:r>
            <a:r>
              <a:rPr lang="pt-BR" i="1" dirty="0" err="1"/>
              <a:t>Sampling</a:t>
            </a:r>
            <a:r>
              <a:rPr lang="pt-BR" i="1" dirty="0"/>
              <a:t> Design</a:t>
            </a:r>
            <a:r>
              <a:rPr lang="pt-BR" dirty="0"/>
              <a:t>)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1218B3-0CC0-431D-AA64-2A3E6AB64835}" type="slidenum">
              <a:rPr lang="pt-BR"/>
              <a:pPr>
                <a:defRPr/>
              </a:pPr>
              <a:t>14</a:t>
            </a:fld>
            <a:endParaRPr lang="pt-BR"/>
          </a:p>
        </p:txBody>
      </p:sp>
      <p:sp>
        <p:nvSpPr>
          <p:cNvPr id="54" name="Text Box 4"/>
          <p:cNvSpPr txBox="1">
            <a:spLocks noChangeArrowheads="1"/>
          </p:cNvSpPr>
          <p:nvPr/>
        </p:nvSpPr>
        <p:spPr bwMode="auto">
          <a:xfrm>
            <a:off x="454025" y="1643316"/>
            <a:ext cx="8582471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Desenho Amostral define como as amostras serão coletadas.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escolha da melhor estratégia dependerá: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da facilidade e praticidade de implementação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dos custos para obtenção das amostras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da heterogeneidade espacial dos dados (distribuição espacial)</a:t>
            </a:r>
          </a:p>
        </p:txBody>
      </p:sp>
      <p:sp>
        <p:nvSpPr>
          <p:cNvPr id="55" name="Text Box 4"/>
          <p:cNvSpPr txBox="1">
            <a:spLocks noChangeArrowheads="1"/>
          </p:cNvSpPr>
          <p:nvPr/>
        </p:nvSpPr>
        <p:spPr bwMode="auto">
          <a:xfrm>
            <a:off x="452573" y="4163596"/>
            <a:ext cx="858247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Decisões chaves: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usar abordagem simples ou sistemática?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usar ou não uma amostragem estratificada?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selecionar amostras isoladas ou em conglomerados (</a:t>
            </a:r>
            <a:r>
              <a:rPr lang="pt-BR" altLang="pt-BR" sz="1600" i="1" dirty="0">
                <a:latin typeface="Tahoma" panose="020B0604030504040204" pitchFamily="34" charset="0"/>
              </a:rPr>
              <a:t>clusters</a:t>
            </a:r>
            <a:r>
              <a:rPr lang="pt-BR" altLang="pt-BR" sz="1600" dirty="0">
                <a:latin typeface="Tahoma" panose="020B0604030504040204" pitchFamily="34" charset="0"/>
              </a:rPr>
              <a:t>)?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Amostragem Aleatória Simples</a:t>
            </a:r>
          </a:p>
        </p:txBody>
      </p:sp>
      <p:sp>
        <p:nvSpPr>
          <p:cNvPr id="168963" name="Text Box 3"/>
          <p:cNvSpPr txBox="1">
            <a:spLocks noChangeArrowheads="1"/>
          </p:cNvSpPr>
          <p:nvPr/>
        </p:nvSpPr>
        <p:spPr bwMode="auto">
          <a:xfrm>
            <a:off x="754062" y="1557338"/>
            <a:ext cx="777837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Nesta abordagem, a escolha de uma amostra é feita de modo totalmente independente das outras amostras já selecionadas</a:t>
            </a:r>
            <a:endParaRPr lang="pt-BR" altLang="pt-BR" sz="1600" dirty="0">
              <a:latin typeface="Times New Roman" charset="0"/>
            </a:endParaRPr>
          </a:p>
        </p:txBody>
      </p:sp>
      <p:grpSp>
        <p:nvGrpSpPr>
          <p:cNvPr id="2" name="Group 64"/>
          <p:cNvGrpSpPr>
            <a:grpSpLocks/>
          </p:cNvGrpSpPr>
          <p:nvPr/>
        </p:nvGrpSpPr>
        <p:grpSpPr bwMode="auto">
          <a:xfrm>
            <a:off x="3563888" y="2814042"/>
            <a:ext cx="1800225" cy="2343150"/>
            <a:chOff x="2200" y="1661"/>
            <a:chExt cx="1134" cy="1476"/>
          </a:xfrm>
        </p:grpSpPr>
        <p:grpSp>
          <p:nvGrpSpPr>
            <p:cNvPr id="16403" name="Group 63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134" cy="1476"/>
            </a:xfrm>
          </p:grpSpPr>
          <p:sp>
            <p:nvSpPr>
              <p:cNvPr id="16419" name="Line 35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0" name="Line 36"/>
              <p:cNvSpPr>
                <a:spLocks noChangeShapeType="1"/>
              </p:cNvSpPr>
              <p:nvPr/>
            </p:nvSpPr>
            <p:spPr bwMode="auto">
              <a:xfrm>
                <a:off x="2200" y="174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1" name="Line 37"/>
              <p:cNvSpPr>
                <a:spLocks noChangeShapeType="1"/>
              </p:cNvSpPr>
              <p:nvPr/>
            </p:nvSpPr>
            <p:spPr bwMode="auto">
              <a:xfrm>
                <a:off x="2200" y="183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2" name="Line 38"/>
              <p:cNvSpPr>
                <a:spLocks noChangeShapeType="1"/>
              </p:cNvSpPr>
              <p:nvPr/>
            </p:nvSpPr>
            <p:spPr bwMode="auto">
              <a:xfrm>
                <a:off x="2200" y="192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3" name="Line 39"/>
              <p:cNvSpPr>
                <a:spLocks noChangeShapeType="1"/>
              </p:cNvSpPr>
              <p:nvPr/>
            </p:nvSpPr>
            <p:spPr bwMode="auto">
              <a:xfrm>
                <a:off x="2200" y="200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4" name="Line 40"/>
              <p:cNvSpPr>
                <a:spLocks noChangeShapeType="1"/>
              </p:cNvSpPr>
              <p:nvPr/>
            </p:nvSpPr>
            <p:spPr bwMode="auto">
              <a:xfrm>
                <a:off x="2200" y="209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5" name="Line 41"/>
              <p:cNvSpPr>
                <a:spLocks noChangeShapeType="1"/>
              </p:cNvSpPr>
              <p:nvPr/>
            </p:nvSpPr>
            <p:spPr bwMode="auto">
              <a:xfrm>
                <a:off x="2200" y="218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6" name="Line 42"/>
              <p:cNvSpPr>
                <a:spLocks noChangeShapeType="1"/>
              </p:cNvSpPr>
              <p:nvPr/>
            </p:nvSpPr>
            <p:spPr bwMode="auto">
              <a:xfrm>
                <a:off x="2200" y="226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7" name="Line 43"/>
              <p:cNvSpPr>
                <a:spLocks noChangeShapeType="1"/>
              </p:cNvSpPr>
              <p:nvPr/>
            </p:nvSpPr>
            <p:spPr bwMode="auto">
              <a:xfrm>
                <a:off x="2200" y="235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8" name="Line 44"/>
              <p:cNvSpPr>
                <a:spLocks noChangeShapeType="1"/>
              </p:cNvSpPr>
              <p:nvPr/>
            </p:nvSpPr>
            <p:spPr bwMode="auto">
              <a:xfrm>
                <a:off x="2200" y="244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9" name="Line 45"/>
              <p:cNvSpPr>
                <a:spLocks noChangeShapeType="1"/>
              </p:cNvSpPr>
              <p:nvPr/>
            </p:nvSpPr>
            <p:spPr bwMode="auto">
              <a:xfrm>
                <a:off x="2200" y="252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0" name="Line 46"/>
              <p:cNvSpPr>
                <a:spLocks noChangeShapeType="1"/>
              </p:cNvSpPr>
              <p:nvPr/>
            </p:nvSpPr>
            <p:spPr bwMode="auto">
              <a:xfrm>
                <a:off x="2200" y="261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1" name="Line 51"/>
              <p:cNvSpPr>
                <a:spLocks noChangeShapeType="1"/>
              </p:cNvSpPr>
              <p:nvPr/>
            </p:nvSpPr>
            <p:spPr bwMode="auto">
              <a:xfrm>
                <a:off x="2200" y="270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2" name="Line 52"/>
              <p:cNvSpPr>
                <a:spLocks noChangeShapeType="1"/>
              </p:cNvSpPr>
              <p:nvPr/>
            </p:nvSpPr>
            <p:spPr bwMode="auto">
              <a:xfrm>
                <a:off x="2200" y="279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3" name="Line 53"/>
              <p:cNvSpPr>
                <a:spLocks noChangeShapeType="1"/>
              </p:cNvSpPr>
              <p:nvPr/>
            </p:nvSpPr>
            <p:spPr bwMode="auto">
              <a:xfrm>
                <a:off x="2200" y="287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4" name="Line 54"/>
              <p:cNvSpPr>
                <a:spLocks noChangeShapeType="1"/>
              </p:cNvSpPr>
              <p:nvPr/>
            </p:nvSpPr>
            <p:spPr bwMode="auto">
              <a:xfrm>
                <a:off x="2200" y="296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5" name="Line 55"/>
              <p:cNvSpPr>
                <a:spLocks noChangeShapeType="1"/>
              </p:cNvSpPr>
              <p:nvPr/>
            </p:nvSpPr>
            <p:spPr bwMode="auto">
              <a:xfrm>
                <a:off x="2200" y="305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6" name="Line 56"/>
              <p:cNvSpPr>
                <a:spLocks noChangeShapeType="1"/>
              </p:cNvSpPr>
              <p:nvPr/>
            </p:nvSpPr>
            <p:spPr bwMode="auto">
              <a:xfrm>
                <a:off x="2200" y="313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6404" name="Group 47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768" cy="1452"/>
            </a:xfrm>
          </p:grpSpPr>
          <p:sp>
            <p:nvSpPr>
              <p:cNvPr id="16405" name="Line 21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6" name="Line 22"/>
              <p:cNvSpPr>
                <a:spLocks noChangeShapeType="1"/>
              </p:cNvSpPr>
              <p:nvPr/>
            </p:nvSpPr>
            <p:spPr bwMode="auto">
              <a:xfrm>
                <a:off x="233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7" name="Line 23"/>
              <p:cNvSpPr>
                <a:spLocks noChangeShapeType="1"/>
              </p:cNvSpPr>
              <p:nvPr/>
            </p:nvSpPr>
            <p:spPr bwMode="auto">
              <a:xfrm>
                <a:off x="247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8" name="Line 24"/>
              <p:cNvSpPr>
                <a:spLocks noChangeShapeType="1"/>
              </p:cNvSpPr>
              <p:nvPr/>
            </p:nvSpPr>
            <p:spPr bwMode="auto">
              <a:xfrm>
                <a:off x="260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9" name="Line 25"/>
              <p:cNvSpPr>
                <a:spLocks noChangeShapeType="1"/>
              </p:cNvSpPr>
              <p:nvPr/>
            </p:nvSpPr>
            <p:spPr bwMode="auto">
              <a:xfrm>
                <a:off x="274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0" name="Line 26"/>
              <p:cNvSpPr>
                <a:spLocks noChangeShapeType="1"/>
              </p:cNvSpPr>
              <p:nvPr/>
            </p:nvSpPr>
            <p:spPr bwMode="auto">
              <a:xfrm>
                <a:off x="288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1" name="Line 27"/>
              <p:cNvSpPr>
                <a:spLocks noChangeShapeType="1"/>
              </p:cNvSpPr>
              <p:nvPr/>
            </p:nvSpPr>
            <p:spPr bwMode="auto">
              <a:xfrm>
                <a:off x="301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2" name="Line 28"/>
              <p:cNvSpPr>
                <a:spLocks noChangeShapeType="1"/>
              </p:cNvSpPr>
              <p:nvPr/>
            </p:nvSpPr>
            <p:spPr bwMode="auto">
              <a:xfrm>
                <a:off x="315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3" name="Line 29"/>
              <p:cNvSpPr>
                <a:spLocks noChangeShapeType="1"/>
              </p:cNvSpPr>
              <p:nvPr/>
            </p:nvSpPr>
            <p:spPr bwMode="auto">
              <a:xfrm>
                <a:off x="328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4" name="Line 30"/>
              <p:cNvSpPr>
                <a:spLocks noChangeShapeType="1"/>
              </p:cNvSpPr>
              <p:nvPr/>
            </p:nvSpPr>
            <p:spPr bwMode="auto">
              <a:xfrm>
                <a:off x="342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5" name="Line 31"/>
              <p:cNvSpPr>
                <a:spLocks noChangeShapeType="1"/>
              </p:cNvSpPr>
              <p:nvPr/>
            </p:nvSpPr>
            <p:spPr bwMode="auto">
              <a:xfrm>
                <a:off x="356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6" name="Line 32"/>
              <p:cNvSpPr>
                <a:spLocks noChangeShapeType="1"/>
              </p:cNvSpPr>
              <p:nvPr/>
            </p:nvSpPr>
            <p:spPr bwMode="auto">
              <a:xfrm>
                <a:off x="369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7" name="Line 33"/>
              <p:cNvSpPr>
                <a:spLocks noChangeShapeType="1"/>
              </p:cNvSpPr>
              <p:nvPr/>
            </p:nvSpPr>
            <p:spPr bwMode="auto">
              <a:xfrm>
                <a:off x="383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8" name="Line 34"/>
              <p:cNvSpPr>
                <a:spLocks noChangeShapeType="1"/>
              </p:cNvSpPr>
              <p:nvPr/>
            </p:nvSpPr>
            <p:spPr bwMode="auto">
              <a:xfrm>
                <a:off x="396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1218B3-0CC0-431D-AA64-2A3E6AB64835}" type="slidenum">
              <a:rPr lang="pt-BR"/>
              <a:pPr>
                <a:defRPr/>
              </a:pPr>
              <a:t>15</a:t>
            </a:fld>
            <a:endParaRPr lang="pt-BR"/>
          </a:p>
        </p:txBody>
      </p:sp>
      <p:grpSp>
        <p:nvGrpSpPr>
          <p:cNvPr id="8" name="Grupo 7"/>
          <p:cNvGrpSpPr/>
          <p:nvPr/>
        </p:nvGrpSpPr>
        <p:grpSpPr>
          <a:xfrm>
            <a:off x="843146" y="2814042"/>
            <a:ext cx="1800000" cy="2343150"/>
            <a:chOff x="1763688" y="2742034"/>
            <a:chExt cx="1800000" cy="2343150"/>
          </a:xfrm>
        </p:grpSpPr>
        <p:sp>
          <p:nvSpPr>
            <p:cNvPr id="4" name="Retângulo 3"/>
            <p:cNvSpPr/>
            <p:nvPr/>
          </p:nvSpPr>
          <p:spPr bwMode="auto">
            <a:xfrm>
              <a:off x="1763688" y="2742034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Elipse 6"/>
            <p:cNvSpPr/>
            <p:nvPr/>
          </p:nvSpPr>
          <p:spPr bwMode="auto">
            <a:xfrm>
              <a:off x="1982369" y="327660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6" name="Elipse 65"/>
            <p:cNvSpPr/>
            <p:nvPr/>
          </p:nvSpPr>
          <p:spPr bwMode="auto">
            <a:xfrm>
              <a:off x="2270409" y="342900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7" name="Elipse 66"/>
            <p:cNvSpPr/>
            <p:nvPr/>
          </p:nvSpPr>
          <p:spPr bwMode="auto">
            <a:xfrm>
              <a:off x="2492160" y="364503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8" name="Elipse 67"/>
            <p:cNvSpPr/>
            <p:nvPr/>
          </p:nvSpPr>
          <p:spPr bwMode="auto">
            <a:xfrm>
              <a:off x="2123728" y="393306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9" name="Elipse 68"/>
            <p:cNvSpPr/>
            <p:nvPr/>
          </p:nvSpPr>
          <p:spPr bwMode="auto">
            <a:xfrm>
              <a:off x="2483776" y="414908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0" name="Elipse 69"/>
            <p:cNvSpPr/>
            <p:nvPr/>
          </p:nvSpPr>
          <p:spPr bwMode="auto">
            <a:xfrm>
              <a:off x="2051720" y="45091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1" name="Elipse 70"/>
            <p:cNvSpPr/>
            <p:nvPr/>
          </p:nvSpPr>
          <p:spPr bwMode="auto">
            <a:xfrm>
              <a:off x="2411768" y="46615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2" name="Elipse 71"/>
            <p:cNvSpPr/>
            <p:nvPr/>
          </p:nvSpPr>
          <p:spPr bwMode="auto">
            <a:xfrm>
              <a:off x="2771808" y="48139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3" name="Elipse 72"/>
            <p:cNvSpPr/>
            <p:nvPr/>
          </p:nvSpPr>
          <p:spPr bwMode="auto">
            <a:xfrm>
              <a:off x="2924208" y="450912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4" name="Elipse 73"/>
            <p:cNvSpPr/>
            <p:nvPr/>
          </p:nvSpPr>
          <p:spPr bwMode="auto">
            <a:xfrm>
              <a:off x="3076608" y="486916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5" name="Elipse 74"/>
            <p:cNvSpPr/>
            <p:nvPr/>
          </p:nvSpPr>
          <p:spPr bwMode="auto">
            <a:xfrm>
              <a:off x="3149526" y="474195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6" name="Elipse 75"/>
            <p:cNvSpPr/>
            <p:nvPr/>
          </p:nvSpPr>
          <p:spPr bwMode="auto">
            <a:xfrm>
              <a:off x="2888208" y="387840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7" name="Elipse 76"/>
            <p:cNvSpPr/>
            <p:nvPr/>
          </p:nvSpPr>
          <p:spPr bwMode="auto">
            <a:xfrm>
              <a:off x="2852208" y="408080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" name="Elipse 77"/>
            <p:cNvSpPr/>
            <p:nvPr/>
          </p:nvSpPr>
          <p:spPr bwMode="auto">
            <a:xfrm>
              <a:off x="3347864" y="4321655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9" name="Elipse 78"/>
            <p:cNvSpPr/>
            <p:nvPr/>
          </p:nvSpPr>
          <p:spPr bwMode="auto">
            <a:xfrm>
              <a:off x="3148608" y="366441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0" name="Elipse 79"/>
            <p:cNvSpPr/>
            <p:nvPr/>
          </p:nvSpPr>
          <p:spPr bwMode="auto">
            <a:xfrm>
              <a:off x="2591688" y="327118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1" name="Elipse 80"/>
            <p:cNvSpPr/>
            <p:nvPr/>
          </p:nvSpPr>
          <p:spPr bwMode="auto">
            <a:xfrm>
              <a:off x="3077526" y="323132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2" name="Elipse 81"/>
            <p:cNvSpPr/>
            <p:nvPr/>
          </p:nvSpPr>
          <p:spPr bwMode="auto">
            <a:xfrm>
              <a:off x="2852208" y="356753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3" name="Elipse 82"/>
            <p:cNvSpPr/>
            <p:nvPr/>
          </p:nvSpPr>
          <p:spPr bwMode="auto">
            <a:xfrm>
              <a:off x="1777482" y="360277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4" name="Elipse 83"/>
            <p:cNvSpPr/>
            <p:nvPr/>
          </p:nvSpPr>
          <p:spPr bwMode="auto">
            <a:xfrm>
              <a:off x="1766264" y="424799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5" name="Elipse 84"/>
            <p:cNvSpPr/>
            <p:nvPr/>
          </p:nvSpPr>
          <p:spPr bwMode="auto">
            <a:xfrm>
              <a:off x="2087728" y="481777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6" name="Elipse 85"/>
            <p:cNvSpPr/>
            <p:nvPr/>
          </p:nvSpPr>
          <p:spPr bwMode="auto">
            <a:xfrm>
              <a:off x="1845077" y="490426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7" name="Elipse 86"/>
            <p:cNvSpPr/>
            <p:nvPr/>
          </p:nvSpPr>
          <p:spPr bwMode="auto">
            <a:xfrm>
              <a:off x="2434438" y="491265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8" name="Elipse 87"/>
            <p:cNvSpPr/>
            <p:nvPr/>
          </p:nvSpPr>
          <p:spPr bwMode="auto">
            <a:xfrm>
              <a:off x="3358033" y="396919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9" name="Elipse 88"/>
            <p:cNvSpPr/>
            <p:nvPr/>
          </p:nvSpPr>
          <p:spPr bwMode="auto">
            <a:xfrm>
              <a:off x="3418726" y="28441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0" name="Elipse 89"/>
            <p:cNvSpPr/>
            <p:nvPr/>
          </p:nvSpPr>
          <p:spPr bwMode="auto">
            <a:xfrm>
              <a:off x="2538509" y="293810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1" name="Elipse 90"/>
            <p:cNvSpPr/>
            <p:nvPr/>
          </p:nvSpPr>
          <p:spPr bwMode="auto">
            <a:xfrm>
              <a:off x="2856513" y="324079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2" name="Elipse 91"/>
            <p:cNvSpPr/>
            <p:nvPr/>
          </p:nvSpPr>
          <p:spPr bwMode="auto">
            <a:xfrm>
              <a:off x="2781905" y="315478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3" name="Elipse 92"/>
            <p:cNvSpPr/>
            <p:nvPr/>
          </p:nvSpPr>
          <p:spPr bwMode="auto">
            <a:xfrm>
              <a:off x="1835060" y="27721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4" name="Elipse 93"/>
            <p:cNvSpPr/>
            <p:nvPr/>
          </p:nvSpPr>
          <p:spPr bwMode="auto">
            <a:xfrm>
              <a:off x="2269016" y="290210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5" name="Elipse 94"/>
            <p:cNvSpPr/>
            <p:nvPr/>
          </p:nvSpPr>
          <p:spPr bwMode="auto">
            <a:xfrm>
              <a:off x="2993789" y="28441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6" name="Elipse 95"/>
            <p:cNvSpPr/>
            <p:nvPr/>
          </p:nvSpPr>
          <p:spPr bwMode="auto">
            <a:xfrm>
              <a:off x="3454726" y="331279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102" name="Rectangle 91"/>
          <p:cNvSpPr>
            <a:spLocks noChangeArrowheads="1"/>
          </p:cNvSpPr>
          <p:nvPr/>
        </p:nvSpPr>
        <p:spPr bwMode="auto">
          <a:xfrm>
            <a:off x="5638778" y="2759087"/>
            <a:ext cx="3325710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etapas: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rotular cada elemento com um código único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sortear aleatoriamente </a:t>
            </a:r>
            <a:r>
              <a:rPr lang="pt-BR" altLang="pt-BR" sz="1600" i="1" dirty="0">
                <a:latin typeface="Tahoma" panose="020B0604030504040204" pitchFamily="34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códigos (usando-se geradores de números aleatórios)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identificar os elementos com os códigos selecionados</a:t>
            </a:r>
          </a:p>
        </p:txBody>
      </p:sp>
      <p:grpSp>
        <p:nvGrpSpPr>
          <p:cNvPr id="10" name="Grupo 9"/>
          <p:cNvGrpSpPr/>
          <p:nvPr/>
        </p:nvGrpSpPr>
        <p:grpSpPr>
          <a:xfrm>
            <a:off x="486277" y="2245082"/>
            <a:ext cx="5114952" cy="1493219"/>
            <a:chOff x="1404162" y="2245082"/>
            <a:chExt cx="5114952" cy="1493219"/>
          </a:xfrm>
        </p:grpSpPr>
        <p:grpSp>
          <p:nvGrpSpPr>
            <p:cNvPr id="9" name="Grupo 8"/>
            <p:cNvGrpSpPr/>
            <p:nvPr/>
          </p:nvGrpSpPr>
          <p:grpSpPr>
            <a:xfrm>
              <a:off x="3132601" y="2450570"/>
              <a:ext cx="1131690" cy="855543"/>
              <a:chOff x="3132601" y="2450570"/>
              <a:chExt cx="1131690" cy="855543"/>
            </a:xfrm>
          </p:grpSpPr>
          <p:sp>
            <p:nvSpPr>
              <p:cNvPr id="98" name="Pentágono 97"/>
              <p:cNvSpPr/>
              <p:nvPr/>
            </p:nvSpPr>
            <p:spPr bwMode="auto">
              <a:xfrm rot="8666499">
                <a:off x="3544211" y="2450570"/>
                <a:ext cx="720080" cy="360040"/>
              </a:xfrm>
              <a:prstGeom prst="homePlate">
                <a:avLst/>
              </a:prstGeom>
              <a:solidFill>
                <a:schemeClr val="bg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9" name="Forma livre 98"/>
              <p:cNvSpPr/>
              <p:nvPr/>
            </p:nvSpPr>
            <p:spPr bwMode="auto">
              <a:xfrm>
                <a:off x="3132601" y="2808572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0" name="CaixaDeTexto 99"/>
              <p:cNvSpPr txBox="1"/>
              <p:nvPr/>
            </p:nvSpPr>
            <p:spPr>
              <a:xfrm>
                <a:off x="3807135" y="2457339"/>
                <a:ext cx="268022" cy="276999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1</a:t>
                </a:r>
              </a:p>
            </p:txBody>
          </p:sp>
        </p:grpSp>
        <p:grpSp>
          <p:nvGrpSpPr>
            <p:cNvPr id="107" name="Grupo 106"/>
            <p:cNvGrpSpPr/>
            <p:nvPr/>
          </p:nvGrpSpPr>
          <p:grpSpPr>
            <a:xfrm flipH="1">
              <a:off x="1404162" y="2882758"/>
              <a:ext cx="1131690" cy="855543"/>
              <a:chOff x="3132601" y="2450570"/>
              <a:chExt cx="1131690" cy="855543"/>
            </a:xfrm>
          </p:grpSpPr>
          <p:sp>
            <p:nvSpPr>
              <p:cNvPr id="108" name="Pentágono 107"/>
              <p:cNvSpPr/>
              <p:nvPr/>
            </p:nvSpPr>
            <p:spPr bwMode="auto">
              <a:xfrm rot="8666499">
                <a:off x="3544211" y="2450570"/>
                <a:ext cx="720080" cy="360040"/>
              </a:xfrm>
              <a:prstGeom prst="homePlate">
                <a:avLst/>
              </a:prstGeom>
              <a:solidFill>
                <a:schemeClr val="bg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Forma livre 108"/>
              <p:cNvSpPr/>
              <p:nvPr/>
            </p:nvSpPr>
            <p:spPr bwMode="auto">
              <a:xfrm>
                <a:off x="3132601" y="2808572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CaixaDeTexto 109"/>
              <p:cNvSpPr txBox="1"/>
              <p:nvPr/>
            </p:nvSpPr>
            <p:spPr>
              <a:xfrm>
                <a:off x="3807135" y="2457339"/>
                <a:ext cx="268022" cy="276999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2</a:t>
                </a:r>
              </a:p>
            </p:txBody>
          </p:sp>
        </p:grpSp>
        <p:grpSp>
          <p:nvGrpSpPr>
            <p:cNvPr id="115" name="Grupo 114"/>
            <p:cNvGrpSpPr/>
            <p:nvPr/>
          </p:nvGrpSpPr>
          <p:grpSpPr>
            <a:xfrm>
              <a:off x="5387424" y="2307647"/>
              <a:ext cx="1131690" cy="855543"/>
              <a:chOff x="2402498" y="2450570"/>
              <a:chExt cx="1131690" cy="855543"/>
            </a:xfrm>
          </p:grpSpPr>
          <p:sp>
            <p:nvSpPr>
              <p:cNvPr id="116" name="Pentágono 115"/>
              <p:cNvSpPr/>
              <p:nvPr/>
            </p:nvSpPr>
            <p:spPr bwMode="auto">
              <a:xfrm rot="8666499">
                <a:off x="2814108" y="2450570"/>
                <a:ext cx="720080" cy="360040"/>
              </a:xfrm>
              <a:prstGeom prst="homePlate">
                <a:avLst/>
              </a:prstGeom>
              <a:solidFill>
                <a:schemeClr val="bg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7" name="Forma livre 116"/>
              <p:cNvSpPr/>
              <p:nvPr/>
            </p:nvSpPr>
            <p:spPr bwMode="auto">
              <a:xfrm>
                <a:off x="2402498" y="2808572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8" name="CaixaDeTexto 117"/>
              <p:cNvSpPr txBox="1"/>
              <p:nvPr/>
            </p:nvSpPr>
            <p:spPr>
              <a:xfrm>
                <a:off x="3013939" y="2457339"/>
                <a:ext cx="394210" cy="276999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3,7</a:t>
                </a:r>
              </a:p>
            </p:txBody>
          </p:sp>
        </p:grpSp>
        <p:grpSp>
          <p:nvGrpSpPr>
            <p:cNvPr id="119" name="Grupo 118"/>
            <p:cNvGrpSpPr/>
            <p:nvPr/>
          </p:nvGrpSpPr>
          <p:grpSpPr>
            <a:xfrm>
              <a:off x="4553781" y="2245082"/>
              <a:ext cx="1131690" cy="663588"/>
              <a:chOff x="2402498" y="2642525"/>
              <a:chExt cx="1131690" cy="663588"/>
            </a:xfrm>
          </p:grpSpPr>
          <p:sp>
            <p:nvSpPr>
              <p:cNvPr id="120" name="Pentágono 119"/>
              <p:cNvSpPr/>
              <p:nvPr/>
            </p:nvSpPr>
            <p:spPr bwMode="auto">
              <a:xfrm rot="8666499">
                <a:off x="2814108" y="2642525"/>
                <a:ext cx="720080" cy="360040"/>
              </a:xfrm>
              <a:prstGeom prst="homePlate">
                <a:avLst/>
              </a:prstGeom>
              <a:solidFill>
                <a:schemeClr val="bg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1" name="Forma livre 120"/>
              <p:cNvSpPr/>
              <p:nvPr/>
            </p:nvSpPr>
            <p:spPr bwMode="auto">
              <a:xfrm>
                <a:off x="2402498" y="2993281"/>
                <a:ext cx="497541" cy="312832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2" name="CaixaDeTexto 121"/>
              <p:cNvSpPr txBox="1"/>
              <p:nvPr/>
            </p:nvSpPr>
            <p:spPr>
              <a:xfrm>
                <a:off x="3012112" y="2649294"/>
                <a:ext cx="397866" cy="276999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1,1</a:t>
                </a:r>
              </a:p>
            </p:txBody>
          </p:sp>
        </p:grpSp>
      </p:grpSp>
      <p:grpSp>
        <p:nvGrpSpPr>
          <p:cNvPr id="128" name="Group 79"/>
          <p:cNvGrpSpPr>
            <a:grpSpLocks/>
          </p:cNvGrpSpPr>
          <p:nvPr/>
        </p:nvGrpSpPr>
        <p:grpSpPr bwMode="auto">
          <a:xfrm>
            <a:off x="3702367" y="3074839"/>
            <a:ext cx="1663700" cy="1938337"/>
            <a:chOff x="517" y="1652"/>
            <a:chExt cx="1048" cy="1221"/>
          </a:xfrm>
        </p:grpSpPr>
        <p:sp>
          <p:nvSpPr>
            <p:cNvPr id="129" name="Rectangle 65"/>
            <p:cNvSpPr>
              <a:spLocks noChangeArrowheads="1"/>
            </p:cNvSpPr>
            <p:nvPr/>
          </p:nvSpPr>
          <p:spPr bwMode="auto">
            <a:xfrm>
              <a:off x="604" y="1652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0" name="Rectangle 66"/>
            <p:cNvSpPr>
              <a:spLocks noChangeArrowheads="1"/>
            </p:cNvSpPr>
            <p:nvPr/>
          </p:nvSpPr>
          <p:spPr bwMode="auto">
            <a:xfrm>
              <a:off x="1042" y="1739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1" name="Rectangle 67"/>
            <p:cNvSpPr>
              <a:spLocks noChangeArrowheads="1"/>
            </p:cNvSpPr>
            <p:nvPr/>
          </p:nvSpPr>
          <p:spPr bwMode="auto">
            <a:xfrm>
              <a:off x="691" y="2258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2" name="Rectangle 68"/>
            <p:cNvSpPr>
              <a:spLocks noChangeArrowheads="1"/>
            </p:cNvSpPr>
            <p:nvPr/>
          </p:nvSpPr>
          <p:spPr bwMode="auto">
            <a:xfrm>
              <a:off x="1126" y="1997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3" name="Rectangle 69"/>
            <p:cNvSpPr>
              <a:spLocks noChangeArrowheads="1"/>
            </p:cNvSpPr>
            <p:nvPr/>
          </p:nvSpPr>
          <p:spPr bwMode="auto">
            <a:xfrm>
              <a:off x="1475" y="2695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4" name="Rectangle 70"/>
            <p:cNvSpPr>
              <a:spLocks noChangeArrowheads="1"/>
            </p:cNvSpPr>
            <p:nvPr/>
          </p:nvSpPr>
          <p:spPr bwMode="auto">
            <a:xfrm>
              <a:off x="517" y="2783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5" name="Rectangle 71"/>
            <p:cNvSpPr>
              <a:spLocks noChangeArrowheads="1"/>
            </p:cNvSpPr>
            <p:nvPr/>
          </p:nvSpPr>
          <p:spPr bwMode="auto">
            <a:xfrm>
              <a:off x="1042" y="2522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6" name="Rectangle 72"/>
            <p:cNvSpPr>
              <a:spLocks noChangeArrowheads="1"/>
            </p:cNvSpPr>
            <p:nvPr/>
          </p:nvSpPr>
          <p:spPr bwMode="auto">
            <a:xfrm>
              <a:off x="1303" y="2258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7" name="Rectangle 73"/>
            <p:cNvSpPr>
              <a:spLocks noChangeArrowheads="1"/>
            </p:cNvSpPr>
            <p:nvPr/>
          </p:nvSpPr>
          <p:spPr bwMode="auto">
            <a:xfrm>
              <a:off x="1390" y="1652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8" name="Rectangle 74"/>
            <p:cNvSpPr>
              <a:spLocks noChangeArrowheads="1"/>
            </p:cNvSpPr>
            <p:nvPr/>
          </p:nvSpPr>
          <p:spPr bwMode="auto">
            <a:xfrm>
              <a:off x="780" y="2258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1" name="Grupo 10"/>
          <p:cNvGrpSpPr/>
          <p:nvPr/>
        </p:nvGrpSpPr>
        <p:grpSpPr>
          <a:xfrm>
            <a:off x="1474471" y="2991410"/>
            <a:ext cx="767194" cy="2074384"/>
            <a:chOff x="2392356" y="2991410"/>
            <a:chExt cx="767194" cy="2074384"/>
          </a:xfrm>
        </p:grpSpPr>
        <p:sp>
          <p:nvSpPr>
            <p:cNvPr id="139" name="Elipse 138"/>
            <p:cNvSpPr/>
            <p:nvPr/>
          </p:nvSpPr>
          <p:spPr bwMode="auto">
            <a:xfrm>
              <a:off x="2519960" y="2991410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0" name="Elipse 139"/>
            <p:cNvSpPr/>
            <p:nvPr/>
          </p:nvSpPr>
          <p:spPr bwMode="auto">
            <a:xfrm>
              <a:off x="2868740" y="393305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1" name="Elipse 140"/>
            <p:cNvSpPr/>
            <p:nvPr/>
          </p:nvSpPr>
          <p:spPr bwMode="auto">
            <a:xfrm>
              <a:off x="2392356" y="471960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2" name="Elipse 141"/>
            <p:cNvSpPr/>
            <p:nvPr/>
          </p:nvSpPr>
          <p:spPr bwMode="auto">
            <a:xfrm>
              <a:off x="3051550" y="492180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3" name="Elipse 142"/>
            <p:cNvSpPr/>
            <p:nvPr/>
          </p:nvSpPr>
          <p:spPr bwMode="auto">
            <a:xfrm>
              <a:off x="2411760" y="4957794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127" name="Rectangle 92"/>
          <p:cNvSpPr>
            <a:spLocks noChangeArrowheads="1"/>
          </p:cNvSpPr>
          <p:nvPr/>
        </p:nvSpPr>
        <p:spPr bwMode="auto">
          <a:xfrm>
            <a:off x="843148" y="5373216"/>
            <a:ext cx="5329237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defTabSz="5365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536575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536575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536575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536575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	método simples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rotulação dos elementos pode ser dispendiosa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pressupõe população homogênea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não garante representatividade pois alguns 		    grupos (mais raros) podem não ser sorteados</a:t>
            </a:r>
          </a:p>
        </p:txBody>
      </p:sp>
    </p:spTree>
    <p:extLst>
      <p:ext uri="{BB962C8B-B14F-4D97-AF65-F5344CB8AC3E}">
        <p14:creationId xmlns:p14="http://schemas.microsoft.com/office/powerpoint/2010/main" val="952699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build="p"/>
      <p:bldP spid="127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Amostragem Aleatória Simples</a:t>
            </a:r>
          </a:p>
        </p:txBody>
      </p:sp>
      <p:sp>
        <p:nvSpPr>
          <p:cNvPr id="168963" name="Text Box 3"/>
          <p:cNvSpPr txBox="1">
            <a:spLocks noChangeArrowheads="1"/>
          </p:cNvSpPr>
          <p:nvPr/>
        </p:nvSpPr>
        <p:spPr bwMode="auto">
          <a:xfrm>
            <a:off x="754062" y="1557338"/>
            <a:ext cx="7778377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trabalhos de campo, muitas vezes não é  possível fazer a identificação prévia dos elementos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Nesse caso, é usual fazer 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escolha a esmo </a:t>
            </a:r>
            <a:r>
              <a:rPr lang="pt-BR" altLang="pt-BR" sz="1600" dirty="0">
                <a:latin typeface="Tahoma" panose="020B0604030504040204" pitchFamily="34" charset="0"/>
              </a:rPr>
              <a:t>dos elementos amostrados usando artifícios que garantam a escolha imparcial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numa floresta, deseja-se amostrar 10 árvores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1218B3-0CC0-431D-AA64-2A3E6AB64835}" type="slidenum">
              <a:rPr lang="pt-BR"/>
              <a:pPr>
                <a:defRPr/>
              </a:pPr>
              <a:t>16</a:t>
            </a:fld>
            <a:endParaRPr lang="pt-BR"/>
          </a:p>
        </p:txBody>
      </p:sp>
      <p:sp>
        <p:nvSpPr>
          <p:cNvPr id="139" name="Elipse 138"/>
          <p:cNvSpPr/>
          <p:nvPr/>
        </p:nvSpPr>
        <p:spPr bwMode="auto">
          <a:xfrm>
            <a:off x="1266575" y="5066528"/>
            <a:ext cx="108000" cy="1080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grpSp>
        <p:nvGrpSpPr>
          <p:cNvPr id="18" name="Grupo 17"/>
          <p:cNvGrpSpPr/>
          <p:nvPr/>
        </p:nvGrpSpPr>
        <p:grpSpPr>
          <a:xfrm>
            <a:off x="924535" y="3894162"/>
            <a:ext cx="1800000" cy="2343150"/>
            <a:chOff x="924535" y="3894162"/>
            <a:chExt cx="1800000" cy="2343150"/>
          </a:xfrm>
        </p:grpSpPr>
        <p:grpSp>
          <p:nvGrpSpPr>
            <p:cNvPr id="8" name="Grupo 7"/>
            <p:cNvGrpSpPr/>
            <p:nvPr/>
          </p:nvGrpSpPr>
          <p:grpSpPr>
            <a:xfrm>
              <a:off x="924535" y="3894162"/>
              <a:ext cx="1800000" cy="2343150"/>
              <a:chOff x="1763688" y="2742034"/>
              <a:chExt cx="1800000" cy="2343150"/>
            </a:xfrm>
          </p:grpSpPr>
          <p:sp>
            <p:nvSpPr>
              <p:cNvPr id="4" name="Retângulo 3"/>
              <p:cNvSpPr/>
              <p:nvPr/>
            </p:nvSpPr>
            <p:spPr bwMode="auto">
              <a:xfrm>
                <a:off x="1763688" y="2742034"/>
                <a:ext cx="1800000" cy="2343150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" name="Elipse 6"/>
              <p:cNvSpPr/>
              <p:nvPr/>
            </p:nvSpPr>
            <p:spPr bwMode="auto">
              <a:xfrm>
                <a:off x="1982369" y="32766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6" name="Elipse 65"/>
              <p:cNvSpPr/>
              <p:nvPr/>
            </p:nvSpPr>
            <p:spPr bwMode="auto">
              <a:xfrm>
                <a:off x="2270409" y="34290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7" name="Elipse 66"/>
              <p:cNvSpPr/>
              <p:nvPr/>
            </p:nvSpPr>
            <p:spPr bwMode="auto">
              <a:xfrm>
                <a:off x="2492160" y="364503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8" name="Elipse 67"/>
              <p:cNvSpPr/>
              <p:nvPr/>
            </p:nvSpPr>
            <p:spPr bwMode="auto">
              <a:xfrm>
                <a:off x="2123728" y="393306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9" name="Elipse 68"/>
              <p:cNvSpPr/>
              <p:nvPr/>
            </p:nvSpPr>
            <p:spPr bwMode="auto">
              <a:xfrm>
                <a:off x="2483776" y="414908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" name="Elipse 69"/>
              <p:cNvSpPr/>
              <p:nvPr/>
            </p:nvSpPr>
            <p:spPr bwMode="auto">
              <a:xfrm>
                <a:off x="2051720" y="45091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" name="Elipse 70"/>
              <p:cNvSpPr/>
              <p:nvPr/>
            </p:nvSpPr>
            <p:spPr bwMode="auto">
              <a:xfrm>
                <a:off x="2411768" y="46615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" name="Elipse 71"/>
              <p:cNvSpPr/>
              <p:nvPr/>
            </p:nvSpPr>
            <p:spPr bwMode="auto">
              <a:xfrm>
                <a:off x="2771808" y="48139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" name="Elipse 72"/>
              <p:cNvSpPr/>
              <p:nvPr/>
            </p:nvSpPr>
            <p:spPr bwMode="auto">
              <a:xfrm>
                <a:off x="2924208" y="45091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" name="Elipse 73"/>
              <p:cNvSpPr/>
              <p:nvPr/>
            </p:nvSpPr>
            <p:spPr bwMode="auto">
              <a:xfrm>
                <a:off x="3076608" y="486916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" name="Elipse 74"/>
              <p:cNvSpPr/>
              <p:nvPr/>
            </p:nvSpPr>
            <p:spPr bwMode="auto">
              <a:xfrm>
                <a:off x="3149526" y="474195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6" name="Elipse 75"/>
              <p:cNvSpPr/>
              <p:nvPr/>
            </p:nvSpPr>
            <p:spPr bwMode="auto">
              <a:xfrm>
                <a:off x="2888208" y="38784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7" name="Elipse 76"/>
              <p:cNvSpPr/>
              <p:nvPr/>
            </p:nvSpPr>
            <p:spPr bwMode="auto">
              <a:xfrm>
                <a:off x="2852208" y="408080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8" name="Elipse 77"/>
              <p:cNvSpPr/>
              <p:nvPr/>
            </p:nvSpPr>
            <p:spPr bwMode="auto">
              <a:xfrm>
                <a:off x="3347864" y="432165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9" name="Elipse 78"/>
              <p:cNvSpPr/>
              <p:nvPr/>
            </p:nvSpPr>
            <p:spPr bwMode="auto">
              <a:xfrm>
                <a:off x="3148608" y="366441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0" name="Elipse 79"/>
              <p:cNvSpPr/>
              <p:nvPr/>
            </p:nvSpPr>
            <p:spPr bwMode="auto">
              <a:xfrm>
                <a:off x="2591688" y="32711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1" name="Elipse 80"/>
              <p:cNvSpPr/>
              <p:nvPr/>
            </p:nvSpPr>
            <p:spPr bwMode="auto">
              <a:xfrm>
                <a:off x="3077526" y="32313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" name="Elipse 81"/>
              <p:cNvSpPr/>
              <p:nvPr/>
            </p:nvSpPr>
            <p:spPr bwMode="auto">
              <a:xfrm>
                <a:off x="2852208" y="356753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3" name="Elipse 82"/>
              <p:cNvSpPr/>
              <p:nvPr/>
            </p:nvSpPr>
            <p:spPr bwMode="auto">
              <a:xfrm>
                <a:off x="1777482" y="360277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4" name="Elipse 83"/>
              <p:cNvSpPr/>
              <p:nvPr/>
            </p:nvSpPr>
            <p:spPr bwMode="auto">
              <a:xfrm>
                <a:off x="1766264" y="42479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5" name="Elipse 84"/>
              <p:cNvSpPr/>
              <p:nvPr/>
            </p:nvSpPr>
            <p:spPr bwMode="auto">
              <a:xfrm>
                <a:off x="2087728" y="48177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6" name="Elipse 85"/>
              <p:cNvSpPr/>
              <p:nvPr/>
            </p:nvSpPr>
            <p:spPr bwMode="auto">
              <a:xfrm>
                <a:off x="1845077" y="490426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7" name="Elipse 86"/>
              <p:cNvSpPr/>
              <p:nvPr/>
            </p:nvSpPr>
            <p:spPr bwMode="auto">
              <a:xfrm>
                <a:off x="2434438" y="491265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8" name="Elipse 87"/>
              <p:cNvSpPr/>
              <p:nvPr/>
            </p:nvSpPr>
            <p:spPr bwMode="auto">
              <a:xfrm>
                <a:off x="3358033" y="396919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9" name="Elipse 88"/>
              <p:cNvSpPr/>
              <p:nvPr/>
            </p:nvSpPr>
            <p:spPr bwMode="auto">
              <a:xfrm>
                <a:off x="3418726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0" name="Elipse 89"/>
              <p:cNvSpPr/>
              <p:nvPr/>
            </p:nvSpPr>
            <p:spPr bwMode="auto">
              <a:xfrm>
                <a:off x="2538509" y="2938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1" name="Elipse 90"/>
              <p:cNvSpPr/>
              <p:nvPr/>
            </p:nvSpPr>
            <p:spPr bwMode="auto">
              <a:xfrm>
                <a:off x="2856513" y="3240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2" name="Elipse 91"/>
              <p:cNvSpPr/>
              <p:nvPr/>
            </p:nvSpPr>
            <p:spPr bwMode="auto">
              <a:xfrm>
                <a:off x="2781905" y="31547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3" name="Elipse 92"/>
              <p:cNvSpPr/>
              <p:nvPr/>
            </p:nvSpPr>
            <p:spPr bwMode="auto">
              <a:xfrm>
                <a:off x="1835060" y="2772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4" name="Elipse 93"/>
              <p:cNvSpPr/>
              <p:nvPr/>
            </p:nvSpPr>
            <p:spPr bwMode="auto">
              <a:xfrm>
                <a:off x="2269016" y="2902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Elipse 94"/>
              <p:cNvSpPr/>
              <p:nvPr/>
            </p:nvSpPr>
            <p:spPr bwMode="auto">
              <a:xfrm>
                <a:off x="2993789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Elipse 95"/>
              <p:cNvSpPr/>
              <p:nvPr/>
            </p:nvSpPr>
            <p:spPr bwMode="auto">
              <a:xfrm>
                <a:off x="3454726" y="3312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5" name="Forma livre 4"/>
            <p:cNvSpPr/>
            <p:nvPr/>
          </p:nvSpPr>
          <p:spPr bwMode="auto">
            <a:xfrm>
              <a:off x="1310185" y="4312693"/>
              <a:ext cx="1405719" cy="1897038"/>
            </a:xfrm>
            <a:custGeom>
              <a:avLst/>
              <a:gdLst>
                <a:gd name="connsiteX0" fmla="*/ 0 w 1405719"/>
                <a:gd name="connsiteY0" fmla="*/ 1897038 h 1897038"/>
                <a:gd name="connsiteX1" fmla="*/ 68239 w 1405719"/>
                <a:gd name="connsiteY1" fmla="*/ 1842447 h 1897038"/>
                <a:gd name="connsiteX2" fmla="*/ 122830 w 1405719"/>
                <a:gd name="connsiteY2" fmla="*/ 1760561 h 1897038"/>
                <a:gd name="connsiteX3" fmla="*/ 245660 w 1405719"/>
                <a:gd name="connsiteY3" fmla="*/ 1705970 h 1897038"/>
                <a:gd name="connsiteX4" fmla="*/ 395785 w 1405719"/>
                <a:gd name="connsiteY4" fmla="*/ 1665026 h 1897038"/>
                <a:gd name="connsiteX5" fmla="*/ 436728 w 1405719"/>
                <a:gd name="connsiteY5" fmla="*/ 1651379 h 1897038"/>
                <a:gd name="connsiteX6" fmla="*/ 518615 w 1405719"/>
                <a:gd name="connsiteY6" fmla="*/ 1596788 h 1897038"/>
                <a:gd name="connsiteX7" fmla="*/ 573206 w 1405719"/>
                <a:gd name="connsiteY7" fmla="*/ 1514901 h 1897038"/>
                <a:gd name="connsiteX8" fmla="*/ 614149 w 1405719"/>
                <a:gd name="connsiteY8" fmla="*/ 1487606 h 1897038"/>
                <a:gd name="connsiteX9" fmla="*/ 641445 w 1405719"/>
                <a:gd name="connsiteY9" fmla="*/ 1446662 h 1897038"/>
                <a:gd name="connsiteX10" fmla="*/ 655093 w 1405719"/>
                <a:gd name="connsiteY10" fmla="*/ 1392071 h 1897038"/>
                <a:gd name="connsiteX11" fmla="*/ 668740 w 1405719"/>
                <a:gd name="connsiteY11" fmla="*/ 1160059 h 1897038"/>
                <a:gd name="connsiteX12" fmla="*/ 736979 w 1405719"/>
                <a:gd name="connsiteY12" fmla="*/ 1105468 h 1897038"/>
                <a:gd name="connsiteX13" fmla="*/ 805218 w 1405719"/>
                <a:gd name="connsiteY13" fmla="*/ 1091820 h 1897038"/>
                <a:gd name="connsiteX14" fmla="*/ 846161 w 1405719"/>
                <a:gd name="connsiteY14" fmla="*/ 1078173 h 1897038"/>
                <a:gd name="connsiteX15" fmla="*/ 968991 w 1405719"/>
                <a:gd name="connsiteY15" fmla="*/ 1064525 h 1897038"/>
                <a:gd name="connsiteX16" fmla="*/ 1009934 w 1405719"/>
                <a:gd name="connsiteY16" fmla="*/ 1050877 h 1897038"/>
                <a:gd name="connsiteX17" fmla="*/ 1078173 w 1405719"/>
                <a:gd name="connsiteY17" fmla="*/ 996286 h 1897038"/>
                <a:gd name="connsiteX18" fmla="*/ 1119116 w 1405719"/>
                <a:gd name="connsiteY18" fmla="*/ 464023 h 1897038"/>
                <a:gd name="connsiteX19" fmla="*/ 1146412 w 1405719"/>
                <a:gd name="connsiteY19" fmla="*/ 245659 h 1897038"/>
                <a:gd name="connsiteX20" fmla="*/ 1187355 w 1405719"/>
                <a:gd name="connsiteY20" fmla="*/ 150125 h 1897038"/>
                <a:gd name="connsiteX21" fmla="*/ 1201003 w 1405719"/>
                <a:gd name="connsiteY21" fmla="*/ 109182 h 1897038"/>
                <a:gd name="connsiteX22" fmla="*/ 1282890 w 1405719"/>
                <a:gd name="connsiteY22" fmla="*/ 40943 h 1897038"/>
                <a:gd name="connsiteX23" fmla="*/ 1364776 w 1405719"/>
                <a:gd name="connsiteY23" fmla="*/ 13647 h 1897038"/>
                <a:gd name="connsiteX24" fmla="*/ 1405719 w 1405719"/>
                <a:gd name="connsiteY24" fmla="*/ 0 h 189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405719" h="1897038">
                  <a:moveTo>
                    <a:pt x="0" y="1897038"/>
                  </a:moveTo>
                  <a:cubicBezTo>
                    <a:pt x="22746" y="1878841"/>
                    <a:pt x="48752" y="1864099"/>
                    <a:pt x="68239" y="1842447"/>
                  </a:cubicBezTo>
                  <a:cubicBezTo>
                    <a:pt x="90184" y="1818063"/>
                    <a:pt x="101228" y="1785249"/>
                    <a:pt x="122830" y="1760561"/>
                  </a:cubicBezTo>
                  <a:cubicBezTo>
                    <a:pt x="147089" y="1732836"/>
                    <a:pt x="219471" y="1711208"/>
                    <a:pt x="245660" y="1705970"/>
                  </a:cubicBezTo>
                  <a:cubicBezTo>
                    <a:pt x="342117" y="1686678"/>
                    <a:pt x="291886" y="1699659"/>
                    <a:pt x="395785" y="1665026"/>
                  </a:cubicBezTo>
                  <a:lnTo>
                    <a:pt x="436728" y="1651379"/>
                  </a:lnTo>
                  <a:lnTo>
                    <a:pt x="518615" y="1596788"/>
                  </a:lnTo>
                  <a:cubicBezTo>
                    <a:pt x="545911" y="1578591"/>
                    <a:pt x="545910" y="1533098"/>
                    <a:pt x="573206" y="1514901"/>
                  </a:cubicBezTo>
                  <a:lnTo>
                    <a:pt x="614149" y="1487606"/>
                  </a:lnTo>
                  <a:cubicBezTo>
                    <a:pt x="623248" y="1473958"/>
                    <a:pt x="634984" y="1461739"/>
                    <a:pt x="641445" y="1446662"/>
                  </a:cubicBezTo>
                  <a:cubicBezTo>
                    <a:pt x="648834" y="1429422"/>
                    <a:pt x="653315" y="1410744"/>
                    <a:pt x="655093" y="1392071"/>
                  </a:cubicBezTo>
                  <a:cubicBezTo>
                    <a:pt x="662438" y="1314949"/>
                    <a:pt x="657248" y="1236673"/>
                    <a:pt x="668740" y="1160059"/>
                  </a:cubicBezTo>
                  <a:cubicBezTo>
                    <a:pt x="674775" y="1119826"/>
                    <a:pt x="706121" y="1113183"/>
                    <a:pt x="736979" y="1105468"/>
                  </a:cubicBezTo>
                  <a:cubicBezTo>
                    <a:pt x="759483" y="1099842"/>
                    <a:pt x="782714" y="1097446"/>
                    <a:pt x="805218" y="1091820"/>
                  </a:cubicBezTo>
                  <a:cubicBezTo>
                    <a:pt x="819174" y="1088331"/>
                    <a:pt x="831971" y="1080538"/>
                    <a:pt x="846161" y="1078173"/>
                  </a:cubicBezTo>
                  <a:cubicBezTo>
                    <a:pt x="886796" y="1071401"/>
                    <a:pt x="928048" y="1069074"/>
                    <a:pt x="968991" y="1064525"/>
                  </a:cubicBezTo>
                  <a:cubicBezTo>
                    <a:pt x="982639" y="1059976"/>
                    <a:pt x="998700" y="1059864"/>
                    <a:pt x="1009934" y="1050877"/>
                  </a:cubicBezTo>
                  <a:cubicBezTo>
                    <a:pt x="1098123" y="980326"/>
                    <a:pt x="975262" y="1030591"/>
                    <a:pt x="1078173" y="996286"/>
                  </a:cubicBezTo>
                  <a:cubicBezTo>
                    <a:pt x="1154820" y="766350"/>
                    <a:pt x="1094918" y="972198"/>
                    <a:pt x="1119116" y="464023"/>
                  </a:cubicBezTo>
                  <a:cubicBezTo>
                    <a:pt x="1120586" y="433145"/>
                    <a:pt x="1139221" y="285207"/>
                    <a:pt x="1146412" y="245659"/>
                  </a:cubicBezTo>
                  <a:cubicBezTo>
                    <a:pt x="1162643" y="156392"/>
                    <a:pt x="1150876" y="223083"/>
                    <a:pt x="1187355" y="150125"/>
                  </a:cubicBezTo>
                  <a:cubicBezTo>
                    <a:pt x="1193789" y="137258"/>
                    <a:pt x="1193023" y="121152"/>
                    <a:pt x="1201003" y="109182"/>
                  </a:cubicBezTo>
                  <a:cubicBezTo>
                    <a:pt x="1214538" y="88880"/>
                    <a:pt x="1259036" y="51545"/>
                    <a:pt x="1282890" y="40943"/>
                  </a:cubicBezTo>
                  <a:cubicBezTo>
                    <a:pt x="1309182" y="29258"/>
                    <a:pt x="1337481" y="22745"/>
                    <a:pt x="1364776" y="13647"/>
                  </a:cubicBezTo>
                  <a:lnTo>
                    <a:pt x="1405719" y="0"/>
                  </a:lnTo>
                </a:path>
              </a:pathLst>
            </a:cu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111" name="Text Box 3"/>
          <p:cNvSpPr txBox="1">
            <a:spLocks noChangeArrowheads="1"/>
          </p:cNvSpPr>
          <p:nvPr/>
        </p:nvSpPr>
        <p:spPr bwMode="auto">
          <a:xfrm>
            <a:off x="2915817" y="3703672"/>
            <a:ext cx="5976664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numa trilha, caminha-se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x metros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caminha-se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y metros </a:t>
            </a:r>
            <a:r>
              <a:rPr lang="pt-BR" altLang="pt-BR" sz="1600" dirty="0">
                <a:latin typeface="Tahoma" panose="020B0604030504040204" pitchFamily="34" charset="0"/>
              </a:rPr>
              <a:t>numa determinada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direção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escolhe-se a árvore mais próxima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faz-se as medições necessárias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retorna-se ao ponto inicial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repete-se o procedimento até selecionar-se as 10 árvores</a:t>
            </a:r>
          </a:p>
        </p:txBody>
      </p:sp>
      <p:sp>
        <p:nvSpPr>
          <p:cNvPr id="6" name="Forma livre 5"/>
          <p:cNvSpPr/>
          <p:nvPr/>
        </p:nvSpPr>
        <p:spPr bwMode="auto">
          <a:xfrm>
            <a:off x="1310184" y="5457139"/>
            <a:ext cx="679550" cy="752592"/>
          </a:xfrm>
          <a:custGeom>
            <a:avLst/>
            <a:gdLst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50125 w 791570"/>
              <a:gd name="connsiteY2" fmla="*/ 709684 h 805218"/>
              <a:gd name="connsiteX3" fmla="*/ 191069 w 791570"/>
              <a:gd name="connsiteY3" fmla="*/ 696036 h 805218"/>
              <a:gd name="connsiteX4" fmla="*/ 245660 w 791570"/>
              <a:gd name="connsiteY4" fmla="*/ 668741 h 805218"/>
              <a:gd name="connsiteX5" fmla="*/ 354842 w 791570"/>
              <a:gd name="connsiteY5" fmla="*/ 641445 h 805218"/>
              <a:gd name="connsiteX6" fmla="*/ 436728 w 791570"/>
              <a:gd name="connsiteY6" fmla="*/ 614150 h 805218"/>
              <a:gd name="connsiteX7" fmla="*/ 518615 w 791570"/>
              <a:gd name="connsiteY7" fmla="*/ 586854 h 805218"/>
              <a:gd name="connsiteX8" fmla="*/ 559558 w 791570"/>
              <a:gd name="connsiteY8" fmla="*/ 559559 h 805218"/>
              <a:gd name="connsiteX9" fmla="*/ 614149 w 791570"/>
              <a:gd name="connsiteY9" fmla="*/ 477672 h 805218"/>
              <a:gd name="connsiteX10" fmla="*/ 641445 w 791570"/>
              <a:gd name="connsiteY10" fmla="*/ 395786 h 805218"/>
              <a:gd name="connsiteX11" fmla="*/ 736979 w 791570"/>
              <a:gd name="connsiteY11" fmla="*/ 68239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50125 w 791570"/>
              <a:gd name="connsiteY2" fmla="*/ 709684 h 805218"/>
              <a:gd name="connsiteX3" fmla="*/ 191069 w 791570"/>
              <a:gd name="connsiteY3" fmla="*/ 696036 h 805218"/>
              <a:gd name="connsiteX4" fmla="*/ 245660 w 791570"/>
              <a:gd name="connsiteY4" fmla="*/ 668741 h 805218"/>
              <a:gd name="connsiteX5" fmla="*/ 354842 w 791570"/>
              <a:gd name="connsiteY5" fmla="*/ 641445 h 805218"/>
              <a:gd name="connsiteX6" fmla="*/ 436728 w 791570"/>
              <a:gd name="connsiteY6" fmla="*/ 614150 h 805218"/>
              <a:gd name="connsiteX7" fmla="*/ 518615 w 791570"/>
              <a:gd name="connsiteY7" fmla="*/ 586854 h 805218"/>
              <a:gd name="connsiteX8" fmla="*/ 559558 w 791570"/>
              <a:gd name="connsiteY8" fmla="*/ 559559 h 805218"/>
              <a:gd name="connsiteX9" fmla="*/ 614149 w 791570"/>
              <a:gd name="connsiteY9" fmla="*/ 477672 h 805218"/>
              <a:gd name="connsiteX10" fmla="*/ 641445 w 791570"/>
              <a:gd name="connsiteY10" fmla="*/ 395786 h 805218"/>
              <a:gd name="connsiteX11" fmla="*/ 736979 w 791570"/>
              <a:gd name="connsiteY11" fmla="*/ 68239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50125 w 791570"/>
              <a:gd name="connsiteY2" fmla="*/ 709684 h 805218"/>
              <a:gd name="connsiteX3" fmla="*/ 191069 w 791570"/>
              <a:gd name="connsiteY3" fmla="*/ 696036 h 805218"/>
              <a:gd name="connsiteX4" fmla="*/ 245660 w 791570"/>
              <a:gd name="connsiteY4" fmla="*/ 668741 h 805218"/>
              <a:gd name="connsiteX5" fmla="*/ 354842 w 791570"/>
              <a:gd name="connsiteY5" fmla="*/ 641445 h 805218"/>
              <a:gd name="connsiteX6" fmla="*/ 436728 w 791570"/>
              <a:gd name="connsiteY6" fmla="*/ 614150 h 805218"/>
              <a:gd name="connsiteX7" fmla="*/ 518615 w 791570"/>
              <a:gd name="connsiteY7" fmla="*/ 586854 h 805218"/>
              <a:gd name="connsiteX8" fmla="*/ 559558 w 791570"/>
              <a:gd name="connsiteY8" fmla="*/ 559559 h 805218"/>
              <a:gd name="connsiteX9" fmla="*/ 614149 w 791570"/>
              <a:gd name="connsiteY9" fmla="*/ 477672 h 805218"/>
              <a:gd name="connsiteX10" fmla="*/ 641445 w 791570"/>
              <a:gd name="connsiteY10" fmla="*/ 395786 h 805218"/>
              <a:gd name="connsiteX11" fmla="*/ 657604 w 791570"/>
              <a:gd name="connsiteY11" fmla="*/ 155039 h 805218"/>
              <a:gd name="connsiteX12" fmla="*/ 736979 w 791570"/>
              <a:gd name="connsiteY12" fmla="*/ 68239 h 805218"/>
              <a:gd name="connsiteX13" fmla="*/ 750627 w 791570"/>
              <a:gd name="connsiteY13" fmla="*/ 27296 h 805218"/>
              <a:gd name="connsiteX14" fmla="*/ 791570 w 791570"/>
              <a:gd name="connsiteY14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50125 w 791570"/>
              <a:gd name="connsiteY2" fmla="*/ 709684 h 805218"/>
              <a:gd name="connsiteX3" fmla="*/ 191069 w 791570"/>
              <a:gd name="connsiteY3" fmla="*/ 696036 h 805218"/>
              <a:gd name="connsiteX4" fmla="*/ 245660 w 791570"/>
              <a:gd name="connsiteY4" fmla="*/ 668741 h 805218"/>
              <a:gd name="connsiteX5" fmla="*/ 354842 w 791570"/>
              <a:gd name="connsiteY5" fmla="*/ 641445 h 805218"/>
              <a:gd name="connsiteX6" fmla="*/ 436728 w 791570"/>
              <a:gd name="connsiteY6" fmla="*/ 614150 h 805218"/>
              <a:gd name="connsiteX7" fmla="*/ 518615 w 791570"/>
              <a:gd name="connsiteY7" fmla="*/ 586854 h 805218"/>
              <a:gd name="connsiteX8" fmla="*/ 559558 w 791570"/>
              <a:gd name="connsiteY8" fmla="*/ 559559 h 805218"/>
              <a:gd name="connsiteX9" fmla="*/ 614149 w 791570"/>
              <a:gd name="connsiteY9" fmla="*/ 477672 h 805218"/>
              <a:gd name="connsiteX10" fmla="*/ 641445 w 791570"/>
              <a:gd name="connsiteY10" fmla="*/ 395786 h 805218"/>
              <a:gd name="connsiteX11" fmla="*/ 657604 w 791570"/>
              <a:gd name="connsiteY11" fmla="*/ 155039 h 805218"/>
              <a:gd name="connsiteX12" fmla="*/ 693088 w 791570"/>
              <a:gd name="connsiteY12" fmla="*/ 46294 h 805218"/>
              <a:gd name="connsiteX13" fmla="*/ 750627 w 791570"/>
              <a:gd name="connsiteY13" fmla="*/ 27296 h 805218"/>
              <a:gd name="connsiteX14" fmla="*/ 791570 w 791570"/>
              <a:gd name="connsiteY14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50125 w 791570"/>
              <a:gd name="connsiteY2" fmla="*/ 709684 h 805218"/>
              <a:gd name="connsiteX3" fmla="*/ 245660 w 791570"/>
              <a:gd name="connsiteY3" fmla="*/ 668741 h 805218"/>
              <a:gd name="connsiteX4" fmla="*/ 354842 w 791570"/>
              <a:gd name="connsiteY4" fmla="*/ 641445 h 805218"/>
              <a:gd name="connsiteX5" fmla="*/ 436728 w 791570"/>
              <a:gd name="connsiteY5" fmla="*/ 614150 h 805218"/>
              <a:gd name="connsiteX6" fmla="*/ 518615 w 791570"/>
              <a:gd name="connsiteY6" fmla="*/ 586854 h 805218"/>
              <a:gd name="connsiteX7" fmla="*/ 559558 w 791570"/>
              <a:gd name="connsiteY7" fmla="*/ 559559 h 805218"/>
              <a:gd name="connsiteX8" fmla="*/ 614149 w 791570"/>
              <a:gd name="connsiteY8" fmla="*/ 477672 h 805218"/>
              <a:gd name="connsiteX9" fmla="*/ 641445 w 791570"/>
              <a:gd name="connsiteY9" fmla="*/ 395786 h 805218"/>
              <a:gd name="connsiteX10" fmla="*/ 657604 w 791570"/>
              <a:gd name="connsiteY10" fmla="*/ 155039 h 805218"/>
              <a:gd name="connsiteX11" fmla="*/ 693088 w 791570"/>
              <a:gd name="connsiteY11" fmla="*/ 46294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45660 w 791570"/>
              <a:gd name="connsiteY3" fmla="*/ 668741 h 805218"/>
              <a:gd name="connsiteX4" fmla="*/ 354842 w 791570"/>
              <a:gd name="connsiteY4" fmla="*/ 641445 h 805218"/>
              <a:gd name="connsiteX5" fmla="*/ 436728 w 791570"/>
              <a:gd name="connsiteY5" fmla="*/ 614150 h 805218"/>
              <a:gd name="connsiteX6" fmla="*/ 518615 w 791570"/>
              <a:gd name="connsiteY6" fmla="*/ 586854 h 805218"/>
              <a:gd name="connsiteX7" fmla="*/ 559558 w 791570"/>
              <a:gd name="connsiteY7" fmla="*/ 559559 h 805218"/>
              <a:gd name="connsiteX8" fmla="*/ 614149 w 791570"/>
              <a:gd name="connsiteY8" fmla="*/ 477672 h 805218"/>
              <a:gd name="connsiteX9" fmla="*/ 641445 w 791570"/>
              <a:gd name="connsiteY9" fmla="*/ 395786 h 805218"/>
              <a:gd name="connsiteX10" fmla="*/ 657604 w 791570"/>
              <a:gd name="connsiteY10" fmla="*/ 155039 h 805218"/>
              <a:gd name="connsiteX11" fmla="*/ 693088 w 791570"/>
              <a:gd name="connsiteY11" fmla="*/ 46294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354842 w 791570"/>
              <a:gd name="connsiteY4" fmla="*/ 641445 h 805218"/>
              <a:gd name="connsiteX5" fmla="*/ 436728 w 791570"/>
              <a:gd name="connsiteY5" fmla="*/ 614150 h 805218"/>
              <a:gd name="connsiteX6" fmla="*/ 518615 w 791570"/>
              <a:gd name="connsiteY6" fmla="*/ 586854 h 805218"/>
              <a:gd name="connsiteX7" fmla="*/ 559558 w 791570"/>
              <a:gd name="connsiteY7" fmla="*/ 559559 h 805218"/>
              <a:gd name="connsiteX8" fmla="*/ 614149 w 791570"/>
              <a:gd name="connsiteY8" fmla="*/ 477672 h 805218"/>
              <a:gd name="connsiteX9" fmla="*/ 641445 w 791570"/>
              <a:gd name="connsiteY9" fmla="*/ 395786 h 805218"/>
              <a:gd name="connsiteX10" fmla="*/ 657604 w 791570"/>
              <a:gd name="connsiteY10" fmla="*/ 155039 h 805218"/>
              <a:gd name="connsiteX11" fmla="*/ 693088 w 791570"/>
              <a:gd name="connsiteY11" fmla="*/ 46294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354842 w 791570"/>
              <a:gd name="connsiteY4" fmla="*/ 641445 h 805218"/>
              <a:gd name="connsiteX5" fmla="*/ 436728 w 791570"/>
              <a:gd name="connsiteY5" fmla="*/ 614150 h 805218"/>
              <a:gd name="connsiteX6" fmla="*/ 482039 w 791570"/>
              <a:gd name="connsiteY6" fmla="*/ 542962 h 805218"/>
              <a:gd name="connsiteX7" fmla="*/ 559558 w 791570"/>
              <a:gd name="connsiteY7" fmla="*/ 559559 h 805218"/>
              <a:gd name="connsiteX8" fmla="*/ 614149 w 791570"/>
              <a:gd name="connsiteY8" fmla="*/ 477672 h 805218"/>
              <a:gd name="connsiteX9" fmla="*/ 641445 w 791570"/>
              <a:gd name="connsiteY9" fmla="*/ 395786 h 805218"/>
              <a:gd name="connsiteX10" fmla="*/ 657604 w 791570"/>
              <a:gd name="connsiteY10" fmla="*/ 155039 h 805218"/>
              <a:gd name="connsiteX11" fmla="*/ 693088 w 791570"/>
              <a:gd name="connsiteY11" fmla="*/ 46294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354842 w 791570"/>
              <a:gd name="connsiteY4" fmla="*/ 641445 h 805218"/>
              <a:gd name="connsiteX5" fmla="*/ 482039 w 791570"/>
              <a:gd name="connsiteY5" fmla="*/ 542962 h 805218"/>
              <a:gd name="connsiteX6" fmla="*/ 559558 w 791570"/>
              <a:gd name="connsiteY6" fmla="*/ 559559 h 805218"/>
              <a:gd name="connsiteX7" fmla="*/ 614149 w 791570"/>
              <a:gd name="connsiteY7" fmla="*/ 477672 h 805218"/>
              <a:gd name="connsiteX8" fmla="*/ 641445 w 791570"/>
              <a:gd name="connsiteY8" fmla="*/ 395786 h 805218"/>
              <a:gd name="connsiteX9" fmla="*/ 657604 w 791570"/>
              <a:gd name="connsiteY9" fmla="*/ 155039 h 805218"/>
              <a:gd name="connsiteX10" fmla="*/ 693088 w 791570"/>
              <a:gd name="connsiteY10" fmla="*/ 46294 h 805218"/>
              <a:gd name="connsiteX11" fmla="*/ 750627 w 791570"/>
              <a:gd name="connsiteY11" fmla="*/ 27296 h 805218"/>
              <a:gd name="connsiteX12" fmla="*/ 791570 w 791570"/>
              <a:gd name="connsiteY12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559558 w 791570"/>
              <a:gd name="connsiteY5" fmla="*/ 559559 h 805218"/>
              <a:gd name="connsiteX6" fmla="*/ 614149 w 791570"/>
              <a:gd name="connsiteY6" fmla="*/ 477672 h 805218"/>
              <a:gd name="connsiteX7" fmla="*/ 641445 w 791570"/>
              <a:gd name="connsiteY7" fmla="*/ 395786 h 805218"/>
              <a:gd name="connsiteX8" fmla="*/ 657604 w 791570"/>
              <a:gd name="connsiteY8" fmla="*/ 155039 h 805218"/>
              <a:gd name="connsiteX9" fmla="*/ 693088 w 791570"/>
              <a:gd name="connsiteY9" fmla="*/ 46294 h 805218"/>
              <a:gd name="connsiteX10" fmla="*/ 750627 w 791570"/>
              <a:gd name="connsiteY10" fmla="*/ 27296 h 805218"/>
              <a:gd name="connsiteX11" fmla="*/ 791570 w 791570"/>
              <a:gd name="connsiteY11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559558 w 791570"/>
              <a:gd name="connsiteY5" fmla="*/ 559559 h 805218"/>
              <a:gd name="connsiteX6" fmla="*/ 641445 w 791570"/>
              <a:gd name="connsiteY6" fmla="*/ 395786 h 805218"/>
              <a:gd name="connsiteX7" fmla="*/ 657604 w 791570"/>
              <a:gd name="connsiteY7" fmla="*/ 155039 h 805218"/>
              <a:gd name="connsiteX8" fmla="*/ 693088 w 791570"/>
              <a:gd name="connsiteY8" fmla="*/ 46294 h 805218"/>
              <a:gd name="connsiteX9" fmla="*/ 750627 w 791570"/>
              <a:gd name="connsiteY9" fmla="*/ 27296 h 805218"/>
              <a:gd name="connsiteX10" fmla="*/ 791570 w 791570"/>
              <a:gd name="connsiteY10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641445 w 791570"/>
              <a:gd name="connsiteY5" fmla="*/ 395786 h 805218"/>
              <a:gd name="connsiteX6" fmla="*/ 657604 w 791570"/>
              <a:gd name="connsiteY6" fmla="*/ 155039 h 805218"/>
              <a:gd name="connsiteX7" fmla="*/ 693088 w 791570"/>
              <a:gd name="connsiteY7" fmla="*/ 46294 h 805218"/>
              <a:gd name="connsiteX8" fmla="*/ 750627 w 791570"/>
              <a:gd name="connsiteY8" fmla="*/ 27296 h 805218"/>
              <a:gd name="connsiteX9" fmla="*/ 791570 w 791570"/>
              <a:gd name="connsiteY9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641445 w 791570"/>
              <a:gd name="connsiteY5" fmla="*/ 395786 h 805218"/>
              <a:gd name="connsiteX6" fmla="*/ 657604 w 791570"/>
              <a:gd name="connsiteY6" fmla="*/ 155039 h 805218"/>
              <a:gd name="connsiteX7" fmla="*/ 693088 w 791570"/>
              <a:gd name="connsiteY7" fmla="*/ 46294 h 805218"/>
              <a:gd name="connsiteX8" fmla="*/ 791570 w 791570"/>
              <a:gd name="connsiteY8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641445 w 791570"/>
              <a:gd name="connsiteY5" fmla="*/ 395786 h 805218"/>
              <a:gd name="connsiteX6" fmla="*/ 657604 w 791570"/>
              <a:gd name="connsiteY6" fmla="*/ 155039 h 805218"/>
              <a:gd name="connsiteX7" fmla="*/ 791570 w 791570"/>
              <a:gd name="connsiteY7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641445 w 791570"/>
              <a:gd name="connsiteY5" fmla="*/ 395786 h 805218"/>
              <a:gd name="connsiteX6" fmla="*/ 679550 w 791570"/>
              <a:gd name="connsiteY6" fmla="*/ 52626 h 805218"/>
              <a:gd name="connsiteX7" fmla="*/ 791570 w 791570"/>
              <a:gd name="connsiteY7" fmla="*/ 0 h 805218"/>
              <a:gd name="connsiteX0" fmla="*/ 0 w 769625"/>
              <a:gd name="connsiteY0" fmla="*/ 812533 h 812533"/>
              <a:gd name="connsiteX1" fmla="*/ 68239 w 769625"/>
              <a:gd name="connsiteY1" fmla="*/ 771590 h 812533"/>
              <a:gd name="connsiteX2" fmla="*/ 120864 w 769625"/>
              <a:gd name="connsiteY2" fmla="*/ 695053 h 812533"/>
              <a:gd name="connsiteX3" fmla="*/ 231029 w 769625"/>
              <a:gd name="connsiteY3" fmla="*/ 624850 h 812533"/>
              <a:gd name="connsiteX4" fmla="*/ 482039 w 769625"/>
              <a:gd name="connsiteY4" fmla="*/ 550277 h 812533"/>
              <a:gd name="connsiteX5" fmla="*/ 641445 w 769625"/>
              <a:gd name="connsiteY5" fmla="*/ 403101 h 812533"/>
              <a:gd name="connsiteX6" fmla="*/ 679550 w 769625"/>
              <a:gd name="connsiteY6" fmla="*/ 59941 h 812533"/>
              <a:gd name="connsiteX7" fmla="*/ 769625 w 769625"/>
              <a:gd name="connsiteY7" fmla="*/ 0 h 812533"/>
              <a:gd name="connsiteX0" fmla="*/ 0 w 679550"/>
              <a:gd name="connsiteY0" fmla="*/ 752592 h 752592"/>
              <a:gd name="connsiteX1" fmla="*/ 68239 w 679550"/>
              <a:gd name="connsiteY1" fmla="*/ 711649 h 752592"/>
              <a:gd name="connsiteX2" fmla="*/ 120864 w 679550"/>
              <a:gd name="connsiteY2" fmla="*/ 635112 h 752592"/>
              <a:gd name="connsiteX3" fmla="*/ 231029 w 679550"/>
              <a:gd name="connsiteY3" fmla="*/ 564909 h 752592"/>
              <a:gd name="connsiteX4" fmla="*/ 482039 w 679550"/>
              <a:gd name="connsiteY4" fmla="*/ 490336 h 752592"/>
              <a:gd name="connsiteX5" fmla="*/ 641445 w 679550"/>
              <a:gd name="connsiteY5" fmla="*/ 343160 h 752592"/>
              <a:gd name="connsiteX6" fmla="*/ 679550 w 679550"/>
              <a:gd name="connsiteY6" fmla="*/ 0 h 752592"/>
              <a:gd name="connsiteX0" fmla="*/ 0 w 679550"/>
              <a:gd name="connsiteY0" fmla="*/ 752592 h 752592"/>
              <a:gd name="connsiteX1" fmla="*/ 68239 w 679550"/>
              <a:gd name="connsiteY1" fmla="*/ 711649 h 752592"/>
              <a:gd name="connsiteX2" fmla="*/ 120864 w 679550"/>
              <a:gd name="connsiteY2" fmla="*/ 635112 h 752592"/>
              <a:gd name="connsiteX3" fmla="*/ 231029 w 679550"/>
              <a:gd name="connsiteY3" fmla="*/ 564909 h 752592"/>
              <a:gd name="connsiteX4" fmla="*/ 482039 w 679550"/>
              <a:gd name="connsiteY4" fmla="*/ 490336 h 752592"/>
              <a:gd name="connsiteX5" fmla="*/ 648760 w 679550"/>
              <a:gd name="connsiteY5" fmla="*/ 313899 h 752592"/>
              <a:gd name="connsiteX6" fmla="*/ 679550 w 679550"/>
              <a:gd name="connsiteY6" fmla="*/ 0 h 752592"/>
              <a:gd name="connsiteX0" fmla="*/ 0 w 679550"/>
              <a:gd name="connsiteY0" fmla="*/ 752592 h 752592"/>
              <a:gd name="connsiteX1" fmla="*/ 68239 w 679550"/>
              <a:gd name="connsiteY1" fmla="*/ 711649 h 752592"/>
              <a:gd name="connsiteX2" fmla="*/ 120864 w 679550"/>
              <a:gd name="connsiteY2" fmla="*/ 635112 h 752592"/>
              <a:gd name="connsiteX3" fmla="*/ 231029 w 679550"/>
              <a:gd name="connsiteY3" fmla="*/ 564909 h 752592"/>
              <a:gd name="connsiteX4" fmla="*/ 482039 w 679550"/>
              <a:gd name="connsiteY4" fmla="*/ 490336 h 752592"/>
              <a:gd name="connsiteX5" fmla="*/ 555192 w 679550"/>
              <a:gd name="connsiteY5" fmla="*/ 387706 h 752592"/>
              <a:gd name="connsiteX6" fmla="*/ 648760 w 679550"/>
              <a:gd name="connsiteY6" fmla="*/ 313899 h 752592"/>
              <a:gd name="connsiteX7" fmla="*/ 679550 w 679550"/>
              <a:gd name="connsiteY7" fmla="*/ 0 h 752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79550" h="752592">
                <a:moveTo>
                  <a:pt x="0" y="752592"/>
                </a:moveTo>
                <a:cubicBezTo>
                  <a:pt x="22746" y="738944"/>
                  <a:pt x="48095" y="731229"/>
                  <a:pt x="68239" y="711649"/>
                </a:cubicBezTo>
                <a:cubicBezTo>
                  <a:pt x="88383" y="692069"/>
                  <a:pt x="93732" y="659569"/>
                  <a:pt x="120864" y="635112"/>
                </a:cubicBezTo>
                <a:cubicBezTo>
                  <a:pt x="147996" y="610655"/>
                  <a:pt x="170833" y="589038"/>
                  <a:pt x="231029" y="564909"/>
                </a:cubicBezTo>
                <a:cubicBezTo>
                  <a:pt x="291225" y="540780"/>
                  <a:pt x="428012" y="519870"/>
                  <a:pt x="482039" y="490336"/>
                </a:cubicBezTo>
                <a:cubicBezTo>
                  <a:pt x="536066" y="460802"/>
                  <a:pt x="527405" y="417112"/>
                  <a:pt x="555192" y="387706"/>
                </a:cubicBezTo>
                <a:cubicBezTo>
                  <a:pt x="582979" y="358300"/>
                  <a:pt x="628034" y="378517"/>
                  <a:pt x="648760" y="313899"/>
                </a:cubicBezTo>
                <a:cubicBezTo>
                  <a:pt x="669486" y="249281"/>
                  <a:pt x="659533" y="68057"/>
                  <a:pt x="679550" y="0"/>
                </a:cubicBezTo>
              </a:path>
            </a:pathLst>
          </a:cu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cxnSp>
        <p:nvCxnSpPr>
          <p:cNvPr id="13" name="Conector de seta reta 12"/>
          <p:cNvCxnSpPr>
            <a:stCxn id="6" idx="7"/>
          </p:cNvCxnSpPr>
          <p:nvPr/>
        </p:nvCxnSpPr>
        <p:spPr bwMode="auto">
          <a:xfrm flipH="1" flipV="1">
            <a:off x="1248575" y="5304937"/>
            <a:ext cx="741159" cy="152202"/>
          </a:xfrm>
          <a:prstGeom prst="straightConnector1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grpSp>
        <p:nvGrpSpPr>
          <p:cNvPr id="20" name="Grupo 19"/>
          <p:cNvGrpSpPr/>
          <p:nvPr/>
        </p:nvGrpSpPr>
        <p:grpSpPr>
          <a:xfrm>
            <a:off x="1924752" y="4162231"/>
            <a:ext cx="519682" cy="1290918"/>
            <a:chOff x="1924752" y="4162231"/>
            <a:chExt cx="519682" cy="1290918"/>
          </a:xfrm>
        </p:grpSpPr>
        <p:grpSp>
          <p:nvGrpSpPr>
            <p:cNvPr id="19" name="Grupo 18"/>
            <p:cNvGrpSpPr/>
            <p:nvPr/>
          </p:nvGrpSpPr>
          <p:grpSpPr>
            <a:xfrm>
              <a:off x="1978752" y="4162231"/>
              <a:ext cx="465682" cy="1290918"/>
              <a:chOff x="1978752" y="4162231"/>
              <a:chExt cx="465682" cy="1290918"/>
            </a:xfrm>
          </p:grpSpPr>
          <p:sp>
            <p:nvSpPr>
              <p:cNvPr id="16" name="Forma livre 15"/>
              <p:cNvSpPr/>
              <p:nvPr/>
            </p:nvSpPr>
            <p:spPr bwMode="auto">
              <a:xfrm>
                <a:off x="1995055" y="4738255"/>
                <a:ext cx="449378" cy="714894"/>
              </a:xfrm>
              <a:custGeom>
                <a:avLst/>
                <a:gdLst>
                  <a:gd name="connsiteX0" fmla="*/ 0 w 449378"/>
                  <a:gd name="connsiteY0" fmla="*/ 714894 h 714894"/>
                  <a:gd name="connsiteX1" fmla="*/ 188421 w 449378"/>
                  <a:gd name="connsiteY1" fmla="*/ 659476 h 714894"/>
                  <a:gd name="connsiteX2" fmla="*/ 343592 w 449378"/>
                  <a:gd name="connsiteY2" fmla="*/ 626225 h 714894"/>
                  <a:gd name="connsiteX3" fmla="*/ 432261 w 449378"/>
                  <a:gd name="connsiteY3" fmla="*/ 515389 h 714894"/>
                  <a:gd name="connsiteX4" fmla="*/ 448887 w 449378"/>
                  <a:gd name="connsiteY4" fmla="*/ 304800 h 714894"/>
                  <a:gd name="connsiteX5" fmla="*/ 443345 w 449378"/>
                  <a:gd name="connsiteY5" fmla="*/ 0 h 7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9378" h="714894">
                    <a:moveTo>
                      <a:pt x="0" y="714894"/>
                    </a:moveTo>
                    <a:cubicBezTo>
                      <a:pt x="65578" y="694574"/>
                      <a:pt x="131156" y="674254"/>
                      <a:pt x="188421" y="659476"/>
                    </a:cubicBezTo>
                    <a:cubicBezTo>
                      <a:pt x="245686" y="644698"/>
                      <a:pt x="302952" y="650239"/>
                      <a:pt x="343592" y="626225"/>
                    </a:cubicBezTo>
                    <a:cubicBezTo>
                      <a:pt x="384232" y="602211"/>
                      <a:pt x="414712" y="568960"/>
                      <a:pt x="432261" y="515389"/>
                    </a:cubicBezTo>
                    <a:cubicBezTo>
                      <a:pt x="449810" y="461818"/>
                      <a:pt x="447040" y="390698"/>
                      <a:pt x="448887" y="304800"/>
                    </a:cubicBezTo>
                    <a:cubicBezTo>
                      <a:pt x="450734" y="218902"/>
                      <a:pt x="447039" y="109451"/>
                      <a:pt x="443345" y="0"/>
                    </a:cubicBezTo>
                  </a:path>
                </a:pathLst>
              </a:custGeom>
              <a:noFill/>
              <a:ln w="38100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stealth" w="med" len="lg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123" name="Conector de seta reta 122"/>
              <p:cNvCxnSpPr/>
              <p:nvPr/>
            </p:nvCxnSpPr>
            <p:spPr bwMode="auto">
              <a:xfrm flipH="1" flipV="1">
                <a:off x="1978752" y="4162231"/>
                <a:ext cx="465682" cy="589517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stealth" w="med" len="lg"/>
              </a:ln>
              <a:effectLst/>
            </p:spPr>
          </p:cxnSp>
        </p:grpSp>
        <p:sp>
          <p:nvSpPr>
            <p:cNvPr id="124" name="Elipse 123"/>
            <p:cNvSpPr/>
            <p:nvPr/>
          </p:nvSpPr>
          <p:spPr bwMode="auto">
            <a:xfrm>
              <a:off x="1924752" y="428492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cxnSp>
        <p:nvCxnSpPr>
          <p:cNvPr id="125" name="Conector de seta reta 124"/>
          <p:cNvCxnSpPr>
            <a:stCxn id="139" idx="5"/>
          </p:cNvCxnSpPr>
          <p:nvPr/>
        </p:nvCxnSpPr>
        <p:spPr bwMode="auto">
          <a:xfrm>
            <a:off x="1358759" y="5158712"/>
            <a:ext cx="630975" cy="298427"/>
          </a:xfrm>
          <a:prstGeom prst="straightConnector1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</p:spTree>
    <p:extLst>
      <p:ext uri="{BB962C8B-B14F-4D97-AF65-F5344CB8AC3E}">
        <p14:creationId xmlns:p14="http://schemas.microsoft.com/office/powerpoint/2010/main" val="4279480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963" grpId="0" build="p"/>
      <p:bldP spid="139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3" name="Text Box 3"/>
          <p:cNvSpPr txBox="1">
            <a:spLocks noChangeArrowheads="1"/>
          </p:cNvSpPr>
          <p:nvPr/>
        </p:nvSpPr>
        <p:spPr bwMode="auto">
          <a:xfrm>
            <a:off x="754062" y="1445875"/>
            <a:ext cx="777837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os elementos da população já se encontram ordenados segundo algum critério, pode-se selecionar um elemento qualquer e escolher um “passo” que definirá qual será o próximo elemento escolhido.</a:t>
            </a:r>
          </a:p>
        </p:txBody>
      </p:sp>
      <p:sp>
        <p:nvSpPr>
          <p:cNvPr id="265" name="AutoShape 30"/>
          <p:cNvSpPr>
            <a:spLocks noChangeArrowheads="1"/>
          </p:cNvSpPr>
          <p:nvPr/>
        </p:nvSpPr>
        <p:spPr bwMode="auto">
          <a:xfrm>
            <a:off x="1222176" y="2914336"/>
            <a:ext cx="144463" cy="288925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266" name="AutoShape 31"/>
          <p:cNvSpPr>
            <a:spLocks noChangeArrowheads="1"/>
          </p:cNvSpPr>
          <p:nvPr/>
        </p:nvSpPr>
        <p:spPr bwMode="auto">
          <a:xfrm>
            <a:off x="2301676" y="2914336"/>
            <a:ext cx="144463" cy="288925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267" name="AutoShape 32"/>
          <p:cNvSpPr>
            <a:spLocks noChangeArrowheads="1"/>
          </p:cNvSpPr>
          <p:nvPr/>
        </p:nvSpPr>
        <p:spPr bwMode="auto">
          <a:xfrm>
            <a:off x="3382764" y="2914336"/>
            <a:ext cx="144462" cy="288925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268" name="AutoShape 33"/>
          <p:cNvSpPr>
            <a:spLocks noChangeArrowheads="1"/>
          </p:cNvSpPr>
          <p:nvPr/>
        </p:nvSpPr>
        <p:spPr bwMode="auto">
          <a:xfrm>
            <a:off x="4462264" y="2914336"/>
            <a:ext cx="144462" cy="288925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grpSp>
        <p:nvGrpSpPr>
          <p:cNvPr id="269" name="Group 38"/>
          <p:cNvGrpSpPr>
            <a:grpSpLocks/>
          </p:cNvGrpSpPr>
          <p:nvPr/>
        </p:nvGrpSpPr>
        <p:grpSpPr bwMode="auto">
          <a:xfrm>
            <a:off x="731639" y="2339661"/>
            <a:ext cx="4395788" cy="503238"/>
            <a:chOff x="1301" y="1480"/>
            <a:chExt cx="2769" cy="317"/>
          </a:xfrm>
        </p:grpSpPr>
        <p:grpSp>
          <p:nvGrpSpPr>
            <p:cNvPr id="270" name="Group 29"/>
            <p:cNvGrpSpPr>
              <a:grpSpLocks/>
            </p:cNvGrpSpPr>
            <p:nvPr/>
          </p:nvGrpSpPr>
          <p:grpSpPr bwMode="auto">
            <a:xfrm>
              <a:off x="1383" y="1661"/>
              <a:ext cx="2585" cy="136"/>
              <a:chOff x="1383" y="1525"/>
              <a:chExt cx="2585" cy="136"/>
            </a:xfrm>
          </p:grpSpPr>
          <p:grpSp>
            <p:nvGrpSpPr>
              <p:cNvPr id="275" name="Group 10"/>
              <p:cNvGrpSpPr>
                <a:grpSpLocks/>
              </p:cNvGrpSpPr>
              <p:nvPr/>
            </p:nvGrpSpPr>
            <p:grpSpPr bwMode="auto">
              <a:xfrm>
                <a:off x="1383" y="1525"/>
                <a:ext cx="544" cy="136"/>
                <a:chOff x="930" y="1525"/>
                <a:chExt cx="544" cy="136"/>
              </a:xfrm>
            </p:grpSpPr>
            <p:sp>
              <p:nvSpPr>
                <p:cNvPr id="294" name="Line 5"/>
                <p:cNvSpPr>
                  <a:spLocks noChangeShapeType="1"/>
                </p:cNvSpPr>
                <p:nvPr/>
              </p:nvSpPr>
              <p:spPr bwMode="auto">
                <a:xfrm>
                  <a:off x="930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5" name="Line 6"/>
                <p:cNvSpPr>
                  <a:spLocks noChangeShapeType="1"/>
                </p:cNvSpPr>
                <p:nvPr/>
              </p:nvSpPr>
              <p:spPr bwMode="auto">
                <a:xfrm>
                  <a:off x="1066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6" name="Line 7"/>
                <p:cNvSpPr>
                  <a:spLocks noChangeShapeType="1"/>
                </p:cNvSpPr>
                <p:nvPr/>
              </p:nvSpPr>
              <p:spPr bwMode="auto">
                <a:xfrm>
                  <a:off x="1202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7" name="Line 8"/>
                <p:cNvSpPr>
                  <a:spLocks noChangeShapeType="1"/>
                </p:cNvSpPr>
                <p:nvPr/>
              </p:nvSpPr>
              <p:spPr bwMode="auto">
                <a:xfrm>
                  <a:off x="1338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8" name="Line 9"/>
                <p:cNvSpPr>
                  <a:spLocks noChangeShapeType="1"/>
                </p:cNvSpPr>
                <p:nvPr/>
              </p:nvSpPr>
              <p:spPr bwMode="auto">
                <a:xfrm>
                  <a:off x="1474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276" name="Group 11"/>
              <p:cNvGrpSpPr>
                <a:grpSpLocks/>
              </p:cNvGrpSpPr>
              <p:nvPr/>
            </p:nvGrpSpPr>
            <p:grpSpPr bwMode="auto">
              <a:xfrm>
                <a:off x="2063" y="1525"/>
                <a:ext cx="544" cy="136"/>
                <a:chOff x="930" y="1525"/>
                <a:chExt cx="544" cy="136"/>
              </a:xfrm>
            </p:grpSpPr>
            <p:sp>
              <p:nvSpPr>
                <p:cNvPr id="289" name="Line 12"/>
                <p:cNvSpPr>
                  <a:spLocks noChangeShapeType="1"/>
                </p:cNvSpPr>
                <p:nvPr/>
              </p:nvSpPr>
              <p:spPr bwMode="auto">
                <a:xfrm>
                  <a:off x="930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0" name="Line 13"/>
                <p:cNvSpPr>
                  <a:spLocks noChangeShapeType="1"/>
                </p:cNvSpPr>
                <p:nvPr/>
              </p:nvSpPr>
              <p:spPr bwMode="auto">
                <a:xfrm>
                  <a:off x="1066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1" name="Line 14"/>
                <p:cNvSpPr>
                  <a:spLocks noChangeShapeType="1"/>
                </p:cNvSpPr>
                <p:nvPr/>
              </p:nvSpPr>
              <p:spPr bwMode="auto">
                <a:xfrm>
                  <a:off x="1202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2" name="Line 15"/>
                <p:cNvSpPr>
                  <a:spLocks noChangeShapeType="1"/>
                </p:cNvSpPr>
                <p:nvPr/>
              </p:nvSpPr>
              <p:spPr bwMode="auto">
                <a:xfrm>
                  <a:off x="1338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3" name="Line 16"/>
                <p:cNvSpPr>
                  <a:spLocks noChangeShapeType="1"/>
                </p:cNvSpPr>
                <p:nvPr/>
              </p:nvSpPr>
              <p:spPr bwMode="auto">
                <a:xfrm>
                  <a:off x="1474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277" name="Group 17"/>
              <p:cNvGrpSpPr>
                <a:grpSpLocks/>
              </p:cNvGrpSpPr>
              <p:nvPr/>
            </p:nvGrpSpPr>
            <p:grpSpPr bwMode="auto">
              <a:xfrm>
                <a:off x="2744" y="1525"/>
                <a:ext cx="544" cy="136"/>
                <a:chOff x="930" y="1525"/>
                <a:chExt cx="544" cy="136"/>
              </a:xfrm>
            </p:grpSpPr>
            <p:sp>
              <p:nvSpPr>
                <p:cNvPr id="284" name="Line 18"/>
                <p:cNvSpPr>
                  <a:spLocks noChangeShapeType="1"/>
                </p:cNvSpPr>
                <p:nvPr/>
              </p:nvSpPr>
              <p:spPr bwMode="auto">
                <a:xfrm>
                  <a:off x="930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5" name="Line 19"/>
                <p:cNvSpPr>
                  <a:spLocks noChangeShapeType="1"/>
                </p:cNvSpPr>
                <p:nvPr/>
              </p:nvSpPr>
              <p:spPr bwMode="auto">
                <a:xfrm>
                  <a:off x="1066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6" name="Line 20"/>
                <p:cNvSpPr>
                  <a:spLocks noChangeShapeType="1"/>
                </p:cNvSpPr>
                <p:nvPr/>
              </p:nvSpPr>
              <p:spPr bwMode="auto">
                <a:xfrm>
                  <a:off x="1202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7" name="Line 21"/>
                <p:cNvSpPr>
                  <a:spLocks noChangeShapeType="1"/>
                </p:cNvSpPr>
                <p:nvPr/>
              </p:nvSpPr>
              <p:spPr bwMode="auto">
                <a:xfrm>
                  <a:off x="1338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8" name="Line 22"/>
                <p:cNvSpPr>
                  <a:spLocks noChangeShapeType="1"/>
                </p:cNvSpPr>
                <p:nvPr/>
              </p:nvSpPr>
              <p:spPr bwMode="auto">
                <a:xfrm>
                  <a:off x="1474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278" name="Group 23"/>
              <p:cNvGrpSpPr>
                <a:grpSpLocks/>
              </p:cNvGrpSpPr>
              <p:nvPr/>
            </p:nvGrpSpPr>
            <p:grpSpPr bwMode="auto">
              <a:xfrm>
                <a:off x="3424" y="1525"/>
                <a:ext cx="544" cy="136"/>
                <a:chOff x="930" y="1525"/>
                <a:chExt cx="544" cy="136"/>
              </a:xfrm>
            </p:grpSpPr>
            <p:sp>
              <p:nvSpPr>
                <p:cNvPr id="279" name="Line 24"/>
                <p:cNvSpPr>
                  <a:spLocks noChangeShapeType="1"/>
                </p:cNvSpPr>
                <p:nvPr/>
              </p:nvSpPr>
              <p:spPr bwMode="auto">
                <a:xfrm>
                  <a:off x="930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0" name="Line 25"/>
                <p:cNvSpPr>
                  <a:spLocks noChangeShapeType="1"/>
                </p:cNvSpPr>
                <p:nvPr/>
              </p:nvSpPr>
              <p:spPr bwMode="auto">
                <a:xfrm>
                  <a:off x="1066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1" name="Line 26"/>
                <p:cNvSpPr>
                  <a:spLocks noChangeShapeType="1"/>
                </p:cNvSpPr>
                <p:nvPr/>
              </p:nvSpPr>
              <p:spPr bwMode="auto">
                <a:xfrm>
                  <a:off x="1202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2" name="Line 27"/>
                <p:cNvSpPr>
                  <a:spLocks noChangeShapeType="1"/>
                </p:cNvSpPr>
                <p:nvPr/>
              </p:nvSpPr>
              <p:spPr bwMode="auto">
                <a:xfrm>
                  <a:off x="1338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3" name="Line 28"/>
                <p:cNvSpPr>
                  <a:spLocks noChangeShapeType="1"/>
                </p:cNvSpPr>
                <p:nvPr/>
              </p:nvSpPr>
              <p:spPr bwMode="auto">
                <a:xfrm>
                  <a:off x="1474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271" name="Text Box 34"/>
            <p:cNvSpPr txBox="1">
              <a:spLocks noChangeArrowheads="1"/>
            </p:cNvSpPr>
            <p:nvPr/>
          </p:nvSpPr>
          <p:spPr bwMode="auto">
            <a:xfrm>
              <a:off x="1301" y="1480"/>
              <a:ext cx="169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1</a:t>
              </a:r>
            </a:p>
          </p:txBody>
        </p:sp>
        <p:sp>
          <p:nvSpPr>
            <p:cNvPr id="272" name="Text Box 35"/>
            <p:cNvSpPr txBox="1">
              <a:spLocks noChangeArrowheads="1"/>
            </p:cNvSpPr>
            <p:nvPr/>
          </p:nvSpPr>
          <p:spPr bwMode="auto">
            <a:xfrm>
              <a:off x="2493" y="1480"/>
              <a:ext cx="221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273" name="Text Box 36"/>
            <p:cNvSpPr txBox="1">
              <a:spLocks noChangeArrowheads="1"/>
            </p:cNvSpPr>
            <p:nvPr/>
          </p:nvSpPr>
          <p:spPr bwMode="auto">
            <a:xfrm>
              <a:off x="3849" y="1480"/>
              <a:ext cx="221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20</a:t>
              </a:r>
            </a:p>
          </p:txBody>
        </p:sp>
        <p:sp>
          <p:nvSpPr>
            <p:cNvPr id="274" name="Line 37"/>
            <p:cNvSpPr>
              <a:spLocks noChangeShapeType="1"/>
            </p:cNvSpPr>
            <p:nvPr/>
          </p:nvSpPr>
          <p:spPr bwMode="auto">
            <a:xfrm>
              <a:off x="1383" y="1729"/>
              <a:ext cx="25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00" name="Text Box 40"/>
          <p:cNvSpPr txBox="1">
            <a:spLocks noChangeArrowheads="1"/>
          </p:cNvSpPr>
          <p:nvPr/>
        </p:nvSpPr>
        <p:spPr bwMode="auto">
          <a:xfrm>
            <a:off x="1401995" y="2938338"/>
            <a:ext cx="86273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passo = 5</a:t>
            </a:r>
          </a:p>
        </p:txBody>
      </p:sp>
      <p:sp>
        <p:nvSpPr>
          <p:cNvPr id="15" name="CaixaDeTexto 14"/>
          <p:cNvSpPr txBox="1"/>
          <p:nvPr/>
        </p:nvSpPr>
        <p:spPr>
          <a:xfrm>
            <a:off x="5143754" y="2593920"/>
            <a:ext cx="28745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pt-BR" dirty="0">
                <a:latin typeface="Tahoma" panose="020B0604030504040204" pitchFamily="34" charset="0"/>
              </a:rPr>
              <a:t>(tempo, distância, ranqueamento, </a:t>
            </a:r>
            <a:r>
              <a:rPr lang="pt-BR" dirty="0" err="1">
                <a:latin typeface="Tahoma" panose="020B0604030504040204" pitchFamily="34" charset="0"/>
              </a:rPr>
              <a:t>etc</a:t>
            </a:r>
            <a:r>
              <a:rPr lang="pt-BR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Amostragem Sistemática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1218B3-0CC0-431D-AA64-2A3E6AB64835}" type="slidenum">
              <a:rPr lang="pt-BR"/>
              <a:pPr>
                <a:defRPr/>
              </a:pPr>
              <a:t>17</a:t>
            </a:fld>
            <a:endParaRPr lang="pt-BR"/>
          </a:p>
        </p:txBody>
      </p:sp>
      <p:grpSp>
        <p:nvGrpSpPr>
          <p:cNvPr id="659" name="Grupo 658"/>
          <p:cNvGrpSpPr/>
          <p:nvPr/>
        </p:nvGrpSpPr>
        <p:grpSpPr>
          <a:xfrm>
            <a:off x="323528" y="2262805"/>
            <a:ext cx="8568952" cy="3154704"/>
            <a:chOff x="323528" y="2262805"/>
            <a:chExt cx="8568952" cy="3154704"/>
          </a:xfrm>
        </p:grpSpPr>
        <p:sp>
          <p:nvSpPr>
            <p:cNvPr id="660" name="Retângulo 659"/>
            <p:cNvSpPr/>
            <p:nvPr/>
          </p:nvSpPr>
          <p:spPr bwMode="auto">
            <a:xfrm>
              <a:off x="323528" y="2262805"/>
              <a:ext cx="8568952" cy="3154704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61" name="Retângulo 660"/>
            <p:cNvSpPr/>
            <p:nvPr/>
          </p:nvSpPr>
          <p:spPr bwMode="auto">
            <a:xfrm>
              <a:off x="838995" y="2813621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662" name="Grupo 661"/>
            <p:cNvGrpSpPr/>
            <p:nvPr/>
          </p:nvGrpSpPr>
          <p:grpSpPr>
            <a:xfrm>
              <a:off x="927308" y="2871030"/>
              <a:ext cx="1584168" cy="2204119"/>
              <a:chOff x="1835704" y="2871451"/>
              <a:chExt cx="1584168" cy="2204119"/>
            </a:xfrm>
          </p:grpSpPr>
          <p:sp>
            <p:nvSpPr>
              <p:cNvPr id="698" name="Elipse 697"/>
              <p:cNvSpPr/>
              <p:nvPr/>
            </p:nvSpPr>
            <p:spPr bwMode="auto">
              <a:xfrm>
                <a:off x="1835704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99" name="Elipse 698"/>
              <p:cNvSpPr/>
              <p:nvPr/>
            </p:nvSpPr>
            <p:spPr bwMode="auto">
              <a:xfrm>
                <a:off x="1835704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0" name="Elipse 699"/>
              <p:cNvSpPr/>
              <p:nvPr/>
            </p:nvSpPr>
            <p:spPr bwMode="auto">
              <a:xfrm>
                <a:off x="1835704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1" name="Elipse 700"/>
              <p:cNvSpPr/>
              <p:nvPr/>
            </p:nvSpPr>
            <p:spPr bwMode="auto">
              <a:xfrm>
                <a:off x="1835704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2" name="Elipse 701"/>
              <p:cNvSpPr/>
              <p:nvPr/>
            </p:nvSpPr>
            <p:spPr bwMode="auto">
              <a:xfrm>
                <a:off x="1835704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3" name="Elipse 702"/>
              <p:cNvSpPr/>
              <p:nvPr/>
            </p:nvSpPr>
            <p:spPr bwMode="auto">
              <a:xfrm>
                <a:off x="1835704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4" name="Elipse 703"/>
              <p:cNvSpPr/>
              <p:nvPr/>
            </p:nvSpPr>
            <p:spPr bwMode="auto">
              <a:xfrm>
                <a:off x="1835704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5" name="Elipse 704"/>
              <p:cNvSpPr/>
              <p:nvPr/>
            </p:nvSpPr>
            <p:spPr bwMode="auto">
              <a:xfrm>
                <a:off x="1835704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6" name="Elipse 705"/>
              <p:cNvSpPr/>
              <p:nvPr/>
            </p:nvSpPr>
            <p:spPr bwMode="auto">
              <a:xfrm>
                <a:off x="2042696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7" name="Elipse 706"/>
              <p:cNvSpPr/>
              <p:nvPr/>
            </p:nvSpPr>
            <p:spPr bwMode="auto">
              <a:xfrm>
                <a:off x="2042696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8" name="Elipse 707"/>
              <p:cNvSpPr/>
              <p:nvPr/>
            </p:nvSpPr>
            <p:spPr bwMode="auto">
              <a:xfrm>
                <a:off x="2042696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9" name="Elipse 708"/>
              <p:cNvSpPr/>
              <p:nvPr/>
            </p:nvSpPr>
            <p:spPr bwMode="auto">
              <a:xfrm>
                <a:off x="2042696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0" name="Elipse 709"/>
              <p:cNvSpPr/>
              <p:nvPr/>
            </p:nvSpPr>
            <p:spPr bwMode="auto">
              <a:xfrm>
                <a:off x="2042696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1" name="Elipse 710"/>
              <p:cNvSpPr/>
              <p:nvPr/>
            </p:nvSpPr>
            <p:spPr bwMode="auto">
              <a:xfrm>
                <a:off x="2042696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2" name="Elipse 711"/>
              <p:cNvSpPr/>
              <p:nvPr/>
            </p:nvSpPr>
            <p:spPr bwMode="auto">
              <a:xfrm>
                <a:off x="2042696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3" name="Elipse 712"/>
              <p:cNvSpPr/>
              <p:nvPr/>
            </p:nvSpPr>
            <p:spPr bwMode="auto">
              <a:xfrm>
                <a:off x="2042696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4" name="Elipse 713"/>
              <p:cNvSpPr/>
              <p:nvPr/>
            </p:nvSpPr>
            <p:spPr bwMode="auto">
              <a:xfrm>
                <a:off x="2267752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5" name="Elipse 714"/>
              <p:cNvSpPr/>
              <p:nvPr/>
            </p:nvSpPr>
            <p:spPr bwMode="auto">
              <a:xfrm>
                <a:off x="2267752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6" name="Elipse 715"/>
              <p:cNvSpPr/>
              <p:nvPr/>
            </p:nvSpPr>
            <p:spPr bwMode="auto">
              <a:xfrm>
                <a:off x="2267752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7" name="Elipse 716"/>
              <p:cNvSpPr/>
              <p:nvPr/>
            </p:nvSpPr>
            <p:spPr bwMode="auto">
              <a:xfrm>
                <a:off x="2267752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8" name="Elipse 717"/>
              <p:cNvSpPr/>
              <p:nvPr/>
            </p:nvSpPr>
            <p:spPr bwMode="auto">
              <a:xfrm>
                <a:off x="2267752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9" name="Elipse 718"/>
              <p:cNvSpPr/>
              <p:nvPr/>
            </p:nvSpPr>
            <p:spPr bwMode="auto">
              <a:xfrm>
                <a:off x="2267752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0" name="Elipse 719"/>
              <p:cNvSpPr/>
              <p:nvPr/>
            </p:nvSpPr>
            <p:spPr bwMode="auto">
              <a:xfrm>
                <a:off x="2267752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1" name="Elipse 720"/>
              <p:cNvSpPr/>
              <p:nvPr/>
            </p:nvSpPr>
            <p:spPr bwMode="auto">
              <a:xfrm>
                <a:off x="2267752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2" name="Elipse 721"/>
              <p:cNvSpPr/>
              <p:nvPr/>
            </p:nvSpPr>
            <p:spPr bwMode="auto">
              <a:xfrm>
                <a:off x="2483776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3" name="Elipse 722"/>
              <p:cNvSpPr/>
              <p:nvPr/>
            </p:nvSpPr>
            <p:spPr bwMode="auto">
              <a:xfrm>
                <a:off x="2483776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4" name="Elipse 723"/>
              <p:cNvSpPr/>
              <p:nvPr/>
            </p:nvSpPr>
            <p:spPr bwMode="auto">
              <a:xfrm>
                <a:off x="2483776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5" name="Elipse 724"/>
              <p:cNvSpPr/>
              <p:nvPr/>
            </p:nvSpPr>
            <p:spPr bwMode="auto">
              <a:xfrm>
                <a:off x="2483776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6" name="Elipse 725"/>
              <p:cNvSpPr/>
              <p:nvPr/>
            </p:nvSpPr>
            <p:spPr bwMode="auto">
              <a:xfrm>
                <a:off x="2483776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7" name="Elipse 726"/>
              <p:cNvSpPr/>
              <p:nvPr/>
            </p:nvSpPr>
            <p:spPr bwMode="auto">
              <a:xfrm>
                <a:off x="2483776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8" name="Elipse 727"/>
              <p:cNvSpPr/>
              <p:nvPr/>
            </p:nvSpPr>
            <p:spPr bwMode="auto">
              <a:xfrm>
                <a:off x="2483776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9" name="Elipse 728"/>
              <p:cNvSpPr/>
              <p:nvPr/>
            </p:nvSpPr>
            <p:spPr bwMode="auto">
              <a:xfrm>
                <a:off x="2483776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0" name="Elipse 729"/>
              <p:cNvSpPr/>
              <p:nvPr/>
            </p:nvSpPr>
            <p:spPr bwMode="auto">
              <a:xfrm>
                <a:off x="2699800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1" name="Elipse 730"/>
              <p:cNvSpPr/>
              <p:nvPr/>
            </p:nvSpPr>
            <p:spPr bwMode="auto">
              <a:xfrm>
                <a:off x="2699800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2" name="Elipse 731"/>
              <p:cNvSpPr/>
              <p:nvPr/>
            </p:nvSpPr>
            <p:spPr bwMode="auto">
              <a:xfrm>
                <a:off x="2699800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3" name="Elipse 732"/>
              <p:cNvSpPr/>
              <p:nvPr/>
            </p:nvSpPr>
            <p:spPr bwMode="auto">
              <a:xfrm>
                <a:off x="2699800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4" name="Elipse 733"/>
              <p:cNvSpPr/>
              <p:nvPr/>
            </p:nvSpPr>
            <p:spPr bwMode="auto">
              <a:xfrm>
                <a:off x="2699800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5" name="Elipse 734"/>
              <p:cNvSpPr/>
              <p:nvPr/>
            </p:nvSpPr>
            <p:spPr bwMode="auto">
              <a:xfrm>
                <a:off x="2699800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6" name="Elipse 735"/>
              <p:cNvSpPr/>
              <p:nvPr/>
            </p:nvSpPr>
            <p:spPr bwMode="auto">
              <a:xfrm>
                <a:off x="2699800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7" name="Elipse 736"/>
              <p:cNvSpPr/>
              <p:nvPr/>
            </p:nvSpPr>
            <p:spPr bwMode="auto">
              <a:xfrm>
                <a:off x="2699800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8" name="Elipse 737"/>
              <p:cNvSpPr/>
              <p:nvPr/>
            </p:nvSpPr>
            <p:spPr bwMode="auto">
              <a:xfrm>
                <a:off x="2915824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9" name="Elipse 738"/>
              <p:cNvSpPr/>
              <p:nvPr/>
            </p:nvSpPr>
            <p:spPr bwMode="auto">
              <a:xfrm>
                <a:off x="2915824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0" name="Elipse 739"/>
              <p:cNvSpPr/>
              <p:nvPr/>
            </p:nvSpPr>
            <p:spPr bwMode="auto">
              <a:xfrm>
                <a:off x="2915824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1" name="Elipse 740"/>
              <p:cNvSpPr/>
              <p:nvPr/>
            </p:nvSpPr>
            <p:spPr bwMode="auto">
              <a:xfrm>
                <a:off x="2915824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2" name="Elipse 741"/>
              <p:cNvSpPr/>
              <p:nvPr/>
            </p:nvSpPr>
            <p:spPr bwMode="auto">
              <a:xfrm>
                <a:off x="2915824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3" name="Elipse 742"/>
              <p:cNvSpPr/>
              <p:nvPr/>
            </p:nvSpPr>
            <p:spPr bwMode="auto">
              <a:xfrm>
                <a:off x="2915824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4" name="Elipse 743"/>
              <p:cNvSpPr/>
              <p:nvPr/>
            </p:nvSpPr>
            <p:spPr bwMode="auto">
              <a:xfrm>
                <a:off x="2915824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5" name="Elipse 744"/>
              <p:cNvSpPr/>
              <p:nvPr/>
            </p:nvSpPr>
            <p:spPr bwMode="auto">
              <a:xfrm>
                <a:off x="2915824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6" name="Elipse 745"/>
              <p:cNvSpPr/>
              <p:nvPr/>
            </p:nvSpPr>
            <p:spPr bwMode="auto">
              <a:xfrm>
                <a:off x="3131848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7" name="Elipse 746"/>
              <p:cNvSpPr/>
              <p:nvPr/>
            </p:nvSpPr>
            <p:spPr bwMode="auto">
              <a:xfrm>
                <a:off x="3131848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8" name="Elipse 747"/>
              <p:cNvSpPr/>
              <p:nvPr/>
            </p:nvSpPr>
            <p:spPr bwMode="auto">
              <a:xfrm>
                <a:off x="3131848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9" name="Elipse 748"/>
              <p:cNvSpPr/>
              <p:nvPr/>
            </p:nvSpPr>
            <p:spPr bwMode="auto">
              <a:xfrm>
                <a:off x="3131848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0" name="Elipse 749"/>
              <p:cNvSpPr/>
              <p:nvPr/>
            </p:nvSpPr>
            <p:spPr bwMode="auto">
              <a:xfrm>
                <a:off x="3131848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1" name="Elipse 750"/>
              <p:cNvSpPr/>
              <p:nvPr/>
            </p:nvSpPr>
            <p:spPr bwMode="auto">
              <a:xfrm>
                <a:off x="3131848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2" name="Elipse 751"/>
              <p:cNvSpPr/>
              <p:nvPr/>
            </p:nvSpPr>
            <p:spPr bwMode="auto">
              <a:xfrm>
                <a:off x="3131848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3" name="Elipse 752"/>
              <p:cNvSpPr/>
              <p:nvPr/>
            </p:nvSpPr>
            <p:spPr bwMode="auto">
              <a:xfrm>
                <a:off x="3131848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4" name="Elipse 753"/>
              <p:cNvSpPr/>
              <p:nvPr/>
            </p:nvSpPr>
            <p:spPr bwMode="auto">
              <a:xfrm>
                <a:off x="3347872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5" name="Elipse 754"/>
              <p:cNvSpPr/>
              <p:nvPr/>
            </p:nvSpPr>
            <p:spPr bwMode="auto">
              <a:xfrm>
                <a:off x="3347872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6" name="Elipse 755"/>
              <p:cNvSpPr/>
              <p:nvPr/>
            </p:nvSpPr>
            <p:spPr bwMode="auto">
              <a:xfrm>
                <a:off x="3347872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7" name="Elipse 756"/>
              <p:cNvSpPr/>
              <p:nvPr/>
            </p:nvSpPr>
            <p:spPr bwMode="auto">
              <a:xfrm>
                <a:off x="3347872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8" name="Elipse 757"/>
              <p:cNvSpPr/>
              <p:nvPr/>
            </p:nvSpPr>
            <p:spPr bwMode="auto">
              <a:xfrm>
                <a:off x="3347872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9" name="Elipse 758"/>
              <p:cNvSpPr/>
              <p:nvPr/>
            </p:nvSpPr>
            <p:spPr bwMode="auto">
              <a:xfrm>
                <a:off x="3347872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60" name="Elipse 759"/>
              <p:cNvSpPr/>
              <p:nvPr/>
            </p:nvSpPr>
            <p:spPr bwMode="auto">
              <a:xfrm>
                <a:off x="3347872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61" name="Elipse 760"/>
              <p:cNvSpPr/>
              <p:nvPr/>
            </p:nvSpPr>
            <p:spPr bwMode="auto">
              <a:xfrm>
                <a:off x="3347872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663" name="Group 64"/>
            <p:cNvGrpSpPr>
              <a:grpSpLocks/>
            </p:cNvGrpSpPr>
            <p:nvPr/>
          </p:nvGrpSpPr>
          <p:grpSpPr bwMode="auto">
            <a:xfrm>
              <a:off x="3562151" y="2812877"/>
              <a:ext cx="1800225" cy="2343150"/>
              <a:chOff x="2200" y="1661"/>
              <a:chExt cx="1134" cy="1476"/>
            </a:xfrm>
          </p:grpSpPr>
          <p:grpSp>
            <p:nvGrpSpPr>
              <p:cNvPr id="664" name="Group 63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134" cy="1476"/>
              </a:xfrm>
            </p:grpSpPr>
            <p:sp>
              <p:nvSpPr>
                <p:cNvPr id="680" name="Line 35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1" name="Line 36"/>
                <p:cNvSpPr>
                  <a:spLocks noChangeShapeType="1"/>
                </p:cNvSpPr>
                <p:nvPr/>
              </p:nvSpPr>
              <p:spPr bwMode="auto">
                <a:xfrm>
                  <a:off x="2200" y="174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2" name="Line 37"/>
                <p:cNvSpPr>
                  <a:spLocks noChangeShapeType="1"/>
                </p:cNvSpPr>
                <p:nvPr/>
              </p:nvSpPr>
              <p:spPr bwMode="auto">
                <a:xfrm>
                  <a:off x="2200" y="183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3" name="Line 38"/>
                <p:cNvSpPr>
                  <a:spLocks noChangeShapeType="1"/>
                </p:cNvSpPr>
                <p:nvPr/>
              </p:nvSpPr>
              <p:spPr bwMode="auto">
                <a:xfrm>
                  <a:off x="2200" y="192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4" name="Line 39"/>
                <p:cNvSpPr>
                  <a:spLocks noChangeShapeType="1"/>
                </p:cNvSpPr>
                <p:nvPr/>
              </p:nvSpPr>
              <p:spPr bwMode="auto">
                <a:xfrm>
                  <a:off x="2200" y="200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5" name="Line 40"/>
                <p:cNvSpPr>
                  <a:spLocks noChangeShapeType="1"/>
                </p:cNvSpPr>
                <p:nvPr/>
              </p:nvSpPr>
              <p:spPr bwMode="auto">
                <a:xfrm>
                  <a:off x="2200" y="209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6" name="Line 41"/>
                <p:cNvSpPr>
                  <a:spLocks noChangeShapeType="1"/>
                </p:cNvSpPr>
                <p:nvPr/>
              </p:nvSpPr>
              <p:spPr bwMode="auto">
                <a:xfrm>
                  <a:off x="2200" y="218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7" name="Line 42"/>
                <p:cNvSpPr>
                  <a:spLocks noChangeShapeType="1"/>
                </p:cNvSpPr>
                <p:nvPr/>
              </p:nvSpPr>
              <p:spPr bwMode="auto">
                <a:xfrm>
                  <a:off x="2200" y="226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8" name="Line 43"/>
                <p:cNvSpPr>
                  <a:spLocks noChangeShapeType="1"/>
                </p:cNvSpPr>
                <p:nvPr/>
              </p:nvSpPr>
              <p:spPr bwMode="auto">
                <a:xfrm>
                  <a:off x="2200" y="235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9" name="Line 44"/>
                <p:cNvSpPr>
                  <a:spLocks noChangeShapeType="1"/>
                </p:cNvSpPr>
                <p:nvPr/>
              </p:nvSpPr>
              <p:spPr bwMode="auto">
                <a:xfrm>
                  <a:off x="2200" y="244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0" name="Line 45"/>
                <p:cNvSpPr>
                  <a:spLocks noChangeShapeType="1"/>
                </p:cNvSpPr>
                <p:nvPr/>
              </p:nvSpPr>
              <p:spPr bwMode="auto">
                <a:xfrm>
                  <a:off x="2200" y="252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1" name="Line 46"/>
                <p:cNvSpPr>
                  <a:spLocks noChangeShapeType="1"/>
                </p:cNvSpPr>
                <p:nvPr/>
              </p:nvSpPr>
              <p:spPr bwMode="auto">
                <a:xfrm>
                  <a:off x="2200" y="261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2" name="Line 51"/>
                <p:cNvSpPr>
                  <a:spLocks noChangeShapeType="1"/>
                </p:cNvSpPr>
                <p:nvPr/>
              </p:nvSpPr>
              <p:spPr bwMode="auto">
                <a:xfrm>
                  <a:off x="2200" y="270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3" name="Line 52"/>
                <p:cNvSpPr>
                  <a:spLocks noChangeShapeType="1"/>
                </p:cNvSpPr>
                <p:nvPr/>
              </p:nvSpPr>
              <p:spPr bwMode="auto">
                <a:xfrm>
                  <a:off x="2200" y="279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4" name="Line 53"/>
                <p:cNvSpPr>
                  <a:spLocks noChangeShapeType="1"/>
                </p:cNvSpPr>
                <p:nvPr/>
              </p:nvSpPr>
              <p:spPr bwMode="auto">
                <a:xfrm>
                  <a:off x="2200" y="287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5" name="Line 54"/>
                <p:cNvSpPr>
                  <a:spLocks noChangeShapeType="1"/>
                </p:cNvSpPr>
                <p:nvPr/>
              </p:nvSpPr>
              <p:spPr bwMode="auto">
                <a:xfrm>
                  <a:off x="2200" y="296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6" name="Line 55"/>
                <p:cNvSpPr>
                  <a:spLocks noChangeShapeType="1"/>
                </p:cNvSpPr>
                <p:nvPr/>
              </p:nvSpPr>
              <p:spPr bwMode="auto">
                <a:xfrm>
                  <a:off x="2200" y="305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7" name="Line 56"/>
                <p:cNvSpPr>
                  <a:spLocks noChangeShapeType="1"/>
                </p:cNvSpPr>
                <p:nvPr/>
              </p:nvSpPr>
              <p:spPr bwMode="auto">
                <a:xfrm>
                  <a:off x="2200" y="313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665" name="Group 47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768" cy="1452"/>
              </a:xfrm>
            </p:grpSpPr>
            <p:sp>
              <p:nvSpPr>
                <p:cNvPr id="666" name="Line 21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7" name="Line 22"/>
                <p:cNvSpPr>
                  <a:spLocks noChangeShapeType="1"/>
                </p:cNvSpPr>
                <p:nvPr/>
              </p:nvSpPr>
              <p:spPr bwMode="auto">
                <a:xfrm>
                  <a:off x="233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8" name="Line 23"/>
                <p:cNvSpPr>
                  <a:spLocks noChangeShapeType="1"/>
                </p:cNvSpPr>
                <p:nvPr/>
              </p:nvSpPr>
              <p:spPr bwMode="auto">
                <a:xfrm>
                  <a:off x="247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9" name="Line 24"/>
                <p:cNvSpPr>
                  <a:spLocks noChangeShapeType="1"/>
                </p:cNvSpPr>
                <p:nvPr/>
              </p:nvSpPr>
              <p:spPr bwMode="auto">
                <a:xfrm>
                  <a:off x="260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0" name="Line 25"/>
                <p:cNvSpPr>
                  <a:spLocks noChangeShapeType="1"/>
                </p:cNvSpPr>
                <p:nvPr/>
              </p:nvSpPr>
              <p:spPr bwMode="auto">
                <a:xfrm>
                  <a:off x="274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1" name="Line 26"/>
                <p:cNvSpPr>
                  <a:spLocks noChangeShapeType="1"/>
                </p:cNvSpPr>
                <p:nvPr/>
              </p:nvSpPr>
              <p:spPr bwMode="auto">
                <a:xfrm>
                  <a:off x="288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2" name="Line 27"/>
                <p:cNvSpPr>
                  <a:spLocks noChangeShapeType="1"/>
                </p:cNvSpPr>
                <p:nvPr/>
              </p:nvSpPr>
              <p:spPr bwMode="auto">
                <a:xfrm>
                  <a:off x="301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3" name="Line 28"/>
                <p:cNvSpPr>
                  <a:spLocks noChangeShapeType="1"/>
                </p:cNvSpPr>
                <p:nvPr/>
              </p:nvSpPr>
              <p:spPr bwMode="auto">
                <a:xfrm>
                  <a:off x="315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4" name="Line 29"/>
                <p:cNvSpPr>
                  <a:spLocks noChangeShapeType="1"/>
                </p:cNvSpPr>
                <p:nvPr/>
              </p:nvSpPr>
              <p:spPr bwMode="auto">
                <a:xfrm>
                  <a:off x="328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5" name="Line 30"/>
                <p:cNvSpPr>
                  <a:spLocks noChangeShapeType="1"/>
                </p:cNvSpPr>
                <p:nvPr/>
              </p:nvSpPr>
              <p:spPr bwMode="auto">
                <a:xfrm>
                  <a:off x="342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6" name="Line 31"/>
                <p:cNvSpPr>
                  <a:spLocks noChangeShapeType="1"/>
                </p:cNvSpPr>
                <p:nvPr/>
              </p:nvSpPr>
              <p:spPr bwMode="auto">
                <a:xfrm>
                  <a:off x="356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7" name="Line 32"/>
                <p:cNvSpPr>
                  <a:spLocks noChangeShapeType="1"/>
                </p:cNvSpPr>
                <p:nvPr/>
              </p:nvSpPr>
              <p:spPr bwMode="auto">
                <a:xfrm>
                  <a:off x="369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8" name="Line 33"/>
                <p:cNvSpPr>
                  <a:spLocks noChangeShapeType="1"/>
                </p:cNvSpPr>
                <p:nvPr/>
              </p:nvSpPr>
              <p:spPr bwMode="auto">
                <a:xfrm>
                  <a:off x="383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9" name="Line 34"/>
                <p:cNvSpPr>
                  <a:spLocks noChangeShapeType="1"/>
                </p:cNvSpPr>
                <p:nvPr/>
              </p:nvSpPr>
              <p:spPr bwMode="auto">
                <a:xfrm>
                  <a:off x="396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</p:grpSp>
      <p:sp>
        <p:nvSpPr>
          <p:cNvPr id="762" name="Rectangle 91"/>
          <p:cNvSpPr>
            <a:spLocks noChangeArrowheads="1"/>
          </p:cNvSpPr>
          <p:nvPr/>
        </p:nvSpPr>
        <p:spPr bwMode="auto">
          <a:xfrm>
            <a:off x="5638778" y="2759087"/>
            <a:ext cx="332571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etapas: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definir o passo (ou os passos em x e em y)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escolher aleatoriamente um elemento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com base nesse elemento, identificar os demais elementos de acordo com o passo pré-definido</a:t>
            </a:r>
          </a:p>
        </p:txBody>
      </p:sp>
      <p:sp>
        <p:nvSpPr>
          <p:cNvPr id="763" name="Retângulo 762"/>
          <p:cNvSpPr/>
          <p:nvPr/>
        </p:nvSpPr>
        <p:spPr>
          <a:xfrm rot="16200000">
            <a:off x="-424063" y="3858225"/>
            <a:ext cx="214353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400" dirty="0">
                <a:latin typeface="Tahoma" panose="020B0604030504040204" pitchFamily="34" charset="0"/>
              </a:rPr>
              <a:t>passos: 3 em x e 2 em y</a:t>
            </a:r>
          </a:p>
        </p:txBody>
      </p:sp>
      <p:sp>
        <p:nvSpPr>
          <p:cNvPr id="764" name="Retângulo 763"/>
          <p:cNvSpPr/>
          <p:nvPr/>
        </p:nvSpPr>
        <p:spPr>
          <a:xfrm rot="16200000">
            <a:off x="2285969" y="3856218"/>
            <a:ext cx="214353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400" dirty="0">
                <a:latin typeface="Tahoma" panose="020B0604030504040204" pitchFamily="34" charset="0"/>
              </a:rPr>
              <a:t>passos: 5 em x e 4 em y</a:t>
            </a:r>
          </a:p>
        </p:txBody>
      </p:sp>
      <p:sp>
        <p:nvSpPr>
          <p:cNvPr id="765" name="Elipse 764"/>
          <p:cNvSpPr/>
          <p:nvPr/>
        </p:nvSpPr>
        <p:spPr bwMode="auto">
          <a:xfrm>
            <a:off x="1115616" y="2857960"/>
            <a:ext cx="108000" cy="1080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766" name="Rectangle 78"/>
          <p:cNvSpPr>
            <a:spLocks noChangeArrowheads="1"/>
          </p:cNvSpPr>
          <p:nvPr/>
        </p:nvSpPr>
        <p:spPr bwMode="auto">
          <a:xfrm>
            <a:off x="3837798" y="2943196"/>
            <a:ext cx="142875" cy="142875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grpSp>
        <p:nvGrpSpPr>
          <p:cNvPr id="767" name="Group 93"/>
          <p:cNvGrpSpPr>
            <a:grpSpLocks/>
          </p:cNvGrpSpPr>
          <p:nvPr/>
        </p:nvGrpSpPr>
        <p:grpSpPr bwMode="auto">
          <a:xfrm>
            <a:off x="3840410" y="2940849"/>
            <a:ext cx="1530350" cy="1798638"/>
            <a:chOff x="830" y="2668"/>
            <a:chExt cx="964" cy="1133"/>
          </a:xfrm>
        </p:grpSpPr>
        <p:sp>
          <p:nvSpPr>
            <p:cNvPr id="768" name="Rectangle 79"/>
            <p:cNvSpPr>
              <a:spLocks noChangeArrowheads="1"/>
            </p:cNvSpPr>
            <p:nvPr/>
          </p:nvSpPr>
          <p:spPr bwMode="auto">
            <a:xfrm>
              <a:off x="1268" y="2668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69" name="Rectangle 80"/>
            <p:cNvSpPr>
              <a:spLocks noChangeArrowheads="1"/>
            </p:cNvSpPr>
            <p:nvPr/>
          </p:nvSpPr>
          <p:spPr bwMode="auto">
            <a:xfrm>
              <a:off x="1266" y="3016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0" name="Rectangle 81"/>
            <p:cNvSpPr>
              <a:spLocks noChangeArrowheads="1"/>
            </p:cNvSpPr>
            <p:nvPr/>
          </p:nvSpPr>
          <p:spPr bwMode="auto">
            <a:xfrm>
              <a:off x="830" y="3016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1" name="Rectangle 82"/>
            <p:cNvSpPr>
              <a:spLocks noChangeArrowheads="1"/>
            </p:cNvSpPr>
            <p:nvPr/>
          </p:nvSpPr>
          <p:spPr bwMode="auto">
            <a:xfrm>
              <a:off x="830" y="3711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2" name="Rectangle 83"/>
            <p:cNvSpPr>
              <a:spLocks noChangeArrowheads="1"/>
            </p:cNvSpPr>
            <p:nvPr/>
          </p:nvSpPr>
          <p:spPr bwMode="auto">
            <a:xfrm>
              <a:off x="1701" y="3363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3" name="Rectangle 84"/>
            <p:cNvSpPr>
              <a:spLocks noChangeArrowheads="1"/>
            </p:cNvSpPr>
            <p:nvPr/>
          </p:nvSpPr>
          <p:spPr bwMode="auto">
            <a:xfrm>
              <a:off x="1265" y="3363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4" name="Rectangle 85"/>
            <p:cNvSpPr>
              <a:spLocks noChangeArrowheads="1"/>
            </p:cNvSpPr>
            <p:nvPr/>
          </p:nvSpPr>
          <p:spPr bwMode="auto">
            <a:xfrm>
              <a:off x="830" y="3364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5" name="Rectangle 86"/>
            <p:cNvSpPr>
              <a:spLocks noChangeArrowheads="1"/>
            </p:cNvSpPr>
            <p:nvPr/>
          </p:nvSpPr>
          <p:spPr bwMode="auto">
            <a:xfrm>
              <a:off x="1701" y="2671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6" name="Rectangle 87"/>
            <p:cNvSpPr>
              <a:spLocks noChangeArrowheads="1"/>
            </p:cNvSpPr>
            <p:nvPr/>
          </p:nvSpPr>
          <p:spPr bwMode="auto">
            <a:xfrm>
              <a:off x="1704" y="3016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7" name="Rectangle 89"/>
            <p:cNvSpPr>
              <a:spLocks noChangeArrowheads="1"/>
            </p:cNvSpPr>
            <p:nvPr/>
          </p:nvSpPr>
          <p:spPr bwMode="auto">
            <a:xfrm>
              <a:off x="1265" y="3711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8" name="Rectangle 90"/>
            <p:cNvSpPr>
              <a:spLocks noChangeArrowheads="1"/>
            </p:cNvSpPr>
            <p:nvPr/>
          </p:nvSpPr>
          <p:spPr bwMode="auto">
            <a:xfrm>
              <a:off x="1704" y="3711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79" name="Grupo 778"/>
          <p:cNvGrpSpPr/>
          <p:nvPr/>
        </p:nvGrpSpPr>
        <p:grpSpPr>
          <a:xfrm>
            <a:off x="1115616" y="2852418"/>
            <a:ext cx="1416204" cy="1937699"/>
            <a:chOff x="2035308" y="2857960"/>
            <a:chExt cx="1416204" cy="1937699"/>
          </a:xfrm>
        </p:grpSpPr>
        <p:sp>
          <p:nvSpPr>
            <p:cNvPr id="780" name="Elipse 779"/>
            <p:cNvSpPr/>
            <p:nvPr/>
          </p:nvSpPr>
          <p:spPr bwMode="auto">
            <a:xfrm>
              <a:off x="2035308" y="408279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1" name="Elipse 780"/>
            <p:cNvSpPr/>
            <p:nvPr/>
          </p:nvSpPr>
          <p:spPr bwMode="auto">
            <a:xfrm>
              <a:off x="3343512" y="2857960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2" name="Elipse 781"/>
            <p:cNvSpPr/>
            <p:nvPr/>
          </p:nvSpPr>
          <p:spPr bwMode="auto">
            <a:xfrm>
              <a:off x="3343512" y="4081209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3" name="Elipse 782"/>
            <p:cNvSpPr/>
            <p:nvPr/>
          </p:nvSpPr>
          <p:spPr bwMode="auto">
            <a:xfrm>
              <a:off x="2693744" y="2857960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4" name="Elipse 783"/>
            <p:cNvSpPr/>
            <p:nvPr/>
          </p:nvSpPr>
          <p:spPr bwMode="auto">
            <a:xfrm>
              <a:off x="2693744" y="4081209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5" name="Elipse 784"/>
            <p:cNvSpPr/>
            <p:nvPr/>
          </p:nvSpPr>
          <p:spPr bwMode="auto">
            <a:xfrm>
              <a:off x="2035308" y="3476274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6" name="Elipse 785"/>
            <p:cNvSpPr/>
            <p:nvPr/>
          </p:nvSpPr>
          <p:spPr bwMode="auto">
            <a:xfrm>
              <a:off x="3343512" y="347468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7" name="Elipse 786"/>
            <p:cNvSpPr/>
            <p:nvPr/>
          </p:nvSpPr>
          <p:spPr bwMode="auto">
            <a:xfrm>
              <a:off x="2693744" y="347468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8" name="Elipse 787"/>
            <p:cNvSpPr/>
            <p:nvPr/>
          </p:nvSpPr>
          <p:spPr bwMode="auto">
            <a:xfrm>
              <a:off x="2035308" y="4687659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9" name="Elipse 788"/>
            <p:cNvSpPr/>
            <p:nvPr/>
          </p:nvSpPr>
          <p:spPr bwMode="auto">
            <a:xfrm>
              <a:off x="3343512" y="468607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90" name="Elipse 789"/>
            <p:cNvSpPr/>
            <p:nvPr/>
          </p:nvSpPr>
          <p:spPr bwMode="auto">
            <a:xfrm>
              <a:off x="2693744" y="468607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791" name="Rectangle 94"/>
          <p:cNvSpPr>
            <a:spLocks noChangeArrowheads="1"/>
          </p:cNvSpPr>
          <p:nvPr/>
        </p:nvSpPr>
        <p:spPr bwMode="auto">
          <a:xfrm>
            <a:off x="843148" y="5301208"/>
            <a:ext cx="5368893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l" defTabSz="1762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176213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176213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176213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176213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176213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176213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176213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176213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	amostra-se uniformemente todo o espaço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	pode-se não conseguir o valor exato de amostras 				pretendidas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	desaconselhado para ordenações periódicas ou 					com feições dispostas na horizontal e/ou 	vertical</a:t>
            </a:r>
          </a:p>
        </p:txBody>
      </p:sp>
      <p:grpSp>
        <p:nvGrpSpPr>
          <p:cNvPr id="29" name="Grupo 28"/>
          <p:cNvGrpSpPr/>
          <p:nvPr/>
        </p:nvGrpSpPr>
        <p:grpSpPr>
          <a:xfrm>
            <a:off x="6212041" y="5096975"/>
            <a:ext cx="2520280" cy="1675781"/>
            <a:chOff x="7387564" y="1946375"/>
            <a:chExt cx="2520280" cy="1675781"/>
          </a:xfrm>
        </p:grpSpPr>
        <p:pic>
          <p:nvPicPr>
            <p:cNvPr id="24" name="Imagem 2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387564" y="1946375"/>
              <a:ext cx="2520280" cy="1675781"/>
            </a:xfrm>
            <a:prstGeom prst="rect">
              <a:avLst/>
            </a:prstGeom>
          </p:spPr>
        </p:pic>
        <p:grpSp>
          <p:nvGrpSpPr>
            <p:cNvPr id="25" name="Grupo 24"/>
            <p:cNvGrpSpPr/>
            <p:nvPr/>
          </p:nvGrpSpPr>
          <p:grpSpPr>
            <a:xfrm>
              <a:off x="7472181" y="2173800"/>
              <a:ext cx="2315459" cy="72000"/>
              <a:chOff x="7472181" y="2204872"/>
              <a:chExt cx="2315459" cy="72000"/>
            </a:xfrm>
          </p:grpSpPr>
          <p:sp>
            <p:nvSpPr>
              <p:cNvPr id="815" name="Elipse 814"/>
              <p:cNvSpPr/>
              <p:nvPr/>
            </p:nvSpPr>
            <p:spPr bwMode="auto">
              <a:xfrm>
                <a:off x="7472181" y="220487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16" name="Elipse 815"/>
              <p:cNvSpPr/>
              <p:nvPr/>
            </p:nvSpPr>
            <p:spPr bwMode="auto">
              <a:xfrm>
                <a:off x="8220001" y="220487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17" name="Elipse 816"/>
              <p:cNvSpPr/>
              <p:nvPr/>
            </p:nvSpPr>
            <p:spPr bwMode="auto">
              <a:xfrm>
                <a:off x="8967821" y="220487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18" name="Elipse 817"/>
              <p:cNvSpPr/>
              <p:nvPr/>
            </p:nvSpPr>
            <p:spPr bwMode="auto">
              <a:xfrm>
                <a:off x="9715640" y="220487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6" name="Grupo 25"/>
            <p:cNvGrpSpPr/>
            <p:nvPr/>
          </p:nvGrpSpPr>
          <p:grpSpPr>
            <a:xfrm>
              <a:off x="7483384" y="2557843"/>
              <a:ext cx="2315459" cy="72000"/>
              <a:chOff x="7483384" y="2564912"/>
              <a:chExt cx="2315459" cy="72000"/>
            </a:xfrm>
          </p:grpSpPr>
          <p:sp>
            <p:nvSpPr>
              <p:cNvPr id="819" name="Elipse 818"/>
              <p:cNvSpPr/>
              <p:nvPr/>
            </p:nvSpPr>
            <p:spPr bwMode="auto">
              <a:xfrm>
                <a:off x="7483384" y="256491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0" name="Elipse 819"/>
              <p:cNvSpPr/>
              <p:nvPr/>
            </p:nvSpPr>
            <p:spPr bwMode="auto">
              <a:xfrm>
                <a:off x="8231204" y="256491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1" name="Elipse 820"/>
              <p:cNvSpPr/>
              <p:nvPr/>
            </p:nvSpPr>
            <p:spPr bwMode="auto">
              <a:xfrm>
                <a:off x="8979024" y="256491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2" name="Elipse 821"/>
              <p:cNvSpPr/>
              <p:nvPr/>
            </p:nvSpPr>
            <p:spPr bwMode="auto">
              <a:xfrm>
                <a:off x="9726843" y="256491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7" name="Grupo 26"/>
            <p:cNvGrpSpPr/>
            <p:nvPr/>
          </p:nvGrpSpPr>
          <p:grpSpPr>
            <a:xfrm>
              <a:off x="7483384" y="2941886"/>
              <a:ext cx="2315459" cy="72000"/>
              <a:chOff x="7483384" y="2924944"/>
              <a:chExt cx="2315459" cy="72000"/>
            </a:xfrm>
          </p:grpSpPr>
          <p:sp>
            <p:nvSpPr>
              <p:cNvPr id="823" name="Elipse 822"/>
              <p:cNvSpPr/>
              <p:nvPr/>
            </p:nvSpPr>
            <p:spPr bwMode="auto">
              <a:xfrm>
                <a:off x="7483384" y="292494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4" name="Elipse 823"/>
              <p:cNvSpPr/>
              <p:nvPr/>
            </p:nvSpPr>
            <p:spPr bwMode="auto">
              <a:xfrm>
                <a:off x="8231204" y="292494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5" name="Elipse 824"/>
              <p:cNvSpPr/>
              <p:nvPr/>
            </p:nvSpPr>
            <p:spPr bwMode="auto">
              <a:xfrm>
                <a:off x="8979024" y="292494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6" name="Elipse 825"/>
              <p:cNvSpPr/>
              <p:nvPr/>
            </p:nvSpPr>
            <p:spPr bwMode="auto">
              <a:xfrm>
                <a:off x="9726843" y="292494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8" name="Grupo 27"/>
            <p:cNvGrpSpPr/>
            <p:nvPr/>
          </p:nvGrpSpPr>
          <p:grpSpPr>
            <a:xfrm>
              <a:off x="7483384" y="3325928"/>
              <a:ext cx="2315459" cy="72000"/>
              <a:chOff x="7483384" y="3357000"/>
              <a:chExt cx="2315459" cy="72000"/>
            </a:xfrm>
          </p:grpSpPr>
          <p:sp>
            <p:nvSpPr>
              <p:cNvPr id="827" name="Elipse 826"/>
              <p:cNvSpPr/>
              <p:nvPr/>
            </p:nvSpPr>
            <p:spPr bwMode="auto">
              <a:xfrm>
                <a:off x="7483384" y="3357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8" name="Elipse 827"/>
              <p:cNvSpPr/>
              <p:nvPr/>
            </p:nvSpPr>
            <p:spPr bwMode="auto">
              <a:xfrm>
                <a:off x="8231204" y="3357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9" name="Elipse 828"/>
              <p:cNvSpPr/>
              <p:nvPr/>
            </p:nvSpPr>
            <p:spPr bwMode="auto">
              <a:xfrm>
                <a:off x="8979024" y="3357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30" name="Elipse 829"/>
              <p:cNvSpPr/>
              <p:nvPr/>
            </p:nvSpPr>
            <p:spPr bwMode="auto">
              <a:xfrm>
                <a:off x="9726843" y="3357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68601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5" grpId="0" animBg="1"/>
      <p:bldP spid="266" grpId="0" animBg="1"/>
      <p:bldP spid="267" grpId="0" animBg="1"/>
      <p:bldP spid="268" grpId="0" animBg="1"/>
      <p:bldP spid="300" grpId="0"/>
      <p:bldP spid="15" grpId="0"/>
      <p:bldP spid="763" grpId="0"/>
      <p:bldP spid="764" grpId="0"/>
      <p:bldP spid="765" grpId="0" animBg="1"/>
      <p:bldP spid="766" grpId="0" animBg="1"/>
      <p:bldP spid="791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Amostragem Sistemática Não Alinhada</a:t>
            </a:r>
          </a:p>
        </p:txBody>
      </p:sp>
      <p:grpSp>
        <p:nvGrpSpPr>
          <p:cNvPr id="25" name="Group 42"/>
          <p:cNvGrpSpPr>
            <a:grpSpLocks/>
          </p:cNvGrpSpPr>
          <p:nvPr/>
        </p:nvGrpSpPr>
        <p:grpSpPr bwMode="auto">
          <a:xfrm>
            <a:off x="897404" y="2722563"/>
            <a:ext cx="1800225" cy="2343150"/>
            <a:chOff x="2200" y="1661"/>
            <a:chExt cx="1134" cy="1476"/>
          </a:xfrm>
        </p:grpSpPr>
        <p:grpSp>
          <p:nvGrpSpPr>
            <p:cNvPr id="19529" name="Group 43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134" cy="1476"/>
            </a:xfrm>
          </p:grpSpPr>
          <p:sp>
            <p:nvSpPr>
              <p:cNvPr id="19545" name="Line 44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6" name="Line 45"/>
              <p:cNvSpPr>
                <a:spLocks noChangeShapeType="1"/>
              </p:cNvSpPr>
              <p:nvPr/>
            </p:nvSpPr>
            <p:spPr bwMode="auto">
              <a:xfrm>
                <a:off x="2200" y="174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7" name="Line 46"/>
              <p:cNvSpPr>
                <a:spLocks noChangeShapeType="1"/>
              </p:cNvSpPr>
              <p:nvPr/>
            </p:nvSpPr>
            <p:spPr bwMode="auto">
              <a:xfrm>
                <a:off x="2200" y="183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8" name="Line 47"/>
              <p:cNvSpPr>
                <a:spLocks noChangeShapeType="1"/>
              </p:cNvSpPr>
              <p:nvPr/>
            </p:nvSpPr>
            <p:spPr bwMode="auto">
              <a:xfrm>
                <a:off x="2200" y="192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9" name="Line 48"/>
              <p:cNvSpPr>
                <a:spLocks noChangeShapeType="1"/>
              </p:cNvSpPr>
              <p:nvPr/>
            </p:nvSpPr>
            <p:spPr bwMode="auto">
              <a:xfrm>
                <a:off x="2200" y="200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0" name="Line 49"/>
              <p:cNvSpPr>
                <a:spLocks noChangeShapeType="1"/>
              </p:cNvSpPr>
              <p:nvPr/>
            </p:nvSpPr>
            <p:spPr bwMode="auto">
              <a:xfrm>
                <a:off x="2200" y="209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1" name="Line 50"/>
              <p:cNvSpPr>
                <a:spLocks noChangeShapeType="1"/>
              </p:cNvSpPr>
              <p:nvPr/>
            </p:nvSpPr>
            <p:spPr bwMode="auto">
              <a:xfrm>
                <a:off x="2200" y="218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2" name="Line 51"/>
              <p:cNvSpPr>
                <a:spLocks noChangeShapeType="1"/>
              </p:cNvSpPr>
              <p:nvPr/>
            </p:nvSpPr>
            <p:spPr bwMode="auto">
              <a:xfrm>
                <a:off x="2200" y="226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3" name="Line 52"/>
              <p:cNvSpPr>
                <a:spLocks noChangeShapeType="1"/>
              </p:cNvSpPr>
              <p:nvPr/>
            </p:nvSpPr>
            <p:spPr bwMode="auto">
              <a:xfrm>
                <a:off x="2200" y="235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4" name="Line 53"/>
              <p:cNvSpPr>
                <a:spLocks noChangeShapeType="1"/>
              </p:cNvSpPr>
              <p:nvPr/>
            </p:nvSpPr>
            <p:spPr bwMode="auto">
              <a:xfrm>
                <a:off x="2200" y="244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5" name="Line 54"/>
              <p:cNvSpPr>
                <a:spLocks noChangeShapeType="1"/>
              </p:cNvSpPr>
              <p:nvPr/>
            </p:nvSpPr>
            <p:spPr bwMode="auto">
              <a:xfrm>
                <a:off x="2200" y="252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6" name="Line 55"/>
              <p:cNvSpPr>
                <a:spLocks noChangeShapeType="1"/>
              </p:cNvSpPr>
              <p:nvPr/>
            </p:nvSpPr>
            <p:spPr bwMode="auto">
              <a:xfrm>
                <a:off x="2200" y="261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7" name="Line 56"/>
              <p:cNvSpPr>
                <a:spLocks noChangeShapeType="1"/>
              </p:cNvSpPr>
              <p:nvPr/>
            </p:nvSpPr>
            <p:spPr bwMode="auto">
              <a:xfrm>
                <a:off x="2200" y="270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8" name="Line 57"/>
              <p:cNvSpPr>
                <a:spLocks noChangeShapeType="1"/>
              </p:cNvSpPr>
              <p:nvPr/>
            </p:nvSpPr>
            <p:spPr bwMode="auto">
              <a:xfrm>
                <a:off x="2200" y="279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9" name="Line 58"/>
              <p:cNvSpPr>
                <a:spLocks noChangeShapeType="1"/>
              </p:cNvSpPr>
              <p:nvPr/>
            </p:nvSpPr>
            <p:spPr bwMode="auto">
              <a:xfrm>
                <a:off x="2200" y="287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60" name="Line 59"/>
              <p:cNvSpPr>
                <a:spLocks noChangeShapeType="1"/>
              </p:cNvSpPr>
              <p:nvPr/>
            </p:nvSpPr>
            <p:spPr bwMode="auto">
              <a:xfrm>
                <a:off x="2200" y="296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61" name="Line 60"/>
              <p:cNvSpPr>
                <a:spLocks noChangeShapeType="1"/>
              </p:cNvSpPr>
              <p:nvPr/>
            </p:nvSpPr>
            <p:spPr bwMode="auto">
              <a:xfrm>
                <a:off x="2200" y="305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62" name="Line 61"/>
              <p:cNvSpPr>
                <a:spLocks noChangeShapeType="1"/>
              </p:cNvSpPr>
              <p:nvPr/>
            </p:nvSpPr>
            <p:spPr bwMode="auto">
              <a:xfrm>
                <a:off x="2200" y="313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9530" name="Group 62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768" cy="1452"/>
            </a:xfrm>
          </p:grpSpPr>
          <p:sp>
            <p:nvSpPr>
              <p:cNvPr id="19531" name="Line 63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2" name="Line 64"/>
              <p:cNvSpPr>
                <a:spLocks noChangeShapeType="1"/>
              </p:cNvSpPr>
              <p:nvPr/>
            </p:nvSpPr>
            <p:spPr bwMode="auto">
              <a:xfrm>
                <a:off x="233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3" name="Line 65"/>
              <p:cNvSpPr>
                <a:spLocks noChangeShapeType="1"/>
              </p:cNvSpPr>
              <p:nvPr/>
            </p:nvSpPr>
            <p:spPr bwMode="auto">
              <a:xfrm>
                <a:off x="247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4" name="Line 66"/>
              <p:cNvSpPr>
                <a:spLocks noChangeShapeType="1"/>
              </p:cNvSpPr>
              <p:nvPr/>
            </p:nvSpPr>
            <p:spPr bwMode="auto">
              <a:xfrm>
                <a:off x="260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5" name="Line 67"/>
              <p:cNvSpPr>
                <a:spLocks noChangeShapeType="1"/>
              </p:cNvSpPr>
              <p:nvPr/>
            </p:nvSpPr>
            <p:spPr bwMode="auto">
              <a:xfrm>
                <a:off x="274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6" name="Line 68"/>
              <p:cNvSpPr>
                <a:spLocks noChangeShapeType="1"/>
              </p:cNvSpPr>
              <p:nvPr/>
            </p:nvSpPr>
            <p:spPr bwMode="auto">
              <a:xfrm>
                <a:off x="288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7" name="Line 69"/>
              <p:cNvSpPr>
                <a:spLocks noChangeShapeType="1"/>
              </p:cNvSpPr>
              <p:nvPr/>
            </p:nvSpPr>
            <p:spPr bwMode="auto">
              <a:xfrm>
                <a:off x="301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8" name="Line 70"/>
              <p:cNvSpPr>
                <a:spLocks noChangeShapeType="1"/>
              </p:cNvSpPr>
              <p:nvPr/>
            </p:nvSpPr>
            <p:spPr bwMode="auto">
              <a:xfrm>
                <a:off x="315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9" name="Line 71"/>
              <p:cNvSpPr>
                <a:spLocks noChangeShapeType="1"/>
              </p:cNvSpPr>
              <p:nvPr/>
            </p:nvSpPr>
            <p:spPr bwMode="auto">
              <a:xfrm>
                <a:off x="328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0" name="Line 72"/>
              <p:cNvSpPr>
                <a:spLocks noChangeShapeType="1"/>
              </p:cNvSpPr>
              <p:nvPr/>
            </p:nvSpPr>
            <p:spPr bwMode="auto">
              <a:xfrm>
                <a:off x="342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1" name="Line 73"/>
              <p:cNvSpPr>
                <a:spLocks noChangeShapeType="1"/>
              </p:cNvSpPr>
              <p:nvPr/>
            </p:nvSpPr>
            <p:spPr bwMode="auto">
              <a:xfrm>
                <a:off x="356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2" name="Line 74"/>
              <p:cNvSpPr>
                <a:spLocks noChangeShapeType="1"/>
              </p:cNvSpPr>
              <p:nvPr/>
            </p:nvSpPr>
            <p:spPr bwMode="auto">
              <a:xfrm>
                <a:off x="369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3" name="Line 75"/>
              <p:cNvSpPr>
                <a:spLocks noChangeShapeType="1"/>
              </p:cNvSpPr>
              <p:nvPr/>
            </p:nvSpPr>
            <p:spPr bwMode="auto">
              <a:xfrm>
                <a:off x="383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4" name="Line 76"/>
              <p:cNvSpPr>
                <a:spLocks noChangeShapeType="1"/>
              </p:cNvSpPr>
              <p:nvPr/>
            </p:nvSpPr>
            <p:spPr bwMode="auto">
              <a:xfrm>
                <a:off x="396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71086" name="Rectangle 78"/>
          <p:cNvSpPr>
            <a:spLocks noChangeArrowheads="1"/>
          </p:cNvSpPr>
          <p:nvPr/>
        </p:nvSpPr>
        <p:spPr bwMode="auto">
          <a:xfrm>
            <a:off x="1172042" y="2995613"/>
            <a:ext cx="142875" cy="142875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19472" name="Text Box 4"/>
          <p:cNvSpPr txBox="1">
            <a:spLocks noChangeArrowheads="1"/>
          </p:cNvSpPr>
          <p:nvPr/>
        </p:nvSpPr>
        <p:spPr bwMode="auto">
          <a:xfrm>
            <a:off x="755650" y="1484313"/>
            <a:ext cx="770478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ideia é semelhante da amostragem sistemática mas, nesse caso, tenta-se </a:t>
            </a:r>
            <a:r>
              <a:rPr lang="pt-BR" altLang="pt-BR" sz="1600" dirty="0" err="1">
                <a:latin typeface="Tahoma" panose="020B0604030504040204" pitchFamily="34" charset="0"/>
              </a:rPr>
              <a:t>aleatorizar</a:t>
            </a:r>
            <a:r>
              <a:rPr lang="pt-BR" altLang="pt-BR" sz="1600" dirty="0">
                <a:latin typeface="Tahoma" panose="020B0604030504040204" pitchFamily="34" charset="0"/>
              </a:rPr>
              <a:t> os passos de modo a desalinhar as amostras sorteadas.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515E9C-E1FF-4BAC-AA05-8B2692C9E5AC}" type="slidenum">
              <a:rPr lang="pt-BR"/>
              <a:pPr>
                <a:defRPr/>
              </a:pPr>
              <a:t>18</a:t>
            </a:fld>
            <a:endParaRPr lang="pt-BR"/>
          </a:p>
        </p:txBody>
      </p:sp>
      <p:grpSp>
        <p:nvGrpSpPr>
          <p:cNvPr id="4" name="Grupo 3"/>
          <p:cNvGrpSpPr/>
          <p:nvPr/>
        </p:nvGrpSpPr>
        <p:grpSpPr>
          <a:xfrm>
            <a:off x="1175083" y="2999690"/>
            <a:ext cx="1527285" cy="1792218"/>
            <a:chOff x="1175083" y="2999690"/>
            <a:chExt cx="1527285" cy="1792218"/>
          </a:xfrm>
        </p:grpSpPr>
        <p:grpSp>
          <p:nvGrpSpPr>
            <p:cNvPr id="161" name="Grupo 243"/>
            <p:cNvGrpSpPr>
              <a:grpSpLocks/>
            </p:cNvGrpSpPr>
            <p:nvPr/>
          </p:nvGrpSpPr>
          <p:grpSpPr bwMode="auto">
            <a:xfrm>
              <a:off x="1868931" y="2999690"/>
              <a:ext cx="833437" cy="143048"/>
              <a:chOff x="598843" y="4250311"/>
              <a:chExt cx="834171" cy="142883"/>
            </a:xfrm>
          </p:grpSpPr>
          <p:sp>
            <p:nvSpPr>
              <p:cNvPr id="162" name="Rectangle 79"/>
              <p:cNvSpPr>
                <a:spLocks noChangeArrowheads="1"/>
              </p:cNvSpPr>
              <p:nvPr/>
            </p:nvSpPr>
            <p:spPr bwMode="auto">
              <a:xfrm>
                <a:off x="598843" y="4250311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3" name="Rectangle 86"/>
              <p:cNvSpPr>
                <a:spLocks noChangeArrowheads="1"/>
              </p:cNvSpPr>
              <p:nvPr/>
            </p:nvSpPr>
            <p:spPr bwMode="auto">
              <a:xfrm>
                <a:off x="1290139" y="425031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64" name="Grupo 244"/>
            <p:cNvGrpSpPr>
              <a:grpSpLocks/>
            </p:cNvGrpSpPr>
            <p:nvPr/>
          </p:nvGrpSpPr>
          <p:grpSpPr bwMode="auto">
            <a:xfrm>
              <a:off x="1175083" y="3545720"/>
              <a:ext cx="142909" cy="1246188"/>
              <a:chOff x="1389958" y="4787900"/>
              <a:chExt cx="142879" cy="1246188"/>
            </a:xfrm>
          </p:grpSpPr>
          <p:sp>
            <p:nvSpPr>
              <p:cNvPr id="165" name="Rectangle 81"/>
              <p:cNvSpPr>
                <a:spLocks noChangeArrowheads="1"/>
              </p:cNvSpPr>
              <p:nvPr/>
            </p:nvSpPr>
            <p:spPr bwMode="auto">
              <a:xfrm>
                <a:off x="1389962" y="4787900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6" name="Rectangle 82"/>
              <p:cNvSpPr>
                <a:spLocks noChangeArrowheads="1"/>
              </p:cNvSpPr>
              <p:nvPr/>
            </p:nvSpPr>
            <p:spPr bwMode="auto">
              <a:xfrm>
                <a:off x="1389958" y="5891213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7" name="Rectangle 85"/>
              <p:cNvSpPr>
                <a:spLocks noChangeArrowheads="1"/>
              </p:cNvSpPr>
              <p:nvPr/>
            </p:nvSpPr>
            <p:spPr bwMode="auto">
              <a:xfrm>
                <a:off x="1389961" y="5340350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68" name="Rectangle 91"/>
          <p:cNvSpPr>
            <a:spLocks noChangeArrowheads="1"/>
          </p:cNvSpPr>
          <p:nvPr/>
        </p:nvSpPr>
        <p:spPr bwMode="auto">
          <a:xfrm>
            <a:off x="2945186" y="2722563"/>
            <a:ext cx="5803278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etapas: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definir o passo (ou os passos em x e em y)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escolher aleatoriamente um elemento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com base nesse elemento, identificar os elementos da mesma linha e mesma coluna de acordo com o passo pré-definido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desalinhar aleatoriamente esses elementos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utilizar esses novos posicionamentos para identificar os demais elementos</a:t>
            </a:r>
          </a:p>
        </p:txBody>
      </p:sp>
      <p:sp>
        <p:nvSpPr>
          <p:cNvPr id="169" name="Retângulo 168"/>
          <p:cNvSpPr/>
          <p:nvPr/>
        </p:nvSpPr>
        <p:spPr>
          <a:xfrm rot="16200000">
            <a:off x="-333014" y="3741975"/>
            <a:ext cx="214353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400" dirty="0">
                <a:latin typeface="Tahoma" panose="020B0604030504040204" pitchFamily="34" charset="0"/>
              </a:rPr>
              <a:t>passos: 5 em x e 4 em y</a:t>
            </a:r>
          </a:p>
        </p:txBody>
      </p:sp>
      <p:grpSp>
        <p:nvGrpSpPr>
          <p:cNvPr id="48" name="Agrupar 47">
            <a:extLst>
              <a:ext uri="{FF2B5EF4-FFF2-40B4-BE49-F238E27FC236}">
                <a16:creationId xmlns:a16="http://schemas.microsoft.com/office/drawing/2014/main" id="{5C80DB1E-4FB8-1446-4755-7149F975CAA7}"/>
              </a:ext>
            </a:extLst>
          </p:cNvPr>
          <p:cNvGrpSpPr/>
          <p:nvPr/>
        </p:nvGrpSpPr>
        <p:grpSpPr>
          <a:xfrm>
            <a:off x="892643" y="2722560"/>
            <a:ext cx="1808161" cy="2343153"/>
            <a:chOff x="892643" y="2722560"/>
            <a:chExt cx="1808161" cy="2343153"/>
          </a:xfrm>
        </p:grpSpPr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B23E6085-A568-FF24-06A5-54840D3E197D}"/>
                </a:ext>
              </a:extLst>
            </p:cNvPr>
            <p:cNvSpPr/>
            <p:nvPr/>
          </p:nvSpPr>
          <p:spPr bwMode="auto">
            <a:xfrm>
              <a:off x="892643" y="2722560"/>
              <a:ext cx="1804986" cy="2335213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</a:endParaRPr>
            </a:p>
          </p:txBody>
        </p:sp>
        <p:grpSp>
          <p:nvGrpSpPr>
            <p:cNvPr id="50" name="Group 42">
              <a:extLst>
                <a:ext uri="{FF2B5EF4-FFF2-40B4-BE49-F238E27FC236}">
                  <a16:creationId xmlns:a16="http://schemas.microsoft.com/office/drawing/2014/main" id="{A6C73FBF-108B-736F-6579-5F385AAFE5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97404" y="2722563"/>
              <a:ext cx="1800225" cy="2343150"/>
              <a:chOff x="2200" y="1661"/>
              <a:chExt cx="1134" cy="1476"/>
            </a:xfrm>
          </p:grpSpPr>
          <p:grpSp>
            <p:nvGrpSpPr>
              <p:cNvPr id="59" name="Group 43">
                <a:extLst>
                  <a:ext uri="{FF2B5EF4-FFF2-40B4-BE49-F238E27FC236}">
                    <a16:creationId xmlns:a16="http://schemas.microsoft.com/office/drawing/2014/main" id="{18D738B0-A33C-1F30-316C-2DB9A20AB29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134" cy="1476"/>
              </a:xfrm>
            </p:grpSpPr>
            <p:sp>
              <p:nvSpPr>
                <p:cNvPr id="139" name="Line 44">
                  <a:extLst>
                    <a:ext uri="{FF2B5EF4-FFF2-40B4-BE49-F238E27FC236}">
                      <a16:creationId xmlns:a16="http://schemas.microsoft.com/office/drawing/2014/main" id="{ED36D90C-A3D0-AF28-0F53-7D6BDD6153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0" name="Line 45">
                  <a:extLst>
                    <a:ext uri="{FF2B5EF4-FFF2-40B4-BE49-F238E27FC236}">
                      <a16:creationId xmlns:a16="http://schemas.microsoft.com/office/drawing/2014/main" id="{07906DE2-D33F-B78C-CFE1-01BA02C9F57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174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1" name="Line 46">
                  <a:extLst>
                    <a:ext uri="{FF2B5EF4-FFF2-40B4-BE49-F238E27FC236}">
                      <a16:creationId xmlns:a16="http://schemas.microsoft.com/office/drawing/2014/main" id="{566DE882-A3AE-D01F-BC60-6E014859440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183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2" name="Line 47">
                  <a:extLst>
                    <a:ext uri="{FF2B5EF4-FFF2-40B4-BE49-F238E27FC236}">
                      <a16:creationId xmlns:a16="http://schemas.microsoft.com/office/drawing/2014/main" id="{028743E3-1E2D-2F78-D875-1EC1757504D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192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3" name="Line 48">
                  <a:extLst>
                    <a:ext uri="{FF2B5EF4-FFF2-40B4-BE49-F238E27FC236}">
                      <a16:creationId xmlns:a16="http://schemas.microsoft.com/office/drawing/2014/main" id="{4D6FA989-BECD-F2B5-7666-DBCA516FC0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00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4" name="Line 49">
                  <a:extLst>
                    <a:ext uri="{FF2B5EF4-FFF2-40B4-BE49-F238E27FC236}">
                      <a16:creationId xmlns:a16="http://schemas.microsoft.com/office/drawing/2014/main" id="{3F887608-126E-ED82-E1DC-4E5DD23779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09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5" name="Line 50">
                  <a:extLst>
                    <a:ext uri="{FF2B5EF4-FFF2-40B4-BE49-F238E27FC236}">
                      <a16:creationId xmlns:a16="http://schemas.microsoft.com/office/drawing/2014/main" id="{9F6DCE91-134E-97FD-E741-EC3346F4B97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18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6" name="Line 51">
                  <a:extLst>
                    <a:ext uri="{FF2B5EF4-FFF2-40B4-BE49-F238E27FC236}">
                      <a16:creationId xmlns:a16="http://schemas.microsoft.com/office/drawing/2014/main" id="{CF5379E1-54F7-3FE8-D7DA-D50A20CE6A8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26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7" name="Line 52">
                  <a:extLst>
                    <a:ext uri="{FF2B5EF4-FFF2-40B4-BE49-F238E27FC236}">
                      <a16:creationId xmlns:a16="http://schemas.microsoft.com/office/drawing/2014/main" id="{1A15291C-361B-B9F7-D2C1-808F9BED968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35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8" name="Line 53">
                  <a:extLst>
                    <a:ext uri="{FF2B5EF4-FFF2-40B4-BE49-F238E27FC236}">
                      <a16:creationId xmlns:a16="http://schemas.microsoft.com/office/drawing/2014/main" id="{E77766AD-81D3-F0B1-9693-6BEC33604A4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44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9" name="Line 54">
                  <a:extLst>
                    <a:ext uri="{FF2B5EF4-FFF2-40B4-BE49-F238E27FC236}">
                      <a16:creationId xmlns:a16="http://schemas.microsoft.com/office/drawing/2014/main" id="{9D64F545-2BD3-E7C4-E58C-C5C4BF80E7B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52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0" name="Line 55">
                  <a:extLst>
                    <a:ext uri="{FF2B5EF4-FFF2-40B4-BE49-F238E27FC236}">
                      <a16:creationId xmlns:a16="http://schemas.microsoft.com/office/drawing/2014/main" id="{DD8C6916-A6D8-1012-1FA0-273EFD0C7D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61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1" name="Line 56">
                  <a:extLst>
                    <a:ext uri="{FF2B5EF4-FFF2-40B4-BE49-F238E27FC236}">
                      <a16:creationId xmlns:a16="http://schemas.microsoft.com/office/drawing/2014/main" id="{02E9042D-5905-4C3B-D3E1-09EE10174E5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70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2" name="Line 57">
                  <a:extLst>
                    <a:ext uri="{FF2B5EF4-FFF2-40B4-BE49-F238E27FC236}">
                      <a16:creationId xmlns:a16="http://schemas.microsoft.com/office/drawing/2014/main" id="{C134F366-F259-9227-4323-29E88727E0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79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3" name="Line 58">
                  <a:extLst>
                    <a:ext uri="{FF2B5EF4-FFF2-40B4-BE49-F238E27FC236}">
                      <a16:creationId xmlns:a16="http://schemas.microsoft.com/office/drawing/2014/main" id="{E50C1291-683E-09C8-6EEE-1674285EDD7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87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4" name="Line 59">
                  <a:extLst>
                    <a:ext uri="{FF2B5EF4-FFF2-40B4-BE49-F238E27FC236}">
                      <a16:creationId xmlns:a16="http://schemas.microsoft.com/office/drawing/2014/main" id="{07448FA5-BFA2-2058-E1F3-55D2C63EFF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96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5" name="Line 60">
                  <a:extLst>
                    <a:ext uri="{FF2B5EF4-FFF2-40B4-BE49-F238E27FC236}">
                      <a16:creationId xmlns:a16="http://schemas.microsoft.com/office/drawing/2014/main" id="{B8137C82-2960-F02A-A15C-64AA8FBF974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305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6" name="Line 61">
                  <a:extLst>
                    <a:ext uri="{FF2B5EF4-FFF2-40B4-BE49-F238E27FC236}">
                      <a16:creationId xmlns:a16="http://schemas.microsoft.com/office/drawing/2014/main" id="{845443D9-2EDC-1D3A-FD5B-1D1BA5FA5B5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313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60" name="Group 62">
                <a:extLst>
                  <a:ext uri="{FF2B5EF4-FFF2-40B4-BE49-F238E27FC236}">
                    <a16:creationId xmlns:a16="http://schemas.microsoft.com/office/drawing/2014/main" id="{2FD8DCAB-1F4C-96D5-A2FF-4B4E4E362AA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768" cy="1452"/>
              </a:xfrm>
            </p:grpSpPr>
            <p:sp>
              <p:nvSpPr>
                <p:cNvPr id="61" name="Line 63">
                  <a:extLst>
                    <a:ext uri="{FF2B5EF4-FFF2-40B4-BE49-F238E27FC236}">
                      <a16:creationId xmlns:a16="http://schemas.microsoft.com/office/drawing/2014/main" id="{E971CE27-F169-D807-4D21-38FA4321466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2" name="Line 64">
                  <a:extLst>
                    <a:ext uri="{FF2B5EF4-FFF2-40B4-BE49-F238E27FC236}">
                      <a16:creationId xmlns:a16="http://schemas.microsoft.com/office/drawing/2014/main" id="{C2B43E9A-2C1E-7F6A-317F-1645F180DDA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3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3" name="Line 65">
                  <a:extLst>
                    <a:ext uri="{FF2B5EF4-FFF2-40B4-BE49-F238E27FC236}">
                      <a16:creationId xmlns:a16="http://schemas.microsoft.com/office/drawing/2014/main" id="{343B49DE-1AB5-0C60-BF53-176F9BD1D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7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8" name="Line 66">
                  <a:extLst>
                    <a:ext uri="{FF2B5EF4-FFF2-40B4-BE49-F238E27FC236}">
                      <a16:creationId xmlns:a16="http://schemas.microsoft.com/office/drawing/2014/main" id="{9A4E6FDB-EEC5-3120-1A09-8198C47430D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60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9" name="Line 67">
                  <a:extLst>
                    <a:ext uri="{FF2B5EF4-FFF2-40B4-BE49-F238E27FC236}">
                      <a16:creationId xmlns:a16="http://schemas.microsoft.com/office/drawing/2014/main" id="{BA1663C1-5EFA-27B2-3455-0A10AD78D31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74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0" name="Line 68">
                  <a:extLst>
                    <a:ext uri="{FF2B5EF4-FFF2-40B4-BE49-F238E27FC236}">
                      <a16:creationId xmlns:a16="http://schemas.microsoft.com/office/drawing/2014/main" id="{48B4AEBA-23EC-A63B-17E1-7275AB72EC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1" name="Line 69">
                  <a:extLst>
                    <a:ext uri="{FF2B5EF4-FFF2-40B4-BE49-F238E27FC236}">
                      <a16:creationId xmlns:a16="http://schemas.microsoft.com/office/drawing/2014/main" id="{2447BCE6-9A84-1DC1-AD4B-1FB3CCFEAA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1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2" name="Line 70">
                  <a:extLst>
                    <a:ext uri="{FF2B5EF4-FFF2-40B4-BE49-F238E27FC236}">
                      <a16:creationId xmlns:a16="http://schemas.microsoft.com/office/drawing/2014/main" id="{5F0982E3-494A-D0C9-DC1E-A2EF04B2521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5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3" name="Line 71">
                  <a:extLst>
                    <a:ext uri="{FF2B5EF4-FFF2-40B4-BE49-F238E27FC236}">
                      <a16:creationId xmlns:a16="http://schemas.microsoft.com/office/drawing/2014/main" id="{8ACBD3FB-D3FF-6823-21A7-07DE8495B53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4" name="Line 72">
                  <a:extLst>
                    <a:ext uri="{FF2B5EF4-FFF2-40B4-BE49-F238E27FC236}">
                      <a16:creationId xmlns:a16="http://schemas.microsoft.com/office/drawing/2014/main" id="{26C1C4ED-E915-5A51-9D78-5824C2C95B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2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5" name="Line 73">
                  <a:extLst>
                    <a:ext uri="{FF2B5EF4-FFF2-40B4-BE49-F238E27FC236}">
                      <a16:creationId xmlns:a16="http://schemas.microsoft.com/office/drawing/2014/main" id="{675EB037-8B9D-2176-493C-2E64FFF167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6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6" name="Line 74">
                  <a:extLst>
                    <a:ext uri="{FF2B5EF4-FFF2-40B4-BE49-F238E27FC236}">
                      <a16:creationId xmlns:a16="http://schemas.microsoft.com/office/drawing/2014/main" id="{24F996D6-EF35-1DB4-5D2C-EBE1D1C347E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9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7" name="Line 75">
                  <a:extLst>
                    <a:ext uri="{FF2B5EF4-FFF2-40B4-BE49-F238E27FC236}">
                      <a16:creationId xmlns:a16="http://schemas.microsoft.com/office/drawing/2014/main" id="{4E7AA041-43BF-9DE1-57B2-FE4E3139713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83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8" name="Line 76">
                  <a:extLst>
                    <a:ext uri="{FF2B5EF4-FFF2-40B4-BE49-F238E27FC236}">
                      <a16:creationId xmlns:a16="http://schemas.microsoft.com/office/drawing/2014/main" id="{D655EB75-2D1A-5C23-BA42-E72976FE214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6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51" name="Rectangle 78">
              <a:extLst>
                <a:ext uri="{FF2B5EF4-FFF2-40B4-BE49-F238E27FC236}">
                  <a16:creationId xmlns:a16="http://schemas.microsoft.com/office/drawing/2014/main" id="{8B8F63F3-4C20-6D07-D22E-EAB2C396F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042" y="2995613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grpSp>
          <p:nvGrpSpPr>
            <p:cNvPr id="52" name="Grupo 244">
              <a:extLst>
                <a:ext uri="{FF2B5EF4-FFF2-40B4-BE49-F238E27FC236}">
                  <a16:creationId xmlns:a16="http://schemas.microsoft.com/office/drawing/2014/main" id="{CEDD1E27-7D08-E7A4-2C30-377430A179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37104" y="3544888"/>
              <a:ext cx="558800" cy="1246188"/>
              <a:chOff x="1182056" y="4787900"/>
              <a:chExt cx="558686" cy="1246188"/>
            </a:xfrm>
          </p:grpSpPr>
          <p:sp>
            <p:nvSpPr>
              <p:cNvPr id="56" name="Rectangle 81">
                <a:extLst>
                  <a:ext uri="{FF2B5EF4-FFF2-40B4-BE49-F238E27FC236}">
                    <a16:creationId xmlns:a16="http://schemas.microsoft.com/office/drawing/2014/main" id="{70E99D1A-1B6F-A6D5-EE39-C79A8A7CC6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82056" y="4787900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7" name="Rectangle 82">
                <a:extLst>
                  <a:ext uri="{FF2B5EF4-FFF2-40B4-BE49-F238E27FC236}">
                    <a16:creationId xmlns:a16="http://schemas.microsoft.com/office/drawing/2014/main" id="{3ADA3545-D9F1-CFC8-19AF-46AA037F02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19900" y="5891213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8" name="Rectangle 85">
                <a:extLst>
                  <a:ext uri="{FF2B5EF4-FFF2-40B4-BE49-F238E27FC236}">
                    <a16:creationId xmlns:a16="http://schemas.microsoft.com/office/drawing/2014/main" id="{6047E0FC-6E7F-073F-134F-476F8CD244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97867" y="5340350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53" name="Grupo 243">
              <a:extLst>
                <a:ext uri="{FF2B5EF4-FFF2-40B4-BE49-F238E27FC236}">
                  <a16:creationId xmlns:a16="http://schemas.microsoft.com/office/drawing/2014/main" id="{5ED952A1-D2B8-2138-D015-501A180F13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67367" y="2722563"/>
              <a:ext cx="833437" cy="277813"/>
              <a:chOff x="2012950" y="3965774"/>
              <a:chExt cx="834171" cy="277493"/>
            </a:xfrm>
          </p:grpSpPr>
          <p:sp>
            <p:nvSpPr>
              <p:cNvPr id="54" name="Rectangle 79">
                <a:extLst>
                  <a:ext uri="{FF2B5EF4-FFF2-40B4-BE49-F238E27FC236}">
                    <a16:creationId xmlns:a16="http://schemas.microsoft.com/office/drawing/2014/main" id="{DFDD3E18-05F1-E838-B144-EBE9E47A16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12950" y="3965774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Rectangle 86">
                <a:extLst>
                  <a:ext uri="{FF2B5EF4-FFF2-40B4-BE49-F238E27FC236}">
                    <a16:creationId xmlns:a16="http://schemas.microsoft.com/office/drawing/2014/main" id="{6806F84F-42B7-DA1E-7862-2324076BF6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04246" y="4100392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157" name="Grupo 2">
            <a:extLst>
              <a:ext uri="{FF2B5EF4-FFF2-40B4-BE49-F238E27FC236}">
                <a16:creationId xmlns:a16="http://schemas.microsoft.com/office/drawing/2014/main" id="{E3BE4615-B81A-FB8B-C9B2-2A19E393EDCE}"/>
              </a:ext>
            </a:extLst>
          </p:cNvPr>
          <p:cNvGrpSpPr>
            <a:grpSpLocks/>
          </p:cNvGrpSpPr>
          <p:nvPr/>
        </p:nvGrpSpPr>
        <p:grpSpPr bwMode="auto">
          <a:xfrm>
            <a:off x="1729254" y="3273426"/>
            <a:ext cx="973138" cy="1800225"/>
            <a:chOff x="1664197" y="4516438"/>
            <a:chExt cx="973137" cy="1800308"/>
          </a:xfrm>
        </p:grpSpPr>
        <p:sp>
          <p:nvSpPr>
            <p:cNvPr id="158" name="Rectangle 80">
              <a:extLst>
                <a:ext uri="{FF2B5EF4-FFF2-40B4-BE49-F238E27FC236}">
                  <a16:creationId xmlns:a16="http://schemas.microsoft.com/office/drawing/2014/main" id="{E2B58A27-B4EF-EEA4-EE63-5A166266AF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64197" y="4516438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59" name="Rectangle 84">
              <a:extLst>
                <a:ext uri="{FF2B5EF4-FFF2-40B4-BE49-F238E27FC236}">
                  <a16:creationId xmlns:a16="http://schemas.microsoft.com/office/drawing/2014/main" id="{5F3518BC-94C5-38DE-167F-7839D532AA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6511" y="5067448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60" name="Rectangle 87">
              <a:extLst>
                <a:ext uri="{FF2B5EF4-FFF2-40B4-BE49-F238E27FC236}">
                  <a16:creationId xmlns:a16="http://schemas.microsoft.com/office/drawing/2014/main" id="{D8D36F58-651E-B27F-6CF9-64A51092BF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9136" y="4652628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70" name="Rectangle 89">
              <a:extLst>
                <a:ext uri="{FF2B5EF4-FFF2-40B4-BE49-F238E27FC236}">
                  <a16:creationId xmlns:a16="http://schemas.microsoft.com/office/drawing/2014/main" id="{C46C6EFB-5C8B-3C6B-3AA3-695DE1FC2D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98014" y="5620046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71" name="Rectangle 90">
              <a:extLst>
                <a:ext uri="{FF2B5EF4-FFF2-40B4-BE49-F238E27FC236}">
                  <a16:creationId xmlns:a16="http://schemas.microsoft.com/office/drawing/2014/main" id="{419D1A99-64D5-B2EE-7F7E-8504722DB5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94538" y="5756237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72" name="Rectangle 90">
              <a:extLst>
                <a:ext uri="{FF2B5EF4-FFF2-40B4-BE49-F238E27FC236}">
                  <a16:creationId xmlns:a16="http://schemas.microsoft.com/office/drawing/2014/main" id="{1A977772-216F-1CCD-A473-D5D981AF10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4685" y="6173833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086" grpId="0" animBg="1"/>
      <p:bldP spid="16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>
          <a:solidFill>
            <a:schemeClr val="bg1"/>
          </a:solidFill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Amostragem em Conglomerados (</a:t>
            </a:r>
            <a:r>
              <a:rPr lang="pt-BR" i="1" dirty="0"/>
              <a:t>Cluster</a:t>
            </a:r>
            <a:r>
              <a:rPr lang="pt-BR" dirty="0"/>
              <a:t>)</a:t>
            </a:r>
          </a:p>
        </p:txBody>
      </p:sp>
      <p:sp>
        <p:nvSpPr>
          <p:cNvPr id="168963" name="Text Box 3"/>
          <p:cNvSpPr txBox="1">
            <a:spLocks noChangeArrowheads="1"/>
          </p:cNvSpPr>
          <p:nvPr/>
        </p:nvSpPr>
        <p:spPr bwMode="auto">
          <a:xfrm>
            <a:off x="754062" y="1557338"/>
            <a:ext cx="838993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Nesta abordagem, a amostra é formada por um grupo de elementos próximos (cluster)</a:t>
            </a:r>
            <a:endParaRPr lang="pt-BR" altLang="pt-BR" sz="1600" dirty="0">
              <a:latin typeface="Times New Roman" charset="0"/>
            </a:endParaRPr>
          </a:p>
        </p:txBody>
      </p:sp>
      <p:grpSp>
        <p:nvGrpSpPr>
          <p:cNvPr id="2" name="Group 64"/>
          <p:cNvGrpSpPr>
            <a:grpSpLocks/>
          </p:cNvGrpSpPr>
          <p:nvPr/>
        </p:nvGrpSpPr>
        <p:grpSpPr bwMode="auto">
          <a:xfrm>
            <a:off x="3563888" y="2259819"/>
            <a:ext cx="1800225" cy="2343150"/>
            <a:chOff x="2200" y="1661"/>
            <a:chExt cx="1134" cy="1476"/>
          </a:xfrm>
        </p:grpSpPr>
        <p:grpSp>
          <p:nvGrpSpPr>
            <p:cNvPr id="16403" name="Group 63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134" cy="1476"/>
            </a:xfrm>
          </p:grpSpPr>
          <p:sp>
            <p:nvSpPr>
              <p:cNvPr id="16419" name="Line 35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0" name="Line 36"/>
              <p:cNvSpPr>
                <a:spLocks noChangeShapeType="1"/>
              </p:cNvSpPr>
              <p:nvPr/>
            </p:nvSpPr>
            <p:spPr bwMode="auto">
              <a:xfrm>
                <a:off x="2200" y="174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1" name="Line 37"/>
              <p:cNvSpPr>
                <a:spLocks noChangeShapeType="1"/>
              </p:cNvSpPr>
              <p:nvPr/>
            </p:nvSpPr>
            <p:spPr bwMode="auto">
              <a:xfrm>
                <a:off x="2200" y="183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2" name="Line 38"/>
              <p:cNvSpPr>
                <a:spLocks noChangeShapeType="1"/>
              </p:cNvSpPr>
              <p:nvPr/>
            </p:nvSpPr>
            <p:spPr bwMode="auto">
              <a:xfrm>
                <a:off x="2200" y="192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3" name="Line 39"/>
              <p:cNvSpPr>
                <a:spLocks noChangeShapeType="1"/>
              </p:cNvSpPr>
              <p:nvPr/>
            </p:nvSpPr>
            <p:spPr bwMode="auto">
              <a:xfrm>
                <a:off x="2200" y="200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4" name="Line 40"/>
              <p:cNvSpPr>
                <a:spLocks noChangeShapeType="1"/>
              </p:cNvSpPr>
              <p:nvPr/>
            </p:nvSpPr>
            <p:spPr bwMode="auto">
              <a:xfrm>
                <a:off x="2200" y="209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5" name="Line 41"/>
              <p:cNvSpPr>
                <a:spLocks noChangeShapeType="1"/>
              </p:cNvSpPr>
              <p:nvPr/>
            </p:nvSpPr>
            <p:spPr bwMode="auto">
              <a:xfrm>
                <a:off x="2200" y="218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6" name="Line 42"/>
              <p:cNvSpPr>
                <a:spLocks noChangeShapeType="1"/>
              </p:cNvSpPr>
              <p:nvPr/>
            </p:nvSpPr>
            <p:spPr bwMode="auto">
              <a:xfrm>
                <a:off x="2200" y="226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7" name="Line 43"/>
              <p:cNvSpPr>
                <a:spLocks noChangeShapeType="1"/>
              </p:cNvSpPr>
              <p:nvPr/>
            </p:nvSpPr>
            <p:spPr bwMode="auto">
              <a:xfrm>
                <a:off x="2200" y="235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8" name="Line 44"/>
              <p:cNvSpPr>
                <a:spLocks noChangeShapeType="1"/>
              </p:cNvSpPr>
              <p:nvPr/>
            </p:nvSpPr>
            <p:spPr bwMode="auto">
              <a:xfrm>
                <a:off x="2200" y="244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9" name="Line 45"/>
              <p:cNvSpPr>
                <a:spLocks noChangeShapeType="1"/>
              </p:cNvSpPr>
              <p:nvPr/>
            </p:nvSpPr>
            <p:spPr bwMode="auto">
              <a:xfrm>
                <a:off x="2200" y="252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0" name="Line 46"/>
              <p:cNvSpPr>
                <a:spLocks noChangeShapeType="1"/>
              </p:cNvSpPr>
              <p:nvPr/>
            </p:nvSpPr>
            <p:spPr bwMode="auto">
              <a:xfrm>
                <a:off x="2200" y="261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1" name="Line 51"/>
              <p:cNvSpPr>
                <a:spLocks noChangeShapeType="1"/>
              </p:cNvSpPr>
              <p:nvPr/>
            </p:nvSpPr>
            <p:spPr bwMode="auto">
              <a:xfrm>
                <a:off x="2200" y="270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2" name="Line 52"/>
              <p:cNvSpPr>
                <a:spLocks noChangeShapeType="1"/>
              </p:cNvSpPr>
              <p:nvPr/>
            </p:nvSpPr>
            <p:spPr bwMode="auto">
              <a:xfrm>
                <a:off x="2200" y="279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3" name="Line 53"/>
              <p:cNvSpPr>
                <a:spLocks noChangeShapeType="1"/>
              </p:cNvSpPr>
              <p:nvPr/>
            </p:nvSpPr>
            <p:spPr bwMode="auto">
              <a:xfrm>
                <a:off x="2200" y="287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4" name="Line 54"/>
              <p:cNvSpPr>
                <a:spLocks noChangeShapeType="1"/>
              </p:cNvSpPr>
              <p:nvPr/>
            </p:nvSpPr>
            <p:spPr bwMode="auto">
              <a:xfrm>
                <a:off x="2200" y="296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5" name="Line 55"/>
              <p:cNvSpPr>
                <a:spLocks noChangeShapeType="1"/>
              </p:cNvSpPr>
              <p:nvPr/>
            </p:nvSpPr>
            <p:spPr bwMode="auto">
              <a:xfrm>
                <a:off x="2200" y="305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6" name="Line 56"/>
              <p:cNvSpPr>
                <a:spLocks noChangeShapeType="1"/>
              </p:cNvSpPr>
              <p:nvPr/>
            </p:nvSpPr>
            <p:spPr bwMode="auto">
              <a:xfrm>
                <a:off x="2200" y="313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6404" name="Group 47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768" cy="1452"/>
            </a:xfrm>
          </p:grpSpPr>
          <p:sp>
            <p:nvSpPr>
              <p:cNvPr id="16405" name="Line 21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6" name="Line 22"/>
              <p:cNvSpPr>
                <a:spLocks noChangeShapeType="1"/>
              </p:cNvSpPr>
              <p:nvPr/>
            </p:nvSpPr>
            <p:spPr bwMode="auto">
              <a:xfrm>
                <a:off x="233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7" name="Line 23"/>
              <p:cNvSpPr>
                <a:spLocks noChangeShapeType="1"/>
              </p:cNvSpPr>
              <p:nvPr/>
            </p:nvSpPr>
            <p:spPr bwMode="auto">
              <a:xfrm>
                <a:off x="247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8" name="Line 24"/>
              <p:cNvSpPr>
                <a:spLocks noChangeShapeType="1"/>
              </p:cNvSpPr>
              <p:nvPr/>
            </p:nvSpPr>
            <p:spPr bwMode="auto">
              <a:xfrm>
                <a:off x="260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9" name="Line 25"/>
              <p:cNvSpPr>
                <a:spLocks noChangeShapeType="1"/>
              </p:cNvSpPr>
              <p:nvPr/>
            </p:nvSpPr>
            <p:spPr bwMode="auto">
              <a:xfrm>
                <a:off x="274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0" name="Line 26"/>
              <p:cNvSpPr>
                <a:spLocks noChangeShapeType="1"/>
              </p:cNvSpPr>
              <p:nvPr/>
            </p:nvSpPr>
            <p:spPr bwMode="auto">
              <a:xfrm>
                <a:off x="288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1" name="Line 27"/>
              <p:cNvSpPr>
                <a:spLocks noChangeShapeType="1"/>
              </p:cNvSpPr>
              <p:nvPr/>
            </p:nvSpPr>
            <p:spPr bwMode="auto">
              <a:xfrm>
                <a:off x="301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2" name="Line 28"/>
              <p:cNvSpPr>
                <a:spLocks noChangeShapeType="1"/>
              </p:cNvSpPr>
              <p:nvPr/>
            </p:nvSpPr>
            <p:spPr bwMode="auto">
              <a:xfrm>
                <a:off x="315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3" name="Line 29"/>
              <p:cNvSpPr>
                <a:spLocks noChangeShapeType="1"/>
              </p:cNvSpPr>
              <p:nvPr/>
            </p:nvSpPr>
            <p:spPr bwMode="auto">
              <a:xfrm>
                <a:off x="328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4" name="Line 30"/>
              <p:cNvSpPr>
                <a:spLocks noChangeShapeType="1"/>
              </p:cNvSpPr>
              <p:nvPr/>
            </p:nvSpPr>
            <p:spPr bwMode="auto">
              <a:xfrm>
                <a:off x="342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5" name="Line 31"/>
              <p:cNvSpPr>
                <a:spLocks noChangeShapeType="1"/>
              </p:cNvSpPr>
              <p:nvPr/>
            </p:nvSpPr>
            <p:spPr bwMode="auto">
              <a:xfrm>
                <a:off x="356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6" name="Line 32"/>
              <p:cNvSpPr>
                <a:spLocks noChangeShapeType="1"/>
              </p:cNvSpPr>
              <p:nvPr/>
            </p:nvSpPr>
            <p:spPr bwMode="auto">
              <a:xfrm>
                <a:off x="369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7" name="Line 33"/>
              <p:cNvSpPr>
                <a:spLocks noChangeShapeType="1"/>
              </p:cNvSpPr>
              <p:nvPr/>
            </p:nvSpPr>
            <p:spPr bwMode="auto">
              <a:xfrm>
                <a:off x="383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8" name="Line 34"/>
              <p:cNvSpPr>
                <a:spLocks noChangeShapeType="1"/>
              </p:cNvSpPr>
              <p:nvPr/>
            </p:nvSpPr>
            <p:spPr bwMode="auto">
              <a:xfrm>
                <a:off x="396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1218B3-0CC0-431D-AA64-2A3E6AB64835}" type="slidenum">
              <a:rPr lang="pt-BR"/>
              <a:pPr>
                <a:defRPr/>
              </a:pPr>
              <a:t>19</a:t>
            </a:fld>
            <a:endParaRPr lang="pt-BR"/>
          </a:p>
        </p:txBody>
      </p:sp>
      <p:sp>
        <p:nvSpPr>
          <p:cNvPr id="102" name="Rectangle 91"/>
          <p:cNvSpPr>
            <a:spLocks noChangeArrowheads="1"/>
          </p:cNvSpPr>
          <p:nvPr/>
        </p:nvSpPr>
        <p:spPr bwMode="auto">
          <a:xfrm>
            <a:off x="5638778" y="2204864"/>
            <a:ext cx="3325710" cy="206210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etapas: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definir critério de proximidade (raio ou janela)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sortear aleatoriamente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posições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identificar os elementos que atendam o critério de proximidade</a:t>
            </a:r>
          </a:p>
        </p:txBody>
      </p:sp>
      <p:sp>
        <p:nvSpPr>
          <p:cNvPr id="127" name="Rectangle 92"/>
          <p:cNvSpPr>
            <a:spLocks noChangeArrowheads="1"/>
          </p:cNvSpPr>
          <p:nvPr/>
        </p:nvSpPr>
        <p:spPr bwMode="auto">
          <a:xfrm>
            <a:off x="843148" y="5373216"/>
            <a:ext cx="7473268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l" defTabSz="5365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536575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536575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536575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536575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	simplifica a coleta de dados das amostras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cada elemento do conglomerado constitui uma unidade amostral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diminui os custos da amostragem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pode reduzir a precisão na estimação devido a autocorrelação espacial</a:t>
            </a:r>
          </a:p>
        </p:txBody>
      </p:sp>
      <p:grpSp>
        <p:nvGrpSpPr>
          <p:cNvPr id="6" name="Grupo 5"/>
          <p:cNvGrpSpPr/>
          <p:nvPr/>
        </p:nvGrpSpPr>
        <p:grpSpPr>
          <a:xfrm>
            <a:off x="843146" y="2259819"/>
            <a:ext cx="1800000" cy="2343150"/>
            <a:chOff x="843146" y="2814042"/>
            <a:chExt cx="1800000" cy="2343150"/>
          </a:xfrm>
        </p:grpSpPr>
        <p:sp>
          <p:nvSpPr>
            <p:cNvPr id="4" name="Retângulo 3"/>
            <p:cNvSpPr/>
            <p:nvPr/>
          </p:nvSpPr>
          <p:spPr bwMode="auto">
            <a:xfrm>
              <a:off x="843146" y="2814042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Elipse 6"/>
            <p:cNvSpPr/>
            <p:nvPr/>
          </p:nvSpPr>
          <p:spPr bwMode="auto">
            <a:xfrm>
              <a:off x="1061827" y="334861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6" name="Elipse 65"/>
            <p:cNvSpPr/>
            <p:nvPr/>
          </p:nvSpPr>
          <p:spPr bwMode="auto">
            <a:xfrm>
              <a:off x="1349867" y="350101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7" name="Elipse 66"/>
            <p:cNvSpPr/>
            <p:nvPr/>
          </p:nvSpPr>
          <p:spPr bwMode="auto">
            <a:xfrm>
              <a:off x="1571618" y="371704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8" name="Elipse 67"/>
            <p:cNvSpPr/>
            <p:nvPr/>
          </p:nvSpPr>
          <p:spPr bwMode="auto">
            <a:xfrm>
              <a:off x="1203186" y="400507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9" name="Elipse 68"/>
            <p:cNvSpPr/>
            <p:nvPr/>
          </p:nvSpPr>
          <p:spPr bwMode="auto">
            <a:xfrm>
              <a:off x="1563234" y="422109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0" name="Elipse 69"/>
            <p:cNvSpPr/>
            <p:nvPr/>
          </p:nvSpPr>
          <p:spPr bwMode="auto">
            <a:xfrm>
              <a:off x="1131178" y="458113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1" name="Elipse 70"/>
            <p:cNvSpPr/>
            <p:nvPr/>
          </p:nvSpPr>
          <p:spPr bwMode="auto">
            <a:xfrm>
              <a:off x="1491226" y="473353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2" name="Elipse 71"/>
            <p:cNvSpPr/>
            <p:nvPr/>
          </p:nvSpPr>
          <p:spPr bwMode="auto">
            <a:xfrm>
              <a:off x="1835696" y="488593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3" name="Elipse 72"/>
            <p:cNvSpPr/>
            <p:nvPr/>
          </p:nvSpPr>
          <p:spPr bwMode="auto">
            <a:xfrm>
              <a:off x="2003666" y="45811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4" name="Elipse 73"/>
            <p:cNvSpPr/>
            <p:nvPr/>
          </p:nvSpPr>
          <p:spPr bwMode="auto">
            <a:xfrm>
              <a:off x="2156066" y="494117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5" name="Elipse 74"/>
            <p:cNvSpPr/>
            <p:nvPr/>
          </p:nvSpPr>
          <p:spPr bwMode="auto">
            <a:xfrm>
              <a:off x="2228984" y="4813965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6" name="Elipse 75"/>
            <p:cNvSpPr/>
            <p:nvPr/>
          </p:nvSpPr>
          <p:spPr bwMode="auto">
            <a:xfrm>
              <a:off x="1967666" y="395040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7" name="Elipse 76"/>
            <p:cNvSpPr/>
            <p:nvPr/>
          </p:nvSpPr>
          <p:spPr bwMode="auto">
            <a:xfrm>
              <a:off x="1931666" y="400506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" name="Elipse 77"/>
            <p:cNvSpPr/>
            <p:nvPr/>
          </p:nvSpPr>
          <p:spPr bwMode="auto">
            <a:xfrm>
              <a:off x="2427322" y="439366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9" name="Elipse 78"/>
            <p:cNvSpPr/>
            <p:nvPr/>
          </p:nvSpPr>
          <p:spPr bwMode="auto">
            <a:xfrm>
              <a:off x="2228066" y="373642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0" name="Elipse 79"/>
            <p:cNvSpPr/>
            <p:nvPr/>
          </p:nvSpPr>
          <p:spPr bwMode="auto">
            <a:xfrm>
              <a:off x="1671146" y="334319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1" name="Elipse 80"/>
            <p:cNvSpPr/>
            <p:nvPr/>
          </p:nvSpPr>
          <p:spPr bwMode="auto">
            <a:xfrm>
              <a:off x="2156984" y="33033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2" name="Elipse 81"/>
            <p:cNvSpPr/>
            <p:nvPr/>
          </p:nvSpPr>
          <p:spPr bwMode="auto">
            <a:xfrm>
              <a:off x="1931666" y="363954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3" name="Elipse 82"/>
            <p:cNvSpPr/>
            <p:nvPr/>
          </p:nvSpPr>
          <p:spPr bwMode="auto">
            <a:xfrm>
              <a:off x="856940" y="367478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4" name="Elipse 83"/>
            <p:cNvSpPr/>
            <p:nvPr/>
          </p:nvSpPr>
          <p:spPr bwMode="auto">
            <a:xfrm>
              <a:off x="845722" y="431999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5" name="Elipse 84"/>
            <p:cNvSpPr/>
            <p:nvPr/>
          </p:nvSpPr>
          <p:spPr bwMode="auto">
            <a:xfrm>
              <a:off x="1167186" y="488977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6" name="Elipse 85"/>
            <p:cNvSpPr/>
            <p:nvPr/>
          </p:nvSpPr>
          <p:spPr bwMode="auto">
            <a:xfrm>
              <a:off x="924535" y="497627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7" name="Elipse 86"/>
            <p:cNvSpPr/>
            <p:nvPr/>
          </p:nvSpPr>
          <p:spPr bwMode="auto">
            <a:xfrm>
              <a:off x="1513896" y="498466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8" name="Elipse 87"/>
            <p:cNvSpPr/>
            <p:nvPr/>
          </p:nvSpPr>
          <p:spPr bwMode="auto">
            <a:xfrm>
              <a:off x="2437491" y="404120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9" name="Elipse 88"/>
            <p:cNvSpPr/>
            <p:nvPr/>
          </p:nvSpPr>
          <p:spPr bwMode="auto">
            <a:xfrm>
              <a:off x="2498184" y="2916155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0" name="Elipse 89"/>
            <p:cNvSpPr/>
            <p:nvPr/>
          </p:nvSpPr>
          <p:spPr bwMode="auto">
            <a:xfrm>
              <a:off x="1617967" y="301011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1" name="Elipse 90"/>
            <p:cNvSpPr/>
            <p:nvPr/>
          </p:nvSpPr>
          <p:spPr bwMode="auto">
            <a:xfrm>
              <a:off x="1935971" y="331280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2" name="Elipse 91"/>
            <p:cNvSpPr/>
            <p:nvPr/>
          </p:nvSpPr>
          <p:spPr bwMode="auto">
            <a:xfrm>
              <a:off x="1861363" y="322679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3" name="Elipse 92"/>
            <p:cNvSpPr/>
            <p:nvPr/>
          </p:nvSpPr>
          <p:spPr bwMode="auto">
            <a:xfrm>
              <a:off x="914518" y="299696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4" name="Elipse 93"/>
            <p:cNvSpPr/>
            <p:nvPr/>
          </p:nvSpPr>
          <p:spPr bwMode="auto">
            <a:xfrm>
              <a:off x="1348474" y="297411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5" name="Elipse 94"/>
            <p:cNvSpPr/>
            <p:nvPr/>
          </p:nvSpPr>
          <p:spPr bwMode="auto">
            <a:xfrm>
              <a:off x="2073247" y="306896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6" name="Elipse 95"/>
            <p:cNvSpPr/>
            <p:nvPr/>
          </p:nvSpPr>
          <p:spPr bwMode="auto">
            <a:xfrm>
              <a:off x="2534184" y="338480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13" name="Elipse 112"/>
            <p:cNvSpPr/>
            <p:nvPr/>
          </p:nvSpPr>
          <p:spPr bwMode="auto">
            <a:xfrm flipH="1">
              <a:off x="2365297" y="325372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14" name="Elipse 113"/>
            <p:cNvSpPr/>
            <p:nvPr/>
          </p:nvSpPr>
          <p:spPr bwMode="auto">
            <a:xfrm flipH="1">
              <a:off x="2077257" y="340612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3" name="Elipse 122"/>
            <p:cNvSpPr/>
            <p:nvPr/>
          </p:nvSpPr>
          <p:spPr bwMode="auto">
            <a:xfrm flipH="1">
              <a:off x="1855506" y="362215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4" name="Elipse 123"/>
            <p:cNvSpPr/>
            <p:nvPr/>
          </p:nvSpPr>
          <p:spPr bwMode="auto">
            <a:xfrm flipH="1">
              <a:off x="2223938" y="391018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5" name="Elipse 124"/>
            <p:cNvSpPr/>
            <p:nvPr/>
          </p:nvSpPr>
          <p:spPr bwMode="auto">
            <a:xfrm flipH="1">
              <a:off x="1863890" y="412620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6" name="Elipse 125"/>
            <p:cNvSpPr/>
            <p:nvPr/>
          </p:nvSpPr>
          <p:spPr bwMode="auto">
            <a:xfrm flipH="1">
              <a:off x="2295946" y="44862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4" name="Elipse 143"/>
            <p:cNvSpPr/>
            <p:nvPr/>
          </p:nvSpPr>
          <p:spPr bwMode="auto">
            <a:xfrm flipH="1">
              <a:off x="1935898" y="46386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5" name="Elipse 144"/>
            <p:cNvSpPr/>
            <p:nvPr/>
          </p:nvSpPr>
          <p:spPr bwMode="auto">
            <a:xfrm flipH="1">
              <a:off x="1575858" y="47910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6" name="Elipse 145"/>
            <p:cNvSpPr/>
            <p:nvPr/>
          </p:nvSpPr>
          <p:spPr bwMode="auto">
            <a:xfrm flipH="1">
              <a:off x="1423458" y="448623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7" name="Elipse 146"/>
            <p:cNvSpPr/>
            <p:nvPr/>
          </p:nvSpPr>
          <p:spPr bwMode="auto">
            <a:xfrm flipH="1">
              <a:off x="1271058" y="484628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8" name="Elipse 147"/>
            <p:cNvSpPr/>
            <p:nvPr/>
          </p:nvSpPr>
          <p:spPr bwMode="auto">
            <a:xfrm flipH="1">
              <a:off x="1198140" y="471907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9" name="Elipse 148"/>
            <p:cNvSpPr/>
            <p:nvPr/>
          </p:nvSpPr>
          <p:spPr bwMode="auto">
            <a:xfrm flipH="1">
              <a:off x="1459458" y="385551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0" name="Elipse 149"/>
            <p:cNvSpPr/>
            <p:nvPr/>
          </p:nvSpPr>
          <p:spPr bwMode="auto">
            <a:xfrm flipH="1">
              <a:off x="1495458" y="40579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1" name="Elipse 150"/>
            <p:cNvSpPr/>
            <p:nvPr/>
          </p:nvSpPr>
          <p:spPr bwMode="auto">
            <a:xfrm flipH="1">
              <a:off x="999802" y="429877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2" name="Elipse 151"/>
            <p:cNvSpPr/>
            <p:nvPr/>
          </p:nvSpPr>
          <p:spPr bwMode="auto">
            <a:xfrm flipH="1">
              <a:off x="1199058" y="364153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3" name="Elipse 152"/>
            <p:cNvSpPr/>
            <p:nvPr/>
          </p:nvSpPr>
          <p:spPr bwMode="auto">
            <a:xfrm flipH="1">
              <a:off x="1755978" y="324830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4" name="Elipse 153"/>
            <p:cNvSpPr/>
            <p:nvPr/>
          </p:nvSpPr>
          <p:spPr bwMode="auto">
            <a:xfrm flipH="1">
              <a:off x="1270140" y="320843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5" name="Elipse 154"/>
            <p:cNvSpPr/>
            <p:nvPr/>
          </p:nvSpPr>
          <p:spPr bwMode="auto">
            <a:xfrm flipH="1">
              <a:off x="1495458" y="354465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6" name="Elipse 155"/>
            <p:cNvSpPr/>
            <p:nvPr/>
          </p:nvSpPr>
          <p:spPr bwMode="auto">
            <a:xfrm flipH="1">
              <a:off x="2555776" y="357989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7" name="Elipse 156"/>
            <p:cNvSpPr/>
            <p:nvPr/>
          </p:nvSpPr>
          <p:spPr bwMode="auto">
            <a:xfrm flipH="1">
              <a:off x="2483768" y="422511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8" name="Elipse 157"/>
            <p:cNvSpPr/>
            <p:nvPr/>
          </p:nvSpPr>
          <p:spPr bwMode="auto">
            <a:xfrm flipH="1">
              <a:off x="2051720" y="479488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9" name="Elipse 158"/>
            <p:cNvSpPr/>
            <p:nvPr/>
          </p:nvSpPr>
          <p:spPr bwMode="auto">
            <a:xfrm flipH="1">
              <a:off x="2502589" y="4881385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0" name="Elipse 159"/>
            <p:cNvSpPr/>
            <p:nvPr/>
          </p:nvSpPr>
          <p:spPr bwMode="auto">
            <a:xfrm flipH="1">
              <a:off x="1913228" y="488977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1" name="Elipse 160"/>
            <p:cNvSpPr/>
            <p:nvPr/>
          </p:nvSpPr>
          <p:spPr bwMode="auto">
            <a:xfrm flipH="1">
              <a:off x="989633" y="394631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2" name="Elipse 161"/>
            <p:cNvSpPr/>
            <p:nvPr/>
          </p:nvSpPr>
          <p:spPr bwMode="auto">
            <a:xfrm flipH="1">
              <a:off x="928940" y="282126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3" name="Elipse 162"/>
            <p:cNvSpPr/>
            <p:nvPr/>
          </p:nvSpPr>
          <p:spPr bwMode="auto">
            <a:xfrm flipH="1">
              <a:off x="1809157" y="291522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4" name="Elipse 163"/>
            <p:cNvSpPr/>
            <p:nvPr/>
          </p:nvSpPr>
          <p:spPr bwMode="auto">
            <a:xfrm flipH="1">
              <a:off x="1491153" y="321791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5" name="Elipse 164"/>
            <p:cNvSpPr/>
            <p:nvPr/>
          </p:nvSpPr>
          <p:spPr bwMode="auto">
            <a:xfrm flipH="1">
              <a:off x="1565761" y="313190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6" name="Elipse 165"/>
            <p:cNvSpPr/>
            <p:nvPr/>
          </p:nvSpPr>
          <p:spPr bwMode="auto">
            <a:xfrm flipH="1">
              <a:off x="2339752" y="299696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7" name="Elipse 166"/>
            <p:cNvSpPr/>
            <p:nvPr/>
          </p:nvSpPr>
          <p:spPr bwMode="auto">
            <a:xfrm flipH="1">
              <a:off x="2078650" y="287922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8" name="Elipse 167"/>
            <p:cNvSpPr/>
            <p:nvPr/>
          </p:nvSpPr>
          <p:spPr bwMode="auto">
            <a:xfrm flipH="1">
              <a:off x="1353877" y="282126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9" name="Elipse 168"/>
            <p:cNvSpPr/>
            <p:nvPr/>
          </p:nvSpPr>
          <p:spPr bwMode="auto">
            <a:xfrm flipH="1">
              <a:off x="892940" y="328991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21" name="Grupo 20"/>
          <p:cNvGrpSpPr/>
          <p:nvPr/>
        </p:nvGrpSpPr>
        <p:grpSpPr>
          <a:xfrm>
            <a:off x="997832" y="2512017"/>
            <a:ext cx="1626282" cy="1910034"/>
            <a:chOff x="997832" y="3066240"/>
            <a:chExt cx="1626282" cy="1910034"/>
          </a:xfrm>
        </p:grpSpPr>
        <p:sp>
          <p:nvSpPr>
            <p:cNvPr id="5" name="Elipse 4"/>
            <p:cNvSpPr/>
            <p:nvPr/>
          </p:nvSpPr>
          <p:spPr bwMode="auto">
            <a:xfrm>
              <a:off x="1003845" y="3309745"/>
              <a:ext cx="432048" cy="423173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0" name="Elipse 169"/>
            <p:cNvSpPr/>
            <p:nvPr/>
          </p:nvSpPr>
          <p:spPr bwMode="auto">
            <a:xfrm>
              <a:off x="997832" y="4553101"/>
              <a:ext cx="432048" cy="423173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1" name="Elipse 170"/>
            <p:cNvSpPr/>
            <p:nvPr/>
          </p:nvSpPr>
          <p:spPr bwMode="auto">
            <a:xfrm>
              <a:off x="1846752" y="3066240"/>
              <a:ext cx="432048" cy="423173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2" name="Elipse 171"/>
            <p:cNvSpPr/>
            <p:nvPr/>
          </p:nvSpPr>
          <p:spPr bwMode="auto">
            <a:xfrm>
              <a:off x="2192066" y="4162207"/>
              <a:ext cx="432048" cy="423173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12" name="Grupo 11"/>
          <p:cNvGrpSpPr/>
          <p:nvPr/>
        </p:nvGrpSpPr>
        <p:grpSpPr>
          <a:xfrm>
            <a:off x="1043827" y="2499018"/>
            <a:ext cx="1529941" cy="1928810"/>
            <a:chOff x="-558863" y="3718208"/>
            <a:chExt cx="1529941" cy="1928810"/>
          </a:xfrm>
          <a:solidFill>
            <a:srgbClr val="FF0000"/>
          </a:solidFill>
        </p:grpSpPr>
        <p:sp>
          <p:nvSpPr>
            <p:cNvPr id="173" name="Elipse 172"/>
            <p:cNvSpPr/>
            <p:nvPr/>
          </p:nvSpPr>
          <p:spPr bwMode="auto">
            <a:xfrm>
              <a:off x="-558863" y="399785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4" name="Elipse 173"/>
            <p:cNvSpPr/>
            <p:nvPr/>
          </p:nvSpPr>
          <p:spPr bwMode="auto">
            <a:xfrm>
              <a:off x="-270823" y="415025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5" name="Elipse 174"/>
            <p:cNvSpPr/>
            <p:nvPr/>
          </p:nvSpPr>
          <p:spPr bwMode="auto">
            <a:xfrm>
              <a:off x="-489512" y="523037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6" name="Elipse 175"/>
            <p:cNvSpPr/>
            <p:nvPr/>
          </p:nvSpPr>
          <p:spPr bwMode="auto">
            <a:xfrm>
              <a:off x="806632" y="5042903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7" name="Elipse 176"/>
            <p:cNvSpPr/>
            <p:nvPr/>
          </p:nvSpPr>
          <p:spPr bwMode="auto">
            <a:xfrm>
              <a:off x="536294" y="3952568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8" name="Elipse 177"/>
            <p:cNvSpPr/>
            <p:nvPr/>
          </p:nvSpPr>
          <p:spPr bwMode="auto">
            <a:xfrm>
              <a:off x="-453504" y="5539018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9" name="Elipse 178"/>
            <p:cNvSpPr/>
            <p:nvPr/>
          </p:nvSpPr>
          <p:spPr bwMode="auto">
            <a:xfrm>
              <a:off x="315281" y="396204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0" name="Elipse 179"/>
            <p:cNvSpPr/>
            <p:nvPr/>
          </p:nvSpPr>
          <p:spPr bwMode="auto">
            <a:xfrm>
              <a:off x="240673" y="387603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1" name="Elipse 180"/>
            <p:cNvSpPr/>
            <p:nvPr/>
          </p:nvSpPr>
          <p:spPr bwMode="auto">
            <a:xfrm>
              <a:off x="452557" y="3718208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2" name="Elipse 181"/>
            <p:cNvSpPr/>
            <p:nvPr/>
          </p:nvSpPr>
          <p:spPr bwMode="auto">
            <a:xfrm flipH="1">
              <a:off x="456567" y="405536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3" name="Elipse 182"/>
            <p:cNvSpPr/>
            <p:nvPr/>
          </p:nvSpPr>
          <p:spPr bwMode="auto">
            <a:xfrm flipH="1">
              <a:off x="675256" y="513548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4" name="Elipse 183"/>
            <p:cNvSpPr/>
            <p:nvPr/>
          </p:nvSpPr>
          <p:spPr bwMode="auto">
            <a:xfrm flipH="1">
              <a:off x="-349632" y="549552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5" name="Elipse 184"/>
            <p:cNvSpPr/>
            <p:nvPr/>
          </p:nvSpPr>
          <p:spPr bwMode="auto">
            <a:xfrm flipH="1">
              <a:off x="-422550" y="536831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6" name="Elipse 185"/>
            <p:cNvSpPr/>
            <p:nvPr/>
          </p:nvSpPr>
          <p:spPr bwMode="auto">
            <a:xfrm flipH="1">
              <a:off x="-421632" y="429077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7" name="Elipse 186"/>
            <p:cNvSpPr/>
            <p:nvPr/>
          </p:nvSpPr>
          <p:spPr bwMode="auto">
            <a:xfrm flipH="1">
              <a:off x="863078" y="4874350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264" name="Grupo 263"/>
          <p:cNvGrpSpPr/>
          <p:nvPr/>
        </p:nvGrpSpPr>
        <p:grpSpPr>
          <a:xfrm>
            <a:off x="3830377" y="2388611"/>
            <a:ext cx="1405726" cy="1945629"/>
            <a:chOff x="3837798" y="2943196"/>
            <a:chExt cx="1405726" cy="1945629"/>
          </a:xfrm>
        </p:grpSpPr>
        <p:sp>
          <p:nvSpPr>
            <p:cNvPr id="296" name="Rectangle 78"/>
            <p:cNvSpPr>
              <a:spLocks noChangeArrowheads="1"/>
            </p:cNvSpPr>
            <p:nvPr/>
          </p:nvSpPr>
          <p:spPr bwMode="auto">
            <a:xfrm>
              <a:off x="3837798" y="4460467"/>
              <a:ext cx="428358" cy="42835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295" name="Rectangle 78"/>
            <p:cNvSpPr>
              <a:spLocks noChangeArrowheads="1"/>
            </p:cNvSpPr>
            <p:nvPr/>
          </p:nvSpPr>
          <p:spPr bwMode="auto">
            <a:xfrm>
              <a:off x="4815166" y="3629570"/>
              <a:ext cx="428358" cy="42835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286" name="Rectangle 78"/>
            <p:cNvSpPr>
              <a:spLocks noChangeArrowheads="1"/>
            </p:cNvSpPr>
            <p:nvPr/>
          </p:nvSpPr>
          <p:spPr bwMode="auto">
            <a:xfrm>
              <a:off x="3837798" y="2943196"/>
              <a:ext cx="428358" cy="42835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6" name="Grupo 15"/>
          <p:cNvGrpSpPr/>
          <p:nvPr/>
        </p:nvGrpSpPr>
        <p:grpSpPr>
          <a:xfrm>
            <a:off x="3837798" y="2388973"/>
            <a:ext cx="1400758" cy="1945630"/>
            <a:chOff x="3837798" y="2943196"/>
            <a:chExt cx="1400758" cy="1945630"/>
          </a:xfrm>
        </p:grpSpPr>
        <p:grpSp>
          <p:nvGrpSpPr>
            <p:cNvPr id="15" name="Grupo 14"/>
            <p:cNvGrpSpPr/>
            <p:nvPr/>
          </p:nvGrpSpPr>
          <p:grpSpPr>
            <a:xfrm>
              <a:off x="3837798" y="2943196"/>
              <a:ext cx="428358" cy="428358"/>
              <a:chOff x="3837798" y="2943196"/>
              <a:chExt cx="428358" cy="428358"/>
            </a:xfrm>
          </p:grpSpPr>
          <p:sp>
            <p:nvSpPr>
              <p:cNvPr id="188" name="Rectangle 78"/>
              <p:cNvSpPr>
                <a:spLocks noChangeArrowheads="1"/>
              </p:cNvSpPr>
              <p:nvPr/>
            </p:nvSpPr>
            <p:spPr bwMode="auto">
              <a:xfrm>
                <a:off x="3837798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1" name="Rectangle 78"/>
              <p:cNvSpPr>
                <a:spLocks noChangeArrowheads="1"/>
              </p:cNvSpPr>
              <p:nvPr/>
            </p:nvSpPr>
            <p:spPr bwMode="auto">
              <a:xfrm>
                <a:off x="3980539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2" name="Rectangle 78"/>
              <p:cNvSpPr>
                <a:spLocks noChangeArrowheads="1"/>
              </p:cNvSpPr>
              <p:nvPr/>
            </p:nvSpPr>
            <p:spPr bwMode="auto">
              <a:xfrm>
                <a:off x="4123281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6" name="Rectangle 78"/>
              <p:cNvSpPr>
                <a:spLocks noChangeArrowheads="1"/>
              </p:cNvSpPr>
              <p:nvPr/>
            </p:nvSpPr>
            <p:spPr bwMode="auto">
              <a:xfrm>
                <a:off x="3837798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7" name="Rectangle 78"/>
              <p:cNvSpPr>
                <a:spLocks noChangeArrowheads="1"/>
              </p:cNvSpPr>
              <p:nvPr/>
            </p:nvSpPr>
            <p:spPr bwMode="auto">
              <a:xfrm>
                <a:off x="3980539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8" name="Rectangle 78"/>
              <p:cNvSpPr>
                <a:spLocks noChangeArrowheads="1"/>
              </p:cNvSpPr>
              <p:nvPr/>
            </p:nvSpPr>
            <p:spPr bwMode="auto">
              <a:xfrm>
                <a:off x="4123281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0" name="Rectangle 78"/>
              <p:cNvSpPr>
                <a:spLocks noChangeArrowheads="1"/>
              </p:cNvSpPr>
              <p:nvPr/>
            </p:nvSpPr>
            <p:spPr bwMode="auto">
              <a:xfrm>
                <a:off x="3837798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1" name="Rectangle 78"/>
              <p:cNvSpPr>
                <a:spLocks noChangeArrowheads="1"/>
              </p:cNvSpPr>
              <p:nvPr/>
            </p:nvSpPr>
            <p:spPr bwMode="auto">
              <a:xfrm>
                <a:off x="3980539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2" name="Rectangle 78"/>
              <p:cNvSpPr>
                <a:spLocks noChangeArrowheads="1"/>
              </p:cNvSpPr>
              <p:nvPr/>
            </p:nvSpPr>
            <p:spPr bwMode="auto">
              <a:xfrm>
                <a:off x="4123281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03" name="Grupo 202"/>
            <p:cNvGrpSpPr/>
            <p:nvPr/>
          </p:nvGrpSpPr>
          <p:grpSpPr>
            <a:xfrm>
              <a:off x="4810198" y="3629570"/>
              <a:ext cx="428358" cy="428358"/>
              <a:chOff x="3837798" y="2943196"/>
              <a:chExt cx="428358" cy="428358"/>
            </a:xfrm>
          </p:grpSpPr>
          <p:sp>
            <p:nvSpPr>
              <p:cNvPr id="204" name="Rectangle 78"/>
              <p:cNvSpPr>
                <a:spLocks noChangeArrowheads="1"/>
              </p:cNvSpPr>
              <p:nvPr/>
            </p:nvSpPr>
            <p:spPr bwMode="auto">
              <a:xfrm>
                <a:off x="3837798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" name="Rectangle 78"/>
              <p:cNvSpPr>
                <a:spLocks noChangeArrowheads="1"/>
              </p:cNvSpPr>
              <p:nvPr/>
            </p:nvSpPr>
            <p:spPr bwMode="auto">
              <a:xfrm>
                <a:off x="3980539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6" name="Rectangle 78"/>
              <p:cNvSpPr>
                <a:spLocks noChangeArrowheads="1"/>
              </p:cNvSpPr>
              <p:nvPr/>
            </p:nvSpPr>
            <p:spPr bwMode="auto">
              <a:xfrm>
                <a:off x="4123281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7" name="Rectangle 78"/>
              <p:cNvSpPr>
                <a:spLocks noChangeArrowheads="1"/>
              </p:cNvSpPr>
              <p:nvPr/>
            </p:nvSpPr>
            <p:spPr bwMode="auto">
              <a:xfrm>
                <a:off x="3837798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8" name="Rectangle 78"/>
              <p:cNvSpPr>
                <a:spLocks noChangeArrowheads="1"/>
              </p:cNvSpPr>
              <p:nvPr/>
            </p:nvSpPr>
            <p:spPr bwMode="auto">
              <a:xfrm>
                <a:off x="3980539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9" name="Rectangle 78"/>
              <p:cNvSpPr>
                <a:spLocks noChangeArrowheads="1"/>
              </p:cNvSpPr>
              <p:nvPr/>
            </p:nvSpPr>
            <p:spPr bwMode="auto">
              <a:xfrm>
                <a:off x="4123281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0" name="Rectangle 78"/>
              <p:cNvSpPr>
                <a:spLocks noChangeArrowheads="1"/>
              </p:cNvSpPr>
              <p:nvPr/>
            </p:nvSpPr>
            <p:spPr bwMode="auto">
              <a:xfrm>
                <a:off x="3837798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1" name="Rectangle 78"/>
              <p:cNvSpPr>
                <a:spLocks noChangeArrowheads="1"/>
              </p:cNvSpPr>
              <p:nvPr/>
            </p:nvSpPr>
            <p:spPr bwMode="auto">
              <a:xfrm>
                <a:off x="3980539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2" name="Rectangle 78"/>
              <p:cNvSpPr>
                <a:spLocks noChangeArrowheads="1"/>
              </p:cNvSpPr>
              <p:nvPr/>
            </p:nvSpPr>
            <p:spPr bwMode="auto">
              <a:xfrm>
                <a:off x="4123281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13" name="Grupo 212"/>
            <p:cNvGrpSpPr/>
            <p:nvPr/>
          </p:nvGrpSpPr>
          <p:grpSpPr>
            <a:xfrm>
              <a:off x="3837798" y="4460468"/>
              <a:ext cx="428358" cy="428358"/>
              <a:chOff x="3837798" y="2943196"/>
              <a:chExt cx="428358" cy="428358"/>
            </a:xfrm>
          </p:grpSpPr>
          <p:sp>
            <p:nvSpPr>
              <p:cNvPr id="214" name="Rectangle 78"/>
              <p:cNvSpPr>
                <a:spLocks noChangeArrowheads="1"/>
              </p:cNvSpPr>
              <p:nvPr/>
            </p:nvSpPr>
            <p:spPr bwMode="auto">
              <a:xfrm>
                <a:off x="3837798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" name="Rectangle 78"/>
              <p:cNvSpPr>
                <a:spLocks noChangeArrowheads="1"/>
              </p:cNvSpPr>
              <p:nvPr/>
            </p:nvSpPr>
            <p:spPr bwMode="auto">
              <a:xfrm>
                <a:off x="3980539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6" name="Rectangle 78"/>
              <p:cNvSpPr>
                <a:spLocks noChangeArrowheads="1"/>
              </p:cNvSpPr>
              <p:nvPr/>
            </p:nvSpPr>
            <p:spPr bwMode="auto">
              <a:xfrm>
                <a:off x="4123281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7" name="Rectangle 78"/>
              <p:cNvSpPr>
                <a:spLocks noChangeArrowheads="1"/>
              </p:cNvSpPr>
              <p:nvPr/>
            </p:nvSpPr>
            <p:spPr bwMode="auto">
              <a:xfrm>
                <a:off x="3837798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8" name="Rectangle 78"/>
              <p:cNvSpPr>
                <a:spLocks noChangeArrowheads="1"/>
              </p:cNvSpPr>
              <p:nvPr/>
            </p:nvSpPr>
            <p:spPr bwMode="auto">
              <a:xfrm>
                <a:off x="3980539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9" name="Rectangle 78"/>
              <p:cNvSpPr>
                <a:spLocks noChangeArrowheads="1"/>
              </p:cNvSpPr>
              <p:nvPr/>
            </p:nvSpPr>
            <p:spPr bwMode="auto">
              <a:xfrm>
                <a:off x="4123281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0" name="Rectangle 78"/>
              <p:cNvSpPr>
                <a:spLocks noChangeArrowheads="1"/>
              </p:cNvSpPr>
              <p:nvPr/>
            </p:nvSpPr>
            <p:spPr bwMode="auto">
              <a:xfrm>
                <a:off x="3837798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1" name="Rectangle 78"/>
              <p:cNvSpPr>
                <a:spLocks noChangeArrowheads="1"/>
              </p:cNvSpPr>
              <p:nvPr/>
            </p:nvSpPr>
            <p:spPr bwMode="auto">
              <a:xfrm>
                <a:off x="3980539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2" name="Rectangle 78"/>
              <p:cNvSpPr>
                <a:spLocks noChangeArrowheads="1"/>
              </p:cNvSpPr>
              <p:nvPr/>
            </p:nvSpPr>
            <p:spPr bwMode="auto">
              <a:xfrm>
                <a:off x="4123281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223" name="Grupo 222"/>
          <p:cNvGrpSpPr/>
          <p:nvPr/>
        </p:nvGrpSpPr>
        <p:grpSpPr>
          <a:xfrm>
            <a:off x="3980539" y="2531714"/>
            <a:ext cx="1115275" cy="1660147"/>
            <a:chOff x="3980539" y="3085937"/>
            <a:chExt cx="1115275" cy="1660147"/>
          </a:xfrm>
          <a:solidFill>
            <a:srgbClr val="FFFF00"/>
          </a:solidFill>
        </p:grpSpPr>
        <p:sp>
          <p:nvSpPr>
            <p:cNvPr id="252" name="Rectangle 78"/>
            <p:cNvSpPr>
              <a:spLocks noChangeArrowheads="1"/>
            </p:cNvSpPr>
            <p:nvPr/>
          </p:nvSpPr>
          <p:spPr bwMode="auto">
            <a:xfrm>
              <a:off x="3980539" y="3085937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243" name="Rectangle 78"/>
            <p:cNvSpPr>
              <a:spLocks noChangeArrowheads="1"/>
            </p:cNvSpPr>
            <p:nvPr/>
          </p:nvSpPr>
          <p:spPr bwMode="auto">
            <a:xfrm>
              <a:off x="4952939" y="3772311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234" name="Rectangle 78"/>
            <p:cNvSpPr>
              <a:spLocks noChangeArrowheads="1"/>
            </p:cNvSpPr>
            <p:nvPr/>
          </p:nvSpPr>
          <p:spPr bwMode="auto">
            <a:xfrm>
              <a:off x="3980539" y="4603209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2" name="Grupo 21"/>
          <p:cNvGrpSpPr/>
          <p:nvPr/>
        </p:nvGrpSpPr>
        <p:grpSpPr>
          <a:xfrm>
            <a:off x="1123856" y="2633603"/>
            <a:ext cx="1374234" cy="1666861"/>
            <a:chOff x="1123856" y="3187826"/>
            <a:chExt cx="1374234" cy="1666861"/>
          </a:xfrm>
        </p:grpSpPr>
        <p:grpSp>
          <p:nvGrpSpPr>
            <p:cNvPr id="20" name="Grupo 19"/>
            <p:cNvGrpSpPr/>
            <p:nvPr/>
          </p:nvGrpSpPr>
          <p:grpSpPr>
            <a:xfrm>
              <a:off x="1129869" y="3431331"/>
              <a:ext cx="180000" cy="180000"/>
              <a:chOff x="354728" y="2236064"/>
              <a:chExt cx="180000" cy="180000"/>
            </a:xfrm>
          </p:grpSpPr>
          <p:cxnSp>
            <p:nvCxnSpPr>
              <p:cNvPr id="19" name="Conector reto 18"/>
              <p:cNvCxnSpPr/>
              <p:nvPr/>
            </p:nvCxnSpPr>
            <p:spPr bwMode="auto">
              <a:xfrm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54" name="Conector reto 253"/>
              <p:cNvCxnSpPr/>
              <p:nvPr/>
            </p:nvCxnSpPr>
            <p:spPr bwMode="auto">
              <a:xfrm rot="5400000"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255" name="Grupo 254"/>
            <p:cNvGrpSpPr/>
            <p:nvPr/>
          </p:nvGrpSpPr>
          <p:grpSpPr>
            <a:xfrm>
              <a:off x="1972776" y="3187826"/>
              <a:ext cx="180000" cy="180000"/>
              <a:chOff x="354728" y="2236064"/>
              <a:chExt cx="180000" cy="180000"/>
            </a:xfrm>
          </p:grpSpPr>
          <p:cxnSp>
            <p:nvCxnSpPr>
              <p:cNvPr id="256" name="Conector reto 255"/>
              <p:cNvCxnSpPr/>
              <p:nvPr/>
            </p:nvCxnSpPr>
            <p:spPr bwMode="auto">
              <a:xfrm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57" name="Conector reto 256"/>
              <p:cNvCxnSpPr/>
              <p:nvPr/>
            </p:nvCxnSpPr>
            <p:spPr bwMode="auto">
              <a:xfrm rot="5400000"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258" name="Grupo 257"/>
            <p:cNvGrpSpPr/>
            <p:nvPr/>
          </p:nvGrpSpPr>
          <p:grpSpPr>
            <a:xfrm>
              <a:off x="1123856" y="4674687"/>
              <a:ext cx="180000" cy="180000"/>
              <a:chOff x="354728" y="2236064"/>
              <a:chExt cx="180000" cy="180000"/>
            </a:xfrm>
          </p:grpSpPr>
          <p:cxnSp>
            <p:nvCxnSpPr>
              <p:cNvPr id="259" name="Conector reto 258"/>
              <p:cNvCxnSpPr/>
              <p:nvPr/>
            </p:nvCxnSpPr>
            <p:spPr bwMode="auto">
              <a:xfrm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60" name="Conector reto 259"/>
              <p:cNvCxnSpPr/>
              <p:nvPr/>
            </p:nvCxnSpPr>
            <p:spPr bwMode="auto">
              <a:xfrm rot="5400000"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261" name="Grupo 260"/>
            <p:cNvGrpSpPr/>
            <p:nvPr/>
          </p:nvGrpSpPr>
          <p:grpSpPr>
            <a:xfrm>
              <a:off x="2318090" y="4283793"/>
              <a:ext cx="180000" cy="180000"/>
              <a:chOff x="354728" y="2236064"/>
              <a:chExt cx="180000" cy="180000"/>
            </a:xfrm>
          </p:grpSpPr>
          <p:cxnSp>
            <p:nvCxnSpPr>
              <p:cNvPr id="262" name="Conector reto 261"/>
              <p:cNvCxnSpPr/>
              <p:nvPr/>
            </p:nvCxnSpPr>
            <p:spPr bwMode="auto">
              <a:xfrm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63" name="Conector reto 262"/>
              <p:cNvCxnSpPr/>
              <p:nvPr/>
            </p:nvCxnSpPr>
            <p:spPr bwMode="auto">
              <a:xfrm rot="5400000"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</p:grpSp>
      <p:grpSp>
        <p:nvGrpSpPr>
          <p:cNvPr id="25" name="Grupo 24"/>
          <p:cNvGrpSpPr/>
          <p:nvPr/>
        </p:nvGrpSpPr>
        <p:grpSpPr>
          <a:xfrm>
            <a:off x="957829" y="4731070"/>
            <a:ext cx="1076120" cy="423173"/>
            <a:chOff x="957829" y="4731070"/>
            <a:chExt cx="1076120" cy="423173"/>
          </a:xfrm>
        </p:grpSpPr>
        <p:sp>
          <p:nvSpPr>
            <p:cNvPr id="297" name="Elipse 296"/>
            <p:cNvSpPr/>
            <p:nvPr/>
          </p:nvSpPr>
          <p:spPr bwMode="auto">
            <a:xfrm>
              <a:off x="957829" y="4731070"/>
              <a:ext cx="432048" cy="423173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23" name="Retângulo 22"/>
            <p:cNvSpPr/>
            <p:nvPr/>
          </p:nvSpPr>
          <p:spPr>
            <a:xfrm>
              <a:off x="1403648" y="4788768"/>
              <a:ext cx="63030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l"/>
              <a:r>
                <a:rPr lang="pt-BR" altLang="pt-BR" sz="1400" dirty="0">
                  <a:latin typeface="Tahoma" panose="020B0604030504040204" pitchFamily="34" charset="0"/>
                </a:rPr>
                <a:t>raio </a:t>
              </a:r>
              <a:r>
                <a:rPr lang="pt-BR" altLang="pt-BR" sz="1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endParaRPr lang="pt-BR" sz="14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4" name="Grupo 23"/>
          <p:cNvGrpSpPr/>
          <p:nvPr/>
        </p:nvGrpSpPr>
        <p:grpSpPr>
          <a:xfrm>
            <a:off x="3705002" y="4728477"/>
            <a:ext cx="1435545" cy="428358"/>
            <a:chOff x="3705002" y="4728477"/>
            <a:chExt cx="1435545" cy="428358"/>
          </a:xfrm>
        </p:grpSpPr>
        <p:sp>
          <p:nvSpPr>
            <p:cNvPr id="301" name="Rectangle 78"/>
            <p:cNvSpPr>
              <a:spLocks noChangeArrowheads="1"/>
            </p:cNvSpPr>
            <p:nvPr/>
          </p:nvSpPr>
          <p:spPr bwMode="auto">
            <a:xfrm>
              <a:off x="3705002" y="4728477"/>
              <a:ext cx="428358" cy="42835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337" name="Retângulo 336"/>
            <p:cNvSpPr/>
            <p:nvPr/>
          </p:nvSpPr>
          <p:spPr>
            <a:xfrm>
              <a:off x="4139952" y="4788768"/>
              <a:ext cx="100059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l"/>
              <a:r>
                <a:rPr lang="pt-BR" altLang="pt-BR" sz="1400" dirty="0">
                  <a:latin typeface="Tahoma" panose="020B0604030504040204" pitchFamily="34" charset="0"/>
                </a:rPr>
                <a:t>janela 3x3</a:t>
              </a:r>
              <a:endParaRPr lang="pt-BR" sz="14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1924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7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Amostragem Estratificada</a:t>
            </a:r>
          </a:p>
        </p:txBody>
      </p:sp>
      <p:sp>
        <p:nvSpPr>
          <p:cNvPr id="169987" name="Text Box 3"/>
          <p:cNvSpPr txBox="1">
            <a:spLocks noChangeArrowheads="1"/>
          </p:cNvSpPr>
          <p:nvPr/>
        </p:nvSpPr>
        <p:spPr bwMode="auto">
          <a:xfrm>
            <a:off x="755650" y="1272528"/>
            <a:ext cx="7992814" cy="550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estratificação é a divisão da área de estudo em regiões segundo algum critério (mapas pré-existentes ou regiões geográficas)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para que estratificar?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os estratos representam regiões de interesse no estudo</a:t>
            </a:r>
          </a:p>
          <a:p>
            <a:pPr marL="457200" lvl="1" indent="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p.ex., estimar a área desmatada por Estado ou município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deseja-se melhorar a precisão nas estimativas obtidas em cada estrato</a:t>
            </a:r>
          </a:p>
          <a:p>
            <a:pPr marL="723900" lvl="1" indent="-26670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quanto maior heterogeneidade, maior incerteza na estimativa. Pode-se assim concentrar a amostragens nos estratos com maior variabilidade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deseja-se aumentar a representatividade da amostra coletada na área de estudo</a:t>
            </a:r>
          </a:p>
          <a:p>
            <a:pPr marL="723900" lvl="1" indent="-26670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estratos raros podem não estar representados adequadamente numa amostragem totalmente aleatória</a:t>
            </a:r>
          </a:p>
          <a:p>
            <a:pPr marL="266700" lvl="1" indent="-266700" eaLnBrk="1" hangingPunct="1"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Dentro de cada estrato, pode-se adotar a Amostragem Aleatória Simples, Sistemática ou Sistemática Não-Alinhada. Além disso, pode-se inclusive selecionar elementos em conglomerados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36031A4-ADEA-4D8E-B969-A93CCC3B2DD4}" type="slidenum">
              <a:rPr lang="pt-BR"/>
              <a:pPr>
                <a:defRPr/>
              </a:pPr>
              <a:t>20</a:t>
            </a:fld>
            <a:endParaRPr lang="pt-BR"/>
          </a:p>
        </p:txBody>
      </p:sp>
      <p:grpSp>
        <p:nvGrpSpPr>
          <p:cNvPr id="13" name="Grupo 12"/>
          <p:cNvGrpSpPr/>
          <p:nvPr/>
        </p:nvGrpSpPr>
        <p:grpSpPr>
          <a:xfrm>
            <a:off x="1445994" y="1800200"/>
            <a:ext cx="6705455" cy="1952934"/>
            <a:chOff x="1445994" y="1800200"/>
            <a:chExt cx="6705455" cy="1952934"/>
          </a:xfrm>
        </p:grpSpPr>
        <p:pic>
          <p:nvPicPr>
            <p:cNvPr id="5" name="Imagem 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83" b="1"/>
            <a:stretch/>
          </p:blipFill>
          <p:spPr>
            <a:xfrm>
              <a:off x="1445994" y="1969601"/>
              <a:ext cx="1325806" cy="1315383"/>
            </a:xfrm>
            <a:prstGeom prst="rect">
              <a:avLst/>
            </a:prstGeom>
          </p:spPr>
        </p:pic>
        <p:pic>
          <p:nvPicPr>
            <p:cNvPr id="17626" name="Picture 218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8817" y="1929171"/>
              <a:ext cx="1406326" cy="171585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7623" name="Picture 215" descr="Bacias hidrográficas brasileiras. Crédito: André Koehne/Wikimedia Commons"/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237"/>
            <a:stretch/>
          </p:blipFill>
          <p:spPr bwMode="auto">
            <a:xfrm>
              <a:off x="6012160" y="1800200"/>
              <a:ext cx="2139289" cy="19529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987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</a:p>
        </p:txBody>
      </p:sp>
      <p:sp>
        <p:nvSpPr>
          <p:cNvPr id="176132" name="Text Box 4"/>
          <p:cNvSpPr txBox="1">
            <a:spLocks noChangeArrowheads="1"/>
          </p:cNvSpPr>
          <p:nvPr/>
        </p:nvSpPr>
        <p:spPr bwMode="auto">
          <a:xfrm>
            <a:off x="598488" y="1728788"/>
            <a:ext cx="8366125" cy="23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Quanto amostrar?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depende: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da variabilidade original dos dados (maior variância </a:t>
            </a:r>
            <a:r>
              <a:rPr lang="pt-BR" altLang="pt-BR" sz="1600" dirty="0">
                <a:latin typeface="Tahoma" panose="020B0604030504040204" pitchFamily="34" charset="0"/>
                <a:sym typeface="Wingdings" pitchFamily="2" charset="2"/>
              </a:rPr>
              <a:t> maior n)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da precisão requerida no trabalho (maior precisão </a:t>
            </a:r>
            <a:r>
              <a:rPr lang="pt-BR" altLang="pt-BR" sz="1600" dirty="0">
                <a:latin typeface="Tahoma" panose="020B0604030504040204" pitchFamily="34" charset="0"/>
                <a:sym typeface="Wingdings" pitchFamily="2" charset="2"/>
              </a:rPr>
              <a:t> maior n)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do tempo disponível (menor o tempo </a:t>
            </a:r>
            <a:r>
              <a:rPr lang="pt-BR" altLang="pt-BR" sz="1600" dirty="0">
                <a:latin typeface="Tahoma" panose="020B0604030504040204" pitchFamily="34" charset="0"/>
                <a:sym typeface="Wingdings" pitchFamily="2" charset="2"/>
              </a:rPr>
              <a:t> menor n)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do custo da amostragem (maior o custo </a:t>
            </a:r>
            <a:r>
              <a:rPr lang="pt-BR" altLang="pt-BR" sz="1600" dirty="0">
                <a:latin typeface="Tahoma" panose="020B0604030504040204" pitchFamily="34" charset="0"/>
                <a:sym typeface="Wingdings" pitchFamily="2" charset="2"/>
              </a:rPr>
              <a:t> menor n)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" name="Text Box 3"/>
          <p:cNvSpPr txBox="1">
            <a:spLocks noChangeArrowheads="1"/>
          </p:cNvSpPr>
          <p:nvPr/>
        </p:nvSpPr>
        <p:spPr bwMode="auto">
          <a:xfrm>
            <a:off x="598488" y="4092575"/>
            <a:ext cx="8137525" cy="156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geral, é calculado com base no parâmetro que se deseja estimar e leva em consideração as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incertezas inerentes </a:t>
            </a:r>
            <a:r>
              <a:rPr lang="pt-BR" altLang="pt-BR" sz="1600" dirty="0">
                <a:latin typeface="Tahoma" panose="020B0604030504040204" pitchFamily="34" charset="0"/>
              </a:rPr>
              <a:t>a esta estimação: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a) variação “natural” dos dados (variância populacional)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b) erros de estimativa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DD4FDC8-BFD5-4BEA-9776-C131ABFED626}" type="slidenum">
              <a:rPr lang="pt-BR"/>
              <a:pPr>
                <a:defRPr/>
              </a:pPr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295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132" grpId="0" build="p"/>
      <p:bldP spid="4" grpId="0" build="p" autoUpdateAnimBg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  <a:endParaRPr lang="pt-BR" i="1" dirty="0"/>
          </a:p>
        </p:txBody>
      </p:sp>
      <p:graphicFrame>
        <p:nvGraphicFramePr>
          <p:cNvPr id="2" name="Object 4"/>
          <p:cNvGraphicFramePr>
            <a:graphicFrameLocks noChangeAspect="1"/>
          </p:cNvGraphicFramePr>
          <p:nvPr/>
        </p:nvGraphicFramePr>
        <p:xfrm>
          <a:off x="941388" y="2133600"/>
          <a:ext cx="3482975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438400" imgH="457200" progId="Equation.DSMT4">
                  <p:embed/>
                </p:oleObj>
              </mc:Choice>
              <mc:Fallback>
                <p:oleObj name="Equation" r:id="rId2" imgW="2438400" imgH="457200" progId="Equation.DSMT4">
                  <p:embed/>
                  <p:pic>
                    <p:nvPicPr>
                      <p:cNvPr id="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1388" y="2133600"/>
                        <a:ext cx="3482975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5" name="Object 11"/>
          <p:cNvGraphicFramePr>
            <a:graphicFrameLocks noChangeAspect="1"/>
          </p:cNvGraphicFramePr>
          <p:nvPr/>
        </p:nvGraphicFramePr>
        <p:xfrm>
          <a:off x="941388" y="1420813"/>
          <a:ext cx="1684337" cy="684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80588" imgH="482391" progId="Equation.DSMT4">
                  <p:embed/>
                </p:oleObj>
              </mc:Choice>
              <mc:Fallback>
                <p:oleObj name="Equation" r:id="rId4" imgW="1180588" imgH="482391" progId="Equation.DSMT4">
                  <p:embed/>
                  <p:pic>
                    <p:nvPicPr>
                      <p:cNvPr id="10245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1388" y="1420813"/>
                        <a:ext cx="1684337" cy="6842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34"/>
          <p:cNvGrpSpPr>
            <a:grpSpLocks/>
          </p:cNvGrpSpPr>
          <p:nvPr/>
        </p:nvGrpSpPr>
        <p:grpSpPr bwMode="auto">
          <a:xfrm>
            <a:off x="4787900" y="1327150"/>
            <a:ext cx="3481388" cy="2219325"/>
            <a:chOff x="3281" y="2244"/>
            <a:chExt cx="2193" cy="1398"/>
          </a:xfrm>
        </p:grpSpPr>
        <p:pic>
          <p:nvPicPr>
            <p:cNvPr id="10284" name="Picture 6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3311" y="2380"/>
              <a:ext cx="1910" cy="1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285" name="Text Box 7"/>
            <p:cNvSpPr txBox="1">
              <a:spLocks noChangeArrowheads="1"/>
            </p:cNvSpPr>
            <p:nvPr/>
          </p:nvSpPr>
          <p:spPr bwMode="auto">
            <a:xfrm>
              <a:off x="3281" y="3390"/>
              <a:ext cx="283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>
                  <a:latin typeface="Times New Roman" charset="0"/>
                </a:rPr>
                <a:t>-</a:t>
              </a:r>
              <a:r>
                <a:rPr lang="pt-BR" altLang="pt-BR" sz="20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2000">
                <a:latin typeface="Times New Roman" charset="0"/>
              </a:endParaRPr>
            </a:p>
          </p:txBody>
        </p:sp>
        <p:sp>
          <p:nvSpPr>
            <p:cNvPr id="10286" name="Text Box 8"/>
            <p:cNvSpPr txBox="1">
              <a:spLocks noChangeArrowheads="1"/>
            </p:cNvSpPr>
            <p:nvPr/>
          </p:nvSpPr>
          <p:spPr bwMode="auto">
            <a:xfrm>
              <a:off x="5009" y="3391"/>
              <a:ext cx="320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>
                  <a:latin typeface="Times New Roman" charset="0"/>
                </a:rPr>
                <a:t>+</a:t>
              </a:r>
              <a:r>
                <a:rPr lang="pt-BR" altLang="pt-BR" sz="20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2000">
                <a:latin typeface="Times New Roman" charset="0"/>
              </a:endParaRPr>
            </a:p>
          </p:txBody>
        </p:sp>
        <p:sp>
          <p:nvSpPr>
            <p:cNvPr id="10287" name="Line 9"/>
            <p:cNvSpPr>
              <a:spLocks noChangeShapeType="1"/>
            </p:cNvSpPr>
            <p:nvPr/>
          </p:nvSpPr>
          <p:spPr bwMode="auto">
            <a:xfrm>
              <a:off x="3309" y="3443"/>
              <a:ext cx="192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88" name="Line 10"/>
            <p:cNvSpPr>
              <a:spLocks noChangeShapeType="1"/>
            </p:cNvSpPr>
            <p:nvPr/>
          </p:nvSpPr>
          <p:spPr bwMode="auto">
            <a:xfrm flipH="1">
              <a:off x="4478" y="2455"/>
              <a:ext cx="113" cy="1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89" name="Object 18"/>
            <p:cNvGraphicFramePr>
              <a:graphicFrameLocks noChangeAspect="1"/>
            </p:cNvGraphicFramePr>
            <p:nvPr/>
          </p:nvGraphicFramePr>
          <p:xfrm>
            <a:off x="4637" y="2244"/>
            <a:ext cx="837" cy="3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180588" imgH="482391" progId="Equation.DSMT4">
                    <p:embed/>
                  </p:oleObj>
                </mc:Choice>
                <mc:Fallback>
                  <p:oleObj name="Equation" r:id="rId7" imgW="1180588" imgH="482391" progId="Equation.DSMT4">
                    <p:embed/>
                    <p:pic>
                      <p:nvPicPr>
                        <p:cNvPr id="10289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37" y="2244"/>
                          <a:ext cx="837" cy="34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290" name="Freeform 12"/>
            <p:cNvSpPr>
              <a:spLocks/>
            </p:cNvSpPr>
            <p:nvPr/>
          </p:nvSpPr>
          <p:spPr bwMode="auto">
            <a:xfrm>
              <a:off x="3986" y="2414"/>
              <a:ext cx="586" cy="1026"/>
            </a:xfrm>
            <a:custGeom>
              <a:avLst/>
              <a:gdLst>
                <a:gd name="T0" fmla="*/ 0 w 440"/>
                <a:gd name="T1" fmla="*/ 386376 h 771"/>
                <a:gd name="T2" fmla="*/ 21328 w 440"/>
                <a:gd name="T3" fmla="*/ 335696 h 771"/>
                <a:gd name="T4" fmla="*/ 39824 w 440"/>
                <a:gd name="T5" fmla="*/ 283932 h 771"/>
                <a:gd name="T6" fmla="*/ 61218 w 440"/>
                <a:gd name="T7" fmla="*/ 228355 h 771"/>
                <a:gd name="T8" fmla="*/ 86454 w 440"/>
                <a:gd name="T9" fmla="*/ 171600 h 771"/>
                <a:gd name="T10" fmla="*/ 107472 w 440"/>
                <a:gd name="T11" fmla="*/ 123435 h 771"/>
                <a:gd name="T12" fmla="*/ 128206 w 440"/>
                <a:gd name="T13" fmla="*/ 77787 h 771"/>
                <a:gd name="T14" fmla="*/ 151413 w 440"/>
                <a:gd name="T15" fmla="*/ 42443 h 771"/>
                <a:gd name="T16" fmla="*/ 170747 w 440"/>
                <a:gd name="T17" fmla="*/ 19330 h 771"/>
                <a:gd name="T18" fmla="*/ 193132 w 440"/>
                <a:gd name="T19" fmla="*/ 2639 h 771"/>
                <a:gd name="T20" fmla="*/ 209952 w 440"/>
                <a:gd name="T21" fmla="*/ 0 h 771"/>
                <a:gd name="T22" fmla="*/ 228792 w 440"/>
                <a:gd name="T23" fmla="*/ 0 h 771"/>
                <a:gd name="T24" fmla="*/ 244141 w 440"/>
                <a:gd name="T25" fmla="*/ 11015 h 771"/>
                <a:gd name="T26" fmla="*/ 268325 w 440"/>
                <a:gd name="T27" fmla="*/ 32238 h 771"/>
                <a:gd name="T28" fmla="*/ 294430 w 440"/>
                <a:gd name="T29" fmla="*/ 68737 h 771"/>
                <a:gd name="T30" fmla="*/ 314294 w 440"/>
                <a:gd name="T31" fmla="*/ 117130 h 771"/>
                <a:gd name="T32" fmla="*/ 335502 w 440"/>
                <a:gd name="T33" fmla="*/ 164260 h 771"/>
                <a:gd name="T34" fmla="*/ 363865 w 440"/>
                <a:gd name="T35" fmla="*/ 230802 h 771"/>
                <a:gd name="T36" fmla="*/ 383769 w 440"/>
                <a:gd name="T37" fmla="*/ 283932 h 771"/>
                <a:gd name="T38" fmla="*/ 406865 w 440"/>
                <a:gd name="T39" fmla="*/ 330847 h 771"/>
                <a:gd name="T40" fmla="*/ 418582 w 440"/>
                <a:gd name="T41" fmla="*/ 363175 h 771"/>
                <a:gd name="T42" fmla="*/ 426716 w 440"/>
                <a:gd name="T43" fmla="*/ 384545 h 771"/>
                <a:gd name="T44" fmla="*/ 426716 w 440"/>
                <a:gd name="T45" fmla="*/ 733090 h 771"/>
                <a:gd name="T46" fmla="*/ 0 w 440"/>
                <a:gd name="T47" fmla="*/ 733090 h 771"/>
                <a:gd name="T48" fmla="*/ 0 w 440"/>
                <a:gd name="T49" fmla="*/ 386376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0291" name="Group 13"/>
            <p:cNvGrpSpPr>
              <a:grpSpLocks/>
            </p:cNvGrpSpPr>
            <p:nvPr/>
          </p:nvGrpSpPr>
          <p:grpSpPr bwMode="auto">
            <a:xfrm>
              <a:off x="4704" y="2953"/>
              <a:ext cx="302" cy="369"/>
              <a:chOff x="4800" y="2602"/>
              <a:chExt cx="385" cy="470"/>
            </a:xfrm>
          </p:grpSpPr>
          <p:sp>
            <p:nvSpPr>
              <p:cNvPr id="10296" name="Line 14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297" name="Object 15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177646" imgH="393359" progId="Equation.DSMT4">
                      <p:embed/>
                    </p:oleObj>
                  </mc:Choice>
                  <mc:Fallback>
                    <p:oleObj name="Equation" r:id="rId9" imgW="177646" imgH="393359" progId="Equation.DSMT4">
                      <p:embed/>
                      <p:pic>
                        <p:nvPicPr>
                          <p:cNvPr id="10297" name="Object 1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0292" name="Group 16"/>
            <p:cNvGrpSpPr>
              <a:grpSpLocks/>
            </p:cNvGrpSpPr>
            <p:nvPr/>
          </p:nvGrpSpPr>
          <p:grpSpPr bwMode="auto">
            <a:xfrm>
              <a:off x="3599" y="2945"/>
              <a:ext cx="276" cy="369"/>
              <a:chOff x="2769" y="2544"/>
              <a:chExt cx="351" cy="470"/>
            </a:xfrm>
          </p:grpSpPr>
          <p:sp>
            <p:nvSpPr>
              <p:cNvPr id="10294" name="Line 17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295" name="Object 18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177646" imgH="393359" progId="Equation.DSMT4">
                      <p:embed/>
                    </p:oleObj>
                  </mc:Choice>
                  <mc:Fallback>
                    <p:oleObj name="Equation" r:id="rId11" imgW="177646" imgH="393359" progId="Equation.DSMT4">
                      <p:embed/>
                      <p:pic>
                        <p:nvPicPr>
                          <p:cNvPr id="10295" name="Object 1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0293" name="Object 19"/>
            <p:cNvGraphicFramePr>
              <a:graphicFrameLocks noChangeAspect="1"/>
            </p:cNvGraphicFramePr>
            <p:nvPr/>
          </p:nvGraphicFramePr>
          <p:xfrm>
            <a:off x="4163" y="3019"/>
            <a:ext cx="243" cy="1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342603" imgH="177646" progId="Equation.DSMT4">
                    <p:embed/>
                  </p:oleObj>
                </mc:Choice>
                <mc:Fallback>
                  <p:oleObj name="Equation" r:id="rId13" imgW="342603" imgH="177646" progId="Equation.DSMT4">
                    <p:embed/>
                    <p:pic>
                      <p:nvPicPr>
                        <p:cNvPr id="10293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63" y="3019"/>
                          <a:ext cx="243" cy="1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26"/>
          <p:cNvGrpSpPr>
            <a:grpSpLocks/>
          </p:cNvGrpSpPr>
          <p:nvPr/>
        </p:nvGrpSpPr>
        <p:grpSpPr bwMode="auto">
          <a:xfrm>
            <a:off x="5965828" y="3313109"/>
            <a:ext cx="1319213" cy="561974"/>
            <a:chOff x="4023" y="2894"/>
            <a:chExt cx="831" cy="354"/>
          </a:xfrm>
        </p:grpSpPr>
        <p:sp>
          <p:nvSpPr>
            <p:cNvPr id="10282" name="AutoShape 27"/>
            <p:cNvSpPr>
              <a:spLocks/>
            </p:cNvSpPr>
            <p:nvPr/>
          </p:nvSpPr>
          <p:spPr bwMode="auto">
            <a:xfrm rot="5400000">
              <a:off x="4385" y="2803"/>
              <a:ext cx="90" cy="272"/>
            </a:xfrm>
            <a:prstGeom prst="rightBrace">
              <a:avLst>
                <a:gd name="adj1" fmla="val 2518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0283" name="Text Box 28"/>
            <p:cNvSpPr txBox="1">
              <a:spLocks noChangeArrowheads="1"/>
            </p:cNvSpPr>
            <p:nvPr/>
          </p:nvSpPr>
          <p:spPr bwMode="auto">
            <a:xfrm>
              <a:off x="4023" y="2957"/>
              <a:ext cx="831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erro máximo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de estimativa (</a:t>
              </a:r>
              <a:r>
                <a:rPr lang="pt-BR" altLang="pt-BR" sz="1200" i="1" dirty="0">
                  <a:latin typeface="Times New Roman" pitchFamily="18" charset="0"/>
                  <a:cs typeface="Times New Roman" pitchFamily="18" charset="0"/>
                </a:rPr>
                <a:t>e</a:t>
              </a:r>
              <a:r>
                <a:rPr lang="pt-BR" altLang="pt-BR" sz="12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0248" name="Retângulo 73"/>
          <p:cNvSpPr>
            <a:spLocks noChangeArrowheads="1"/>
          </p:cNvSpPr>
          <p:nvPr/>
        </p:nvSpPr>
        <p:spPr bwMode="auto">
          <a:xfrm>
            <a:off x="755650" y="1320800"/>
            <a:ext cx="7662863" cy="2613025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10253" name="Text Box 28"/>
          <p:cNvSpPr txBox="1">
            <a:spLocks noChangeArrowheads="1"/>
          </p:cNvSpPr>
          <p:nvPr/>
        </p:nvSpPr>
        <p:spPr bwMode="auto">
          <a:xfrm>
            <a:off x="4193384" y="1341438"/>
            <a:ext cx="78739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0000"/>
                </a:solidFill>
                <a:latin typeface="Tahoma" panose="020B0604030504040204" pitchFamily="34" charset="0"/>
              </a:rPr>
              <a:t>Média</a:t>
            </a:r>
          </a:p>
        </p:txBody>
      </p:sp>
      <p:grpSp>
        <p:nvGrpSpPr>
          <p:cNvPr id="11" name="Grupo 5"/>
          <p:cNvGrpSpPr>
            <a:grpSpLocks/>
          </p:cNvGrpSpPr>
          <p:nvPr/>
        </p:nvGrpSpPr>
        <p:grpSpPr bwMode="auto">
          <a:xfrm>
            <a:off x="941388" y="2832100"/>
            <a:ext cx="2814637" cy="936625"/>
            <a:chOff x="941531" y="2832596"/>
            <a:chExt cx="2814318" cy="936104"/>
          </a:xfrm>
        </p:grpSpPr>
        <p:grpSp>
          <p:nvGrpSpPr>
            <p:cNvPr id="10262" name="Grupo 66"/>
            <p:cNvGrpSpPr>
              <a:grpSpLocks/>
            </p:cNvGrpSpPr>
            <p:nvPr/>
          </p:nvGrpSpPr>
          <p:grpSpPr bwMode="auto">
            <a:xfrm>
              <a:off x="941531" y="2959510"/>
              <a:ext cx="2754940" cy="686148"/>
              <a:chOff x="1127422" y="2760415"/>
              <a:chExt cx="2755230" cy="686122"/>
            </a:xfrm>
          </p:grpSpPr>
          <p:graphicFrame>
            <p:nvGraphicFramePr>
              <p:cNvPr id="10264" name="Object 29"/>
              <p:cNvGraphicFramePr>
                <a:graphicFrameLocks noChangeAspect="1"/>
              </p:cNvGraphicFramePr>
              <p:nvPr/>
            </p:nvGraphicFramePr>
            <p:xfrm>
              <a:off x="2233240" y="2760415"/>
              <a:ext cx="1649412" cy="6477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5" imgW="1155700" imgH="457200" progId="Equation.DSMT4">
                      <p:embed/>
                    </p:oleObj>
                  </mc:Choice>
                  <mc:Fallback>
                    <p:oleObj name="Equation" r:id="rId15" imgW="1155700" imgH="457200" progId="Equation.DSMT4">
                      <p:embed/>
                      <p:pic>
                        <p:nvPicPr>
                          <p:cNvPr id="10264" name="Object 2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233240" y="2760415"/>
                            <a:ext cx="1649412" cy="64770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0265" name="Object 22"/>
              <p:cNvGraphicFramePr>
                <a:graphicFrameLocks noChangeAspect="1"/>
              </p:cNvGraphicFramePr>
              <p:nvPr/>
            </p:nvGraphicFramePr>
            <p:xfrm>
              <a:off x="1127422" y="2852812"/>
              <a:ext cx="1052513" cy="59372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7" imgW="736600" imgH="419100" progId="Equation.DSMT4">
                      <p:embed/>
                    </p:oleObj>
                  </mc:Choice>
                  <mc:Fallback>
                    <p:oleObj name="Equation" r:id="rId17" imgW="736600" imgH="419100" progId="Equation.DSMT4">
                      <p:embed/>
                      <p:pic>
                        <p:nvPicPr>
                          <p:cNvPr id="10265" name="Object 2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127422" y="2852812"/>
                            <a:ext cx="1052513" cy="59372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0263" name="Retângulo 58"/>
            <p:cNvSpPr>
              <a:spLocks noChangeArrowheads="1"/>
            </p:cNvSpPr>
            <p:nvPr/>
          </p:nvSpPr>
          <p:spPr bwMode="auto">
            <a:xfrm>
              <a:off x="2358798" y="2832596"/>
              <a:ext cx="1397051" cy="936104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79DA14-FC3B-4EFA-9CEE-AA69133E0985}" type="slidenum">
              <a:rPr lang="pt-BR"/>
              <a:pPr>
                <a:defRPr/>
              </a:pPr>
              <a:t>22</a:t>
            </a:fld>
            <a:endParaRPr lang="pt-BR"/>
          </a:p>
        </p:txBody>
      </p:sp>
      <p:sp>
        <p:nvSpPr>
          <p:cNvPr id="8" name="Text Box 3">
            <a:extLst>
              <a:ext uri="{FF2B5EF4-FFF2-40B4-BE49-F238E27FC236}">
                <a16:creationId xmlns:a16="http://schemas.microsoft.com/office/drawing/2014/main" id="{79751EB4-F61A-A344-EBE5-4E4317687A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062" y="4154304"/>
            <a:ext cx="8008938" cy="2267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variância populacional deve ser conhecida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Pode-se estimar a variância populacional através de uma “</a:t>
            </a:r>
            <a:r>
              <a:rPr lang="pt-BR" altLang="pt-BR" sz="1600" dirty="0" err="1">
                <a:latin typeface="Tahoma" panose="020B0604030504040204" pitchFamily="34" charset="0"/>
              </a:rPr>
              <a:t>pré</a:t>
            </a:r>
            <a:r>
              <a:rPr lang="pt-BR" altLang="pt-BR" sz="1600" dirty="0">
                <a:latin typeface="Tahoma" panose="020B0604030504040204" pitchFamily="34" charset="0"/>
              </a:rPr>
              <a:t>-amostragem”</a:t>
            </a:r>
          </a:p>
          <a:p>
            <a:pPr marL="722313" indent="-27305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nesse caso, o tamanho da amostra é aquele que for viável (tempo, custo,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marL="722313" indent="-27305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o tamanho estimado for maior que o utilizado na </a:t>
            </a:r>
            <a:r>
              <a:rPr lang="pt-BR" altLang="pt-BR" sz="1600" dirty="0" err="1">
                <a:latin typeface="Tahoma" panose="020B0604030504040204" pitchFamily="34" charset="0"/>
              </a:rPr>
              <a:t>pré</a:t>
            </a:r>
            <a:r>
              <a:rPr lang="pt-BR" altLang="pt-BR" sz="1600" dirty="0">
                <a:latin typeface="Tahoma" panose="020B0604030504040204" pitchFamily="34" charset="0"/>
              </a:rPr>
              <a:t>-amostragem, complementa-se a amostragem, reestima-se a variância e recalcula-se o tamanho da amostra até atingir o tamanho ideal</a:t>
            </a:r>
          </a:p>
        </p:txBody>
      </p:sp>
    </p:spTree>
    <p:extLst>
      <p:ext uri="{BB962C8B-B14F-4D97-AF65-F5344CB8AC3E}">
        <p14:creationId xmlns:p14="http://schemas.microsoft.com/office/powerpoint/2010/main" val="303318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361478"/>
              </p:ext>
            </p:extLst>
          </p:nvPr>
        </p:nvGraphicFramePr>
        <p:xfrm>
          <a:off x="942975" y="2086726"/>
          <a:ext cx="3413125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679700" imgH="508000" progId="Equation.3">
                  <p:embed/>
                </p:oleObj>
              </mc:Choice>
              <mc:Fallback>
                <p:oleObj name="Equação" r:id="rId2" imgW="2679700" imgH="508000" progId="Equation.3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2975" y="2086726"/>
                        <a:ext cx="3413125" cy="752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  <a:endParaRPr lang="pt-BR" i="1" dirty="0"/>
          </a:p>
        </p:txBody>
      </p:sp>
      <p:sp>
        <p:nvSpPr>
          <p:cNvPr id="10248" name="Retângulo 73"/>
          <p:cNvSpPr>
            <a:spLocks noChangeArrowheads="1"/>
          </p:cNvSpPr>
          <p:nvPr/>
        </p:nvSpPr>
        <p:spPr bwMode="auto">
          <a:xfrm>
            <a:off x="755650" y="1320800"/>
            <a:ext cx="7662863" cy="2613025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10249" name="Object 3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24126353"/>
              </p:ext>
            </p:extLst>
          </p:nvPr>
        </p:nvGraphicFramePr>
        <p:xfrm>
          <a:off x="941388" y="1434263"/>
          <a:ext cx="1649412" cy="611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55700" imgH="431800" progId="Equation.DSMT4">
                  <p:embed/>
                </p:oleObj>
              </mc:Choice>
              <mc:Fallback>
                <p:oleObj name="Equation" r:id="rId4" imgW="1155700" imgH="431800" progId="Equation.DSMT4">
                  <p:embed/>
                  <p:pic>
                    <p:nvPicPr>
                      <p:cNvPr id="10249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1388" y="1434263"/>
                        <a:ext cx="1649412" cy="6111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4787900" y="1359651"/>
            <a:ext cx="3467100" cy="2190750"/>
            <a:chOff x="3281" y="2262"/>
            <a:chExt cx="2184" cy="1380"/>
          </a:xfrm>
        </p:grpSpPr>
        <p:pic>
          <p:nvPicPr>
            <p:cNvPr id="10268" name="Picture 6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3311" y="2380"/>
              <a:ext cx="1910" cy="1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269" name="Text Box 7"/>
            <p:cNvSpPr txBox="1">
              <a:spLocks noChangeArrowheads="1"/>
            </p:cNvSpPr>
            <p:nvPr/>
          </p:nvSpPr>
          <p:spPr bwMode="auto">
            <a:xfrm>
              <a:off x="3281" y="3390"/>
              <a:ext cx="283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>
                  <a:latin typeface="Times New Roman" charset="0"/>
                </a:rPr>
                <a:t>-</a:t>
              </a:r>
              <a:r>
                <a:rPr lang="pt-BR" altLang="pt-BR" sz="20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2000">
                <a:latin typeface="Times New Roman" charset="0"/>
              </a:endParaRPr>
            </a:p>
          </p:txBody>
        </p:sp>
        <p:sp>
          <p:nvSpPr>
            <p:cNvPr id="10270" name="Text Box 8"/>
            <p:cNvSpPr txBox="1">
              <a:spLocks noChangeArrowheads="1"/>
            </p:cNvSpPr>
            <p:nvPr/>
          </p:nvSpPr>
          <p:spPr bwMode="auto">
            <a:xfrm>
              <a:off x="5009" y="3391"/>
              <a:ext cx="320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>
                  <a:latin typeface="Times New Roman" charset="0"/>
                </a:rPr>
                <a:t>+</a:t>
              </a:r>
              <a:r>
                <a:rPr lang="pt-BR" altLang="pt-BR" sz="20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2000">
                <a:latin typeface="Times New Roman" charset="0"/>
              </a:endParaRPr>
            </a:p>
          </p:txBody>
        </p:sp>
        <p:sp>
          <p:nvSpPr>
            <p:cNvPr id="10271" name="Line 9"/>
            <p:cNvSpPr>
              <a:spLocks noChangeShapeType="1"/>
            </p:cNvSpPr>
            <p:nvPr/>
          </p:nvSpPr>
          <p:spPr bwMode="auto">
            <a:xfrm>
              <a:off x="3309" y="3443"/>
              <a:ext cx="192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72" name="Line 10"/>
            <p:cNvSpPr>
              <a:spLocks noChangeShapeType="1"/>
            </p:cNvSpPr>
            <p:nvPr/>
          </p:nvSpPr>
          <p:spPr bwMode="auto">
            <a:xfrm flipH="1">
              <a:off x="4478" y="2455"/>
              <a:ext cx="113" cy="1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73" name="Object 37"/>
            <p:cNvGraphicFramePr>
              <a:graphicFrameLocks noChangeAspect="1"/>
            </p:cNvGraphicFramePr>
            <p:nvPr/>
          </p:nvGraphicFramePr>
          <p:xfrm>
            <a:off x="4646" y="2262"/>
            <a:ext cx="819" cy="3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155700" imgH="431800" progId="Equation.DSMT4">
                    <p:embed/>
                  </p:oleObj>
                </mc:Choice>
                <mc:Fallback>
                  <p:oleObj name="Equation" r:id="rId7" imgW="1155700" imgH="431800" progId="Equation.DSMT4">
                    <p:embed/>
                    <p:pic>
                      <p:nvPicPr>
                        <p:cNvPr id="10273" name="Object 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46" y="2262"/>
                          <a:ext cx="819" cy="30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274" name="Freeform 12"/>
            <p:cNvSpPr>
              <a:spLocks/>
            </p:cNvSpPr>
            <p:nvPr/>
          </p:nvSpPr>
          <p:spPr bwMode="auto">
            <a:xfrm>
              <a:off x="3986" y="2414"/>
              <a:ext cx="586" cy="1026"/>
            </a:xfrm>
            <a:custGeom>
              <a:avLst/>
              <a:gdLst>
                <a:gd name="T0" fmla="*/ 0 w 440"/>
                <a:gd name="T1" fmla="*/ 386376 h 771"/>
                <a:gd name="T2" fmla="*/ 21328 w 440"/>
                <a:gd name="T3" fmla="*/ 335696 h 771"/>
                <a:gd name="T4" fmla="*/ 39824 w 440"/>
                <a:gd name="T5" fmla="*/ 283932 h 771"/>
                <a:gd name="T6" fmla="*/ 61218 w 440"/>
                <a:gd name="T7" fmla="*/ 228355 h 771"/>
                <a:gd name="T8" fmla="*/ 86454 w 440"/>
                <a:gd name="T9" fmla="*/ 171600 h 771"/>
                <a:gd name="T10" fmla="*/ 107472 w 440"/>
                <a:gd name="T11" fmla="*/ 123435 h 771"/>
                <a:gd name="T12" fmla="*/ 128206 w 440"/>
                <a:gd name="T13" fmla="*/ 77787 h 771"/>
                <a:gd name="T14" fmla="*/ 151413 w 440"/>
                <a:gd name="T15" fmla="*/ 42443 h 771"/>
                <a:gd name="T16" fmla="*/ 170747 w 440"/>
                <a:gd name="T17" fmla="*/ 19330 h 771"/>
                <a:gd name="T18" fmla="*/ 193132 w 440"/>
                <a:gd name="T19" fmla="*/ 2639 h 771"/>
                <a:gd name="T20" fmla="*/ 209952 w 440"/>
                <a:gd name="T21" fmla="*/ 0 h 771"/>
                <a:gd name="T22" fmla="*/ 228792 w 440"/>
                <a:gd name="T23" fmla="*/ 0 h 771"/>
                <a:gd name="T24" fmla="*/ 244141 w 440"/>
                <a:gd name="T25" fmla="*/ 11015 h 771"/>
                <a:gd name="T26" fmla="*/ 268325 w 440"/>
                <a:gd name="T27" fmla="*/ 32238 h 771"/>
                <a:gd name="T28" fmla="*/ 294430 w 440"/>
                <a:gd name="T29" fmla="*/ 68737 h 771"/>
                <a:gd name="T30" fmla="*/ 314294 w 440"/>
                <a:gd name="T31" fmla="*/ 117130 h 771"/>
                <a:gd name="T32" fmla="*/ 335502 w 440"/>
                <a:gd name="T33" fmla="*/ 164260 h 771"/>
                <a:gd name="T34" fmla="*/ 363865 w 440"/>
                <a:gd name="T35" fmla="*/ 230802 h 771"/>
                <a:gd name="T36" fmla="*/ 383769 w 440"/>
                <a:gd name="T37" fmla="*/ 283932 h 771"/>
                <a:gd name="T38" fmla="*/ 406865 w 440"/>
                <a:gd name="T39" fmla="*/ 330847 h 771"/>
                <a:gd name="T40" fmla="*/ 418582 w 440"/>
                <a:gd name="T41" fmla="*/ 363175 h 771"/>
                <a:gd name="T42" fmla="*/ 426716 w 440"/>
                <a:gd name="T43" fmla="*/ 384545 h 771"/>
                <a:gd name="T44" fmla="*/ 426716 w 440"/>
                <a:gd name="T45" fmla="*/ 733090 h 771"/>
                <a:gd name="T46" fmla="*/ 0 w 440"/>
                <a:gd name="T47" fmla="*/ 733090 h 771"/>
                <a:gd name="T48" fmla="*/ 0 w 440"/>
                <a:gd name="T49" fmla="*/ 386376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0275" name="Group 13"/>
            <p:cNvGrpSpPr>
              <a:grpSpLocks/>
            </p:cNvGrpSpPr>
            <p:nvPr/>
          </p:nvGrpSpPr>
          <p:grpSpPr bwMode="auto">
            <a:xfrm>
              <a:off x="4704" y="2953"/>
              <a:ext cx="302" cy="369"/>
              <a:chOff x="4800" y="2602"/>
              <a:chExt cx="385" cy="470"/>
            </a:xfrm>
          </p:grpSpPr>
          <p:sp>
            <p:nvSpPr>
              <p:cNvPr id="10280" name="Line 14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281" name="Object 38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177646" imgH="393359" progId="Equation.DSMT4">
                      <p:embed/>
                    </p:oleObj>
                  </mc:Choice>
                  <mc:Fallback>
                    <p:oleObj name="Equation" r:id="rId9" imgW="177646" imgH="393359" progId="Equation.DSMT4">
                      <p:embed/>
                      <p:pic>
                        <p:nvPicPr>
                          <p:cNvPr id="10281" name="Object 3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0276" name="Group 16"/>
            <p:cNvGrpSpPr>
              <a:grpSpLocks/>
            </p:cNvGrpSpPr>
            <p:nvPr/>
          </p:nvGrpSpPr>
          <p:grpSpPr bwMode="auto">
            <a:xfrm>
              <a:off x="3599" y="2945"/>
              <a:ext cx="276" cy="369"/>
              <a:chOff x="2769" y="2544"/>
              <a:chExt cx="351" cy="470"/>
            </a:xfrm>
          </p:grpSpPr>
          <p:sp>
            <p:nvSpPr>
              <p:cNvPr id="10278" name="Line 17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279" name="Object 39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177646" imgH="393359" progId="Equation.DSMT4">
                      <p:embed/>
                    </p:oleObj>
                  </mc:Choice>
                  <mc:Fallback>
                    <p:oleObj name="Equation" r:id="rId11" imgW="177646" imgH="393359" progId="Equation.DSMT4">
                      <p:embed/>
                      <p:pic>
                        <p:nvPicPr>
                          <p:cNvPr id="10279" name="Object 3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0277" name="Object 40"/>
            <p:cNvGraphicFramePr>
              <a:graphicFrameLocks noChangeAspect="1"/>
            </p:cNvGraphicFramePr>
            <p:nvPr/>
          </p:nvGraphicFramePr>
          <p:xfrm>
            <a:off x="4163" y="3019"/>
            <a:ext cx="243" cy="1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342603" imgH="177646" progId="Equation.DSMT4">
                    <p:embed/>
                  </p:oleObj>
                </mc:Choice>
                <mc:Fallback>
                  <p:oleObj name="Equation" r:id="rId13" imgW="342603" imgH="177646" progId="Equation.DSMT4">
                    <p:embed/>
                    <p:pic>
                      <p:nvPicPr>
                        <p:cNvPr id="10277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63" y="3019"/>
                          <a:ext cx="243" cy="1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0" name="Group 26"/>
          <p:cNvGrpSpPr>
            <a:grpSpLocks/>
          </p:cNvGrpSpPr>
          <p:nvPr/>
        </p:nvGrpSpPr>
        <p:grpSpPr bwMode="auto">
          <a:xfrm>
            <a:off x="5967415" y="3317042"/>
            <a:ext cx="1319213" cy="561976"/>
            <a:chOff x="4024" y="2894"/>
            <a:chExt cx="831" cy="354"/>
          </a:xfrm>
        </p:grpSpPr>
        <p:sp>
          <p:nvSpPr>
            <p:cNvPr id="10266" name="AutoShape 27"/>
            <p:cNvSpPr>
              <a:spLocks/>
            </p:cNvSpPr>
            <p:nvPr/>
          </p:nvSpPr>
          <p:spPr bwMode="auto">
            <a:xfrm rot="5400000">
              <a:off x="4385" y="2803"/>
              <a:ext cx="90" cy="272"/>
            </a:xfrm>
            <a:prstGeom prst="rightBrace">
              <a:avLst>
                <a:gd name="adj1" fmla="val 2518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0267" name="Text Box 28"/>
            <p:cNvSpPr txBox="1">
              <a:spLocks noChangeArrowheads="1"/>
            </p:cNvSpPr>
            <p:nvPr/>
          </p:nvSpPr>
          <p:spPr bwMode="auto">
            <a:xfrm>
              <a:off x="4024" y="2957"/>
              <a:ext cx="831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erro máximo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de estimativa (</a:t>
              </a:r>
              <a:r>
                <a:rPr lang="pt-BR" altLang="pt-BR" sz="1200" i="1" dirty="0">
                  <a:latin typeface="Times New Roman" pitchFamily="18" charset="0"/>
                  <a:cs typeface="Times New Roman" pitchFamily="18" charset="0"/>
                </a:rPr>
                <a:t>e</a:t>
              </a:r>
              <a:r>
                <a:rPr lang="pt-BR" altLang="pt-BR" sz="12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0254" name="Text Box 28"/>
          <p:cNvSpPr txBox="1">
            <a:spLocks noChangeArrowheads="1"/>
          </p:cNvSpPr>
          <p:nvPr/>
        </p:nvSpPr>
        <p:spPr bwMode="auto">
          <a:xfrm>
            <a:off x="3960813" y="1342188"/>
            <a:ext cx="125253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0000"/>
                </a:solidFill>
                <a:latin typeface="Tahoma" panose="020B0604030504040204" pitchFamily="34" charset="0"/>
              </a:rPr>
              <a:t>Proporção</a:t>
            </a:r>
          </a:p>
        </p:txBody>
      </p:sp>
      <p:grpSp>
        <p:nvGrpSpPr>
          <p:cNvPr id="13" name="Grupo 6"/>
          <p:cNvGrpSpPr>
            <a:grpSpLocks/>
          </p:cNvGrpSpPr>
          <p:nvPr/>
        </p:nvGrpSpPr>
        <p:grpSpPr bwMode="auto">
          <a:xfrm>
            <a:off x="941388" y="2832851"/>
            <a:ext cx="2944812" cy="936625"/>
            <a:chOff x="941531" y="5513471"/>
            <a:chExt cx="2944651" cy="936104"/>
          </a:xfrm>
        </p:grpSpPr>
        <p:grpSp>
          <p:nvGrpSpPr>
            <p:cNvPr id="10258" name="Grupo 66"/>
            <p:cNvGrpSpPr>
              <a:grpSpLocks/>
            </p:cNvGrpSpPr>
            <p:nvPr/>
          </p:nvGrpSpPr>
          <p:grpSpPr bwMode="auto">
            <a:xfrm>
              <a:off x="941531" y="5643973"/>
              <a:ext cx="2889938" cy="704728"/>
              <a:chOff x="1132285" y="2760415"/>
              <a:chExt cx="2890242" cy="704701"/>
            </a:xfrm>
          </p:grpSpPr>
          <p:graphicFrame>
            <p:nvGraphicFramePr>
              <p:cNvPr id="10260" name="Object 41"/>
              <p:cNvGraphicFramePr>
                <a:graphicFrameLocks noChangeAspect="1"/>
              </p:cNvGraphicFramePr>
              <p:nvPr/>
            </p:nvGraphicFramePr>
            <p:xfrm>
              <a:off x="2373115" y="2760415"/>
              <a:ext cx="1649412" cy="6477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5" imgW="1155700" imgH="457200" progId="Equation.DSMT4">
                      <p:embed/>
                    </p:oleObj>
                  </mc:Choice>
                  <mc:Fallback>
                    <p:oleObj name="Equation" r:id="rId15" imgW="1155700" imgH="457200" progId="Equation.DSMT4">
                      <p:embed/>
                      <p:pic>
                        <p:nvPicPr>
                          <p:cNvPr id="10260" name="Object 4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373115" y="2760415"/>
                            <a:ext cx="1649412" cy="64770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0261" name="Object 42"/>
              <p:cNvGraphicFramePr>
                <a:graphicFrameLocks noChangeAspect="1"/>
              </p:cNvGraphicFramePr>
              <p:nvPr/>
            </p:nvGraphicFramePr>
            <p:xfrm>
              <a:off x="1132285" y="2834878"/>
              <a:ext cx="1162050" cy="6302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7" imgW="812447" imgH="444307" progId="Equation.DSMT4">
                      <p:embed/>
                    </p:oleObj>
                  </mc:Choice>
                  <mc:Fallback>
                    <p:oleObj name="Equation" r:id="rId17" imgW="812447" imgH="444307" progId="Equation.DSMT4">
                      <p:embed/>
                      <p:pic>
                        <p:nvPicPr>
                          <p:cNvPr id="10261" name="Object 4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132285" y="2834878"/>
                            <a:ext cx="1162050" cy="6302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0259" name="Retângulo 59"/>
            <p:cNvSpPr>
              <a:spLocks noChangeArrowheads="1"/>
            </p:cNvSpPr>
            <p:nvPr/>
          </p:nvSpPr>
          <p:spPr bwMode="auto">
            <a:xfrm>
              <a:off x="2489131" y="5513471"/>
              <a:ext cx="1397051" cy="936104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79DA14-FC3B-4EFA-9CEE-AA69133E0985}" type="slidenum">
              <a:rPr lang="pt-BR"/>
              <a:pPr>
                <a:defRPr/>
              </a:pPr>
              <a:t>23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3">
                <a:extLst>
                  <a:ext uri="{FF2B5EF4-FFF2-40B4-BE49-F238E27FC236}">
                    <a16:creationId xmlns:a16="http://schemas.microsoft.com/office/drawing/2014/main" id="{B89B7A42-40E6-8047-1502-B2F1D5F225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54062" y="4154304"/>
                <a:ext cx="8008938" cy="156145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Necessita-se conhecer o parâmetro </a:t>
                </a:r>
                <a:r>
                  <a:rPr 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que se quer estimar!</a:t>
                </a:r>
              </a:p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Pode-se estimar </a:t>
                </a:r>
                <a:r>
                  <a:rPr 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através de uma “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pré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-amostragem”</a:t>
                </a:r>
              </a:p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Pode-se adotar o valor de </a:t>
                </a:r>
                <a:r>
                  <a:rPr 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0,5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que representa o “pior caso”</a:t>
                </a:r>
              </a:p>
              <a:p>
                <a:pPr marL="0" indent="0" eaLnBrk="1" hangingPunct="1">
                  <a:lnSpc>
                    <a:spcPct val="150000"/>
                  </a:lnSpc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=0,5  → 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á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𝑉𝑎𝑟</m:t>
                    </m:r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̀"/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</m:d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á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Text Box 3">
                <a:extLst>
                  <a:ext uri="{FF2B5EF4-FFF2-40B4-BE49-F238E27FC236}">
                    <a16:creationId xmlns:a16="http://schemas.microsoft.com/office/drawing/2014/main" id="{B89B7A42-40E6-8047-1502-B2F1D5F225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4062" y="4154304"/>
                <a:ext cx="8008938" cy="1561453"/>
              </a:xfrm>
              <a:prstGeom prst="rect">
                <a:avLst/>
              </a:prstGeom>
              <a:blipFill>
                <a:blip r:embed="rId19"/>
                <a:stretch>
                  <a:fillRect l="-45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5487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747713" y="1692275"/>
            <a:ext cx="81375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Correção para populações finitas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(quando a amostra representa mais que 5% da população)</a:t>
            </a:r>
          </a:p>
        </p:txBody>
      </p:sp>
      <p:graphicFrame>
        <p:nvGraphicFramePr>
          <p:cNvPr id="11268" name="Objeto 1"/>
          <p:cNvGraphicFramePr>
            <a:graphicFrameLocks noChangeAspect="1"/>
          </p:cNvGraphicFramePr>
          <p:nvPr/>
        </p:nvGraphicFramePr>
        <p:xfrm>
          <a:off x="2555875" y="2420938"/>
          <a:ext cx="1117600" cy="828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787058" imgH="583947" progId="Equation.3">
                  <p:embed/>
                </p:oleObj>
              </mc:Choice>
              <mc:Fallback>
                <p:oleObj name="Equação" r:id="rId2" imgW="787058" imgH="583947" progId="Equation.3">
                  <p:embed/>
                  <p:pic>
                    <p:nvPicPr>
                      <p:cNvPr id="11268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55875" y="2420938"/>
                        <a:ext cx="1117600" cy="828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to 10"/>
          <p:cNvGraphicFramePr>
            <a:graphicFrameLocks noChangeAspect="1"/>
          </p:cNvGraphicFramePr>
          <p:nvPr/>
        </p:nvGraphicFramePr>
        <p:xfrm>
          <a:off x="2124075" y="3903663"/>
          <a:ext cx="2198688" cy="684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548728" imgH="482391" progId="Equation.3">
                  <p:embed/>
                </p:oleObj>
              </mc:Choice>
              <mc:Fallback>
                <p:oleObj name="Equação" r:id="rId4" imgW="1548728" imgH="482391" progId="Equation.3">
                  <p:embed/>
                  <p:pic>
                    <p:nvPicPr>
                      <p:cNvPr id="11" name="Objeto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4075" y="3903663"/>
                        <a:ext cx="2198688" cy="6842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to 11"/>
          <p:cNvGraphicFramePr>
            <a:graphicFrameLocks noChangeAspect="1"/>
          </p:cNvGraphicFramePr>
          <p:nvPr/>
        </p:nvGraphicFramePr>
        <p:xfrm>
          <a:off x="2443163" y="5149850"/>
          <a:ext cx="2219325" cy="684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562100" imgH="482600" progId="Equation.3">
                  <p:embed/>
                </p:oleObj>
              </mc:Choice>
              <mc:Fallback>
                <p:oleObj name="Equação" r:id="rId6" imgW="1562100" imgH="482600" progId="Equation.3">
                  <p:embed/>
                  <p:pic>
                    <p:nvPicPr>
                      <p:cNvPr id="12" name="Objeto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43163" y="5149850"/>
                        <a:ext cx="2219325" cy="684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Box 3"/>
          <p:cNvSpPr txBox="1">
            <a:spLocks noChangeArrowheads="1"/>
          </p:cNvSpPr>
          <p:nvPr/>
        </p:nvSpPr>
        <p:spPr bwMode="auto">
          <a:xfrm>
            <a:off x="747713" y="4068763"/>
            <a:ext cx="130333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média:</a:t>
            </a:r>
          </a:p>
        </p:txBody>
      </p:sp>
      <p:sp>
        <p:nvSpPr>
          <p:cNvPr id="14" name="Text Box 3"/>
          <p:cNvSpPr txBox="1">
            <a:spLocks noChangeArrowheads="1"/>
          </p:cNvSpPr>
          <p:nvPr/>
        </p:nvSpPr>
        <p:spPr bwMode="auto">
          <a:xfrm>
            <a:off x="747713" y="5310188"/>
            <a:ext cx="16637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proporção:</a:t>
            </a:r>
          </a:p>
        </p:txBody>
      </p:sp>
      <p:sp>
        <p:nvSpPr>
          <p:cNvPr id="11273" name="Text Box 3"/>
          <p:cNvSpPr txBox="1">
            <a:spLocks noChangeArrowheads="1"/>
          </p:cNvSpPr>
          <p:nvPr/>
        </p:nvSpPr>
        <p:spPr bwMode="auto">
          <a:xfrm>
            <a:off x="4067175" y="2420938"/>
            <a:ext cx="3817938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= tamanho de amostra sem correção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= tamanho da população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'</a:t>
            </a:r>
            <a:r>
              <a:rPr lang="pt-BR" altLang="pt-BR" sz="1600" dirty="0">
                <a:latin typeface="Tahoma" panose="020B0604030504040204" pitchFamily="34" charset="0"/>
              </a:rPr>
              <a:t> = tamanho de amostra corrigido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2CE0E40-8CFD-44B5-AAFB-0695D619A0D1}" type="slidenum">
              <a:rPr lang="pt-BR"/>
              <a:pPr>
                <a:defRPr/>
              </a:pPr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0530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</a:p>
        </p:txBody>
      </p:sp>
      <p:sp>
        <p:nvSpPr>
          <p:cNvPr id="12291" name="Text Box 3"/>
          <p:cNvSpPr txBox="1">
            <a:spLocks noChangeArrowheads="1"/>
          </p:cNvSpPr>
          <p:nvPr/>
        </p:nvSpPr>
        <p:spPr bwMode="auto">
          <a:xfrm>
            <a:off x="755650" y="1484313"/>
            <a:ext cx="813752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Deseja-se estimar a exatidão de um mapa de modo que o valor estimado não ultrapasse em 8% a exatidão verdadeira (para mais ou para menos), utilizando-se um nível de confiança de 95%. Suponha que a exatidão verdadeira é de 80%.</a:t>
            </a:r>
          </a:p>
        </p:txBody>
      </p:sp>
      <p:graphicFrame>
        <p:nvGraphicFramePr>
          <p:cNvPr id="181277" name="Object 29"/>
          <p:cNvGraphicFramePr>
            <a:graphicFrameLocks noChangeAspect="1"/>
          </p:cNvGraphicFramePr>
          <p:nvPr/>
        </p:nvGraphicFramePr>
        <p:xfrm>
          <a:off x="755650" y="2773363"/>
          <a:ext cx="1306513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14400" imgH="457200" progId="Equation.DSMT4">
                  <p:embed/>
                </p:oleObj>
              </mc:Choice>
              <mc:Fallback>
                <p:oleObj name="Equation" r:id="rId2" imgW="914400" imgH="457200" progId="Equation.DSMT4">
                  <p:embed/>
                  <p:pic>
                    <p:nvPicPr>
                      <p:cNvPr id="18127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2773363"/>
                        <a:ext cx="1306513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285" name="Object 37"/>
          <p:cNvGraphicFramePr>
            <a:graphicFrameLocks noChangeAspect="1"/>
          </p:cNvGraphicFramePr>
          <p:nvPr/>
        </p:nvGraphicFramePr>
        <p:xfrm>
          <a:off x="755650" y="3573463"/>
          <a:ext cx="3303588" cy="630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311400" imgH="444500" progId="Equation.DSMT4">
                  <p:embed/>
                </p:oleObj>
              </mc:Choice>
              <mc:Fallback>
                <p:oleObj name="Equation" r:id="rId4" imgW="2311400" imgH="444500" progId="Equation.DSMT4">
                  <p:embed/>
                  <p:pic>
                    <p:nvPicPr>
                      <p:cNvPr id="181285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3573463"/>
                        <a:ext cx="3303588" cy="630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1286" name="Rectangle 38"/>
          <p:cNvSpPr>
            <a:spLocks noChangeArrowheads="1"/>
          </p:cNvSpPr>
          <p:nvPr/>
        </p:nvSpPr>
        <p:spPr bwMode="auto">
          <a:xfrm>
            <a:off x="3438525" y="3636963"/>
            <a:ext cx="647700" cy="503237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28" name="Object 28"/>
          <p:cNvGraphicFramePr>
            <a:graphicFrameLocks noChangeAspect="1"/>
          </p:cNvGraphicFramePr>
          <p:nvPr/>
        </p:nvGraphicFramePr>
        <p:xfrm>
          <a:off x="755650" y="5157788"/>
          <a:ext cx="3484563" cy="630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438400" imgH="444500" progId="Equation.DSMT4">
                  <p:embed/>
                </p:oleObj>
              </mc:Choice>
              <mc:Fallback>
                <p:oleObj name="Equation" r:id="rId6" imgW="2438400" imgH="444500" progId="Equation.DSMT4">
                  <p:embed/>
                  <p:pic>
                    <p:nvPicPr>
                      <p:cNvPr id="28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5157788"/>
                        <a:ext cx="3484563" cy="630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Rectangle 38"/>
          <p:cNvSpPr>
            <a:spLocks noChangeArrowheads="1"/>
          </p:cNvSpPr>
          <p:nvPr/>
        </p:nvSpPr>
        <p:spPr bwMode="auto">
          <a:xfrm>
            <a:off x="3502025" y="5221288"/>
            <a:ext cx="760413" cy="503237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30" name="Text Box 3"/>
          <p:cNvSpPr txBox="1">
            <a:spLocks noChangeArrowheads="1"/>
          </p:cNvSpPr>
          <p:nvPr/>
        </p:nvSpPr>
        <p:spPr bwMode="auto">
          <a:xfrm>
            <a:off x="755650" y="4437063"/>
            <a:ext cx="81375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pior caso (maior variância), a exatidão verdadeira seria de 50%.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A3D5CA-C222-4201-9589-3C487CEEBDA0}" type="slidenum">
              <a:rPr lang="pt-BR"/>
              <a:pPr>
                <a:defRPr/>
              </a:pPr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2814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286" grpId="0" animBg="1"/>
      <p:bldP spid="29" grpId="0" animBg="1"/>
      <p:bldP spid="3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A3D5CA-C222-4201-9589-3C487CEEBDA0}" type="slidenum">
              <a:rPr lang="pt-BR"/>
              <a:pPr>
                <a:defRPr/>
              </a:pPr>
              <a:t>26</a:t>
            </a:fld>
            <a:endParaRPr lang="pt-BR"/>
          </a:p>
        </p:txBody>
      </p:sp>
      <p:sp>
        <p:nvSpPr>
          <p:cNvPr id="11" name="Text Box 3"/>
          <p:cNvSpPr txBox="1">
            <a:spLocks noChangeArrowheads="1"/>
          </p:cNvSpPr>
          <p:nvPr/>
        </p:nvSpPr>
        <p:spPr bwMode="auto">
          <a:xfrm>
            <a:off x="755650" y="1550141"/>
            <a:ext cx="7992814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 Estratificada</a:t>
            </a:r>
            <a:r>
              <a:rPr lang="pt-BR" altLang="pt-BR" sz="1600" dirty="0">
                <a:latin typeface="Tahoma" panose="020B0604030504040204" pitchFamily="34" charset="0"/>
              </a:rPr>
              <a:t>, como distribuir as amostras em cada estrato?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precisamos selecionar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amostras de uma população de tamanho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e que esta população está dividida em </a:t>
            </a:r>
            <a:r>
              <a:rPr lang="pt-BR" altLang="pt-BR" sz="1600" i="1" dirty="0">
                <a:latin typeface="Times New Roman" charset="0"/>
              </a:rPr>
              <a:t>L</a:t>
            </a:r>
            <a:r>
              <a:rPr lang="pt-BR" altLang="pt-BR" sz="1600" dirty="0">
                <a:latin typeface="Tahoma" panose="020B0604030504040204" pitchFamily="34" charset="0"/>
              </a:rPr>
              <a:t> estratos com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baseline="-25000" dirty="0"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, ...,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i="1" baseline="-25000" dirty="0">
                <a:latin typeface="Times New Roman" charset="0"/>
              </a:rPr>
              <a:t>L</a:t>
            </a:r>
            <a:r>
              <a:rPr lang="pt-BR" altLang="pt-BR" sz="1600" dirty="0">
                <a:latin typeface="Tahoma" panose="020B0604030504040204" pitchFamily="34" charset="0"/>
              </a:rPr>
              <a:t> elementos.</a:t>
            </a:r>
          </a:p>
        </p:txBody>
      </p:sp>
      <p:grpSp>
        <p:nvGrpSpPr>
          <p:cNvPr id="12" name="Grupo 10"/>
          <p:cNvGrpSpPr>
            <a:grpSpLocks/>
          </p:cNvGrpSpPr>
          <p:nvPr/>
        </p:nvGrpSpPr>
        <p:grpSpPr bwMode="auto">
          <a:xfrm>
            <a:off x="3325606" y="3583286"/>
            <a:ext cx="1651414" cy="901087"/>
            <a:chOff x="2665236" y="2354356"/>
            <a:chExt cx="1651344" cy="902254"/>
          </a:xfrm>
        </p:grpSpPr>
        <p:graphicFrame>
          <p:nvGraphicFramePr>
            <p:cNvPr id="13" name="Object 5"/>
            <p:cNvGraphicFramePr>
              <a:graphicFrameLocks noChangeAspect="1"/>
            </p:cNvGraphicFramePr>
            <p:nvPr/>
          </p:nvGraphicFramePr>
          <p:xfrm>
            <a:off x="3064663" y="2354356"/>
            <a:ext cx="852488" cy="5635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596641" imgH="393529" progId="Equation.DSMT4">
                    <p:embed/>
                  </p:oleObj>
                </mc:Choice>
                <mc:Fallback>
                  <p:oleObj name="Equation" r:id="rId2" imgW="596641" imgH="393529" progId="Equation.DSMT4">
                    <p:embed/>
                    <p:pic>
                      <p:nvPicPr>
                        <p:cNvPr id="13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64663" y="2354356"/>
                          <a:ext cx="852488" cy="5635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" name="Rectangle 12"/>
            <p:cNvSpPr>
              <a:spLocks noChangeArrowheads="1"/>
            </p:cNvSpPr>
            <p:nvPr/>
          </p:nvSpPr>
          <p:spPr bwMode="auto">
            <a:xfrm>
              <a:off x="2665236" y="2948434"/>
              <a:ext cx="1651344" cy="3081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proporcionais a </a:t>
              </a:r>
              <a:r>
                <a:rPr lang="pt-BR" altLang="pt-BR" sz="1400" i="1" dirty="0" err="1">
                  <a:latin typeface="Times New Roman" charset="0"/>
                </a:rPr>
                <a:t>N</a:t>
              </a:r>
              <a:r>
                <a:rPr lang="pt-BR" altLang="pt-BR" sz="1400" i="1" baseline="-25000" dirty="0" err="1">
                  <a:latin typeface="Times New Roman" charset="0"/>
                </a:rPr>
                <a:t>i</a:t>
              </a:r>
              <a:endParaRPr lang="pt-BR" altLang="pt-BR" sz="1400" i="1" baseline="-25000" dirty="0">
                <a:latin typeface="Times New Roman" charset="0"/>
              </a:endParaRPr>
            </a:p>
          </p:txBody>
        </p:sp>
      </p:grpSp>
      <p:grpSp>
        <p:nvGrpSpPr>
          <p:cNvPr id="15" name="Grupo 11"/>
          <p:cNvGrpSpPr>
            <a:grpSpLocks/>
          </p:cNvGrpSpPr>
          <p:nvPr/>
        </p:nvGrpSpPr>
        <p:grpSpPr bwMode="auto">
          <a:xfrm>
            <a:off x="1393554" y="3583286"/>
            <a:ext cx="1172117" cy="901087"/>
            <a:chOff x="734026" y="2354355"/>
            <a:chExt cx="1171181" cy="902255"/>
          </a:xfrm>
        </p:grpSpPr>
        <p:graphicFrame>
          <p:nvGraphicFramePr>
            <p:cNvPr id="16" name="Object 4"/>
            <p:cNvGraphicFramePr>
              <a:graphicFrameLocks noChangeAspect="1"/>
            </p:cNvGraphicFramePr>
            <p:nvPr/>
          </p:nvGraphicFramePr>
          <p:xfrm>
            <a:off x="1010848" y="2354355"/>
            <a:ext cx="617537" cy="5635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431613" imgH="393529" progId="Equation.DSMT4">
                    <p:embed/>
                  </p:oleObj>
                </mc:Choice>
                <mc:Fallback>
                  <p:oleObj name="Equation" r:id="rId4" imgW="431613" imgH="393529" progId="Equation.DSMT4">
                    <p:embed/>
                    <p:pic>
                      <p:nvPicPr>
                        <p:cNvPr id="16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10848" y="2354355"/>
                          <a:ext cx="617537" cy="5635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" name="Rectangle 13"/>
            <p:cNvSpPr>
              <a:spLocks noChangeArrowheads="1"/>
            </p:cNvSpPr>
            <p:nvPr/>
          </p:nvSpPr>
          <p:spPr bwMode="auto">
            <a:xfrm>
              <a:off x="734026" y="2948434"/>
              <a:ext cx="1171181" cy="3081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todos iguais</a:t>
              </a:r>
              <a:endParaRPr lang="pt-BR" altLang="pt-BR" sz="1400" i="1" baseline="-25000" dirty="0">
                <a:latin typeface="Times New Roman" charset="0"/>
              </a:endParaRPr>
            </a:p>
          </p:txBody>
        </p:sp>
      </p:grpSp>
      <p:grpSp>
        <p:nvGrpSpPr>
          <p:cNvPr id="18" name="Grupo 9"/>
          <p:cNvGrpSpPr>
            <a:grpSpLocks/>
          </p:cNvGrpSpPr>
          <p:nvPr/>
        </p:nvGrpSpPr>
        <p:grpSpPr bwMode="auto">
          <a:xfrm>
            <a:off x="5425867" y="3586461"/>
            <a:ext cx="2275303" cy="1344564"/>
            <a:chOff x="4766454" y="2357295"/>
            <a:chExt cx="2274919" cy="1345463"/>
          </a:xfrm>
        </p:grpSpPr>
        <p:graphicFrame>
          <p:nvGraphicFramePr>
            <p:cNvPr id="19" name="Object 6"/>
            <p:cNvGraphicFramePr>
              <a:graphicFrameLocks noChangeAspect="1"/>
            </p:cNvGraphicFramePr>
            <p:nvPr/>
          </p:nvGraphicFramePr>
          <p:xfrm>
            <a:off x="5277644" y="2357295"/>
            <a:ext cx="1252537" cy="8905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876300" imgH="622300" progId="Equation.DSMT4">
                    <p:embed/>
                  </p:oleObj>
                </mc:Choice>
                <mc:Fallback>
                  <p:oleObj name="Equation" r:id="rId6" imgW="876300" imgH="622300" progId="Equation.DSMT4">
                    <p:embed/>
                    <p:pic>
                      <p:nvPicPr>
                        <p:cNvPr id="19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77644" y="2357295"/>
                          <a:ext cx="1252537" cy="89058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" name="Rectangle 14"/>
            <p:cNvSpPr>
              <a:spLocks noChangeArrowheads="1"/>
            </p:cNvSpPr>
            <p:nvPr/>
          </p:nvSpPr>
          <p:spPr bwMode="auto">
            <a:xfrm>
              <a:off x="4766454" y="3179188"/>
              <a:ext cx="2274919" cy="5235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tamanho ótimo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(considera a variabilidade)</a:t>
              </a:r>
              <a:endParaRPr lang="pt-BR" altLang="pt-BR" sz="1400" i="1" baseline="-25000" dirty="0">
                <a:latin typeface="Times New Roman" charset="0"/>
              </a:endParaRPr>
            </a:p>
          </p:txBody>
        </p:sp>
      </p:grpSp>
      <p:sp>
        <p:nvSpPr>
          <p:cNvPr id="21" name="Text Box 3"/>
          <p:cNvSpPr txBox="1">
            <a:spLocks noChangeArrowheads="1"/>
          </p:cNvSpPr>
          <p:nvPr/>
        </p:nvSpPr>
        <p:spPr bwMode="auto">
          <a:xfrm>
            <a:off x="755650" y="5180999"/>
            <a:ext cx="7992814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modo como as amostras são distribuídas entre os estratos têm forte impacto na estimativa de parâmetros globais (que representam toda a população) mas permite maior controle da representatividade e precisão de cada estrato.</a:t>
            </a:r>
          </a:p>
        </p:txBody>
      </p:sp>
    </p:spTree>
    <p:extLst>
      <p:ext uri="{BB962C8B-B14F-4D97-AF65-F5344CB8AC3E}">
        <p14:creationId xmlns:p14="http://schemas.microsoft.com/office/powerpoint/2010/main" val="3082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</a:p>
        </p:txBody>
      </p:sp>
      <p:sp>
        <p:nvSpPr>
          <p:cNvPr id="3085" name="Text Box 3"/>
          <p:cNvSpPr txBox="1">
            <a:spLocks noChangeArrowheads="1"/>
          </p:cNvSpPr>
          <p:nvPr/>
        </p:nvSpPr>
        <p:spPr bwMode="auto">
          <a:xfrm>
            <a:off x="755650" y="1484313"/>
            <a:ext cx="7908926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tamanho da amostra 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 também pode considerar o erro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(tipo II)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	Exemplo para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proporção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Hipóteses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		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0</a:t>
            </a:r>
            <a:endParaRPr lang="pt-BR" altLang="pt-BR" sz="1600" baseline="-250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		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&lt;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0</a:t>
            </a:r>
            <a:endParaRPr lang="pt-BR" altLang="pt-BR" sz="1600" baseline="-25000" dirty="0">
              <a:latin typeface="Times New Roman" charset="0"/>
            </a:endParaRPr>
          </a:p>
        </p:txBody>
      </p:sp>
      <p:grpSp>
        <p:nvGrpSpPr>
          <p:cNvPr id="2" name="Grupo 15"/>
          <p:cNvGrpSpPr>
            <a:grpSpLocks/>
          </p:cNvGrpSpPr>
          <p:nvPr/>
        </p:nvGrpSpPr>
        <p:grpSpPr bwMode="auto">
          <a:xfrm>
            <a:off x="5627688" y="2347913"/>
            <a:ext cx="3054350" cy="2144712"/>
            <a:chOff x="5627688" y="2347913"/>
            <a:chExt cx="3054350" cy="2144157"/>
          </a:xfrm>
        </p:grpSpPr>
        <p:pic>
          <p:nvPicPr>
            <p:cNvPr id="13342" name="Picture 37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3583"/>
            <a:stretch>
              <a:fillRect/>
            </a:stretch>
          </p:blipFill>
          <p:spPr bwMode="auto">
            <a:xfrm>
              <a:off x="5630863" y="2395538"/>
              <a:ext cx="3033713" cy="168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43" name="Text Box 40"/>
            <p:cNvSpPr txBox="1">
              <a:spLocks noChangeArrowheads="1"/>
            </p:cNvSpPr>
            <p:nvPr/>
          </p:nvSpPr>
          <p:spPr bwMode="auto">
            <a:xfrm>
              <a:off x="6992544" y="4122738"/>
              <a:ext cx="37702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latin typeface="Times New Roman" charset="0"/>
                  <a:cs typeface="Times New Roman" charset="0"/>
                  <a:sym typeface="Symbol" pitchFamily="18" charset="2"/>
                </a:rPr>
                <a:t>p</a:t>
              </a:r>
              <a:r>
                <a:rPr lang="pt-BR" altLang="pt-BR" sz="1800" baseline="-25000">
                  <a:latin typeface="Times New Roman" charset="0"/>
                  <a:cs typeface="Times New Roman" charset="0"/>
                  <a:sym typeface="Symbol" pitchFamily="18" charset="2"/>
                </a:rPr>
                <a:t>0</a:t>
              </a:r>
              <a:endParaRPr lang="pt-BR" altLang="pt-BR" sz="1800" baseline="-25000">
                <a:latin typeface="Times New Roman" charset="0"/>
              </a:endParaRPr>
            </a:p>
          </p:txBody>
        </p:sp>
        <p:sp>
          <p:nvSpPr>
            <p:cNvPr id="13344" name="Freeform 45"/>
            <p:cNvSpPr>
              <a:spLocks/>
            </p:cNvSpPr>
            <p:nvPr/>
          </p:nvSpPr>
          <p:spPr bwMode="auto">
            <a:xfrm flipH="1">
              <a:off x="6716713" y="2449513"/>
              <a:ext cx="1781175" cy="1630362"/>
            </a:xfrm>
            <a:custGeom>
              <a:avLst/>
              <a:gdLst>
                <a:gd name="T0" fmla="*/ 2147483647 w 1122"/>
                <a:gd name="T1" fmla="*/ 2147483647 h 1027"/>
                <a:gd name="T2" fmla="*/ 2147483647 w 1122"/>
                <a:gd name="T3" fmla="*/ 2147483647 h 1027"/>
                <a:gd name="T4" fmla="*/ 2147483647 w 1122"/>
                <a:gd name="T5" fmla="*/ 2147483647 h 1027"/>
                <a:gd name="T6" fmla="*/ 2147483647 w 1122"/>
                <a:gd name="T7" fmla="*/ 2147483647 h 1027"/>
                <a:gd name="T8" fmla="*/ 2147483647 w 1122"/>
                <a:gd name="T9" fmla="*/ 2147483647 h 1027"/>
                <a:gd name="T10" fmla="*/ 2147483647 w 1122"/>
                <a:gd name="T11" fmla="*/ 2147483647 h 1027"/>
                <a:gd name="T12" fmla="*/ 2147483647 w 1122"/>
                <a:gd name="T13" fmla="*/ 2147483647 h 1027"/>
                <a:gd name="T14" fmla="*/ 2147483647 w 1122"/>
                <a:gd name="T15" fmla="*/ 2147483647 h 1027"/>
                <a:gd name="T16" fmla="*/ 2147483647 w 1122"/>
                <a:gd name="T17" fmla="*/ 2147483647 h 1027"/>
                <a:gd name="T18" fmla="*/ 2147483647 w 1122"/>
                <a:gd name="T19" fmla="*/ 2147483647 h 1027"/>
                <a:gd name="T20" fmla="*/ 2147483647 w 1122"/>
                <a:gd name="T21" fmla="*/ 0 h 1027"/>
                <a:gd name="T22" fmla="*/ 2147483647 w 1122"/>
                <a:gd name="T23" fmla="*/ 0 h 1027"/>
                <a:gd name="T24" fmla="*/ 2147483647 w 1122"/>
                <a:gd name="T25" fmla="*/ 2147483647 h 1027"/>
                <a:gd name="T26" fmla="*/ 2147483647 w 1122"/>
                <a:gd name="T27" fmla="*/ 2147483647 h 1027"/>
                <a:gd name="T28" fmla="*/ 2147483647 w 1122"/>
                <a:gd name="T29" fmla="*/ 2147483647 h 1027"/>
                <a:gd name="T30" fmla="*/ 2147483647 w 1122"/>
                <a:gd name="T31" fmla="*/ 2147483647 h 1027"/>
                <a:gd name="T32" fmla="*/ 2147483647 w 1122"/>
                <a:gd name="T33" fmla="*/ 2147483647 h 1027"/>
                <a:gd name="T34" fmla="*/ 2147483647 w 1122"/>
                <a:gd name="T35" fmla="*/ 2147483647 h 1027"/>
                <a:gd name="T36" fmla="*/ 2147483647 w 1122"/>
                <a:gd name="T37" fmla="*/ 2147483647 h 1027"/>
                <a:gd name="T38" fmla="*/ 2147483647 w 1122"/>
                <a:gd name="T39" fmla="*/ 2147483647 h 1027"/>
                <a:gd name="T40" fmla="*/ 2147483647 w 1122"/>
                <a:gd name="T41" fmla="*/ 2147483647 h 1027"/>
                <a:gd name="T42" fmla="*/ 2147483647 w 1122"/>
                <a:gd name="T43" fmla="*/ 2147483647 h 1027"/>
                <a:gd name="T44" fmla="*/ 2147483647 w 1122"/>
                <a:gd name="T45" fmla="*/ 2147483647 h 1027"/>
                <a:gd name="T46" fmla="*/ 0 w 1122"/>
                <a:gd name="T47" fmla="*/ 2147483647 h 1027"/>
                <a:gd name="T48" fmla="*/ 2147483647 w 1122"/>
                <a:gd name="T49" fmla="*/ 2147483647 h 1027"/>
                <a:gd name="T50" fmla="*/ 2147483647 w 1122"/>
                <a:gd name="T51" fmla="*/ 2147483647 h 1027"/>
                <a:gd name="T52" fmla="*/ 2147483647 w 1122"/>
                <a:gd name="T53" fmla="*/ 2147483647 h 1027"/>
                <a:gd name="T54" fmla="*/ 2147483647 w 1122"/>
                <a:gd name="T55" fmla="*/ 2147483647 h 1027"/>
                <a:gd name="T56" fmla="*/ 2147483647 w 1122"/>
                <a:gd name="T57" fmla="*/ 2147483647 h 1027"/>
                <a:gd name="T58" fmla="*/ 2147483647 w 1122"/>
                <a:gd name="T59" fmla="*/ 2147483647 h 1027"/>
                <a:gd name="T60" fmla="*/ 2147483647 w 1122"/>
                <a:gd name="T61" fmla="*/ 2147483647 h 1027"/>
                <a:gd name="T62" fmla="*/ 2147483647 w 1122"/>
                <a:gd name="T63" fmla="*/ 2147483647 h 1027"/>
                <a:gd name="T64" fmla="*/ 2147483647 w 1122"/>
                <a:gd name="T65" fmla="*/ 2147483647 h 1027"/>
                <a:gd name="T66" fmla="*/ 2147483647 w 1122"/>
                <a:gd name="T67" fmla="*/ 2147483647 h 1027"/>
                <a:gd name="T68" fmla="*/ 2147483647 w 1122"/>
                <a:gd name="T69" fmla="*/ 2147483647 h 1027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w 1122"/>
                <a:gd name="T106" fmla="*/ 0 h 1027"/>
                <a:gd name="T107" fmla="*/ 1122 w 1122"/>
                <a:gd name="T108" fmla="*/ 1027 h 1027"/>
              </a:gdLst>
              <a:ahLst/>
              <a:cxnLst>
                <a:cxn ang="T70">
                  <a:pos x="T0" y="T1"/>
                </a:cxn>
                <a:cxn ang="T71">
                  <a:pos x="T2" y="T3"/>
                </a:cxn>
                <a:cxn ang="T72">
                  <a:pos x="T4" y="T5"/>
                </a:cxn>
                <a:cxn ang="T73">
                  <a:pos x="T6" y="T7"/>
                </a:cxn>
                <a:cxn ang="T74">
                  <a:pos x="T8" y="T9"/>
                </a:cxn>
                <a:cxn ang="T75">
                  <a:pos x="T10" y="T11"/>
                </a:cxn>
                <a:cxn ang="T76">
                  <a:pos x="T12" y="T13"/>
                </a:cxn>
                <a:cxn ang="T77">
                  <a:pos x="T14" y="T15"/>
                </a:cxn>
                <a:cxn ang="T78">
                  <a:pos x="T16" y="T17"/>
                </a:cxn>
                <a:cxn ang="T79">
                  <a:pos x="T18" y="T19"/>
                </a:cxn>
                <a:cxn ang="T80">
                  <a:pos x="T20" y="T21"/>
                </a:cxn>
                <a:cxn ang="T81">
                  <a:pos x="T22" y="T23"/>
                </a:cxn>
                <a:cxn ang="T82">
                  <a:pos x="T24" y="T25"/>
                </a:cxn>
                <a:cxn ang="T83">
                  <a:pos x="T26" y="T27"/>
                </a:cxn>
                <a:cxn ang="T84">
                  <a:pos x="T28" y="T29"/>
                </a:cxn>
                <a:cxn ang="T85">
                  <a:pos x="T30" y="T31"/>
                </a:cxn>
                <a:cxn ang="T86">
                  <a:pos x="T32" y="T33"/>
                </a:cxn>
                <a:cxn ang="T87">
                  <a:pos x="T34" y="T35"/>
                </a:cxn>
                <a:cxn ang="T88">
                  <a:pos x="T36" y="T37"/>
                </a:cxn>
                <a:cxn ang="T89">
                  <a:pos x="T38" y="T39"/>
                </a:cxn>
                <a:cxn ang="T90">
                  <a:pos x="T40" y="T41"/>
                </a:cxn>
                <a:cxn ang="T91">
                  <a:pos x="T42" y="T43"/>
                </a:cxn>
                <a:cxn ang="T92">
                  <a:pos x="T44" y="T45"/>
                </a:cxn>
                <a:cxn ang="T93">
                  <a:pos x="T46" y="T47"/>
                </a:cxn>
                <a:cxn ang="T94">
                  <a:pos x="T48" y="T49"/>
                </a:cxn>
                <a:cxn ang="T95">
                  <a:pos x="T50" y="T51"/>
                </a:cxn>
                <a:cxn ang="T96">
                  <a:pos x="T52" y="T53"/>
                </a:cxn>
                <a:cxn ang="T97">
                  <a:pos x="T54" y="T55"/>
                </a:cxn>
                <a:cxn ang="T98">
                  <a:pos x="T56" y="T57"/>
                </a:cxn>
                <a:cxn ang="T99">
                  <a:pos x="T58" y="T59"/>
                </a:cxn>
                <a:cxn ang="T100">
                  <a:pos x="T60" y="T61"/>
                </a:cxn>
                <a:cxn ang="T101">
                  <a:pos x="T62" y="T63"/>
                </a:cxn>
                <a:cxn ang="T102">
                  <a:pos x="T64" y="T65"/>
                </a:cxn>
                <a:cxn ang="T103">
                  <a:pos x="T66" y="T67"/>
                </a:cxn>
                <a:cxn ang="T104">
                  <a:pos x="T68" y="T69"/>
                </a:cxn>
              </a:cxnLst>
              <a:rect l="T105" t="T106" r="T107" b="T108"/>
              <a:pathLst>
                <a:path w="1122" h="1027">
                  <a:moveTo>
                    <a:pt x="536" y="540"/>
                  </a:moveTo>
                  <a:lnTo>
                    <a:pt x="565" y="470"/>
                  </a:lnTo>
                  <a:lnTo>
                    <a:pt x="591" y="397"/>
                  </a:lnTo>
                  <a:lnTo>
                    <a:pt x="620" y="319"/>
                  </a:lnTo>
                  <a:lnTo>
                    <a:pt x="655" y="240"/>
                  </a:lnTo>
                  <a:lnTo>
                    <a:pt x="684" y="173"/>
                  </a:lnTo>
                  <a:lnTo>
                    <a:pt x="712" y="109"/>
                  </a:lnTo>
                  <a:lnTo>
                    <a:pt x="744" y="59"/>
                  </a:lnTo>
                  <a:lnTo>
                    <a:pt x="770" y="27"/>
                  </a:lnTo>
                  <a:lnTo>
                    <a:pt x="802" y="4"/>
                  </a:lnTo>
                  <a:lnTo>
                    <a:pt x="824" y="0"/>
                  </a:lnTo>
                  <a:lnTo>
                    <a:pt x="850" y="0"/>
                  </a:lnTo>
                  <a:lnTo>
                    <a:pt x="872" y="16"/>
                  </a:lnTo>
                  <a:lnTo>
                    <a:pt x="904" y="45"/>
                  </a:lnTo>
                  <a:lnTo>
                    <a:pt x="940" y="96"/>
                  </a:lnTo>
                  <a:lnTo>
                    <a:pt x="968" y="164"/>
                  </a:lnTo>
                  <a:lnTo>
                    <a:pt x="997" y="230"/>
                  </a:lnTo>
                  <a:lnTo>
                    <a:pt x="1035" y="323"/>
                  </a:lnTo>
                  <a:lnTo>
                    <a:pt x="1063" y="397"/>
                  </a:lnTo>
                  <a:lnTo>
                    <a:pt x="1095" y="463"/>
                  </a:lnTo>
                  <a:lnTo>
                    <a:pt x="1111" y="508"/>
                  </a:lnTo>
                  <a:lnTo>
                    <a:pt x="1122" y="538"/>
                  </a:lnTo>
                  <a:lnTo>
                    <a:pt x="1122" y="1026"/>
                  </a:lnTo>
                  <a:lnTo>
                    <a:pt x="0" y="1027"/>
                  </a:lnTo>
                  <a:lnTo>
                    <a:pt x="125" y="1013"/>
                  </a:lnTo>
                  <a:lnTo>
                    <a:pt x="188" y="996"/>
                  </a:lnTo>
                  <a:lnTo>
                    <a:pt x="236" y="982"/>
                  </a:lnTo>
                  <a:lnTo>
                    <a:pt x="274" y="958"/>
                  </a:lnTo>
                  <a:lnTo>
                    <a:pt x="303" y="936"/>
                  </a:lnTo>
                  <a:lnTo>
                    <a:pt x="346" y="895"/>
                  </a:lnTo>
                  <a:lnTo>
                    <a:pt x="380" y="854"/>
                  </a:lnTo>
                  <a:lnTo>
                    <a:pt x="413" y="806"/>
                  </a:lnTo>
                  <a:lnTo>
                    <a:pt x="444" y="751"/>
                  </a:lnTo>
                  <a:lnTo>
                    <a:pt x="490" y="660"/>
                  </a:lnTo>
                  <a:lnTo>
                    <a:pt x="536" y="540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3345" name="Object 46"/>
            <p:cNvGraphicFramePr>
              <a:graphicFrameLocks noChangeAspect="1"/>
            </p:cNvGraphicFramePr>
            <p:nvPr/>
          </p:nvGraphicFramePr>
          <p:xfrm>
            <a:off x="6481763" y="3833813"/>
            <a:ext cx="171450" cy="1555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52334" imgH="139639" progId="Equation.DSMT4">
                    <p:embed/>
                  </p:oleObj>
                </mc:Choice>
                <mc:Fallback>
                  <p:oleObj name="Equation" r:id="rId3" imgW="152334" imgH="139639" progId="Equation.DSMT4">
                    <p:embed/>
                    <p:pic>
                      <p:nvPicPr>
                        <p:cNvPr id="13345" name="Object 4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481763" y="3833813"/>
                          <a:ext cx="171450" cy="1555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346" name="Object 47"/>
            <p:cNvGraphicFramePr>
              <a:graphicFrameLocks noChangeAspect="1"/>
            </p:cNvGraphicFramePr>
            <p:nvPr/>
          </p:nvGraphicFramePr>
          <p:xfrm>
            <a:off x="6985001" y="3409950"/>
            <a:ext cx="384175" cy="198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342603" imgH="177646" progId="Equation.DSMT4">
                    <p:embed/>
                  </p:oleObj>
                </mc:Choice>
                <mc:Fallback>
                  <p:oleObj name="Equation" r:id="rId5" imgW="342603" imgH="177646" progId="Equation.DSMT4">
                    <p:embed/>
                    <p:pic>
                      <p:nvPicPr>
                        <p:cNvPr id="13346" name="Object 4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985001" y="3409950"/>
                          <a:ext cx="384175" cy="198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47" name="Text Box 63"/>
            <p:cNvSpPr txBox="1">
              <a:spLocks noChangeArrowheads="1"/>
            </p:cNvSpPr>
            <p:nvPr/>
          </p:nvSpPr>
          <p:spPr bwMode="auto">
            <a:xfrm>
              <a:off x="7424738" y="2347913"/>
              <a:ext cx="344488" cy="274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</a:rPr>
                <a:t>H</a:t>
              </a:r>
              <a:r>
                <a:rPr lang="pt-BR" altLang="pt-BR" sz="1200" baseline="-25000">
                  <a:latin typeface="Times New Roman" charset="0"/>
                </a:rPr>
                <a:t>0</a:t>
              </a:r>
            </a:p>
          </p:txBody>
        </p:sp>
        <p:sp>
          <p:nvSpPr>
            <p:cNvPr id="13348" name="Line 41"/>
            <p:cNvSpPr>
              <a:spLocks noChangeShapeType="1"/>
            </p:cNvSpPr>
            <p:nvPr/>
          </p:nvSpPr>
          <p:spPr bwMode="auto">
            <a:xfrm>
              <a:off x="5627688" y="4083050"/>
              <a:ext cx="30543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upo 6"/>
          <p:cNvGrpSpPr>
            <a:grpSpLocks/>
          </p:cNvGrpSpPr>
          <p:nvPr/>
        </p:nvGrpSpPr>
        <p:grpSpPr bwMode="auto">
          <a:xfrm>
            <a:off x="6694488" y="3806825"/>
            <a:ext cx="655637" cy="1117600"/>
            <a:chOff x="6694501" y="3806825"/>
            <a:chExt cx="655625" cy="1117600"/>
          </a:xfrm>
        </p:grpSpPr>
        <p:sp>
          <p:nvSpPr>
            <p:cNvPr id="13338" name="Freeform 59"/>
            <p:cNvSpPr>
              <a:spLocks/>
            </p:cNvSpPr>
            <p:nvPr/>
          </p:nvSpPr>
          <p:spPr bwMode="auto">
            <a:xfrm flipH="1">
              <a:off x="6721476" y="3806825"/>
              <a:ext cx="628650" cy="274637"/>
            </a:xfrm>
            <a:custGeom>
              <a:avLst/>
              <a:gdLst>
                <a:gd name="T0" fmla="*/ 0 w 396"/>
                <a:gd name="T1" fmla="*/ 2147483647 h 173"/>
                <a:gd name="T2" fmla="*/ 2147483647 w 396"/>
                <a:gd name="T3" fmla="*/ 2147483647 h 173"/>
                <a:gd name="T4" fmla="*/ 2147483647 w 396"/>
                <a:gd name="T5" fmla="*/ 2147483647 h 173"/>
                <a:gd name="T6" fmla="*/ 2147483647 w 396"/>
                <a:gd name="T7" fmla="*/ 2147483647 h 173"/>
                <a:gd name="T8" fmla="*/ 2147483647 w 396"/>
                <a:gd name="T9" fmla="*/ 2147483647 h 173"/>
                <a:gd name="T10" fmla="*/ 2147483647 w 396"/>
                <a:gd name="T11" fmla="*/ 2147483647 h 173"/>
                <a:gd name="T12" fmla="*/ 2147483647 w 396"/>
                <a:gd name="T13" fmla="*/ 0 h 173"/>
                <a:gd name="T14" fmla="*/ 2147483647 w 396"/>
                <a:gd name="T15" fmla="*/ 2147483647 h 173"/>
                <a:gd name="T16" fmla="*/ 0 w 396"/>
                <a:gd name="T17" fmla="*/ 2147483647 h 17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96"/>
                <a:gd name="T28" fmla="*/ 0 h 173"/>
                <a:gd name="T29" fmla="*/ 396 w 396"/>
                <a:gd name="T30" fmla="*/ 173 h 17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96" h="173">
                  <a:moveTo>
                    <a:pt x="0" y="170"/>
                  </a:moveTo>
                  <a:lnTo>
                    <a:pt x="94" y="161"/>
                  </a:lnTo>
                  <a:lnTo>
                    <a:pt x="173" y="149"/>
                  </a:lnTo>
                  <a:lnTo>
                    <a:pt x="240" y="127"/>
                  </a:lnTo>
                  <a:lnTo>
                    <a:pt x="303" y="91"/>
                  </a:lnTo>
                  <a:lnTo>
                    <a:pt x="358" y="45"/>
                  </a:lnTo>
                  <a:lnTo>
                    <a:pt x="396" y="0"/>
                  </a:lnTo>
                  <a:lnTo>
                    <a:pt x="396" y="173"/>
                  </a:lnTo>
                  <a:lnTo>
                    <a:pt x="0" y="17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3339" name="Group 60"/>
            <p:cNvGrpSpPr>
              <a:grpSpLocks/>
            </p:cNvGrpSpPr>
            <p:nvPr/>
          </p:nvGrpSpPr>
          <p:grpSpPr bwMode="auto">
            <a:xfrm>
              <a:off x="6694501" y="4051300"/>
              <a:ext cx="258763" cy="873125"/>
              <a:chOff x="4094" y="3072"/>
              <a:chExt cx="163" cy="550"/>
            </a:xfrm>
          </p:grpSpPr>
          <p:sp>
            <p:nvSpPr>
              <p:cNvPr id="13340" name="Line 61"/>
              <p:cNvSpPr>
                <a:spLocks noChangeShapeType="1"/>
              </p:cNvSpPr>
              <p:nvPr/>
            </p:nvSpPr>
            <p:spPr bwMode="auto">
              <a:xfrm flipH="1">
                <a:off x="4176" y="3072"/>
                <a:ext cx="0" cy="33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3341" name="Object 62"/>
              <p:cNvGraphicFramePr>
                <a:graphicFrameLocks noChangeAspect="1"/>
              </p:cNvGraphicFramePr>
              <p:nvPr/>
            </p:nvGraphicFramePr>
            <p:xfrm>
              <a:off x="4094" y="3408"/>
              <a:ext cx="163" cy="21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152268" imgH="203024" progId="Equation.DSMT4">
                      <p:embed/>
                    </p:oleObj>
                  </mc:Choice>
                  <mc:Fallback>
                    <p:oleObj name="Equation" r:id="rId7" imgW="152268" imgH="203024" progId="Equation.DSMT4">
                      <p:embed/>
                      <p:pic>
                        <p:nvPicPr>
                          <p:cNvPr id="13341" name="Object 6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094" y="3408"/>
                            <a:ext cx="163" cy="21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</p:grpSp>
      <p:grpSp>
        <p:nvGrpSpPr>
          <p:cNvPr id="5" name="Grupo 13"/>
          <p:cNvGrpSpPr>
            <a:grpSpLocks/>
          </p:cNvGrpSpPr>
          <p:nvPr/>
        </p:nvGrpSpPr>
        <p:grpSpPr bwMode="auto">
          <a:xfrm>
            <a:off x="4471988" y="2395538"/>
            <a:ext cx="3054350" cy="2098675"/>
            <a:chOff x="4471988" y="2395538"/>
            <a:chExt cx="3054350" cy="2098119"/>
          </a:xfrm>
        </p:grpSpPr>
        <p:sp>
          <p:nvSpPr>
            <p:cNvPr id="13334" name="Line 54"/>
            <p:cNvSpPr>
              <a:spLocks noChangeShapeType="1"/>
            </p:cNvSpPr>
            <p:nvPr/>
          </p:nvSpPr>
          <p:spPr bwMode="auto">
            <a:xfrm>
              <a:off x="4471988" y="4084638"/>
              <a:ext cx="30543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5" name="Text Box 53"/>
            <p:cNvSpPr txBox="1">
              <a:spLocks noChangeArrowheads="1"/>
            </p:cNvSpPr>
            <p:nvPr/>
          </p:nvSpPr>
          <p:spPr bwMode="auto">
            <a:xfrm>
              <a:off x="5816206" y="4124325"/>
              <a:ext cx="37702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latin typeface="Times New Roman" charset="0"/>
                  <a:cs typeface="Times New Roman" charset="0"/>
                  <a:sym typeface="Symbol" pitchFamily="18" charset="2"/>
                </a:rPr>
                <a:t>p</a:t>
              </a:r>
              <a:r>
                <a:rPr lang="pt-BR" altLang="pt-BR" sz="1800" baseline="-25000">
                  <a:latin typeface="Times New Roman" charset="0"/>
                  <a:cs typeface="Times New Roman" charset="0"/>
                  <a:sym typeface="Symbol" pitchFamily="18" charset="2"/>
                </a:rPr>
                <a:t>1</a:t>
              </a:r>
              <a:endParaRPr lang="pt-BR" altLang="pt-BR" sz="1800" baseline="-25000">
                <a:latin typeface="Times New Roman" charset="0"/>
              </a:endParaRPr>
            </a:p>
          </p:txBody>
        </p:sp>
        <p:sp>
          <p:nvSpPr>
            <p:cNvPr id="13336" name="Freeform 55"/>
            <p:cNvSpPr>
              <a:spLocks/>
            </p:cNvSpPr>
            <p:nvPr/>
          </p:nvSpPr>
          <p:spPr bwMode="auto">
            <a:xfrm>
              <a:off x="4686301" y="2443163"/>
              <a:ext cx="2647950" cy="1630362"/>
            </a:xfrm>
            <a:custGeom>
              <a:avLst/>
              <a:gdLst>
                <a:gd name="T0" fmla="*/ 0 w 1668"/>
                <a:gd name="T1" fmla="*/ 2147483647 h 1027"/>
                <a:gd name="T2" fmla="*/ 2147483647 w 1668"/>
                <a:gd name="T3" fmla="*/ 2147483647 h 1027"/>
                <a:gd name="T4" fmla="*/ 2147483647 w 1668"/>
                <a:gd name="T5" fmla="*/ 2147483647 h 1027"/>
                <a:gd name="T6" fmla="*/ 2147483647 w 1668"/>
                <a:gd name="T7" fmla="*/ 2147483647 h 1027"/>
                <a:gd name="T8" fmla="*/ 2147483647 w 1668"/>
                <a:gd name="T9" fmla="*/ 2147483647 h 1027"/>
                <a:gd name="T10" fmla="*/ 2147483647 w 1668"/>
                <a:gd name="T11" fmla="*/ 2147483647 h 1027"/>
                <a:gd name="T12" fmla="*/ 2147483647 w 1668"/>
                <a:gd name="T13" fmla="*/ 2147483647 h 1027"/>
                <a:gd name="T14" fmla="*/ 2147483647 w 1668"/>
                <a:gd name="T15" fmla="*/ 2147483647 h 1027"/>
                <a:gd name="T16" fmla="*/ 2147483647 w 1668"/>
                <a:gd name="T17" fmla="*/ 2147483647 h 1027"/>
                <a:gd name="T18" fmla="*/ 2147483647 w 1668"/>
                <a:gd name="T19" fmla="*/ 2147483647 h 1027"/>
                <a:gd name="T20" fmla="*/ 2147483647 w 1668"/>
                <a:gd name="T21" fmla="*/ 2147483647 h 1027"/>
                <a:gd name="T22" fmla="*/ 2147483647 w 1668"/>
                <a:gd name="T23" fmla="*/ 2147483647 h 1027"/>
                <a:gd name="T24" fmla="*/ 2147483647 w 1668"/>
                <a:gd name="T25" fmla="*/ 2147483647 h 1027"/>
                <a:gd name="T26" fmla="*/ 2147483647 w 1668"/>
                <a:gd name="T27" fmla="*/ 2147483647 h 1027"/>
                <a:gd name="T28" fmla="*/ 2147483647 w 1668"/>
                <a:gd name="T29" fmla="*/ 2147483647 h 1027"/>
                <a:gd name="T30" fmla="*/ 2147483647 w 1668"/>
                <a:gd name="T31" fmla="*/ 2147483647 h 1027"/>
                <a:gd name="T32" fmla="*/ 2147483647 w 1668"/>
                <a:gd name="T33" fmla="*/ 2147483647 h 1027"/>
                <a:gd name="T34" fmla="*/ 2147483647 w 1668"/>
                <a:gd name="T35" fmla="*/ 2147483647 h 1027"/>
                <a:gd name="T36" fmla="*/ 2147483647 w 1668"/>
                <a:gd name="T37" fmla="*/ 0 h 1027"/>
                <a:gd name="T38" fmla="*/ 2147483647 w 1668"/>
                <a:gd name="T39" fmla="*/ 2147483647 h 1027"/>
                <a:gd name="T40" fmla="*/ 2147483647 w 1668"/>
                <a:gd name="T41" fmla="*/ 2147483647 h 1027"/>
                <a:gd name="T42" fmla="*/ 2147483647 w 1668"/>
                <a:gd name="T43" fmla="*/ 2147483647 h 1027"/>
                <a:gd name="T44" fmla="*/ 2147483647 w 1668"/>
                <a:gd name="T45" fmla="*/ 2147483647 h 1027"/>
                <a:gd name="T46" fmla="*/ 2147483647 w 1668"/>
                <a:gd name="T47" fmla="*/ 2147483647 h 1027"/>
                <a:gd name="T48" fmla="*/ 2147483647 w 1668"/>
                <a:gd name="T49" fmla="*/ 2147483647 h 1027"/>
                <a:gd name="T50" fmla="*/ 2147483647 w 1668"/>
                <a:gd name="T51" fmla="*/ 2147483647 h 1027"/>
                <a:gd name="T52" fmla="*/ 2147483647 w 1668"/>
                <a:gd name="T53" fmla="*/ 2147483647 h 1027"/>
                <a:gd name="T54" fmla="*/ 2147483647 w 1668"/>
                <a:gd name="T55" fmla="*/ 2147483647 h 1027"/>
                <a:gd name="T56" fmla="*/ 2147483647 w 1668"/>
                <a:gd name="T57" fmla="*/ 2147483647 h 1027"/>
                <a:gd name="T58" fmla="*/ 2147483647 w 1668"/>
                <a:gd name="T59" fmla="*/ 2147483647 h 1027"/>
                <a:gd name="T60" fmla="*/ 2147483647 w 1668"/>
                <a:gd name="T61" fmla="*/ 2147483647 h 1027"/>
                <a:gd name="T62" fmla="*/ 2147483647 w 1668"/>
                <a:gd name="T63" fmla="*/ 2147483647 h 1027"/>
                <a:gd name="T64" fmla="*/ 2147483647 w 1668"/>
                <a:gd name="T65" fmla="*/ 2147483647 h 1027"/>
                <a:gd name="T66" fmla="*/ 2147483647 w 1668"/>
                <a:gd name="T67" fmla="*/ 2147483647 h 1027"/>
                <a:gd name="T68" fmla="*/ 2147483647 w 1668"/>
                <a:gd name="T69" fmla="*/ 2147483647 h 1027"/>
                <a:gd name="T70" fmla="*/ 2147483647 w 1668"/>
                <a:gd name="T71" fmla="*/ 2147483647 h 1027"/>
                <a:gd name="T72" fmla="*/ 2147483647 w 1668"/>
                <a:gd name="T73" fmla="*/ 2147483647 h 1027"/>
                <a:gd name="T74" fmla="*/ 2147483647 w 1668"/>
                <a:gd name="T75" fmla="*/ 2147483647 h 1027"/>
                <a:gd name="T76" fmla="*/ 2147483647 w 1668"/>
                <a:gd name="T77" fmla="*/ 2147483647 h 1027"/>
                <a:gd name="T78" fmla="*/ 2147483647 w 1668"/>
                <a:gd name="T79" fmla="*/ 2147483647 h 1027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w 1668"/>
                <a:gd name="T121" fmla="*/ 0 h 1027"/>
                <a:gd name="T122" fmla="*/ 1668 w 1668"/>
                <a:gd name="T123" fmla="*/ 1027 h 1027"/>
              </a:gdLst>
              <a:ahLst/>
              <a:cxnLst>
                <a:cxn ang="T80">
                  <a:pos x="T0" y="T1"/>
                </a:cxn>
                <a:cxn ang="T81">
                  <a:pos x="T2" y="T3"/>
                </a:cxn>
                <a:cxn ang="T82">
                  <a:pos x="T4" y="T5"/>
                </a:cxn>
                <a:cxn ang="T83">
                  <a:pos x="T6" y="T7"/>
                </a:cxn>
                <a:cxn ang="T84">
                  <a:pos x="T8" y="T9"/>
                </a:cxn>
                <a:cxn ang="T85">
                  <a:pos x="T10" y="T11"/>
                </a:cxn>
                <a:cxn ang="T86">
                  <a:pos x="T12" y="T13"/>
                </a:cxn>
                <a:cxn ang="T87">
                  <a:pos x="T14" y="T15"/>
                </a:cxn>
                <a:cxn ang="T88">
                  <a:pos x="T16" y="T17"/>
                </a:cxn>
                <a:cxn ang="T89">
                  <a:pos x="T18" y="T19"/>
                </a:cxn>
                <a:cxn ang="T90">
                  <a:pos x="T20" y="T21"/>
                </a:cxn>
                <a:cxn ang="T91">
                  <a:pos x="T22" y="T23"/>
                </a:cxn>
                <a:cxn ang="T92">
                  <a:pos x="T24" y="T25"/>
                </a:cxn>
                <a:cxn ang="T93">
                  <a:pos x="T26" y="T27"/>
                </a:cxn>
                <a:cxn ang="T94">
                  <a:pos x="T28" y="T29"/>
                </a:cxn>
                <a:cxn ang="T95">
                  <a:pos x="T30" y="T31"/>
                </a:cxn>
                <a:cxn ang="T96">
                  <a:pos x="T32" y="T33"/>
                </a:cxn>
                <a:cxn ang="T97">
                  <a:pos x="T34" y="T35"/>
                </a:cxn>
                <a:cxn ang="T98">
                  <a:pos x="T36" y="T37"/>
                </a:cxn>
                <a:cxn ang="T99">
                  <a:pos x="T38" y="T39"/>
                </a:cxn>
                <a:cxn ang="T100">
                  <a:pos x="T40" y="T41"/>
                </a:cxn>
                <a:cxn ang="T101">
                  <a:pos x="T42" y="T43"/>
                </a:cxn>
                <a:cxn ang="T102">
                  <a:pos x="T44" y="T45"/>
                </a:cxn>
                <a:cxn ang="T103">
                  <a:pos x="T46" y="T47"/>
                </a:cxn>
                <a:cxn ang="T104">
                  <a:pos x="T48" y="T49"/>
                </a:cxn>
                <a:cxn ang="T105">
                  <a:pos x="T50" y="T51"/>
                </a:cxn>
                <a:cxn ang="T106">
                  <a:pos x="T52" y="T53"/>
                </a:cxn>
                <a:cxn ang="T107">
                  <a:pos x="T54" y="T55"/>
                </a:cxn>
                <a:cxn ang="T108">
                  <a:pos x="T56" y="T57"/>
                </a:cxn>
                <a:cxn ang="T109">
                  <a:pos x="T58" y="T59"/>
                </a:cxn>
                <a:cxn ang="T110">
                  <a:pos x="T60" y="T61"/>
                </a:cxn>
                <a:cxn ang="T111">
                  <a:pos x="T62" y="T63"/>
                </a:cxn>
                <a:cxn ang="T112">
                  <a:pos x="T64" y="T65"/>
                </a:cxn>
                <a:cxn ang="T113">
                  <a:pos x="T66" y="T67"/>
                </a:cxn>
                <a:cxn ang="T114">
                  <a:pos x="T68" y="T69"/>
                </a:cxn>
                <a:cxn ang="T115">
                  <a:pos x="T70" y="T71"/>
                </a:cxn>
                <a:cxn ang="T116">
                  <a:pos x="T72" y="T73"/>
                </a:cxn>
                <a:cxn ang="T117">
                  <a:pos x="T74" y="T75"/>
                </a:cxn>
                <a:cxn ang="T118">
                  <a:pos x="T76" y="T77"/>
                </a:cxn>
                <a:cxn ang="T119">
                  <a:pos x="T78" y="T79"/>
                </a:cxn>
              </a:cxnLst>
              <a:rect l="T120" t="T121" r="T122" b="T123"/>
              <a:pathLst>
                <a:path w="1668" h="1027">
                  <a:moveTo>
                    <a:pt x="0" y="1027"/>
                  </a:moveTo>
                  <a:lnTo>
                    <a:pt x="75" y="1022"/>
                  </a:lnTo>
                  <a:lnTo>
                    <a:pt x="132" y="1017"/>
                  </a:lnTo>
                  <a:lnTo>
                    <a:pt x="180" y="1005"/>
                  </a:lnTo>
                  <a:lnTo>
                    <a:pt x="233" y="989"/>
                  </a:lnTo>
                  <a:lnTo>
                    <a:pt x="303" y="950"/>
                  </a:lnTo>
                  <a:lnTo>
                    <a:pt x="353" y="902"/>
                  </a:lnTo>
                  <a:lnTo>
                    <a:pt x="387" y="864"/>
                  </a:lnTo>
                  <a:lnTo>
                    <a:pt x="427" y="797"/>
                  </a:lnTo>
                  <a:lnTo>
                    <a:pt x="466" y="725"/>
                  </a:lnTo>
                  <a:lnTo>
                    <a:pt x="509" y="633"/>
                  </a:lnTo>
                  <a:lnTo>
                    <a:pt x="550" y="530"/>
                  </a:lnTo>
                  <a:lnTo>
                    <a:pt x="619" y="350"/>
                  </a:lnTo>
                  <a:lnTo>
                    <a:pt x="663" y="237"/>
                  </a:lnTo>
                  <a:lnTo>
                    <a:pt x="708" y="141"/>
                  </a:lnTo>
                  <a:lnTo>
                    <a:pt x="751" y="65"/>
                  </a:lnTo>
                  <a:lnTo>
                    <a:pt x="778" y="31"/>
                  </a:lnTo>
                  <a:lnTo>
                    <a:pt x="811" y="7"/>
                  </a:lnTo>
                  <a:lnTo>
                    <a:pt x="838" y="0"/>
                  </a:lnTo>
                  <a:lnTo>
                    <a:pt x="874" y="9"/>
                  </a:lnTo>
                  <a:lnTo>
                    <a:pt x="905" y="43"/>
                  </a:lnTo>
                  <a:lnTo>
                    <a:pt x="931" y="72"/>
                  </a:lnTo>
                  <a:lnTo>
                    <a:pt x="953" y="120"/>
                  </a:lnTo>
                  <a:lnTo>
                    <a:pt x="984" y="177"/>
                  </a:lnTo>
                  <a:lnTo>
                    <a:pt x="1013" y="249"/>
                  </a:lnTo>
                  <a:lnTo>
                    <a:pt x="1047" y="331"/>
                  </a:lnTo>
                  <a:lnTo>
                    <a:pt x="1083" y="422"/>
                  </a:lnTo>
                  <a:lnTo>
                    <a:pt x="1123" y="530"/>
                  </a:lnTo>
                  <a:lnTo>
                    <a:pt x="1157" y="609"/>
                  </a:lnTo>
                  <a:lnTo>
                    <a:pt x="1191" y="689"/>
                  </a:lnTo>
                  <a:lnTo>
                    <a:pt x="1227" y="758"/>
                  </a:lnTo>
                  <a:lnTo>
                    <a:pt x="1263" y="823"/>
                  </a:lnTo>
                  <a:lnTo>
                    <a:pt x="1303" y="876"/>
                  </a:lnTo>
                  <a:lnTo>
                    <a:pt x="1339" y="917"/>
                  </a:lnTo>
                  <a:lnTo>
                    <a:pt x="1380" y="953"/>
                  </a:lnTo>
                  <a:lnTo>
                    <a:pt x="1423" y="979"/>
                  </a:lnTo>
                  <a:lnTo>
                    <a:pt x="1476" y="1001"/>
                  </a:lnTo>
                  <a:lnTo>
                    <a:pt x="1534" y="1015"/>
                  </a:lnTo>
                  <a:lnTo>
                    <a:pt x="1594" y="1022"/>
                  </a:lnTo>
                  <a:lnTo>
                    <a:pt x="1668" y="1027"/>
                  </a:lnTo>
                </a:path>
              </a:pathLst>
            </a:custGeom>
            <a:noFill/>
            <a:ln w="952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7" name="Text Box 64"/>
            <p:cNvSpPr txBox="1">
              <a:spLocks noChangeArrowheads="1"/>
            </p:cNvSpPr>
            <p:nvPr/>
          </p:nvSpPr>
          <p:spPr bwMode="auto">
            <a:xfrm>
              <a:off x="6227763" y="2395538"/>
              <a:ext cx="344488" cy="274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</a:rPr>
                <a:t>H</a:t>
              </a:r>
              <a:r>
                <a:rPr lang="pt-BR" altLang="pt-BR" sz="1200" baseline="-25000">
                  <a:latin typeface="Times New Roman" charset="0"/>
                </a:rPr>
                <a:t>1</a:t>
              </a:r>
            </a:p>
          </p:txBody>
        </p:sp>
      </p:grpSp>
      <p:graphicFrame>
        <p:nvGraphicFramePr>
          <p:cNvPr id="184386" name="Object 66"/>
          <p:cNvGraphicFramePr>
            <a:graphicFrameLocks noChangeAspect="1"/>
          </p:cNvGraphicFramePr>
          <p:nvPr/>
        </p:nvGraphicFramePr>
        <p:xfrm>
          <a:off x="900113" y="3565525"/>
          <a:ext cx="2665412" cy="720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866900" imgH="508000" progId="Equation.DSMT4">
                  <p:embed/>
                </p:oleObj>
              </mc:Choice>
              <mc:Fallback>
                <p:oleObj name="Equation" r:id="rId9" imgW="1866900" imgH="508000" progId="Equation.DSMT4">
                  <p:embed/>
                  <p:pic>
                    <p:nvPicPr>
                      <p:cNvPr id="184386" name="Object 6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3565525"/>
                        <a:ext cx="2665412" cy="720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Text Box 3"/>
          <p:cNvSpPr txBox="1">
            <a:spLocks noChangeArrowheads="1"/>
          </p:cNvSpPr>
          <p:nvPr/>
        </p:nvSpPr>
        <p:spPr bwMode="auto">
          <a:xfrm>
            <a:off x="755650" y="4264025"/>
            <a:ext cx="4752975" cy="4191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marL="188913" indent="-188913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l" defTabSz="360363" eaLnBrk="1" hangingPunct="1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  <a:sym typeface="Symbol" pitchFamily="18" charset="2"/>
              </a:rPr>
              <a:t>Considerando </a:t>
            </a:r>
            <a:r>
              <a:rPr 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sz="1600" dirty="0">
                <a:latin typeface="Tahoma" panose="020B0604030504040204" pitchFamily="34" charset="0"/>
                <a:cs typeface="Times New Roman" pitchFamily="18" charset="0"/>
                <a:sym typeface="Symbol" pitchFamily="18" charset="2"/>
              </a:rPr>
              <a:t>verdadeira</a:t>
            </a:r>
            <a:r>
              <a:rPr lang="pt-BR" sz="1600" dirty="0">
                <a:latin typeface="Tahoma" panose="020B0604030504040204" pitchFamily="34" charset="0"/>
                <a:sym typeface="Symbol" pitchFamily="18" charset="2"/>
              </a:rPr>
              <a:t> (</a:t>
            </a:r>
            <a:r>
              <a:rPr lang="pt-BR" sz="1600" i="1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p</a:t>
            </a:r>
            <a:r>
              <a:rPr 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sz="1600" i="1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p</a:t>
            </a:r>
            <a:r>
              <a:rPr lang="pt-BR" sz="1600" baseline="-25000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1</a:t>
            </a:r>
            <a:r>
              <a:rPr lang="pt-BR" sz="1600" dirty="0">
                <a:latin typeface="Tahoma" panose="020B0604030504040204" pitchFamily="34" charset="0"/>
                <a:sym typeface="Symbol" pitchFamily="18" charset="2"/>
              </a:rPr>
              <a:t>)</a:t>
            </a:r>
            <a:endParaRPr 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40" name="Object 68"/>
          <p:cNvGraphicFramePr>
            <a:graphicFrameLocks noChangeAspect="1"/>
          </p:cNvGraphicFramePr>
          <p:nvPr/>
        </p:nvGraphicFramePr>
        <p:xfrm>
          <a:off x="868363" y="4868863"/>
          <a:ext cx="3279775" cy="1262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298700" imgH="889000" progId="Equation.DSMT4">
                  <p:embed/>
                </p:oleObj>
              </mc:Choice>
              <mc:Fallback>
                <p:oleObj name="Equation" r:id="rId11" imgW="2298700" imgH="889000" progId="Equation.DSMT4">
                  <p:embed/>
                  <p:pic>
                    <p:nvPicPr>
                      <p:cNvPr id="40" name="Object 6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868863"/>
                        <a:ext cx="3279775" cy="12620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upo 31"/>
          <p:cNvGrpSpPr>
            <a:grpSpLocks/>
          </p:cNvGrpSpPr>
          <p:nvPr/>
        </p:nvGrpSpPr>
        <p:grpSpPr bwMode="auto">
          <a:xfrm>
            <a:off x="365125" y="4876800"/>
            <a:ext cx="1466850" cy="1343025"/>
            <a:chOff x="247621" y="4157670"/>
            <a:chExt cx="1466859" cy="1343032"/>
          </a:xfrm>
        </p:grpSpPr>
        <p:graphicFrame>
          <p:nvGraphicFramePr>
            <p:cNvPr id="13331" name="Object 28"/>
            <p:cNvGraphicFramePr>
              <a:graphicFrameLocks noChangeAspect="1"/>
            </p:cNvGraphicFramePr>
            <p:nvPr/>
          </p:nvGraphicFramePr>
          <p:xfrm>
            <a:off x="247621" y="4157670"/>
            <a:ext cx="252413" cy="342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177646" imgH="241091" progId="Equation.DSMT4">
                    <p:embed/>
                  </p:oleObj>
                </mc:Choice>
                <mc:Fallback>
                  <p:oleObj name="Equation" r:id="rId13" imgW="177646" imgH="241091" progId="Equation.DSMT4">
                    <p:embed/>
                    <p:pic>
                      <p:nvPicPr>
                        <p:cNvPr id="13331" name="Object 2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7621" y="4157670"/>
                          <a:ext cx="252413" cy="342900"/>
                        </a:xfrm>
                        <a:prstGeom prst="rect">
                          <a:avLst/>
                        </a:prstGeom>
                        <a:noFill/>
                        <a:ln w="9525">
                          <a:solidFill>
                            <a:srgbClr val="FF0000"/>
                          </a:solidFill>
                          <a:miter lim="800000"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32" name="Elipse 28"/>
            <p:cNvSpPr>
              <a:spLocks noChangeArrowheads="1"/>
            </p:cNvSpPr>
            <p:nvPr/>
          </p:nvSpPr>
          <p:spPr bwMode="auto">
            <a:xfrm>
              <a:off x="1000100" y="4357694"/>
              <a:ext cx="714380" cy="1143008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cxnSp>
          <p:nvCxnSpPr>
            <p:cNvPr id="13333" name="Conector reto 30"/>
            <p:cNvCxnSpPr>
              <a:cxnSpLocks noChangeShapeType="1"/>
              <a:stCxn id="13332" idx="1"/>
            </p:cNvCxnSpPr>
            <p:nvPr/>
          </p:nvCxnSpPr>
          <p:spPr bwMode="auto">
            <a:xfrm rot="16200000" flipV="1">
              <a:off x="729931" y="4150295"/>
              <a:ext cx="158567" cy="591011"/>
            </a:xfrm>
            <a:prstGeom prst="lin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aphicFrame>
        <p:nvGraphicFramePr>
          <p:cNvPr id="10" name="Objeto 9"/>
          <p:cNvGraphicFramePr>
            <a:graphicFrameLocks noChangeAspect="1"/>
          </p:cNvGraphicFramePr>
          <p:nvPr/>
        </p:nvGraphicFramePr>
        <p:xfrm>
          <a:off x="4800600" y="5133975"/>
          <a:ext cx="3443288" cy="722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413000" imgH="508000" progId="Equation.DSMT4">
                  <p:embed/>
                </p:oleObj>
              </mc:Choice>
              <mc:Fallback>
                <p:oleObj name="Equation" r:id="rId15" imgW="2413000" imgH="508000" progId="Equation.DSMT4">
                  <p:embed/>
                  <p:pic>
                    <p:nvPicPr>
                      <p:cNvPr id="10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00600" y="5133975"/>
                        <a:ext cx="3443288" cy="722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upo 12"/>
          <p:cNvGrpSpPr>
            <a:grpSpLocks/>
          </p:cNvGrpSpPr>
          <p:nvPr/>
        </p:nvGrpSpPr>
        <p:grpSpPr bwMode="auto">
          <a:xfrm>
            <a:off x="5148263" y="5876925"/>
            <a:ext cx="2620962" cy="936625"/>
            <a:chOff x="5148064" y="5877272"/>
            <a:chExt cx="2621162" cy="936104"/>
          </a:xfrm>
        </p:grpSpPr>
        <p:graphicFrame>
          <p:nvGraphicFramePr>
            <p:cNvPr id="13329" name="Objeto 10"/>
            <p:cNvGraphicFramePr>
              <a:graphicFrameLocks noChangeAspect="1"/>
            </p:cNvGraphicFramePr>
            <p:nvPr/>
          </p:nvGraphicFramePr>
          <p:xfrm>
            <a:off x="5254526" y="5921462"/>
            <a:ext cx="2408238" cy="8477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1689100" imgH="596900" progId="Equation.DSMT4">
                    <p:embed/>
                  </p:oleObj>
                </mc:Choice>
                <mc:Fallback>
                  <p:oleObj name="Equation" r:id="rId17" imgW="1689100" imgH="596900" progId="Equation.DSMT4">
                    <p:embed/>
                    <p:pic>
                      <p:nvPicPr>
                        <p:cNvPr id="13329" name="Objeto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54526" y="5921462"/>
                          <a:ext cx="2408238" cy="8477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30" name="Retângulo 11"/>
            <p:cNvSpPr>
              <a:spLocks noChangeArrowheads="1"/>
            </p:cNvSpPr>
            <p:nvPr/>
          </p:nvSpPr>
          <p:spPr bwMode="auto">
            <a:xfrm>
              <a:off x="5148064" y="5877272"/>
              <a:ext cx="2621162" cy="936104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8" name="Grupo 25"/>
          <p:cNvGrpSpPr>
            <a:grpSpLocks/>
          </p:cNvGrpSpPr>
          <p:nvPr/>
        </p:nvGrpSpPr>
        <p:grpSpPr bwMode="auto">
          <a:xfrm>
            <a:off x="1554163" y="3533775"/>
            <a:ext cx="5162550" cy="935038"/>
            <a:chOff x="1554826" y="3534086"/>
            <a:chExt cx="5161441" cy="934185"/>
          </a:xfrm>
        </p:grpSpPr>
        <p:sp>
          <p:nvSpPr>
            <p:cNvPr id="13327" name="Elipse 28"/>
            <p:cNvSpPr>
              <a:spLocks noChangeArrowheads="1"/>
            </p:cNvSpPr>
            <p:nvPr/>
          </p:nvSpPr>
          <p:spPr bwMode="auto">
            <a:xfrm>
              <a:off x="1554826" y="3534086"/>
              <a:ext cx="1288982" cy="745436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328" name="Line 61"/>
            <p:cNvSpPr>
              <a:spLocks noChangeShapeType="1"/>
            </p:cNvSpPr>
            <p:nvPr/>
          </p:nvSpPr>
          <p:spPr bwMode="auto">
            <a:xfrm flipV="1">
              <a:off x="6572251" y="4095553"/>
              <a:ext cx="144016" cy="372718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D342A3C-42F7-4BEC-9F63-A4D896CA11A9}" type="slidenum">
              <a:rPr lang="pt-BR"/>
              <a:pPr>
                <a:defRPr/>
              </a:pPr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9497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85" grpId="0" build="p"/>
      <p:bldP spid="37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>
          <a:xfrm>
            <a:off x="175320" y="609600"/>
            <a:ext cx="871716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Qual impacto da amostragem estratificada?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A3D5CA-C222-4201-9589-3C487CEEBDA0}" type="slidenum">
              <a:rPr lang="pt-BR"/>
              <a:pPr>
                <a:defRPr/>
              </a:pPr>
              <a:t>28</a:t>
            </a:fld>
            <a:endParaRPr lang="pt-BR" dirty="0"/>
          </a:p>
        </p:txBody>
      </p:sp>
      <p:sp>
        <p:nvSpPr>
          <p:cNvPr id="11" name="Text Box 3"/>
          <p:cNvSpPr txBox="1">
            <a:spLocks noChangeArrowheads="1"/>
          </p:cNvSpPr>
          <p:nvPr/>
        </p:nvSpPr>
        <p:spPr bwMode="auto">
          <a:xfrm>
            <a:off x="755650" y="1550141"/>
            <a:ext cx="7992814" cy="15194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queremos determinar a média da região abaixo considerando-se que não teríamos como acessar todos os valores mas somente uma amostra. Suponha ainda que tenhamos um mapa que poderia ser utilizado para estratificar as amostras. Qual a vantagem de se dividir as amostras entre os diferentes estratos?</a:t>
            </a:r>
          </a:p>
        </p:txBody>
      </p:sp>
      <p:pic>
        <p:nvPicPr>
          <p:cNvPr id="2560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840" y="3789040"/>
            <a:ext cx="2493238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5605" name="Picture 5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1" r="25635" b="7551"/>
          <a:stretch/>
        </p:blipFill>
        <p:spPr bwMode="auto">
          <a:xfrm>
            <a:off x="439483" y="3789040"/>
            <a:ext cx="2493238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Text Box 3"/>
          <p:cNvSpPr txBox="1">
            <a:spLocks noChangeArrowheads="1"/>
          </p:cNvSpPr>
          <p:nvPr/>
        </p:nvSpPr>
        <p:spPr bwMode="auto">
          <a:xfrm>
            <a:off x="6262438" y="3645024"/>
            <a:ext cx="2448272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Aleatória Simples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X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Aleatória Estratificada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Tamanhos de amostras:</a:t>
            </a:r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023540"/>
              </p:ext>
            </p:extLst>
          </p:nvPr>
        </p:nvGraphicFramePr>
        <p:xfrm>
          <a:off x="6080668" y="5584016"/>
          <a:ext cx="2811812" cy="762000"/>
        </p:xfrm>
        <a:graphic>
          <a:graphicData uri="http://schemas.openxmlformats.org/drawingml/2006/table">
            <a:tbl>
              <a:tblPr/>
              <a:tblGrid>
                <a:gridCol w="373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B05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70C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Retângulo 2"/>
          <p:cNvSpPr/>
          <p:nvPr/>
        </p:nvSpPr>
        <p:spPr>
          <a:xfrm>
            <a:off x="6444208" y="6258605"/>
            <a:ext cx="1897314" cy="3316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lnSpc>
                <a:spcPct val="150000"/>
              </a:lnSpc>
            </a:pPr>
            <a:r>
              <a:rPr lang="pt-BR" altLang="pt-BR" dirty="0">
                <a:latin typeface="Tahoma" panose="020B0604030504040204" pitchFamily="34" charset="0"/>
              </a:rPr>
              <a:t>*proporcional por estrato</a:t>
            </a:r>
          </a:p>
        </p:txBody>
      </p:sp>
    </p:spTree>
    <p:extLst>
      <p:ext uri="{BB962C8B-B14F-4D97-AF65-F5344CB8AC3E}">
        <p14:creationId xmlns:p14="http://schemas.microsoft.com/office/powerpoint/2010/main" val="665225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>
          <a:xfrm>
            <a:off x="175320" y="609600"/>
            <a:ext cx="871716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Qual impacto da amostragem estratificada?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A3D5CA-C222-4201-9589-3C487CEEBDA0}" type="slidenum">
              <a:rPr lang="pt-BR"/>
              <a:pPr>
                <a:defRPr/>
              </a:pPr>
              <a:t>29</a:t>
            </a:fld>
            <a:endParaRPr lang="pt-BR" dirty="0"/>
          </a:p>
        </p:txBody>
      </p:sp>
      <p:pic>
        <p:nvPicPr>
          <p:cNvPr id="13" name="Picture 5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1" r="25635" b="7551"/>
          <a:stretch/>
        </p:blipFill>
        <p:spPr bwMode="auto">
          <a:xfrm>
            <a:off x="1140420" y="2174383"/>
            <a:ext cx="1133290" cy="10801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8" name="Text Box 3"/>
          <p:cNvSpPr txBox="1">
            <a:spLocks noChangeArrowheads="1"/>
          </p:cNvSpPr>
          <p:nvPr/>
        </p:nvSpPr>
        <p:spPr bwMode="auto">
          <a:xfrm>
            <a:off x="482929" y="1714383"/>
            <a:ext cx="2448272" cy="4208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Aleatória Simples</a:t>
            </a:r>
          </a:p>
        </p:txBody>
      </p:sp>
      <p:grpSp>
        <p:nvGrpSpPr>
          <p:cNvPr id="181258" name="Grupo 181257"/>
          <p:cNvGrpSpPr/>
          <p:nvPr/>
        </p:nvGrpSpPr>
        <p:grpSpPr>
          <a:xfrm>
            <a:off x="3927173" y="1346018"/>
            <a:ext cx="4821291" cy="2736850"/>
            <a:chOff x="3927173" y="1346018"/>
            <a:chExt cx="4821291" cy="2736850"/>
          </a:xfrm>
        </p:grpSpPr>
        <p:pic>
          <p:nvPicPr>
            <p:cNvPr id="25602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6464" y="1346018"/>
              <a:ext cx="4572000" cy="27368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0DF466AF-2DF7-E98C-14E8-C8F5217AB23D}"/>
                </a:ext>
              </a:extLst>
            </p:cNvPr>
            <p:cNvSpPr/>
            <p:nvPr/>
          </p:nvSpPr>
          <p:spPr>
            <a:xfrm>
              <a:off x="7272808" y="1455379"/>
              <a:ext cx="1342034" cy="33874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pt-BR" altLang="pt-BR" dirty="0">
                  <a:latin typeface="Tahoma" panose="020B0604030504040204" pitchFamily="34" charset="0"/>
                </a:rPr>
                <a:t>1000 simulações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 rot="16200000">
              <a:off x="3452076" y="2575944"/>
              <a:ext cx="12271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média amostral</a:t>
              </a:r>
            </a:p>
          </p:txBody>
        </p:sp>
      </p:grpSp>
      <p:grpSp>
        <p:nvGrpSpPr>
          <p:cNvPr id="181260" name="Grupo 181259"/>
          <p:cNvGrpSpPr/>
          <p:nvPr/>
        </p:nvGrpSpPr>
        <p:grpSpPr>
          <a:xfrm>
            <a:off x="3927173" y="4079974"/>
            <a:ext cx="4821291" cy="2730500"/>
            <a:chOff x="3927173" y="4079974"/>
            <a:chExt cx="4821291" cy="2730500"/>
          </a:xfrm>
        </p:grpSpPr>
        <p:pic>
          <p:nvPicPr>
            <p:cNvPr id="25603" name="Picture 3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6464" y="4079974"/>
              <a:ext cx="4572000" cy="27305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ED847B44-A2C7-920B-E634-99D9319B9C7D}"/>
                </a:ext>
              </a:extLst>
            </p:cNvPr>
            <p:cNvSpPr/>
            <p:nvPr/>
          </p:nvSpPr>
          <p:spPr>
            <a:xfrm>
              <a:off x="7272808" y="4192229"/>
              <a:ext cx="1342034" cy="33874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pt-BR" altLang="pt-BR" dirty="0">
                  <a:latin typeface="Tahoma" panose="020B0604030504040204" pitchFamily="34" charset="0"/>
                </a:rPr>
                <a:t>1000 simulações</a:t>
              </a:r>
            </a:p>
          </p:txBody>
        </p:sp>
        <p:sp>
          <p:nvSpPr>
            <p:cNvPr id="16" name="CaixaDeTexto 15"/>
            <p:cNvSpPr txBox="1"/>
            <p:nvPr/>
          </p:nvSpPr>
          <p:spPr>
            <a:xfrm rot="16200000">
              <a:off x="3452076" y="5306725"/>
              <a:ext cx="12271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média amostral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3"/>
              <p:cNvSpPr txBox="1">
                <a:spLocks noChangeArrowheads="1"/>
              </p:cNvSpPr>
              <p:nvPr/>
            </p:nvSpPr>
            <p:spPr bwMode="auto">
              <a:xfrm>
                <a:off x="1282710" y="3180439"/>
                <a:ext cx="848711" cy="3462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altLang="pt-BR" sz="11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pt-BR" altLang="pt-B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=14,03</m:t>
                      </m:r>
                    </m:oMath>
                  </m:oMathPara>
                </a14:m>
                <a:endParaRPr lang="pt-BR" altLang="pt-BR" sz="11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7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82710" y="3180439"/>
                <a:ext cx="848711" cy="346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1249" name="Imagem 181248"/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40420" y="2174383"/>
            <a:ext cx="1134944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 Box 3"/>
              <p:cNvSpPr txBox="1">
                <a:spLocks noChangeArrowheads="1"/>
              </p:cNvSpPr>
              <p:nvPr/>
            </p:nvSpPr>
            <p:spPr bwMode="auto">
              <a:xfrm>
                <a:off x="2454604" y="2179148"/>
                <a:ext cx="898617" cy="6001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1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#11</a:t>
                </a:r>
              </a:p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altLang="pt-B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=12,73</m:t>
                      </m:r>
                    </m:oMath>
                  </m:oMathPara>
                </a14:m>
                <a:endParaRPr lang="pt-BR" altLang="pt-BR" sz="11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1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54604" y="2179148"/>
                <a:ext cx="898617" cy="60016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 Box 3"/>
              <p:cNvSpPr txBox="1">
                <a:spLocks noChangeArrowheads="1"/>
              </p:cNvSpPr>
              <p:nvPr/>
            </p:nvSpPr>
            <p:spPr bwMode="auto">
              <a:xfrm>
                <a:off x="2450168" y="2648103"/>
                <a:ext cx="898617" cy="3462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altLang="pt-B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=15,18</m:t>
                      </m:r>
                    </m:oMath>
                  </m:oMathPara>
                </a14:m>
                <a:endParaRPr lang="pt-BR" altLang="pt-BR" sz="11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2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50168" y="2648103"/>
                <a:ext cx="898617" cy="34624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 Box 3"/>
              <p:cNvSpPr txBox="1">
                <a:spLocks noChangeArrowheads="1"/>
              </p:cNvSpPr>
              <p:nvPr/>
            </p:nvSpPr>
            <p:spPr bwMode="auto">
              <a:xfrm>
                <a:off x="2445732" y="2866727"/>
                <a:ext cx="898617" cy="3462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altLang="pt-B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=12,45</m:t>
                      </m:r>
                    </m:oMath>
                  </m:oMathPara>
                </a14:m>
                <a:endParaRPr lang="pt-BR" altLang="pt-BR" sz="1100" b="0" dirty="0">
                  <a:latin typeface="Tahoma" panose="020B060403050404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3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45732" y="2866727"/>
                <a:ext cx="898617" cy="34624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1252" name="Imagem 181251"/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40420" y="2174383"/>
            <a:ext cx="1133228" cy="1080000"/>
          </a:xfrm>
          <a:prstGeom prst="rect">
            <a:avLst/>
          </a:prstGeom>
        </p:spPr>
      </p:pic>
      <p:pic>
        <p:nvPicPr>
          <p:cNvPr id="181251" name="Imagem 181250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40420" y="2174383"/>
            <a:ext cx="1134944" cy="1080000"/>
          </a:xfrm>
          <a:prstGeom prst="rect">
            <a:avLst/>
          </a:prstGeom>
        </p:spPr>
      </p:pic>
      <p:grpSp>
        <p:nvGrpSpPr>
          <p:cNvPr id="181269" name="Grupo 181268"/>
          <p:cNvGrpSpPr/>
          <p:nvPr/>
        </p:nvGrpSpPr>
        <p:grpSpPr>
          <a:xfrm>
            <a:off x="323528" y="4448339"/>
            <a:ext cx="2767075" cy="1536945"/>
            <a:chOff x="323528" y="4448339"/>
            <a:chExt cx="2767075" cy="1536945"/>
          </a:xfrm>
        </p:grpSpPr>
        <p:pic>
          <p:nvPicPr>
            <p:cNvPr id="14" name="Picture 3"/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57313" y="4905164"/>
              <a:ext cx="1133290" cy="10801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5" name="Picture 5"/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1" r="25635" b="7551"/>
            <a:stretch/>
          </p:blipFill>
          <p:spPr bwMode="auto">
            <a:xfrm>
              <a:off x="323528" y="4905164"/>
              <a:ext cx="1133290" cy="10801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3" name="CaixaDeTexto 2"/>
            <p:cNvSpPr txBox="1"/>
            <p:nvPr/>
          </p:nvSpPr>
          <p:spPr>
            <a:xfrm>
              <a:off x="1446416" y="5122059"/>
              <a:ext cx="5212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3600" dirty="0">
                  <a:latin typeface="Tahoma" panose="020B0604030504040204" pitchFamily="34" charset="0"/>
                </a:rPr>
                <a:t>+</a:t>
              </a:r>
            </a:p>
          </p:txBody>
        </p:sp>
        <p:sp>
          <p:nvSpPr>
            <p:cNvPr id="19" name="Text Box 3"/>
            <p:cNvSpPr txBox="1">
              <a:spLocks noChangeArrowheads="1"/>
            </p:cNvSpPr>
            <p:nvPr/>
          </p:nvSpPr>
          <p:spPr bwMode="auto">
            <a:xfrm>
              <a:off x="518406" y="4448339"/>
              <a:ext cx="2448272" cy="4208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188913" indent="-188913"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lnSpc>
                  <a:spcPct val="150000"/>
                </a:lnSpc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Aleatória Estratificada</a:t>
              </a:r>
            </a:p>
          </p:txBody>
        </p:sp>
      </p:grpSp>
      <p:sp>
        <p:nvSpPr>
          <p:cNvPr id="181257" name="Retângulo 181256"/>
          <p:cNvSpPr/>
          <p:nvPr/>
        </p:nvSpPr>
        <p:spPr>
          <a:xfrm>
            <a:off x="3425977" y="5588513"/>
            <a:ext cx="164168" cy="30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92" name="Retângulo 91"/>
          <p:cNvSpPr/>
          <p:nvPr/>
        </p:nvSpPr>
        <p:spPr>
          <a:xfrm>
            <a:off x="2812956" y="3169336"/>
            <a:ext cx="164168" cy="30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 Box 3"/>
              <p:cNvSpPr txBox="1">
                <a:spLocks noChangeArrowheads="1"/>
              </p:cNvSpPr>
              <p:nvPr/>
            </p:nvSpPr>
            <p:spPr bwMode="auto">
              <a:xfrm>
                <a:off x="3058753" y="4804945"/>
                <a:ext cx="898617" cy="8540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1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#11</a:t>
                </a:r>
              </a:p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1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pt-BR" altLang="pt-BR" sz="11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#7</a:t>
                </a:r>
                <a:r>
                  <a:rPr lang="pt-BR" altLang="pt-BR" sz="11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pt-BR" altLang="pt-BR" sz="1100" dirty="0">
                    <a:solidFill>
                      <a:srgbClr val="00B05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#2</a:t>
                </a:r>
                <a:r>
                  <a:rPr lang="pt-BR" altLang="pt-BR" sz="11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pt-BR" altLang="pt-BR" sz="1100" dirty="0">
                    <a:solidFill>
                      <a:srgbClr val="0070C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#2</a:t>
                </a:r>
                <a:r>
                  <a:rPr lang="pt-BR" altLang="pt-BR" sz="11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pt-BR" altLang="pt-BR" sz="11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altLang="pt-B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=16,45</m:t>
                      </m:r>
                    </m:oMath>
                  </m:oMathPara>
                </a14:m>
                <a:endParaRPr lang="pt-BR" altLang="pt-BR" sz="1100" b="0" dirty="0">
                  <a:latin typeface="Tahoma" panose="020B060403050404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0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58753" y="4804945"/>
                <a:ext cx="898617" cy="85408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1266" name="Imagem 181265"/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56486" y="4902367"/>
            <a:ext cx="1134944" cy="1080000"/>
          </a:xfrm>
          <a:prstGeom prst="rect">
            <a:avLst/>
          </a:prstGeom>
        </p:spPr>
      </p:pic>
      <p:pic>
        <p:nvPicPr>
          <p:cNvPr id="114" name="Imagem 113"/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1229" y="4902367"/>
            <a:ext cx="1134944" cy="1080000"/>
          </a:xfrm>
          <a:prstGeom prst="rect">
            <a:avLst/>
          </a:prstGeom>
        </p:spPr>
      </p:pic>
      <p:sp>
        <p:nvSpPr>
          <p:cNvPr id="118" name="Text Box 3"/>
          <p:cNvSpPr txBox="1">
            <a:spLocks noChangeArrowheads="1"/>
          </p:cNvSpPr>
          <p:nvPr/>
        </p:nvSpPr>
        <p:spPr bwMode="auto">
          <a:xfrm>
            <a:off x="6014864" y="6015097"/>
            <a:ext cx="2448272" cy="4208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menor variabilidade!</a:t>
            </a:r>
          </a:p>
        </p:txBody>
      </p:sp>
    </p:spTree>
    <p:extLst>
      <p:ext uri="{BB962C8B-B14F-4D97-AF65-F5344CB8AC3E}">
        <p14:creationId xmlns:p14="http://schemas.microsoft.com/office/powerpoint/2010/main" val="3824336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" grpId="0"/>
      <p:bldP spid="72" grpId="0"/>
      <p:bldP spid="73" grpId="0"/>
      <p:bldP spid="181257" grpId="0"/>
      <p:bldP spid="92" grpId="0"/>
      <p:bldP spid="90" grpId="0"/>
      <p:bldP spid="11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Amostras de Treinamento, Teste e Validação</a:t>
            </a:r>
          </a:p>
        </p:txBody>
      </p:sp>
      <p:sp>
        <p:nvSpPr>
          <p:cNvPr id="52" name="CaixaDeTexto 51"/>
          <p:cNvSpPr txBox="1">
            <a:spLocks noChangeArrowheads="1"/>
          </p:cNvSpPr>
          <p:nvPr/>
        </p:nvSpPr>
        <p:spPr bwMode="auto">
          <a:xfrm>
            <a:off x="357188" y="1340768"/>
            <a:ext cx="8429625" cy="5262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Numa classificação ou numa modelagem em geral, as amostras são utilizadas para estimar os parâmetros ou para criar as regras usadas pelo classificador/modelo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estes ajustes visam minimizar erros, a utilização desse mesmo conjunto amostral para avaliar os resultados do classificador/modelo sempre resultarão numa superestimação dos índices de desempenho.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Dessa forma, é comum reservar parte das amostras de modo a avaliar os resultados de forma independente, gerando índices de desempenho não enviesados (nesse caso, superestimados).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Usualmente, o conjunto amostral total deve ser dividido em 3 partes excludentes: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Treinamento 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Teste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Validação 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Os termos “teste” e “validação” podem ter seu significado trocado dependendo da literatura consultada  ou então constituírem um único grupo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FC7B75-3DC1-42C3-992C-9F656F9965D7}" type="slidenum">
              <a:rPr lang="pt-BR"/>
              <a:pPr>
                <a:defRPr/>
              </a:pPr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4278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build="p" autoUpdateAnimBg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1835696" y="6456391"/>
            <a:ext cx="2604017" cy="375339"/>
            <a:chOff x="1835696" y="6498726"/>
            <a:chExt cx="2604017" cy="375339"/>
          </a:xfrm>
        </p:grpSpPr>
        <p:sp>
          <p:nvSpPr>
            <p:cNvPr id="9" name="Retângulo 8"/>
            <p:cNvSpPr/>
            <p:nvPr/>
          </p:nvSpPr>
          <p:spPr bwMode="auto">
            <a:xfrm>
              <a:off x="1835696" y="6498726"/>
              <a:ext cx="2448272" cy="375339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7" name="Grupo 6"/>
            <p:cNvGrpSpPr/>
            <p:nvPr/>
          </p:nvGrpSpPr>
          <p:grpSpPr>
            <a:xfrm>
              <a:off x="2198358" y="6562602"/>
              <a:ext cx="1218300" cy="307777"/>
              <a:chOff x="2411760" y="6445204"/>
              <a:chExt cx="1218300" cy="307777"/>
            </a:xfrm>
          </p:grpSpPr>
          <p:sp>
            <p:nvSpPr>
              <p:cNvPr id="4" name="Elipse 3"/>
              <p:cNvSpPr/>
              <p:nvPr/>
            </p:nvSpPr>
            <p:spPr bwMode="auto">
              <a:xfrm>
                <a:off x="2411760" y="6545092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" name="CaixaDeTexto 5"/>
              <p:cNvSpPr txBox="1"/>
              <p:nvPr/>
            </p:nvSpPr>
            <p:spPr>
              <a:xfrm>
                <a:off x="2490902" y="6445204"/>
                <a:ext cx="11391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pt-BR" sz="1400" dirty="0">
                    <a:latin typeface="Tahoma" panose="020B0604030504040204" pitchFamily="34" charset="0"/>
                  </a:rPr>
                  <a:t>treinamento</a:t>
                </a:r>
              </a:p>
            </p:txBody>
          </p:sp>
        </p:grpSp>
        <p:grpSp>
          <p:nvGrpSpPr>
            <p:cNvPr id="172" name="Grupo 171"/>
            <p:cNvGrpSpPr/>
            <p:nvPr/>
          </p:nvGrpSpPr>
          <p:grpSpPr>
            <a:xfrm>
              <a:off x="3422494" y="6562602"/>
              <a:ext cx="1017219" cy="307777"/>
              <a:chOff x="2411760" y="6445204"/>
              <a:chExt cx="1017219" cy="307777"/>
            </a:xfrm>
          </p:grpSpPr>
          <p:sp>
            <p:nvSpPr>
              <p:cNvPr id="173" name="Elipse 172"/>
              <p:cNvSpPr/>
              <p:nvPr/>
            </p:nvSpPr>
            <p:spPr bwMode="auto">
              <a:xfrm>
                <a:off x="2411760" y="6545092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76" name="CaixaDeTexto 175"/>
              <p:cNvSpPr txBox="1"/>
              <p:nvPr/>
            </p:nvSpPr>
            <p:spPr>
              <a:xfrm>
                <a:off x="2490902" y="6445204"/>
                <a:ext cx="93807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pt-BR" sz="1400" dirty="0">
                    <a:latin typeface="Tahoma" panose="020B0604030504040204" pitchFamily="34" charset="0"/>
                  </a:rPr>
                  <a:t>validação</a:t>
                </a:r>
              </a:p>
            </p:txBody>
          </p:sp>
        </p:grpSp>
      </p:grpSp>
      <p:grpSp>
        <p:nvGrpSpPr>
          <p:cNvPr id="107524" name="Grupo 107523"/>
          <p:cNvGrpSpPr/>
          <p:nvPr/>
        </p:nvGrpSpPr>
        <p:grpSpPr>
          <a:xfrm>
            <a:off x="1763688" y="6456392"/>
            <a:ext cx="2592288" cy="375338"/>
            <a:chOff x="1763688" y="6498727"/>
            <a:chExt cx="2592288" cy="375338"/>
          </a:xfrm>
        </p:grpSpPr>
        <p:sp>
          <p:nvSpPr>
            <p:cNvPr id="22" name="Retângulo 21"/>
            <p:cNvSpPr/>
            <p:nvPr/>
          </p:nvSpPr>
          <p:spPr bwMode="auto">
            <a:xfrm>
              <a:off x="1763688" y="6498727"/>
              <a:ext cx="2592288" cy="36929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177" name="Grupo 176"/>
            <p:cNvGrpSpPr/>
            <p:nvPr/>
          </p:nvGrpSpPr>
          <p:grpSpPr>
            <a:xfrm>
              <a:off x="2555776" y="6566288"/>
              <a:ext cx="1218300" cy="307777"/>
              <a:chOff x="2411760" y="6445204"/>
              <a:chExt cx="1218300" cy="307777"/>
            </a:xfrm>
          </p:grpSpPr>
          <p:sp>
            <p:nvSpPr>
              <p:cNvPr id="178" name="Elipse 177"/>
              <p:cNvSpPr/>
              <p:nvPr/>
            </p:nvSpPr>
            <p:spPr bwMode="auto">
              <a:xfrm>
                <a:off x="2411760" y="6545092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79" name="CaixaDeTexto 178"/>
              <p:cNvSpPr txBox="1"/>
              <p:nvPr/>
            </p:nvSpPr>
            <p:spPr>
              <a:xfrm>
                <a:off x="2490902" y="6445204"/>
                <a:ext cx="11391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pt-BR" sz="1400" dirty="0">
                    <a:latin typeface="Tahoma" panose="020B0604030504040204" pitchFamily="34" charset="0"/>
                  </a:rPr>
                  <a:t>treinamento</a:t>
                </a:r>
              </a:p>
            </p:txBody>
          </p:sp>
        </p:grpSp>
      </p:grpSp>
      <p:grpSp>
        <p:nvGrpSpPr>
          <p:cNvPr id="180" name="Grupo 179"/>
          <p:cNvGrpSpPr/>
          <p:nvPr/>
        </p:nvGrpSpPr>
        <p:grpSpPr>
          <a:xfrm>
            <a:off x="5798758" y="6523953"/>
            <a:ext cx="1017219" cy="307777"/>
            <a:chOff x="2411760" y="6445204"/>
            <a:chExt cx="1017219" cy="307777"/>
          </a:xfrm>
        </p:grpSpPr>
        <p:sp>
          <p:nvSpPr>
            <p:cNvPr id="181" name="Elipse 180"/>
            <p:cNvSpPr/>
            <p:nvPr/>
          </p:nvSpPr>
          <p:spPr bwMode="auto">
            <a:xfrm>
              <a:off x="2411760" y="6545092"/>
              <a:ext cx="108000" cy="108000"/>
            </a:xfrm>
            <a:prstGeom prst="ellipse">
              <a:avLst/>
            </a:prstGeom>
            <a:solidFill>
              <a:schemeClr val="bg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5" name="CaixaDeTexto 184"/>
            <p:cNvSpPr txBox="1"/>
            <p:nvPr/>
          </p:nvSpPr>
          <p:spPr>
            <a:xfrm>
              <a:off x="2490902" y="6445204"/>
              <a:ext cx="9380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sz="1400" dirty="0">
                  <a:latin typeface="Tahoma" panose="020B0604030504040204" pitchFamily="34" charset="0"/>
                </a:rPr>
                <a:t>validação</a:t>
              </a:r>
            </a:p>
          </p:txBody>
        </p:sp>
      </p:grpSp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Amostras de Treinamento, Teste e Validação</a:t>
            </a:r>
          </a:p>
        </p:txBody>
      </p:sp>
      <p:sp>
        <p:nvSpPr>
          <p:cNvPr id="52" name="CaixaDeTexto 51"/>
          <p:cNvSpPr txBox="1">
            <a:spLocks noChangeArrowheads="1"/>
          </p:cNvSpPr>
          <p:nvPr/>
        </p:nvSpPr>
        <p:spPr bwMode="auto">
          <a:xfrm>
            <a:off x="179512" y="1500188"/>
            <a:ext cx="8856984" cy="26274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Na prática, a definição das amostras que formarão esses grupos pode ser feita a partir de um único conjunto amostral ou então podem ser coletadas em fases diferentes do processo de classificação/modelagem. 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exemplo, se o objetivo for avaliar uma classificação única, pode-se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dividir as amostras coletadas em treinamento e validação, ou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usar todas as amostras para treinamento e após a obtenção da classificação final, coletar novos pontos que serão avaliados por terceiros de forma totalmente independente.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FC7B75-3DC1-42C3-992C-9F656F9965D7}" type="slidenum">
              <a:rPr lang="pt-BR"/>
              <a:pPr>
                <a:defRPr/>
              </a:pPr>
              <a:t>31</a:t>
            </a:fld>
            <a:endParaRPr lang="pt-BR" dirty="0"/>
          </a:p>
        </p:txBody>
      </p:sp>
      <p:grpSp>
        <p:nvGrpSpPr>
          <p:cNvPr id="107520" name="Grupo 107519"/>
          <p:cNvGrpSpPr/>
          <p:nvPr/>
        </p:nvGrpSpPr>
        <p:grpSpPr>
          <a:xfrm>
            <a:off x="2073251" y="4437112"/>
            <a:ext cx="5008835" cy="2061614"/>
            <a:chOff x="2073251" y="4319714"/>
            <a:chExt cx="5008835" cy="2061614"/>
          </a:xfrm>
        </p:grpSpPr>
        <p:pic>
          <p:nvPicPr>
            <p:cNvPr id="5" name="Picture 9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3251" y="4319714"/>
              <a:ext cx="2060848" cy="20608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" name="Picture 10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20102" y="4319932"/>
              <a:ext cx="2061984" cy="20613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1" name="Grupo 10"/>
            <p:cNvGrpSpPr/>
            <p:nvPr/>
          </p:nvGrpSpPr>
          <p:grpSpPr>
            <a:xfrm>
              <a:off x="2073251" y="4448668"/>
              <a:ext cx="1985279" cy="1930463"/>
              <a:chOff x="-1440073" y="1232760"/>
              <a:chExt cx="2771705" cy="2694979"/>
            </a:xfrm>
          </p:grpSpPr>
          <p:sp>
            <p:nvSpPr>
              <p:cNvPr id="3" name="Elipse 2"/>
              <p:cNvSpPr/>
              <p:nvPr/>
            </p:nvSpPr>
            <p:spPr bwMode="auto">
              <a:xfrm>
                <a:off x="-900608" y="150018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" name="Elipse 11"/>
              <p:cNvSpPr/>
              <p:nvPr/>
            </p:nvSpPr>
            <p:spPr bwMode="auto">
              <a:xfrm>
                <a:off x="-540568" y="12687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3" name="Elipse 12"/>
              <p:cNvSpPr/>
              <p:nvPr/>
            </p:nvSpPr>
            <p:spPr bwMode="auto">
              <a:xfrm>
                <a:off x="35496" y="170080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4" name="Elipse 13"/>
              <p:cNvSpPr/>
              <p:nvPr/>
            </p:nvSpPr>
            <p:spPr bwMode="auto">
              <a:xfrm>
                <a:off x="467544" y="12327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5" name="Elipse 14"/>
              <p:cNvSpPr/>
              <p:nvPr/>
            </p:nvSpPr>
            <p:spPr bwMode="auto">
              <a:xfrm>
                <a:off x="1043608" y="157438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6" name="Elipse 15"/>
              <p:cNvSpPr/>
              <p:nvPr/>
            </p:nvSpPr>
            <p:spPr bwMode="auto">
              <a:xfrm>
                <a:off x="-108520" y="206084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7" name="Elipse 16"/>
              <p:cNvSpPr/>
              <p:nvPr/>
            </p:nvSpPr>
            <p:spPr bwMode="auto">
              <a:xfrm>
                <a:off x="-1116632" y="249259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" name="Elipse 17"/>
              <p:cNvSpPr/>
              <p:nvPr/>
            </p:nvSpPr>
            <p:spPr bwMode="auto">
              <a:xfrm>
                <a:off x="-396552" y="249259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9" name="Elipse 18"/>
              <p:cNvSpPr/>
              <p:nvPr/>
            </p:nvSpPr>
            <p:spPr bwMode="auto">
              <a:xfrm>
                <a:off x="69290" y="30689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" name="Elipse 19"/>
              <p:cNvSpPr/>
              <p:nvPr/>
            </p:nvSpPr>
            <p:spPr bwMode="auto">
              <a:xfrm>
                <a:off x="1122044" y="2411655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" name="Elipse 20"/>
              <p:cNvSpPr/>
              <p:nvPr/>
            </p:nvSpPr>
            <p:spPr bwMode="auto">
              <a:xfrm>
                <a:off x="1094910" y="378904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3" name="Elipse 22"/>
              <p:cNvSpPr/>
              <p:nvPr/>
            </p:nvSpPr>
            <p:spPr bwMode="auto">
              <a:xfrm>
                <a:off x="-144520" y="1378764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4" name="Elipse 23"/>
              <p:cNvSpPr/>
              <p:nvPr/>
            </p:nvSpPr>
            <p:spPr bwMode="auto">
              <a:xfrm>
                <a:off x="1158044" y="270892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5" name="Elipse 24"/>
              <p:cNvSpPr/>
              <p:nvPr/>
            </p:nvSpPr>
            <p:spPr bwMode="auto">
              <a:xfrm>
                <a:off x="899592" y="2632462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6" name="Elipse 25"/>
              <p:cNvSpPr/>
              <p:nvPr/>
            </p:nvSpPr>
            <p:spPr bwMode="auto">
              <a:xfrm>
                <a:off x="611560" y="310496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7" name="Elipse 26"/>
              <p:cNvSpPr/>
              <p:nvPr/>
            </p:nvSpPr>
            <p:spPr bwMode="auto">
              <a:xfrm>
                <a:off x="1259632" y="3353165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8" name="Elipse 27"/>
              <p:cNvSpPr/>
              <p:nvPr/>
            </p:nvSpPr>
            <p:spPr bwMode="auto">
              <a:xfrm>
                <a:off x="-1034103" y="303296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9" name="Elipse 28"/>
              <p:cNvSpPr/>
              <p:nvPr/>
            </p:nvSpPr>
            <p:spPr bwMode="auto">
              <a:xfrm>
                <a:off x="-1116632" y="2204864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0" name="Elipse 29"/>
              <p:cNvSpPr/>
              <p:nvPr/>
            </p:nvSpPr>
            <p:spPr bwMode="auto">
              <a:xfrm>
                <a:off x="298129" y="3433291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1" name="Elipse 30"/>
              <p:cNvSpPr/>
              <p:nvPr/>
            </p:nvSpPr>
            <p:spPr bwMode="auto">
              <a:xfrm>
                <a:off x="864089" y="3573016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2" name="Elipse 31"/>
              <p:cNvSpPr/>
              <p:nvPr/>
            </p:nvSpPr>
            <p:spPr bwMode="auto">
              <a:xfrm>
                <a:off x="-320825" y="342900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3" name="Elipse 32"/>
              <p:cNvSpPr/>
              <p:nvPr/>
            </p:nvSpPr>
            <p:spPr bwMode="auto">
              <a:xfrm>
                <a:off x="146849" y="2704462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4" name="Elipse 33"/>
              <p:cNvSpPr/>
              <p:nvPr/>
            </p:nvSpPr>
            <p:spPr bwMode="auto">
              <a:xfrm>
                <a:off x="110849" y="252414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7" name="Elipse 36"/>
              <p:cNvSpPr/>
              <p:nvPr/>
            </p:nvSpPr>
            <p:spPr bwMode="auto">
              <a:xfrm>
                <a:off x="107496" y="2256442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8" name="Elipse 37"/>
              <p:cNvSpPr/>
              <p:nvPr/>
            </p:nvSpPr>
            <p:spPr bwMode="auto">
              <a:xfrm>
                <a:off x="97680" y="233488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9" name="Elipse 38"/>
              <p:cNvSpPr/>
              <p:nvPr/>
            </p:nvSpPr>
            <p:spPr bwMode="auto">
              <a:xfrm>
                <a:off x="259885" y="184482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0" name="Elipse 39"/>
              <p:cNvSpPr/>
              <p:nvPr/>
            </p:nvSpPr>
            <p:spPr bwMode="auto">
              <a:xfrm>
                <a:off x="-174342" y="1492621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1" name="Elipse 40"/>
              <p:cNvSpPr/>
              <p:nvPr/>
            </p:nvSpPr>
            <p:spPr bwMode="auto">
              <a:xfrm>
                <a:off x="169680" y="2324825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3" name="Elipse 42"/>
              <p:cNvSpPr/>
              <p:nvPr/>
            </p:nvSpPr>
            <p:spPr bwMode="auto">
              <a:xfrm>
                <a:off x="357188" y="1561441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4" name="Elipse 43"/>
              <p:cNvSpPr/>
              <p:nvPr/>
            </p:nvSpPr>
            <p:spPr bwMode="auto">
              <a:xfrm>
                <a:off x="-1332656" y="1740381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5" name="Elipse 44"/>
              <p:cNvSpPr/>
              <p:nvPr/>
            </p:nvSpPr>
            <p:spPr bwMode="auto">
              <a:xfrm>
                <a:off x="-897019" y="2328442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6" name="Elipse 45"/>
              <p:cNvSpPr/>
              <p:nvPr/>
            </p:nvSpPr>
            <p:spPr bwMode="auto">
              <a:xfrm>
                <a:off x="1069562" y="181062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7" name="Elipse 46"/>
              <p:cNvSpPr/>
              <p:nvPr/>
            </p:nvSpPr>
            <p:spPr bwMode="auto">
              <a:xfrm>
                <a:off x="-684584" y="3277849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8" name="Elipse 47"/>
              <p:cNvSpPr/>
              <p:nvPr/>
            </p:nvSpPr>
            <p:spPr bwMode="auto">
              <a:xfrm>
                <a:off x="-755045" y="364501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9" name="Elipse 48"/>
              <p:cNvSpPr/>
              <p:nvPr/>
            </p:nvSpPr>
            <p:spPr bwMode="auto">
              <a:xfrm>
                <a:off x="-1440073" y="3205849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Elipse 49"/>
              <p:cNvSpPr/>
              <p:nvPr/>
            </p:nvSpPr>
            <p:spPr bwMode="auto">
              <a:xfrm>
                <a:off x="-6112" y="357301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1" name="Elipse 50"/>
              <p:cNvSpPr/>
              <p:nvPr/>
            </p:nvSpPr>
            <p:spPr bwMode="auto">
              <a:xfrm>
                <a:off x="-998103" y="3357000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3" name="Elipse 52"/>
              <p:cNvSpPr/>
              <p:nvPr/>
            </p:nvSpPr>
            <p:spPr bwMode="auto">
              <a:xfrm>
                <a:off x="21933" y="3285000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4" name="Elipse 53"/>
              <p:cNvSpPr/>
              <p:nvPr/>
            </p:nvSpPr>
            <p:spPr bwMode="auto">
              <a:xfrm>
                <a:off x="-791045" y="3537016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Elipse 54"/>
              <p:cNvSpPr/>
              <p:nvPr/>
            </p:nvSpPr>
            <p:spPr bwMode="auto">
              <a:xfrm>
                <a:off x="539544" y="317165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6" name="Elipse 55"/>
              <p:cNvSpPr/>
              <p:nvPr/>
            </p:nvSpPr>
            <p:spPr bwMode="auto">
              <a:xfrm>
                <a:off x="-957398" y="206365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7" name="Elipse 56"/>
              <p:cNvSpPr/>
              <p:nvPr/>
            </p:nvSpPr>
            <p:spPr bwMode="auto">
              <a:xfrm>
                <a:off x="-1331867" y="3819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8" name="Elipse 57"/>
              <p:cNvSpPr/>
              <p:nvPr/>
            </p:nvSpPr>
            <p:spPr bwMode="auto">
              <a:xfrm>
                <a:off x="-885398" y="379161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9" name="Elipse 58"/>
              <p:cNvSpPr/>
              <p:nvPr/>
            </p:nvSpPr>
            <p:spPr bwMode="auto">
              <a:xfrm>
                <a:off x="262129" y="382761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0" name="Elipse 59"/>
              <p:cNvSpPr/>
              <p:nvPr/>
            </p:nvSpPr>
            <p:spPr bwMode="auto">
              <a:xfrm>
                <a:off x="-248825" y="3783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1" name="Elipse 60"/>
              <p:cNvSpPr/>
              <p:nvPr/>
            </p:nvSpPr>
            <p:spPr bwMode="auto">
              <a:xfrm>
                <a:off x="-721987" y="3855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2" name="Elipse 61"/>
              <p:cNvSpPr/>
              <p:nvPr/>
            </p:nvSpPr>
            <p:spPr bwMode="auto">
              <a:xfrm>
                <a:off x="-1367867" y="3569305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3" name="Elipse 62"/>
              <p:cNvSpPr/>
              <p:nvPr/>
            </p:nvSpPr>
            <p:spPr bwMode="auto">
              <a:xfrm>
                <a:off x="-1404656" y="203069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4" name="Elipse 63"/>
              <p:cNvSpPr/>
              <p:nvPr/>
            </p:nvSpPr>
            <p:spPr bwMode="auto">
              <a:xfrm>
                <a:off x="32834" y="227686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107521" name="Grupo 107520"/>
          <p:cNvGrpSpPr/>
          <p:nvPr/>
        </p:nvGrpSpPr>
        <p:grpSpPr>
          <a:xfrm>
            <a:off x="2073251" y="4437112"/>
            <a:ext cx="2060848" cy="2060848"/>
            <a:chOff x="3535953" y="4660598"/>
            <a:chExt cx="2060848" cy="2060848"/>
          </a:xfrm>
        </p:grpSpPr>
        <p:pic>
          <p:nvPicPr>
            <p:cNvPr id="65" name="Picture 9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35953" y="4660598"/>
              <a:ext cx="2060848" cy="20608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67" name="Grupo 66"/>
            <p:cNvGrpSpPr/>
            <p:nvPr/>
          </p:nvGrpSpPr>
          <p:grpSpPr>
            <a:xfrm>
              <a:off x="3535953" y="4789552"/>
              <a:ext cx="1985279" cy="1930463"/>
              <a:chOff x="-1440073" y="1232760"/>
              <a:chExt cx="2771705" cy="2694979"/>
            </a:xfrm>
          </p:grpSpPr>
          <p:sp>
            <p:nvSpPr>
              <p:cNvPr id="68" name="Elipse 67"/>
              <p:cNvSpPr/>
              <p:nvPr/>
            </p:nvSpPr>
            <p:spPr bwMode="auto">
              <a:xfrm>
                <a:off x="-900608" y="150018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9" name="Elipse 68"/>
              <p:cNvSpPr/>
              <p:nvPr/>
            </p:nvSpPr>
            <p:spPr bwMode="auto">
              <a:xfrm>
                <a:off x="-540568" y="12687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" name="Elipse 69"/>
              <p:cNvSpPr/>
              <p:nvPr/>
            </p:nvSpPr>
            <p:spPr bwMode="auto">
              <a:xfrm>
                <a:off x="35496" y="170080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" name="Elipse 70"/>
              <p:cNvSpPr/>
              <p:nvPr/>
            </p:nvSpPr>
            <p:spPr bwMode="auto">
              <a:xfrm>
                <a:off x="467544" y="12327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" name="Elipse 71"/>
              <p:cNvSpPr/>
              <p:nvPr/>
            </p:nvSpPr>
            <p:spPr bwMode="auto">
              <a:xfrm>
                <a:off x="1043608" y="157438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" name="Elipse 72"/>
              <p:cNvSpPr/>
              <p:nvPr/>
            </p:nvSpPr>
            <p:spPr bwMode="auto">
              <a:xfrm>
                <a:off x="-108520" y="206084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" name="Elipse 73"/>
              <p:cNvSpPr/>
              <p:nvPr/>
            </p:nvSpPr>
            <p:spPr bwMode="auto">
              <a:xfrm>
                <a:off x="-1116632" y="249259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" name="Elipse 74"/>
              <p:cNvSpPr/>
              <p:nvPr/>
            </p:nvSpPr>
            <p:spPr bwMode="auto">
              <a:xfrm>
                <a:off x="-396552" y="249259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6" name="Elipse 75"/>
              <p:cNvSpPr/>
              <p:nvPr/>
            </p:nvSpPr>
            <p:spPr bwMode="auto">
              <a:xfrm>
                <a:off x="69290" y="30689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7" name="Elipse 76"/>
              <p:cNvSpPr/>
              <p:nvPr/>
            </p:nvSpPr>
            <p:spPr bwMode="auto">
              <a:xfrm>
                <a:off x="1122044" y="2411655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8" name="Elipse 77"/>
              <p:cNvSpPr/>
              <p:nvPr/>
            </p:nvSpPr>
            <p:spPr bwMode="auto">
              <a:xfrm>
                <a:off x="1094910" y="378904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0" name="Elipse 79"/>
              <p:cNvSpPr/>
              <p:nvPr/>
            </p:nvSpPr>
            <p:spPr bwMode="auto">
              <a:xfrm>
                <a:off x="-144520" y="1378764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1" name="Elipse 80"/>
              <p:cNvSpPr/>
              <p:nvPr/>
            </p:nvSpPr>
            <p:spPr bwMode="auto">
              <a:xfrm>
                <a:off x="1158044" y="270892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" name="Elipse 81"/>
              <p:cNvSpPr/>
              <p:nvPr/>
            </p:nvSpPr>
            <p:spPr bwMode="auto">
              <a:xfrm>
                <a:off x="899592" y="2632462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3" name="Elipse 82"/>
              <p:cNvSpPr/>
              <p:nvPr/>
            </p:nvSpPr>
            <p:spPr bwMode="auto">
              <a:xfrm>
                <a:off x="611560" y="310496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4" name="Elipse 83"/>
              <p:cNvSpPr/>
              <p:nvPr/>
            </p:nvSpPr>
            <p:spPr bwMode="auto">
              <a:xfrm>
                <a:off x="1259632" y="3353165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5" name="Elipse 84"/>
              <p:cNvSpPr/>
              <p:nvPr/>
            </p:nvSpPr>
            <p:spPr bwMode="auto">
              <a:xfrm>
                <a:off x="-1034103" y="303296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6" name="Elipse 85"/>
              <p:cNvSpPr/>
              <p:nvPr/>
            </p:nvSpPr>
            <p:spPr bwMode="auto">
              <a:xfrm>
                <a:off x="-1116632" y="2204864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7" name="Elipse 86"/>
              <p:cNvSpPr/>
              <p:nvPr/>
            </p:nvSpPr>
            <p:spPr bwMode="auto">
              <a:xfrm>
                <a:off x="298129" y="3433291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8" name="Elipse 87"/>
              <p:cNvSpPr/>
              <p:nvPr/>
            </p:nvSpPr>
            <p:spPr bwMode="auto">
              <a:xfrm>
                <a:off x="864089" y="3573016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9" name="Elipse 88"/>
              <p:cNvSpPr/>
              <p:nvPr/>
            </p:nvSpPr>
            <p:spPr bwMode="auto">
              <a:xfrm>
                <a:off x="-320825" y="342900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0" name="Elipse 89"/>
              <p:cNvSpPr/>
              <p:nvPr/>
            </p:nvSpPr>
            <p:spPr bwMode="auto">
              <a:xfrm>
                <a:off x="146849" y="2704462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1" name="Elipse 90"/>
              <p:cNvSpPr/>
              <p:nvPr/>
            </p:nvSpPr>
            <p:spPr bwMode="auto">
              <a:xfrm>
                <a:off x="110849" y="252414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2" name="Elipse 91"/>
              <p:cNvSpPr/>
              <p:nvPr/>
            </p:nvSpPr>
            <p:spPr bwMode="auto">
              <a:xfrm>
                <a:off x="107496" y="2256442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3" name="Elipse 92"/>
              <p:cNvSpPr/>
              <p:nvPr/>
            </p:nvSpPr>
            <p:spPr bwMode="auto">
              <a:xfrm>
                <a:off x="97680" y="233488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4" name="Elipse 93"/>
              <p:cNvSpPr/>
              <p:nvPr/>
            </p:nvSpPr>
            <p:spPr bwMode="auto">
              <a:xfrm>
                <a:off x="259885" y="184482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Elipse 94"/>
              <p:cNvSpPr/>
              <p:nvPr/>
            </p:nvSpPr>
            <p:spPr bwMode="auto">
              <a:xfrm>
                <a:off x="-174342" y="1492621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Elipse 95"/>
              <p:cNvSpPr/>
              <p:nvPr/>
            </p:nvSpPr>
            <p:spPr bwMode="auto">
              <a:xfrm>
                <a:off x="169680" y="2324825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7" name="Elipse 96"/>
              <p:cNvSpPr/>
              <p:nvPr/>
            </p:nvSpPr>
            <p:spPr bwMode="auto">
              <a:xfrm>
                <a:off x="357188" y="1561441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8" name="Elipse 97"/>
              <p:cNvSpPr/>
              <p:nvPr/>
            </p:nvSpPr>
            <p:spPr bwMode="auto">
              <a:xfrm>
                <a:off x="-1332656" y="1740381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9" name="Elipse 98"/>
              <p:cNvSpPr/>
              <p:nvPr/>
            </p:nvSpPr>
            <p:spPr bwMode="auto">
              <a:xfrm>
                <a:off x="-897019" y="2328442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0" name="Elipse 99"/>
              <p:cNvSpPr/>
              <p:nvPr/>
            </p:nvSpPr>
            <p:spPr bwMode="auto">
              <a:xfrm>
                <a:off x="1069562" y="181062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1" name="Elipse 100"/>
              <p:cNvSpPr/>
              <p:nvPr/>
            </p:nvSpPr>
            <p:spPr bwMode="auto">
              <a:xfrm>
                <a:off x="-684584" y="3277849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2" name="Elipse 101"/>
              <p:cNvSpPr/>
              <p:nvPr/>
            </p:nvSpPr>
            <p:spPr bwMode="auto">
              <a:xfrm>
                <a:off x="-755045" y="364501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3" name="Elipse 102"/>
              <p:cNvSpPr/>
              <p:nvPr/>
            </p:nvSpPr>
            <p:spPr bwMode="auto">
              <a:xfrm>
                <a:off x="-1440073" y="3205849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4" name="Elipse 103"/>
              <p:cNvSpPr/>
              <p:nvPr/>
            </p:nvSpPr>
            <p:spPr bwMode="auto">
              <a:xfrm>
                <a:off x="-6112" y="357301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5" name="Elipse 104"/>
              <p:cNvSpPr/>
              <p:nvPr/>
            </p:nvSpPr>
            <p:spPr bwMode="auto">
              <a:xfrm>
                <a:off x="-998103" y="3357000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6" name="Elipse 105"/>
              <p:cNvSpPr/>
              <p:nvPr/>
            </p:nvSpPr>
            <p:spPr bwMode="auto">
              <a:xfrm>
                <a:off x="21933" y="3285000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7" name="Elipse 106"/>
              <p:cNvSpPr/>
              <p:nvPr/>
            </p:nvSpPr>
            <p:spPr bwMode="auto">
              <a:xfrm>
                <a:off x="-791045" y="3537016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8" name="Elipse 107"/>
              <p:cNvSpPr/>
              <p:nvPr/>
            </p:nvSpPr>
            <p:spPr bwMode="auto">
              <a:xfrm>
                <a:off x="539544" y="317165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Elipse 108"/>
              <p:cNvSpPr/>
              <p:nvPr/>
            </p:nvSpPr>
            <p:spPr bwMode="auto">
              <a:xfrm>
                <a:off x="-957398" y="206365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Elipse 109"/>
              <p:cNvSpPr/>
              <p:nvPr/>
            </p:nvSpPr>
            <p:spPr bwMode="auto">
              <a:xfrm>
                <a:off x="-1331867" y="3819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1" name="Elipse 110"/>
              <p:cNvSpPr/>
              <p:nvPr/>
            </p:nvSpPr>
            <p:spPr bwMode="auto">
              <a:xfrm>
                <a:off x="-885398" y="379161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2" name="Elipse 111"/>
              <p:cNvSpPr/>
              <p:nvPr/>
            </p:nvSpPr>
            <p:spPr bwMode="auto">
              <a:xfrm>
                <a:off x="262129" y="382761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Elipse 112"/>
              <p:cNvSpPr/>
              <p:nvPr/>
            </p:nvSpPr>
            <p:spPr bwMode="auto">
              <a:xfrm>
                <a:off x="-248825" y="3783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Elipse 113"/>
              <p:cNvSpPr/>
              <p:nvPr/>
            </p:nvSpPr>
            <p:spPr bwMode="auto">
              <a:xfrm>
                <a:off x="-721987" y="3855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5" name="Elipse 114"/>
              <p:cNvSpPr/>
              <p:nvPr/>
            </p:nvSpPr>
            <p:spPr bwMode="auto">
              <a:xfrm>
                <a:off x="-1367867" y="3569305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6" name="Elipse 115"/>
              <p:cNvSpPr/>
              <p:nvPr/>
            </p:nvSpPr>
            <p:spPr bwMode="auto">
              <a:xfrm>
                <a:off x="-1404656" y="203069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7" name="Elipse 116"/>
              <p:cNvSpPr/>
              <p:nvPr/>
            </p:nvSpPr>
            <p:spPr bwMode="auto">
              <a:xfrm>
                <a:off x="32834" y="227686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107523" name="Grupo 107522"/>
          <p:cNvGrpSpPr/>
          <p:nvPr/>
        </p:nvGrpSpPr>
        <p:grpSpPr>
          <a:xfrm>
            <a:off x="2073251" y="4437112"/>
            <a:ext cx="4834716" cy="2060848"/>
            <a:chOff x="2073251" y="4319714"/>
            <a:chExt cx="4834716" cy="2060848"/>
          </a:xfrm>
        </p:grpSpPr>
        <p:grpSp>
          <p:nvGrpSpPr>
            <p:cNvPr id="120" name="Grupo 119"/>
            <p:cNvGrpSpPr/>
            <p:nvPr/>
          </p:nvGrpSpPr>
          <p:grpSpPr>
            <a:xfrm>
              <a:off x="2073251" y="4319714"/>
              <a:ext cx="2060848" cy="2060848"/>
              <a:chOff x="3535953" y="4660598"/>
              <a:chExt cx="2060848" cy="2060848"/>
            </a:xfrm>
          </p:grpSpPr>
          <p:pic>
            <p:nvPicPr>
              <p:cNvPr id="121" name="Picture 9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35953" y="4660598"/>
                <a:ext cx="2060848" cy="20608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122" name="Grupo 121"/>
              <p:cNvGrpSpPr/>
              <p:nvPr/>
            </p:nvGrpSpPr>
            <p:grpSpPr>
              <a:xfrm>
                <a:off x="3535953" y="4789552"/>
                <a:ext cx="1985279" cy="1930463"/>
                <a:chOff x="-1440073" y="1232760"/>
                <a:chExt cx="2771705" cy="2694979"/>
              </a:xfrm>
            </p:grpSpPr>
            <p:sp>
              <p:nvSpPr>
                <p:cNvPr id="124" name="Elipse 123"/>
                <p:cNvSpPr/>
                <p:nvPr/>
              </p:nvSpPr>
              <p:spPr bwMode="auto">
                <a:xfrm>
                  <a:off x="-540568" y="1268760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5" name="Elipse 124"/>
                <p:cNvSpPr/>
                <p:nvPr/>
              </p:nvSpPr>
              <p:spPr bwMode="auto">
                <a:xfrm>
                  <a:off x="35496" y="1700808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6" name="Elipse 125"/>
                <p:cNvSpPr/>
                <p:nvPr/>
              </p:nvSpPr>
              <p:spPr bwMode="auto">
                <a:xfrm>
                  <a:off x="467544" y="1232760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7" name="Elipse 126"/>
                <p:cNvSpPr/>
                <p:nvPr/>
              </p:nvSpPr>
              <p:spPr bwMode="auto">
                <a:xfrm>
                  <a:off x="1043608" y="1574380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8" name="Elipse 127"/>
                <p:cNvSpPr/>
                <p:nvPr/>
              </p:nvSpPr>
              <p:spPr bwMode="auto">
                <a:xfrm>
                  <a:off x="-108520" y="2060848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9" name="Elipse 128"/>
                <p:cNvSpPr/>
                <p:nvPr/>
              </p:nvSpPr>
              <p:spPr bwMode="auto">
                <a:xfrm>
                  <a:off x="-1116632" y="2492598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3" name="Elipse 132"/>
                <p:cNvSpPr/>
                <p:nvPr/>
              </p:nvSpPr>
              <p:spPr bwMode="auto">
                <a:xfrm>
                  <a:off x="1094910" y="3789040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5" name="Elipse 134"/>
                <p:cNvSpPr/>
                <p:nvPr/>
              </p:nvSpPr>
              <p:spPr bwMode="auto">
                <a:xfrm>
                  <a:off x="1158044" y="2708920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8" name="Elipse 137"/>
                <p:cNvSpPr/>
                <p:nvPr/>
              </p:nvSpPr>
              <p:spPr bwMode="auto">
                <a:xfrm>
                  <a:off x="1259632" y="3353165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9" name="Elipse 138"/>
                <p:cNvSpPr/>
                <p:nvPr/>
              </p:nvSpPr>
              <p:spPr bwMode="auto">
                <a:xfrm>
                  <a:off x="-1034103" y="3032960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0" name="Elipse 139"/>
                <p:cNvSpPr/>
                <p:nvPr/>
              </p:nvSpPr>
              <p:spPr bwMode="auto">
                <a:xfrm>
                  <a:off x="-1116632" y="2204864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1" name="Elipse 140"/>
                <p:cNvSpPr/>
                <p:nvPr/>
              </p:nvSpPr>
              <p:spPr bwMode="auto">
                <a:xfrm>
                  <a:off x="298129" y="3433291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2" name="Elipse 141"/>
                <p:cNvSpPr/>
                <p:nvPr/>
              </p:nvSpPr>
              <p:spPr bwMode="auto">
                <a:xfrm>
                  <a:off x="864089" y="3573016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4" name="Elipse 143"/>
                <p:cNvSpPr/>
                <p:nvPr/>
              </p:nvSpPr>
              <p:spPr bwMode="auto">
                <a:xfrm>
                  <a:off x="146849" y="2704462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5" name="Elipse 144"/>
                <p:cNvSpPr/>
                <p:nvPr/>
              </p:nvSpPr>
              <p:spPr bwMode="auto">
                <a:xfrm>
                  <a:off x="110849" y="2524140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6" name="Elipse 145"/>
                <p:cNvSpPr/>
                <p:nvPr/>
              </p:nvSpPr>
              <p:spPr bwMode="auto">
                <a:xfrm>
                  <a:off x="107496" y="2256442"/>
                  <a:ext cx="72000" cy="72000"/>
                </a:xfrm>
                <a:prstGeom prst="ellipse">
                  <a:avLst/>
                </a:prstGeom>
                <a:solidFill>
                  <a:srgbClr val="860043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8" name="Elipse 147"/>
                <p:cNvSpPr/>
                <p:nvPr/>
              </p:nvSpPr>
              <p:spPr bwMode="auto">
                <a:xfrm>
                  <a:off x="259885" y="1844824"/>
                  <a:ext cx="72000" cy="72000"/>
                </a:xfrm>
                <a:prstGeom prst="ellipse">
                  <a:avLst/>
                </a:prstGeom>
                <a:solidFill>
                  <a:srgbClr val="860043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0" name="Elipse 149"/>
                <p:cNvSpPr/>
                <p:nvPr/>
              </p:nvSpPr>
              <p:spPr bwMode="auto">
                <a:xfrm>
                  <a:off x="169680" y="2324825"/>
                  <a:ext cx="72000" cy="72000"/>
                </a:xfrm>
                <a:prstGeom prst="ellipse">
                  <a:avLst/>
                </a:prstGeom>
                <a:solidFill>
                  <a:srgbClr val="860043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1" name="Elipse 150"/>
                <p:cNvSpPr/>
                <p:nvPr/>
              </p:nvSpPr>
              <p:spPr bwMode="auto">
                <a:xfrm>
                  <a:off x="357188" y="1561441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3" name="Elipse 152"/>
                <p:cNvSpPr/>
                <p:nvPr/>
              </p:nvSpPr>
              <p:spPr bwMode="auto">
                <a:xfrm>
                  <a:off x="-897019" y="2328442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5" name="Elipse 154"/>
                <p:cNvSpPr/>
                <p:nvPr/>
              </p:nvSpPr>
              <p:spPr bwMode="auto">
                <a:xfrm>
                  <a:off x="-684584" y="3277849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6" name="Elipse 155"/>
                <p:cNvSpPr/>
                <p:nvPr/>
              </p:nvSpPr>
              <p:spPr bwMode="auto">
                <a:xfrm>
                  <a:off x="-755045" y="3645016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7" name="Elipse 156"/>
                <p:cNvSpPr/>
                <p:nvPr/>
              </p:nvSpPr>
              <p:spPr bwMode="auto">
                <a:xfrm>
                  <a:off x="-1440073" y="3205849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0" name="Elipse 159"/>
                <p:cNvSpPr/>
                <p:nvPr/>
              </p:nvSpPr>
              <p:spPr bwMode="auto">
                <a:xfrm>
                  <a:off x="21933" y="3285000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2" name="Elipse 161"/>
                <p:cNvSpPr/>
                <p:nvPr/>
              </p:nvSpPr>
              <p:spPr bwMode="auto">
                <a:xfrm>
                  <a:off x="539544" y="3171659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5" name="Elipse 164"/>
                <p:cNvSpPr/>
                <p:nvPr/>
              </p:nvSpPr>
              <p:spPr bwMode="auto">
                <a:xfrm>
                  <a:off x="-885398" y="3791614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7" name="Elipse 166"/>
                <p:cNvSpPr/>
                <p:nvPr/>
              </p:nvSpPr>
              <p:spPr bwMode="auto">
                <a:xfrm>
                  <a:off x="-248825" y="3783739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8" name="Elipse 167"/>
                <p:cNvSpPr/>
                <p:nvPr/>
              </p:nvSpPr>
              <p:spPr bwMode="auto">
                <a:xfrm>
                  <a:off x="-721987" y="3855739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9" name="Elipse 168"/>
                <p:cNvSpPr/>
                <p:nvPr/>
              </p:nvSpPr>
              <p:spPr bwMode="auto">
                <a:xfrm>
                  <a:off x="-1367867" y="3569305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0" name="Elipse 169"/>
                <p:cNvSpPr/>
                <p:nvPr/>
              </p:nvSpPr>
              <p:spPr bwMode="auto">
                <a:xfrm>
                  <a:off x="-1404656" y="2030694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1" name="Elipse 170"/>
                <p:cNvSpPr/>
                <p:nvPr/>
              </p:nvSpPr>
              <p:spPr bwMode="auto">
                <a:xfrm>
                  <a:off x="32834" y="2276864"/>
                  <a:ext cx="72000" cy="72000"/>
                </a:xfrm>
                <a:prstGeom prst="ellipse">
                  <a:avLst/>
                </a:prstGeom>
                <a:solidFill>
                  <a:srgbClr val="860043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</p:grpSp>
        <p:grpSp>
          <p:nvGrpSpPr>
            <p:cNvPr id="174" name="Grupo 173"/>
            <p:cNvGrpSpPr/>
            <p:nvPr/>
          </p:nvGrpSpPr>
          <p:grpSpPr>
            <a:xfrm>
              <a:off x="5098177" y="4553254"/>
              <a:ext cx="1809790" cy="1805732"/>
              <a:chOff x="-1332656" y="1378764"/>
              <a:chExt cx="2526700" cy="2520850"/>
            </a:xfrm>
          </p:grpSpPr>
          <p:sp>
            <p:nvSpPr>
              <p:cNvPr id="175" name="Elipse 174"/>
              <p:cNvSpPr/>
              <p:nvPr/>
            </p:nvSpPr>
            <p:spPr bwMode="auto">
              <a:xfrm>
                <a:off x="-900608" y="150018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2" name="Elipse 181"/>
              <p:cNvSpPr/>
              <p:nvPr/>
            </p:nvSpPr>
            <p:spPr bwMode="auto">
              <a:xfrm>
                <a:off x="-396552" y="249259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3" name="Elipse 182"/>
              <p:cNvSpPr/>
              <p:nvPr/>
            </p:nvSpPr>
            <p:spPr bwMode="auto">
              <a:xfrm>
                <a:off x="69290" y="30689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4" name="Elipse 183"/>
              <p:cNvSpPr/>
              <p:nvPr/>
            </p:nvSpPr>
            <p:spPr bwMode="auto">
              <a:xfrm>
                <a:off x="1122044" y="2411655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6" name="Elipse 185"/>
              <p:cNvSpPr/>
              <p:nvPr/>
            </p:nvSpPr>
            <p:spPr bwMode="auto">
              <a:xfrm>
                <a:off x="-144520" y="1378764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8" name="Elipse 187"/>
              <p:cNvSpPr/>
              <p:nvPr/>
            </p:nvSpPr>
            <p:spPr bwMode="auto">
              <a:xfrm>
                <a:off x="899592" y="2632462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9" name="Elipse 188"/>
              <p:cNvSpPr/>
              <p:nvPr/>
            </p:nvSpPr>
            <p:spPr bwMode="auto">
              <a:xfrm>
                <a:off x="611560" y="310496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95" name="Elipse 194"/>
              <p:cNvSpPr/>
              <p:nvPr/>
            </p:nvSpPr>
            <p:spPr bwMode="auto">
              <a:xfrm>
                <a:off x="-320825" y="342900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99" name="Elipse 198"/>
              <p:cNvSpPr/>
              <p:nvPr/>
            </p:nvSpPr>
            <p:spPr bwMode="auto">
              <a:xfrm>
                <a:off x="97680" y="233488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1" name="Elipse 200"/>
              <p:cNvSpPr/>
              <p:nvPr/>
            </p:nvSpPr>
            <p:spPr bwMode="auto">
              <a:xfrm>
                <a:off x="-174342" y="1492621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4" name="Elipse 203"/>
              <p:cNvSpPr/>
              <p:nvPr/>
            </p:nvSpPr>
            <p:spPr bwMode="auto">
              <a:xfrm>
                <a:off x="-1332656" y="1740381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6" name="Elipse 205"/>
              <p:cNvSpPr/>
              <p:nvPr/>
            </p:nvSpPr>
            <p:spPr bwMode="auto">
              <a:xfrm>
                <a:off x="1069562" y="181062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0" name="Elipse 209"/>
              <p:cNvSpPr/>
              <p:nvPr/>
            </p:nvSpPr>
            <p:spPr bwMode="auto">
              <a:xfrm>
                <a:off x="-6112" y="357301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1" name="Elipse 210"/>
              <p:cNvSpPr/>
              <p:nvPr/>
            </p:nvSpPr>
            <p:spPr bwMode="auto">
              <a:xfrm>
                <a:off x="-998103" y="3357000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3" name="Elipse 212"/>
              <p:cNvSpPr/>
              <p:nvPr/>
            </p:nvSpPr>
            <p:spPr bwMode="auto">
              <a:xfrm>
                <a:off x="-791045" y="3537016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5" name="Elipse 214"/>
              <p:cNvSpPr/>
              <p:nvPr/>
            </p:nvSpPr>
            <p:spPr bwMode="auto">
              <a:xfrm>
                <a:off x="-957398" y="206365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6" name="Elipse 215"/>
              <p:cNvSpPr/>
              <p:nvPr/>
            </p:nvSpPr>
            <p:spPr bwMode="auto">
              <a:xfrm>
                <a:off x="-1331867" y="3819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8" name="Elipse 217"/>
              <p:cNvSpPr/>
              <p:nvPr/>
            </p:nvSpPr>
            <p:spPr bwMode="auto">
              <a:xfrm>
                <a:off x="262129" y="382761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9223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uiExpand="1" build="p" autoUpdateAnimBg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0881D-3D2F-57F5-71C0-A097D0761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>
            <a:extLst>
              <a:ext uri="{FF2B5EF4-FFF2-40B4-BE49-F238E27FC236}">
                <a16:creationId xmlns:a16="http://schemas.microsoft.com/office/drawing/2014/main" id="{304F5711-F5BF-861C-F614-ECA3991EAB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Amostragem Iterativa</a:t>
            </a:r>
            <a:endParaRPr lang="pt-BR" i="1" dirty="0"/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7907D077-CBAA-DBFB-C995-EC11A0B52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FC7B75-3DC1-42C3-992C-9F656F9965D7}" type="slidenum">
              <a:rPr lang="pt-BR"/>
              <a:pPr>
                <a:defRPr/>
              </a:pPr>
              <a:t>32</a:t>
            </a:fld>
            <a:endParaRPr lang="pt-BR" dirty="0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F9EB5F2E-6EAB-3259-F7F1-0B8E79BF05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573" y="2818671"/>
            <a:ext cx="4908491" cy="2339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0975" indent="-180975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seleção das amostras pode então ser feita por um processo iterativo: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marL="177800" indent="-177800" eaLnBrk="1" hangingPunct="1">
              <a:spcBef>
                <a:spcPct val="0"/>
              </a:spcBef>
            </a:pPr>
            <a:r>
              <a:rPr lang="pt-BR" altLang="pt-BR" sz="1400" dirty="0">
                <a:latin typeface="Tahoma" panose="020B0604030504040204" pitchFamily="34" charset="0"/>
              </a:rPr>
              <a:t>inicialmente a coleta de pontos é feita selecionando-se amostras representativas das classes de interesse</a:t>
            </a:r>
          </a:p>
          <a:p>
            <a:pPr marL="177800" indent="-177800" eaLnBrk="1" hangingPunct="1">
              <a:spcBef>
                <a:spcPct val="0"/>
              </a:spcBef>
            </a:pPr>
            <a:r>
              <a:rPr lang="pt-BR" altLang="pt-BR" sz="1400" dirty="0">
                <a:latin typeface="Tahoma" panose="020B0604030504040204" pitchFamily="34" charset="0"/>
              </a:rPr>
              <a:t>as amostras são utilizadas para treinar o modelo</a:t>
            </a:r>
          </a:p>
          <a:p>
            <a:pPr marL="177800" indent="-177800" eaLnBrk="1" hangingPunct="1">
              <a:spcBef>
                <a:spcPct val="0"/>
              </a:spcBef>
            </a:pPr>
            <a:r>
              <a:rPr lang="pt-BR" altLang="pt-BR" sz="1400" dirty="0">
                <a:latin typeface="Tahoma" panose="020B0604030504040204" pitchFamily="34" charset="0"/>
              </a:rPr>
              <a:t>o modelo é aplicado sobre os dados e novos pontos são escolhidos com base numa avaliação dos resultados</a:t>
            </a:r>
          </a:p>
          <a:p>
            <a:pPr marL="177800" indent="-177800" eaLnBrk="1" hangingPunct="1">
              <a:spcBef>
                <a:spcPct val="0"/>
              </a:spcBef>
            </a:pPr>
            <a:r>
              <a:rPr lang="pt-BR" altLang="pt-BR" sz="1400" dirty="0">
                <a:latin typeface="Tahoma" panose="020B0604030504040204" pitchFamily="34" charset="0"/>
              </a:rPr>
              <a:t>repete-se o processo até que os resultados sejam considerados adequados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CD540093-ED8E-1B52-5DC3-9FB40FF141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12" y="5315724"/>
            <a:ext cx="8856984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0975" indent="-180975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 modo geral, a escolha de novos pontos deve se basear em algum critério que avalie o erro e/ou o grau de incerteza de como um determinado ponto foi classificado/estimado</a:t>
            </a:r>
          </a:p>
          <a:p>
            <a:pPr marL="180975" indent="-180975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discussão mais aprofundada sobre erros e incertezas será feita no tema “Avaliação de Classificação”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97B2689-2214-C65D-29D1-AA437EBCE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06" y="1317201"/>
            <a:ext cx="8856984" cy="15194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0975" indent="-180975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muitos casos, o sorteio aleatório de amostras de treinamento pode ser inviável e não garantir a representatividade dos dados analisados</a:t>
            </a:r>
          </a:p>
          <a:p>
            <a:pPr marL="180975" indent="-180975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Numa classificação de imagens, a escolha das amostras e posterior rotulação podem ser feitas através de interpretação visual realizada por especialistas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A181081B-5303-AD5D-1B7A-8CD61D807F96}"/>
              </a:ext>
            </a:extLst>
          </p:cNvPr>
          <p:cNvSpPr/>
          <p:nvPr/>
        </p:nvSpPr>
        <p:spPr bwMode="auto">
          <a:xfrm>
            <a:off x="6430916" y="4722857"/>
            <a:ext cx="1080120" cy="648072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Modelo</a:t>
            </a:r>
          </a:p>
        </p:txBody>
      </p:sp>
      <p:sp>
        <p:nvSpPr>
          <p:cNvPr id="6" name="Canto dobrado 5">
            <a:extLst>
              <a:ext uri="{FF2B5EF4-FFF2-40B4-BE49-F238E27FC236}">
                <a16:creationId xmlns:a16="http://schemas.microsoft.com/office/drawing/2014/main" id="{ED1B7E6E-3960-17ED-95AB-0C3C02C7A5E9}"/>
              </a:ext>
            </a:extLst>
          </p:cNvPr>
          <p:cNvSpPr/>
          <p:nvPr/>
        </p:nvSpPr>
        <p:spPr bwMode="auto">
          <a:xfrm>
            <a:off x="8006680" y="3704737"/>
            <a:ext cx="669776" cy="738418"/>
          </a:xfrm>
          <a:prstGeom prst="foldedCorner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pt-BR" sz="1050" dirty="0">
                <a:latin typeface="Tahoma" panose="020B0604030504040204" pitchFamily="34" charset="0"/>
              </a:rPr>
              <a:t>a</a:t>
            </a:r>
            <a:r>
              <a:rPr kumimoji="0" lang="pt-BR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mostra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F8246C7B-1135-3D23-B510-B4701FDBB4AB}"/>
              </a:ext>
            </a:extLst>
          </p:cNvPr>
          <p:cNvSpPr/>
          <p:nvPr/>
        </p:nvSpPr>
        <p:spPr bwMode="auto">
          <a:xfrm>
            <a:off x="6430916" y="2722937"/>
            <a:ext cx="1080120" cy="648072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Especialista</a:t>
            </a: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847CD94C-6632-A3B9-E124-BB4C12A6C4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9099" y="3511599"/>
            <a:ext cx="1008112" cy="1008112"/>
          </a:xfrm>
          <a:prstGeom prst="rect">
            <a:avLst/>
          </a:prstGeom>
        </p:spPr>
      </p:pic>
      <p:grpSp>
        <p:nvGrpSpPr>
          <p:cNvPr id="17" name="Grupo 16">
            <a:extLst>
              <a:ext uri="{FF2B5EF4-FFF2-40B4-BE49-F238E27FC236}">
                <a16:creationId xmlns:a16="http://schemas.microsoft.com/office/drawing/2014/main" id="{76D734DE-CD14-CC7E-688B-70CF80C90086}"/>
              </a:ext>
            </a:extLst>
          </p:cNvPr>
          <p:cNvGrpSpPr/>
          <p:nvPr/>
        </p:nvGrpSpPr>
        <p:grpSpPr>
          <a:xfrm>
            <a:off x="7521855" y="4614904"/>
            <a:ext cx="934871" cy="758312"/>
            <a:chOff x="4530362" y="3969119"/>
            <a:chExt cx="1749325" cy="758312"/>
          </a:xfrm>
        </p:grpSpPr>
        <p:sp>
          <p:nvSpPr>
            <p:cNvPr id="30" name="Seta dobrada 29">
              <a:extLst>
                <a:ext uri="{FF2B5EF4-FFF2-40B4-BE49-F238E27FC236}">
                  <a16:creationId xmlns:a16="http://schemas.microsoft.com/office/drawing/2014/main" id="{B979CF29-48A9-0C49-2D77-95A4BEDEF12E}"/>
                </a:ext>
              </a:extLst>
            </p:cNvPr>
            <p:cNvSpPr/>
            <p:nvPr/>
          </p:nvSpPr>
          <p:spPr bwMode="auto">
            <a:xfrm rot="10800000">
              <a:off x="4648941" y="3969119"/>
              <a:ext cx="1512168" cy="540000"/>
            </a:xfrm>
            <a:prstGeom prst="ben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B1E18234-8302-F28B-47D8-C189DE17FA47}"/>
                </a:ext>
              </a:extLst>
            </p:cNvPr>
            <p:cNvSpPr txBox="1"/>
            <p:nvPr/>
          </p:nvSpPr>
          <p:spPr>
            <a:xfrm>
              <a:off x="4530362" y="4465821"/>
              <a:ext cx="17493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100" dirty="0">
                  <a:latin typeface="Tahoma" panose="020B0604030504040204" pitchFamily="34" charset="0"/>
                </a:rPr>
                <a:t>treinamento</a:t>
              </a: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C6AF6E9C-216A-E2B0-EFA5-9FF10008EF79}"/>
              </a:ext>
            </a:extLst>
          </p:cNvPr>
          <p:cNvGrpSpPr/>
          <p:nvPr/>
        </p:nvGrpSpPr>
        <p:grpSpPr>
          <a:xfrm>
            <a:off x="5574734" y="4545459"/>
            <a:ext cx="756938" cy="801335"/>
            <a:chOff x="1677301" y="3899674"/>
            <a:chExt cx="1550968" cy="801335"/>
          </a:xfrm>
        </p:grpSpPr>
        <p:sp>
          <p:nvSpPr>
            <p:cNvPr id="31" name="Seta dobrada 30">
              <a:extLst>
                <a:ext uri="{FF2B5EF4-FFF2-40B4-BE49-F238E27FC236}">
                  <a16:creationId xmlns:a16="http://schemas.microsoft.com/office/drawing/2014/main" id="{EFE87820-539B-3C86-6D5A-FA99C1B427D6}"/>
                </a:ext>
              </a:extLst>
            </p:cNvPr>
            <p:cNvSpPr/>
            <p:nvPr/>
          </p:nvSpPr>
          <p:spPr bwMode="auto">
            <a:xfrm rot="16200000">
              <a:off x="2182781" y="3413674"/>
              <a:ext cx="540000" cy="1512000"/>
            </a:xfrm>
            <a:prstGeom prst="ben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4" name="CaixaDeTexto 33">
              <a:extLst>
                <a:ext uri="{FF2B5EF4-FFF2-40B4-BE49-F238E27FC236}">
                  <a16:creationId xmlns:a16="http://schemas.microsoft.com/office/drawing/2014/main" id="{B39E929C-B239-0EEC-71D9-D5D9DB6071B6}"/>
                </a:ext>
              </a:extLst>
            </p:cNvPr>
            <p:cNvSpPr txBox="1"/>
            <p:nvPr/>
          </p:nvSpPr>
          <p:spPr>
            <a:xfrm>
              <a:off x="1677301" y="4439399"/>
              <a:ext cx="15509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100" dirty="0">
                  <a:latin typeface="Tahoma" panose="020B0604030504040204" pitchFamily="34" charset="0"/>
                </a:rPr>
                <a:t>avaliação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049D76B1-2957-34E4-063A-C18D0521C390}"/>
              </a:ext>
            </a:extLst>
          </p:cNvPr>
          <p:cNvGrpSpPr/>
          <p:nvPr/>
        </p:nvGrpSpPr>
        <p:grpSpPr>
          <a:xfrm>
            <a:off x="5651147" y="2708920"/>
            <a:ext cx="691993" cy="770292"/>
            <a:chOff x="1763688" y="1698941"/>
            <a:chExt cx="1512168" cy="770292"/>
          </a:xfrm>
        </p:grpSpPr>
        <p:sp>
          <p:nvSpPr>
            <p:cNvPr id="11" name="Seta dobrada 10">
              <a:extLst>
                <a:ext uri="{FF2B5EF4-FFF2-40B4-BE49-F238E27FC236}">
                  <a16:creationId xmlns:a16="http://schemas.microsoft.com/office/drawing/2014/main" id="{A14B81E1-842B-77B0-4F97-DE7D5AD62671}"/>
                </a:ext>
              </a:extLst>
            </p:cNvPr>
            <p:cNvSpPr/>
            <p:nvPr/>
          </p:nvSpPr>
          <p:spPr bwMode="auto">
            <a:xfrm>
              <a:off x="1763688" y="1929233"/>
              <a:ext cx="1512168" cy="540000"/>
            </a:xfrm>
            <a:prstGeom prst="ben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B839D096-4608-2F11-0F19-6D799478F84A}"/>
                </a:ext>
              </a:extLst>
            </p:cNvPr>
            <p:cNvSpPr txBox="1"/>
            <p:nvPr/>
          </p:nvSpPr>
          <p:spPr>
            <a:xfrm>
              <a:off x="1915164" y="1698941"/>
              <a:ext cx="120921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100" dirty="0">
                  <a:latin typeface="Tahoma" panose="020B0604030504040204" pitchFamily="34" charset="0"/>
                </a:rPr>
                <a:t>coleta</a:t>
              </a: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F1B72A1E-7231-4FE8-D5A7-B949E3336B8B}"/>
              </a:ext>
            </a:extLst>
          </p:cNvPr>
          <p:cNvGrpSpPr/>
          <p:nvPr/>
        </p:nvGrpSpPr>
        <p:grpSpPr>
          <a:xfrm>
            <a:off x="7598812" y="2735342"/>
            <a:ext cx="861451" cy="813315"/>
            <a:chOff x="4716016" y="1725363"/>
            <a:chExt cx="1512000" cy="813315"/>
          </a:xfrm>
        </p:grpSpPr>
        <p:sp>
          <p:nvSpPr>
            <p:cNvPr id="29" name="Seta dobrada 28">
              <a:extLst>
                <a:ext uri="{FF2B5EF4-FFF2-40B4-BE49-F238E27FC236}">
                  <a16:creationId xmlns:a16="http://schemas.microsoft.com/office/drawing/2014/main" id="{ECD7188C-E0B0-2EA1-63E8-63F30ACD6111}"/>
                </a:ext>
              </a:extLst>
            </p:cNvPr>
            <p:cNvSpPr/>
            <p:nvPr/>
          </p:nvSpPr>
          <p:spPr bwMode="auto">
            <a:xfrm rot="5400000">
              <a:off x="5202016" y="1512678"/>
              <a:ext cx="540000" cy="1512000"/>
            </a:xfrm>
            <a:prstGeom prst="ben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D95BF29B-7857-270C-E114-E3179FA800DE}"/>
                </a:ext>
              </a:extLst>
            </p:cNvPr>
            <p:cNvSpPr txBox="1"/>
            <p:nvPr/>
          </p:nvSpPr>
          <p:spPr>
            <a:xfrm>
              <a:off x="4757091" y="1725363"/>
              <a:ext cx="142985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100" dirty="0">
                  <a:latin typeface="Tahoma" panose="020B0604030504040204" pitchFamily="34" charset="0"/>
                </a:rPr>
                <a:t>rotulagem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0946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6" grpId="0" animBg="1"/>
      <p:bldP spid="2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Reamostragem</a:t>
            </a:r>
            <a:endParaRPr lang="pt-BR" dirty="0"/>
          </a:p>
        </p:txBody>
      </p:sp>
      <p:sp>
        <p:nvSpPr>
          <p:cNvPr id="10243" name="Text Box 31"/>
          <p:cNvSpPr txBox="1">
            <a:spLocks noChangeArrowheads="1"/>
          </p:cNvSpPr>
          <p:nvPr/>
        </p:nvSpPr>
        <p:spPr bwMode="auto">
          <a:xfrm>
            <a:off x="323851" y="1377613"/>
            <a:ext cx="3702838" cy="26274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Reamostragem</a:t>
            </a:r>
            <a:r>
              <a:rPr lang="pt-BR" altLang="pt-BR" sz="1600" dirty="0">
                <a:latin typeface="Tahoma" panose="020B0604030504040204" pitchFamily="34" charset="0"/>
              </a:rPr>
              <a:t> é o nome que se dá a um conjunto de técnicas ou métodos que se baseiam em ajustar ou manipular um conjunto amostral de modo a gerar novas amostragens com o objetivo de melhorar ou avaliar o desempenho de modelos</a:t>
            </a:r>
          </a:p>
        </p:txBody>
      </p:sp>
      <p:grpSp>
        <p:nvGrpSpPr>
          <p:cNvPr id="37" name="Agrupar 36">
            <a:extLst>
              <a:ext uri="{FF2B5EF4-FFF2-40B4-BE49-F238E27FC236}">
                <a16:creationId xmlns:a16="http://schemas.microsoft.com/office/drawing/2014/main" id="{3EB85972-9C1D-9AB1-8E94-72B7FF6A2823}"/>
              </a:ext>
            </a:extLst>
          </p:cNvPr>
          <p:cNvGrpSpPr/>
          <p:nvPr/>
        </p:nvGrpSpPr>
        <p:grpSpPr>
          <a:xfrm>
            <a:off x="4111914" y="1435285"/>
            <a:ext cx="920172" cy="1344047"/>
            <a:chOff x="1010229" y="2518988"/>
            <a:chExt cx="1506920" cy="220107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E2C95AE1-1B94-39C4-9606-C96DEC5E76E6}"/>
                </a:ext>
              </a:extLst>
            </p:cNvPr>
            <p:cNvSpPr/>
            <p:nvPr/>
          </p:nvSpPr>
          <p:spPr bwMode="auto">
            <a:xfrm>
              <a:off x="1187624" y="2991875"/>
              <a:ext cx="1152128" cy="1728192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7E464A15-38D7-D7A2-E41B-F559B565F49A}"/>
                </a:ext>
              </a:extLst>
            </p:cNvPr>
            <p:cNvSpPr txBox="1"/>
            <p:nvPr/>
          </p:nvSpPr>
          <p:spPr>
            <a:xfrm>
              <a:off x="1010229" y="2518988"/>
              <a:ext cx="1506920" cy="5104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pt-BR"/>
              </a:defPPr>
              <a:lvl1pPr marL="179388" indent="-179388" algn="l" eaLnBrk="1" hangingPunct="1">
                <a:lnSpc>
                  <a:spcPct val="150000"/>
                </a:lnSpc>
                <a:buFontTx/>
                <a:buNone/>
                <a:defRPr sz="1600">
                  <a:latin typeface="Tahoma" panose="020B0604030504040204" pitchFamily="34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/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/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/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/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9pPr>
            </a:lstStyle>
            <a:p>
              <a:pPr algn="ctr"/>
              <a:r>
                <a:rPr lang="pt-BR" sz="1100" dirty="0"/>
                <a:t>População</a:t>
              </a:r>
            </a:p>
          </p:txBody>
        </p:sp>
      </p:grpSp>
      <p:grpSp>
        <p:nvGrpSpPr>
          <p:cNvPr id="38" name="Agrupar 37">
            <a:extLst>
              <a:ext uri="{FF2B5EF4-FFF2-40B4-BE49-F238E27FC236}">
                <a16:creationId xmlns:a16="http://schemas.microsoft.com/office/drawing/2014/main" id="{0BEED4AF-4D0D-B926-9555-B57CECC40BC0}"/>
              </a:ext>
            </a:extLst>
          </p:cNvPr>
          <p:cNvGrpSpPr/>
          <p:nvPr/>
        </p:nvGrpSpPr>
        <p:grpSpPr>
          <a:xfrm>
            <a:off x="4508269" y="1445877"/>
            <a:ext cx="1508831" cy="729240"/>
            <a:chOff x="1337908" y="2526912"/>
            <a:chExt cx="2470938" cy="1194243"/>
          </a:xfrm>
        </p:grpSpPr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AD91B2CF-7FF9-F204-097C-936623B759E8}"/>
                </a:ext>
              </a:extLst>
            </p:cNvPr>
            <p:cNvSpPr/>
            <p:nvPr/>
          </p:nvSpPr>
          <p:spPr bwMode="auto">
            <a:xfrm>
              <a:off x="2987824" y="3000958"/>
              <a:ext cx="504056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E377E1CF-06B4-1F8D-4BB7-7C399C0FFEB6}"/>
                </a:ext>
              </a:extLst>
            </p:cNvPr>
            <p:cNvSpPr/>
            <p:nvPr/>
          </p:nvSpPr>
          <p:spPr bwMode="auto">
            <a:xfrm>
              <a:off x="1337908" y="3217099"/>
              <a:ext cx="504056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cxnSp>
          <p:nvCxnSpPr>
            <p:cNvPr id="12" name="Conector de Seta Reta 11">
              <a:extLst>
                <a:ext uri="{FF2B5EF4-FFF2-40B4-BE49-F238E27FC236}">
                  <a16:creationId xmlns:a16="http://schemas.microsoft.com/office/drawing/2014/main" id="{C38769CC-E999-75DC-EE67-8B63D3186DD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55946" y="3237387"/>
              <a:ext cx="897475" cy="252028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4E35DBCF-7D9F-AFA0-DA54-3C0A4D4E2CAD}"/>
                </a:ext>
              </a:extLst>
            </p:cNvPr>
            <p:cNvSpPr txBox="1"/>
            <p:nvPr/>
          </p:nvSpPr>
          <p:spPr>
            <a:xfrm>
              <a:off x="2670857" y="2526912"/>
              <a:ext cx="1137989" cy="510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pt-BR"/>
              </a:defPPr>
              <a:lvl1pPr marL="179388" indent="-179388" algn="l" eaLnBrk="1" hangingPunct="1">
                <a:lnSpc>
                  <a:spcPct val="150000"/>
                </a:lnSpc>
                <a:buFontTx/>
                <a:buNone/>
                <a:defRPr sz="1600">
                  <a:latin typeface="Tahoma" panose="020B0604030504040204" pitchFamily="34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/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/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/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/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9pPr>
            </a:lstStyle>
            <a:p>
              <a:pPr algn="ctr"/>
              <a:r>
                <a:rPr lang="pt-BR" sz="1100" dirty="0"/>
                <a:t>Amostra</a:t>
              </a:r>
            </a:p>
          </p:txBody>
        </p:sp>
      </p:grpSp>
      <p:grpSp>
        <p:nvGrpSpPr>
          <p:cNvPr id="39" name="Agrupar 38">
            <a:extLst>
              <a:ext uri="{FF2B5EF4-FFF2-40B4-BE49-F238E27FC236}">
                <a16:creationId xmlns:a16="http://schemas.microsoft.com/office/drawing/2014/main" id="{370C3132-46C6-0F50-423F-F53FE241CF5A}"/>
              </a:ext>
            </a:extLst>
          </p:cNvPr>
          <p:cNvGrpSpPr/>
          <p:nvPr/>
        </p:nvGrpSpPr>
        <p:grpSpPr>
          <a:xfrm>
            <a:off x="5823463" y="1445257"/>
            <a:ext cx="2058164" cy="2178734"/>
            <a:chOff x="1195880" y="2520210"/>
            <a:chExt cx="4682944" cy="3568009"/>
          </a:xfrm>
        </p:grpSpPr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9A3CBD79-F3E3-B72B-2A78-DB8B19FEDA92}"/>
                </a:ext>
              </a:extLst>
            </p:cNvPr>
            <p:cNvSpPr/>
            <p:nvPr/>
          </p:nvSpPr>
          <p:spPr bwMode="auto">
            <a:xfrm>
              <a:off x="4283968" y="3000958"/>
              <a:ext cx="704433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DED1DC3-6D32-B4AC-C3BE-727A9C710FF0}"/>
                </a:ext>
              </a:extLst>
            </p:cNvPr>
            <p:cNvSpPr/>
            <p:nvPr/>
          </p:nvSpPr>
          <p:spPr bwMode="auto">
            <a:xfrm>
              <a:off x="4283968" y="3660118"/>
              <a:ext cx="704433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65078C39-090E-47CF-7BD4-D938A8CCC85C}"/>
                </a:ext>
              </a:extLst>
            </p:cNvPr>
            <p:cNvSpPr/>
            <p:nvPr/>
          </p:nvSpPr>
          <p:spPr bwMode="auto">
            <a:xfrm>
              <a:off x="4283968" y="4319278"/>
              <a:ext cx="704433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101376B1-9B7B-697A-90A1-5DDD8FDAC592}"/>
                </a:ext>
              </a:extLst>
            </p:cNvPr>
            <p:cNvSpPr/>
            <p:nvPr/>
          </p:nvSpPr>
          <p:spPr bwMode="auto">
            <a:xfrm>
              <a:off x="4283968" y="5584163"/>
              <a:ext cx="704433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45C3D74D-26CF-5497-2FF1-27B07FBC2D35}"/>
                </a:ext>
              </a:extLst>
            </p:cNvPr>
            <p:cNvSpPr txBox="1"/>
            <p:nvPr/>
          </p:nvSpPr>
          <p:spPr>
            <a:xfrm>
              <a:off x="3193168" y="2520210"/>
              <a:ext cx="2685656" cy="510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pt-BR"/>
              </a:defPPr>
              <a:lvl1pPr marL="179388" indent="-179388" algn="l" eaLnBrk="1" hangingPunct="1">
                <a:lnSpc>
                  <a:spcPct val="150000"/>
                </a:lnSpc>
                <a:buFontTx/>
                <a:buNone/>
                <a:defRPr sz="1600">
                  <a:latin typeface="Tahoma" panose="020B0604030504040204" pitchFamily="34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/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/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/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/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9pPr>
            </a:lstStyle>
            <a:p>
              <a:pPr algn="ctr"/>
              <a:r>
                <a:rPr lang="pt-BR" sz="1100" dirty="0"/>
                <a:t>Sub amostras</a:t>
              </a:r>
            </a:p>
          </p:txBody>
        </p:sp>
        <p:cxnSp>
          <p:nvCxnSpPr>
            <p:cNvPr id="16" name="Conector de Seta Reta 15">
              <a:extLst>
                <a:ext uri="{FF2B5EF4-FFF2-40B4-BE49-F238E27FC236}">
                  <a16:creationId xmlns:a16="http://schemas.microsoft.com/office/drawing/2014/main" id="{8E60C834-EC0C-AFC1-FBB0-C31CBFD5F73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195880" y="3247298"/>
              <a:ext cx="3087887" cy="5688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" name="Conector de Seta Reta 19">
              <a:extLst>
                <a:ext uri="{FF2B5EF4-FFF2-40B4-BE49-F238E27FC236}">
                  <a16:creationId xmlns:a16="http://schemas.microsoft.com/office/drawing/2014/main" id="{27801A76-71D0-F7EE-3BDE-922D5041323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195880" y="3247298"/>
              <a:ext cx="3087887" cy="664848"/>
            </a:xfrm>
            <a:prstGeom prst="curvedConnector3">
              <a:avLst>
                <a:gd name="adj1" fmla="val 50000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2" name="Conector de Seta Reta 21">
              <a:extLst>
                <a:ext uri="{FF2B5EF4-FFF2-40B4-BE49-F238E27FC236}">
                  <a16:creationId xmlns:a16="http://schemas.microsoft.com/office/drawing/2014/main" id="{32FE13C3-51BC-2E0A-C254-4699E5C020A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195880" y="3247298"/>
              <a:ext cx="3087887" cy="1324008"/>
            </a:xfrm>
            <a:prstGeom prst="curvedConnector3">
              <a:avLst>
                <a:gd name="adj1" fmla="val 50000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id="{16662E9B-0E31-4F2F-D66F-0E5C507DCAB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195880" y="3247298"/>
              <a:ext cx="3087887" cy="2588893"/>
            </a:xfrm>
            <a:prstGeom prst="curvedConnector3">
              <a:avLst>
                <a:gd name="adj1" fmla="val 50000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D66EA9D8-A00F-07BC-DD13-2A19A56A7BA5}"/>
                </a:ext>
              </a:extLst>
            </p:cNvPr>
            <p:cNvSpPr txBox="1"/>
            <p:nvPr/>
          </p:nvSpPr>
          <p:spPr>
            <a:xfrm>
              <a:off x="4558016" y="4763879"/>
              <a:ext cx="216026" cy="7812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pt-BR"/>
              </a:defPPr>
              <a:lvl1pPr marL="179388" indent="-179388" algn="l" eaLnBrk="1" hangingPunct="1">
                <a:lnSpc>
                  <a:spcPct val="150000"/>
                </a:lnSpc>
                <a:buFontTx/>
                <a:buNone/>
                <a:defRPr sz="1600">
                  <a:latin typeface="Tahoma" panose="020B0604030504040204" pitchFamily="34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/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/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/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/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9pPr>
            </a:lstStyle>
            <a:p>
              <a:pPr algn="ctr">
                <a:lnSpc>
                  <a:spcPts val="1000"/>
                </a:lnSpc>
              </a:pPr>
              <a:r>
                <a:rPr lang="pt-BR" sz="1050" dirty="0"/>
                <a:t>.</a:t>
              </a:r>
            </a:p>
            <a:p>
              <a:pPr algn="ctr">
                <a:lnSpc>
                  <a:spcPts val="1000"/>
                </a:lnSpc>
              </a:pPr>
              <a:r>
                <a:rPr lang="pt-BR" sz="1050" dirty="0"/>
                <a:t>.</a:t>
              </a:r>
            </a:p>
            <a:p>
              <a:pPr algn="ctr">
                <a:lnSpc>
                  <a:spcPts val="1000"/>
                </a:lnSpc>
              </a:pPr>
              <a:r>
                <a:rPr lang="pt-BR" sz="1050" dirty="0"/>
                <a:t>.</a:t>
              </a:r>
            </a:p>
          </p:txBody>
        </p:sp>
      </p:grpSp>
      <p:grpSp>
        <p:nvGrpSpPr>
          <p:cNvPr id="40" name="Agrupar 39">
            <a:extLst>
              <a:ext uri="{FF2B5EF4-FFF2-40B4-BE49-F238E27FC236}">
                <a16:creationId xmlns:a16="http://schemas.microsoft.com/office/drawing/2014/main" id="{407EC0FD-AEAB-B18D-340A-24F8887273D2}"/>
              </a:ext>
            </a:extLst>
          </p:cNvPr>
          <p:cNvGrpSpPr/>
          <p:nvPr/>
        </p:nvGrpSpPr>
        <p:grpSpPr>
          <a:xfrm>
            <a:off x="7649294" y="2358436"/>
            <a:ext cx="1297124" cy="307792"/>
            <a:chOff x="5256076" y="3467590"/>
            <a:chExt cx="2124236" cy="504055"/>
          </a:xfrm>
        </p:grpSpPr>
        <p:sp>
          <p:nvSpPr>
            <p:cNvPr id="33" name="Seta: para a Direita 32">
              <a:extLst>
                <a:ext uri="{FF2B5EF4-FFF2-40B4-BE49-F238E27FC236}">
                  <a16:creationId xmlns:a16="http://schemas.microsoft.com/office/drawing/2014/main" id="{427F0C58-8417-20F8-2C0E-11B110B59980}"/>
                </a:ext>
              </a:extLst>
            </p:cNvPr>
            <p:cNvSpPr/>
            <p:nvPr/>
          </p:nvSpPr>
          <p:spPr bwMode="auto">
            <a:xfrm>
              <a:off x="5256076" y="3591706"/>
              <a:ext cx="648071" cy="255823"/>
            </a:xfrm>
            <a:prstGeom prst="rightArrow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4" name="CaixaDeTexto 33">
              <a:extLst>
                <a:ext uri="{FF2B5EF4-FFF2-40B4-BE49-F238E27FC236}">
                  <a16:creationId xmlns:a16="http://schemas.microsoft.com/office/drawing/2014/main" id="{9C31DFBC-5F2C-550C-7EDF-9BEC423193CC}"/>
                </a:ext>
              </a:extLst>
            </p:cNvPr>
            <p:cNvSpPr txBox="1"/>
            <p:nvPr/>
          </p:nvSpPr>
          <p:spPr>
            <a:xfrm>
              <a:off x="6180884" y="3467590"/>
              <a:ext cx="1199428" cy="50405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noAutofit/>
            </a:bodyPr>
            <a:lstStyle/>
            <a:p>
              <a:r>
                <a:rPr lang="pt-BR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Modelo</a:t>
              </a:r>
            </a:p>
          </p:txBody>
        </p:sp>
      </p:grpSp>
      <p:sp>
        <p:nvSpPr>
          <p:cNvPr id="41" name="Text Box 31">
            <a:extLst>
              <a:ext uri="{FF2B5EF4-FFF2-40B4-BE49-F238E27FC236}">
                <a16:creationId xmlns:a16="http://schemas.microsoft.com/office/drawing/2014/main" id="{E49AB350-9391-A103-F234-94B5B77D5E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4104626"/>
            <a:ext cx="8424863" cy="29967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Estas técnicas se propõem a avaliar as incertezas relacionadas a obtenção de estatísticas com distribuições amostrais desconhecidas ou gerar um rearranjo nos dados de entrada de modo que modelos determinísticos gerem diferentes resultados.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Duas técnicas são comumente empregadas nesse contexto: </a:t>
            </a:r>
            <a:r>
              <a:rPr lang="pt-BR" altLang="pt-BR" sz="1600" i="1" dirty="0" err="1">
                <a:latin typeface="Tahoma" panose="020B0604030504040204" pitchFamily="34" charset="0"/>
              </a:rPr>
              <a:t>Jackknife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 err="1">
                <a:latin typeface="Tahoma" panose="020B0604030504040204" pitchFamily="34" charset="0"/>
              </a:rPr>
              <a:t>Bootstrap</a:t>
            </a:r>
            <a:endParaRPr lang="pt-BR" altLang="pt-BR" sz="1600" i="1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Também podem ser utilizadas para avaliar a significância de testes cujas estatísticas básicas não têm suas propriedades bem estabelecidas ou cujas premissas não podem ser consideradas verdadeiras.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6" name="Espaço Reservado para Número de Slide 1">
            <a:extLst>
              <a:ext uri="{FF2B5EF4-FFF2-40B4-BE49-F238E27FC236}">
                <a16:creationId xmlns:a16="http://schemas.microsoft.com/office/drawing/2014/main" id="{7314BF81-BBEE-9504-4005-349E8C1B4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33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173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Jackknife</a:t>
            </a:r>
            <a:endParaRPr lang="pt-BR" dirty="0"/>
          </a:p>
        </p:txBody>
      </p:sp>
      <p:sp>
        <p:nvSpPr>
          <p:cNvPr id="18435" name="Text Box 31"/>
          <p:cNvSpPr txBox="1">
            <a:spLocks noChangeArrowheads="1"/>
          </p:cNvSpPr>
          <p:nvPr/>
        </p:nvSpPr>
        <p:spPr bwMode="auto">
          <a:xfrm>
            <a:off x="755650" y="1340768"/>
            <a:ext cx="7920806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Também chamado </a:t>
            </a:r>
            <a:r>
              <a:rPr lang="pt-BR" altLang="pt-BR" sz="1600" i="1" dirty="0" err="1">
                <a:latin typeface="Tahoma" panose="020B0604030504040204" pitchFamily="34" charset="0"/>
              </a:rPr>
              <a:t>Leave</a:t>
            </a:r>
            <a:r>
              <a:rPr lang="pt-BR" altLang="pt-BR" sz="1600" i="1" dirty="0">
                <a:latin typeface="Tahoma" panose="020B0604030504040204" pitchFamily="34" charset="0"/>
              </a:rPr>
              <a:t>-</a:t>
            </a:r>
            <a:r>
              <a:rPr lang="pt-BR" altLang="pt-BR" sz="1600" i="1" dirty="0" err="1">
                <a:latin typeface="Tahoma" panose="020B0604030504040204" pitchFamily="34" charset="0"/>
              </a:rPr>
              <a:t>One</a:t>
            </a:r>
            <a:r>
              <a:rPr lang="pt-BR" altLang="pt-BR" sz="1600" i="1" dirty="0">
                <a:latin typeface="Tahoma" panose="020B0604030504040204" pitchFamily="34" charset="0"/>
              </a:rPr>
              <a:t>-Out Test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Usado para estimar a variância e a tendência de um estimador qualquer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Baseia-se na remoção de 1 amostra do conjunto total observado 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), recalculando-se o estimador a partir dos valores restantes 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-1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de fácil implementação e possui número fixo de iterações (igual 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6" name="Seta para a direita 5"/>
          <p:cNvSpPr/>
          <p:nvPr/>
        </p:nvSpPr>
        <p:spPr bwMode="auto">
          <a:xfrm>
            <a:off x="3792156" y="4364894"/>
            <a:ext cx="590673" cy="231299"/>
          </a:xfrm>
          <a:prstGeom prst="rightArrow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700" dirty="0">
                <a:solidFill>
                  <a:schemeClr val="tx1"/>
                </a:solidFill>
                <a:latin typeface="Tahoma" panose="020B0604030504040204" pitchFamily="34" charset="0"/>
              </a:rPr>
              <a:t>amostra</a:t>
            </a:r>
          </a:p>
        </p:txBody>
      </p:sp>
      <p:sp>
        <p:nvSpPr>
          <p:cNvPr id="7" name="Retângulo 5"/>
          <p:cNvSpPr>
            <a:spLocks noChangeArrowheads="1"/>
          </p:cNvSpPr>
          <p:nvPr/>
        </p:nvSpPr>
        <p:spPr bwMode="auto">
          <a:xfrm>
            <a:off x="4487992" y="4344765"/>
            <a:ext cx="122617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>
                <a:latin typeface="Times New Roman" charset="0"/>
              </a:rPr>
              <a:t>X</a:t>
            </a:r>
            <a:r>
              <a:rPr lang="pt-BR" altLang="pt-BR" sz="1400" baseline="-25000" dirty="0">
                <a:latin typeface="Times New Roman" charset="0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</a:rPr>
              <a:t>, </a:t>
            </a:r>
            <a:r>
              <a:rPr lang="pt-BR" altLang="pt-BR" sz="1400" i="1" dirty="0">
                <a:latin typeface="Times New Roman" charset="0"/>
              </a:rPr>
              <a:t>X</a:t>
            </a:r>
            <a:r>
              <a:rPr lang="pt-BR" altLang="pt-BR" sz="1400" baseline="-25000" dirty="0">
                <a:latin typeface="Times New Roman" charset="0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</a:rPr>
              <a:t>, ..., </a:t>
            </a:r>
            <a:r>
              <a:rPr lang="pt-BR" altLang="pt-BR" sz="1400" i="1" dirty="0" err="1">
                <a:latin typeface="Times New Roman" charset="0"/>
              </a:rPr>
              <a:t>X</a:t>
            </a:r>
            <a:r>
              <a:rPr lang="pt-BR" altLang="pt-BR" sz="1400" i="1" baseline="-25000" dirty="0" err="1">
                <a:latin typeface="Times New Roman" charset="0"/>
              </a:rPr>
              <a:t>n</a:t>
            </a:r>
            <a:r>
              <a:rPr lang="pt-BR" altLang="pt-BR" sz="1400" dirty="0">
                <a:latin typeface="Tahoma" panose="020B0604030504040204" pitchFamily="34" charset="0"/>
              </a:rPr>
              <a:t> </a:t>
            </a:r>
          </a:p>
        </p:txBody>
      </p:sp>
      <p:grpSp>
        <p:nvGrpSpPr>
          <p:cNvPr id="51" name="Grupo 50"/>
          <p:cNvGrpSpPr/>
          <p:nvPr/>
        </p:nvGrpSpPr>
        <p:grpSpPr>
          <a:xfrm>
            <a:off x="1691059" y="3694461"/>
            <a:ext cx="2047035" cy="1607417"/>
            <a:chOff x="1691059" y="3694461"/>
            <a:chExt cx="2047035" cy="1607417"/>
          </a:xfrm>
        </p:grpSpPr>
        <p:sp>
          <p:nvSpPr>
            <p:cNvPr id="5" name="CaixaDeTexto 4"/>
            <p:cNvSpPr txBox="1"/>
            <p:nvPr/>
          </p:nvSpPr>
          <p:spPr>
            <a:xfrm>
              <a:off x="2535697" y="3738862"/>
              <a:ext cx="782587" cy="4385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050" dirty="0">
                  <a:latin typeface="Tahoma" panose="020B0604030504040204" pitchFamily="34" charset="0"/>
                </a:rPr>
                <a:t>População</a:t>
              </a:r>
            </a:p>
            <a:p>
              <a:r>
                <a:rPr lang="pt-BR" i="1" dirty="0">
                  <a:latin typeface="Tahoma" panose="020B0604030504040204" pitchFamily="34" charset="0"/>
                  <a:sym typeface="Symbol"/>
                </a:rPr>
                <a:t></a:t>
              </a:r>
              <a:r>
                <a:rPr lang="pt-BR" sz="1050" dirty="0">
                  <a:latin typeface="Tahoma" panose="020B0604030504040204" pitchFamily="34" charset="0"/>
                </a:rPr>
                <a:t> </a:t>
              </a:r>
            </a:p>
          </p:txBody>
        </p:sp>
        <p:grpSp>
          <p:nvGrpSpPr>
            <p:cNvPr id="11" name="Grupo 16"/>
            <p:cNvGrpSpPr>
              <a:grpSpLocks/>
            </p:cNvGrpSpPr>
            <p:nvPr/>
          </p:nvGrpSpPr>
          <p:grpSpPr bwMode="auto">
            <a:xfrm>
              <a:off x="1691059" y="3694461"/>
              <a:ext cx="2047035" cy="1607417"/>
              <a:chOff x="4444328" y="3625850"/>
              <a:chExt cx="2264520" cy="1638224"/>
            </a:xfrm>
          </p:grpSpPr>
          <p:sp>
            <p:nvSpPr>
              <p:cNvPr id="12" name="Freeform 31"/>
              <p:cNvSpPr>
                <a:spLocks/>
              </p:cNvSpPr>
              <p:nvPr/>
            </p:nvSpPr>
            <p:spPr bwMode="auto">
              <a:xfrm>
                <a:off x="4876800" y="3721100"/>
                <a:ext cx="1676400" cy="1295400"/>
              </a:xfrm>
              <a:custGeom>
                <a:avLst/>
                <a:gdLst>
                  <a:gd name="T0" fmla="*/ 0 w 1056"/>
                  <a:gd name="T1" fmla="*/ 0 h 816"/>
                  <a:gd name="T2" fmla="*/ 0 w 1056"/>
                  <a:gd name="T3" fmla="*/ 2147483647 h 816"/>
                  <a:gd name="T4" fmla="*/ 2147483647 w 1056"/>
                  <a:gd name="T5" fmla="*/ 2147483647 h 816"/>
                  <a:gd name="T6" fmla="*/ 0 60000 65536"/>
                  <a:gd name="T7" fmla="*/ 0 60000 65536"/>
                  <a:gd name="T8" fmla="*/ 0 60000 65536"/>
                  <a:gd name="T9" fmla="*/ 0 w 1056"/>
                  <a:gd name="T10" fmla="*/ 0 h 816"/>
                  <a:gd name="T11" fmla="*/ 1056 w 1056"/>
                  <a:gd name="T12" fmla="*/ 816 h 81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056" h="816">
                    <a:moveTo>
                      <a:pt x="0" y="0"/>
                    </a:moveTo>
                    <a:lnTo>
                      <a:pt x="0" y="816"/>
                    </a:lnTo>
                    <a:lnTo>
                      <a:pt x="1056" y="816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sz="9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" name="Text Box 32"/>
              <p:cNvSpPr txBox="1">
                <a:spLocks noChangeArrowheads="1"/>
              </p:cNvSpPr>
              <p:nvPr/>
            </p:nvSpPr>
            <p:spPr bwMode="auto">
              <a:xfrm>
                <a:off x="6408804" y="4997450"/>
                <a:ext cx="300044" cy="2666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050" i="1">
                    <a:latin typeface="Times New Roman" charset="0"/>
                  </a:rPr>
                  <a:t>X</a:t>
                </a:r>
              </a:p>
            </p:txBody>
          </p:sp>
          <p:sp>
            <p:nvSpPr>
              <p:cNvPr id="14" name="Text Box 33"/>
              <p:cNvSpPr txBox="1">
                <a:spLocks noChangeArrowheads="1"/>
              </p:cNvSpPr>
              <p:nvPr/>
            </p:nvSpPr>
            <p:spPr bwMode="auto">
              <a:xfrm>
                <a:off x="4444328" y="3625850"/>
                <a:ext cx="418856" cy="2666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050" i="1">
                    <a:latin typeface="Times New Roman" charset="0"/>
                  </a:rPr>
                  <a:t>f</a:t>
                </a:r>
                <a:r>
                  <a:rPr lang="pt-BR" altLang="pt-BR" sz="1050">
                    <a:latin typeface="Times New Roman" charset="0"/>
                  </a:rPr>
                  <a:t>(</a:t>
                </a:r>
                <a:r>
                  <a:rPr lang="pt-BR" altLang="pt-BR" sz="1050" i="1">
                    <a:latin typeface="Times New Roman" charset="0"/>
                  </a:rPr>
                  <a:t>x</a:t>
                </a:r>
                <a:r>
                  <a:rPr lang="pt-BR" altLang="pt-BR" sz="1050">
                    <a:latin typeface="Times New Roman" charset="0"/>
                  </a:rPr>
                  <a:t>)</a:t>
                </a:r>
              </a:p>
            </p:txBody>
          </p:sp>
          <p:sp>
            <p:nvSpPr>
              <p:cNvPr id="15" name="Forma livre 14"/>
              <p:cNvSpPr/>
              <p:nvPr/>
            </p:nvSpPr>
            <p:spPr bwMode="auto">
              <a:xfrm>
                <a:off x="4943507" y="3905204"/>
                <a:ext cx="1457413" cy="1111068"/>
              </a:xfrm>
              <a:custGeom>
                <a:avLst/>
                <a:gdLst>
                  <a:gd name="connsiteX0" fmla="*/ 0 w 1850279"/>
                  <a:gd name="connsiteY0" fmla="*/ 1051969 h 1064243"/>
                  <a:gd name="connsiteX1" fmla="*/ 171834 w 1850279"/>
                  <a:gd name="connsiteY1" fmla="*/ 806493 h 1064243"/>
                  <a:gd name="connsiteX2" fmla="*/ 331394 w 1850279"/>
                  <a:gd name="connsiteY2" fmla="*/ 321677 h 1064243"/>
                  <a:gd name="connsiteX3" fmla="*/ 460269 w 1850279"/>
                  <a:gd name="connsiteY3" fmla="*/ 8694 h 1064243"/>
                  <a:gd name="connsiteX4" fmla="*/ 751772 w 1850279"/>
                  <a:gd name="connsiteY4" fmla="*/ 373840 h 1064243"/>
                  <a:gd name="connsiteX5" fmla="*/ 1098508 w 1850279"/>
                  <a:gd name="connsiteY5" fmla="*/ 757397 h 1064243"/>
                  <a:gd name="connsiteX6" fmla="*/ 1423764 w 1850279"/>
                  <a:gd name="connsiteY6" fmla="*/ 972189 h 1064243"/>
                  <a:gd name="connsiteX7" fmla="*/ 1850279 w 1850279"/>
                  <a:gd name="connsiteY7" fmla="*/ 1064243 h 1064243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77815"/>
                  <a:gd name="connsiteY0" fmla="*/ 1115384 h 1115384"/>
                  <a:gd name="connsiteX1" fmla="*/ 171834 w 1877815"/>
                  <a:gd name="connsiteY1" fmla="*/ 869908 h 1115384"/>
                  <a:gd name="connsiteX2" fmla="*/ 460269 w 1877815"/>
                  <a:gd name="connsiteY2" fmla="*/ 72109 h 1115384"/>
                  <a:gd name="connsiteX3" fmla="*/ 751772 w 1877815"/>
                  <a:gd name="connsiteY3" fmla="*/ 437255 h 1115384"/>
                  <a:gd name="connsiteX4" fmla="*/ 1098508 w 1877815"/>
                  <a:gd name="connsiteY4" fmla="*/ 820812 h 1115384"/>
                  <a:gd name="connsiteX5" fmla="*/ 1423764 w 1877815"/>
                  <a:gd name="connsiteY5" fmla="*/ 1035604 h 1115384"/>
                  <a:gd name="connsiteX6" fmla="*/ 1877815 w 1877815"/>
                  <a:gd name="connsiteY6" fmla="*/ 1113264 h 1115384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77815" h="1111885">
                    <a:moveTo>
                      <a:pt x="0" y="1111885"/>
                    </a:moveTo>
                    <a:cubicBezTo>
                      <a:pt x="58301" y="1050004"/>
                      <a:pt x="95123" y="1040288"/>
                      <a:pt x="171834" y="866409"/>
                    </a:cubicBezTo>
                    <a:cubicBezTo>
                      <a:pt x="248545" y="692530"/>
                      <a:pt x="358775" y="137220"/>
                      <a:pt x="460269" y="68610"/>
                    </a:cubicBezTo>
                    <a:cubicBezTo>
                      <a:pt x="561763" y="0"/>
                      <a:pt x="698146" y="323828"/>
                      <a:pt x="780797" y="454749"/>
                    </a:cubicBezTo>
                    <a:cubicBezTo>
                      <a:pt x="902985" y="607149"/>
                      <a:pt x="991347" y="721087"/>
                      <a:pt x="1098508" y="817313"/>
                    </a:cubicBezTo>
                    <a:cubicBezTo>
                      <a:pt x="1205669" y="913539"/>
                      <a:pt x="1293879" y="983363"/>
                      <a:pt x="1423764" y="1032105"/>
                    </a:cubicBezTo>
                    <a:cubicBezTo>
                      <a:pt x="1553649" y="1080847"/>
                      <a:pt x="1727205" y="1089308"/>
                      <a:pt x="1877815" y="1109765"/>
                    </a:cubicBezTo>
                  </a:path>
                </a:pathLst>
              </a:cu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sz="9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8" name="Text Box 21"/>
          <p:cNvSpPr txBox="1">
            <a:spLocks noChangeArrowheads="1"/>
          </p:cNvSpPr>
          <p:nvPr/>
        </p:nvSpPr>
        <p:spPr bwMode="auto">
          <a:xfrm>
            <a:off x="5913373" y="4786937"/>
            <a:ext cx="866894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kumimoji="1" lang="pt-BR" altLang="zh-TW" sz="1050" i="1" dirty="0">
                <a:solidFill>
                  <a:srgbClr val="FF0000"/>
                </a:solidFill>
                <a:latin typeface="Times New Roman" charset="0"/>
                <a:ea typeface="新細明體" pitchFamily="18" charset="-120"/>
                <a:cs typeface="Times New Roman" charset="0"/>
              </a:rPr>
              <a:t>n</a:t>
            </a:r>
            <a:r>
              <a:rPr kumimoji="1" lang="pt-BR" altLang="zh-TW" sz="1050" dirty="0">
                <a:solidFill>
                  <a:srgbClr val="FF0000"/>
                </a:solidFill>
                <a:latin typeface="Tahoma" panose="020B0604030504040204" pitchFamily="34" charset="0"/>
                <a:ea typeface="新細明體" pitchFamily="18" charset="-120"/>
                <a:cs typeface="Times New Roman" charset="0"/>
              </a:rPr>
              <a:t> vezes</a:t>
            </a:r>
          </a:p>
        </p:txBody>
      </p:sp>
      <p:grpSp>
        <p:nvGrpSpPr>
          <p:cNvPr id="20" name="Grupo 64"/>
          <p:cNvGrpSpPr>
            <a:grpSpLocks/>
          </p:cNvGrpSpPr>
          <p:nvPr/>
        </p:nvGrpSpPr>
        <p:grpSpPr bwMode="auto">
          <a:xfrm>
            <a:off x="3079898" y="4691594"/>
            <a:ext cx="1642227" cy="1301177"/>
            <a:chOff x="1358183" y="3618906"/>
            <a:chExt cx="2727647" cy="2161182"/>
          </a:xfrm>
        </p:grpSpPr>
        <p:cxnSp>
          <p:nvCxnSpPr>
            <p:cNvPr id="21" name="AutoShape 13"/>
            <p:cNvCxnSpPr>
              <a:cxnSpLocks noChangeShapeType="1"/>
              <a:endCxn id="23" idx="0"/>
            </p:cNvCxnSpPr>
            <p:nvPr/>
          </p:nvCxnSpPr>
          <p:spPr bwMode="auto">
            <a:xfrm rot="10800000" flipV="1">
              <a:off x="2159795" y="3618906"/>
              <a:ext cx="1926035" cy="1440457"/>
            </a:xfrm>
            <a:prstGeom prst="curvedConnector2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2" name="Grupo 61"/>
            <p:cNvGrpSpPr>
              <a:grpSpLocks/>
            </p:cNvGrpSpPr>
            <p:nvPr/>
          </p:nvGrpSpPr>
          <p:grpSpPr bwMode="auto">
            <a:xfrm>
              <a:off x="1358183" y="5059363"/>
              <a:ext cx="1521542" cy="720725"/>
              <a:chOff x="1358183" y="5059363"/>
              <a:chExt cx="1521542" cy="720725"/>
            </a:xfrm>
          </p:grpSpPr>
          <p:sp>
            <p:nvSpPr>
              <p:cNvPr id="23" name="Oval 7"/>
              <p:cNvSpPr>
                <a:spLocks noChangeArrowheads="1"/>
              </p:cNvSpPr>
              <p:nvPr/>
            </p:nvSpPr>
            <p:spPr bwMode="auto">
              <a:xfrm>
                <a:off x="1439863" y="5059363"/>
                <a:ext cx="1439862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24" name="CaixaDeTexto 36"/>
              <p:cNvSpPr txBox="1">
                <a:spLocks noChangeArrowheads="1"/>
              </p:cNvSpPr>
              <p:nvPr/>
            </p:nvSpPr>
            <p:spPr bwMode="auto">
              <a:xfrm>
                <a:off x="1358183" y="5219701"/>
                <a:ext cx="1496856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2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3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i="1" baseline="-25000">
                    <a:latin typeface="Times New Roman" charset="0"/>
                    <a:cs typeface="Times New Roman" charset="0"/>
                  </a:rPr>
                  <a:t>n</a:t>
                </a:r>
              </a:p>
            </p:txBody>
          </p:sp>
        </p:grpSp>
      </p:grpSp>
      <p:grpSp>
        <p:nvGrpSpPr>
          <p:cNvPr id="25" name="Grupo 65"/>
          <p:cNvGrpSpPr>
            <a:grpSpLocks/>
          </p:cNvGrpSpPr>
          <p:nvPr/>
        </p:nvGrpSpPr>
        <p:grpSpPr bwMode="auto">
          <a:xfrm>
            <a:off x="4084902" y="4691596"/>
            <a:ext cx="907947" cy="1301175"/>
            <a:chOff x="3027439" y="3618908"/>
            <a:chExt cx="1508049" cy="2161180"/>
          </a:xfrm>
        </p:grpSpPr>
        <p:cxnSp>
          <p:nvCxnSpPr>
            <p:cNvPr id="26" name="AutoShape 14"/>
            <p:cNvCxnSpPr>
              <a:cxnSpLocks noChangeShapeType="1"/>
              <a:endCxn id="28" idx="0"/>
            </p:cNvCxnSpPr>
            <p:nvPr/>
          </p:nvCxnSpPr>
          <p:spPr bwMode="auto">
            <a:xfrm rot="5400000">
              <a:off x="3455295" y="3979170"/>
              <a:ext cx="1440456" cy="719931"/>
            </a:xfrm>
            <a:prstGeom prst="curvedConnector3">
              <a:avLst>
                <a:gd name="adj1" fmla="val 50000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7" name="Grupo 62"/>
            <p:cNvGrpSpPr>
              <a:grpSpLocks/>
            </p:cNvGrpSpPr>
            <p:nvPr/>
          </p:nvGrpSpPr>
          <p:grpSpPr bwMode="auto">
            <a:xfrm>
              <a:off x="3027439" y="5059363"/>
              <a:ext cx="1508049" cy="720725"/>
              <a:chOff x="3027439" y="5059363"/>
              <a:chExt cx="1508049" cy="720725"/>
            </a:xfrm>
          </p:grpSpPr>
          <p:sp>
            <p:nvSpPr>
              <p:cNvPr id="28" name="Oval 8"/>
              <p:cNvSpPr>
                <a:spLocks noChangeArrowheads="1"/>
              </p:cNvSpPr>
              <p:nvPr/>
            </p:nvSpPr>
            <p:spPr bwMode="auto">
              <a:xfrm>
                <a:off x="3095625" y="5059363"/>
                <a:ext cx="1439863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29" name="CaixaDeTexto 37"/>
              <p:cNvSpPr txBox="1">
                <a:spLocks noChangeArrowheads="1"/>
              </p:cNvSpPr>
              <p:nvPr/>
            </p:nvSpPr>
            <p:spPr bwMode="auto">
              <a:xfrm>
                <a:off x="3027439" y="5219701"/>
                <a:ext cx="1496857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3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i="1" baseline="-25000">
                    <a:latin typeface="Times New Roman" charset="0"/>
                    <a:cs typeface="Times New Roman" charset="0"/>
                  </a:rPr>
                  <a:t>n</a:t>
                </a:r>
              </a:p>
            </p:txBody>
          </p:sp>
        </p:grpSp>
      </p:grpSp>
      <p:grpSp>
        <p:nvGrpSpPr>
          <p:cNvPr id="30" name="Grupo 66"/>
          <p:cNvGrpSpPr>
            <a:grpSpLocks/>
          </p:cNvGrpSpPr>
          <p:nvPr/>
        </p:nvGrpSpPr>
        <p:grpSpPr bwMode="auto">
          <a:xfrm>
            <a:off x="5371459" y="4691596"/>
            <a:ext cx="1504797" cy="1301176"/>
            <a:chOff x="5164337" y="3618908"/>
            <a:chExt cx="2499384" cy="2161180"/>
          </a:xfrm>
        </p:grpSpPr>
        <p:cxnSp>
          <p:nvCxnSpPr>
            <p:cNvPr id="31" name="AutoShape 15"/>
            <p:cNvCxnSpPr>
              <a:cxnSpLocks noChangeShapeType="1"/>
              <a:endCxn id="33" idx="0"/>
            </p:cNvCxnSpPr>
            <p:nvPr/>
          </p:nvCxnSpPr>
          <p:spPr bwMode="auto">
            <a:xfrm>
              <a:off x="5164337" y="3618908"/>
              <a:ext cx="1675407" cy="1440455"/>
            </a:xfrm>
            <a:prstGeom prst="curvedConnector2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32" name="Grupo 63"/>
            <p:cNvGrpSpPr>
              <a:grpSpLocks/>
            </p:cNvGrpSpPr>
            <p:nvPr/>
          </p:nvGrpSpPr>
          <p:grpSpPr bwMode="auto">
            <a:xfrm>
              <a:off x="6036402" y="5059363"/>
              <a:ext cx="1627319" cy="720725"/>
              <a:chOff x="6036402" y="5059363"/>
              <a:chExt cx="1627319" cy="720725"/>
            </a:xfrm>
          </p:grpSpPr>
          <p:sp>
            <p:nvSpPr>
              <p:cNvPr id="33" name="Oval 9"/>
              <p:cNvSpPr>
                <a:spLocks noChangeArrowheads="1"/>
              </p:cNvSpPr>
              <p:nvPr/>
            </p:nvSpPr>
            <p:spPr bwMode="auto">
              <a:xfrm>
                <a:off x="6119813" y="5059363"/>
                <a:ext cx="1439862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34" name="CaixaDeTexto 38"/>
              <p:cNvSpPr txBox="1">
                <a:spLocks noChangeArrowheads="1"/>
              </p:cNvSpPr>
              <p:nvPr/>
            </p:nvSpPr>
            <p:spPr bwMode="auto">
              <a:xfrm>
                <a:off x="6036402" y="5219701"/>
                <a:ext cx="1627319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2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i="1" baseline="-25000">
                    <a:latin typeface="Times New Roman" charset="0"/>
                    <a:cs typeface="Times New Roman" charset="0"/>
                  </a:rPr>
                  <a:t>n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-1</a:t>
                </a:r>
              </a:p>
            </p:txBody>
          </p:sp>
        </p:grpSp>
      </p:grpSp>
      <p:grpSp>
        <p:nvGrpSpPr>
          <p:cNvPr id="44" name="Grupo 43"/>
          <p:cNvGrpSpPr/>
          <p:nvPr/>
        </p:nvGrpSpPr>
        <p:grpSpPr>
          <a:xfrm>
            <a:off x="3195509" y="6395423"/>
            <a:ext cx="3584758" cy="384997"/>
            <a:chOff x="2686062" y="5754909"/>
            <a:chExt cx="5954081" cy="639458"/>
          </a:xfrm>
        </p:grpSpPr>
        <p:sp>
          <p:nvSpPr>
            <p:cNvPr id="45" name="Chave esquerda 44"/>
            <p:cNvSpPr/>
            <p:nvPr/>
          </p:nvSpPr>
          <p:spPr bwMode="auto">
            <a:xfrm rot="16200000">
              <a:off x="5531107" y="3072859"/>
              <a:ext cx="215899" cy="5580000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46" name="Text Box 31"/>
            <p:cNvSpPr txBox="1">
              <a:spLocks noChangeArrowheads="1"/>
            </p:cNvSpPr>
            <p:nvPr/>
          </p:nvSpPr>
          <p:spPr bwMode="auto">
            <a:xfrm>
              <a:off x="2686062" y="5972627"/>
              <a:ext cx="5954081" cy="421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9pPr>
            </a:lstStyle>
            <a:p>
              <a:pPr eaLnBrk="1" fontAlgn="auto" hangingPunct="1">
                <a:spcBef>
                  <a:spcPct val="50000"/>
                </a:spcBef>
                <a:spcAft>
                  <a:spcPts val="0"/>
                </a:spcAft>
                <a:defRPr/>
              </a:pPr>
              <a:r>
                <a:rPr lang="pt-BR" altLang="zh-TW" sz="1050" kern="0" dirty="0">
                  <a:solidFill>
                    <a:srgbClr val="000000"/>
                  </a:solidFill>
                  <a:latin typeface="Tahoma" panose="020B0604030504040204" pitchFamily="34" charset="0"/>
                </a:rPr>
                <a:t>permite estudar a variabilidade do estimador de </a:t>
              </a:r>
              <a:r>
                <a:rPr lang="pt-BR" altLang="zh-TW" sz="1050" i="1" kern="0" dirty="0">
                  <a:solidFill>
                    <a:srgbClr val="000000"/>
                  </a:solidFill>
                  <a:latin typeface="Tahoma" panose="020B0604030504040204" pitchFamily="34" charset="0"/>
                  <a:sym typeface="Symbol"/>
                </a:rPr>
                <a:t></a:t>
              </a:r>
              <a:endParaRPr lang="pt-BR" altLang="zh-TW" sz="1050" i="1" kern="0" dirty="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47" name="Grupo 52"/>
          <p:cNvGrpSpPr>
            <a:grpSpLocks/>
          </p:cNvGrpSpPr>
          <p:nvPr/>
        </p:nvGrpSpPr>
        <p:grpSpPr bwMode="auto">
          <a:xfrm>
            <a:off x="5346803" y="5775436"/>
            <a:ext cx="204537" cy="21983"/>
            <a:chOff x="4788024" y="4725144"/>
            <a:chExt cx="340800" cy="36000"/>
          </a:xfrm>
        </p:grpSpPr>
        <p:sp>
          <p:nvSpPr>
            <p:cNvPr id="48" name="Elipse 49"/>
            <p:cNvSpPr>
              <a:spLocks noChangeArrowheads="1"/>
            </p:cNvSpPr>
            <p:nvPr/>
          </p:nvSpPr>
          <p:spPr bwMode="auto">
            <a:xfrm>
              <a:off x="47880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49" name="Elipse 50"/>
            <p:cNvSpPr>
              <a:spLocks noChangeArrowheads="1"/>
            </p:cNvSpPr>
            <p:nvPr/>
          </p:nvSpPr>
          <p:spPr bwMode="auto">
            <a:xfrm>
              <a:off x="49404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50" name="Elipse 51"/>
            <p:cNvSpPr>
              <a:spLocks noChangeArrowheads="1"/>
            </p:cNvSpPr>
            <p:nvPr/>
          </p:nvSpPr>
          <p:spPr bwMode="auto">
            <a:xfrm>
              <a:off x="50928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3" name="Grupo 52"/>
          <p:cNvGrpSpPr/>
          <p:nvPr/>
        </p:nvGrpSpPr>
        <p:grpSpPr>
          <a:xfrm>
            <a:off x="2436352" y="6017594"/>
            <a:ext cx="4138838" cy="371180"/>
            <a:chOff x="2436352" y="6017594"/>
            <a:chExt cx="4138838" cy="371180"/>
          </a:xfrm>
        </p:grpSpPr>
        <p:sp>
          <p:nvSpPr>
            <p:cNvPr id="54" name="Text Box 31"/>
            <p:cNvSpPr txBox="1">
              <a:spLocks noChangeArrowheads="1"/>
            </p:cNvSpPr>
            <p:nvPr/>
          </p:nvSpPr>
          <p:spPr bwMode="auto">
            <a:xfrm>
              <a:off x="2436352" y="6127164"/>
              <a:ext cx="1018863" cy="261610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9pPr>
            </a:lstStyle>
            <a:p>
              <a:pPr eaLnBrk="1" fontAlgn="auto" hangingPunct="1">
                <a:spcBef>
                  <a:spcPct val="50000"/>
                </a:spcBef>
                <a:spcAft>
                  <a:spcPts val="0"/>
                </a:spcAft>
                <a:defRPr/>
              </a:pPr>
              <a:r>
                <a:rPr lang="pt-BR" altLang="zh-TW" sz="1050" kern="0" dirty="0">
                  <a:solidFill>
                    <a:srgbClr val="000000"/>
                  </a:solidFill>
                  <a:latin typeface="Tahoma" panose="020B0604030504040204" pitchFamily="34" charset="0"/>
                </a:rPr>
                <a:t>estatísticas</a:t>
              </a:r>
            </a:p>
          </p:txBody>
        </p:sp>
        <p:grpSp>
          <p:nvGrpSpPr>
            <p:cNvPr id="55" name="Grupo 54"/>
            <p:cNvGrpSpPr/>
            <p:nvPr/>
          </p:nvGrpSpPr>
          <p:grpSpPr>
            <a:xfrm>
              <a:off x="3410766" y="6017594"/>
              <a:ext cx="339387" cy="354891"/>
              <a:chOff x="3427700" y="6017594"/>
              <a:chExt cx="339387" cy="354891"/>
            </a:xfrm>
          </p:grpSpPr>
          <p:sp>
            <p:nvSpPr>
              <p:cNvPr id="62" name="Line 26"/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CaixaDeTexto 62"/>
                  <p:cNvSpPr txBox="1"/>
                  <p:nvPr/>
                </p:nvSpPr>
                <p:spPr>
                  <a:xfrm>
                    <a:off x="3427700" y="6122288"/>
                    <a:ext cx="339387" cy="2501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3" name="CaixaDeTexto 6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7700" y="6122288"/>
                    <a:ext cx="339387" cy="25019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0000" t="-19512" r="-12727" b="-2682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6" name="Grupo 55"/>
            <p:cNvGrpSpPr/>
            <p:nvPr/>
          </p:nvGrpSpPr>
          <p:grpSpPr>
            <a:xfrm>
              <a:off x="4408792" y="6017594"/>
              <a:ext cx="339387" cy="354891"/>
              <a:chOff x="3427700" y="6017594"/>
              <a:chExt cx="339387" cy="354891"/>
            </a:xfrm>
          </p:grpSpPr>
          <p:sp>
            <p:nvSpPr>
              <p:cNvPr id="60" name="Line 26"/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CaixaDeTexto 60"/>
                  <p:cNvSpPr txBox="1"/>
                  <p:nvPr/>
                </p:nvSpPr>
                <p:spPr>
                  <a:xfrm>
                    <a:off x="3427700" y="6122288"/>
                    <a:ext cx="339387" cy="2501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(2)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CaixaDeTexto 6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7700" y="6122288"/>
                    <a:ext cx="339387" cy="25019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9643" t="-19512" r="-10714" b="-2682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7" name="Grupo 56"/>
            <p:cNvGrpSpPr/>
            <p:nvPr/>
          </p:nvGrpSpPr>
          <p:grpSpPr>
            <a:xfrm>
              <a:off x="6223940" y="6017594"/>
              <a:ext cx="351250" cy="354891"/>
              <a:chOff x="3421769" y="6017594"/>
              <a:chExt cx="351250" cy="354891"/>
            </a:xfrm>
          </p:grpSpPr>
          <p:sp>
            <p:nvSpPr>
              <p:cNvPr id="58" name="Line 26"/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CaixaDeTexto 58"/>
                  <p:cNvSpPr txBox="1"/>
                  <p:nvPr/>
                </p:nvSpPr>
                <p:spPr>
                  <a:xfrm>
                    <a:off x="3421769" y="6122288"/>
                    <a:ext cx="351250" cy="2501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9" name="CaixaDeTexto 5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1769" y="6122288"/>
                    <a:ext cx="351250" cy="25019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241" t="-19512" r="-8621" b="-2682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64" name="Grupo 63"/>
          <p:cNvGrpSpPr/>
          <p:nvPr/>
        </p:nvGrpSpPr>
        <p:grpSpPr>
          <a:xfrm>
            <a:off x="3030361" y="3956071"/>
            <a:ext cx="2526710" cy="388616"/>
            <a:chOff x="3030361" y="3956071"/>
            <a:chExt cx="2526710" cy="388616"/>
          </a:xfrm>
        </p:grpSpPr>
        <p:sp>
          <p:nvSpPr>
            <p:cNvPr id="65" name="Chave esquerda 64"/>
            <p:cNvSpPr/>
            <p:nvPr/>
          </p:nvSpPr>
          <p:spPr bwMode="auto">
            <a:xfrm rot="5400000" flipV="1">
              <a:off x="4993566" y="3781182"/>
              <a:ext cx="129986" cy="997024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sz="900" dirty="0">
                <a:latin typeface="Tahoma" panose="020B0604030504040204" pitchFamily="34" charset="0"/>
              </a:endParaRPr>
            </a:p>
          </p:txBody>
        </p:sp>
        <p:cxnSp>
          <p:nvCxnSpPr>
            <p:cNvPr id="66" name="Conector de seta reta 65"/>
            <p:cNvCxnSpPr/>
            <p:nvPr/>
          </p:nvCxnSpPr>
          <p:spPr bwMode="auto">
            <a:xfrm flipH="1" flipV="1">
              <a:off x="3030361" y="4052644"/>
              <a:ext cx="1907561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CaixaDeTexto 66"/>
                <p:cNvSpPr txBox="1"/>
                <p:nvPr/>
              </p:nvSpPr>
              <p:spPr>
                <a:xfrm>
                  <a:off x="5019901" y="3956071"/>
                  <a:ext cx="162352" cy="2245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oMath>
                    </m:oMathPara>
                  </a14:m>
                  <a:endParaRPr lang="pt-BR" sz="14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CaixaDeTexto 6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9901" y="3956071"/>
                  <a:ext cx="162352" cy="224549"/>
                </a:xfrm>
                <a:prstGeom prst="rect">
                  <a:avLst/>
                </a:prstGeom>
                <a:blipFill>
                  <a:blip r:embed="rId5"/>
                  <a:stretch>
                    <a:fillRect l="-37037" t="-24324" r="-55556" b="-810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E4DCD582-15FC-40AC-6410-3CD5E4D93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34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3395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build="p"/>
      <p:bldP spid="6" grpId="0" animBg="1"/>
      <p:bldP spid="7" grpId="0"/>
      <p:bldP spid="1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1047072" y="2098611"/>
                <a:ext cx="1769395" cy="2566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072" y="2098611"/>
                <a:ext cx="1769395" cy="256609"/>
              </a:xfrm>
              <a:prstGeom prst="rect">
                <a:avLst/>
              </a:prstGeom>
              <a:blipFill>
                <a:blip r:embed="rId2"/>
                <a:stretch>
                  <a:fillRect l="-3793" t="-16667" r="-1379" b="-3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Jackknife</a:t>
            </a:r>
            <a:endParaRPr lang="pt-BR" dirty="0"/>
          </a:p>
        </p:txBody>
      </p:sp>
      <p:sp>
        <p:nvSpPr>
          <p:cNvPr id="10243" name="Text Box 31"/>
          <p:cNvSpPr txBox="1">
            <a:spLocks noChangeArrowheads="1"/>
          </p:cNvSpPr>
          <p:nvPr/>
        </p:nvSpPr>
        <p:spPr bwMode="auto">
          <a:xfrm>
            <a:off x="755650" y="1412875"/>
            <a:ext cx="777716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um determinado parâmetro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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possa ser estimado a partir de uma amostra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valores, ou seja,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8" name="Text Box 31"/>
          <p:cNvSpPr txBox="1">
            <a:spLocks noChangeArrowheads="1"/>
          </p:cNvSpPr>
          <p:nvPr/>
        </p:nvSpPr>
        <p:spPr bwMode="auto">
          <a:xfrm>
            <a:off x="755650" y="2495550"/>
            <a:ext cx="777716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 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-</a:t>
            </a:r>
            <a:r>
              <a:rPr lang="pt-BR" altLang="pt-BR" sz="1600" dirty="0" err="1">
                <a:latin typeface="Tahoma" panose="020B0604030504040204" pitchFamily="34" charset="0"/>
              </a:rPr>
              <a:t>ésima</a:t>
            </a:r>
            <a:r>
              <a:rPr lang="pt-BR" altLang="pt-BR" sz="1600" dirty="0">
                <a:latin typeface="Tahoma" panose="020B0604030504040204" pitchFamily="34" charset="0"/>
              </a:rPr>
              <a:t> replicação </a:t>
            </a:r>
            <a:r>
              <a:rPr lang="pt-BR" altLang="pt-BR" sz="1600" dirty="0" err="1">
                <a:latin typeface="Tahoma" panose="020B0604030504040204" pitchFamily="34" charset="0"/>
              </a:rPr>
              <a:t>Jackknife</a:t>
            </a:r>
            <a:r>
              <a:rPr lang="pt-BR" altLang="pt-BR" sz="1600" dirty="0">
                <a:latin typeface="Tahoma" panose="020B0604030504040204" pitchFamily="34" charset="0"/>
              </a:rPr>
              <a:t> corresponde ao valor estimado sem a amostra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:</a:t>
            </a:r>
          </a:p>
        </p:txBody>
      </p:sp>
      <p:sp>
        <p:nvSpPr>
          <p:cNvPr id="12" name="Text Box 31"/>
          <p:cNvSpPr txBox="1">
            <a:spLocks noChangeArrowheads="1"/>
          </p:cNvSpPr>
          <p:nvPr/>
        </p:nvSpPr>
        <p:spPr bwMode="auto">
          <a:xfrm>
            <a:off x="755650" y="3717032"/>
            <a:ext cx="77771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 base nessas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estimativas, pode-se calcular então:</a:t>
            </a:r>
          </a:p>
        </p:txBody>
      </p:sp>
      <p:sp>
        <p:nvSpPr>
          <p:cNvPr id="14" name="Text Box 31"/>
          <p:cNvSpPr txBox="1">
            <a:spLocks noChangeArrowheads="1"/>
          </p:cNvSpPr>
          <p:nvPr/>
        </p:nvSpPr>
        <p:spPr bwMode="auto">
          <a:xfrm>
            <a:off x="3059832" y="4316136"/>
            <a:ext cx="7921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</a:t>
            </a:r>
          </a:p>
        </p:txBody>
      </p:sp>
      <p:sp>
        <p:nvSpPr>
          <p:cNvPr id="17" name="Text Box 31"/>
          <p:cNvSpPr txBox="1">
            <a:spLocks noChangeArrowheads="1"/>
          </p:cNvSpPr>
          <p:nvPr/>
        </p:nvSpPr>
        <p:spPr bwMode="auto">
          <a:xfrm>
            <a:off x="34924" y="6335742"/>
            <a:ext cx="6913339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179388" indent="-179388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l" eaLnBrk="1" hangingPunct="1">
              <a:defRPr/>
            </a:pPr>
            <a:r>
              <a:rPr lang="pt-BR" sz="1100" dirty="0" err="1">
                <a:latin typeface="Tahoma" panose="020B0604030504040204" pitchFamily="34" charset="0"/>
              </a:rPr>
              <a:t>Efron</a:t>
            </a:r>
            <a:r>
              <a:rPr lang="pt-BR" sz="1100" dirty="0">
                <a:latin typeface="Tahoma" panose="020B0604030504040204" pitchFamily="34" charset="0"/>
              </a:rPr>
              <a:t>, B.; Stein, C. The </a:t>
            </a:r>
            <a:r>
              <a:rPr lang="pt-BR" sz="1100" dirty="0" err="1">
                <a:latin typeface="Tahoma" panose="020B0604030504040204" pitchFamily="34" charset="0"/>
              </a:rPr>
              <a:t>Jacknife</a:t>
            </a:r>
            <a:r>
              <a:rPr lang="pt-BR" sz="1100" dirty="0">
                <a:latin typeface="Tahoma" panose="020B0604030504040204" pitchFamily="34" charset="0"/>
              </a:rPr>
              <a:t> </a:t>
            </a:r>
            <a:r>
              <a:rPr lang="pt-BR" sz="1100" dirty="0" err="1">
                <a:latin typeface="Tahoma" panose="020B0604030504040204" pitchFamily="34" charset="0"/>
              </a:rPr>
              <a:t>estimate</a:t>
            </a:r>
            <a:r>
              <a:rPr lang="pt-BR" sz="1100" dirty="0">
                <a:latin typeface="Tahoma" panose="020B0604030504040204" pitchFamily="34" charset="0"/>
              </a:rPr>
              <a:t> </a:t>
            </a:r>
            <a:r>
              <a:rPr lang="pt-BR" sz="1100" dirty="0" err="1">
                <a:latin typeface="Tahoma" panose="020B0604030504040204" pitchFamily="34" charset="0"/>
              </a:rPr>
              <a:t>of</a:t>
            </a:r>
            <a:r>
              <a:rPr lang="pt-BR" sz="1100" dirty="0">
                <a:latin typeface="Tahoma" panose="020B0604030504040204" pitchFamily="34" charset="0"/>
              </a:rPr>
              <a:t> </a:t>
            </a:r>
            <a:r>
              <a:rPr lang="pt-BR" sz="1100" dirty="0" err="1">
                <a:latin typeface="Tahoma" panose="020B0604030504040204" pitchFamily="34" charset="0"/>
              </a:rPr>
              <a:t>variance</a:t>
            </a:r>
            <a:r>
              <a:rPr lang="pt-BR" sz="1100" dirty="0">
                <a:latin typeface="Tahoma" panose="020B0604030504040204" pitchFamily="34" charset="0"/>
              </a:rPr>
              <a:t>. The </a:t>
            </a:r>
            <a:r>
              <a:rPr lang="pt-BR" sz="1100" dirty="0" err="1">
                <a:latin typeface="Tahoma" panose="020B0604030504040204" pitchFamily="34" charset="0"/>
              </a:rPr>
              <a:t>Annals</a:t>
            </a:r>
            <a:r>
              <a:rPr lang="pt-BR" sz="1100" dirty="0">
                <a:latin typeface="Tahoma" panose="020B0604030504040204" pitchFamily="34" charset="0"/>
              </a:rPr>
              <a:t> </a:t>
            </a:r>
            <a:r>
              <a:rPr lang="pt-BR" sz="1100" dirty="0" err="1">
                <a:latin typeface="Tahoma" panose="020B0604030504040204" pitchFamily="34" charset="0"/>
              </a:rPr>
              <a:t>of</a:t>
            </a:r>
            <a:r>
              <a:rPr lang="pt-BR" sz="1100" dirty="0">
                <a:latin typeface="Tahoma" panose="020B0604030504040204" pitchFamily="34" charset="0"/>
              </a:rPr>
              <a:t> </a:t>
            </a:r>
            <a:r>
              <a:rPr lang="pt-BR" sz="1100" dirty="0" err="1">
                <a:latin typeface="Tahoma" panose="020B0604030504040204" pitchFamily="34" charset="0"/>
              </a:rPr>
              <a:t>Statistics</a:t>
            </a:r>
            <a:r>
              <a:rPr lang="pt-BR" sz="1100" dirty="0">
                <a:latin typeface="Tahoma" panose="020B0604030504040204" pitchFamily="34" charset="0"/>
              </a:rPr>
              <a:t>, 9(3): 586-596. 1981</a:t>
            </a:r>
          </a:p>
        </p:txBody>
      </p:sp>
      <p:sp>
        <p:nvSpPr>
          <p:cNvPr id="5" name="Retângulo 4"/>
          <p:cNvSpPr>
            <a:spLocks noChangeArrowheads="1"/>
          </p:cNvSpPr>
          <p:nvPr/>
        </p:nvSpPr>
        <p:spPr bwMode="auto">
          <a:xfrm>
            <a:off x="6092895" y="5076650"/>
            <a:ext cx="115288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 grande)</a:t>
            </a:r>
            <a:endParaRPr lang="pt-BR" altLang="pt-BR" sz="11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/>
              <p:cNvSpPr txBox="1"/>
              <p:nvPr/>
            </p:nvSpPr>
            <p:spPr>
              <a:xfrm>
                <a:off x="1047072" y="3228000"/>
                <a:ext cx="3101682" cy="2859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…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CaixaDeTexto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072" y="3228000"/>
                <a:ext cx="3101682" cy="285976"/>
              </a:xfrm>
              <a:prstGeom prst="rect">
                <a:avLst/>
              </a:prstGeom>
              <a:blipFill>
                <a:blip r:embed="rId3"/>
                <a:stretch>
                  <a:fillRect l="-1965" t="-17391" r="-393" b="-239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ixaDeTexto 19"/>
              <p:cNvSpPr txBox="1"/>
              <p:nvPr/>
            </p:nvSpPr>
            <p:spPr>
              <a:xfrm>
                <a:off x="3779912" y="4139060"/>
                <a:ext cx="1361783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(.)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0" name="CaixaDeTexto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9912" y="4139060"/>
                <a:ext cx="1361783" cy="672172"/>
              </a:xfrm>
              <a:prstGeom prst="rect">
                <a:avLst/>
              </a:prstGeom>
              <a:blipFill>
                <a:blip r:embed="rId4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/>
              <p:cNvSpPr txBox="1"/>
              <p:nvPr/>
            </p:nvSpPr>
            <p:spPr>
              <a:xfrm>
                <a:off x="1047072" y="4946668"/>
                <a:ext cx="2981264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𝑉𝑎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𝑗𝑘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̂"/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1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sz="16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b>
                                  </m:s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(.)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1" name="CaixaDeTexto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072" y="4946668"/>
                <a:ext cx="2981264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/>
              <p:cNvSpPr txBox="1"/>
              <p:nvPr/>
            </p:nvSpPr>
            <p:spPr>
              <a:xfrm>
                <a:off x="4607803" y="4941168"/>
                <a:ext cx="1548373" cy="8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𝑗𝑘</m:t>
                              </m:r>
                            </m:sub>
                          </m:s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𝑉𝑎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𝑗𝑘</m:t>
                                  </m:r>
                                </m:sub>
                              </m:s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pt-B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2" name="CaixaDeTexto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7803" y="4941168"/>
                <a:ext cx="1548373" cy="8184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/>
              <p:cNvSpPr txBox="1"/>
              <p:nvPr/>
            </p:nvSpPr>
            <p:spPr>
              <a:xfrm>
                <a:off x="1047072" y="4332432"/>
                <a:ext cx="2002279" cy="2859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𝑗𝑘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acc>
                            <m:accPr>
                              <m:chr m:val="̂"/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  <m:r>
                            <a:rPr lang="pt-B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−(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−1)</m:t>
                          </m:r>
                          <m:acc>
                            <m:accPr>
                              <m:chr m:val="̂"/>
                              <m:ctrlPr>
                                <a:rPr 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(.)</m:t>
                          </m:r>
                        </m:sub>
                      </m:sSub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3" name="CaixaDeTexto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072" y="4332432"/>
                <a:ext cx="2002279" cy="285976"/>
              </a:xfrm>
              <a:prstGeom prst="rect">
                <a:avLst/>
              </a:prstGeom>
              <a:blipFill>
                <a:blip r:embed="rId7"/>
                <a:stretch>
                  <a:fillRect l="-3049" t="-17021" r="-5183" b="-212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1">
            <a:extLst>
              <a:ext uri="{FF2B5EF4-FFF2-40B4-BE49-F238E27FC236}">
                <a16:creationId xmlns:a16="http://schemas.microsoft.com/office/drawing/2014/main" id="{DD7A5096-1552-F81D-CE6F-38FBC93A8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35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2B9DAAF-517B-11E3-C9A6-A56F5934C5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36513" y="6554788"/>
            <a:ext cx="2997201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(ver exemplo JK em Reamostragem.xls)</a:t>
            </a:r>
          </a:p>
        </p:txBody>
      </p:sp>
    </p:spTree>
    <p:extLst>
      <p:ext uri="{BB962C8B-B14F-4D97-AF65-F5344CB8AC3E}">
        <p14:creationId xmlns:p14="http://schemas.microsoft.com/office/powerpoint/2010/main" val="73907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4" grpId="0"/>
      <p:bldP spid="17" grpId="0"/>
      <p:bldP spid="5" grpId="0"/>
      <p:bldP spid="19" grpId="0"/>
      <p:bldP spid="20" grpId="0"/>
      <p:bldP spid="21" grpId="0"/>
      <p:bldP spid="22" grpId="0"/>
      <p:bldP spid="23" grpId="0"/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9DA9D-E737-6875-0DE6-07487AEE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6CAEF9-1F28-28C7-8A40-6B23293AB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i="1" dirty="0" err="1"/>
              <a:t>Bootstrap</a:t>
            </a:r>
            <a:endParaRPr lang="pt-BR" i="1" dirty="0"/>
          </a:p>
        </p:txBody>
      </p:sp>
      <p:sp>
        <p:nvSpPr>
          <p:cNvPr id="20483" name="Text Box 31">
            <a:extLst>
              <a:ext uri="{FF2B5EF4-FFF2-40B4-BE49-F238E27FC236}">
                <a16:creationId xmlns:a16="http://schemas.microsoft.com/office/drawing/2014/main" id="{9E27B157-576B-24E8-91B2-68E3FF1559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5650" y="1719263"/>
            <a:ext cx="7777163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Pode ser considerado uma estratégia mais abrangente que o </a:t>
            </a:r>
            <a:r>
              <a:rPr lang="pt-BR" altLang="pt-BR" sz="1600" dirty="0" err="1">
                <a:latin typeface="Tahoma" panose="020B0604030504040204" pitchFamily="34" charset="0"/>
              </a:rPr>
              <a:t>Jackknife</a:t>
            </a:r>
            <a:r>
              <a:rPr lang="pt-BR" altLang="pt-BR" sz="1600" dirty="0">
                <a:latin typeface="Tahoma" panose="020B0604030504040204" pitchFamily="34" charset="0"/>
              </a:rPr>
              <a:t> por permitir um maior número de replicações. Também é usado para estimar a variância e a tendência de um estimador qualquer.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Baseia-se na geração de uma nova amostra de mesmo tamanho da amostra original, a partir do sorteio aleatório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 reposição </a:t>
            </a:r>
            <a:r>
              <a:rPr lang="pt-BR" altLang="pt-BR" sz="1600" dirty="0">
                <a:latin typeface="Tahoma" panose="020B0604030504040204" pitchFamily="34" charset="0"/>
              </a:rPr>
              <a:t>de seus elementos.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" name="Seta para a direita 4">
            <a:extLst>
              <a:ext uri="{FF2B5EF4-FFF2-40B4-BE49-F238E27FC236}">
                <a16:creationId xmlns:a16="http://schemas.microsoft.com/office/drawing/2014/main" id="{5442886B-AC1D-A1F5-42C0-58ADFD47200E}"/>
              </a:ext>
            </a:extLst>
          </p:cNvPr>
          <p:cNvSpPr/>
          <p:nvPr/>
        </p:nvSpPr>
        <p:spPr bwMode="auto">
          <a:xfrm>
            <a:off x="3792156" y="4364894"/>
            <a:ext cx="590673" cy="231299"/>
          </a:xfrm>
          <a:prstGeom prst="rightArrow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700" dirty="0">
                <a:solidFill>
                  <a:schemeClr val="tx1"/>
                </a:solidFill>
                <a:latin typeface="Tahoma" panose="020B0604030504040204" pitchFamily="34" charset="0"/>
              </a:rPr>
              <a:t>amostra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FFD4ACDB-145B-547B-ED57-B330C4D14C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7992" y="4344765"/>
            <a:ext cx="122617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>
                <a:latin typeface="Times New Roman" charset="0"/>
              </a:rPr>
              <a:t>X</a:t>
            </a:r>
            <a:r>
              <a:rPr lang="pt-BR" altLang="pt-BR" sz="1400" baseline="-25000" dirty="0">
                <a:latin typeface="Times New Roman" charset="0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</a:rPr>
              <a:t>, </a:t>
            </a:r>
            <a:r>
              <a:rPr lang="pt-BR" altLang="pt-BR" sz="1400" i="1" dirty="0">
                <a:latin typeface="Times New Roman" charset="0"/>
              </a:rPr>
              <a:t>X</a:t>
            </a:r>
            <a:r>
              <a:rPr lang="pt-BR" altLang="pt-BR" sz="1400" baseline="-25000" dirty="0">
                <a:latin typeface="Times New Roman" charset="0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</a:rPr>
              <a:t>, ..., </a:t>
            </a:r>
            <a:r>
              <a:rPr lang="pt-BR" altLang="pt-BR" sz="1400" i="1" dirty="0" err="1">
                <a:latin typeface="Times New Roman" charset="0"/>
              </a:rPr>
              <a:t>X</a:t>
            </a:r>
            <a:r>
              <a:rPr lang="pt-BR" altLang="pt-BR" sz="1400" i="1" baseline="-25000" dirty="0" err="1">
                <a:latin typeface="Times New Roman" charset="0"/>
              </a:rPr>
              <a:t>n</a:t>
            </a:r>
            <a:r>
              <a:rPr lang="pt-BR" altLang="pt-BR" sz="1400" dirty="0">
                <a:latin typeface="Tahoma" panose="020B0604030504040204" pitchFamily="34" charset="0"/>
              </a:rPr>
              <a:t> </a:t>
            </a: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456AF46A-6150-1A2C-74B1-1C7CE5159E86}"/>
              </a:ext>
            </a:extLst>
          </p:cNvPr>
          <p:cNvGrpSpPr/>
          <p:nvPr/>
        </p:nvGrpSpPr>
        <p:grpSpPr>
          <a:xfrm>
            <a:off x="1691059" y="3694461"/>
            <a:ext cx="2047035" cy="1607417"/>
            <a:chOff x="1691059" y="3694461"/>
            <a:chExt cx="2047035" cy="1607417"/>
          </a:xfrm>
        </p:grpSpPr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7CBAF210-E74E-91EA-5595-70A7A714EC60}"/>
                </a:ext>
              </a:extLst>
            </p:cNvPr>
            <p:cNvSpPr txBox="1"/>
            <p:nvPr/>
          </p:nvSpPr>
          <p:spPr>
            <a:xfrm>
              <a:off x="2535697" y="3738862"/>
              <a:ext cx="782587" cy="4385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050" dirty="0">
                  <a:latin typeface="Tahoma" panose="020B0604030504040204" pitchFamily="34" charset="0"/>
                </a:rPr>
                <a:t>População</a:t>
              </a:r>
            </a:p>
            <a:p>
              <a:r>
                <a:rPr lang="pt-BR" i="1" dirty="0">
                  <a:latin typeface="Tahoma" panose="020B0604030504040204" pitchFamily="34" charset="0"/>
                  <a:sym typeface="Symbol"/>
                </a:rPr>
                <a:t></a:t>
              </a:r>
              <a:r>
                <a:rPr lang="pt-BR" sz="1050" dirty="0">
                  <a:latin typeface="Tahoma" panose="020B0604030504040204" pitchFamily="34" charset="0"/>
                </a:rPr>
                <a:t> </a:t>
              </a:r>
            </a:p>
          </p:txBody>
        </p:sp>
        <p:grpSp>
          <p:nvGrpSpPr>
            <p:cNvPr id="12" name="Grupo 16">
              <a:extLst>
                <a:ext uri="{FF2B5EF4-FFF2-40B4-BE49-F238E27FC236}">
                  <a16:creationId xmlns:a16="http://schemas.microsoft.com/office/drawing/2014/main" id="{D14544E2-C1BC-C5F9-61B8-215DEFD88D9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91059" y="3694461"/>
              <a:ext cx="2047035" cy="1607417"/>
              <a:chOff x="4444328" y="3625850"/>
              <a:chExt cx="2264520" cy="1638224"/>
            </a:xfrm>
          </p:grpSpPr>
          <p:sp>
            <p:nvSpPr>
              <p:cNvPr id="13" name="Freeform 31">
                <a:extLst>
                  <a:ext uri="{FF2B5EF4-FFF2-40B4-BE49-F238E27FC236}">
                    <a16:creationId xmlns:a16="http://schemas.microsoft.com/office/drawing/2014/main" id="{0BAC86C0-C648-D9A7-7C12-8FD5B13EB9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76800" y="3721100"/>
                <a:ext cx="1676400" cy="1295400"/>
              </a:xfrm>
              <a:custGeom>
                <a:avLst/>
                <a:gdLst>
                  <a:gd name="T0" fmla="*/ 0 w 1056"/>
                  <a:gd name="T1" fmla="*/ 0 h 816"/>
                  <a:gd name="T2" fmla="*/ 0 w 1056"/>
                  <a:gd name="T3" fmla="*/ 2147483647 h 816"/>
                  <a:gd name="T4" fmla="*/ 2147483647 w 1056"/>
                  <a:gd name="T5" fmla="*/ 2147483647 h 816"/>
                  <a:gd name="T6" fmla="*/ 0 60000 65536"/>
                  <a:gd name="T7" fmla="*/ 0 60000 65536"/>
                  <a:gd name="T8" fmla="*/ 0 60000 65536"/>
                  <a:gd name="T9" fmla="*/ 0 w 1056"/>
                  <a:gd name="T10" fmla="*/ 0 h 816"/>
                  <a:gd name="T11" fmla="*/ 1056 w 1056"/>
                  <a:gd name="T12" fmla="*/ 816 h 81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056" h="816">
                    <a:moveTo>
                      <a:pt x="0" y="0"/>
                    </a:moveTo>
                    <a:lnTo>
                      <a:pt x="0" y="816"/>
                    </a:lnTo>
                    <a:lnTo>
                      <a:pt x="1056" y="816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sz="9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" name="Text Box 32">
                <a:extLst>
                  <a:ext uri="{FF2B5EF4-FFF2-40B4-BE49-F238E27FC236}">
                    <a16:creationId xmlns:a16="http://schemas.microsoft.com/office/drawing/2014/main" id="{8C1D4C22-1209-9E5E-EDA3-0EC3852BA1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08804" y="4997450"/>
                <a:ext cx="300044" cy="2666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050" i="1">
                    <a:latin typeface="Times New Roman" charset="0"/>
                  </a:rPr>
                  <a:t>X</a:t>
                </a:r>
              </a:p>
            </p:txBody>
          </p:sp>
          <p:sp>
            <p:nvSpPr>
              <p:cNvPr id="15" name="Text Box 33">
                <a:extLst>
                  <a:ext uri="{FF2B5EF4-FFF2-40B4-BE49-F238E27FC236}">
                    <a16:creationId xmlns:a16="http://schemas.microsoft.com/office/drawing/2014/main" id="{05B32682-2C94-C38D-90B2-30617CCE695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44328" y="3625850"/>
                <a:ext cx="418856" cy="2666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050" i="1">
                    <a:latin typeface="Times New Roman" charset="0"/>
                  </a:rPr>
                  <a:t>f</a:t>
                </a:r>
                <a:r>
                  <a:rPr lang="pt-BR" altLang="pt-BR" sz="1050">
                    <a:latin typeface="Times New Roman" charset="0"/>
                  </a:rPr>
                  <a:t>(</a:t>
                </a:r>
                <a:r>
                  <a:rPr lang="pt-BR" altLang="pt-BR" sz="1050" i="1">
                    <a:latin typeface="Times New Roman" charset="0"/>
                  </a:rPr>
                  <a:t>x</a:t>
                </a:r>
                <a:r>
                  <a:rPr lang="pt-BR" altLang="pt-BR" sz="1050">
                    <a:latin typeface="Times New Roman" charset="0"/>
                  </a:rPr>
                  <a:t>)</a:t>
                </a:r>
              </a:p>
            </p:txBody>
          </p:sp>
          <p:sp>
            <p:nvSpPr>
              <p:cNvPr id="16" name="Forma livre 15">
                <a:extLst>
                  <a:ext uri="{FF2B5EF4-FFF2-40B4-BE49-F238E27FC236}">
                    <a16:creationId xmlns:a16="http://schemas.microsoft.com/office/drawing/2014/main" id="{35A749D7-7FC4-0FD3-A966-BA6D9ACA496C}"/>
                  </a:ext>
                </a:extLst>
              </p:cNvPr>
              <p:cNvSpPr/>
              <p:nvPr/>
            </p:nvSpPr>
            <p:spPr bwMode="auto">
              <a:xfrm>
                <a:off x="4943507" y="3905204"/>
                <a:ext cx="1457413" cy="1111068"/>
              </a:xfrm>
              <a:custGeom>
                <a:avLst/>
                <a:gdLst>
                  <a:gd name="connsiteX0" fmla="*/ 0 w 1850279"/>
                  <a:gd name="connsiteY0" fmla="*/ 1051969 h 1064243"/>
                  <a:gd name="connsiteX1" fmla="*/ 171834 w 1850279"/>
                  <a:gd name="connsiteY1" fmla="*/ 806493 h 1064243"/>
                  <a:gd name="connsiteX2" fmla="*/ 331394 w 1850279"/>
                  <a:gd name="connsiteY2" fmla="*/ 321677 h 1064243"/>
                  <a:gd name="connsiteX3" fmla="*/ 460269 w 1850279"/>
                  <a:gd name="connsiteY3" fmla="*/ 8694 h 1064243"/>
                  <a:gd name="connsiteX4" fmla="*/ 751772 w 1850279"/>
                  <a:gd name="connsiteY4" fmla="*/ 373840 h 1064243"/>
                  <a:gd name="connsiteX5" fmla="*/ 1098508 w 1850279"/>
                  <a:gd name="connsiteY5" fmla="*/ 757397 h 1064243"/>
                  <a:gd name="connsiteX6" fmla="*/ 1423764 w 1850279"/>
                  <a:gd name="connsiteY6" fmla="*/ 972189 h 1064243"/>
                  <a:gd name="connsiteX7" fmla="*/ 1850279 w 1850279"/>
                  <a:gd name="connsiteY7" fmla="*/ 1064243 h 1064243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77815"/>
                  <a:gd name="connsiteY0" fmla="*/ 1115384 h 1115384"/>
                  <a:gd name="connsiteX1" fmla="*/ 171834 w 1877815"/>
                  <a:gd name="connsiteY1" fmla="*/ 869908 h 1115384"/>
                  <a:gd name="connsiteX2" fmla="*/ 460269 w 1877815"/>
                  <a:gd name="connsiteY2" fmla="*/ 72109 h 1115384"/>
                  <a:gd name="connsiteX3" fmla="*/ 751772 w 1877815"/>
                  <a:gd name="connsiteY3" fmla="*/ 437255 h 1115384"/>
                  <a:gd name="connsiteX4" fmla="*/ 1098508 w 1877815"/>
                  <a:gd name="connsiteY4" fmla="*/ 820812 h 1115384"/>
                  <a:gd name="connsiteX5" fmla="*/ 1423764 w 1877815"/>
                  <a:gd name="connsiteY5" fmla="*/ 1035604 h 1115384"/>
                  <a:gd name="connsiteX6" fmla="*/ 1877815 w 1877815"/>
                  <a:gd name="connsiteY6" fmla="*/ 1113264 h 1115384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77815" h="1111885">
                    <a:moveTo>
                      <a:pt x="0" y="1111885"/>
                    </a:moveTo>
                    <a:cubicBezTo>
                      <a:pt x="58301" y="1050004"/>
                      <a:pt x="95123" y="1040288"/>
                      <a:pt x="171834" y="866409"/>
                    </a:cubicBezTo>
                    <a:cubicBezTo>
                      <a:pt x="248545" y="692530"/>
                      <a:pt x="358775" y="137220"/>
                      <a:pt x="460269" y="68610"/>
                    </a:cubicBezTo>
                    <a:cubicBezTo>
                      <a:pt x="561763" y="0"/>
                      <a:pt x="698146" y="323828"/>
                      <a:pt x="780797" y="454749"/>
                    </a:cubicBezTo>
                    <a:cubicBezTo>
                      <a:pt x="902985" y="607149"/>
                      <a:pt x="991347" y="721087"/>
                      <a:pt x="1098508" y="817313"/>
                    </a:cubicBezTo>
                    <a:cubicBezTo>
                      <a:pt x="1205669" y="913539"/>
                      <a:pt x="1293879" y="983363"/>
                      <a:pt x="1423764" y="1032105"/>
                    </a:cubicBezTo>
                    <a:cubicBezTo>
                      <a:pt x="1553649" y="1080847"/>
                      <a:pt x="1727205" y="1089308"/>
                      <a:pt x="1877815" y="1109765"/>
                    </a:cubicBezTo>
                  </a:path>
                </a:pathLst>
              </a:cu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sz="9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8" name="Text Box 21">
            <a:extLst>
              <a:ext uri="{FF2B5EF4-FFF2-40B4-BE49-F238E27FC236}">
                <a16:creationId xmlns:a16="http://schemas.microsoft.com/office/drawing/2014/main" id="{5294922B-6576-4971-B0A5-6F1B32C12A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3373" y="4786937"/>
            <a:ext cx="866894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kumimoji="1" lang="pt-BR" altLang="zh-TW" sz="1050" i="1" dirty="0">
                <a:solidFill>
                  <a:srgbClr val="FF0000"/>
                </a:solidFill>
                <a:latin typeface="Times New Roman" charset="0"/>
                <a:ea typeface="新細明體" pitchFamily="18" charset="-120"/>
                <a:cs typeface="Times New Roman" charset="0"/>
              </a:rPr>
              <a:t>m</a:t>
            </a:r>
            <a:r>
              <a:rPr kumimoji="1" lang="pt-BR" altLang="zh-TW" sz="1050" dirty="0">
                <a:solidFill>
                  <a:srgbClr val="FF0000"/>
                </a:solidFill>
                <a:latin typeface="Tahoma" panose="020B0604030504040204" pitchFamily="34" charset="0"/>
                <a:ea typeface="新細明體" pitchFamily="18" charset="-120"/>
                <a:cs typeface="Times New Roman" charset="0"/>
              </a:rPr>
              <a:t> vezes</a:t>
            </a:r>
          </a:p>
        </p:txBody>
      </p:sp>
      <p:grpSp>
        <p:nvGrpSpPr>
          <p:cNvPr id="20" name="Grupo 64">
            <a:extLst>
              <a:ext uri="{FF2B5EF4-FFF2-40B4-BE49-F238E27FC236}">
                <a16:creationId xmlns:a16="http://schemas.microsoft.com/office/drawing/2014/main" id="{1ECFF61F-11CF-42E5-D067-DCA68C9169E5}"/>
              </a:ext>
            </a:extLst>
          </p:cNvPr>
          <p:cNvGrpSpPr>
            <a:grpSpLocks/>
          </p:cNvGrpSpPr>
          <p:nvPr/>
        </p:nvGrpSpPr>
        <p:grpSpPr bwMode="auto">
          <a:xfrm>
            <a:off x="3079898" y="4691594"/>
            <a:ext cx="1642227" cy="1301177"/>
            <a:chOff x="1358183" y="3618906"/>
            <a:chExt cx="2727647" cy="2161182"/>
          </a:xfrm>
        </p:grpSpPr>
        <p:cxnSp>
          <p:nvCxnSpPr>
            <p:cNvPr id="21" name="AutoShape 13">
              <a:extLst>
                <a:ext uri="{FF2B5EF4-FFF2-40B4-BE49-F238E27FC236}">
                  <a16:creationId xmlns:a16="http://schemas.microsoft.com/office/drawing/2014/main" id="{83766C45-1DD3-DC73-F4B4-65AEBC1544A1}"/>
                </a:ext>
              </a:extLst>
            </p:cNvPr>
            <p:cNvCxnSpPr>
              <a:cxnSpLocks noChangeShapeType="1"/>
              <a:endCxn id="23" idx="0"/>
            </p:cNvCxnSpPr>
            <p:nvPr/>
          </p:nvCxnSpPr>
          <p:spPr bwMode="auto">
            <a:xfrm rot="10800000" flipV="1">
              <a:off x="2159795" y="3618906"/>
              <a:ext cx="1926035" cy="1440457"/>
            </a:xfrm>
            <a:prstGeom prst="curvedConnector2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2" name="Grupo 61">
              <a:extLst>
                <a:ext uri="{FF2B5EF4-FFF2-40B4-BE49-F238E27FC236}">
                  <a16:creationId xmlns:a16="http://schemas.microsoft.com/office/drawing/2014/main" id="{8ED4779B-E9BE-A3BE-1AD3-B3DFA79E0B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58183" y="5059363"/>
              <a:ext cx="1521542" cy="720725"/>
              <a:chOff x="1358183" y="5059363"/>
              <a:chExt cx="1521542" cy="720725"/>
            </a:xfrm>
          </p:grpSpPr>
          <p:sp>
            <p:nvSpPr>
              <p:cNvPr id="23" name="Oval 7">
                <a:extLst>
                  <a:ext uri="{FF2B5EF4-FFF2-40B4-BE49-F238E27FC236}">
                    <a16:creationId xmlns:a16="http://schemas.microsoft.com/office/drawing/2014/main" id="{2FE8350F-7487-966D-AA6C-D56D1F068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9863" y="5059363"/>
                <a:ext cx="1439862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24" name="CaixaDeTexto 36">
                <a:extLst>
                  <a:ext uri="{FF2B5EF4-FFF2-40B4-BE49-F238E27FC236}">
                    <a16:creationId xmlns:a16="http://schemas.microsoft.com/office/drawing/2014/main" id="{14AFF900-A166-17EF-CE23-89FC5E96953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58183" y="5219701"/>
                <a:ext cx="1496856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2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 dirty="0" err="1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i="1" baseline="-25000" dirty="0" err="1">
                    <a:latin typeface="Times New Roman" charset="0"/>
                    <a:cs typeface="Times New Roman" charset="0"/>
                  </a:rPr>
                  <a:t>n</a:t>
                </a:r>
                <a:endParaRPr lang="pt-BR" altLang="pt-BR" sz="1100" i="1" baseline="-25000" dirty="0">
                  <a:latin typeface="Times New Roman" charset="0"/>
                  <a:cs typeface="Times New Roman" charset="0"/>
                </a:endParaRPr>
              </a:p>
            </p:txBody>
          </p:sp>
        </p:grpSp>
      </p:grpSp>
      <p:grpSp>
        <p:nvGrpSpPr>
          <p:cNvPr id="25" name="Grupo 65">
            <a:extLst>
              <a:ext uri="{FF2B5EF4-FFF2-40B4-BE49-F238E27FC236}">
                <a16:creationId xmlns:a16="http://schemas.microsoft.com/office/drawing/2014/main" id="{842F5DC1-55DE-82F7-DFE4-71232DAA1A9F}"/>
              </a:ext>
            </a:extLst>
          </p:cNvPr>
          <p:cNvGrpSpPr>
            <a:grpSpLocks/>
          </p:cNvGrpSpPr>
          <p:nvPr/>
        </p:nvGrpSpPr>
        <p:grpSpPr bwMode="auto">
          <a:xfrm>
            <a:off x="4084902" y="4691596"/>
            <a:ext cx="907947" cy="1301175"/>
            <a:chOff x="3027439" y="3618908"/>
            <a:chExt cx="1508049" cy="2161180"/>
          </a:xfrm>
        </p:grpSpPr>
        <p:cxnSp>
          <p:nvCxnSpPr>
            <p:cNvPr id="26" name="AutoShape 14">
              <a:extLst>
                <a:ext uri="{FF2B5EF4-FFF2-40B4-BE49-F238E27FC236}">
                  <a16:creationId xmlns:a16="http://schemas.microsoft.com/office/drawing/2014/main" id="{73AE4824-991D-C89F-D013-C7ACC15C5D87}"/>
                </a:ext>
              </a:extLst>
            </p:cNvPr>
            <p:cNvCxnSpPr>
              <a:cxnSpLocks noChangeShapeType="1"/>
              <a:endCxn id="28" idx="0"/>
            </p:cNvCxnSpPr>
            <p:nvPr/>
          </p:nvCxnSpPr>
          <p:spPr bwMode="auto">
            <a:xfrm rot="5400000">
              <a:off x="3455295" y="3979170"/>
              <a:ext cx="1440456" cy="719931"/>
            </a:xfrm>
            <a:prstGeom prst="curvedConnector3">
              <a:avLst>
                <a:gd name="adj1" fmla="val 50000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7" name="Grupo 62">
              <a:extLst>
                <a:ext uri="{FF2B5EF4-FFF2-40B4-BE49-F238E27FC236}">
                  <a16:creationId xmlns:a16="http://schemas.microsoft.com/office/drawing/2014/main" id="{449630E2-9636-6218-6157-18C9B00875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27439" y="5059363"/>
              <a:ext cx="1508049" cy="720725"/>
              <a:chOff x="3027439" y="5059363"/>
              <a:chExt cx="1508049" cy="720725"/>
            </a:xfrm>
          </p:grpSpPr>
          <p:sp>
            <p:nvSpPr>
              <p:cNvPr id="28" name="Oval 8">
                <a:extLst>
                  <a:ext uri="{FF2B5EF4-FFF2-40B4-BE49-F238E27FC236}">
                    <a16:creationId xmlns:a16="http://schemas.microsoft.com/office/drawing/2014/main" id="{0BF29CB6-7748-4314-AF2A-D3D93AA5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95625" y="5059363"/>
                <a:ext cx="1439863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29" name="CaixaDeTexto 37">
                <a:extLst>
                  <a:ext uri="{FF2B5EF4-FFF2-40B4-BE49-F238E27FC236}">
                    <a16:creationId xmlns:a16="http://schemas.microsoft.com/office/drawing/2014/main" id="{34B02BEC-A6FC-BAD6-2278-FFECA674ACB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27439" y="5219701"/>
                <a:ext cx="1496857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2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 dirty="0" err="1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i="1" baseline="-25000" dirty="0" err="1">
                    <a:latin typeface="Times New Roman" charset="0"/>
                    <a:cs typeface="Times New Roman" charset="0"/>
                  </a:rPr>
                  <a:t>n</a:t>
                </a:r>
                <a:endParaRPr lang="pt-BR" altLang="pt-BR" sz="1100" i="1" baseline="-25000" dirty="0">
                  <a:latin typeface="Times New Roman" charset="0"/>
                  <a:cs typeface="Times New Roman" charset="0"/>
                </a:endParaRPr>
              </a:p>
            </p:txBody>
          </p:sp>
        </p:grpSp>
      </p:grpSp>
      <p:grpSp>
        <p:nvGrpSpPr>
          <p:cNvPr id="30" name="Grupo 66">
            <a:extLst>
              <a:ext uri="{FF2B5EF4-FFF2-40B4-BE49-F238E27FC236}">
                <a16:creationId xmlns:a16="http://schemas.microsoft.com/office/drawing/2014/main" id="{2023B1AA-7D31-2CC9-31C5-8C197A7F1B61}"/>
              </a:ext>
            </a:extLst>
          </p:cNvPr>
          <p:cNvGrpSpPr>
            <a:grpSpLocks/>
          </p:cNvGrpSpPr>
          <p:nvPr/>
        </p:nvGrpSpPr>
        <p:grpSpPr bwMode="auto">
          <a:xfrm>
            <a:off x="5371459" y="4691596"/>
            <a:ext cx="1453501" cy="1301176"/>
            <a:chOff x="5164337" y="3618908"/>
            <a:chExt cx="2414184" cy="2161180"/>
          </a:xfrm>
        </p:grpSpPr>
        <p:cxnSp>
          <p:nvCxnSpPr>
            <p:cNvPr id="31" name="AutoShape 15">
              <a:extLst>
                <a:ext uri="{FF2B5EF4-FFF2-40B4-BE49-F238E27FC236}">
                  <a16:creationId xmlns:a16="http://schemas.microsoft.com/office/drawing/2014/main" id="{E9779637-BCCC-212B-BC07-7473AEF5D3AF}"/>
                </a:ext>
              </a:extLst>
            </p:cNvPr>
            <p:cNvCxnSpPr>
              <a:cxnSpLocks noChangeShapeType="1"/>
              <a:endCxn id="33" idx="0"/>
            </p:cNvCxnSpPr>
            <p:nvPr/>
          </p:nvCxnSpPr>
          <p:spPr bwMode="auto">
            <a:xfrm>
              <a:off x="5164337" y="3618908"/>
              <a:ext cx="1675407" cy="1440455"/>
            </a:xfrm>
            <a:prstGeom prst="curvedConnector2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32" name="Grupo 63">
              <a:extLst>
                <a:ext uri="{FF2B5EF4-FFF2-40B4-BE49-F238E27FC236}">
                  <a16:creationId xmlns:a16="http://schemas.microsoft.com/office/drawing/2014/main" id="{2CFD110B-C023-5BA4-25A9-13C3DD1906B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119813" y="5059363"/>
              <a:ext cx="1458708" cy="720725"/>
              <a:chOff x="6119813" y="5059363"/>
              <a:chExt cx="1458708" cy="720725"/>
            </a:xfrm>
          </p:grpSpPr>
          <p:sp>
            <p:nvSpPr>
              <p:cNvPr id="33" name="Oval 9">
                <a:extLst>
                  <a:ext uri="{FF2B5EF4-FFF2-40B4-BE49-F238E27FC236}">
                    <a16:creationId xmlns:a16="http://schemas.microsoft.com/office/drawing/2014/main" id="{59D979FA-FBA5-3349-4A11-29487E03FD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9813" y="5059363"/>
                <a:ext cx="1439862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34" name="CaixaDeTexto 38">
                <a:extLst>
                  <a:ext uri="{FF2B5EF4-FFF2-40B4-BE49-F238E27FC236}">
                    <a16:creationId xmlns:a16="http://schemas.microsoft.com/office/drawing/2014/main" id="{8998AE5B-E207-8462-8C60-1CE8B7C21F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121602" y="5219701"/>
                <a:ext cx="1456919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2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 dirty="0" err="1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i="1" baseline="-25000" dirty="0" err="1">
                    <a:latin typeface="Times New Roman" charset="0"/>
                    <a:cs typeface="Times New Roman" charset="0"/>
                  </a:rPr>
                  <a:t>n</a:t>
                </a:r>
                <a:endParaRPr lang="pt-BR" altLang="pt-BR" sz="1100" i="1" baseline="-25000" dirty="0">
                  <a:latin typeface="Times New Roman" charset="0"/>
                  <a:cs typeface="Times New Roman" charset="0"/>
                </a:endParaRPr>
              </a:p>
            </p:txBody>
          </p:sp>
        </p:grp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0A290553-B540-9C09-C4B0-484C9157E4C5}"/>
              </a:ext>
            </a:extLst>
          </p:cNvPr>
          <p:cNvGrpSpPr/>
          <p:nvPr/>
        </p:nvGrpSpPr>
        <p:grpSpPr>
          <a:xfrm>
            <a:off x="3195509" y="6395423"/>
            <a:ext cx="3584758" cy="384997"/>
            <a:chOff x="2686062" y="5754909"/>
            <a:chExt cx="5954081" cy="639458"/>
          </a:xfrm>
        </p:grpSpPr>
        <p:sp>
          <p:nvSpPr>
            <p:cNvPr id="45" name="Chave esquerda 44">
              <a:extLst>
                <a:ext uri="{FF2B5EF4-FFF2-40B4-BE49-F238E27FC236}">
                  <a16:creationId xmlns:a16="http://schemas.microsoft.com/office/drawing/2014/main" id="{30334E79-F07D-EDA8-9A37-D4FAB3750179}"/>
                </a:ext>
              </a:extLst>
            </p:cNvPr>
            <p:cNvSpPr/>
            <p:nvPr/>
          </p:nvSpPr>
          <p:spPr bwMode="auto">
            <a:xfrm rot="16200000">
              <a:off x="5531107" y="3072859"/>
              <a:ext cx="215899" cy="5580000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46" name="Text Box 31">
              <a:extLst>
                <a:ext uri="{FF2B5EF4-FFF2-40B4-BE49-F238E27FC236}">
                  <a16:creationId xmlns:a16="http://schemas.microsoft.com/office/drawing/2014/main" id="{6B157F46-537E-CEBD-9AA0-B340BEBED6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86062" y="5972627"/>
              <a:ext cx="5954081" cy="421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9pPr>
            </a:lstStyle>
            <a:p>
              <a:pPr eaLnBrk="1" fontAlgn="auto" hangingPunct="1">
                <a:spcBef>
                  <a:spcPct val="50000"/>
                </a:spcBef>
                <a:spcAft>
                  <a:spcPts val="0"/>
                </a:spcAft>
                <a:defRPr/>
              </a:pPr>
              <a:r>
                <a:rPr lang="pt-BR" altLang="zh-TW" sz="1050" kern="0" dirty="0">
                  <a:solidFill>
                    <a:srgbClr val="000000"/>
                  </a:solidFill>
                  <a:latin typeface="Tahoma" panose="020B0604030504040204" pitchFamily="34" charset="0"/>
                </a:rPr>
                <a:t>permite estudar a variabilidade do estimador de </a:t>
              </a:r>
              <a:r>
                <a:rPr lang="pt-BR" altLang="zh-TW" sz="1050" i="1" kern="0" dirty="0">
                  <a:solidFill>
                    <a:srgbClr val="000000"/>
                  </a:solidFill>
                  <a:latin typeface="Tahoma" panose="020B0604030504040204" pitchFamily="34" charset="0"/>
                  <a:sym typeface="Symbol"/>
                </a:rPr>
                <a:t></a:t>
              </a:r>
              <a:endParaRPr lang="pt-BR" altLang="zh-TW" sz="1050" i="1" kern="0" dirty="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47" name="Grupo 52">
            <a:extLst>
              <a:ext uri="{FF2B5EF4-FFF2-40B4-BE49-F238E27FC236}">
                <a16:creationId xmlns:a16="http://schemas.microsoft.com/office/drawing/2014/main" id="{74F8853C-79D9-C3EE-2C76-6A267379CC0C}"/>
              </a:ext>
            </a:extLst>
          </p:cNvPr>
          <p:cNvGrpSpPr>
            <a:grpSpLocks/>
          </p:cNvGrpSpPr>
          <p:nvPr/>
        </p:nvGrpSpPr>
        <p:grpSpPr bwMode="auto">
          <a:xfrm>
            <a:off x="5346803" y="5775436"/>
            <a:ext cx="204537" cy="21983"/>
            <a:chOff x="4788024" y="4725144"/>
            <a:chExt cx="340800" cy="36000"/>
          </a:xfrm>
        </p:grpSpPr>
        <p:sp>
          <p:nvSpPr>
            <p:cNvPr id="48" name="Elipse 49">
              <a:extLst>
                <a:ext uri="{FF2B5EF4-FFF2-40B4-BE49-F238E27FC236}">
                  <a16:creationId xmlns:a16="http://schemas.microsoft.com/office/drawing/2014/main" id="{162ED12F-F0D8-2055-302D-C85A029D1D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80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49" name="Elipse 50">
              <a:extLst>
                <a:ext uri="{FF2B5EF4-FFF2-40B4-BE49-F238E27FC236}">
                  <a16:creationId xmlns:a16="http://schemas.microsoft.com/office/drawing/2014/main" id="{716D4005-0852-8894-5BBE-05993D87E9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404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50" name="Elipse 51">
              <a:extLst>
                <a:ext uri="{FF2B5EF4-FFF2-40B4-BE49-F238E27FC236}">
                  <a16:creationId xmlns:a16="http://schemas.microsoft.com/office/drawing/2014/main" id="{D05B283F-2915-B390-11F8-C00D5758CF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928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1" name="Grupo 50">
            <a:extLst>
              <a:ext uri="{FF2B5EF4-FFF2-40B4-BE49-F238E27FC236}">
                <a16:creationId xmlns:a16="http://schemas.microsoft.com/office/drawing/2014/main" id="{E2732BD9-AF5D-FFFD-D538-23632B4F95A1}"/>
              </a:ext>
            </a:extLst>
          </p:cNvPr>
          <p:cNvGrpSpPr/>
          <p:nvPr/>
        </p:nvGrpSpPr>
        <p:grpSpPr>
          <a:xfrm>
            <a:off x="3030361" y="3956071"/>
            <a:ext cx="2526710" cy="388616"/>
            <a:chOff x="3030361" y="3956071"/>
            <a:chExt cx="2526710" cy="388616"/>
          </a:xfrm>
        </p:grpSpPr>
        <p:sp>
          <p:nvSpPr>
            <p:cNvPr id="8" name="Chave esquerda 7">
              <a:extLst>
                <a:ext uri="{FF2B5EF4-FFF2-40B4-BE49-F238E27FC236}">
                  <a16:creationId xmlns:a16="http://schemas.microsoft.com/office/drawing/2014/main" id="{E7397011-966D-1139-CC76-8EB056457C5C}"/>
                </a:ext>
              </a:extLst>
            </p:cNvPr>
            <p:cNvSpPr/>
            <p:nvPr/>
          </p:nvSpPr>
          <p:spPr bwMode="auto">
            <a:xfrm rot="5400000" flipV="1">
              <a:off x="4993566" y="3781182"/>
              <a:ext cx="129986" cy="997024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sz="900" dirty="0">
                <a:latin typeface="Tahoma" panose="020B0604030504040204" pitchFamily="34" charset="0"/>
              </a:endParaRPr>
            </a:p>
          </p:txBody>
        </p:sp>
        <p:cxnSp>
          <p:nvCxnSpPr>
            <p:cNvPr id="17" name="Conector de seta reta 16">
              <a:extLst>
                <a:ext uri="{FF2B5EF4-FFF2-40B4-BE49-F238E27FC236}">
                  <a16:creationId xmlns:a16="http://schemas.microsoft.com/office/drawing/2014/main" id="{21B58794-B930-625F-4EDB-B842893E7B82}"/>
                </a:ext>
              </a:extLst>
            </p:cNvPr>
            <p:cNvCxnSpPr/>
            <p:nvPr/>
          </p:nvCxnSpPr>
          <p:spPr bwMode="auto">
            <a:xfrm flipH="1" flipV="1">
              <a:off x="3030361" y="4052644"/>
              <a:ext cx="1907561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C4A2DD9E-8F3D-14A2-5B06-57D6A786F899}"/>
                    </a:ext>
                  </a:extLst>
                </p:cNvPr>
                <p:cNvSpPr txBox="1"/>
                <p:nvPr/>
              </p:nvSpPr>
              <p:spPr>
                <a:xfrm>
                  <a:off x="5019901" y="3956071"/>
                  <a:ext cx="162352" cy="2245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oMath>
                    </m:oMathPara>
                  </a14:m>
                  <a:endParaRPr lang="pt-BR" sz="14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C4A2DD9E-8F3D-14A2-5B06-57D6A786F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9901" y="3956071"/>
                  <a:ext cx="162352" cy="224549"/>
                </a:xfrm>
                <a:prstGeom prst="rect">
                  <a:avLst/>
                </a:prstGeom>
                <a:blipFill>
                  <a:blip r:embed="rId2"/>
                  <a:stretch>
                    <a:fillRect l="-37037" t="-24324" r="-55556" b="-810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Grupo 55">
            <a:extLst>
              <a:ext uri="{FF2B5EF4-FFF2-40B4-BE49-F238E27FC236}">
                <a16:creationId xmlns:a16="http://schemas.microsoft.com/office/drawing/2014/main" id="{468EDA0D-00EE-631A-5DD6-F97B3878E9FE}"/>
              </a:ext>
            </a:extLst>
          </p:cNvPr>
          <p:cNvGrpSpPr/>
          <p:nvPr/>
        </p:nvGrpSpPr>
        <p:grpSpPr>
          <a:xfrm>
            <a:off x="2436352" y="6017594"/>
            <a:ext cx="4102257" cy="371180"/>
            <a:chOff x="2436352" y="6017594"/>
            <a:chExt cx="4102257" cy="371180"/>
          </a:xfrm>
        </p:grpSpPr>
        <p:sp>
          <p:nvSpPr>
            <p:cNvPr id="19" name="Text Box 31">
              <a:extLst>
                <a:ext uri="{FF2B5EF4-FFF2-40B4-BE49-F238E27FC236}">
                  <a16:creationId xmlns:a16="http://schemas.microsoft.com/office/drawing/2014/main" id="{5E68106E-008D-6B70-1B65-68DFAC0BFF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6352" y="6127164"/>
              <a:ext cx="1018863" cy="261610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9pPr>
            </a:lstStyle>
            <a:p>
              <a:pPr eaLnBrk="1" fontAlgn="auto" hangingPunct="1">
                <a:spcBef>
                  <a:spcPct val="50000"/>
                </a:spcBef>
                <a:spcAft>
                  <a:spcPts val="0"/>
                </a:spcAft>
                <a:defRPr/>
              </a:pPr>
              <a:r>
                <a:rPr lang="pt-BR" altLang="zh-TW" sz="1050" kern="0" dirty="0">
                  <a:solidFill>
                    <a:srgbClr val="000000"/>
                  </a:solidFill>
                  <a:latin typeface="Tahoma" panose="020B0604030504040204" pitchFamily="34" charset="0"/>
                </a:rPr>
                <a:t>estatísticas</a:t>
              </a:r>
            </a:p>
          </p:txBody>
        </p:sp>
        <p:grpSp>
          <p:nvGrpSpPr>
            <p:cNvPr id="52" name="Grupo 51">
              <a:extLst>
                <a:ext uri="{FF2B5EF4-FFF2-40B4-BE49-F238E27FC236}">
                  <a16:creationId xmlns:a16="http://schemas.microsoft.com/office/drawing/2014/main" id="{52819318-FEC8-7DEF-54B6-9C3E65119DFC}"/>
                </a:ext>
              </a:extLst>
            </p:cNvPr>
            <p:cNvGrpSpPr/>
            <p:nvPr/>
          </p:nvGrpSpPr>
          <p:grpSpPr>
            <a:xfrm>
              <a:off x="3465748" y="6017594"/>
              <a:ext cx="229422" cy="363734"/>
              <a:chOff x="3482682" y="6017594"/>
              <a:chExt cx="229422" cy="363734"/>
            </a:xfrm>
          </p:grpSpPr>
          <p:sp>
            <p:nvSpPr>
              <p:cNvPr id="36" name="Line 26">
                <a:extLst>
                  <a:ext uri="{FF2B5EF4-FFF2-40B4-BE49-F238E27FC236}">
                    <a16:creationId xmlns:a16="http://schemas.microsoft.com/office/drawing/2014/main" id="{70531B8F-438A-C621-9C8D-5F874AF5868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CaixaDeTexto 52">
                    <a:extLst>
                      <a:ext uri="{FF2B5EF4-FFF2-40B4-BE49-F238E27FC236}">
                        <a16:creationId xmlns:a16="http://schemas.microsoft.com/office/drawing/2014/main" id="{58D8AE90-C5C2-E875-2DE2-E1E711F7994C}"/>
                      </a:ext>
                    </a:extLst>
                  </p:cNvPr>
                  <p:cNvSpPr txBox="1"/>
                  <p:nvPr/>
                </p:nvSpPr>
                <p:spPr>
                  <a:xfrm>
                    <a:off x="3482682" y="6156779"/>
                    <a:ext cx="229422" cy="2245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3" name="CaixaDeTexto 52">
                    <a:extLst>
                      <a:ext uri="{FF2B5EF4-FFF2-40B4-BE49-F238E27FC236}">
                        <a16:creationId xmlns:a16="http://schemas.microsoft.com/office/drawing/2014/main" id="{58D8AE90-C5C2-E875-2DE2-E1E711F799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2682" y="6156779"/>
                    <a:ext cx="229422" cy="22454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7027" t="-24324" r="-43243" b="-1621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01F9F288-726D-5B0A-C643-D600E502335D}"/>
                </a:ext>
              </a:extLst>
            </p:cNvPr>
            <p:cNvGrpSpPr/>
            <p:nvPr/>
          </p:nvGrpSpPr>
          <p:grpSpPr>
            <a:xfrm>
              <a:off x="4461691" y="6017594"/>
              <a:ext cx="233590" cy="363734"/>
              <a:chOff x="3480599" y="6017594"/>
              <a:chExt cx="233590" cy="363734"/>
            </a:xfrm>
          </p:grpSpPr>
          <p:sp>
            <p:nvSpPr>
              <p:cNvPr id="58" name="Line 26">
                <a:extLst>
                  <a:ext uri="{FF2B5EF4-FFF2-40B4-BE49-F238E27FC236}">
                    <a16:creationId xmlns:a16="http://schemas.microsoft.com/office/drawing/2014/main" id="{B0FCB5A8-5EEF-C118-81CD-787985B315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CaixaDeTexto 58">
                    <a:extLst>
                      <a:ext uri="{FF2B5EF4-FFF2-40B4-BE49-F238E27FC236}">
                        <a16:creationId xmlns:a16="http://schemas.microsoft.com/office/drawing/2014/main" id="{AA14ED71-432E-AAC2-E0AC-F29C5CF41BCF}"/>
                      </a:ext>
                    </a:extLst>
                  </p:cNvPr>
                  <p:cNvSpPr txBox="1"/>
                  <p:nvPr/>
                </p:nvSpPr>
                <p:spPr>
                  <a:xfrm>
                    <a:off x="3480599" y="6156779"/>
                    <a:ext cx="233590" cy="2245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9" name="CaixaDeTexto 58">
                    <a:extLst>
                      <a:ext uri="{FF2B5EF4-FFF2-40B4-BE49-F238E27FC236}">
                        <a16:creationId xmlns:a16="http://schemas.microsoft.com/office/drawing/2014/main" id="{AA14ED71-432E-AAC2-E0AC-F29C5CF41B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0599" y="6156779"/>
                    <a:ext cx="233590" cy="22454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6316" t="-24324" r="-39474" b="-1621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0" name="Grupo 59">
              <a:extLst>
                <a:ext uri="{FF2B5EF4-FFF2-40B4-BE49-F238E27FC236}">
                  <a16:creationId xmlns:a16="http://schemas.microsoft.com/office/drawing/2014/main" id="{DFC84776-5F2A-75B7-ABA4-F7ECF648B222}"/>
                </a:ext>
              </a:extLst>
            </p:cNvPr>
            <p:cNvGrpSpPr/>
            <p:nvPr/>
          </p:nvGrpSpPr>
          <p:grpSpPr>
            <a:xfrm>
              <a:off x="6260521" y="6017594"/>
              <a:ext cx="278088" cy="363734"/>
              <a:chOff x="3458350" y="6017594"/>
              <a:chExt cx="278088" cy="363734"/>
            </a:xfrm>
          </p:grpSpPr>
          <p:sp>
            <p:nvSpPr>
              <p:cNvPr id="61" name="Line 26">
                <a:extLst>
                  <a:ext uri="{FF2B5EF4-FFF2-40B4-BE49-F238E27FC236}">
                    <a16:creationId xmlns:a16="http://schemas.microsoft.com/office/drawing/2014/main" id="{061D5872-C037-3281-60B7-D4C380752AE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61">
                    <a:extLst>
                      <a:ext uri="{FF2B5EF4-FFF2-40B4-BE49-F238E27FC236}">
                        <a16:creationId xmlns:a16="http://schemas.microsoft.com/office/drawing/2014/main" id="{D8976623-4C19-2262-78C7-8C9346AD6D20}"/>
                      </a:ext>
                    </a:extLst>
                  </p:cNvPr>
                  <p:cNvSpPr txBox="1"/>
                  <p:nvPr/>
                </p:nvSpPr>
                <p:spPr>
                  <a:xfrm>
                    <a:off x="3458350" y="6156779"/>
                    <a:ext cx="278088" cy="2245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2" name="CaixaDeTexto 61">
                    <a:extLst>
                      <a:ext uri="{FF2B5EF4-FFF2-40B4-BE49-F238E27FC236}">
                        <a16:creationId xmlns:a16="http://schemas.microsoft.com/office/drawing/2014/main" id="{D8976623-4C19-2262-78C7-8C9346AD6D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58350" y="6156779"/>
                    <a:ext cx="278088" cy="22454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739" t="-24324" r="-32609" b="-1081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64" name="Retângulo 63">
            <a:extLst>
              <a:ext uri="{FF2B5EF4-FFF2-40B4-BE49-F238E27FC236}">
                <a16:creationId xmlns:a16="http://schemas.microsoft.com/office/drawing/2014/main" id="{B4EAA076-6823-736D-424A-B49785A25E00}"/>
              </a:ext>
            </a:extLst>
          </p:cNvPr>
          <p:cNvSpPr/>
          <p:nvPr/>
        </p:nvSpPr>
        <p:spPr>
          <a:xfrm>
            <a:off x="1851377" y="5497644"/>
            <a:ext cx="1162498" cy="5502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pt-BR" sz="1050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sz="1050" i="1" baseline="-25000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k</a:t>
            </a:r>
            <a:r>
              <a:rPr lang="pt-BR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pt-BR" sz="1050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é um dos </a:t>
            </a:r>
            <a:r>
              <a:rPr lang="pt-BR" sz="105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sz="1050" i="1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endParaRPr lang="pt-BR" sz="105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  <a:defRPr/>
            </a:pPr>
            <a:r>
              <a:rPr lang="pt-BR" sz="1050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(com repetição)</a:t>
            </a:r>
          </a:p>
        </p:txBody>
      </p:sp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A58EA1A5-3CA5-70E3-DA92-FAED37ED8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36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4460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  <p:bldP spid="5" grpId="0" animBg="1"/>
      <p:bldP spid="6" grpId="0"/>
      <p:bldP spid="18" grpId="0"/>
      <p:bldP spid="6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63625" y="2297172"/>
                <a:ext cx="1769395" cy="2566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625" y="2297172"/>
                <a:ext cx="1769395" cy="256609"/>
              </a:xfrm>
              <a:prstGeom prst="rect">
                <a:avLst/>
              </a:prstGeom>
              <a:blipFill>
                <a:blip r:embed="rId2"/>
                <a:stretch>
                  <a:fillRect l="-3780" t="-19048" r="-1375" b="-3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i="1" dirty="0" err="1"/>
              <a:t>Bootstrap</a:t>
            </a:r>
            <a:endParaRPr lang="pt-BR" i="1" dirty="0"/>
          </a:p>
        </p:txBody>
      </p:sp>
      <p:sp>
        <p:nvSpPr>
          <p:cNvPr id="14343" name="Text Box 31"/>
          <p:cNvSpPr txBox="1">
            <a:spLocks noChangeArrowheads="1"/>
          </p:cNvSpPr>
          <p:nvPr/>
        </p:nvSpPr>
        <p:spPr bwMode="auto">
          <a:xfrm>
            <a:off x="755650" y="1412776"/>
            <a:ext cx="777716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um determinado parâmetro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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pode ser estimado a partir de uma amostra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valores, ou seja,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8" name="Text Box 31"/>
          <p:cNvSpPr txBox="1">
            <a:spLocks noChangeArrowheads="1"/>
          </p:cNvSpPr>
          <p:nvPr/>
        </p:nvSpPr>
        <p:spPr bwMode="auto">
          <a:xfrm>
            <a:off x="755650" y="2762151"/>
            <a:ext cx="77771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 a cada iteração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j</a:t>
            </a:r>
            <a:r>
              <a:rPr lang="pt-BR" altLang="pt-BR" sz="1600" dirty="0">
                <a:latin typeface="Tahoma" panose="020B0604030504040204" pitchFamily="34" charset="0"/>
              </a:rPr>
              <a:t>, o valor estimado a partir da amostra será:</a:t>
            </a:r>
          </a:p>
        </p:txBody>
      </p:sp>
      <p:sp>
        <p:nvSpPr>
          <p:cNvPr id="12" name="Text Box 31"/>
          <p:cNvSpPr txBox="1">
            <a:spLocks noChangeArrowheads="1"/>
          </p:cNvSpPr>
          <p:nvPr/>
        </p:nvSpPr>
        <p:spPr bwMode="auto">
          <a:xfrm>
            <a:off x="3059113" y="3376513"/>
            <a:ext cx="58340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 </a:t>
            </a:r>
            <a:r>
              <a:rPr lang="pt-BR" altLang="pt-BR" sz="1600" i="1" dirty="0" err="1">
                <a:latin typeface="Times New Roman" charset="0"/>
                <a:cs typeface="Times New Roman" charset="0"/>
              </a:rPr>
              <a:t>y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é um dos valores da amostra (com reposição) </a:t>
            </a:r>
          </a:p>
        </p:txBody>
      </p:sp>
      <p:sp>
        <p:nvSpPr>
          <p:cNvPr id="10" name="Text Box 31"/>
          <p:cNvSpPr txBox="1">
            <a:spLocks noChangeArrowheads="1"/>
          </p:cNvSpPr>
          <p:nvPr/>
        </p:nvSpPr>
        <p:spPr bwMode="auto">
          <a:xfrm>
            <a:off x="755650" y="4014688"/>
            <a:ext cx="77771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 base nas estimativas de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iterações, pode-se calcular então:</a:t>
            </a:r>
          </a:p>
        </p:txBody>
      </p:sp>
      <p:sp>
        <p:nvSpPr>
          <p:cNvPr id="18" name="Text Box 31"/>
          <p:cNvSpPr txBox="1">
            <a:spLocks noChangeArrowheads="1"/>
          </p:cNvSpPr>
          <p:nvPr/>
        </p:nvSpPr>
        <p:spPr bwMode="auto">
          <a:xfrm>
            <a:off x="755650" y="5857776"/>
            <a:ext cx="777716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Recomenda-se que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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r>
              <a:rPr lang="pt-BR" altLang="pt-BR" sz="1600" dirty="0">
                <a:latin typeface="Tahoma" panose="020B0604030504040204" pitchFamily="34" charset="0"/>
              </a:rPr>
              <a:t>, mas pode ser necessário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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  <a:r>
              <a:rPr lang="pt-BR" altLang="pt-BR" sz="1600" dirty="0">
                <a:latin typeface="Tahoma" panose="020B0604030504040204" pitchFamily="34" charset="0"/>
              </a:rPr>
              <a:t> caso o objetivo seja construir intervalos de confiança para o parâmetro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</a:t>
            </a:r>
            <a:endParaRPr lang="pt-BR" altLang="pt-BR" sz="1600" baseline="30000" dirty="0">
              <a:latin typeface="Times New Roman" charset="0"/>
              <a:cs typeface="Times New Roman" charset="0"/>
            </a:endParaRPr>
          </a:p>
        </p:txBody>
      </p:sp>
      <p:sp>
        <p:nvSpPr>
          <p:cNvPr id="23" name="Retângulo 22"/>
          <p:cNvSpPr>
            <a:spLocks noChangeArrowheads="1"/>
          </p:cNvSpPr>
          <p:nvPr/>
        </p:nvSpPr>
        <p:spPr bwMode="auto">
          <a:xfrm>
            <a:off x="5571154" y="4894163"/>
            <a:ext cx="115288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 grande)</a:t>
            </a:r>
            <a:endParaRPr lang="pt-BR" altLang="pt-BR" sz="1100" dirty="0">
              <a:latin typeface="Tahoma" panose="020B0604030504040204" pitchFamily="34" charset="0"/>
            </a:endParaRPr>
          </a:p>
        </p:txBody>
      </p:sp>
      <p:sp>
        <p:nvSpPr>
          <p:cNvPr id="15" name="Retângulo 14"/>
          <p:cNvSpPr>
            <a:spLocks noChangeArrowheads="1"/>
          </p:cNvSpPr>
          <p:nvPr/>
        </p:nvSpPr>
        <p:spPr bwMode="auto">
          <a:xfrm>
            <a:off x="69893" y="6554788"/>
            <a:ext cx="860656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 err="1">
                <a:latin typeface="Tahoma" panose="020B0604030504040204" pitchFamily="34" charset="0"/>
              </a:rPr>
              <a:t>Efron</a:t>
            </a:r>
            <a:r>
              <a:rPr lang="en-US" altLang="pt-BR" sz="1200" dirty="0">
                <a:latin typeface="Tahoma" panose="020B0604030504040204" pitchFamily="34" charset="0"/>
              </a:rPr>
              <a:t>, B.; Hastie, T. 2016. Computer age statistical inference. Cambridge University Press. 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/>
              <p:cNvSpPr txBox="1"/>
              <p:nvPr/>
            </p:nvSpPr>
            <p:spPr>
              <a:xfrm>
                <a:off x="1063625" y="3384268"/>
                <a:ext cx="1822742" cy="2566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7" name="CaixaDeTexto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625" y="3384268"/>
                <a:ext cx="1822742" cy="256609"/>
              </a:xfrm>
              <a:prstGeom prst="rect">
                <a:avLst/>
              </a:prstGeom>
              <a:blipFill>
                <a:blip r:embed="rId3"/>
                <a:stretch>
                  <a:fillRect l="-3344" t="-16667" r="-1338" b="-3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/>
              <p:cNvSpPr txBox="1"/>
              <p:nvPr/>
            </p:nvSpPr>
            <p:spPr>
              <a:xfrm>
                <a:off x="1063625" y="4438450"/>
                <a:ext cx="1229567" cy="67646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4" name="CaixaDeTexto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625" y="4438450"/>
                <a:ext cx="1229567" cy="6764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ixaDeTexto 24"/>
              <p:cNvSpPr txBox="1"/>
              <p:nvPr/>
            </p:nvSpPr>
            <p:spPr>
              <a:xfrm>
                <a:off x="1063625" y="5146476"/>
                <a:ext cx="2241126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𝑉𝑎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̂"/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p>
                            <m:sSupPr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5" name="CaixaDeTexto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625" y="5146476"/>
                <a:ext cx="2241126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/>
              <p:cNvSpPr txBox="1"/>
              <p:nvPr/>
            </p:nvSpPr>
            <p:spPr>
              <a:xfrm>
                <a:off x="4211960" y="4759642"/>
                <a:ext cx="1298561" cy="8114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𝑉𝑎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pt-B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6" name="CaixaDeTexto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1960" y="4759642"/>
                <a:ext cx="1298561" cy="811441"/>
              </a:xfrm>
              <a:prstGeom prst="rect">
                <a:avLst/>
              </a:prstGeom>
              <a:blipFill>
                <a:blip r:embed="rId6"/>
                <a:stretch>
                  <a:fillRect b="-7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spaço Reservado para Número de Slide 1">
            <a:extLst>
              <a:ext uri="{FF2B5EF4-FFF2-40B4-BE49-F238E27FC236}">
                <a16:creationId xmlns:a16="http://schemas.microsoft.com/office/drawing/2014/main" id="{A13252A4-BD7F-A93D-CD86-3CAD2DC1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37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99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0" grpId="0"/>
      <p:bldP spid="18" grpId="0"/>
      <p:bldP spid="23" grpId="0"/>
      <p:bldP spid="15" grpId="0"/>
      <p:bldP spid="17" grpId="0"/>
      <p:bldP spid="24" grpId="0"/>
      <p:bldP spid="25" grpId="0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to 9"/>
          <p:cNvGraphicFramePr>
            <a:graphicFrameLocks noChangeAspect="1"/>
          </p:cNvGraphicFramePr>
          <p:nvPr/>
        </p:nvGraphicFramePr>
        <p:xfrm>
          <a:off x="3059113" y="5513486"/>
          <a:ext cx="3908425" cy="603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93960" imgH="431640" progId="Equation.DSMT4">
                  <p:embed/>
                </p:oleObj>
              </mc:Choice>
              <mc:Fallback>
                <p:oleObj name="Equation" r:id="rId2" imgW="2793960" imgH="431640" progId="Equation.DSMT4">
                  <p:embed/>
                  <p:pic>
                    <p:nvPicPr>
                      <p:cNvPr id="10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113" y="5513486"/>
                        <a:ext cx="3908425" cy="603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to 8"/>
          <p:cNvGraphicFramePr>
            <a:graphicFrameLocks noChangeAspect="1"/>
          </p:cNvGraphicFramePr>
          <p:nvPr/>
        </p:nvGraphicFramePr>
        <p:xfrm>
          <a:off x="3059113" y="4865414"/>
          <a:ext cx="2397125" cy="603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14320" imgH="431640" progId="Equation.DSMT4">
                  <p:embed/>
                </p:oleObj>
              </mc:Choice>
              <mc:Fallback>
                <p:oleObj name="Equation" r:id="rId4" imgW="1714320" imgH="431640" progId="Equation.DSMT4">
                  <p:embed/>
                  <p:pic>
                    <p:nvPicPr>
                      <p:cNvPr id="9" name="Objeto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113" y="4865414"/>
                        <a:ext cx="2397125" cy="603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i="1" dirty="0" err="1"/>
              <a:t>Bootstrap</a:t>
            </a:r>
            <a:r>
              <a:rPr lang="pt-BR" dirty="0"/>
              <a:t> - Exemplo</a:t>
            </a:r>
          </a:p>
        </p:txBody>
      </p:sp>
      <p:sp>
        <p:nvSpPr>
          <p:cNvPr id="15365" name="Text Box 31"/>
          <p:cNvSpPr txBox="1">
            <a:spLocks noChangeArrowheads="1"/>
          </p:cNvSpPr>
          <p:nvPr/>
        </p:nvSpPr>
        <p:spPr bwMode="auto">
          <a:xfrm>
            <a:off x="468313" y="1412875"/>
            <a:ext cx="83518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se deseja saber qual é a média geométrica de uma população e para isso obteve-se uma amostra de 10 valores:</a:t>
            </a:r>
          </a:p>
        </p:txBody>
      </p:sp>
      <p:sp>
        <p:nvSpPr>
          <p:cNvPr id="19" name="Text Box 31"/>
          <p:cNvSpPr txBox="1">
            <a:spLocks noChangeArrowheads="1"/>
          </p:cNvSpPr>
          <p:nvPr/>
        </p:nvSpPr>
        <p:spPr bwMode="auto">
          <a:xfrm>
            <a:off x="3059113" y="2205038"/>
            <a:ext cx="60483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é o valor da média geométrica desta amostra e qual a variância deste estimador?</a:t>
            </a:r>
          </a:p>
        </p:txBody>
      </p:sp>
      <p:graphicFrame>
        <p:nvGraphicFramePr>
          <p:cNvPr id="6" name="Objeto 5"/>
          <p:cNvGraphicFramePr>
            <a:graphicFrameLocks noChangeAspect="1"/>
          </p:cNvGraphicFramePr>
          <p:nvPr/>
        </p:nvGraphicFramePr>
        <p:xfrm>
          <a:off x="3059113" y="2836863"/>
          <a:ext cx="27559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2120900" imgH="254000" progId="Equation.3">
                  <p:embed/>
                </p:oleObj>
              </mc:Choice>
              <mc:Fallback>
                <p:oleObj name="Equação" r:id="rId6" imgW="2120900" imgH="254000" progId="Equation.3">
                  <p:embed/>
                  <p:pic>
                    <p:nvPicPr>
                      <p:cNvPr id="6" name="Objeto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113" y="2836863"/>
                        <a:ext cx="2755900" cy="330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Retângulo 19"/>
          <p:cNvSpPr>
            <a:spLocks noChangeArrowheads="1"/>
          </p:cNvSpPr>
          <p:nvPr/>
        </p:nvSpPr>
        <p:spPr bwMode="auto">
          <a:xfrm>
            <a:off x="5940425" y="2819400"/>
            <a:ext cx="20193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(amostra completa)</a:t>
            </a:r>
            <a:endParaRPr lang="pt-BR" altLang="pt-BR" sz="1100" dirty="0">
              <a:latin typeface="Tahoma" panose="020B0604030504040204" pitchFamily="34" charset="0"/>
            </a:endParaRPr>
          </a:p>
        </p:txBody>
      </p:sp>
      <p:graphicFrame>
        <p:nvGraphicFramePr>
          <p:cNvPr id="25" name="Tabela 24"/>
          <p:cNvGraphicFramePr>
            <a:graphicFrameLocks noGrp="1"/>
          </p:cNvGraphicFramePr>
          <p:nvPr/>
        </p:nvGraphicFramePr>
        <p:xfrm>
          <a:off x="1116013" y="2497138"/>
          <a:ext cx="1219200" cy="2851153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5283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effectLst/>
                        <a:latin typeface="Times New Roman"/>
                      </a:endParaRPr>
                    </a:p>
                  </a:txBody>
                  <a:tcPr marL="9525" marR="9525" marT="9523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24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</a:t>
                      </a:r>
                      <a:endParaRPr lang="pt-BR" sz="1400" b="1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2,2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3,5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3,4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6,7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6,2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8,2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9,2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7,9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9,0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10,1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" name="Objeto 28"/>
          <p:cNvGraphicFramePr>
            <a:graphicFrameLocks noChangeAspect="1"/>
          </p:cNvGraphicFramePr>
          <p:nvPr/>
        </p:nvGraphicFramePr>
        <p:xfrm>
          <a:off x="3059113" y="3284984"/>
          <a:ext cx="3876675" cy="1484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984400" imgH="1143000" progId="Equation.DSMT4">
                  <p:embed/>
                </p:oleObj>
              </mc:Choice>
              <mc:Fallback>
                <p:oleObj name="Equation" r:id="rId8" imgW="2984400" imgH="1143000" progId="Equation.DSMT4">
                  <p:embed/>
                  <p:pic>
                    <p:nvPicPr>
                      <p:cNvPr id="29" name="Objeto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113" y="3284984"/>
                        <a:ext cx="3876675" cy="1484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Retângulo 21"/>
          <p:cNvSpPr>
            <a:spLocks noChangeArrowheads="1"/>
          </p:cNvSpPr>
          <p:nvPr/>
        </p:nvSpPr>
        <p:spPr bwMode="auto">
          <a:xfrm>
            <a:off x="-17463" y="6580188"/>
            <a:ext cx="300513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(ver exemplo BS em Reamostragem.xls)</a:t>
            </a:r>
          </a:p>
        </p:txBody>
      </p:sp>
      <p:graphicFrame>
        <p:nvGraphicFramePr>
          <p:cNvPr id="13" name="Objeto 12"/>
          <p:cNvGraphicFramePr>
            <a:graphicFrameLocks noChangeAspect="1"/>
          </p:cNvGraphicFramePr>
          <p:nvPr/>
        </p:nvGraphicFramePr>
        <p:xfrm>
          <a:off x="3059113" y="6264721"/>
          <a:ext cx="2470150" cy="373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765080" imgH="266400" progId="Equation.DSMT4">
                  <p:embed/>
                </p:oleObj>
              </mc:Choice>
              <mc:Fallback>
                <p:oleObj name="Equation" r:id="rId10" imgW="1765080" imgH="266400" progId="Equation.DSMT4">
                  <p:embed/>
                  <p:pic>
                    <p:nvPicPr>
                      <p:cNvPr id="13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113" y="6264721"/>
                        <a:ext cx="2470150" cy="3730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7F39C861-8F3A-2257-EE3A-21B467CDB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38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36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i="1" dirty="0" err="1"/>
              <a:t>Bootstrap</a:t>
            </a:r>
            <a:endParaRPr lang="pt-BR" i="1" dirty="0"/>
          </a:p>
        </p:txBody>
      </p:sp>
      <p:sp>
        <p:nvSpPr>
          <p:cNvPr id="20483" name="Text Box 31"/>
          <p:cNvSpPr txBox="1">
            <a:spLocks noChangeArrowheads="1"/>
          </p:cNvSpPr>
          <p:nvPr/>
        </p:nvSpPr>
        <p:spPr bwMode="auto">
          <a:xfrm>
            <a:off x="395536" y="1445875"/>
            <a:ext cx="8137277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contexto de classificação, o </a:t>
            </a:r>
            <a:r>
              <a:rPr lang="pt-BR" altLang="pt-BR" sz="1600" i="1" dirty="0" err="1">
                <a:latin typeface="Tahoma" panose="020B0604030504040204" pitchFamily="34" charset="0"/>
              </a:rPr>
              <a:t>Bootstrap</a:t>
            </a:r>
            <a:r>
              <a:rPr lang="pt-BR" altLang="pt-BR" sz="1600" dirty="0">
                <a:latin typeface="Tahoma" panose="020B0604030504040204" pitchFamily="34" charset="0"/>
              </a:rPr>
              <a:t> pode ser utilizado para avaliar o desempenho do classificador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processo de sorteio com reposição, parte das amostras não são utilizadas. Em geral, cerca de 30% das amostras ficam de fora e podem ser usadas para avaliação do classificador</a:t>
            </a:r>
          </a:p>
        </p:txBody>
      </p:sp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5579D4E2-7728-F506-BE08-2572A63E1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39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9" name="Grupo 5">
            <a:extLst>
              <a:ext uri="{FF2B5EF4-FFF2-40B4-BE49-F238E27FC236}">
                <a16:creationId xmlns:a16="http://schemas.microsoft.com/office/drawing/2014/main" id="{EAC1E46D-770C-1DEA-4E12-35FA19074195}"/>
              </a:ext>
            </a:extLst>
          </p:cNvPr>
          <p:cNvGrpSpPr/>
          <p:nvPr/>
        </p:nvGrpSpPr>
        <p:grpSpPr>
          <a:xfrm>
            <a:off x="5364088" y="2861002"/>
            <a:ext cx="2253215" cy="3880366"/>
            <a:chOff x="772268" y="2356946"/>
            <a:chExt cx="2253215" cy="3880366"/>
          </a:xfrm>
        </p:grpSpPr>
        <p:grpSp>
          <p:nvGrpSpPr>
            <p:cNvPr id="35" name="Grupo 28">
              <a:extLst>
                <a:ext uri="{FF2B5EF4-FFF2-40B4-BE49-F238E27FC236}">
                  <a16:creationId xmlns:a16="http://schemas.microsoft.com/office/drawing/2014/main" id="{4D8CD550-49CE-FF39-FADB-1909347EF81D}"/>
                </a:ext>
              </a:extLst>
            </p:cNvPr>
            <p:cNvGrpSpPr/>
            <p:nvPr/>
          </p:nvGrpSpPr>
          <p:grpSpPr>
            <a:xfrm>
              <a:off x="772268" y="3706431"/>
              <a:ext cx="555490" cy="648072"/>
              <a:chOff x="6660232" y="2348880"/>
              <a:chExt cx="864096" cy="1008112"/>
            </a:xfrm>
          </p:grpSpPr>
          <p:grpSp>
            <p:nvGrpSpPr>
              <p:cNvPr id="121" name="Grupo 25">
                <a:extLst>
                  <a:ext uri="{FF2B5EF4-FFF2-40B4-BE49-F238E27FC236}">
                    <a16:creationId xmlns:a16="http://schemas.microsoft.com/office/drawing/2014/main" id="{C41C5748-91AE-0F62-9934-BB07D9BE132A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123" name="Retângulo com Único Canto Aparado 2">
                  <a:extLst>
                    <a:ext uri="{FF2B5EF4-FFF2-40B4-BE49-F238E27FC236}">
                      <a16:creationId xmlns:a16="http://schemas.microsoft.com/office/drawing/2014/main" id="{DC4C4AA2-4638-5DE5-6C5F-A86DA3C76C4E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124" name="Conector reto 123">
                  <a:extLst>
                    <a:ext uri="{FF2B5EF4-FFF2-40B4-BE49-F238E27FC236}">
                      <a16:creationId xmlns:a16="http://schemas.microsoft.com/office/drawing/2014/main" id="{D2483F9E-D637-6608-709C-002FF04D932B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25" name="Conector reto 124">
                  <a:extLst>
                    <a:ext uri="{FF2B5EF4-FFF2-40B4-BE49-F238E27FC236}">
                      <a16:creationId xmlns:a16="http://schemas.microsoft.com/office/drawing/2014/main" id="{4ACE5E2D-F5D0-0EFE-6ADA-59F398839343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26" name="Conector reto 125">
                  <a:extLst>
                    <a:ext uri="{FF2B5EF4-FFF2-40B4-BE49-F238E27FC236}">
                      <a16:creationId xmlns:a16="http://schemas.microsoft.com/office/drawing/2014/main" id="{E0E46887-5965-F8B0-2457-98C431BAA4B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27" name="Conector reto 126">
                  <a:extLst>
                    <a:ext uri="{FF2B5EF4-FFF2-40B4-BE49-F238E27FC236}">
                      <a16:creationId xmlns:a16="http://schemas.microsoft.com/office/drawing/2014/main" id="{E591CA36-EB52-918F-3AE4-F8749D55F492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0" name="Conector reto 20479">
                  <a:extLst>
                    <a:ext uri="{FF2B5EF4-FFF2-40B4-BE49-F238E27FC236}">
                      <a16:creationId xmlns:a16="http://schemas.microsoft.com/office/drawing/2014/main" id="{72049C44-F053-4A09-04D1-70E1F3396E52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1" name="Conector reto 20480">
                  <a:extLst>
                    <a:ext uri="{FF2B5EF4-FFF2-40B4-BE49-F238E27FC236}">
                      <a16:creationId xmlns:a16="http://schemas.microsoft.com/office/drawing/2014/main" id="{7FFFF488-4FCF-0828-1DC8-645AD14393D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2" name="Conector reto 20481">
                  <a:extLst>
                    <a:ext uri="{FF2B5EF4-FFF2-40B4-BE49-F238E27FC236}">
                      <a16:creationId xmlns:a16="http://schemas.microsoft.com/office/drawing/2014/main" id="{691AF4F0-778D-8060-BBC9-6D967E3ACD9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4" name="Conector reto 20483">
                  <a:extLst>
                    <a:ext uri="{FF2B5EF4-FFF2-40B4-BE49-F238E27FC236}">
                      <a16:creationId xmlns:a16="http://schemas.microsoft.com/office/drawing/2014/main" id="{E3DB8B66-8940-5F64-52A7-69FD49FE7DDB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5" name="Conector reto 20484">
                  <a:extLst>
                    <a:ext uri="{FF2B5EF4-FFF2-40B4-BE49-F238E27FC236}">
                      <a16:creationId xmlns:a16="http://schemas.microsoft.com/office/drawing/2014/main" id="{7623AF7C-781F-7783-9BD6-24708EB9AD6C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6" name="Conector reto 20485">
                  <a:extLst>
                    <a:ext uri="{FF2B5EF4-FFF2-40B4-BE49-F238E27FC236}">
                      <a16:creationId xmlns:a16="http://schemas.microsoft.com/office/drawing/2014/main" id="{B9AB00AD-09B9-DE72-7DA3-EE8AA1A5CA0E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7" name="Conector reto 20486">
                  <a:extLst>
                    <a:ext uri="{FF2B5EF4-FFF2-40B4-BE49-F238E27FC236}">
                      <a16:creationId xmlns:a16="http://schemas.microsoft.com/office/drawing/2014/main" id="{E8F74FD3-AF47-2699-94A9-BFBA98A41963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122" name="Retângulo 121">
                <a:extLst>
                  <a:ext uri="{FF2B5EF4-FFF2-40B4-BE49-F238E27FC236}">
                    <a16:creationId xmlns:a16="http://schemas.microsoft.com/office/drawing/2014/main" id="{A36C6B4F-AB83-5702-1619-C136C7BB509E}"/>
                  </a:ext>
                </a:extLst>
              </p:cNvPr>
              <p:cNvSpPr/>
              <p:nvPr/>
            </p:nvSpPr>
            <p:spPr bwMode="auto">
              <a:xfrm>
                <a:off x="6660232" y="2924944"/>
                <a:ext cx="864096" cy="28803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 Dados</a:t>
                </a:r>
              </a:p>
            </p:txBody>
          </p:sp>
        </p:grpSp>
        <p:grpSp>
          <p:nvGrpSpPr>
            <p:cNvPr id="37" name="Grupo 29">
              <a:extLst>
                <a:ext uri="{FF2B5EF4-FFF2-40B4-BE49-F238E27FC236}">
                  <a16:creationId xmlns:a16="http://schemas.microsoft.com/office/drawing/2014/main" id="{9528EAF8-74F6-26AD-EA01-20C42F0E2B7D}"/>
                </a:ext>
              </a:extLst>
            </p:cNvPr>
            <p:cNvGrpSpPr/>
            <p:nvPr/>
          </p:nvGrpSpPr>
          <p:grpSpPr>
            <a:xfrm>
              <a:off x="2068412" y="2356946"/>
              <a:ext cx="555490" cy="648072"/>
              <a:chOff x="6660232" y="2348880"/>
              <a:chExt cx="864096" cy="1008112"/>
            </a:xfrm>
          </p:grpSpPr>
          <p:grpSp>
            <p:nvGrpSpPr>
              <p:cNvPr id="107" name="Grupo 30">
                <a:extLst>
                  <a:ext uri="{FF2B5EF4-FFF2-40B4-BE49-F238E27FC236}">
                    <a16:creationId xmlns:a16="http://schemas.microsoft.com/office/drawing/2014/main" id="{728DBF07-3B77-215F-A529-8000FD65C404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109" name="Retângulo com Único Canto Aparado 32">
                  <a:extLst>
                    <a:ext uri="{FF2B5EF4-FFF2-40B4-BE49-F238E27FC236}">
                      <a16:creationId xmlns:a16="http://schemas.microsoft.com/office/drawing/2014/main" id="{30FD0AF5-47F3-437C-FF21-A5FEDE7E7F64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110" name="Conector reto 109">
                  <a:extLst>
                    <a:ext uri="{FF2B5EF4-FFF2-40B4-BE49-F238E27FC236}">
                      <a16:creationId xmlns:a16="http://schemas.microsoft.com/office/drawing/2014/main" id="{97862780-D60C-DBF8-D100-97468D43751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1" name="Conector reto 110">
                  <a:extLst>
                    <a:ext uri="{FF2B5EF4-FFF2-40B4-BE49-F238E27FC236}">
                      <a16:creationId xmlns:a16="http://schemas.microsoft.com/office/drawing/2014/main" id="{AA9FDD72-3513-5CDC-F9A4-00F5DF510E3C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2" name="Conector reto 111">
                  <a:extLst>
                    <a:ext uri="{FF2B5EF4-FFF2-40B4-BE49-F238E27FC236}">
                      <a16:creationId xmlns:a16="http://schemas.microsoft.com/office/drawing/2014/main" id="{31E08C8C-A8D5-E0DF-EDB8-9D80E5D112C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3" name="Conector reto 112">
                  <a:extLst>
                    <a:ext uri="{FF2B5EF4-FFF2-40B4-BE49-F238E27FC236}">
                      <a16:creationId xmlns:a16="http://schemas.microsoft.com/office/drawing/2014/main" id="{07819472-908D-AB62-86F0-9E5CE93813D6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4" name="Conector reto 113">
                  <a:extLst>
                    <a:ext uri="{FF2B5EF4-FFF2-40B4-BE49-F238E27FC236}">
                      <a16:creationId xmlns:a16="http://schemas.microsoft.com/office/drawing/2014/main" id="{CE4FF492-8003-BCA1-457E-795BBDF8FECE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5" name="Conector reto 114">
                  <a:extLst>
                    <a:ext uri="{FF2B5EF4-FFF2-40B4-BE49-F238E27FC236}">
                      <a16:creationId xmlns:a16="http://schemas.microsoft.com/office/drawing/2014/main" id="{7BFE1DE9-A21D-25FA-652C-14158F8425A2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6" name="Conector reto 115">
                  <a:extLst>
                    <a:ext uri="{FF2B5EF4-FFF2-40B4-BE49-F238E27FC236}">
                      <a16:creationId xmlns:a16="http://schemas.microsoft.com/office/drawing/2014/main" id="{7FB80129-E5D7-31C0-2B07-755202CB3B65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7" name="Conector reto 116">
                  <a:extLst>
                    <a:ext uri="{FF2B5EF4-FFF2-40B4-BE49-F238E27FC236}">
                      <a16:creationId xmlns:a16="http://schemas.microsoft.com/office/drawing/2014/main" id="{DCB57106-14AA-84C1-D397-FA55E4EDDB4D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8" name="Conector reto 117">
                  <a:extLst>
                    <a:ext uri="{FF2B5EF4-FFF2-40B4-BE49-F238E27FC236}">
                      <a16:creationId xmlns:a16="http://schemas.microsoft.com/office/drawing/2014/main" id="{A8C05C79-590C-2580-0CDE-6D59CFF52E6E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9" name="Conector reto 118">
                  <a:extLst>
                    <a:ext uri="{FF2B5EF4-FFF2-40B4-BE49-F238E27FC236}">
                      <a16:creationId xmlns:a16="http://schemas.microsoft.com/office/drawing/2014/main" id="{CD350252-7397-84A9-4FEE-3951CBD1B914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20" name="Conector reto 119">
                  <a:extLst>
                    <a:ext uri="{FF2B5EF4-FFF2-40B4-BE49-F238E27FC236}">
                      <a16:creationId xmlns:a16="http://schemas.microsoft.com/office/drawing/2014/main" id="{6FAC3F55-E7C4-C5D7-A3C6-AB0ADA71AE3C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108" name="Retângulo 107">
                <a:extLst>
                  <a:ext uri="{FF2B5EF4-FFF2-40B4-BE49-F238E27FC236}">
                    <a16:creationId xmlns:a16="http://schemas.microsoft.com/office/drawing/2014/main" id="{750916ED-C208-978F-68FA-48DF47E0DCD9}"/>
                  </a:ext>
                </a:extLst>
              </p:cNvPr>
              <p:cNvSpPr/>
              <p:nvPr/>
            </p:nvSpPr>
            <p:spPr bwMode="auto">
              <a:xfrm>
                <a:off x="6660232" y="2924944"/>
                <a:ext cx="864096" cy="28803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 Dados</a:t>
                </a:r>
              </a:p>
            </p:txBody>
          </p:sp>
        </p:grpSp>
        <p:grpSp>
          <p:nvGrpSpPr>
            <p:cNvPr id="38" name="Grupo 90">
              <a:extLst>
                <a:ext uri="{FF2B5EF4-FFF2-40B4-BE49-F238E27FC236}">
                  <a16:creationId xmlns:a16="http://schemas.microsoft.com/office/drawing/2014/main" id="{69302224-F386-EDF4-D0CD-1F87D476E92D}"/>
                </a:ext>
              </a:extLst>
            </p:cNvPr>
            <p:cNvGrpSpPr/>
            <p:nvPr/>
          </p:nvGrpSpPr>
          <p:grpSpPr>
            <a:xfrm>
              <a:off x="2068412" y="3197232"/>
              <a:ext cx="555490" cy="648072"/>
              <a:chOff x="6660232" y="2348880"/>
              <a:chExt cx="864096" cy="1008112"/>
            </a:xfrm>
          </p:grpSpPr>
          <p:grpSp>
            <p:nvGrpSpPr>
              <p:cNvPr id="93" name="Grupo 91">
                <a:extLst>
                  <a:ext uri="{FF2B5EF4-FFF2-40B4-BE49-F238E27FC236}">
                    <a16:creationId xmlns:a16="http://schemas.microsoft.com/office/drawing/2014/main" id="{F89EC045-5739-ED22-D0F9-4DDBB89161EA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95" name="Retângulo com Único Canto Aparado 93">
                  <a:extLst>
                    <a:ext uri="{FF2B5EF4-FFF2-40B4-BE49-F238E27FC236}">
                      <a16:creationId xmlns:a16="http://schemas.microsoft.com/office/drawing/2014/main" id="{2B3071B1-66E1-2838-E2BF-CA56D41D2747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96" name="Conector reto 95">
                  <a:extLst>
                    <a:ext uri="{FF2B5EF4-FFF2-40B4-BE49-F238E27FC236}">
                      <a16:creationId xmlns:a16="http://schemas.microsoft.com/office/drawing/2014/main" id="{58A65413-1102-40A1-FDA9-927B447BCCE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7" name="Conector reto 96">
                  <a:extLst>
                    <a:ext uri="{FF2B5EF4-FFF2-40B4-BE49-F238E27FC236}">
                      <a16:creationId xmlns:a16="http://schemas.microsoft.com/office/drawing/2014/main" id="{FD6CC01E-F312-2D3D-8E61-26A2411E1647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8" name="Conector reto 97">
                  <a:extLst>
                    <a:ext uri="{FF2B5EF4-FFF2-40B4-BE49-F238E27FC236}">
                      <a16:creationId xmlns:a16="http://schemas.microsoft.com/office/drawing/2014/main" id="{71EC54AC-2BB9-B33A-4AE4-DC7C6FF4BD5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9" name="Conector reto 98">
                  <a:extLst>
                    <a:ext uri="{FF2B5EF4-FFF2-40B4-BE49-F238E27FC236}">
                      <a16:creationId xmlns:a16="http://schemas.microsoft.com/office/drawing/2014/main" id="{98FB2C8E-81A8-F21B-0079-981BE868B54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0" name="Conector reto 99">
                  <a:extLst>
                    <a:ext uri="{FF2B5EF4-FFF2-40B4-BE49-F238E27FC236}">
                      <a16:creationId xmlns:a16="http://schemas.microsoft.com/office/drawing/2014/main" id="{44E5CAF6-86D4-8E0A-D911-FDBA79C8D8E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1" name="Conector reto 100">
                  <a:extLst>
                    <a:ext uri="{FF2B5EF4-FFF2-40B4-BE49-F238E27FC236}">
                      <a16:creationId xmlns:a16="http://schemas.microsoft.com/office/drawing/2014/main" id="{F2864AD7-6BBA-9F2B-85C4-CDA6162F0686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2" name="Conector reto 101">
                  <a:extLst>
                    <a:ext uri="{FF2B5EF4-FFF2-40B4-BE49-F238E27FC236}">
                      <a16:creationId xmlns:a16="http://schemas.microsoft.com/office/drawing/2014/main" id="{0EABC0E0-511C-C18D-89EC-09C2C3D2784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3" name="Conector reto 102">
                  <a:extLst>
                    <a:ext uri="{FF2B5EF4-FFF2-40B4-BE49-F238E27FC236}">
                      <a16:creationId xmlns:a16="http://schemas.microsoft.com/office/drawing/2014/main" id="{76355A8F-C4E7-8CF8-98C4-C39D1479ED2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4" name="Conector reto 103">
                  <a:extLst>
                    <a:ext uri="{FF2B5EF4-FFF2-40B4-BE49-F238E27FC236}">
                      <a16:creationId xmlns:a16="http://schemas.microsoft.com/office/drawing/2014/main" id="{64CC060A-553C-1627-C082-DD655AE83A4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5" name="Conector reto 104">
                  <a:extLst>
                    <a:ext uri="{FF2B5EF4-FFF2-40B4-BE49-F238E27FC236}">
                      <a16:creationId xmlns:a16="http://schemas.microsoft.com/office/drawing/2014/main" id="{706B60E5-9E29-FA07-29A5-7286C52C8670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6" name="Conector reto 105">
                  <a:extLst>
                    <a:ext uri="{FF2B5EF4-FFF2-40B4-BE49-F238E27FC236}">
                      <a16:creationId xmlns:a16="http://schemas.microsoft.com/office/drawing/2014/main" id="{7A309479-E72F-287B-BF68-ED6EB0CEBE3C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94" name="Retângulo 93">
                <a:extLst>
                  <a:ext uri="{FF2B5EF4-FFF2-40B4-BE49-F238E27FC236}">
                    <a16:creationId xmlns:a16="http://schemas.microsoft.com/office/drawing/2014/main" id="{D0A0B1B2-63D9-9F36-7371-8F6846CE432B}"/>
                  </a:ext>
                </a:extLst>
              </p:cNvPr>
              <p:cNvSpPr/>
              <p:nvPr/>
            </p:nvSpPr>
            <p:spPr bwMode="auto">
              <a:xfrm>
                <a:off x="6660232" y="2924944"/>
                <a:ext cx="864096" cy="28803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 Dados</a:t>
                </a:r>
              </a:p>
            </p:txBody>
          </p:sp>
        </p:grpSp>
        <p:grpSp>
          <p:nvGrpSpPr>
            <p:cNvPr id="39" name="Grupo 105">
              <a:extLst>
                <a:ext uri="{FF2B5EF4-FFF2-40B4-BE49-F238E27FC236}">
                  <a16:creationId xmlns:a16="http://schemas.microsoft.com/office/drawing/2014/main" id="{42ABA461-E5E9-2DCC-4470-7424423784CF}"/>
                </a:ext>
              </a:extLst>
            </p:cNvPr>
            <p:cNvGrpSpPr/>
            <p:nvPr/>
          </p:nvGrpSpPr>
          <p:grpSpPr>
            <a:xfrm>
              <a:off x="2068412" y="4001535"/>
              <a:ext cx="555490" cy="648072"/>
              <a:chOff x="6660232" y="2348880"/>
              <a:chExt cx="864096" cy="1008112"/>
            </a:xfrm>
          </p:grpSpPr>
          <p:grpSp>
            <p:nvGrpSpPr>
              <p:cNvPr id="79" name="Grupo 106">
                <a:extLst>
                  <a:ext uri="{FF2B5EF4-FFF2-40B4-BE49-F238E27FC236}">
                    <a16:creationId xmlns:a16="http://schemas.microsoft.com/office/drawing/2014/main" id="{A7F7DBBC-3F63-7710-D786-5AA2B056FEAA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81" name="Retângulo com Único Canto Aparado 108">
                  <a:extLst>
                    <a:ext uri="{FF2B5EF4-FFF2-40B4-BE49-F238E27FC236}">
                      <a16:creationId xmlns:a16="http://schemas.microsoft.com/office/drawing/2014/main" id="{ACBEFB04-6958-B29D-9250-9E6B66CD1F11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82" name="Conector reto 81">
                  <a:extLst>
                    <a:ext uri="{FF2B5EF4-FFF2-40B4-BE49-F238E27FC236}">
                      <a16:creationId xmlns:a16="http://schemas.microsoft.com/office/drawing/2014/main" id="{5386C344-1060-B9E3-696B-D257E1D781C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3" name="Conector reto 82">
                  <a:extLst>
                    <a:ext uri="{FF2B5EF4-FFF2-40B4-BE49-F238E27FC236}">
                      <a16:creationId xmlns:a16="http://schemas.microsoft.com/office/drawing/2014/main" id="{A27A69B9-32D5-C396-952D-C694EE130A8B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4" name="Conector reto 83">
                  <a:extLst>
                    <a:ext uri="{FF2B5EF4-FFF2-40B4-BE49-F238E27FC236}">
                      <a16:creationId xmlns:a16="http://schemas.microsoft.com/office/drawing/2014/main" id="{6EBC1880-F5AA-81F8-37B5-A9D6F009C22B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5" name="Conector reto 84">
                  <a:extLst>
                    <a:ext uri="{FF2B5EF4-FFF2-40B4-BE49-F238E27FC236}">
                      <a16:creationId xmlns:a16="http://schemas.microsoft.com/office/drawing/2014/main" id="{2907E0F4-7FFF-3F3F-AEFE-EE6766FC5B2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6" name="Conector reto 85">
                  <a:extLst>
                    <a:ext uri="{FF2B5EF4-FFF2-40B4-BE49-F238E27FC236}">
                      <a16:creationId xmlns:a16="http://schemas.microsoft.com/office/drawing/2014/main" id="{32B92C06-B44D-50DF-A0BB-53C343F7E55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7" name="Conector reto 86">
                  <a:extLst>
                    <a:ext uri="{FF2B5EF4-FFF2-40B4-BE49-F238E27FC236}">
                      <a16:creationId xmlns:a16="http://schemas.microsoft.com/office/drawing/2014/main" id="{CC759B72-9C3C-A398-6FBC-48E87719DF03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8" name="Conector reto 87">
                  <a:extLst>
                    <a:ext uri="{FF2B5EF4-FFF2-40B4-BE49-F238E27FC236}">
                      <a16:creationId xmlns:a16="http://schemas.microsoft.com/office/drawing/2014/main" id="{E5FD4BF8-8181-DEA0-29C6-E21A85A7C7C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9" name="Conector reto 88">
                  <a:extLst>
                    <a:ext uri="{FF2B5EF4-FFF2-40B4-BE49-F238E27FC236}">
                      <a16:creationId xmlns:a16="http://schemas.microsoft.com/office/drawing/2014/main" id="{0A191EE6-F66E-7E63-4D23-9A688017F71D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0" name="Conector reto 89">
                  <a:extLst>
                    <a:ext uri="{FF2B5EF4-FFF2-40B4-BE49-F238E27FC236}">
                      <a16:creationId xmlns:a16="http://schemas.microsoft.com/office/drawing/2014/main" id="{90E5329A-F26D-7AA6-0513-2437DD5A7ECD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1" name="Conector reto 90">
                  <a:extLst>
                    <a:ext uri="{FF2B5EF4-FFF2-40B4-BE49-F238E27FC236}">
                      <a16:creationId xmlns:a16="http://schemas.microsoft.com/office/drawing/2014/main" id="{808990B4-6A96-0F73-F9F3-8864124F14E3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2" name="Conector reto 91">
                  <a:extLst>
                    <a:ext uri="{FF2B5EF4-FFF2-40B4-BE49-F238E27FC236}">
                      <a16:creationId xmlns:a16="http://schemas.microsoft.com/office/drawing/2014/main" id="{25F05BB3-2E2E-7A07-7BEB-B434633E724F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80" name="Retângulo 79">
                <a:extLst>
                  <a:ext uri="{FF2B5EF4-FFF2-40B4-BE49-F238E27FC236}">
                    <a16:creationId xmlns:a16="http://schemas.microsoft.com/office/drawing/2014/main" id="{5FBB41BA-2753-5C9C-9508-B31A9AC44683}"/>
                  </a:ext>
                </a:extLst>
              </p:cNvPr>
              <p:cNvSpPr/>
              <p:nvPr/>
            </p:nvSpPr>
            <p:spPr bwMode="auto">
              <a:xfrm>
                <a:off x="6660232" y="2924944"/>
                <a:ext cx="864096" cy="28803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3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 Dados</a:t>
                </a:r>
              </a:p>
            </p:txBody>
          </p:sp>
        </p:grpSp>
        <p:grpSp>
          <p:nvGrpSpPr>
            <p:cNvPr id="40" name="Grupo 120">
              <a:extLst>
                <a:ext uri="{FF2B5EF4-FFF2-40B4-BE49-F238E27FC236}">
                  <a16:creationId xmlns:a16="http://schemas.microsoft.com/office/drawing/2014/main" id="{FCB57CA2-5008-7338-BF1C-F6F0BD843C92}"/>
                </a:ext>
              </a:extLst>
            </p:cNvPr>
            <p:cNvGrpSpPr/>
            <p:nvPr/>
          </p:nvGrpSpPr>
          <p:grpSpPr>
            <a:xfrm>
              <a:off x="2068412" y="5211766"/>
              <a:ext cx="555490" cy="648072"/>
              <a:chOff x="6660232" y="2348880"/>
              <a:chExt cx="864096" cy="1008112"/>
            </a:xfrm>
          </p:grpSpPr>
          <p:grpSp>
            <p:nvGrpSpPr>
              <p:cNvPr id="65" name="Grupo 121">
                <a:extLst>
                  <a:ext uri="{FF2B5EF4-FFF2-40B4-BE49-F238E27FC236}">
                    <a16:creationId xmlns:a16="http://schemas.microsoft.com/office/drawing/2014/main" id="{AE60FD30-2861-1408-414F-12B5AB3794F5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67" name="Retângulo com Único Canto Aparado 123">
                  <a:extLst>
                    <a:ext uri="{FF2B5EF4-FFF2-40B4-BE49-F238E27FC236}">
                      <a16:creationId xmlns:a16="http://schemas.microsoft.com/office/drawing/2014/main" id="{091A92DF-D454-3F2B-0B0A-BA517A59C673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68" name="Conector reto 67">
                  <a:extLst>
                    <a:ext uri="{FF2B5EF4-FFF2-40B4-BE49-F238E27FC236}">
                      <a16:creationId xmlns:a16="http://schemas.microsoft.com/office/drawing/2014/main" id="{78DE5489-6146-5CD2-0A4B-3453077B170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69" name="Conector reto 68">
                  <a:extLst>
                    <a:ext uri="{FF2B5EF4-FFF2-40B4-BE49-F238E27FC236}">
                      <a16:creationId xmlns:a16="http://schemas.microsoft.com/office/drawing/2014/main" id="{6FEF1027-3252-5F24-7C23-E23D52B1A3A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0" name="Conector reto 69">
                  <a:extLst>
                    <a:ext uri="{FF2B5EF4-FFF2-40B4-BE49-F238E27FC236}">
                      <a16:creationId xmlns:a16="http://schemas.microsoft.com/office/drawing/2014/main" id="{C1AD77C8-4477-E8D2-12D1-1488AA0ADF6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1" name="Conector reto 70">
                  <a:extLst>
                    <a:ext uri="{FF2B5EF4-FFF2-40B4-BE49-F238E27FC236}">
                      <a16:creationId xmlns:a16="http://schemas.microsoft.com/office/drawing/2014/main" id="{BE6B0DC8-51B4-B433-1705-B5423E8C74A5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2" name="Conector reto 71">
                  <a:extLst>
                    <a:ext uri="{FF2B5EF4-FFF2-40B4-BE49-F238E27FC236}">
                      <a16:creationId xmlns:a16="http://schemas.microsoft.com/office/drawing/2014/main" id="{5708E1DC-5A64-5F49-485D-F41781C57C00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3" name="Conector reto 72">
                  <a:extLst>
                    <a:ext uri="{FF2B5EF4-FFF2-40B4-BE49-F238E27FC236}">
                      <a16:creationId xmlns:a16="http://schemas.microsoft.com/office/drawing/2014/main" id="{AAF5571C-1D17-BDDA-747B-B2BD44F65C6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4" name="Conector reto 73">
                  <a:extLst>
                    <a:ext uri="{FF2B5EF4-FFF2-40B4-BE49-F238E27FC236}">
                      <a16:creationId xmlns:a16="http://schemas.microsoft.com/office/drawing/2014/main" id="{C79E6DFE-F6BA-2710-5617-8C80510E535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5" name="Conector reto 74">
                  <a:extLst>
                    <a:ext uri="{FF2B5EF4-FFF2-40B4-BE49-F238E27FC236}">
                      <a16:creationId xmlns:a16="http://schemas.microsoft.com/office/drawing/2014/main" id="{E1764014-B8D8-7C05-5554-43234B1FF3C6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6" name="Conector reto 75">
                  <a:extLst>
                    <a:ext uri="{FF2B5EF4-FFF2-40B4-BE49-F238E27FC236}">
                      <a16:creationId xmlns:a16="http://schemas.microsoft.com/office/drawing/2014/main" id="{77864118-74A9-1987-F0AC-E1E9C5F97D8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7" name="Conector reto 76">
                  <a:extLst>
                    <a:ext uri="{FF2B5EF4-FFF2-40B4-BE49-F238E27FC236}">
                      <a16:creationId xmlns:a16="http://schemas.microsoft.com/office/drawing/2014/main" id="{920BB551-0567-5EDF-9034-9712BF8F7341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8" name="Conector reto 77">
                  <a:extLst>
                    <a:ext uri="{FF2B5EF4-FFF2-40B4-BE49-F238E27FC236}">
                      <a16:creationId xmlns:a16="http://schemas.microsoft.com/office/drawing/2014/main" id="{D46DAABB-61D9-2E60-C34E-CCE3080966D6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66" name="Retângulo 65">
                <a:extLst>
                  <a:ext uri="{FF2B5EF4-FFF2-40B4-BE49-F238E27FC236}">
                    <a16:creationId xmlns:a16="http://schemas.microsoft.com/office/drawing/2014/main" id="{2DFC8593-EEB0-58D2-CAD8-F5A55F8E0B39}"/>
                  </a:ext>
                </a:extLst>
              </p:cNvPr>
              <p:cNvSpPr/>
              <p:nvPr/>
            </p:nvSpPr>
            <p:spPr bwMode="auto">
              <a:xfrm>
                <a:off x="6660232" y="2924944"/>
                <a:ext cx="864096" cy="28803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-2500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 Dados</a:t>
                </a:r>
              </a:p>
            </p:txBody>
          </p:sp>
        </p:grpSp>
        <p:sp>
          <p:nvSpPr>
            <p:cNvPr id="41" name="Retângulo 40">
              <a:extLst>
                <a:ext uri="{FF2B5EF4-FFF2-40B4-BE49-F238E27FC236}">
                  <a16:creationId xmlns:a16="http://schemas.microsoft.com/office/drawing/2014/main" id="{71E8DF8E-B853-2B7A-DB70-AF1C55AED5E1}"/>
                </a:ext>
              </a:extLst>
            </p:cNvPr>
            <p:cNvSpPr/>
            <p:nvPr/>
          </p:nvSpPr>
          <p:spPr>
            <a:xfrm>
              <a:off x="2226527" y="4610654"/>
              <a:ext cx="229550" cy="6001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sz="1100" b="1" dirty="0">
                  <a:latin typeface="Tahoma" panose="020B0604030504040204" pitchFamily="34" charset="0"/>
                </a:rPr>
                <a:t>.</a:t>
              </a:r>
            </a:p>
            <a:p>
              <a:r>
                <a:rPr lang="pt-BR" sz="1100" b="1" dirty="0">
                  <a:latin typeface="Tahoma" panose="020B0604030504040204" pitchFamily="34" charset="0"/>
                </a:rPr>
                <a:t>.</a:t>
              </a:r>
            </a:p>
            <a:p>
              <a:r>
                <a:rPr lang="pt-BR" sz="1100" b="1" dirty="0">
                  <a:latin typeface="Tahoma" panose="020B0604030504040204" pitchFamily="34" charset="0"/>
                </a:rPr>
                <a:t>.</a:t>
              </a:r>
            </a:p>
          </p:txBody>
        </p:sp>
        <p:cxnSp>
          <p:nvCxnSpPr>
            <p:cNvPr id="42" name="Conector de seta reta 137">
              <a:extLst>
                <a:ext uri="{FF2B5EF4-FFF2-40B4-BE49-F238E27FC236}">
                  <a16:creationId xmlns:a16="http://schemas.microsoft.com/office/drawing/2014/main" id="{F222C9CD-8252-F356-0B6B-604124FE47C6}"/>
                </a:ext>
              </a:extLst>
            </p:cNvPr>
            <p:cNvCxnSpPr/>
            <p:nvPr/>
          </p:nvCxnSpPr>
          <p:spPr bwMode="auto">
            <a:xfrm flipV="1">
              <a:off x="1420340" y="2860359"/>
              <a:ext cx="598561" cy="1141177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43" name="Conector de seta reta 139">
              <a:extLst>
                <a:ext uri="{FF2B5EF4-FFF2-40B4-BE49-F238E27FC236}">
                  <a16:creationId xmlns:a16="http://schemas.microsoft.com/office/drawing/2014/main" id="{4BC5DEB5-A909-BB35-A7D8-37E7C7E412F3}"/>
                </a:ext>
              </a:extLst>
            </p:cNvPr>
            <p:cNvCxnSpPr/>
            <p:nvPr/>
          </p:nvCxnSpPr>
          <p:spPr bwMode="auto">
            <a:xfrm flipV="1">
              <a:off x="1426757" y="3648569"/>
              <a:ext cx="563207" cy="350073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54" name="Conector de seta reta 141">
              <a:extLst>
                <a:ext uri="{FF2B5EF4-FFF2-40B4-BE49-F238E27FC236}">
                  <a16:creationId xmlns:a16="http://schemas.microsoft.com/office/drawing/2014/main" id="{285D8734-12E1-EF58-29B9-777EDB8C0F5C}"/>
                </a:ext>
              </a:extLst>
            </p:cNvPr>
            <p:cNvCxnSpPr/>
            <p:nvPr/>
          </p:nvCxnSpPr>
          <p:spPr bwMode="auto">
            <a:xfrm>
              <a:off x="1426758" y="4001535"/>
              <a:ext cx="563206" cy="347181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55" name="Conector de seta reta 143">
              <a:extLst>
                <a:ext uri="{FF2B5EF4-FFF2-40B4-BE49-F238E27FC236}">
                  <a16:creationId xmlns:a16="http://schemas.microsoft.com/office/drawing/2014/main" id="{855E542A-25CE-D37F-5282-3EB3577FE816}"/>
                </a:ext>
              </a:extLst>
            </p:cNvPr>
            <p:cNvCxnSpPr/>
            <p:nvPr/>
          </p:nvCxnSpPr>
          <p:spPr bwMode="auto">
            <a:xfrm>
              <a:off x="1426756" y="3998642"/>
              <a:ext cx="569648" cy="1456151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63" name="Retângulo 62">
              <a:extLst>
                <a:ext uri="{FF2B5EF4-FFF2-40B4-BE49-F238E27FC236}">
                  <a16:creationId xmlns:a16="http://schemas.microsoft.com/office/drawing/2014/main" id="{B57D919D-76D5-8B2F-8D4D-23DA9EAEAE6B}"/>
                </a:ext>
              </a:extLst>
            </p:cNvPr>
            <p:cNvSpPr/>
            <p:nvPr/>
          </p:nvSpPr>
          <p:spPr>
            <a:xfrm>
              <a:off x="1651389" y="6021868"/>
              <a:ext cx="1374094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8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pt-BR" sz="8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r>
                <a:rPr lang="pt-BR" sz="800" dirty="0">
                  <a:latin typeface="Arial" panose="020B0604020202020204" pitchFamily="34" charset="0"/>
                  <a:cs typeface="Arial" panose="020B0604020202020204" pitchFamily="34" charset="0"/>
                </a:rPr>
                <a:t> = N</a:t>
              </a:r>
              <a:r>
                <a:rPr lang="pt-BR" sz="8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pt-BR" sz="800" dirty="0">
                  <a:latin typeface="Arial" panose="020B0604020202020204" pitchFamily="34" charset="0"/>
                  <a:cs typeface="Arial" panose="020B0604020202020204" pitchFamily="34" charset="0"/>
                </a:rPr>
                <a:t> = N</a:t>
              </a:r>
              <a:r>
                <a:rPr lang="pt-BR" sz="8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r>
                <a:rPr lang="pt-BR" sz="800" dirty="0">
                  <a:latin typeface="Arial" panose="020B0604020202020204" pitchFamily="34" charset="0"/>
                  <a:cs typeface="Arial" panose="020B0604020202020204" pitchFamily="34" charset="0"/>
                </a:rPr>
                <a:t> = ... = </a:t>
              </a:r>
              <a:r>
                <a:rPr lang="pt-BR" sz="800" dirty="0" err="1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pt-BR" sz="8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r>
                <a:rPr lang="pt-BR" sz="800" dirty="0">
                  <a:latin typeface="Arial" panose="020B0604020202020204" pitchFamily="34" charset="0"/>
                  <a:cs typeface="Arial" panose="020B0604020202020204" pitchFamily="34" charset="0"/>
                </a:rPr>
                <a:t> = N</a:t>
              </a: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0488" name="Grupo 7">
            <a:extLst>
              <a:ext uri="{FF2B5EF4-FFF2-40B4-BE49-F238E27FC236}">
                <a16:creationId xmlns:a16="http://schemas.microsoft.com/office/drawing/2014/main" id="{E6658B5E-69B5-9908-C3B7-6C648E2909D6}"/>
              </a:ext>
            </a:extLst>
          </p:cNvPr>
          <p:cNvGrpSpPr/>
          <p:nvPr/>
        </p:nvGrpSpPr>
        <p:grpSpPr>
          <a:xfrm>
            <a:off x="7308304" y="2991679"/>
            <a:ext cx="1363931" cy="3241538"/>
            <a:chOff x="2716484" y="2487623"/>
            <a:chExt cx="1363931" cy="3241538"/>
          </a:xfrm>
        </p:grpSpPr>
        <p:grpSp>
          <p:nvGrpSpPr>
            <p:cNvPr id="20489" name="Grupo 173">
              <a:extLst>
                <a:ext uri="{FF2B5EF4-FFF2-40B4-BE49-F238E27FC236}">
                  <a16:creationId xmlns:a16="http://schemas.microsoft.com/office/drawing/2014/main" id="{82B5F568-D6AD-A325-8AEE-C0A287AD6200}"/>
                </a:ext>
              </a:extLst>
            </p:cNvPr>
            <p:cNvGrpSpPr/>
            <p:nvPr/>
          </p:nvGrpSpPr>
          <p:grpSpPr>
            <a:xfrm>
              <a:off x="3130093" y="2487623"/>
              <a:ext cx="505803" cy="550161"/>
              <a:chOff x="3347864" y="2852936"/>
              <a:chExt cx="505803" cy="550161"/>
            </a:xfrm>
          </p:grpSpPr>
          <p:sp>
            <p:nvSpPr>
              <p:cNvPr id="20540" name="Elipse 20539">
                <a:extLst>
                  <a:ext uri="{FF2B5EF4-FFF2-40B4-BE49-F238E27FC236}">
                    <a16:creationId xmlns:a16="http://schemas.microsoft.com/office/drawing/2014/main" id="{D1BE4CD2-B4B5-744A-F753-4DE6CA13D9DF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1" name="Elipse 20540">
                <a:extLst>
                  <a:ext uri="{FF2B5EF4-FFF2-40B4-BE49-F238E27FC236}">
                    <a16:creationId xmlns:a16="http://schemas.microsoft.com/office/drawing/2014/main" id="{D284F364-7026-2175-E8F5-EEC34AD56CCA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2" name="Elipse 20541">
                <a:extLst>
                  <a:ext uri="{FF2B5EF4-FFF2-40B4-BE49-F238E27FC236}">
                    <a16:creationId xmlns:a16="http://schemas.microsoft.com/office/drawing/2014/main" id="{93E9EC57-6CF4-131D-0567-C7E79F78776D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3" name="Elipse 20542">
                <a:extLst>
                  <a:ext uri="{FF2B5EF4-FFF2-40B4-BE49-F238E27FC236}">
                    <a16:creationId xmlns:a16="http://schemas.microsoft.com/office/drawing/2014/main" id="{703C6157-D2B6-2397-F7EC-9DA788CE08F9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4" name="Elipse 20543">
                <a:extLst>
                  <a:ext uri="{FF2B5EF4-FFF2-40B4-BE49-F238E27FC236}">
                    <a16:creationId xmlns:a16="http://schemas.microsoft.com/office/drawing/2014/main" id="{BCBB9CF1-871C-1502-2A87-1D2CCB8D7086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5" name="Elipse 20544">
                <a:extLst>
                  <a:ext uri="{FF2B5EF4-FFF2-40B4-BE49-F238E27FC236}">
                    <a16:creationId xmlns:a16="http://schemas.microsoft.com/office/drawing/2014/main" id="{4E27EBDA-E19B-B29A-7E87-8D1E0B427B47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6" name="Elipse 20545">
                <a:extLst>
                  <a:ext uri="{FF2B5EF4-FFF2-40B4-BE49-F238E27FC236}">
                    <a16:creationId xmlns:a16="http://schemas.microsoft.com/office/drawing/2014/main" id="{6AB7B302-D01F-B134-4C2D-03EC61AD96E4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20547" name="Conector de seta reta 158">
                <a:extLst>
                  <a:ext uri="{FF2B5EF4-FFF2-40B4-BE49-F238E27FC236}">
                    <a16:creationId xmlns:a16="http://schemas.microsoft.com/office/drawing/2014/main" id="{F3EA362D-C38E-D1CA-2DD0-B03765C8AA05}"/>
                  </a:ext>
                </a:extLst>
              </p:cNvPr>
              <p:cNvCxnSpPr>
                <a:stCxn id="20540" idx="4"/>
                <a:endCxn id="20541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48" name="Conector de seta reta 160">
                <a:extLst>
                  <a:ext uri="{FF2B5EF4-FFF2-40B4-BE49-F238E27FC236}">
                    <a16:creationId xmlns:a16="http://schemas.microsoft.com/office/drawing/2014/main" id="{D2F7587A-8709-A65E-5B4C-F86BA60CAFB7}"/>
                  </a:ext>
                </a:extLst>
              </p:cNvPr>
              <p:cNvCxnSpPr>
                <a:stCxn id="20540" idx="4"/>
                <a:endCxn id="20542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49" name="Conector de seta reta 163">
                <a:extLst>
                  <a:ext uri="{FF2B5EF4-FFF2-40B4-BE49-F238E27FC236}">
                    <a16:creationId xmlns:a16="http://schemas.microsoft.com/office/drawing/2014/main" id="{641CF2BB-A3C7-9719-08EF-9E7674D7A8CA}"/>
                  </a:ext>
                </a:extLst>
              </p:cNvPr>
              <p:cNvCxnSpPr>
                <a:stCxn id="20541" idx="4"/>
                <a:endCxn id="20543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50" name="Conector de seta reta 165">
                <a:extLst>
                  <a:ext uri="{FF2B5EF4-FFF2-40B4-BE49-F238E27FC236}">
                    <a16:creationId xmlns:a16="http://schemas.microsoft.com/office/drawing/2014/main" id="{A6DE170D-A307-E998-1C6E-28009E182B00}"/>
                  </a:ext>
                </a:extLst>
              </p:cNvPr>
              <p:cNvCxnSpPr>
                <a:stCxn id="20541" idx="4"/>
                <a:endCxn id="20544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51" name="Conector de seta reta 167">
                <a:extLst>
                  <a:ext uri="{FF2B5EF4-FFF2-40B4-BE49-F238E27FC236}">
                    <a16:creationId xmlns:a16="http://schemas.microsoft.com/office/drawing/2014/main" id="{4245A683-02DF-10BD-D704-DCBC3B15CB65}"/>
                  </a:ext>
                </a:extLst>
              </p:cNvPr>
              <p:cNvCxnSpPr>
                <a:stCxn id="20542" idx="4"/>
                <a:endCxn id="20545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52" name="Conector de seta reta 169">
                <a:extLst>
                  <a:ext uri="{FF2B5EF4-FFF2-40B4-BE49-F238E27FC236}">
                    <a16:creationId xmlns:a16="http://schemas.microsoft.com/office/drawing/2014/main" id="{B634BF36-2B87-3F7E-83C5-FCB5D6A4F8C7}"/>
                  </a:ext>
                </a:extLst>
              </p:cNvPr>
              <p:cNvCxnSpPr>
                <a:stCxn id="20542" idx="4"/>
                <a:endCxn id="20546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sp>
            <p:nvSpPr>
              <p:cNvPr id="20554" name="Elipse 20553">
                <a:extLst>
                  <a:ext uri="{FF2B5EF4-FFF2-40B4-BE49-F238E27FC236}">
                    <a16:creationId xmlns:a16="http://schemas.microsoft.com/office/drawing/2014/main" id="{549C8E4C-3543-7110-4289-B726474F9B2F}"/>
                  </a:ext>
                </a:extLst>
              </p:cNvPr>
              <p:cNvSpPr/>
              <p:nvPr/>
            </p:nvSpPr>
            <p:spPr bwMode="auto">
              <a:xfrm>
                <a:off x="3419872" y="3331089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55" name="Elipse 20554">
                <a:extLst>
                  <a:ext uri="{FF2B5EF4-FFF2-40B4-BE49-F238E27FC236}">
                    <a16:creationId xmlns:a16="http://schemas.microsoft.com/office/drawing/2014/main" id="{3D74F2B7-ABDD-3C12-8190-86CDB8050341}"/>
                  </a:ext>
                </a:extLst>
              </p:cNvPr>
              <p:cNvSpPr/>
              <p:nvPr/>
            </p:nvSpPr>
            <p:spPr bwMode="auto">
              <a:xfrm>
                <a:off x="3563888" y="3331089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20556" name="Conector de seta reta 167">
                <a:extLst>
                  <a:ext uri="{FF2B5EF4-FFF2-40B4-BE49-F238E27FC236}">
                    <a16:creationId xmlns:a16="http://schemas.microsoft.com/office/drawing/2014/main" id="{1F1F56A1-FCA4-65B5-9921-08FF8F9C51C4}"/>
                  </a:ext>
                </a:extLst>
              </p:cNvPr>
              <p:cNvCxnSpPr>
                <a:endCxn id="20554" idx="0"/>
              </p:cNvCxnSpPr>
              <p:nvPr/>
            </p:nvCxnSpPr>
            <p:spPr bwMode="auto">
              <a:xfrm flipH="1">
                <a:off x="3455876" y="3240787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57" name="Conector de seta reta 169">
                <a:extLst>
                  <a:ext uri="{FF2B5EF4-FFF2-40B4-BE49-F238E27FC236}">
                    <a16:creationId xmlns:a16="http://schemas.microsoft.com/office/drawing/2014/main" id="{A408FE37-F971-5FF4-3B82-AD845760C4AF}"/>
                  </a:ext>
                </a:extLst>
              </p:cNvPr>
              <p:cNvCxnSpPr>
                <a:endCxn id="20555" idx="0"/>
              </p:cNvCxnSpPr>
              <p:nvPr/>
            </p:nvCxnSpPr>
            <p:spPr bwMode="auto">
              <a:xfrm>
                <a:off x="3526137" y="3240787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grpSp>
          <p:nvGrpSpPr>
            <p:cNvPr id="20490" name="Grupo 174">
              <a:extLst>
                <a:ext uri="{FF2B5EF4-FFF2-40B4-BE49-F238E27FC236}">
                  <a16:creationId xmlns:a16="http://schemas.microsoft.com/office/drawing/2014/main" id="{CD57E0E8-DF64-8A71-7878-60EA5C7AF129}"/>
                </a:ext>
              </a:extLst>
            </p:cNvPr>
            <p:cNvGrpSpPr/>
            <p:nvPr/>
          </p:nvGrpSpPr>
          <p:grpSpPr>
            <a:xfrm>
              <a:off x="3130093" y="3327909"/>
              <a:ext cx="432048" cy="383164"/>
              <a:chOff x="3347864" y="2852936"/>
              <a:chExt cx="432048" cy="383164"/>
            </a:xfrm>
          </p:grpSpPr>
          <p:sp>
            <p:nvSpPr>
              <p:cNvPr id="20527" name="Elipse 20526">
                <a:extLst>
                  <a:ext uri="{FF2B5EF4-FFF2-40B4-BE49-F238E27FC236}">
                    <a16:creationId xmlns:a16="http://schemas.microsoft.com/office/drawing/2014/main" id="{A7721008-2402-DE65-9BA9-73673A563217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28" name="Elipse 20527">
                <a:extLst>
                  <a:ext uri="{FF2B5EF4-FFF2-40B4-BE49-F238E27FC236}">
                    <a16:creationId xmlns:a16="http://schemas.microsoft.com/office/drawing/2014/main" id="{8AC80641-F1F7-D7D6-3DF7-C8073D1CFA1D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29" name="Elipse 20528">
                <a:extLst>
                  <a:ext uri="{FF2B5EF4-FFF2-40B4-BE49-F238E27FC236}">
                    <a16:creationId xmlns:a16="http://schemas.microsoft.com/office/drawing/2014/main" id="{DDD7DE8B-E262-A366-D610-36AEBE0DE331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30" name="Elipse 20529">
                <a:extLst>
                  <a:ext uri="{FF2B5EF4-FFF2-40B4-BE49-F238E27FC236}">
                    <a16:creationId xmlns:a16="http://schemas.microsoft.com/office/drawing/2014/main" id="{CE2AE0CB-8626-CD17-E622-A9C02A2F2A2E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31" name="Elipse 20530">
                <a:extLst>
                  <a:ext uri="{FF2B5EF4-FFF2-40B4-BE49-F238E27FC236}">
                    <a16:creationId xmlns:a16="http://schemas.microsoft.com/office/drawing/2014/main" id="{F9BCE859-4889-5EDA-5184-168C40A153D8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20534" name="Conector de seta reta 182">
                <a:extLst>
                  <a:ext uri="{FF2B5EF4-FFF2-40B4-BE49-F238E27FC236}">
                    <a16:creationId xmlns:a16="http://schemas.microsoft.com/office/drawing/2014/main" id="{88B1DFA3-0145-D659-EC73-734088E26D6D}"/>
                  </a:ext>
                </a:extLst>
              </p:cNvPr>
              <p:cNvCxnSpPr>
                <a:stCxn id="20527" idx="4"/>
                <a:endCxn id="20528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5" name="Conector de seta reta 183">
                <a:extLst>
                  <a:ext uri="{FF2B5EF4-FFF2-40B4-BE49-F238E27FC236}">
                    <a16:creationId xmlns:a16="http://schemas.microsoft.com/office/drawing/2014/main" id="{969134DB-6F1E-7797-E33B-11123BA5E0F6}"/>
                  </a:ext>
                </a:extLst>
              </p:cNvPr>
              <p:cNvCxnSpPr>
                <a:stCxn id="20527" idx="4"/>
                <a:endCxn id="20529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6" name="Conector de seta reta 184">
                <a:extLst>
                  <a:ext uri="{FF2B5EF4-FFF2-40B4-BE49-F238E27FC236}">
                    <a16:creationId xmlns:a16="http://schemas.microsoft.com/office/drawing/2014/main" id="{9FA38C83-B45E-5A06-FB10-1F9F3EB43B7E}"/>
                  </a:ext>
                </a:extLst>
              </p:cNvPr>
              <p:cNvCxnSpPr>
                <a:stCxn id="20528" idx="4"/>
                <a:endCxn id="20530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7" name="Conector de seta reta 185">
                <a:extLst>
                  <a:ext uri="{FF2B5EF4-FFF2-40B4-BE49-F238E27FC236}">
                    <a16:creationId xmlns:a16="http://schemas.microsoft.com/office/drawing/2014/main" id="{C1967155-9145-927C-FC5C-825C829181A5}"/>
                  </a:ext>
                </a:extLst>
              </p:cNvPr>
              <p:cNvCxnSpPr>
                <a:stCxn id="20528" idx="4"/>
                <a:endCxn id="20531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grpSp>
          <p:nvGrpSpPr>
            <p:cNvPr id="20491" name="Grupo 188">
              <a:extLst>
                <a:ext uri="{FF2B5EF4-FFF2-40B4-BE49-F238E27FC236}">
                  <a16:creationId xmlns:a16="http://schemas.microsoft.com/office/drawing/2014/main" id="{4A3C3887-6914-C678-04E8-F3574C53252F}"/>
                </a:ext>
              </a:extLst>
            </p:cNvPr>
            <p:cNvGrpSpPr/>
            <p:nvPr/>
          </p:nvGrpSpPr>
          <p:grpSpPr>
            <a:xfrm>
              <a:off x="3202101" y="4132212"/>
              <a:ext cx="433795" cy="546607"/>
              <a:chOff x="3419872" y="2852936"/>
              <a:chExt cx="433795" cy="546607"/>
            </a:xfrm>
          </p:grpSpPr>
          <p:sp>
            <p:nvSpPr>
              <p:cNvPr id="20514" name="Elipse 20513">
                <a:extLst>
                  <a:ext uri="{FF2B5EF4-FFF2-40B4-BE49-F238E27FC236}">
                    <a16:creationId xmlns:a16="http://schemas.microsoft.com/office/drawing/2014/main" id="{AD27A0A2-9A9C-B9B9-7DD6-D4B50DD1A7C7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15" name="Elipse 20514">
                <a:extLst>
                  <a:ext uri="{FF2B5EF4-FFF2-40B4-BE49-F238E27FC236}">
                    <a16:creationId xmlns:a16="http://schemas.microsoft.com/office/drawing/2014/main" id="{576AB708-832A-C103-1B74-CEEC7FDE691E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16" name="Elipse 20515">
                <a:extLst>
                  <a:ext uri="{FF2B5EF4-FFF2-40B4-BE49-F238E27FC236}">
                    <a16:creationId xmlns:a16="http://schemas.microsoft.com/office/drawing/2014/main" id="{5017FD2D-C8BD-1E36-823A-ADAD20BF0299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17" name="Elipse 20516">
                <a:extLst>
                  <a:ext uri="{FF2B5EF4-FFF2-40B4-BE49-F238E27FC236}">
                    <a16:creationId xmlns:a16="http://schemas.microsoft.com/office/drawing/2014/main" id="{8036D29D-F44F-524A-A26C-F087C707C5AE}"/>
                  </a:ext>
                </a:extLst>
              </p:cNvPr>
              <p:cNvSpPr/>
              <p:nvPr/>
            </p:nvSpPr>
            <p:spPr bwMode="auto">
              <a:xfrm>
                <a:off x="3566629" y="3327535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18" name="Elipse 20517">
                <a:extLst>
                  <a:ext uri="{FF2B5EF4-FFF2-40B4-BE49-F238E27FC236}">
                    <a16:creationId xmlns:a16="http://schemas.microsoft.com/office/drawing/2014/main" id="{37A5218B-6B1B-9BE3-70AE-F868C0D9B7A7}"/>
                  </a:ext>
                </a:extLst>
              </p:cNvPr>
              <p:cNvSpPr/>
              <p:nvPr/>
            </p:nvSpPr>
            <p:spPr bwMode="auto">
              <a:xfrm>
                <a:off x="3710645" y="3327535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19" name="Elipse 20518">
                <a:extLst>
                  <a:ext uri="{FF2B5EF4-FFF2-40B4-BE49-F238E27FC236}">
                    <a16:creationId xmlns:a16="http://schemas.microsoft.com/office/drawing/2014/main" id="{40A101F0-24D9-2912-CB3D-39B187746E8F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20" name="Elipse 20519">
                <a:extLst>
                  <a:ext uri="{FF2B5EF4-FFF2-40B4-BE49-F238E27FC236}">
                    <a16:creationId xmlns:a16="http://schemas.microsoft.com/office/drawing/2014/main" id="{25DD79EB-6513-C4DF-3B85-9DB29BDBED82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20521" name="Conector de seta reta 196">
                <a:extLst>
                  <a:ext uri="{FF2B5EF4-FFF2-40B4-BE49-F238E27FC236}">
                    <a16:creationId xmlns:a16="http://schemas.microsoft.com/office/drawing/2014/main" id="{7A881630-C7CE-F6F8-6AE9-6AD295E60849}"/>
                  </a:ext>
                </a:extLst>
              </p:cNvPr>
              <p:cNvCxnSpPr>
                <a:stCxn id="20514" idx="4"/>
                <a:endCxn id="20515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22" name="Conector de seta reta 197">
                <a:extLst>
                  <a:ext uri="{FF2B5EF4-FFF2-40B4-BE49-F238E27FC236}">
                    <a16:creationId xmlns:a16="http://schemas.microsoft.com/office/drawing/2014/main" id="{D754B7B4-97E2-5A89-9C8E-5B3DA71800FB}"/>
                  </a:ext>
                </a:extLst>
              </p:cNvPr>
              <p:cNvCxnSpPr>
                <a:stCxn id="20514" idx="4"/>
                <a:endCxn id="20516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23" name="Conector de seta reta 198">
                <a:extLst>
                  <a:ext uri="{FF2B5EF4-FFF2-40B4-BE49-F238E27FC236}">
                    <a16:creationId xmlns:a16="http://schemas.microsoft.com/office/drawing/2014/main" id="{6F51BB10-3DD2-D974-5E58-13A39705D5B5}"/>
                  </a:ext>
                </a:extLst>
              </p:cNvPr>
              <p:cNvCxnSpPr>
                <a:cxnSpLocks/>
                <a:endCxn id="20517" idx="0"/>
              </p:cNvCxnSpPr>
              <p:nvPr/>
            </p:nvCxnSpPr>
            <p:spPr bwMode="auto">
              <a:xfrm flipH="1">
                <a:off x="3602633" y="3240787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24" name="Conector de seta reta 199">
                <a:extLst>
                  <a:ext uri="{FF2B5EF4-FFF2-40B4-BE49-F238E27FC236}">
                    <a16:creationId xmlns:a16="http://schemas.microsoft.com/office/drawing/2014/main" id="{905F6172-3042-0BCD-1AAD-EED2FAA8B213}"/>
                  </a:ext>
                </a:extLst>
              </p:cNvPr>
              <p:cNvCxnSpPr>
                <a:cxnSpLocks/>
                <a:endCxn id="20518" idx="0"/>
              </p:cNvCxnSpPr>
              <p:nvPr/>
            </p:nvCxnSpPr>
            <p:spPr bwMode="auto">
              <a:xfrm>
                <a:off x="3674641" y="3240787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25" name="Conector de seta reta 200">
                <a:extLst>
                  <a:ext uri="{FF2B5EF4-FFF2-40B4-BE49-F238E27FC236}">
                    <a16:creationId xmlns:a16="http://schemas.microsoft.com/office/drawing/2014/main" id="{E05C3A35-E89F-5913-22AB-D9E8C46B63E9}"/>
                  </a:ext>
                </a:extLst>
              </p:cNvPr>
              <p:cNvCxnSpPr>
                <a:stCxn id="20516" idx="4"/>
                <a:endCxn id="20519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26" name="Conector de seta reta 201">
                <a:extLst>
                  <a:ext uri="{FF2B5EF4-FFF2-40B4-BE49-F238E27FC236}">
                    <a16:creationId xmlns:a16="http://schemas.microsoft.com/office/drawing/2014/main" id="{41092621-DDFC-BE9B-4376-67D042119070}"/>
                  </a:ext>
                </a:extLst>
              </p:cNvPr>
              <p:cNvCxnSpPr>
                <a:stCxn id="20516" idx="4"/>
                <a:endCxn id="20520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grpSp>
          <p:nvGrpSpPr>
            <p:cNvPr id="20492" name="Grupo 202">
              <a:extLst>
                <a:ext uri="{FF2B5EF4-FFF2-40B4-BE49-F238E27FC236}">
                  <a16:creationId xmlns:a16="http://schemas.microsoft.com/office/drawing/2014/main" id="{C450F4CA-887E-7163-3ED7-69CFAABBB7D3}"/>
                </a:ext>
              </a:extLst>
            </p:cNvPr>
            <p:cNvGrpSpPr/>
            <p:nvPr/>
          </p:nvGrpSpPr>
          <p:grpSpPr>
            <a:xfrm>
              <a:off x="3130093" y="5342443"/>
              <a:ext cx="505803" cy="386718"/>
              <a:chOff x="3347864" y="2852936"/>
              <a:chExt cx="505803" cy="386718"/>
            </a:xfrm>
          </p:grpSpPr>
          <p:sp>
            <p:nvSpPr>
              <p:cNvPr id="20501" name="Elipse 20500">
                <a:extLst>
                  <a:ext uri="{FF2B5EF4-FFF2-40B4-BE49-F238E27FC236}">
                    <a16:creationId xmlns:a16="http://schemas.microsoft.com/office/drawing/2014/main" id="{EFD438F0-7C93-D5A2-D0A4-C87E394F5FDE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2" name="Elipse 20501">
                <a:extLst>
                  <a:ext uri="{FF2B5EF4-FFF2-40B4-BE49-F238E27FC236}">
                    <a16:creationId xmlns:a16="http://schemas.microsoft.com/office/drawing/2014/main" id="{07BD894B-8F34-123D-40C6-CCEBF3D4A3AC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3" name="Elipse 20502">
                <a:extLst>
                  <a:ext uri="{FF2B5EF4-FFF2-40B4-BE49-F238E27FC236}">
                    <a16:creationId xmlns:a16="http://schemas.microsoft.com/office/drawing/2014/main" id="{7B57C5FE-4D7D-36E2-51ED-936D4C8C27EF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4" name="Elipse 20503">
                <a:extLst>
                  <a:ext uri="{FF2B5EF4-FFF2-40B4-BE49-F238E27FC236}">
                    <a16:creationId xmlns:a16="http://schemas.microsoft.com/office/drawing/2014/main" id="{9327F794-6955-C8B4-18C9-8AAEA573CB36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5" name="Elipse 20504">
                <a:extLst>
                  <a:ext uri="{FF2B5EF4-FFF2-40B4-BE49-F238E27FC236}">
                    <a16:creationId xmlns:a16="http://schemas.microsoft.com/office/drawing/2014/main" id="{2418912C-88C0-B971-E685-2B1CD532FF5A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6" name="Elipse 20505">
                <a:extLst>
                  <a:ext uri="{FF2B5EF4-FFF2-40B4-BE49-F238E27FC236}">
                    <a16:creationId xmlns:a16="http://schemas.microsoft.com/office/drawing/2014/main" id="{EA1E11C6-2ACC-8373-018D-F1D9AE653748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7" name="Elipse 20506">
                <a:extLst>
                  <a:ext uri="{FF2B5EF4-FFF2-40B4-BE49-F238E27FC236}">
                    <a16:creationId xmlns:a16="http://schemas.microsoft.com/office/drawing/2014/main" id="{7D0FAB0D-7439-5C50-E38B-E0358AB3F2D1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20508" name="Conector de seta reta 210">
                <a:extLst>
                  <a:ext uri="{FF2B5EF4-FFF2-40B4-BE49-F238E27FC236}">
                    <a16:creationId xmlns:a16="http://schemas.microsoft.com/office/drawing/2014/main" id="{63A77B62-70E6-4BB7-B745-CEF74BEB56E6}"/>
                  </a:ext>
                </a:extLst>
              </p:cNvPr>
              <p:cNvCxnSpPr>
                <a:stCxn id="20501" idx="4"/>
                <a:endCxn id="20502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09" name="Conector de seta reta 211">
                <a:extLst>
                  <a:ext uri="{FF2B5EF4-FFF2-40B4-BE49-F238E27FC236}">
                    <a16:creationId xmlns:a16="http://schemas.microsoft.com/office/drawing/2014/main" id="{E903D065-4FD2-EDC2-C0F9-12C426554CA9}"/>
                  </a:ext>
                </a:extLst>
              </p:cNvPr>
              <p:cNvCxnSpPr>
                <a:stCxn id="20501" idx="4"/>
                <a:endCxn id="20503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10" name="Conector de seta reta 212">
                <a:extLst>
                  <a:ext uri="{FF2B5EF4-FFF2-40B4-BE49-F238E27FC236}">
                    <a16:creationId xmlns:a16="http://schemas.microsoft.com/office/drawing/2014/main" id="{4EB8463B-A675-9FAE-A220-3297235ED9C0}"/>
                  </a:ext>
                </a:extLst>
              </p:cNvPr>
              <p:cNvCxnSpPr>
                <a:stCxn id="20502" idx="4"/>
                <a:endCxn id="20504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11" name="Conector de seta reta 213">
                <a:extLst>
                  <a:ext uri="{FF2B5EF4-FFF2-40B4-BE49-F238E27FC236}">
                    <a16:creationId xmlns:a16="http://schemas.microsoft.com/office/drawing/2014/main" id="{2918C804-F663-B0E5-CE09-85A3E77C71B9}"/>
                  </a:ext>
                </a:extLst>
              </p:cNvPr>
              <p:cNvCxnSpPr>
                <a:stCxn id="20502" idx="4"/>
                <a:endCxn id="20505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12" name="Conector de seta reta 214">
                <a:extLst>
                  <a:ext uri="{FF2B5EF4-FFF2-40B4-BE49-F238E27FC236}">
                    <a16:creationId xmlns:a16="http://schemas.microsoft.com/office/drawing/2014/main" id="{CF81F94C-E635-FA10-FF0A-297CF0637F50}"/>
                  </a:ext>
                </a:extLst>
              </p:cNvPr>
              <p:cNvCxnSpPr>
                <a:stCxn id="20503" idx="4"/>
                <a:endCxn id="20506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13" name="Conector de seta reta 215">
                <a:extLst>
                  <a:ext uri="{FF2B5EF4-FFF2-40B4-BE49-F238E27FC236}">
                    <a16:creationId xmlns:a16="http://schemas.microsoft.com/office/drawing/2014/main" id="{2F47426A-FE6E-7429-2611-E5C95612AA90}"/>
                  </a:ext>
                </a:extLst>
              </p:cNvPr>
              <p:cNvCxnSpPr>
                <a:stCxn id="20503" idx="4"/>
                <a:endCxn id="20507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cxnSp>
          <p:nvCxnSpPr>
            <p:cNvPr id="20493" name="Conector de seta reta 217">
              <a:extLst>
                <a:ext uri="{FF2B5EF4-FFF2-40B4-BE49-F238E27FC236}">
                  <a16:creationId xmlns:a16="http://schemas.microsoft.com/office/drawing/2014/main" id="{E9DD0069-3E42-83B0-416D-A6140A0EDF47}"/>
                </a:ext>
              </a:extLst>
            </p:cNvPr>
            <p:cNvCxnSpPr/>
            <p:nvPr/>
          </p:nvCxnSpPr>
          <p:spPr bwMode="auto">
            <a:xfrm>
              <a:off x="2716484" y="2680982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494" name="Conector de seta reta 218">
              <a:extLst>
                <a:ext uri="{FF2B5EF4-FFF2-40B4-BE49-F238E27FC236}">
                  <a16:creationId xmlns:a16="http://schemas.microsoft.com/office/drawing/2014/main" id="{520B6883-A6F0-4C24-BE6F-3F607D6CB099}"/>
                </a:ext>
              </a:extLst>
            </p:cNvPr>
            <p:cNvCxnSpPr/>
            <p:nvPr/>
          </p:nvCxnSpPr>
          <p:spPr bwMode="auto">
            <a:xfrm>
              <a:off x="2716484" y="3521268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495" name="Conector de seta reta 219">
              <a:extLst>
                <a:ext uri="{FF2B5EF4-FFF2-40B4-BE49-F238E27FC236}">
                  <a16:creationId xmlns:a16="http://schemas.microsoft.com/office/drawing/2014/main" id="{38629925-D304-2BD7-6BB7-F36E45F98600}"/>
                </a:ext>
              </a:extLst>
            </p:cNvPr>
            <p:cNvCxnSpPr/>
            <p:nvPr/>
          </p:nvCxnSpPr>
          <p:spPr bwMode="auto">
            <a:xfrm>
              <a:off x="2716484" y="4325571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496" name="Conector de seta reta 220">
              <a:extLst>
                <a:ext uri="{FF2B5EF4-FFF2-40B4-BE49-F238E27FC236}">
                  <a16:creationId xmlns:a16="http://schemas.microsoft.com/office/drawing/2014/main" id="{7CE84A72-9F23-4328-B5B1-1B36F48D56E8}"/>
                </a:ext>
              </a:extLst>
            </p:cNvPr>
            <p:cNvCxnSpPr/>
            <p:nvPr/>
          </p:nvCxnSpPr>
          <p:spPr bwMode="auto">
            <a:xfrm>
              <a:off x="2716484" y="5535802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0497" name="CaixaDeTexto 20496">
              <a:extLst>
                <a:ext uri="{FF2B5EF4-FFF2-40B4-BE49-F238E27FC236}">
                  <a16:creationId xmlns:a16="http://schemas.microsoft.com/office/drawing/2014/main" id="{91E951DC-639A-F141-5A7E-DC80C5357963}"/>
                </a:ext>
              </a:extLst>
            </p:cNvPr>
            <p:cNvSpPr txBox="1"/>
            <p:nvPr/>
          </p:nvSpPr>
          <p:spPr>
            <a:xfrm>
              <a:off x="3743463" y="2542483"/>
              <a:ext cx="3337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A</a:t>
              </a:r>
              <a:r>
                <a:rPr lang="pt-BR" baseline="-25000" dirty="0">
                  <a:latin typeface="Tahoma" panose="020B0604030504040204" pitchFamily="34" charset="0"/>
                </a:rPr>
                <a:t>1</a:t>
              </a:r>
            </a:p>
          </p:txBody>
        </p:sp>
        <p:sp>
          <p:nvSpPr>
            <p:cNvPr id="20498" name="CaixaDeTexto 20497">
              <a:extLst>
                <a:ext uri="{FF2B5EF4-FFF2-40B4-BE49-F238E27FC236}">
                  <a16:creationId xmlns:a16="http://schemas.microsoft.com/office/drawing/2014/main" id="{EDF23158-AC13-9556-7BD6-8BC086945DEA}"/>
                </a:ext>
              </a:extLst>
            </p:cNvPr>
            <p:cNvSpPr txBox="1"/>
            <p:nvPr/>
          </p:nvSpPr>
          <p:spPr>
            <a:xfrm>
              <a:off x="3740258" y="3382769"/>
              <a:ext cx="34015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A</a:t>
              </a:r>
              <a:r>
                <a:rPr lang="pt-BR" baseline="-25000" dirty="0">
                  <a:latin typeface="Tahoma" panose="020B0604030504040204" pitchFamily="34" charset="0"/>
                </a:rPr>
                <a:t>2</a:t>
              </a:r>
            </a:p>
          </p:txBody>
        </p:sp>
        <p:sp>
          <p:nvSpPr>
            <p:cNvPr id="20499" name="CaixaDeTexto 20498">
              <a:extLst>
                <a:ext uri="{FF2B5EF4-FFF2-40B4-BE49-F238E27FC236}">
                  <a16:creationId xmlns:a16="http://schemas.microsoft.com/office/drawing/2014/main" id="{8CA3ED39-4C1F-B6C2-BD66-E60699691B5E}"/>
                </a:ext>
              </a:extLst>
            </p:cNvPr>
            <p:cNvSpPr txBox="1"/>
            <p:nvPr/>
          </p:nvSpPr>
          <p:spPr>
            <a:xfrm>
              <a:off x="3740258" y="4187072"/>
              <a:ext cx="34015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A</a:t>
              </a:r>
              <a:r>
                <a:rPr lang="pt-BR" baseline="-25000" dirty="0">
                  <a:latin typeface="Tahoma" panose="020B0604030504040204" pitchFamily="34" charset="0"/>
                </a:rPr>
                <a:t>3</a:t>
              </a:r>
            </a:p>
          </p:txBody>
        </p:sp>
        <p:sp>
          <p:nvSpPr>
            <p:cNvPr id="20500" name="CaixaDeTexto 20499">
              <a:extLst>
                <a:ext uri="{FF2B5EF4-FFF2-40B4-BE49-F238E27FC236}">
                  <a16:creationId xmlns:a16="http://schemas.microsoft.com/office/drawing/2014/main" id="{0A585F66-5735-E25A-B001-BB9D87309BFE}"/>
                </a:ext>
              </a:extLst>
            </p:cNvPr>
            <p:cNvSpPr txBox="1"/>
            <p:nvPr/>
          </p:nvSpPr>
          <p:spPr>
            <a:xfrm>
              <a:off x="3743464" y="5397303"/>
              <a:ext cx="33374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err="1">
                  <a:latin typeface="Tahoma" panose="020B0604030504040204" pitchFamily="34" charset="0"/>
                </a:rPr>
                <a:t>A</a:t>
              </a:r>
              <a:r>
                <a:rPr lang="pt-BR" baseline="-25000" dirty="0" err="1">
                  <a:latin typeface="Tahoma" panose="020B0604030504040204" pitchFamily="34" charset="0"/>
                </a:rPr>
                <a:t>k</a:t>
              </a:r>
              <a:endParaRPr lang="pt-BR" baseline="-25000" dirty="0">
                <a:latin typeface="Tahoma" panose="020B0604030504040204" pitchFamily="34" charset="0"/>
              </a:endParaRPr>
            </a:p>
          </p:txBody>
        </p:sp>
      </p:grpSp>
      <p:sp>
        <p:nvSpPr>
          <p:cNvPr id="20553" name="Text Box 31">
            <a:extLst>
              <a:ext uri="{FF2B5EF4-FFF2-40B4-BE49-F238E27FC236}">
                <a16:creationId xmlns:a16="http://schemas.microsoft.com/office/drawing/2014/main" id="{ADB5EEE2-0BD7-8B7A-8B24-69550A95C0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3244609"/>
            <a:ext cx="4786786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classificador </a:t>
            </a:r>
            <a:r>
              <a:rPr lang="pt-BR" altLang="pt-BR" sz="1600" i="1" dirty="0">
                <a:latin typeface="Tahoma" panose="020B0604030504040204" pitchFamily="34" charset="0"/>
              </a:rPr>
              <a:t>Random Forest</a:t>
            </a:r>
            <a:r>
              <a:rPr lang="pt-BR" altLang="pt-BR" sz="1600" dirty="0">
                <a:latin typeface="Tahoma" panose="020B0604030504040204" pitchFamily="34" charset="0"/>
              </a:rPr>
              <a:t>, por exemplo, cada árvore de decisão é gerada a partir de uma amostra obtida por </a:t>
            </a:r>
            <a:r>
              <a:rPr lang="pt-BR" altLang="pt-BR" sz="1600" i="1" dirty="0" err="1">
                <a:latin typeface="Tahoma" panose="020B0604030504040204" pitchFamily="34" charset="0"/>
              </a:rPr>
              <a:t>Bootstrap</a:t>
            </a:r>
            <a:r>
              <a:rPr lang="pt-BR" altLang="pt-BR" sz="1600" dirty="0">
                <a:latin typeface="Tahoma" panose="020B0604030504040204" pitchFamily="34" charset="0"/>
              </a:rPr>
              <a:t>. As amostras não sorteadas, chamadas de OOB (</a:t>
            </a:r>
            <a:r>
              <a:rPr lang="pt-BR" altLang="pt-BR" sz="1600" i="1" dirty="0">
                <a:latin typeface="Tahoma" panose="020B0604030504040204" pitchFamily="34" charset="0"/>
              </a:rPr>
              <a:t>Out </a:t>
            </a:r>
            <a:r>
              <a:rPr lang="pt-BR" altLang="pt-BR" sz="1600" i="1" dirty="0" err="1">
                <a:latin typeface="Tahoma" panose="020B0604030504040204" pitchFamily="34" charset="0"/>
              </a:rPr>
              <a:t>of</a:t>
            </a:r>
            <a:r>
              <a:rPr lang="pt-BR" altLang="pt-BR" sz="1600" i="1" dirty="0">
                <a:latin typeface="Tahoma" panose="020B0604030504040204" pitchFamily="34" charset="0"/>
              </a:rPr>
              <a:t> Bag</a:t>
            </a:r>
            <a:r>
              <a:rPr lang="pt-BR" altLang="pt-BR" sz="1600" dirty="0">
                <a:latin typeface="Tahoma" panose="020B0604030504040204" pitchFamily="34" charset="0"/>
              </a:rPr>
              <a:t>), são utilizadas para avaliar o desempenho desse classificador de modo independente pois não foram efetivamente usadas na construção de cada árvore. Todo esse processo é denominado 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Bagging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i="1" dirty="0" err="1">
                <a:latin typeface="Tahoma" panose="020B0604030504040204" pitchFamily="34" charset="0"/>
              </a:rPr>
              <a:t>Bootstrap</a:t>
            </a:r>
            <a:r>
              <a:rPr lang="pt-BR" altLang="pt-BR" sz="1600" i="1" dirty="0">
                <a:latin typeface="Tahoma" panose="020B0604030504040204" pitchFamily="34" charset="0"/>
              </a:rPr>
              <a:t> </a:t>
            </a:r>
            <a:r>
              <a:rPr lang="pt-BR" altLang="pt-BR" sz="1600" i="1" dirty="0" err="1">
                <a:latin typeface="Tahoma" panose="020B0604030504040204" pitchFamily="34" charset="0"/>
              </a:rPr>
              <a:t>Aggregating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0558" name="Text Box 31">
            <a:extLst>
              <a:ext uri="{FF2B5EF4-FFF2-40B4-BE49-F238E27FC236}">
                <a16:creationId xmlns:a16="http://schemas.microsoft.com/office/drawing/2014/main" id="{41EBFBC7-425C-A25E-0739-F3DB0833D4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5877272"/>
            <a:ext cx="4786786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objetivo principal é reduzir a influência de dados espúrios (</a:t>
            </a:r>
            <a:r>
              <a:rPr lang="pt-BR" altLang="pt-BR" sz="1600" i="1" dirty="0">
                <a:latin typeface="Tahoma" panose="020B0604030504040204" pitchFamily="34" charset="0"/>
              </a:rPr>
              <a:t>outliers</a:t>
            </a:r>
            <a:r>
              <a:rPr lang="pt-BR" altLang="pt-BR" sz="1600" dirty="0">
                <a:latin typeface="Tahoma" panose="020B0604030504040204" pitchFamily="34" charset="0"/>
              </a:rPr>
              <a:t>) e aumentar a estabilidade (diminuir a variância)</a:t>
            </a:r>
          </a:p>
        </p:txBody>
      </p:sp>
    </p:spTree>
    <p:extLst>
      <p:ext uri="{BB962C8B-B14F-4D97-AF65-F5344CB8AC3E}">
        <p14:creationId xmlns:p14="http://schemas.microsoft.com/office/powerpoint/2010/main" val="1587012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553" grpId="0"/>
      <p:bldP spid="2055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Testes de </a:t>
            </a:r>
            <a:r>
              <a:rPr lang="pt-BR" dirty="0" err="1"/>
              <a:t>Aleatorização</a:t>
            </a:r>
            <a:endParaRPr lang="pt-BR" dirty="0"/>
          </a:p>
        </p:txBody>
      </p:sp>
      <p:sp>
        <p:nvSpPr>
          <p:cNvPr id="6147" name="Text Box 31"/>
          <p:cNvSpPr txBox="1">
            <a:spLocks noChangeArrowheads="1"/>
          </p:cNvSpPr>
          <p:nvPr/>
        </p:nvSpPr>
        <p:spPr bwMode="auto">
          <a:xfrm>
            <a:off x="304800" y="1340768"/>
            <a:ext cx="8458200" cy="5262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Testes de </a:t>
            </a:r>
            <a:r>
              <a:rPr lang="pt-BR" altLang="pt-BR" sz="1600" dirty="0" err="1">
                <a:latin typeface="Tahoma" panose="020B0604030504040204" pitchFamily="34" charset="0"/>
              </a:rPr>
              <a:t>aleatorização</a:t>
            </a:r>
            <a:r>
              <a:rPr lang="pt-BR" altLang="pt-BR" sz="1600" dirty="0">
                <a:latin typeface="Tahoma" panose="020B0604030504040204" pitchFamily="34" charset="0"/>
              </a:rPr>
              <a:t> (ou testes de permutação ou testes exatos) são típicos testes de significância onde a distribuição da estatística testada é obtida calculando-se todos os possíveis valores desta estatística rearranjando-se os valores da amostra considerando uma hipótese nula verdadeira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aplicação típica é quando se deseja comparar dados pareados para avaliar se a diferença entre eles é significativamente grande para justificar que são, de fato, diferentes (por exemplo, pode-se verificar se uma determinada característica mudou de uma data para outra)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Outra aplicação é, num mapa de </a:t>
            </a:r>
            <a:r>
              <a:rPr lang="pt-BR" altLang="pt-BR" sz="1600" i="1" dirty="0" err="1">
                <a:latin typeface="Tahoma" panose="020B0604030504040204" pitchFamily="34" charset="0"/>
              </a:rPr>
              <a:t>Kernel</a:t>
            </a:r>
            <a:r>
              <a:rPr lang="pt-BR" altLang="pt-BR" sz="1600" dirty="0">
                <a:latin typeface="Tahoma" panose="020B0604030504040204" pitchFamily="34" charset="0"/>
              </a:rPr>
              <a:t>, identificar se em certas regiões há mesmo uma tendência de valores altos ou baixos, ou se o que se observa pode ter sido obtido casualmente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Nem sempre todos os rearranjos das amostras podem ser avaliados quando a amostragem é muito grande. Nesse caso, faz-se uma simulação de modo a testar o maior número possível de rearranjos (quanto maior o número de simulações melhor!)</a:t>
            </a:r>
          </a:p>
        </p:txBody>
      </p:sp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9761CCF5-3422-4EA3-CC8B-34C511157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40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70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Testes de </a:t>
            </a:r>
            <a:r>
              <a:rPr lang="pt-BR" dirty="0" err="1"/>
              <a:t>Aleatorização</a:t>
            </a:r>
            <a:r>
              <a:rPr lang="pt-BR" dirty="0"/>
              <a:t> - Exemplo</a:t>
            </a:r>
          </a:p>
        </p:txBody>
      </p:sp>
      <p:sp>
        <p:nvSpPr>
          <p:cNvPr id="6147" name="Text Box 31"/>
          <p:cNvSpPr txBox="1">
            <a:spLocks noChangeArrowheads="1"/>
          </p:cNvSpPr>
          <p:nvPr/>
        </p:nvSpPr>
        <p:spPr bwMode="auto">
          <a:xfrm>
            <a:off x="539750" y="1362254"/>
            <a:ext cx="82804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determinada característica foi medida 8 vezes em duas datas distintas</a:t>
            </a:r>
          </a:p>
        </p:txBody>
      </p:sp>
      <p:sp>
        <p:nvSpPr>
          <p:cNvPr id="8" name="Retângulo 7"/>
          <p:cNvSpPr>
            <a:spLocks noChangeArrowheads="1"/>
          </p:cNvSpPr>
          <p:nvPr/>
        </p:nvSpPr>
        <p:spPr bwMode="auto">
          <a:xfrm>
            <a:off x="4643438" y="2415991"/>
            <a:ext cx="4393058" cy="33547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 err="1">
                <a:latin typeface="Tahoma" panose="020B0604030504040204" pitchFamily="34" charset="0"/>
              </a:rPr>
              <a:t>Dif</a:t>
            </a:r>
            <a:r>
              <a:rPr lang="pt-BR" altLang="pt-BR" sz="1600" dirty="0">
                <a:latin typeface="Tahoma" panose="020B0604030504040204" pitchFamily="34" charset="0"/>
              </a:rPr>
              <a:t> média = </a:t>
            </a:r>
            <a:r>
              <a:rPr lang="pt-BR" altLang="pt-BR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0,6375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Qual valor esperado caso não houvesse diferença entre os valores medidos  nas duas datas (</a:t>
            </a:r>
            <a:r>
              <a:rPr lang="pt-BR" alt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</a:rPr>
              <a:t>)?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	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zero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Quão raro seria encontrar a média </a:t>
            </a:r>
            <a:r>
              <a:rPr lang="pt-BR" altLang="pt-BR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0,6375</a:t>
            </a:r>
            <a:r>
              <a:rPr lang="pt-BR" altLang="pt-BR" sz="1400" dirty="0">
                <a:latin typeface="Tahoma" panose="020B0604030504040204" pitchFamily="34" charset="0"/>
              </a:rPr>
              <a:t> nesse caso? Ou seja, qual o valor-P associado a esta estatística?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Solução: calcular todos os valores possíveis de diferença média quando trocamos ou não os valores entre as 2 abordagens para cada amostra. Com isso, obtém-se a distribuição amostral desta estatística.</a:t>
            </a:r>
          </a:p>
        </p:txBody>
      </p:sp>
      <p:grpSp>
        <p:nvGrpSpPr>
          <p:cNvPr id="12" name="Grupo 11"/>
          <p:cNvGrpSpPr/>
          <p:nvPr/>
        </p:nvGrpSpPr>
        <p:grpSpPr>
          <a:xfrm>
            <a:off x="6578477" y="2204864"/>
            <a:ext cx="2056174" cy="523220"/>
            <a:chOff x="6578477" y="2641809"/>
            <a:chExt cx="2056174" cy="523220"/>
          </a:xfrm>
        </p:grpSpPr>
        <p:sp>
          <p:nvSpPr>
            <p:cNvPr id="6" name="Retângulo 5"/>
            <p:cNvSpPr/>
            <p:nvPr/>
          </p:nvSpPr>
          <p:spPr>
            <a:xfrm>
              <a:off x="7137125" y="2641809"/>
              <a:ext cx="149752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l"/>
              <a:r>
                <a:rPr lang="pt-BR" sz="1400" dirty="0">
                  <a:latin typeface="Tahoma" panose="020B0604030504040204" pitchFamily="34" charset="0"/>
                </a:rPr>
                <a:t>estatística usada</a:t>
              </a:r>
            </a:p>
            <a:p>
              <a:r>
                <a:rPr lang="pt-BR" sz="1400" dirty="0">
                  <a:latin typeface="Tahoma" panose="020B0604030504040204" pitchFamily="34" charset="0"/>
                </a:rPr>
                <a:t>no teste t</a:t>
              </a:r>
            </a:p>
          </p:txBody>
        </p:sp>
        <p:cxnSp>
          <p:nvCxnSpPr>
            <p:cNvPr id="11" name="Conector de seta reta 10"/>
            <p:cNvCxnSpPr/>
            <p:nvPr/>
          </p:nvCxnSpPr>
          <p:spPr bwMode="auto">
            <a:xfrm flipH="1">
              <a:off x="6578477" y="2930715"/>
              <a:ext cx="648072" cy="6713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</p:grpSp>
      <p:sp>
        <p:nvSpPr>
          <p:cNvPr id="13" name="Text Box 31"/>
          <p:cNvSpPr txBox="1">
            <a:spLocks noChangeArrowheads="1"/>
          </p:cNvSpPr>
          <p:nvPr/>
        </p:nvSpPr>
        <p:spPr bwMode="auto">
          <a:xfrm>
            <a:off x="539750" y="1747695"/>
            <a:ext cx="820871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Há evidências de que o valor dessa característica aumentou?</a:t>
            </a:r>
          </a:p>
        </p:txBody>
      </p:sp>
      <p:grpSp>
        <p:nvGrpSpPr>
          <p:cNvPr id="9" name="Grupo 8"/>
          <p:cNvGrpSpPr/>
          <p:nvPr/>
        </p:nvGrpSpPr>
        <p:grpSpPr>
          <a:xfrm>
            <a:off x="1762365" y="4527229"/>
            <a:ext cx="1417880" cy="720080"/>
            <a:chOff x="2031462" y="5138672"/>
            <a:chExt cx="1417880" cy="720080"/>
          </a:xfrm>
        </p:grpSpPr>
        <p:sp>
          <p:nvSpPr>
            <p:cNvPr id="4" name="Retângulo 3"/>
            <p:cNvSpPr/>
            <p:nvPr/>
          </p:nvSpPr>
          <p:spPr bwMode="auto">
            <a:xfrm>
              <a:off x="2031462" y="5157192"/>
              <a:ext cx="487610" cy="288032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" name="Retângulo 13"/>
            <p:cNvSpPr/>
            <p:nvPr/>
          </p:nvSpPr>
          <p:spPr bwMode="auto">
            <a:xfrm>
              <a:off x="2961732" y="5157192"/>
              <a:ext cx="487610" cy="288032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" name="Arco 4"/>
            <p:cNvSpPr/>
            <p:nvPr/>
          </p:nvSpPr>
          <p:spPr bwMode="auto">
            <a:xfrm flipV="1">
              <a:off x="2242342" y="5138672"/>
              <a:ext cx="1008000" cy="720080"/>
            </a:xfrm>
            <a:prstGeom prst="arc">
              <a:avLst>
                <a:gd name="adj1" fmla="val 10828693"/>
                <a:gd name="adj2" fmla="val 0"/>
              </a:avLst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16" name="Retângulo 15"/>
          <p:cNvSpPr/>
          <p:nvPr/>
        </p:nvSpPr>
        <p:spPr>
          <a:xfrm>
            <a:off x="1012341" y="5344393"/>
            <a:ext cx="295252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Se </a:t>
            </a:r>
            <a:r>
              <a:rPr lang="pt-BR" alt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é verdadeiro, então poderia trocar os valores entre os dois grupos</a:t>
            </a:r>
          </a:p>
        </p:txBody>
      </p:sp>
      <p:graphicFrame>
        <p:nvGraphicFramePr>
          <p:cNvPr id="19" name="Tabela 18"/>
          <p:cNvGraphicFramePr>
            <a:graphicFrameLocks noGrp="1"/>
          </p:cNvGraphicFramePr>
          <p:nvPr/>
        </p:nvGraphicFramePr>
        <p:xfrm>
          <a:off x="611560" y="2348880"/>
          <a:ext cx="2794316" cy="2724150"/>
        </p:xfrm>
        <a:graphic>
          <a:graphicData uri="http://schemas.openxmlformats.org/drawingml/2006/table">
            <a:tbl>
              <a:tblPr/>
              <a:tblGrid>
                <a:gridCol w="929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7650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Amostra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Valor medido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antes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depois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média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1" name="Tabela 20"/>
          <p:cNvGraphicFramePr>
            <a:graphicFrameLocks noGrp="1"/>
          </p:cNvGraphicFramePr>
          <p:nvPr/>
        </p:nvGraphicFramePr>
        <p:xfrm>
          <a:off x="3405876" y="2348880"/>
          <a:ext cx="571183" cy="2724150"/>
        </p:xfrm>
        <a:graphic>
          <a:graphicData uri="http://schemas.openxmlformats.org/drawingml/2006/table">
            <a:tbl>
              <a:tblPr/>
              <a:tblGrid>
                <a:gridCol w="5711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Dif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</a:p>
                  </a:txBody>
                  <a:tcPr marL="114300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0,6375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73BF277C-9432-CFDF-7A9E-5FE5A3CA8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41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9541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1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Testes de </a:t>
            </a:r>
            <a:r>
              <a:rPr lang="pt-BR" dirty="0" err="1"/>
              <a:t>Aleatorização</a:t>
            </a:r>
            <a:r>
              <a:rPr lang="pt-BR" dirty="0"/>
              <a:t> - Exemplo</a:t>
            </a:r>
          </a:p>
        </p:txBody>
      </p:sp>
      <p:sp>
        <p:nvSpPr>
          <p:cNvPr id="6" name="Text Box 11"/>
          <p:cNvSpPr txBox="1">
            <a:spLocks noChangeArrowheads="1"/>
          </p:cNvSpPr>
          <p:nvPr/>
        </p:nvSpPr>
        <p:spPr bwMode="auto">
          <a:xfrm>
            <a:off x="5508625" y="6610350"/>
            <a:ext cx="316865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</a:rPr>
              <a:t>(ver </a:t>
            </a:r>
            <a:r>
              <a:rPr lang="pt-BR" altLang="pt-BR" sz="1100" dirty="0" err="1">
                <a:latin typeface="Tahoma" panose="020B0604030504040204" pitchFamily="34" charset="0"/>
              </a:rPr>
              <a:t>Aleatorização</a:t>
            </a:r>
            <a:r>
              <a:rPr lang="pt-BR" altLang="pt-BR" sz="1100" dirty="0">
                <a:latin typeface="Tahoma" panose="020B0604030504040204" pitchFamily="34" charset="0"/>
              </a:rPr>
              <a:t> em Reamostragem.xls)</a:t>
            </a:r>
          </a:p>
        </p:txBody>
      </p:sp>
      <p:sp>
        <p:nvSpPr>
          <p:cNvPr id="7231" name="Text Box 31"/>
          <p:cNvSpPr txBox="1">
            <a:spLocks noChangeArrowheads="1"/>
          </p:cNvSpPr>
          <p:nvPr/>
        </p:nvSpPr>
        <p:spPr bwMode="auto">
          <a:xfrm>
            <a:off x="395288" y="1484784"/>
            <a:ext cx="836771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: não há diferença entre o valor medido antes e depois (</a:t>
            </a:r>
            <a:r>
              <a:rPr lang="pt-BR" altLang="pt-BR" sz="1600" dirty="0" err="1">
                <a:latin typeface="Tahoma" panose="020B0604030504040204" pitchFamily="34" charset="0"/>
              </a:rPr>
              <a:t>Dif</a:t>
            </a:r>
            <a:r>
              <a:rPr lang="pt-BR" altLang="pt-BR" sz="1600" dirty="0">
                <a:latin typeface="Tahoma" panose="020B0604030504040204" pitchFamily="34" charset="0"/>
              </a:rPr>
              <a:t> média 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: o valor medido depois é maior (</a:t>
            </a:r>
            <a:r>
              <a:rPr lang="pt-BR" altLang="pt-BR" sz="1600" dirty="0" err="1">
                <a:latin typeface="Tahoma" panose="020B0604030504040204" pitchFamily="34" charset="0"/>
              </a:rPr>
              <a:t>Dif</a:t>
            </a:r>
            <a:r>
              <a:rPr lang="pt-BR" altLang="pt-BR" sz="1600" dirty="0">
                <a:latin typeface="Tahoma" panose="020B0604030504040204" pitchFamily="34" charset="0"/>
              </a:rPr>
              <a:t> média &gt; 0)</a:t>
            </a:r>
          </a:p>
        </p:txBody>
      </p:sp>
      <p:sp>
        <p:nvSpPr>
          <p:cNvPr id="3" name="CaixaDeTexto 2"/>
          <p:cNvSpPr txBox="1">
            <a:spLocks noChangeArrowheads="1"/>
          </p:cNvSpPr>
          <p:nvPr/>
        </p:nvSpPr>
        <p:spPr bwMode="auto">
          <a:xfrm>
            <a:off x="3819692" y="4495378"/>
            <a:ext cx="42511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b="1" dirty="0">
                <a:latin typeface="Tahoma" panose="020B0604030504040204" pitchFamily="34" charset="0"/>
              </a:rPr>
              <a:t>...</a:t>
            </a:r>
          </a:p>
        </p:txBody>
      </p:sp>
      <p:sp>
        <p:nvSpPr>
          <p:cNvPr id="13" name="CaixaDeTexto 12"/>
          <p:cNvSpPr txBox="1">
            <a:spLocks noChangeArrowheads="1"/>
          </p:cNvSpPr>
          <p:nvPr/>
        </p:nvSpPr>
        <p:spPr bwMode="auto">
          <a:xfrm>
            <a:off x="4941261" y="4495378"/>
            <a:ext cx="42511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b="1" dirty="0">
                <a:latin typeface="Tahoma" panose="020B0604030504040204" pitchFamily="34" charset="0"/>
              </a:rPr>
              <a:t>...</a:t>
            </a:r>
          </a:p>
        </p:txBody>
      </p:sp>
      <p:sp>
        <p:nvSpPr>
          <p:cNvPr id="15" name="Text Box 31"/>
          <p:cNvSpPr txBox="1">
            <a:spLocks noChangeArrowheads="1"/>
          </p:cNvSpPr>
          <p:nvPr/>
        </p:nvSpPr>
        <p:spPr bwMode="auto">
          <a:xfrm>
            <a:off x="395288" y="2195141"/>
            <a:ext cx="8353425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 haverá 2</a:t>
            </a:r>
            <a:r>
              <a:rPr lang="pt-BR" altLang="pt-BR" sz="1600" baseline="30000" dirty="0">
                <a:latin typeface="Tahoma" panose="020B0604030504040204" pitchFamily="34" charset="0"/>
              </a:rPr>
              <a:t>8</a:t>
            </a:r>
            <a:r>
              <a:rPr lang="pt-BR" altLang="pt-BR" sz="1600" dirty="0">
                <a:latin typeface="Tahoma" panose="020B0604030504040204" pitchFamily="34" charset="0"/>
              </a:rPr>
              <a:t> possibilidades de trocas, gerando 256 resultados diferentes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395536" y="3133303"/>
          <a:ext cx="3365499" cy="2724150"/>
        </p:xfrm>
        <a:graphic>
          <a:graphicData uri="http://schemas.openxmlformats.org/drawingml/2006/table">
            <a:tbl>
              <a:tblPr/>
              <a:tblGrid>
                <a:gridCol w="929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11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Amostra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Valor medido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l" rtl="0" fontAlgn="ctr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Dif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</a:p>
                  </a:txBody>
                  <a:tcPr marL="114300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antes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depois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média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0,7625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6" name="Tabela 15"/>
          <p:cNvGraphicFramePr>
            <a:graphicFrameLocks noGrp="1"/>
          </p:cNvGraphicFramePr>
          <p:nvPr/>
        </p:nvGraphicFramePr>
        <p:xfrm>
          <a:off x="5441703" y="3183934"/>
          <a:ext cx="3365499" cy="2724150"/>
        </p:xfrm>
        <a:graphic>
          <a:graphicData uri="http://schemas.openxmlformats.org/drawingml/2006/table">
            <a:tbl>
              <a:tblPr/>
              <a:tblGrid>
                <a:gridCol w="929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11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Amostra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Valor medido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l" rtl="0" fontAlgn="ctr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Dif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</a:p>
                  </a:txBody>
                  <a:tcPr marL="114300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antes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depois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-1,0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-1,9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média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-0,7625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7" name="Tabela 16"/>
          <p:cNvGraphicFramePr>
            <a:graphicFrameLocks noGrp="1"/>
          </p:cNvGraphicFramePr>
          <p:nvPr/>
        </p:nvGraphicFramePr>
        <p:xfrm>
          <a:off x="4294752" y="3133303"/>
          <a:ext cx="571183" cy="2724150"/>
        </p:xfrm>
        <a:graphic>
          <a:graphicData uri="http://schemas.openxmlformats.org/drawingml/2006/table">
            <a:tbl>
              <a:tblPr/>
              <a:tblGrid>
                <a:gridCol w="5711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Dif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</a:p>
                  </a:txBody>
                  <a:tcPr marL="114300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0,6375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Espaço Reservado para Número de Slide 1">
            <a:extLst>
              <a:ext uri="{FF2B5EF4-FFF2-40B4-BE49-F238E27FC236}">
                <a16:creationId xmlns:a16="http://schemas.microsoft.com/office/drawing/2014/main" id="{1245E535-9BBE-F7E7-032E-357112D52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42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3102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  <p:bldP spid="13" grpId="0"/>
      <p:bldP spid="1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4766" y="3027509"/>
            <a:ext cx="4819722" cy="2894400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Testes de </a:t>
            </a:r>
            <a:r>
              <a:rPr lang="pt-BR" dirty="0" err="1"/>
              <a:t>Aleatorização</a:t>
            </a:r>
            <a:r>
              <a:rPr lang="pt-BR" dirty="0"/>
              <a:t> - Exemplo</a:t>
            </a:r>
          </a:p>
        </p:txBody>
      </p:sp>
      <p:sp>
        <p:nvSpPr>
          <p:cNvPr id="14" name="Retângulo 13"/>
          <p:cNvSpPr>
            <a:spLocks noChangeArrowheads="1"/>
          </p:cNvSpPr>
          <p:nvPr/>
        </p:nvSpPr>
        <p:spPr bwMode="auto">
          <a:xfrm>
            <a:off x="1258888" y="5949280"/>
            <a:ext cx="587693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Valor-P = P(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Dif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média 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verdadeiro  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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Dif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média observada) = </a:t>
            </a:r>
            <a:r>
              <a:rPr lang="pt-BR" altLang="pt-BR" sz="1400" dirty="0">
                <a:solidFill>
                  <a:srgbClr val="00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3,13%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" name="Retângulo 15"/>
          <p:cNvSpPr/>
          <p:nvPr/>
        </p:nvSpPr>
        <p:spPr>
          <a:xfrm>
            <a:off x="323529" y="6309320"/>
            <a:ext cx="76882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7800" indent="-177800" algn="l">
              <a:defRPr/>
            </a:pPr>
            <a:r>
              <a:rPr 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Conclusão:</a:t>
            </a:r>
            <a:r>
              <a:rPr 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rejeita-se </a:t>
            </a:r>
            <a:r>
              <a:rPr lang="pt-BR" alt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a 5% de significância, ou seja, há evidências de que o valor, em média, aumenta na última medição</a:t>
            </a:r>
            <a:endParaRPr lang="pt-BR" sz="1050" dirty="0">
              <a:latin typeface="Tahoma" panose="020B0604030504040204" pitchFamily="34" charset="0"/>
            </a:endParaRPr>
          </a:p>
        </p:txBody>
      </p:sp>
      <p:grpSp>
        <p:nvGrpSpPr>
          <p:cNvPr id="51" name="Grupo 50"/>
          <p:cNvGrpSpPr/>
          <p:nvPr/>
        </p:nvGrpSpPr>
        <p:grpSpPr>
          <a:xfrm>
            <a:off x="4934249" y="5000435"/>
            <a:ext cx="3458020" cy="504135"/>
            <a:chOff x="2875071" y="5000435"/>
            <a:chExt cx="3458020" cy="504135"/>
          </a:xfrm>
        </p:grpSpPr>
        <p:grpSp>
          <p:nvGrpSpPr>
            <p:cNvPr id="5" name="Grupo 4"/>
            <p:cNvGrpSpPr/>
            <p:nvPr/>
          </p:nvGrpSpPr>
          <p:grpSpPr>
            <a:xfrm>
              <a:off x="2875071" y="5221399"/>
              <a:ext cx="3080009" cy="74680"/>
              <a:chOff x="2875072" y="5224079"/>
              <a:chExt cx="3422812" cy="72000"/>
            </a:xfrm>
          </p:grpSpPr>
          <p:cxnSp>
            <p:nvCxnSpPr>
              <p:cNvPr id="20" name="Conector de seta reta 19"/>
              <p:cNvCxnSpPr/>
              <p:nvPr/>
            </p:nvCxnSpPr>
            <p:spPr bwMode="auto">
              <a:xfrm flipV="1">
                <a:off x="6297884" y="5224079"/>
                <a:ext cx="0" cy="7200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3" name="Conector de seta reta 22"/>
              <p:cNvCxnSpPr/>
              <p:nvPr/>
            </p:nvCxnSpPr>
            <p:spPr bwMode="auto">
              <a:xfrm rot="16200000" flipV="1">
                <a:off x="4585072" y="3519200"/>
                <a:ext cx="0" cy="342000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9" name="CaixaDeTexto 8"/>
            <p:cNvSpPr txBox="1"/>
            <p:nvPr/>
          </p:nvSpPr>
          <p:spPr>
            <a:xfrm>
              <a:off x="5770116" y="5258349"/>
              <a:ext cx="5629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000" dirty="0">
                  <a:solidFill>
                    <a:srgbClr val="FF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rPr>
                <a:t>0,6375</a:t>
              </a:r>
            </a:p>
          </p:txBody>
        </p:sp>
        <p:sp>
          <p:nvSpPr>
            <p:cNvPr id="25" name="CaixaDeTexto 24"/>
            <p:cNvSpPr txBox="1"/>
            <p:nvPr/>
          </p:nvSpPr>
          <p:spPr>
            <a:xfrm>
              <a:off x="2931588" y="5000435"/>
              <a:ext cx="5357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000" dirty="0">
                  <a:solidFill>
                    <a:srgbClr val="FF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rPr>
                <a:t>3,13%</a:t>
              </a:r>
            </a:p>
          </p:txBody>
        </p:sp>
      </p:grpSp>
      <p:sp>
        <p:nvSpPr>
          <p:cNvPr id="22" name="Text Box 31"/>
          <p:cNvSpPr txBox="1">
            <a:spLocks noChangeArrowheads="1"/>
          </p:cNvSpPr>
          <p:nvPr/>
        </p:nvSpPr>
        <p:spPr bwMode="auto">
          <a:xfrm>
            <a:off x="395288" y="1484784"/>
            <a:ext cx="836771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: não há diferença entre o valor medido antes e depois (</a:t>
            </a:r>
            <a:r>
              <a:rPr lang="pt-BR" altLang="pt-BR" sz="1600" dirty="0" err="1">
                <a:latin typeface="Tahoma" panose="020B0604030504040204" pitchFamily="34" charset="0"/>
              </a:rPr>
              <a:t>Dif</a:t>
            </a:r>
            <a:r>
              <a:rPr lang="pt-BR" altLang="pt-BR" sz="1600" dirty="0">
                <a:latin typeface="Tahoma" panose="020B0604030504040204" pitchFamily="34" charset="0"/>
              </a:rPr>
              <a:t> média 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: o valor medido depois é maior (</a:t>
            </a:r>
            <a:r>
              <a:rPr lang="pt-BR" altLang="pt-BR" sz="1600" dirty="0" err="1">
                <a:latin typeface="Tahoma" panose="020B0604030504040204" pitchFamily="34" charset="0"/>
              </a:rPr>
              <a:t>Dif</a:t>
            </a:r>
            <a:r>
              <a:rPr lang="pt-BR" altLang="pt-BR" sz="1600" dirty="0">
                <a:latin typeface="Tahoma" panose="020B0604030504040204" pitchFamily="34" charset="0"/>
              </a:rPr>
              <a:t> média &gt; 0)</a:t>
            </a:r>
          </a:p>
        </p:txBody>
      </p:sp>
      <p:sp>
        <p:nvSpPr>
          <p:cNvPr id="24" name="Text Box 31"/>
          <p:cNvSpPr txBox="1">
            <a:spLocks noChangeArrowheads="1"/>
          </p:cNvSpPr>
          <p:nvPr/>
        </p:nvSpPr>
        <p:spPr bwMode="auto">
          <a:xfrm>
            <a:off x="395288" y="2195141"/>
            <a:ext cx="8353425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 haverá 2</a:t>
            </a:r>
            <a:r>
              <a:rPr lang="pt-BR" altLang="pt-BR" sz="1600" baseline="30000" dirty="0">
                <a:latin typeface="Tahoma" panose="020B0604030504040204" pitchFamily="34" charset="0"/>
              </a:rPr>
              <a:t>8</a:t>
            </a:r>
            <a:r>
              <a:rPr lang="pt-BR" altLang="pt-BR" sz="1600" dirty="0">
                <a:latin typeface="Tahoma" panose="020B0604030504040204" pitchFamily="34" charset="0"/>
              </a:rPr>
              <a:t> possibilidades de trocas, gerando 256 resultados diferentes</a:t>
            </a:r>
          </a:p>
        </p:txBody>
      </p:sp>
      <p:graphicFrame>
        <p:nvGraphicFramePr>
          <p:cNvPr id="53" name="Tabela 52"/>
          <p:cNvGraphicFramePr>
            <a:graphicFrameLocks noGrp="1"/>
          </p:cNvGraphicFramePr>
          <p:nvPr/>
        </p:nvGraphicFramePr>
        <p:xfrm>
          <a:off x="486421" y="2996952"/>
          <a:ext cx="3365499" cy="2724150"/>
        </p:xfrm>
        <a:graphic>
          <a:graphicData uri="http://schemas.openxmlformats.org/drawingml/2006/table">
            <a:tbl>
              <a:tblPr/>
              <a:tblGrid>
                <a:gridCol w="929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11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Amostra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Valor medido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l" rtl="0" fontAlgn="ctr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Dif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</a:p>
                  </a:txBody>
                  <a:tcPr marL="114300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antes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depois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média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0,6375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Espaço Reservado para Número de Slide 1">
            <a:extLst>
              <a:ext uri="{FF2B5EF4-FFF2-40B4-BE49-F238E27FC236}">
                <a16:creationId xmlns:a16="http://schemas.microsoft.com/office/drawing/2014/main" id="{AE8031D9-B047-F06B-F108-1FE71B845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43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6855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pPr>
              <a:defRPr/>
            </a:pPr>
            <a:r>
              <a:rPr lang="pt-BR" dirty="0"/>
              <a:t>Validação Cruzada</a:t>
            </a:r>
          </a:p>
        </p:txBody>
      </p:sp>
      <p:sp>
        <p:nvSpPr>
          <p:cNvPr id="15363" name="Text Box 31"/>
          <p:cNvSpPr txBox="1">
            <a:spLocks noChangeArrowheads="1"/>
          </p:cNvSpPr>
          <p:nvPr/>
        </p:nvSpPr>
        <p:spPr bwMode="auto">
          <a:xfrm>
            <a:off x="468313" y="1556891"/>
            <a:ext cx="8351837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dito anteriormente, é sempre melhor usar um conjunto de amostras independentes para avaliar/validar os resultados de uma modelagem ou classificação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Tipicamente, na validação cruzada, a amostra é particionada aleatoriamente em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subconjuntos disjuntos (</a:t>
            </a:r>
            <a:r>
              <a:rPr lang="pt-BR" altLang="pt-BR" sz="16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</a:rPr>
              <a:t>-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Folds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valor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é em geral 5 ou 10. Quando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é igual ao número de amostras, então esse 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método é conhecido como Validação Cruzada LOO (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Leave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One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</a:rPr>
              <a:t> Out Cross 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Validation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)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método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i="1" dirty="0">
                <a:latin typeface="Tahoma" panose="020B0604030504040204" pitchFamily="34" charset="0"/>
              </a:rPr>
              <a:t>-</a:t>
            </a:r>
            <a:r>
              <a:rPr lang="pt-BR" altLang="pt-BR" sz="1600" i="1" dirty="0" err="1">
                <a:latin typeface="Tahoma" panose="020B0604030504040204" pitchFamily="34" charset="0"/>
              </a:rPr>
              <a:t>Folds</a:t>
            </a:r>
            <a:r>
              <a:rPr lang="pt-BR" altLang="pt-BR" sz="1600" dirty="0">
                <a:latin typeface="Tahoma" panose="020B0604030504040204" pitchFamily="34" charset="0"/>
              </a:rPr>
              <a:t> consiste em usar cada uma das partições como amostras de validação e as demais como treinamento. Assim consegue-se realizar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validações independentes</a:t>
            </a:r>
          </a:p>
        </p:txBody>
      </p:sp>
      <p:sp>
        <p:nvSpPr>
          <p:cNvPr id="5" name="Text Box 31"/>
          <p:cNvSpPr txBox="1">
            <a:spLocks noChangeArrowheads="1"/>
          </p:cNvSpPr>
          <p:nvPr/>
        </p:nvSpPr>
        <p:spPr bwMode="auto">
          <a:xfrm>
            <a:off x="468313" y="5550331"/>
            <a:ext cx="835183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Em geral, os resultados das validações são sintetizados em uma medida de tendência central (média, mediana, </a:t>
            </a:r>
            <a:r>
              <a:rPr lang="pt-BR" altLang="pt-BR" sz="1600" dirty="0" err="1">
                <a:solidFill>
                  <a:srgbClr val="000000"/>
                </a:solidFill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) ou então através de um intervalo de credibilidade ou um </a:t>
            </a:r>
            <a:r>
              <a:rPr lang="pt-BR" altLang="pt-BR" sz="1600" dirty="0" err="1">
                <a:solidFill>
                  <a:srgbClr val="000000"/>
                </a:solidFill>
                <a:latin typeface="Tahoma" panose="020B0604030504040204" pitchFamily="34" charset="0"/>
              </a:rPr>
              <a:t>boxplot</a:t>
            </a: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grpSp>
        <p:nvGrpSpPr>
          <p:cNvPr id="6" name="Grupo 5"/>
          <p:cNvGrpSpPr/>
          <p:nvPr/>
        </p:nvGrpSpPr>
        <p:grpSpPr>
          <a:xfrm>
            <a:off x="539552" y="4497991"/>
            <a:ext cx="2520280" cy="288032"/>
            <a:chOff x="395536" y="3645024"/>
            <a:chExt cx="2520280" cy="288032"/>
          </a:xfrm>
        </p:grpSpPr>
        <p:sp>
          <p:nvSpPr>
            <p:cNvPr id="4" name="Retângulo 3"/>
            <p:cNvSpPr/>
            <p:nvPr/>
          </p:nvSpPr>
          <p:spPr bwMode="auto">
            <a:xfrm>
              <a:off x="395536" y="3645024"/>
              <a:ext cx="504056" cy="288032"/>
            </a:xfrm>
            <a:prstGeom prst="rect">
              <a:avLst/>
            </a:prstGeom>
            <a:solidFill>
              <a:srgbClr val="FFFF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V</a:t>
              </a:r>
            </a:p>
          </p:txBody>
        </p:sp>
        <p:sp>
          <p:nvSpPr>
            <p:cNvPr id="7" name="Retângulo 6"/>
            <p:cNvSpPr/>
            <p:nvPr/>
          </p:nvSpPr>
          <p:spPr bwMode="auto">
            <a:xfrm>
              <a:off x="899592" y="3645024"/>
              <a:ext cx="504056" cy="288032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T</a:t>
              </a:r>
            </a:p>
          </p:txBody>
        </p:sp>
        <p:sp>
          <p:nvSpPr>
            <p:cNvPr id="8" name="Retângulo 7"/>
            <p:cNvSpPr/>
            <p:nvPr/>
          </p:nvSpPr>
          <p:spPr bwMode="auto">
            <a:xfrm>
              <a:off x="1403648" y="3645024"/>
              <a:ext cx="504056" cy="288032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T</a:t>
              </a:r>
            </a:p>
          </p:txBody>
        </p:sp>
        <p:sp>
          <p:nvSpPr>
            <p:cNvPr id="9" name="Retângulo 8"/>
            <p:cNvSpPr/>
            <p:nvPr/>
          </p:nvSpPr>
          <p:spPr bwMode="auto">
            <a:xfrm>
              <a:off x="1907704" y="3645024"/>
              <a:ext cx="504056" cy="288032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T</a:t>
              </a:r>
            </a:p>
          </p:txBody>
        </p:sp>
        <p:sp>
          <p:nvSpPr>
            <p:cNvPr id="10" name="Retângulo 9"/>
            <p:cNvSpPr/>
            <p:nvPr/>
          </p:nvSpPr>
          <p:spPr bwMode="auto">
            <a:xfrm>
              <a:off x="2411760" y="3645024"/>
              <a:ext cx="504056" cy="288032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T</a:t>
              </a:r>
            </a:p>
          </p:txBody>
        </p:sp>
      </p:grpSp>
      <p:grpSp>
        <p:nvGrpSpPr>
          <p:cNvPr id="15362" name="Grupo 15361"/>
          <p:cNvGrpSpPr/>
          <p:nvPr/>
        </p:nvGrpSpPr>
        <p:grpSpPr>
          <a:xfrm>
            <a:off x="783113" y="4858031"/>
            <a:ext cx="2268252" cy="659201"/>
            <a:chOff x="791580" y="4005064"/>
            <a:chExt cx="2268252" cy="659201"/>
          </a:xfrm>
        </p:grpSpPr>
        <p:grpSp>
          <p:nvGrpSpPr>
            <p:cNvPr id="21" name="Grupo 20"/>
            <p:cNvGrpSpPr/>
            <p:nvPr/>
          </p:nvGrpSpPr>
          <p:grpSpPr>
            <a:xfrm>
              <a:off x="1047276" y="4005064"/>
              <a:ext cx="2012556" cy="659201"/>
              <a:chOff x="2849056" y="5754910"/>
              <a:chExt cx="3342742" cy="1094896"/>
            </a:xfrm>
          </p:grpSpPr>
          <p:sp>
            <p:nvSpPr>
              <p:cNvPr id="22" name="Chave esquerda 21"/>
              <p:cNvSpPr/>
              <p:nvPr/>
            </p:nvSpPr>
            <p:spPr bwMode="auto">
              <a:xfrm rot="16200000">
                <a:off x="4435228" y="4168738"/>
                <a:ext cx="170398" cy="3342742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sz="9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" name="Text Box 31"/>
              <p:cNvSpPr txBox="1">
                <a:spLocks noChangeArrowheads="1"/>
              </p:cNvSpPr>
              <p:nvPr/>
            </p:nvSpPr>
            <p:spPr bwMode="auto">
              <a:xfrm>
                <a:off x="3900724" y="6428066"/>
                <a:ext cx="1233313" cy="42174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9pPr>
              </a:lstStyle>
              <a:p>
                <a:pPr eaLnBrk="1" fontAlgn="auto" hangingPunct="1">
                  <a:spcBef>
                    <a:spcPct val="50000"/>
                  </a:spcBef>
                  <a:spcAft>
                    <a:spcPts val="0"/>
                  </a:spcAft>
                  <a:defRPr/>
                </a:pPr>
                <a:r>
                  <a:rPr lang="pt-BR" altLang="zh-TW" sz="1050" kern="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Modelo</a:t>
                </a:r>
                <a:endParaRPr lang="pt-BR" altLang="zh-TW" sz="1050" i="1" kern="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cxnSp>
          <p:nvCxnSpPr>
            <p:cNvPr id="24" name="Conector de seta reta 23"/>
            <p:cNvCxnSpPr/>
            <p:nvPr/>
          </p:nvCxnSpPr>
          <p:spPr bwMode="auto">
            <a:xfrm flipH="1">
              <a:off x="2051720" y="4158458"/>
              <a:ext cx="0" cy="21600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6" name="Conector em curva 25"/>
            <p:cNvCxnSpPr/>
            <p:nvPr/>
          </p:nvCxnSpPr>
          <p:spPr bwMode="auto">
            <a:xfrm rot="10800000">
              <a:off x="791580" y="4063557"/>
              <a:ext cx="756084" cy="468000"/>
            </a:xfrm>
            <a:prstGeom prst="curvedConnector3">
              <a:avLst>
                <a:gd name="adj1" fmla="val 100391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grpSp>
        <p:nvGrpSpPr>
          <p:cNvPr id="15364" name="Grupo 15363"/>
          <p:cNvGrpSpPr/>
          <p:nvPr/>
        </p:nvGrpSpPr>
        <p:grpSpPr>
          <a:xfrm>
            <a:off x="3185800" y="4497991"/>
            <a:ext cx="5198045" cy="1019241"/>
            <a:chOff x="3185800" y="3777911"/>
            <a:chExt cx="5198045" cy="1019241"/>
          </a:xfrm>
        </p:grpSpPr>
        <p:grpSp>
          <p:nvGrpSpPr>
            <p:cNvPr id="12" name="Grupo 11"/>
            <p:cNvGrpSpPr/>
            <p:nvPr/>
          </p:nvGrpSpPr>
          <p:grpSpPr>
            <a:xfrm>
              <a:off x="3635896" y="3777911"/>
              <a:ext cx="2520280" cy="288032"/>
              <a:chOff x="395536" y="3645024"/>
              <a:chExt cx="2520280" cy="288032"/>
            </a:xfrm>
          </p:grpSpPr>
          <p:sp>
            <p:nvSpPr>
              <p:cNvPr id="13" name="Retângulo 12"/>
              <p:cNvSpPr/>
              <p:nvPr/>
            </p:nvSpPr>
            <p:spPr bwMode="auto">
              <a:xfrm>
                <a:off x="395536" y="3645024"/>
                <a:ext cx="504056" cy="288032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T</a:t>
                </a:r>
              </a:p>
            </p:txBody>
          </p:sp>
          <p:sp>
            <p:nvSpPr>
              <p:cNvPr id="14" name="Retângulo 13"/>
              <p:cNvSpPr/>
              <p:nvPr/>
            </p:nvSpPr>
            <p:spPr bwMode="auto">
              <a:xfrm>
                <a:off x="899592" y="3645024"/>
                <a:ext cx="504056" cy="288032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T</a:t>
                </a:r>
              </a:p>
            </p:txBody>
          </p:sp>
          <p:sp>
            <p:nvSpPr>
              <p:cNvPr id="15" name="Retângulo 14"/>
              <p:cNvSpPr/>
              <p:nvPr/>
            </p:nvSpPr>
            <p:spPr bwMode="auto">
              <a:xfrm>
                <a:off x="1403648" y="3645024"/>
                <a:ext cx="504056" cy="288032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T</a:t>
                </a:r>
              </a:p>
            </p:txBody>
          </p:sp>
          <p:sp>
            <p:nvSpPr>
              <p:cNvPr id="16" name="Retângulo 15"/>
              <p:cNvSpPr/>
              <p:nvPr/>
            </p:nvSpPr>
            <p:spPr bwMode="auto">
              <a:xfrm>
                <a:off x="1907704" y="3645024"/>
                <a:ext cx="504056" cy="288032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T</a:t>
                </a:r>
              </a:p>
            </p:txBody>
          </p:sp>
          <p:sp>
            <p:nvSpPr>
              <p:cNvPr id="17" name="Retângulo 16"/>
              <p:cNvSpPr/>
              <p:nvPr/>
            </p:nvSpPr>
            <p:spPr bwMode="auto">
              <a:xfrm>
                <a:off x="2411760" y="3645024"/>
                <a:ext cx="504056" cy="288032"/>
              </a:xfrm>
              <a:prstGeom prst="rect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V</a:t>
                </a:r>
              </a:p>
            </p:txBody>
          </p:sp>
        </p:grpSp>
        <p:sp>
          <p:nvSpPr>
            <p:cNvPr id="11" name="Retângulo 10"/>
            <p:cNvSpPr/>
            <p:nvPr/>
          </p:nvSpPr>
          <p:spPr>
            <a:xfrm>
              <a:off x="3185800" y="3777911"/>
              <a:ext cx="324128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...</a:t>
              </a:r>
            </a:p>
          </p:txBody>
        </p:sp>
        <p:sp>
          <p:nvSpPr>
            <p:cNvPr id="19" name="Retângulo 18"/>
            <p:cNvSpPr/>
            <p:nvPr/>
          </p:nvSpPr>
          <p:spPr>
            <a:xfrm>
              <a:off x="6245118" y="3788944"/>
              <a:ext cx="213872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pt-BR" altLang="pt-BR" dirty="0">
                  <a:latin typeface="Tahoma" panose="020B0604030504040204" pitchFamily="34" charset="0"/>
                </a:rPr>
                <a:t> validações independentes</a:t>
              </a:r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36" name="Grupo 35"/>
            <p:cNvGrpSpPr/>
            <p:nvPr/>
          </p:nvGrpSpPr>
          <p:grpSpPr>
            <a:xfrm>
              <a:off x="3639564" y="4137951"/>
              <a:ext cx="2264585" cy="659201"/>
              <a:chOff x="1047276" y="4005064"/>
              <a:chExt cx="2264585" cy="659201"/>
            </a:xfrm>
          </p:grpSpPr>
          <p:grpSp>
            <p:nvGrpSpPr>
              <p:cNvPr id="37" name="Grupo 36"/>
              <p:cNvGrpSpPr/>
              <p:nvPr/>
            </p:nvGrpSpPr>
            <p:grpSpPr>
              <a:xfrm>
                <a:off x="1047276" y="4005064"/>
                <a:ext cx="2012556" cy="659201"/>
                <a:chOff x="2849056" y="5754910"/>
                <a:chExt cx="3342742" cy="1094896"/>
              </a:xfrm>
            </p:grpSpPr>
            <p:sp>
              <p:nvSpPr>
                <p:cNvPr id="40" name="Chave esquerda 39"/>
                <p:cNvSpPr/>
                <p:nvPr/>
              </p:nvSpPr>
              <p:spPr bwMode="auto">
                <a:xfrm rot="16200000">
                  <a:off x="4435228" y="4168738"/>
                  <a:ext cx="170398" cy="3342742"/>
                </a:xfrm>
                <a:prstGeom prst="leftBrac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pt-BR" sz="9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1" name="Text Box 31"/>
                <p:cNvSpPr txBox="1">
                  <a:spLocks noChangeArrowheads="1"/>
                </p:cNvSpPr>
                <p:nvPr/>
              </p:nvSpPr>
              <p:spPr bwMode="auto">
                <a:xfrm>
                  <a:off x="3900724" y="6428066"/>
                  <a:ext cx="1233313" cy="42174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9pPr>
                </a:lstStyle>
                <a:p>
                  <a:pPr eaLnBrk="1" fontAlgn="auto" hangingPunct="1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pt-BR" altLang="zh-TW" sz="1050" kern="0" dirty="0">
                      <a:solidFill>
                        <a:srgbClr val="000000"/>
                      </a:solidFill>
                      <a:latin typeface="Tahoma" panose="020B0604030504040204" pitchFamily="34" charset="0"/>
                    </a:rPr>
                    <a:t>Modelo</a:t>
                  </a:r>
                  <a:endParaRPr lang="pt-BR" altLang="zh-TW" sz="1050" i="1" kern="0" dirty="0">
                    <a:solidFill>
                      <a:srgbClr val="000000"/>
                    </a:solidFill>
                    <a:latin typeface="Tahoma" panose="020B0604030504040204" pitchFamily="34" charset="0"/>
                  </a:endParaRPr>
                </a:p>
              </p:txBody>
            </p:sp>
          </p:grpSp>
          <p:cxnSp>
            <p:nvCxnSpPr>
              <p:cNvPr id="38" name="Conector de seta reta 37"/>
              <p:cNvCxnSpPr/>
              <p:nvPr/>
            </p:nvCxnSpPr>
            <p:spPr bwMode="auto">
              <a:xfrm flipH="1">
                <a:off x="2051720" y="4158458"/>
                <a:ext cx="0" cy="21600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39" name="Conector em curva 38"/>
              <p:cNvCxnSpPr/>
              <p:nvPr/>
            </p:nvCxnSpPr>
            <p:spPr bwMode="auto">
              <a:xfrm rot="10800000" flipH="1">
                <a:off x="2555777" y="4063557"/>
                <a:ext cx="756084" cy="468000"/>
              </a:xfrm>
              <a:prstGeom prst="curvedConnector3">
                <a:avLst>
                  <a:gd name="adj1" fmla="val 100391"/>
                </a:avLst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</p:grpSp>
      <p:sp>
        <p:nvSpPr>
          <p:cNvPr id="18" name="Espaço Reservado para Número de Slide 1">
            <a:extLst>
              <a:ext uri="{FF2B5EF4-FFF2-40B4-BE49-F238E27FC236}">
                <a16:creationId xmlns:a16="http://schemas.microsoft.com/office/drawing/2014/main" id="{EA734C16-1F39-2655-E026-299BFFDD1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44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8970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91DB6-2994-1386-5311-B0ACE1E9D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6C82D0-728C-1E2E-730E-E55773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i="1" dirty="0" err="1"/>
              <a:t>Boosting</a:t>
            </a:r>
            <a:endParaRPr lang="pt-BR" i="1" dirty="0"/>
          </a:p>
        </p:txBody>
      </p:sp>
      <p:sp>
        <p:nvSpPr>
          <p:cNvPr id="20483" name="Text Box 31">
            <a:extLst>
              <a:ext uri="{FF2B5EF4-FFF2-40B4-BE49-F238E27FC236}">
                <a16:creationId xmlns:a16="http://schemas.microsoft.com/office/drawing/2014/main" id="{E6839B63-2AE8-7DD2-45BA-AA157C86AE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1445875"/>
            <a:ext cx="8137277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Não se trata de técnica tradicional de reamostragem como </a:t>
            </a:r>
            <a:r>
              <a:rPr lang="pt-BR" altLang="pt-BR" sz="1600" i="1" dirty="0" err="1">
                <a:latin typeface="Tahoma" panose="020B0604030504040204" pitchFamily="34" charset="0"/>
              </a:rPr>
              <a:t>Bootstrap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 err="1">
                <a:latin typeface="Tahoma" panose="020B0604030504040204" pitchFamily="34" charset="0"/>
              </a:rPr>
              <a:t>Jackknife</a:t>
            </a:r>
            <a:endParaRPr lang="pt-BR" altLang="pt-BR" sz="1600" i="1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Consiste em alterar a importância de cada amostra, através de pesos, de modo a favorecer algumas amostras em detrimento de outras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</a:t>
            </a:r>
            <a:r>
              <a:rPr lang="pt-BR" altLang="pt-BR" sz="1600" i="1" dirty="0" err="1">
                <a:latin typeface="Tahoma" panose="020B0604030504040204" pitchFamily="34" charset="0"/>
              </a:rPr>
              <a:t>AdaBoost</a:t>
            </a:r>
            <a:r>
              <a:rPr lang="pt-BR" altLang="pt-BR" sz="1600" dirty="0">
                <a:latin typeface="Tahoma" panose="020B0604030504040204" pitchFamily="34" charset="0"/>
              </a:rPr>
              <a:t>, por exemplo, ajusta o peso de cada amostra, aumentando a importância de amostras mal classificadas/estimadas de modo a diminuir os erros de classificação/estimação</a:t>
            </a:r>
          </a:p>
        </p:txBody>
      </p:sp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9C078331-91A9-8087-D340-617F443A4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19409" y="6376622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45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0553" name="Text Box 31">
            <a:extLst>
              <a:ext uri="{FF2B5EF4-FFF2-40B4-BE49-F238E27FC236}">
                <a16:creationId xmlns:a16="http://schemas.microsoft.com/office/drawing/2014/main" id="{571BEB2C-64F7-39DF-2966-AE1FFFFC7C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3645024"/>
            <a:ext cx="4786785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Num classificador baseado em árvores de decisão, por exemplo, a primeira árvore é construída com base em todas as amostras. Essa árvore é usada para avaliar cada amostra, aumentando-se o peso daquelas mal classificadas. Uma nova árvore é gerada. Esse processo é repetido um determinado número de vezes</a:t>
            </a:r>
          </a:p>
        </p:txBody>
      </p:sp>
      <p:sp>
        <p:nvSpPr>
          <p:cNvPr id="20558" name="Text Box 31">
            <a:extLst>
              <a:ext uri="{FF2B5EF4-FFF2-40B4-BE49-F238E27FC236}">
                <a16:creationId xmlns:a16="http://schemas.microsoft.com/office/drawing/2014/main" id="{3210B7E6-B5FD-0A50-F442-19B2BC63A6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5877272"/>
            <a:ext cx="478678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objetivo principal desse método é reduzir a tendência (ou viés), tentando-se minimizar os erros</a:t>
            </a:r>
          </a:p>
        </p:txBody>
      </p:sp>
      <p:grpSp>
        <p:nvGrpSpPr>
          <p:cNvPr id="5" name="Grupo 2">
            <a:extLst>
              <a:ext uri="{FF2B5EF4-FFF2-40B4-BE49-F238E27FC236}">
                <a16:creationId xmlns:a16="http://schemas.microsoft.com/office/drawing/2014/main" id="{58C66101-3224-F7BB-AB34-457D82BF2B86}"/>
              </a:ext>
            </a:extLst>
          </p:cNvPr>
          <p:cNvGrpSpPr/>
          <p:nvPr/>
        </p:nvGrpSpPr>
        <p:grpSpPr>
          <a:xfrm>
            <a:off x="5854865" y="3702516"/>
            <a:ext cx="2013606" cy="648072"/>
            <a:chOff x="827584" y="2356946"/>
            <a:chExt cx="2013606" cy="648072"/>
          </a:xfrm>
        </p:grpSpPr>
        <p:grpSp>
          <p:nvGrpSpPr>
            <p:cNvPr id="6" name="Grupo 29">
              <a:extLst>
                <a:ext uri="{FF2B5EF4-FFF2-40B4-BE49-F238E27FC236}">
                  <a16:creationId xmlns:a16="http://schemas.microsoft.com/office/drawing/2014/main" id="{A6A533BB-DA74-4E38-1248-761AB414DC63}"/>
                </a:ext>
              </a:extLst>
            </p:cNvPr>
            <p:cNvGrpSpPr/>
            <p:nvPr/>
          </p:nvGrpSpPr>
          <p:grpSpPr>
            <a:xfrm>
              <a:off x="827584" y="2356946"/>
              <a:ext cx="555490" cy="648072"/>
              <a:chOff x="6660232" y="2348880"/>
              <a:chExt cx="864096" cy="1008112"/>
            </a:xfrm>
          </p:grpSpPr>
          <p:grpSp>
            <p:nvGrpSpPr>
              <p:cNvPr id="25" name="Grupo 30">
                <a:extLst>
                  <a:ext uri="{FF2B5EF4-FFF2-40B4-BE49-F238E27FC236}">
                    <a16:creationId xmlns:a16="http://schemas.microsoft.com/office/drawing/2014/main" id="{57E124CD-A650-183B-17E3-C57DF3AD20B1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27" name="Retângulo com Único Canto Aparado 32">
                  <a:extLst>
                    <a:ext uri="{FF2B5EF4-FFF2-40B4-BE49-F238E27FC236}">
                      <a16:creationId xmlns:a16="http://schemas.microsoft.com/office/drawing/2014/main" id="{B49B2230-0D46-68A3-A63A-61CE79E80B77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cxnSp>
              <p:nvCxnSpPr>
                <p:cNvPr id="28" name="Conector reto 27">
                  <a:extLst>
                    <a:ext uri="{FF2B5EF4-FFF2-40B4-BE49-F238E27FC236}">
                      <a16:creationId xmlns:a16="http://schemas.microsoft.com/office/drawing/2014/main" id="{5A3E8EA3-D3C1-6F7E-99D7-B039A7DA36F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9" name="Conector reto 28">
                  <a:extLst>
                    <a:ext uri="{FF2B5EF4-FFF2-40B4-BE49-F238E27FC236}">
                      <a16:creationId xmlns:a16="http://schemas.microsoft.com/office/drawing/2014/main" id="{C6176F87-4E14-D621-9473-E412C6501A07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0" name="Conector reto 29">
                  <a:extLst>
                    <a:ext uri="{FF2B5EF4-FFF2-40B4-BE49-F238E27FC236}">
                      <a16:creationId xmlns:a16="http://schemas.microsoft.com/office/drawing/2014/main" id="{1D1A5689-1C1A-1AC1-94AD-535A12270B4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1" name="Conector reto 30">
                  <a:extLst>
                    <a:ext uri="{FF2B5EF4-FFF2-40B4-BE49-F238E27FC236}">
                      <a16:creationId xmlns:a16="http://schemas.microsoft.com/office/drawing/2014/main" id="{DD5157FF-AFF6-8B5C-263F-9E2722FE3EC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2" name="Conector reto 31">
                  <a:extLst>
                    <a:ext uri="{FF2B5EF4-FFF2-40B4-BE49-F238E27FC236}">
                      <a16:creationId xmlns:a16="http://schemas.microsoft.com/office/drawing/2014/main" id="{C04A4638-7CAE-AAB0-915A-FA30EFD0CDB3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" name="Conector reto 32">
                  <a:extLst>
                    <a:ext uri="{FF2B5EF4-FFF2-40B4-BE49-F238E27FC236}">
                      <a16:creationId xmlns:a16="http://schemas.microsoft.com/office/drawing/2014/main" id="{F847ACF7-F664-4EC2-2BBA-2B3F897076C2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4" name="Conector reto 33">
                  <a:extLst>
                    <a:ext uri="{FF2B5EF4-FFF2-40B4-BE49-F238E27FC236}">
                      <a16:creationId xmlns:a16="http://schemas.microsoft.com/office/drawing/2014/main" id="{5F2ADD2A-D947-178D-5A81-E6107C3E817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6" name="Conector reto 35">
                  <a:extLst>
                    <a:ext uri="{FF2B5EF4-FFF2-40B4-BE49-F238E27FC236}">
                      <a16:creationId xmlns:a16="http://schemas.microsoft.com/office/drawing/2014/main" id="{CA4BC8DD-E313-7A0A-A3C3-D2E39631A74E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44" name="Conector reto 43">
                  <a:extLst>
                    <a:ext uri="{FF2B5EF4-FFF2-40B4-BE49-F238E27FC236}">
                      <a16:creationId xmlns:a16="http://schemas.microsoft.com/office/drawing/2014/main" id="{06F26600-1EA6-D7C5-8FA3-62F8F9A57D9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45" name="Conector reto 44">
                  <a:extLst>
                    <a:ext uri="{FF2B5EF4-FFF2-40B4-BE49-F238E27FC236}">
                      <a16:creationId xmlns:a16="http://schemas.microsoft.com/office/drawing/2014/main" id="{7E584515-F216-23A9-8A10-9373674CF797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46" name="Conector reto 45">
                  <a:extLst>
                    <a:ext uri="{FF2B5EF4-FFF2-40B4-BE49-F238E27FC236}">
                      <a16:creationId xmlns:a16="http://schemas.microsoft.com/office/drawing/2014/main" id="{D54C6492-59DB-0E96-FB7E-5E2C971AA1E7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6" name="Retângulo 25">
                <a:extLst>
                  <a:ext uri="{FF2B5EF4-FFF2-40B4-BE49-F238E27FC236}">
                    <a16:creationId xmlns:a16="http://schemas.microsoft.com/office/drawing/2014/main" id="{623D1A98-4F38-4291-7B02-4397D98398D6}"/>
                  </a:ext>
                </a:extLst>
              </p:cNvPr>
              <p:cNvSpPr/>
              <p:nvPr/>
            </p:nvSpPr>
            <p:spPr bwMode="auto">
              <a:xfrm>
                <a:off x="6660232" y="2924943"/>
                <a:ext cx="864096" cy="336000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rPr>
                  <a:t> Dados</a:t>
                </a:r>
              </a:p>
            </p:txBody>
          </p:sp>
        </p:grpSp>
        <p:grpSp>
          <p:nvGrpSpPr>
            <p:cNvPr id="8" name="Grupo 173">
              <a:extLst>
                <a:ext uri="{FF2B5EF4-FFF2-40B4-BE49-F238E27FC236}">
                  <a16:creationId xmlns:a16="http://schemas.microsoft.com/office/drawing/2014/main" id="{7DD456F6-B5DC-7E4F-019A-07B458E6B65C}"/>
                </a:ext>
              </a:extLst>
            </p:cNvPr>
            <p:cNvGrpSpPr/>
            <p:nvPr/>
          </p:nvGrpSpPr>
          <p:grpSpPr>
            <a:xfrm>
              <a:off x="1889265" y="2487623"/>
              <a:ext cx="505803" cy="386718"/>
              <a:chOff x="3347864" y="2852936"/>
              <a:chExt cx="505803" cy="386718"/>
            </a:xfrm>
          </p:grpSpPr>
          <p:sp>
            <p:nvSpPr>
              <p:cNvPr id="12" name="Elipse 11">
                <a:extLst>
                  <a:ext uri="{FF2B5EF4-FFF2-40B4-BE49-F238E27FC236}">
                    <a16:creationId xmlns:a16="http://schemas.microsoft.com/office/drawing/2014/main" id="{40D30567-F3A0-8998-FB0B-0E5830256317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3" name="Elipse 12">
                <a:extLst>
                  <a:ext uri="{FF2B5EF4-FFF2-40B4-BE49-F238E27FC236}">
                    <a16:creationId xmlns:a16="http://schemas.microsoft.com/office/drawing/2014/main" id="{88890ED7-8BE8-9B87-C9C7-A7232AE0EA54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4" name="Elipse 13">
                <a:extLst>
                  <a:ext uri="{FF2B5EF4-FFF2-40B4-BE49-F238E27FC236}">
                    <a16:creationId xmlns:a16="http://schemas.microsoft.com/office/drawing/2014/main" id="{44E1BB1F-DFB3-F2AF-B32F-1758591C8887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5" name="Elipse 14">
                <a:extLst>
                  <a:ext uri="{FF2B5EF4-FFF2-40B4-BE49-F238E27FC236}">
                    <a16:creationId xmlns:a16="http://schemas.microsoft.com/office/drawing/2014/main" id="{7EDBA9AF-3F74-912E-B574-CCE8D265A22B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6" name="Elipse 15">
                <a:extLst>
                  <a:ext uri="{FF2B5EF4-FFF2-40B4-BE49-F238E27FC236}">
                    <a16:creationId xmlns:a16="http://schemas.microsoft.com/office/drawing/2014/main" id="{912AB9AA-4777-E8A3-A29F-169004936747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7" name="Elipse 16">
                <a:extLst>
                  <a:ext uri="{FF2B5EF4-FFF2-40B4-BE49-F238E27FC236}">
                    <a16:creationId xmlns:a16="http://schemas.microsoft.com/office/drawing/2014/main" id="{A7519AA6-0D89-149F-6B70-52097C89A8E9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8" name="Elipse 17">
                <a:extLst>
                  <a:ext uri="{FF2B5EF4-FFF2-40B4-BE49-F238E27FC236}">
                    <a16:creationId xmlns:a16="http://schemas.microsoft.com/office/drawing/2014/main" id="{827EDE14-7835-0F80-8BE6-CCA0AEA0DE39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cxnSp>
            <p:nvCxnSpPr>
              <p:cNvPr id="19" name="Conector de seta reta 158">
                <a:extLst>
                  <a:ext uri="{FF2B5EF4-FFF2-40B4-BE49-F238E27FC236}">
                    <a16:creationId xmlns:a16="http://schemas.microsoft.com/office/drawing/2014/main" id="{2D74319E-20F2-CC18-479B-6D57EF6E4C3E}"/>
                  </a:ext>
                </a:extLst>
              </p:cNvPr>
              <p:cNvCxnSpPr>
                <a:stCxn id="12" idx="4"/>
                <a:endCxn id="13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" name="Conector de seta reta 160">
                <a:extLst>
                  <a:ext uri="{FF2B5EF4-FFF2-40B4-BE49-F238E27FC236}">
                    <a16:creationId xmlns:a16="http://schemas.microsoft.com/office/drawing/2014/main" id="{3A153B5C-333A-E2A8-575F-690E31DB7AEB}"/>
                  </a:ext>
                </a:extLst>
              </p:cNvPr>
              <p:cNvCxnSpPr>
                <a:stCxn id="12" idx="4"/>
                <a:endCxn id="14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1" name="Conector de seta reta 163">
                <a:extLst>
                  <a:ext uri="{FF2B5EF4-FFF2-40B4-BE49-F238E27FC236}">
                    <a16:creationId xmlns:a16="http://schemas.microsoft.com/office/drawing/2014/main" id="{E130AA57-FF5F-B64F-B8A6-C815644F24A7}"/>
                  </a:ext>
                </a:extLst>
              </p:cNvPr>
              <p:cNvCxnSpPr>
                <a:stCxn id="13" idx="4"/>
                <a:endCxn id="15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2" name="Conector de seta reta 165">
                <a:extLst>
                  <a:ext uri="{FF2B5EF4-FFF2-40B4-BE49-F238E27FC236}">
                    <a16:creationId xmlns:a16="http://schemas.microsoft.com/office/drawing/2014/main" id="{A6FE4EB1-C44E-DD63-DF2A-DEF94A8F3369}"/>
                  </a:ext>
                </a:extLst>
              </p:cNvPr>
              <p:cNvCxnSpPr>
                <a:stCxn id="13" idx="4"/>
                <a:endCxn id="16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3" name="Conector de seta reta 167">
                <a:extLst>
                  <a:ext uri="{FF2B5EF4-FFF2-40B4-BE49-F238E27FC236}">
                    <a16:creationId xmlns:a16="http://schemas.microsoft.com/office/drawing/2014/main" id="{1177D74A-3683-DC3F-B9F9-7AE750149D3B}"/>
                  </a:ext>
                </a:extLst>
              </p:cNvPr>
              <p:cNvCxnSpPr>
                <a:stCxn id="14" idx="4"/>
                <a:endCxn id="17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4" name="Conector de seta reta 169">
                <a:extLst>
                  <a:ext uri="{FF2B5EF4-FFF2-40B4-BE49-F238E27FC236}">
                    <a16:creationId xmlns:a16="http://schemas.microsoft.com/office/drawing/2014/main" id="{2EC589DD-D5BC-A20E-C789-2A47DE4E0CA1}"/>
                  </a:ext>
                </a:extLst>
              </p:cNvPr>
              <p:cNvCxnSpPr>
                <a:stCxn id="14" idx="4"/>
                <a:endCxn id="18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cxnSp>
          <p:nvCxnSpPr>
            <p:cNvPr id="10" name="Conector de seta reta 217">
              <a:extLst>
                <a:ext uri="{FF2B5EF4-FFF2-40B4-BE49-F238E27FC236}">
                  <a16:creationId xmlns:a16="http://schemas.microsoft.com/office/drawing/2014/main" id="{2053C84F-EBBC-5D20-1D48-8520CACED6A3}"/>
                </a:ext>
              </a:extLst>
            </p:cNvPr>
            <p:cNvCxnSpPr/>
            <p:nvPr/>
          </p:nvCxnSpPr>
          <p:spPr bwMode="auto">
            <a:xfrm>
              <a:off x="1475656" y="2680982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AA1BEE15-9FED-DD09-2714-AE212C0478C2}"/>
                </a:ext>
              </a:extLst>
            </p:cNvPr>
            <p:cNvSpPr txBox="1"/>
            <p:nvPr/>
          </p:nvSpPr>
          <p:spPr>
            <a:xfrm>
              <a:off x="2497826" y="2542483"/>
              <a:ext cx="3433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</a:t>
              </a:r>
              <a:r>
                <a:rPr lang="pt-BR" baseline="-25000" dirty="0"/>
                <a:t>1</a:t>
              </a:r>
            </a:p>
          </p:txBody>
        </p:sp>
      </p:grpSp>
      <p:grpSp>
        <p:nvGrpSpPr>
          <p:cNvPr id="47" name="Grupo 4">
            <a:extLst>
              <a:ext uri="{FF2B5EF4-FFF2-40B4-BE49-F238E27FC236}">
                <a16:creationId xmlns:a16="http://schemas.microsoft.com/office/drawing/2014/main" id="{A94E483D-98C6-3F2B-AC0A-3A873F87FCE9}"/>
              </a:ext>
            </a:extLst>
          </p:cNvPr>
          <p:cNvGrpSpPr/>
          <p:nvPr/>
        </p:nvGrpSpPr>
        <p:grpSpPr>
          <a:xfrm>
            <a:off x="5854865" y="4350588"/>
            <a:ext cx="2021621" cy="840286"/>
            <a:chOff x="827584" y="3005018"/>
            <a:chExt cx="2021621" cy="840286"/>
          </a:xfrm>
        </p:grpSpPr>
        <p:grpSp>
          <p:nvGrpSpPr>
            <p:cNvPr id="48" name="Grupo 90">
              <a:extLst>
                <a:ext uri="{FF2B5EF4-FFF2-40B4-BE49-F238E27FC236}">
                  <a16:creationId xmlns:a16="http://schemas.microsoft.com/office/drawing/2014/main" id="{851B6275-6B87-2B3B-CE2A-76257D381F88}"/>
                </a:ext>
              </a:extLst>
            </p:cNvPr>
            <p:cNvGrpSpPr/>
            <p:nvPr/>
          </p:nvGrpSpPr>
          <p:grpSpPr>
            <a:xfrm>
              <a:off x="827584" y="3197232"/>
              <a:ext cx="555490" cy="648072"/>
              <a:chOff x="6660232" y="2348880"/>
              <a:chExt cx="864096" cy="1008112"/>
            </a:xfrm>
          </p:grpSpPr>
          <p:grpSp>
            <p:nvGrpSpPr>
              <p:cNvPr id="20559" name="Grupo 91">
                <a:extLst>
                  <a:ext uri="{FF2B5EF4-FFF2-40B4-BE49-F238E27FC236}">
                    <a16:creationId xmlns:a16="http://schemas.microsoft.com/office/drawing/2014/main" id="{9234511E-C6EA-95CC-C1F5-43C779E4E38C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20561" name="Retângulo com Único Canto Aparado 93">
                  <a:extLst>
                    <a:ext uri="{FF2B5EF4-FFF2-40B4-BE49-F238E27FC236}">
                      <a16:creationId xmlns:a16="http://schemas.microsoft.com/office/drawing/2014/main" id="{B7A5E215-9F98-D129-016C-D957363E0D89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cxnSp>
              <p:nvCxnSpPr>
                <p:cNvPr id="20562" name="Conector reto 20561">
                  <a:extLst>
                    <a:ext uri="{FF2B5EF4-FFF2-40B4-BE49-F238E27FC236}">
                      <a16:creationId xmlns:a16="http://schemas.microsoft.com/office/drawing/2014/main" id="{739028EC-EB99-BCF5-E2B3-48BB5D77D42C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3" name="Conector reto 20562">
                  <a:extLst>
                    <a:ext uri="{FF2B5EF4-FFF2-40B4-BE49-F238E27FC236}">
                      <a16:creationId xmlns:a16="http://schemas.microsoft.com/office/drawing/2014/main" id="{08BC3D20-139D-2ABA-6E15-E58F529D66B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4" name="Conector reto 20563">
                  <a:extLst>
                    <a:ext uri="{FF2B5EF4-FFF2-40B4-BE49-F238E27FC236}">
                      <a16:creationId xmlns:a16="http://schemas.microsoft.com/office/drawing/2014/main" id="{5C4F20FC-ABB5-01F1-A139-63358F489613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5" name="Conector reto 20564">
                  <a:extLst>
                    <a:ext uri="{FF2B5EF4-FFF2-40B4-BE49-F238E27FC236}">
                      <a16:creationId xmlns:a16="http://schemas.microsoft.com/office/drawing/2014/main" id="{3C116C97-8937-D1C3-6B28-AA23711AC6D7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6" name="Conector reto 20565">
                  <a:extLst>
                    <a:ext uri="{FF2B5EF4-FFF2-40B4-BE49-F238E27FC236}">
                      <a16:creationId xmlns:a16="http://schemas.microsoft.com/office/drawing/2014/main" id="{0B498CBE-A621-EF60-3CDC-04A8A5AE233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7" name="Conector reto 20566">
                  <a:extLst>
                    <a:ext uri="{FF2B5EF4-FFF2-40B4-BE49-F238E27FC236}">
                      <a16:creationId xmlns:a16="http://schemas.microsoft.com/office/drawing/2014/main" id="{021D4E8F-30DE-5FB9-BE56-140D62B50672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8" name="Conector reto 20567">
                  <a:extLst>
                    <a:ext uri="{FF2B5EF4-FFF2-40B4-BE49-F238E27FC236}">
                      <a16:creationId xmlns:a16="http://schemas.microsoft.com/office/drawing/2014/main" id="{930B08D6-0F5F-E33A-EE5F-CA707BE7A18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9" name="Conector reto 20568">
                  <a:extLst>
                    <a:ext uri="{FF2B5EF4-FFF2-40B4-BE49-F238E27FC236}">
                      <a16:creationId xmlns:a16="http://schemas.microsoft.com/office/drawing/2014/main" id="{5D327600-EB38-4EA6-972E-24B4CB0F77C5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70" name="Conector reto 20569">
                  <a:extLst>
                    <a:ext uri="{FF2B5EF4-FFF2-40B4-BE49-F238E27FC236}">
                      <a16:creationId xmlns:a16="http://schemas.microsoft.com/office/drawing/2014/main" id="{6C835A26-E74D-B661-9E80-0776EEF804EC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71" name="Conector reto 20570">
                  <a:extLst>
                    <a:ext uri="{FF2B5EF4-FFF2-40B4-BE49-F238E27FC236}">
                      <a16:creationId xmlns:a16="http://schemas.microsoft.com/office/drawing/2014/main" id="{20573DD9-4D0C-FE87-7336-7C18AE70D0BD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72" name="Conector reto 20571">
                  <a:extLst>
                    <a:ext uri="{FF2B5EF4-FFF2-40B4-BE49-F238E27FC236}">
                      <a16:creationId xmlns:a16="http://schemas.microsoft.com/office/drawing/2014/main" id="{514A3F28-6FE0-9FA0-CFB2-FB2337515E8A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0560" name="Retângulo 20559">
                <a:extLst>
                  <a:ext uri="{FF2B5EF4-FFF2-40B4-BE49-F238E27FC236}">
                    <a16:creationId xmlns:a16="http://schemas.microsoft.com/office/drawing/2014/main" id="{1EAF1F2F-139E-D0BD-E2E8-9E328420C5BD}"/>
                  </a:ext>
                </a:extLst>
              </p:cNvPr>
              <p:cNvSpPr/>
              <p:nvPr/>
            </p:nvSpPr>
            <p:spPr bwMode="auto">
              <a:xfrm>
                <a:off x="6660232" y="2924943"/>
                <a:ext cx="864096" cy="336000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rPr>
                  <a:t> Dados</a:t>
                </a:r>
              </a:p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pt-BR" sz="700" dirty="0"/>
                  <a:t>Pesos f(A</a:t>
                </a:r>
                <a:r>
                  <a:rPr lang="pt-BR" sz="700" baseline="-25000" dirty="0"/>
                  <a:t>1</a:t>
                </a:r>
                <a:r>
                  <a:rPr lang="pt-BR" sz="700" dirty="0"/>
                  <a:t>)</a:t>
                </a:r>
                <a:endParaRPr kumimoji="0" lang="pt-BR" sz="7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</p:grpSp>
        <p:grpSp>
          <p:nvGrpSpPr>
            <p:cNvPr id="49" name="Grupo 174">
              <a:extLst>
                <a:ext uri="{FF2B5EF4-FFF2-40B4-BE49-F238E27FC236}">
                  <a16:creationId xmlns:a16="http://schemas.microsoft.com/office/drawing/2014/main" id="{0C97FD48-030C-3886-C404-A24692C4CFD6}"/>
                </a:ext>
              </a:extLst>
            </p:cNvPr>
            <p:cNvGrpSpPr/>
            <p:nvPr/>
          </p:nvGrpSpPr>
          <p:grpSpPr>
            <a:xfrm>
              <a:off x="1889265" y="3327909"/>
              <a:ext cx="505803" cy="386718"/>
              <a:chOff x="3347864" y="2852936"/>
              <a:chExt cx="505803" cy="386718"/>
            </a:xfrm>
          </p:grpSpPr>
          <p:sp>
            <p:nvSpPr>
              <p:cNvPr id="53" name="Elipse 52">
                <a:extLst>
                  <a:ext uri="{FF2B5EF4-FFF2-40B4-BE49-F238E27FC236}">
                    <a16:creationId xmlns:a16="http://schemas.microsoft.com/office/drawing/2014/main" id="{91EEFC28-02C3-3691-A87D-2E09D88E7CAB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56" name="Elipse 55">
                <a:extLst>
                  <a:ext uri="{FF2B5EF4-FFF2-40B4-BE49-F238E27FC236}">
                    <a16:creationId xmlns:a16="http://schemas.microsoft.com/office/drawing/2014/main" id="{CED8368D-75B6-7B99-1E7B-6EDBDC87AA76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57" name="Elipse 56">
                <a:extLst>
                  <a:ext uri="{FF2B5EF4-FFF2-40B4-BE49-F238E27FC236}">
                    <a16:creationId xmlns:a16="http://schemas.microsoft.com/office/drawing/2014/main" id="{1AE33DB0-6906-BD66-F0EB-C4359CB1A58E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58" name="Elipse 57">
                <a:extLst>
                  <a:ext uri="{FF2B5EF4-FFF2-40B4-BE49-F238E27FC236}">
                    <a16:creationId xmlns:a16="http://schemas.microsoft.com/office/drawing/2014/main" id="{91D70EAE-AC24-A75D-2A05-7A50532E180E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59" name="Elipse 58">
                <a:extLst>
                  <a:ext uri="{FF2B5EF4-FFF2-40B4-BE49-F238E27FC236}">
                    <a16:creationId xmlns:a16="http://schemas.microsoft.com/office/drawing/2014/main" id="{097B1CD1-2AF8-4820-DB97-68641E7B6ECA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60" name="Elipse 59">
                <a:extLst>
                  <a:ext uri="{FF2B5EF4-FFF2-40B4-BE49-F238E27FC236}">
                    <a16:creationId xmlns:a16="http://schemas.microsoft.com/office/drawing/2014/main" id="{5692E04F-FFEC-5AE7-5799-6428F4AE7D97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61" name="Elipse 60">
                <a:extLst>
                  <a:ext uri="{FF2B5EF4-FFF2-40B4-BE49-F238E27FC236}">
                    <a16:creationId xmlns:a16="http://schemas.microsoft.com/office/drawing/2014/main" id="{E40884DE-F77B-A7B6-E89E-D576736CE984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cxnSp>
            <p:nvCxnSpPr>
              <p:cNvPr id="62" name="Conector de seta reta 182">
                <a:extLst>
                  <a:ext uri="{FF2B5EF4-FFF2-40B4-BE49-F238E27FC236}">
                    <a16:creationId xmlns:a16="http://schemas.microsoft.com/office/drawing/2014/main" id="{E7774D88-D0BD-DFE3-9CDF-30F3294BC8DA}"/>
                  </a:ext>
                </a:extLst>
              </p:cNvPr>
              <p:cNvCxnSpPr>
                <a:stCxn id="53" idx="4"/>
                <a:endCxn id="56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64" name="Conector de seta reta 183">
                <a:extLst>
                  <a:ext uri="{FF2B5EF4-FFF2-40B4-BE49-F238E27FC236}">
                    <a16:creationId xmlns:a16="http://schemas.microsoft.com/office/drawing/2014/main" id="{56740E5E-1F56-E671-C415-33A74872CDB0}"/>
                  </a:ext>
                </a:extLst>
              </p:cNvPr>
              <p:cNvCxnSpPr>
                <a:stCxn id="53" idx="4"/>
                <a:endCxn id="57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2" name="Conector de seta reta 184">
                <a:extLst>
                  <a:ext uri="{FF2B5EF4-FFF2-40B4-BE49-F238E27FC236}">
                    <a16:creationId xmlns:a16="http://schemas.microsoft.com/office/drawing/2014/main" id="{9C801459-4D17-574B-7598-B427183B6540}"/>
                  </a:ext>
                </a:extLst>
              </p:cNvPr>
              <p:cNvCxnSpPr>
                <a:stCxn id="56" idx="4"/>
                <a:endCxn id="58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3" name="Conector de seta reta 185">
                <a:extLst>
                  <a:ext uri="{FF2B5EF4-FFF2-40B4-BE49-F238E27FC236}">
                    <a16:creationId xmlns:a16="http://schemas.microsoft.com/office/drawing/2014/main" id="{CBD05E13-A6F4-75F0-D6F1-CFBE935AB8ED}"/>
                  </a:ext>
                </a:extLst>
              </p:cNvPr>
              <p:cNvCxnSpPr>
                <a:stCxn id="56" idx="4"/>
                <a:endCxn id="59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8" name="Conector de seta reta 186">
                <a:extLst>
                  <a:ext uri="{FF2B5EF4-FFF2-40B4-BE49-F238E27FC236}">
                    <a16:creationId xmlns:a16="http://schemas.microsoft.com/office/drawing/2014/main" id="{2856B95C-2D47-6FB5-25D4-3780559CA868}"/>
                  </a:ext>
                </a:extLst>
              </p:cNvPr>
              <p:cNvCxnSpPr>
                <a:stCxn id="57" idx="4"/>
                <a:endCxn id="60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9" name="Conector de seta reta 187">
                <a:extLst>
                  <a:ext uri="{FF2B5EF4-FFF2-40B4-BE49-F238E27FC236}">
                    <a16:creationId xmlns:a16="http://schemas.microsoft.com/office/drawing/2014/main" id="{09AC9BC7-354E-2EC2-8D74-AA6C0DB7CEE8}"/>
                  </a:ext>
                </a:extLst>
              </p:cNvPr>
              <p:cNvCxnSpPr>
                <a:stCxn id="57" idx="4"/>
                <a:endCxn id="61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cxnSp>
          <p:nvCxnSpPr>
            <p:cNvPr id="50" name="Conector de seta reta 218">
              <a:extLst>
                <a:ext uri="{FF2B5EF4-FFF2-40B4-BE49-F238E27FC236}">
                  <a16:creationId xmlns:a16="http://schemas.microsoft.com/office/drawing/2014/main" id="{156F0311-54E9-C1BC-2D61-382101C7BEBD}"/>
                </a:ext>
              </a:extLst>
            </p:cNvPr>
            <p:cNvCxnSpPr/>
            <p:nvPr/>
          </p:nvCxnSpPr>
          <p:spPr bwMode="auto">
            <a:xfrm>
              <a:off x="1475656" y="3521268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51" name="Conector de seta reta 5">
              <a:extLst>
                <a:ext uri="{FF2B5EF4-FFF2-40B4-BE49-F238E27FC236}">
                  <a16:creationId xmlns:a16="http://schemas.microsoft.com/office/drawing/2014/main" id="{BBA6C457-00E4-FE6B-A695-FAAFF80911DB}"/>
                </a:ext>
              </a:extLst>
            </p:cNvPr>
            <p:cNvCxnSpPr/>
            <p:nvPr/>
          </p:nvCxnSpPr>
          <p:spPr bwMode="auto">
            <a:xfrm flipH="1">
              <a:off x="1383074" y="3005018"/>
              <a:ext cx="506191" cy="307783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52" name="CaixaDeTexto 51">
              <a:extLst>
                <a:ext uri="{FF2B5EF4-FFF2-40B4-BE49-F238E27FC236}">
                  <a16:creationId xmlns:a16="http://schemas.microsoft.com/office/drawing/2014/main" id="{626B0AA7-4928-B2CA-A0B3-40415C726EE0}"/>
                </a:ext>
              </a:extLst>
            </p:cNvPr>
            <p:cNvSpPr txBox="1"/>
            <p:nvPr/>
          </p:nvSpPr>
          <p:spPr>
            <a:xfrm>
              <a:off x="2489812" y="3382769"/>
              <a:ext cx="35939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</a:t>
              </a:r>
              <a:r>
                <a:rPr lang="pt-BR" baseline="-25000" dirty="0"/>
                <a:t>2</a:t>
              </a:r>
            </a:p>
          </p:txBody>
        </p:sp>
      </p:grpSp>
      <p:grpSp>
        <p:nvGrpSpPr>
          <p:cNvPr id="20639" name="Agrupar 20638">
            <a:extLst>
              <a:ext uri="{FF2B5EF4-FFF2-40B4-BE49-F238E27FC236}">
                <a16:creationId xmlns:a16="http://schemas.microsoft.com/office/drawing/2014/main" id="{CA6D1B05-6AC4-463F-3CBC-9E4D70E3D3F1}"/>
              </a:ext>
            </a:extLst>
          </p:cNvPr>
          <p:cNvGrpSpPr/>
          <p:nvPr/>
        </p:nvGrpSpPr>
        <p:grpSpPr>
          <a:xfrm>
            <a:off x="5782857" y="5189184"/>
            <a:ext cx="2090423" cy="1249184"/>
            <a:chOff x="5782857" y="5492184"/>
            <a:chExt cx="2090423" cy="1249184"/>
          </a:xfrm>
        </p:grpSpPr>
        <p:grpSp>
          <p:nvGrpSpPr>
            <p:cNvPr id="20575" name="Grupo 120">
              <a:extLst>
                <a:ext uri="{FF2B5EF4-FFF2-40B4-BE49-F238E27FC236}">
                  <a16:creationId xmlns:a16="http://schemas.microsoft.com/office/drawing/2014/main" id="{B983C715-45C5-7DE6-79BD-491DE8E783AD}"/>
                </a:ext>
              </a:extLst>
            </p:cNvPr>
            <p:cNvGrpSpPr/>
            <p:nvPr/>
          </p:nvGrpSpPr>
          <p:grpSpPr>
            <a:xfrm>
              <a:off x="5782857" y="6093296"/>
              <a:ext cx="699506" cy="648072"/>
              <a:chOff x="6548219" y="2348880"/>
              <a:chExt cx="1088121" cy="1008112"/>
            </a:xfrm>
          </p:grpSpPr>
          <p:grpSp>
            <p:nvGrpSpPr>
              <p:cNvPr id="20611" name="Grupo 121">
                <a:extLst>
                  <a:ext uri="{FF2B5EF4-FFF2-40B4-BE49-F238E27FC236}">
                    <a16:creationId xmlns:a16="http://schemas.microsoft.com/office/drawing/2014/main" id="{61790AD4-DD73-FDFF-0965-6C75AA19E60A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20613" name="Retângulo com Único Canto Aparado 123">
                  <a:extLst>
                    <a:ext uri="{FF2B5EF4-FFF2-40B4-BE49-F238E27FC236}">
                      <a16:creationId xmlns:a16="http://schemas.microsoft.com/office/drawing/2014/main" id="{437D2A88-13CA-4BD2-5F06-4F6875109395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cxnSp>
              <p:nvCxnSpPr>
                <p:cNvPr id="20614" name="Conector reto 20613">
                  <a:extLst>
                    <a:ext uri="{FF2B5EF4-FFF2-40B4-BE49-F238E27FC236}">
                      <a16:creationId xmlns:a16="http://schemas.microsoft.com/office/drawing/2014/main" id="{A9D3D082-352F-A4C9-EF75-CF564401FBA0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15" name="Conector reto 20614">
                  <a:extLst>
                    <a:ext uri="{FF2B5EF4-FFF2-40B4-BE49-F238E27FC236}">
                      <a16:creationId xmlns:a16="http://schemas.microsoft.com/office/drawing/2014/main" id="{14B905AA-B899-6FBF-3C74-16BE9AE53445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16" name="Conector reto 20615">
                  <a:extLst>
                    <a:ext uri="{FF2B5EF4-FFF2-40B4-BE49-F238E27FC236}">
                      <a16:creationId xmlns:a16="http://schemas.microsoft.com/office/drawing/2014/main" id="{A11A421D-8741-88F8-B984-2A59613642E3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17" name="Conector reto 20616">
                  <a:extLst>
                    <a:ext uri="{FF2B5EF4-FFF2-40B4-BE49-F238E27FC236}">
                      <a16:creationId xmlns:a16="http://schemas.microsoft.com/office/drawing/2014/main" id="{DD822369-F002-7925-E821-983019CC17A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18" name="Conector reto 20617">
                  <a:extLst>
                    <a:ext uri="{FF2B5EF4-FFF2-40B4-BE49-F238E27FC236}">
                      <a16:creationId xmlns:a16="http://schemas.microsoft.com/office/drawing/2014/main" id="{405B7037-5EE2-23D5-674F-7C7A0D175516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19" name="Conector reto 20618">
                  <a:extLst>
                    <a:ext uri="{FF2B5EF4-FFF2-40B4-BE49-F238E27FC236}">
                      <a16:creationId xmlns:a16="http://schemas.microsoft.com/office/drawing/2014/main" id="{87E0E8D5-69C0-4D1F-0F9D-BF6076C4A30B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20" name="Conector reto 20619">
                  <a:extLst>
                    <a:ext uri="{FF2B5EF4-FFF2-40B4-BE49-F238E27FC236}">
                      <a16:creationId xmlns:a16="http://schemas.microsoft.com/office/drawing/2014/main" id="{3415FA4A-7BFA-FCFC-C348-E893909CFC3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21" name="Conector reto 20620">
                  <a:extLst>
                    <a:ext uri="{FF2B5EF4-FFF2-40B4-BE49-F238E27FC236}">
                      <a16:creationId xmlns:a16="http://schemas.microsoft.com/office/drawing/2014/main" id="{0594D229-BEA6-129D-D31B-7B92648191E6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22" name="Conector reto 20621">
                  <a:extLst>
                    <a:ext uri="{FF2B5EF4-FFF2-40B4-BE49-F238E27FC236}">
                      <a16:creationId xmlns:a16="http://schemas.microsoft.com/office/drawing/2014/main" id="{74EB968A-6093-AC59-30A0-E4723D1FB1CD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23" name="Conector reto 20622">
                  <a:extLst>
                    <a:ext uri="{FF2B5EF4-FFF2-40B4-BE49-F238E27FC236}">
                      <a16:creationId xmlns:a16="http://schemas.microsoft.com/office/drawing/2014/main" id="{15E132C3-A6AE-7880-9858-C7C283745E50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24" name="Conector reto 20623">
                  <a:extLst>
                    <a:ext uri="{FF2B5EF4-FFF2-40B4-BE49-F238E27FC236}">
                      <a16:creationId xmlns:a16="http://schemas.microsoft.com/office/drawing/2014/main" id="{36ADBC35-4EBD-1FA8-4F72-DBD61CBC1E97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0612" name="Retângulo 20611">
                <a:extLst>
                  <a:ext uri="{FF2B5EF4-FFF2-40B4-BE49-F238E27FC236}">
                    <a16:creationId xmlns:a16="http://schemas.microsoft.com/office/drawing/2014/main" id="{2DB0E453-1689-A678-35C3-A25061AC40D2}"/>
                  </a:ext>
                </a:extLst>
              </p:cNvPr>
              <p:cNvSpPr/>
              <p:nvPr/>
            </p:nvSpPr>
            <p:spPr bwMode="auto">
              <a:xfrm>
                <a:off x="6548219" y="2924943"/>
                <a:ext cx="1088121" cy="336000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rPr>
                  <a:t> Dados</a:t>
                </a:r>
              </a:p>
              <a:p>
                <a:r>
                  <a:rPr lang="pt-BR" sz="700" dirty="0"/>
                  <a:t>Pesos f(A</a:t>
                </a:r>
                <a:r>
                  <a:rPr lang="pt-BR" sz="700" baseline="-25000" dirty="0"/>
                  <a:t>1,...,k-1</a:t>
                </a:r>
                <a:r>
                  <a:rPr lang="pt-BR" sz="700" dirty="0"/>
                  <a:t>)</a:t>
                </a:r>
              </a:p>
            </p:txBody>
          </p:sp>
        </p:grpSp>
        <p:sp>
          <p:nvSpPr>
            <p:cNvPr id="20576" name="Retângulo 20575">
              <a:extLst>
                <a:ext uri="{FF2B5EF4-FFF2-40B4-BE49-F238E27FC236}">
                  <a16:creationId xmlns:a16="http://schemas.microsoft.com/office/drawing/2014/main" id="{113B000E-6B3D-A96D-DBD9-CC737E45C716}"/>
                </a:ext>
              </a:extLst>
            </p:cNvPr>
            <p:cNvSpPr/>
            <p:nvPr/>
          </p:nvSpPr>
          <p:spPr>
            <a:xfrm>
              <a:off x="6004965" y="5492184"/>
              <a:ext cx="245580" cy="6001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sz="1100" b="1" dirty="0"/>
                <a:t>.</a:t>
              </a:r>
            </a:p>
            <a:p>
              <a:r>
                <a:rPr lang="pt-BR" sz="1100" b="1" dirty="0"/>
                <a:t>.</a:t>
              </a:r>
            </a:p>
            <a:p>
              <a:r>
                <a:rPr lang="pt-BR" sz="1100" b="1" dirty="0"/>
                <a:t>.</a:t>
              </a:r>
            </a:p>
          </p:txBody>
        </p:sp>
        <p:grpSp>
          <p:nvGrpSpPr>
            <p:cNvPr id="20578" name="Grupo 202">
              <a:extLst>
                <a:ext uri="{FF2B5EF4-FFF2-40B4-BE49-F238E27FC236}">
                  <a16:creationId xmlns:a16="http://schemas.microsoft.com/office/drawing/2014/main" id="{7FC2FF7D-42DC-D739-C3CD-0E9F6E32E840}"/>
                </a:ext>
              </a:extLst>
            </p:cNvPr>
            <p:cNvGrpSpPr/>
            <p:nvPr/>
          </p:nvGrpSpPr>
          <p:grpSpPr>
            <a:xfrm>
              <a:off x="6916546" y="6223973"/>
              <a:ext cx="505803" cy="386718"/>
              <a:chOff x="3347864" y="2852936"/>
              <a:chExt cx="505803" cy="386718"/>
            </a:xfrm>
          </p:grpSpPr>
          <p:sp>
            <p:nvSpPr>
              <p:cNvPr id="20585" name="Elipse 20584">
                <a:extLst>
                  <a:ext uri="{FF2B5EF4-FFF2-40B4-BE49-F238E27FC236}">
                    <a16:creationId xmlns:a16="http://schemas.microsoft.com/office/drawing/2014/main" id="{4C263D47-A884-F2AF-8BE1-2C4263FA07DA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86" name="Elipse 20585">
                <a:extLst>
                  <a:ext uri="{FF2B5EF4-FFF2-40B4-BE49-F238E27FC236}">
                    <a16:creationId xmlns:a16="http://schemas.microsoft.com/office/drawing/2014/main" id="{0344BA5C-2DD2-078E-ADF6-C8EBF454E28B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87" name="Elipse 20586">
                <a:extLst>
                  <a:ext uri="{FF2B5EF4-FFF2-40B4-BE49-F238E27FC236}">
                    <a16:creationId xmlns:a16="http://schemas.microsoft.com/office/drawing/2014/main" id="{E674EE4E-527A-0BE4-BC00-01D888A8E202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88" name="Elipse 20587">
                <a:extLst>
                  <a:ext uri="{FF2B5EF4-FFF2-40B4-BE49-F238E27FC236}">
                    <a16:creationId xmlns:a16="http://schemas.microsoft.com/office/drawing/2014/main" id="{59CCEEF0-6C56-1D19-5280-79168FE82D2B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89" name="Elipse 20588">
                <a:extLst>
                  <a:ext uri="{FF2B5EF4-FFF2-40B4-BE49-F238E27FC236}">
                    <a16:creationId xmlns:a16="http://schemas.microsoft.com/office/drawing/2014/main" id="{36BF7C80-6AD0-6047-D1F8-DFC4F280E0A5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90" name="Elipse 20589">
                <a:extLst>
                  <a:ext uri="{FF2B5EF4-FFF2-40B4-BE49-F238E27FC236}">
                    <a16:creationId xmlns:a16="http://schemas.microsoft.com/office/drawing/2014/main" id="{F24987E1-506A-6984-38DA-9C3DB3E91114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91" name="Elipse 20590">
                <a:extLst>
                  <a:ext uri="{FF2B5EF4-FFF2-40B4-BE49-F238E27FC236}">
                    <a16:creationId xmlns:a16="http://schemas.microsoft.com/office/drawing/2014/main" id="{9FBF03D0-4EE7-6D6E-2834-CB84DB99050B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cxnSp>
            <p:nvCxnSpPr>
              <p:cNvPr id="20592" name="Conector de seta reta 210">
                <a:extLst>
                  <a:ext uri="{FF2B5EF4-FFF2-40B4-BE49-F238E27FC236}">
                    <a16:creationId xmlns:a16="http://schemas.microsoft.com/office/drawing/2014/main" id="{F83FE801-67BF-CE34-838C-DB5322B45D0B}"/>
                  </a:ext>
                </a:extLst>
              </p:cNvPr>
              <p:cNvCxnSpPr>
                <a:stCxn id="20585" idx="4"/>
                <a:endCxn id="20586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93" name="Conector de seta reta 211">
                <a:extLst>
                  <a:ext uri="{FF2B5EF4-FFF2-40B4-BE49-F238E27FC236}">
                    <a16:creationId xmlns:a16="http://schemas.microsoft.com/office/drawing/2014/main" id="{9CE41462-56BF-455A-F657-B15351B12C3B}"/>
                  </a:ext>
                </a:extLst>
              </p:cNvPr>
              <p:cNvCxnSpPr>
                <a:stCxn id="20585" idx="4"/>
                <a:endCxn id="20587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94" name="Conector de seta reta 212">
                <a:extLst>
                  <a:ext uri="{FF2B5EF4-FFF2-40B4-BE49-F238E27FC236}">
                    <a16:creationId xmlns:a16="http://schemas.microsoft.com/office/drawing/2014/main" id="{993E39E1-B665-7059-6C19-D2A2B8AEEA51}"/>
                  </a:ext>
                </a:extLst>
              </p:cNvPr>
              <p:cNvCxnSpPr>
                <a:stCxn id="20586" idx="4"/>
                <a:endCxn id="20588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95" name="Conector de seta reta 213">
                <a:extLst>
                  <a:ext uri="{FF2B5EF4-FFF2-40B4-BE49-F238E27FC236}">
                    <a16:creationId xmlns:a16="http://schemas.microsoft.com/office/drawing/2014/main" id="{18BF3FC5-9079-F0B5-9BE9-0C0C48392FCC}"/>
                  </a:ext>
                </a:extLst>
              </p:cNvPr>
              <p:cNvCxnSpPr>
                <a:stCxn id="20586" idx="4"/>
                <a:endCxn id="20589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96" name="Conector de seta reta 214">
                <a:extLst>
                  <a:ext uri="{FF2B5EF4-FFF2-40B4-BE49-F238E27FC236}">
                    <a16:creationId xmlns:a16="http://schemas.microsoft.com/office/drawing/2014/main" id="{B3A75381-0405-E9A4-BC71-8C088DAA01FB}"/>
                  </a:ext>
                </a:extLst>
              </p:cNvPr>
              <p:cNvCxnSpPr>
                <a:stCxn id="20587" idx="4"/>
                <a:endCxn id="20590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97" name="Conector de seta reta 215">
                <a:extLst>
                  <a:ext uri="{FF2B5EF4-FFF2-40B4-BE49-F238E27FC236}">
                    <a16:creationId xmlns:a16="http://schemas.microsoft.com/office/drawing/2014/main" id="{E1F06E5F-020D-9E74-F6F2-F886828AD454}"/>
                  </a:ext>
                </a:extLst>
              </p:cNvPr>
              <p:cNvCxnSpPr>
                <a:stCxn id="20587" idx="4"/>
                <a:endCxn id="20591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cxnSp>
          <p:nvCxnSpPr>
            <p:cNvPr id="20580" name="Conector de seta reta 220">
              <a:extLst>
                <a:ext uri="{FF2B5EF4-FFF2-40B4-BE49-F238E27FC236}">
                  <a16:creationId xmlns:a16="http://schemas.microsoft.com/office/drawing/2014/main" id="{1042141D-4ED2-FDDF-B6E8-C618F1652F02}"/>
                </a:ext>
              </a:extLst>
            </p:cNvPr>
            <p:cNvCxnSpPr/>
            <p:nvPr/>
          </p:nvCxnSpPr>
          <p:spPr bwMode="auto">
            <a:xfrm>
              <a:off x="6502937" y="6417332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582" name="Conector de seta reta 152">
              <a:extLst>
                <a:ext uri="{FF2B5EF4-FFF2-40B4-BE49-F238E27FC236}">
                  <a16:creationId xmlns:a16="http://schemas.microsoft.com/office/drawing/2014/main" id="{FCE3E0F2-42FB-9AEE-4EF1-799981826118}"/>
                </a:ext>
              </a:extLst>
            </p:cNvPr>
            <p:cNvCxnSpPr/>
            <p:nvPr/>
          </p:nvCxnSpPr>
          <p:spPr bwMode="auto">
            <a:xfrm flipH="1">
              <a:off x="6410355" y="5523876"/>
              <a:ext cx="506191" cy="307783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0584" name="CaixaDeTexto 20583">
              <a:extLst>
                <a:ext uri="{FF2B5EF4-FFF2-40B4-BE49-F238E27FC236}">
                  <a16:creationId xmlns:a16="http://schemas.microsoft.com/office/drawing/2014/main" id="{2A908433-C2FD-1DF7-A8C0-619CE2BED7BD}"/>
                </a:ext>
              </a:extLst>
            </p:cNvPr>
            <p:cNvSpPr txBox="1"/>
            <p:nvPr/>
          </p:nvSpPr>
          <p:spPr>
            <a:xfrm>
              <a:off x="7520299" y="6278833"/>
              <a:ext cx="35298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err="1"/>
                <a:t>A</a:t>
              </a:r>
              <a:r>
                <a:rPr lang="pt-BR" baseline="-25000" dirty="0" err="1"/>
                <a:t>k</a:t>
              </a:r>
              <a:endParaRPr lang="pt-BR" baseline="-25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53097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553" grpId="0"/>
      <p:bldP spid="2055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989FE-8170-A761-F64E-6FC08335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87EA15-0B85-0D6E-DB81-5E8728E74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Balanceamento de Classes/Estratos</a:t>
            </a:r>
          </a:p>
        </p:txBody>
      </p:sp>
      <p:sp>
        <p:nvSpPr>
          <p:cNvPr id="10243" name="Text Box 31">
            <a:extLst>
              <a:ext uri="{FF2B5EF4-FFF2-40B4-BE49-F238E27FC236}">
                <a16:creationId xmlns:a16="http://schemas.microsoft.com/office/drawing/2014/main" id="{A00D4CB5-1313-68D5-EEED-A4F6AB6720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1268760"/>
            <a:ext cx="8424863" cy="4474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Muitas técnicas estatísticas são fortemente influenciadas pelo desbalanceamento das classes ou estratos usados no treinamento. Em geral, classes minoritárias são preteridas ou negligenciadas durante o processo de treinamento de modelos supervisionados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Algumas técnicas podem ser aplicadas para mitigar esse tipo de problema: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600" i="1" dirty="0" err="1">
                <a:latin typeface="Tahoma" panose="020B0604030504040204" pitchFamily="34" charset="0"/>
              </a:rPr>
              <a:t>Oversampling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dirty="0" err="1">
                <a:latin typeface="Tahoma" panose="020B0604030504040204" pitchFamily="34" charset="0"/>
              </a:rPr>
              <a:t>Superamostragem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marL="361950" indent="-180975" eaLnBrk="1" hangingPunct="1">
              <a:lnSpc>
                <a:spcPct val="150000"/>
              </a:lnSpc>
              <a:spcBef>
                <a:spcPct val="0"/>
              </a:spcBef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Aumenta-se o número de amostras da classe minoritária: </a:t>
            </a:r>
            <a:r>
              <a:rPr lang="pt-BR" altLang="pt-BR" sz="1600" dirty="0" err="1">
                <a:latin typeface="Tahoma" panose="020B0604030504040204" pitchFamily="34" charset="0"/>
              </a:rPr>
              <a:t>superamostragem</a:t>
            </a:r>
            <a:r>
              <a:rPr lang="pt-BR" altLang="pt-BR" sz="1600" dirty="0">
                <a:latin typeface="Tahoma" panose="020B0604030504040204" pitchFamily="34" charset="0"/>
              </a:rPr>
              <a:t> aleatória (duplicação de amostras), SMOTE, ADASYN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600" i="1" dirty="0" err="1">
                <a:latin typeface="Tahoma" panose="020B0604030504040204" pitchFamily="34" charset="0"/>
              </a:rPr>
              <a:t>Undersampling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dirty="0" err="1">
                <a:latin typeface="Tahoma" panose="020B0604030504040204" pitchFamily="34" charset="0"/>
              </a:rPr>
              <a:t>Subamostragem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marL="361950" indent="-180975" eaLnBrk="1" hangingPunct="1">
              <a:lnSpc>
                <a:spcPct val="150000"/>
              </a:lnSpc>
              <a:spcBef>
                <a:spcPct val="0"/>
              </a:spcBef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Reduz-se o número de amostras da classe majoritária: </a:t>
            </a:r>
            <a:r>
              <a:rPr lang="pt-BR" altLang="pt-BR" sz="1600" dirty="0" err="1">
                <a:latin typeface="Tahoma" panose="020B0604030504040204" pitchFamily="34" charset="0"/>
              </a:rPr>
              <a:t>subamostragem</a:t>
            </a:r>
            <a:r>
              <a:rPr lang="pt-BR" altLang="pt-BR" sz="1600" dirty="0">
                <a:latin typeface="Tahoma" panose="020B0604030504040204" pitchFamily="34" charset="0"/>
              </a:rPr>
              <a:t> aleatória (eliminação de amostras), remoção de amostras redundantes ou pouco informativas (usando critérios de proximidade)</a:t>
            </a:r>
          </a:p>
        </p:txBody>
      </p:sp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BC8B53CD-7A78-B0BF-EDCF-55317965D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46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4281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Perturbação aleatória</a:t>
            </a:r>
            <a:endParaRPr lang="pt-BR" i="1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FC7B75-3DC1-42C3-992C-9F656F9965D7}" type="slidenum">
              <a:rPr lang="pt-BR"/>
              <a:pPr>
                <a:defRPr/>
              </a:pPr>
              <a:t>47</a:t>
            </a:fld>
            <a:endParaRPr lang="pt-BR"/>
          </a:p>
        </p:txBody>
      </p:sp>
      <p:sp>
        <p:nvSpPr>
          <p:cNvPr id="3" name="Text Box 31">
            <a:extLst>
              <a:ext uri="{FF2B5EF4-FFF2-40B4-BE49-F238E27FC236}">
                <a16:creationId xmlns:a16="http://schemas.microsoft.com/office/drawing/2014/main" id="{68358605-8F30-D4B7-DDD0-7B438302E8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1445875"/>
            <a:ext cx="8568952" cy="5212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alguns casos (amostragens pequenas, modelos determinísticos, por exemplo), a introdução de perturbações nos dados de entrada podem ajudar o processo de modelagem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Estimação de distribuições de resultados em modelos determinísticos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O método de Monte Carlo pode ser empregado para estimar a distribuição de resultados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Simulação de dados reais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A perturbação permite avaliar a incerteza “natural” esperada em dados reais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Robustez do modelo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A adição de ruídos aos dados ou aos parâmetros do modelo permitem avaliar sua estabilidade e sensibilidade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Otimização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Em algoritmos de otimização, como algoritmos genéticos, a perturbação aleatória pode favorecer a busca por soluções globais por evitar que o mesmo fique “preso” a soluções locais</a:t>
            </a:r>
          </a:p>
        </p:txBody>
      </p:sp>
    </p:spTree>
    <p:extLst>
      <p:ext uri="{BB962C8B-B14F-4D97-AF65-F5344CB8AC3E}">
        <p14:creationId xmlns:p14="http://schemas.microsoft.com/office/powerpoint/2010/main" val="895877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CB94F-6EF7-63B1-DF93-A43A5DEFD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>
            <a:extLst>
              <a:ext uri="{FF2B5EF4-FFF2-40B4-BE49-F238E27FC236}">
                <a16:creationId xmlns:a16="http://schemas.microsoft.com/office/drawing/2014/main" id="{77B5DC7A-2464-F82E-C7BA-5D6C35646B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Aprendizado Ativo – </a:t>
            </a:r>
            <a:r>
              <a:rPr lang="pt-BR" i="1" dirty="0"/>
              <a:t>Active Learning</a:t>
            </a:r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7ED8CEC6-CE4A-F638-ABCF-A0B9DC7531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12" y="1500188"/>
            <a:ext cx="8856984" cy="41047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uma técnica na qual o algoritmo de aprendizado busca especificamente os dados que são mais informativos para o modelo em vez de ser treinado por todo o conjunto de dados disponível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vez de sortear um subconjunto de amostras aleatoriamente (por alguma técnica de reamostragem), o modelo seleciona as amostras que considera mais informativas ou atribui pesos às amostras, de acordo com algum critério:</a:t>
            </a:r>
          </a:p>
          <a:p>
            <a:pPr marL="714375" indent="-352425" eaLnBrk="1" hangingPunct="1">
              <a:lnSpc>
                <a:spcPct val="150000"/>
              </a:lnSpc>
              <a:spcBef>
                <a:spcPct val="0"/>
              </a:spcBef>
              <a:buFont typeface="+mj-lt"/>
              <a:buAutoNum type="alphaLcParenR"/>
            </a:pPr>
            <a:r>
              <a:rPr lang="pt-BR" altLang="pt-BR" sz="1600" dirty="0">
                <a:latin typeface="Tahoma" panose="020B0604030504040204" pitchFamily="34" charset="0"/>
              </a:rPr>
              <a:t>Maior incerteza: o algoritmo privilegia as amostras que tem maior dificuldade para classificar ou maior erro ao estimar seu valor</a:t>
            </a:r>
          </a:p>
          <a:p>
            <a:pPr marL="714375" indent="-352425" eaLnBrk="1" hangingPunct="1">
              <a:lnSpc>
                <a:spcPct val="150000"/>
              </a:lnSpc>
              <a:spcBef>
                <a:spcPct val="0"/>
              </a:spcBef>
              <a:buFont typeface="+mj-lt"/>
              <a:buAutoNum type="alphaLcParenR"/>
            </a:pPr>
            <a:r>
              <a:rPr lang="pt-BR" altLang="pt-BR" sz="1600" dirty="0">
                <a:latin typeface="Tahoma" panose="020B0604030504040204" pitchFamily="34" charset="0"/>
              </a:rPr>
              <a:t>Maior acerto: o algoritmo escolhe amostras que tenham maior impacto no desempenho final do modelo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59D0197F-61BF-A5E5-222B-DFFA0CA38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FC7B75-3DC1-42C3-992C-9F656F9965D7}" type="slidenum">
              <a:rPr lang="pt-BR"/>
              <a:pPr>
                <a:defRPr/>
              </a:pPr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4593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build="p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lnDef>
  </a:objectDefaults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21403</TotalTime>
  <Words>5081</Words>
  <Application>Microsoft Office PowerPoint</Application>
  <PresentationFormat>Apresentação na tela (4:3)</PresentationFormat>
  <Paragraphs>817</Paragraphs>
  <Slides>48</Slides>
  <Notes>0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2</vt:i4>
      </vt:variant>
      <vt:variant>
        <vt:lpstr>Títulos de slides</vt:lpstr>
      </vt:variant>
      <vt:variant>
        <vt:i4>48</vt:i4>
      </vt:variant>
    </vt:vector>
  </HeadingPairs>
  <TitlesOfParts>
    <vt:vector size="59" baseType="lpstr">
      <vt:lpstr>Arial Unicode MS</vt:lpstr>
      <vt:lpstr>Arial</vt:lpstr>
      <vt:lpstr>Calibri</vt:lpstr>
      <vt:lpstr>Cambria Math</vt:lpstr>
      <vt:lpstr>Comic Sans MS</vt:lpstr>
      <vt:lpstr>Tahoma</vt:lpstr>
      <vt:lpstr>Times New Roman</vt:lpstr>
      <vt:lpstr>Verdana</vt:lpstr>
      <vt:lpstr>Estrutura padrão</vt:lpstr>
      <vt:lpstr>Equation</vt:lpstr>
      <vt:lpstr>Equação</vt:lpstr>
      <vt:lpstr>Estatística: Aplicação ao Sensoriamento Remoto  SER 204  Teoria da amostragem</vt:lpstr>
      <vt:lpstr>Algumas Considerações...</vt:lpstr>
      <vt:lpstr>Algumas Considerações...</vt:lpstr>
      <vt:lpstr>Censo ou Amostragem?</vt:lpstr>
      <vt:lpstr>Amostragem</vt:lpstr>
      <vt:lpstr>Unidade Amostral</vt:lpstr>
      <vt:lpstr>Unidade Amostral</vt:lpstr>
      <vt:lpstr>Unidade Amostral</vt:lpstr>
      <vt:lpstr>Tipos de Amostragem</vt:lpstr>
      <vt:lpstr>Tipos de Amostragem</vt:lpstr>
      <vt:lpstr>Tipos de Amostragem</vt:lpstr>
      <vt:lpstr>Tipos de Amostragem</vt:lpstr>
      <vt:lpstr>Tipos de Amostragem</vt:lpstr>
      <vt:lpstr>Desenho amostral (Sampling Design)</vt:lpstr>
      <vt:lpstr>Amostragem Aleatória Simples</vt:lpstr>
      <vt:lpstr>Amostragem Aleatória Simples</vt:lpstr>
      <vt:lpstr>Amostragem Sistemática</vt:lpstr>
      <vt:lpstr>Amostragem Sistemática Não Alinhada</vt:lpstr>
      <vt:lpstr>Amostragem em Conglomerados (Cluster)</vt:lpstr>
      <vt:lpstr>Amostragem Estratificada</vt:lpstr>
      <vt:lpstr>Tamanho da Amostra</vt:lpstr>
      <vt:lpstr>Tamanho da Amostra</vt:lpstr>
      <vt:lpstr>Tamanho da Amostra</vt:lpstr>
      <vt:lpstr>Tamanho da Amostra</vt:lpstr>
      <vt:lpstr>Tamanho da Amostra</vt:lpstr>
      <vt:lpstr>Tamanho da Amostra</vt:lpstr>
      <vt:lpstr>Tamanho da Amostra</vt:lpstr>
      <vt:lpstr>Qual impacto da amostragem estratificada?</vt:lpstr>
      <vt:lpstr>Qual impacto da amostragem estratificada?</vt:lpstr>
      <vt:lpstr>Amostras de Treinamento, Teste e Validação</vt:lpstr>
      <vt:lpstr>Amostras de Treinamento, Teste e Validação</vt:lpstr>
      <vt:lpstr>Amostragem Iterativa</vt:lpstr>
      <vt:lpstr>Reamostragem</vt:lpstr>
      <vt:lpstr>Jackknife</vt:lpstr>
      <vt:lpstr>Jackknife</vt:lpstr>
      <vt:lpstr>Bootstrap</vt:lpstr>
      <vt:lpstr>Bootstrap</vt:lpstr>
      <vt:lpstr>Bootstrap - Exemplo</vt:lpstr>
      <vt:lpstr>Bootstrap</vt:lpstr>
      <vt:lpstr>Testes de Aleatorização</vt:lpstr>
      <vt:lpstr>Testes de Aleatorização - Exemplo</vt:lpstr>
      <vt:lpstr>Testes de Aleatorização - Exemplo</vt:lpstr>
      <vt:lpstr>Testes de Aleatorização - Exemplo</vt:lpstr>
      <vt:lpstr>Validação Cruzada</vt:lpstr>
      <vt:lpstr>Boosting</vt:lpstr>
      <vt:lpstr>Balanceamento de Classes/Estratos</vt:lpstr>
      <vt:lpstr>Perturbação aleatória</vt:lpstr>
      <vt:lpstr>Aprendizado Ativo – Active Learning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Teoria da Amostragem</dc:title>
  <dc:creator>Camilo Daleles Rennó, DPI/INPE</dc:creator>
  <cp:lastModifiedBy>Camilo Daleles Rennó</cp:lastModifiedBy>
  <cp:revision>745</cp:revision>
  <cp:lastPrinted>2016-05-10T12:20:20Z</cp:lastPrinted>
  <dcterms:created xsi:type="dcterms:W3CDTF">2003-03-18T00:57:51Z</dcterms:created>
  <dcterms:modified xsi:type="dcterms:W3CDTF">2026-05-18T17:18:07Z</dcterms:modified>
</cp:coreProperties>
</file>