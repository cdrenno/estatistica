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4"/>
  </p:notesMasterIdLst>
  <p:sldIdLst>
    <p:sldId id="353" r:id="rId2"/>
    <p:sldId id="311" r:id="rId3"/>
    <p:sldId id="359" r:id="rId4"/>
    <p:sldId id="357" r:id="rId5"/>
    <p:sldId id="358" r:id="rId6"/>
    <p:sldId id="350" r:id="rId7"/>
    <p:sldId id="351" r:id="rId8"/>
    <p:sldId id="355" r:id="rId9"/>
    <p:sldId id="354" r:id="rId10"/>
    <p:sldId id="266" r:id="rId11"/>
    <p:sldId id="315" r:id="rId12"/>
    <p:sldId id="317" r:id="rId13"/>
    <p:sldId id="316" r:id="rId14"/>
    <p:sldId id="267" r:id="rId15"/>
    <p:sldId id="319" r:id="rId16"/>
    <p:sldId id="320" r:id="rId17"/>
    <p:sldId id="321" r:id="rId18"/>
    <p:sldId id="322" r:id="rId19"/>
    <p:sldId id="318" r:id="rId20"/>
    <p:sldId id="324" r:id="rId21"/>
    <p:sldId id="323" r:id="rId22"/>
    <p:sldId id="314" r:id="rId23"/>
    <p:sldId id="325" r:id="rId24"/>
    <p:sldId id="326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327" r:id="rId35"/>
    <p:sldId id="328" r:id="rId36"/>
    <p:sldId id="329" r:id="rId37"/>
    <p:sldId id="299" r:id="rId38"/>
    <p:sldId id="360" r:id="rId39"/>
    <p:sldId id="330" r:id="rId40"/>
    <p:sldId id="309" r:id="rId41"/>
    <p:sldId id="310" r:id="rId42"/>
    <p:sldId id="331" r:id="rId43"/>
  </p:sldIdLst>
  <p:sldSz cx="9144000" cy="6858000" type="screen4x3"/>
  <p:notesSz cx="6858000" cy="9144000"/>
  <p:defaultTextStyle>
    <a:defPPr>
      <a:defRPr lang="pt-BR"/>
    </a:defPPr>
    <a:lvl1pPr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5pPr>
    <a:lvl6pPr marL="22860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6pPr>
    <a:lvl7pPr marL="27432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7pPr>
    <a:lvl8pPr marL="32004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8pPr>
    <a:lvl9pPr marL="3657600" algn="l" defTabSz="914400" rtl="0" eaLnBrk="1" latinLnBrk="0" hangingPunct="1">
      <a:defRPr sz="1600" kern="1200">
        <a:solidFill>
          <a:schemeClr val="tx1"/>
        </a:solidFill>
        <a:latin typeface="Comic Sans MS" pitchFamily="66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9E811CB-31FE-4B72-8985-8E0209E21B06}" v="55" dt="2025-06-11T16:53:53.40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51" autoAdjust="0"/>
    <p:restoredTop sz="94714" autoAdjust="0"/>
  </p:normalViewPr>
  <p:slideViewPr>
    <p:cSldViewPr>
      <p:cViewPr varScale="1">
        <p:scale>
          <a:sx n="94" d="100"/>
          <a:sy n="94" d="100"/>
        </p:scale>
        <p:origin x="2010" y="31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  <p:sld r:id="rId2" collapse="1"/>
      <p:sld r:id="rId3" collapse="1"/>
      <p:sld r:id="rId4" collapse="1"/>
      <p:sld r:id="rId5" collapse="1"/>
      <p:sld r:id="rId6" collapse="1"/>
      <p:sld r:id="rId7" collapse="1"/>
      <p:sld r:id="rId8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50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_rels/viewProps.xml.rels><?xml version="1.0" encoding="UTF-8" standalone="yes"?>
<Relationships xmlns="http://schemas.openxmlformats.org/package/2006/relationships"><Relationship Id="rId8" Type="http://schemas.openxmlformats.org/officeDocument/2006/relationships/slide" Target="slides/slide24.xml"/><Relationship Id="rId3" Type="http://schemas.openxmlformats.org/officeDocument/2006/relationships/slide" Target="slides/slide9.xml"/><Relationship Id="rId7" Type="http://schemas.openxmlformats.org/officeDocument/2006/relationships/slide" Target="slides/slide13.xml"/><Relationship Id="rId2" Type="http://schemas.openxmlformats.org/officeDocument/2006/relationships/slide" Target="slides/slide8.xml"/><Relationship Id="rId1" Type="http://schemas.openxmlformats.org/officeDocument/2006/relationships/slide" Target="slides/slide1.xml"/><Relationship Id="rId6" Type="http://schemas.openxmlformats.org/officeDocument/2006/relationships/slide" Target="slides/slide12.xml"/><Relationship Id="rId5" Type="http://schemas.openxmlformats.org/officeDocument/2006/relationships/slide" Target="slides/slide11.xml"/><Relationship Id="rId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milo Daleles Rennó" userId="eac9aab033b2f962" providerId="LiveId" clId="{5DEB0508-6D8B-42B4-A73C-8AE6908445F8}"/>
    <pc:docChg chg="undo custSel modSld">
      <pc:chgData name="Camilo Daleles Rennó" userId="eac9aab033b2f962" providerId="LiveId" clId="{5DEB0508-6D8B-42B4-A73C-8AE6908445F8}" dt="2025-05-08T13:24:45.577" v="161"/>
      <pc:docMkLst>
        <pc:docMk/>
      </pc:docMkLst>
      <pc:sldChg chg="modSp">
        <pc:chgData name="Camilo Daleles Rennó" userId="eac9aab033b2f962" providerId="LiveId" clId="{5DEB0508-6D8B-42B4-A73C-8AE6908445F8}" dt="2025-05-08T12:58:01.225" v="131" actId="20577"/>
        <pc:sldMkLst>
          <pc:docMk/>
          <pc:sldMk cId="0" sldId="267"/>
        </pc:sldMkLst>
        <pc:spChg chg="mod">
          <ac:chgData name="Camilo Daleles Rennó" userId="eac9aab033b2f962" providerId="LiveId" clId="{5DEB0508-6D8B-42B4-A73C-8AE6908445F8}" dt="2025-05-08T12:58:01.225" v="131" actId="20577"/>
          <ac:spMkLst>
            <pc:docMk/>
            <pc:sldMk cId="0" sldId="267"/>
            <ac:spMk id="14379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67"/>
            <ac:spMk id="14417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67"/>
            <ac:spMk id="16402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67"/>
            <ac:spMk id="16403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67"/>
            <ac:spMk id="16404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67"/>
            <ac:spMk id="16406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67"/>
            <ac:spMk id="16407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67"/>
            <ac:spMk id="16408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67"/>
            <ac:spMk id="16409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67"/>
            <ac:spMk id="16410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67"/>
            <ac:spMk id="16411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7T16:08:37.865" v="1"/>
        <pc:sldMkLst>
          <pc:docMk/>
          <pc:sldMk cId="0" sldId="275"/>
        </pc:sldMkLst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75"/>
            <ac:spMk id="29700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7T16:08:37.865" v="1"/>
        <pc:sldMkLst>
          <pc:docMk/>
          <pc:sldMk cId="0" sldId="279"/>
        </pc:sldMkLst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79"/>
            <ac:spMk id="33796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7T16:08:37.865" v="1"/>
        <pc:sldMkLst>
          <pc:docMk/>
          <pc:sldMk cId="0" sldId="299"/>
        </pc:sldMkLst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99"/>
            <ac:spMk id="42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299"/>
            <ac:spMk id="39939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7T16:08:37.865" v="1"/>
        <pc:sldMkLst>
          <pc:docMk/>
          <pc:sldMk cId="0" sldId="309"/>
        </pc:sldMkLst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09"/>
            <ac:spMk id="43019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09"/>
            <ac:spMk id="64547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7T16:08:37.865" v="1"/>
        <pc:sldMkLst>
          <pc:docMk/>
          <pc:sldMk cId="0" sldId="310"/>
        </pc:sldMkLst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10"/>
            <ac:spMk id="44041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8T12:52:59.378" v="100" actId="1037"/>
        <pc:sldMkLst>
          <pc:docMk/>
          <pc:sldMk cId="0" sldId="311"/>
        </pc:sldMkLst>
        <pc:spChg chg="mod">
          <ac:chgData name="Camilo Daleles Rennó" userId="eac9aab033b2f962" providerId="LiveId" clId="{5DEB0508-6D8B-42B4-A73C-8AE6908445F8}" dt="2025-05-08T12:52:59.378" v="100" actId="1037"/>
          <ac:spMkLst>
            <pc:docMk/>
            <pc:sldMk cId="0" sldId="311"/>
            <ac:spMk id="20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8T12:52:59.378" v="100" actId="1037"/>
          <ac:spMkLst>
            <pc:docMk/>
            <pc:sldMk cId="0" sldId="311"/>
            <ac:spMk id="21" creationId="{00000000-0000-0000-0000-000000000000}"/>
          </ac:spMkLst>
        </pc:spChg>
      </pc:sldChg>
      <pc:sldChg chg="addSp modSp mod modAnim">
        <pc:chgData name="Camilo Daleles Rennó" userId="eac9aab033b2f962" providerId="LiveId" clId="{5DEB0508-6D8B-42B4-A73C-8AE6908445F8}" dt="2025-05-08T12:55:41.868" v="113"/>
        <pc:sldMkLst>
          <pc:docMk/>
          <pc:sldMk cId="0" sldId="315"/>
        </pc:sldMkLst>
        <pc:spChg chg="mod">
          <ac:chgData name="Camilo Daleles Rennó" userId="eac9aab033b2f962" providerId="LiveId" clId="{5DEB0508-6D8B-42B4-A73C-8AE6908445F8}" dt="2025-05-08T12:55:21.122" v="107" actId="571"/>
          <ac:spMkLst>
            <pc:docMk/>
            <pc:sldMk cId="0" sldId="315"/>
            <ac:spMk id="7" creationId="{DB54137B-FFA9-A4E7-C4E1-5D294C2E5410}"/>
          </ac:spMkLst>
        </pc:spChg>
        <pc:spChg chg="mod">
          <ac:chgData name="Camilo Daleles Rennó" userId="eac9aab033b2f962" providerId="LiveId" clId="{5DEB0508-6D8B-42B4-A73C-8AE6908445F8}" dt="2025-05-08T12:55:21.122" v="107" actId="571"/>
          <ac:spMkLst>
            <pc:docMk/>
            <pc:sldMk cId="0" sldId="315"/>
            <ac:spMk id="8" creationId="{F0422AF9-6512-A36E-48FD-6C19F060D805}"/>
          </ac:spMkLst>
        </pc:spChg>
        <pc:grpChg chg="add mod">
          <ac:chgData name="Camilo Daleles Rennó" userId="eac9aab033b2f962" providerId="LiveId" clId="{5DEB0508-6D8B-42B4-A73C-8AE6908445F8}" dt="2025-05-08T12:55:36.735" v="112" actId="14100"/>
          <ac:grpSpMkLst>
            <pc:docMk/>
            <pc:sldMk cId="0" sldId="315"/>
            <ac:grpSpMk id="6" creationId="{939EDE33-94A8-879B-1775-621ED85724CD}"/>
          </ac:grpSpMkLst>
        </pc:grpChg>
      </pc:sldChg>
      <pc:sldChg chg="addSp delSp modSp mod modAnim">
        <pc:chgData name="Camilo Daleles Rennó" userId="eac9aab033b2f962" providerId="LiveId" clId="{5DEB0508-6D8B-42B4-A73C-8AE6908445F8}" dt="2025-05-08T12:58:34.549" v="135"/>
        <pc:sldMkLst>
          <pc:docMk/>
          <pc:sldMk cId="0" sldId="319"/>
        </pc:sldMkLst>
        <pc:spChg chg="add mod">
          <ac:chgData name="Camilo Daleles Rennó" userId="eac9aab033b2f962" providerId="LiveId" clId="{5DEB0508-6D8B-42B4-A73C-8AE6908445F8}" dt="2025-05-08T12:58:32.595" v="134"/>
          <ac:spMkLst>
            <pc:docMk/>
            <pc:sldMk cId="0" sldId="319"/>
            <ac:spMk id="3" creationId="{52BB8D68-B156-9A1B-2082-A24207891327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19"/>
            <ac:spMk id="17426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19"/>
            <ac:spMk id="17427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19"/>
            <ac:spMk id="17428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19"/>
            <ac:spMk id="17430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19"/>
            <ac:spMk id="17431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19"/>
            <ac:spMk id="17432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19"/>
            <ac:spMk id="17433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19"/>
            <ac:spMk id="17434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19"/>
            <ac:spMk id="17435" creationId="{00000000-0000-0000-0000-000000000000}"/>
          </ac:spMkLst>
        </pc:spChg>
        <pc:grpChg chg="mod">
          <ac:chgData name="Camilo Daleles Rennó" userId="eac9aab033b2f962" providerId="LiveId" clId="{5DEB0508-6D8B-42B4-A73C-8AE6908445F8}" dt="2025-05-07T16:08:37.865" v="1"/>
          <ac:grpSpMkLst>
            <pc:docMk/>
            <pc:sldMk cId="0" sldId="319"/>
            <ac:grpSpMk id="8" creationId="{00000000-0000-0000-0000-000000000000}"/>
          </ac:grpSpMkLst>
        </pc:grpChg>
      </pc:sldChg>
      <pc:sldChg chg="addSp delSp modSp">
        <pc:chgData name="Camilo Daleles Rennó" userId="eac9aab033b2f962" providerId="LiveId" clId="{5DEB0508-6D8B-42B4-A73C-8AE6908445F8}" dt="2025-05-08T12:58:41.796" v="137"/>
        <pc:sldMkLst>
          <pc:docMk/>
          <pc:sldMk cId="0" sldId="320"/>
        </pc:sldMkLst>
        <pc:spChg chg="add mod">
          <ac:chgData name="Camilo Daleles Rennó" userId="eac9aab033b2f962" providerId="LiveId" clId="{5DEB0508-6D8B-42B4-A73C-8AE6908445F8}" dt="2025-05-08T12:58:41.796" v="137"/>
          <ac:spMkLst>
            <pc:docMk/>
            <pc:sldMk cId="0" sldId="320"/>
            <ac:spMk id="3" creationId="{F98EE2EB-9607-1F77-CB00-77D2C5850179}"/>
          </ac:spMkLst>
        </pc:spChg>
      </pc:sldChg>
      <pc:sldChg chg="addSp delSp modSp">
        <pc:chgData name="Camilo Daleles Rennó" userId="eac9aab033b2f962" providerId="LiveId" clId="{5DEB0508-6D8B-42B4-A73C-8AE6908445F8}" dt="2025-05-08T12:58:45.994" v="139"/>
        <pc:sldMkLst>
          <pc:docMk/>
          <pc:sldMk cId="0" sldId="321"/>
        </pc:sldMkLst>
        <pc:spChg chg="add mod">
          <ac:chgData name="Camilo Daleles Rennó" userId="eac9aab033b2f962" providerId="LiveId" clId="{5DEB0508-6D8B-42B4-A73C-8AE6908445F8}" dt="2025-05-08T12:58:45.994" v="139"/>
          <ac:spMkLst>
            <pc:docMk/>
            <pc:sldMk cId="0" sldId="321"/>
            <ac:spMk id="3" creationId="{601BE1C9-590A-FE4D-890F-5BC125617B1E}"/>
          </ac:spMkLst>
        </pc:spChg>
      </pc:sldChg>
      <pc:sldChg chg="addSp delSp modSp">
        <pc:chgData name="Camilo Daleles Rennó" userId="eac9aab033b2f962" providerId="LiveId" clId="{5DEB0508-6D8B-42B4-A73C-8AE6908445F8}" dt="2025-05-08T12:58:50.711" v="141"/>
        <pc:sldMkLst>
          <pc:docMk/>
          <pc:sldMk cId="0" sldId="322"/>
        </pc:sldMkLst>
        <pc:spChg chg="add mod">
          <ac:chgData name="Camilo Daleles Rennó" userId="eac9aab033b2f962" providerId="LiveId" clId="{5DEB0508-6D8B-42B4-A73C-8AE6908445F8}" dt="2025-05-08T12:58:50.711" v="141"/>
          <ac:spMkLst>
            <pc:docMk/>
            <pc:sldMk cId="0" sldId="322"/>
            <ac:spMk id="3" creationId="{A30D76C4-4DEA-AB91-7C55-5E437796EC7E}"/>
          </ac:spMkLst>
        </pc:spChg>
      </pc:sldChg>
      <pc:sldChg chg="modSp mod">
        <pc:chgData name="Camilo Daleles Rennó" userId="eac9aab033b2f962" providerId="LiveId" clId="{5DEB0508-6D8B-42B4-A73C-8AE6908445F8}" dt="2025-05-08T12:59:06.968" v="159" actId="20577"/>
        <pc:sldMkLst>
          <pc:docMk/>
          <pc:sldMk cId="0" sldId="324"/>
        </pc:sldMkLst>
        <pc:spChg chg="mod">
          <ac:chgData name="Camilo Daleles Rennó" userId="eac9aab033b2f962" providerId="LiveId" clId="{5DEB0508-6D8B-42B4-A73C-8AE6908445F8}" dt="2025-05-08T12:59:06.968" v="159" actId="20577"/>
          <ac:spMkLst>
            <pc:docMk/>
            <pc:sldMk cId="0" sldId="324"/>
            <ac:spMk id="22533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7T16:08:37.865" v="1"/>
        <pc:sldMkLst>
          <pc:docMk/>
          <pc:sldMk cId="0" sldId="329"/>
        </pc:sldMkLst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29"/>
            <ac:spMk id="37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29"/>
            <ac:spMk id="85024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7T16:08:37.865" v="1"/>
        <pc:sldMkLst>
          <pc:docMk/>
          <pc:sldMk cId="0" sldId="331"/>
        </pc:sldMkLst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31"/>
            <ac:spMk id="45065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7T16:08:37.865" v="1"/>
        <pc:sldMkLst>
          <pc:docMk/>
          <pc:sldMk cId="0" sldId="351"/>
        </pc:sldMkLst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51"/>
            <ac:spMk id="47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51"/>
            <ac:spMk id="75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51"/>
            <ac:spMk id="9239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51"/>
            <ac:spMk id="9240" creationId="{00000000-0000-0000-0000-000000000000}"/>
          </ac:spMkLst>
        </pc:spChg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51"/>
            <ac:spMk id="9241" creationId="{00000000-0000-0000-0000-000000000000}"/>
          </ac:spMkLst>
        </pc:spChg>
        <pc:grpChg chg="mod">
          <ac:chgData name="Camilo Daleles Rennó" userId="eac9aab033b2f962" providerId="LiveId" clId="{5DEB0508-6D8B-42B4-A73C-8AE6908445F8}" dt="2025-05-07T16:08:37.865" v="1"/>
          <ac:grpSpMkLst>
            <pc:docMk/>
            <pc:sldMk cId="0" sldId="351"/>
            <ac:grpSpMk id="3" creationId="{00000000-0000-0000-0000-000000000000}"/>
          </ac:grpSpMkLst>
        </pc:grpChg>
        <pc:cxnChg chg="mod">
          <ac:chgData name="Camilo Daleles Rennó" userId="eac9aab033b2f962" providerId="LiveId" clId="{5DEB0508-6D8B-42B4-A73C-8AE6908445F8}" dt="2025-05-07T16:08:37.865" v="1"/>
          <ac:cxnSpMkLst>
            <pc:docMk/>
            <pc:sldMk cId="0" sldId="351"/>
            <ac:cxnSpMk id="83" creationId="{00000000-0000-0000-0000-000000000000}"/>
          </ac:cxnSpMkLst>
        </pc:cxnChg>
      </pc:sldChg>
      <pc:sldChg chg="addSp delSp modSp mod">
        <pc:chgData name="Camilo Daleles Rennó" userId="eac9aab033b2f962" providerId="LiveId" clId="{5DEB0508-6D8B-42B4-A73C-8AE6908445F8}" dt="2025-05-08T13:24:45.577" v="161"/>
        <pc:sldMkLst>
          <pc:docMk/>
          <pc:sldMk cId="0" sldId="353"/>
        </pc:sldMkLst>
        <pc:spChg chg="add mod">
          <ac:chgData name="Camilo Daleles Rennó" userId="eac9aab033b2f962" providerId="LiveId" clId="{5DEB0508-6D8B-42B4-A73C-8AE6908445F8}" dt="2025-05-08T13:24:45.577" v="161"/>
          <ac:spMkLst>
            <pc:docMk/>
            <pc:sldMk cId="0" sldId="353"/>
            <ac:spMk id="2" creationId="{DC926C57-5B43-16CC-9F5F-AB900ACAE7FB}"/>
          </ac:spMkLst>
        </pc:spChg>
        <pc:spChg chg="mod">
          <ac:chgData name="Camilo Daleles Rennó" userId="eac9aab033b2f962" providerId="LiveId" clId="{5DEB0508-6D8B-42B4-A73C-8AE6908445F8}" dt="2025-05-07T16:09:06.774" v="3" actId="20577"/>
          <ac:spMkLst>
            <pc:docMk/>
            <pc:sldMk cId="0" sldId="353"/>
            <ac:spMk id="4" creationId="{00000000-0000-0000-0000-000000000000}"/>
          </ac:spMkLst>
        </pc:spChg>
      </pc:sldChg>
      <pc:sldChg chg="modSp modAnim">
        <pc:chgData name="Camilo Daleles Rennó" userId="eac9aab033b2f962" providerId="LiveId" clId="{5DEB0508-6D8B-42B4-A73C-8AE6908445F8}" dt="2025-05-08T12:54:38.627" v="106" actId="20577"/>
        <pc:sldMkLst>
          <pc:docMk/>
          <pc:sldMk cId="0" sldId="354"/>
        </pc:sldMkLst>
        <pc:spChg chg="mod">
          <ac:chgData name="Camilo Daleles Rennó" userId="eac9aab033b2f962" providerId="LiveId" clId="{5DEB0508-6D8B-42B4-A73C-8AE6908445F8}" dt="2025-05-08T12:54:20.748" v="104" actId="20577"/>
          <ac:spMkLst>
            <pc:docMk/>
            <pc:sldMk cId="0" sldId="354"/>
            <ac:spMk id="11389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7T16:08:37.865" v="1"/>
        <pc:sldMkLst>
          <pc:docMk/>
          <pc:sldMk cId="0" sldId="357"/>
        </pc:sldMkLst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57"/>
            <ac:spMk id="4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7T16:08:37.865" v="1"/>
        <pc:sldMkLst>
          <pc:docMk/>
          <pc:sldMk cId="0" sldId="358"/>
        </pc:sldMkLst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58"/>
            <ac:spMk id="21" creationId="{00000000-0000-0000-0000-000000000000}"/>
          </ac:spMkLst>
        </pc:spChg>
      </pc:sldChg>
      <pc:sldChg chg="modSp">
        <pc:chgData name="Camilo Daleles Rennó" userId="eac9aab033b2f962" providerId="LiveId" clId="{5DEB0508-6D8B-42B4-A73C-8AE6908445F8}" dt="2025-05-07T16:08:37.865" v="1"/>
        <pc:sldMkLst>
          <pc:docMk/>
          <pc:sldMk cId="0" sldId="360"/>
        </pc:sldMkLst>
        <pc:spChg chg="mod">
          <ac:chgData name="Camilo Daleles Rennó" userId="eac9aab033b2f962" providerId="LiveId" clId="{5DEB0508-6D8B-42B4-A73C-8AE6908445F8}" dt="2025-05-07T16:08:37.865" v="1"/>
          <ac:spMkLst>
            <pc:docMk/>
            <pc:sldMk cId="0" sldId="360"/>
            <ac:spMk id="40964" creationId="{00000000-0000-0000-0000-000000000000}"/>
          </ac:spMkLst>
        </pc:spChg>
      </pc:sldChg>
    </pc:docChg>
  </pc:docChgLst>
  <pc:docChgLst>
    <pc:chgData name="Camilo Daleles Rennó" userId="eac9aab033b2f962" providerId="LiveId" clId="{A9E811CB-31FE-4B72-8985-8E0209E21B06}"/>
    <pc:docChg chg="custSel modSld">
      <pc:chgData name="Camilo Daleles Rennó" userId="eac9aab033b2f962" providerId="LiveId" clId="{A9E811CB-31FE-4B72-8985-8E0209E21B06}" dt="2025-06-11T16:53:53.404" v="76"/>
      <pc:docMkLst>
        <pc:docMk/>
      </pc:docMkLst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266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266"/>
            <ac:picMk id="5" creationId="{C51DC3D5-1B66-4D8E-816D-C33CFBFAF441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267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267"/>
            <ac:picMk id="21" creationId="{6746E378-EF4C-CF24-9254-A8E9AED8721C}"/>
          </ac:picMkLst>
        </pc:picChg>
      </pc:sldChg>
      <pc:sldChg chg="addSp delSp modSp mod modTransition delAnim">
        <pc:chgData name="Camilo Daleles Rennó" userId="eac9aab033b2f962" providerId="LiveId" clId="{A9E811CB-31FE-4B72-8985-8E0209E21B06}" dt="2025-06-11T16:53:53.404" v="76"/>
        <pc:sldMkLst>
          <pc:docMk/>
          <pc:sldMk cId="0" sldId="273"/>
        </pc:sldMkLst>
        <pc:picChg chg="add del mod">
          <ac:chgData name="Camilo Daleles Rennó" userId="eac9aab033b2f962" providerId="LiveId" clId="{A9E811CB-31FE-4B72-8985-8E0209E21B06}" dt="2025-06-10T12:19:44.824" v="65" actId="478"/>
          <ac:picMkLst>
            <pc:docMk/>
            <pc:sldMk cId="0" sldId="273"/>
            <ac:picMk id="5" creationId="{9010C17B-6E8E-A6F1-4CED-B31FE21D8B7B}"/>
          </ac:picMkLst>
        </pc:picChg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274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275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276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277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278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279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280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281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299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309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310"/>
        </pc:sldMkLst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11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11"/>
            <ac:picMk id="14" creationId="{A83426AB-5277-2461-2166-49F479E79946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14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14"/>
            <ac:picMk id="14" creationId="{21F021EC-4053-FB22-2ED2-E252591E56C1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15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15"/>
            <ac:picMk id="20" creationId="{8BFDBA7E-7B9F-6A5C-DF65-F41D71212C8C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16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16"/>
            <ac:picMk id="9" creationId="{39CFAE54-1D8D-BAB3-CA44-BB4A505CAFD3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17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17"/>
            <ac:picMk id="6" creationId="{E9119F6C-3A8A-964F-ED62-45543E7DFB78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18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18"/>
            <ac:picMk id="5" creationId="{F7E5298F-5071-F869-8690-4ECB33FC7D97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19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19"/>
            <ac:picMk id="14" creationId="{20667B45-84DE-B237-1641-A0C406741CC5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20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20"/>
            <ac:picMk id="12" creationId="{43D1E17E-FFE6-A423-87A7-E54F36725EB6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21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21"/>
            <ac:picMk id="10" creationId="{082CF0CC-F053-7D50-BB0A-F0363704C189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22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22"/>
            <ac:picMk id="6" creationId="{F952CDBF-2DD5-69B4-AB42-5CD1B348DDFE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23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23"/>
            <ac:picMk id="5" creationId="{EADE0476-B526-BCF5-4BA2-78C6073ED2A3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24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24"/>
            <ac:picMk id="9" creationId="{151B2FBF-847D-7C77-D221-26A44065F858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25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25"/>
            <ac:picMk id="5" creationId="{9FB7082E-FA4B-2BC7-1CDA-9233D2729AD0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26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26"/>
            <ac:picMk id="5" creationId="{A010A5F1-410D-0590-3C74-545F123D8693}"/>
          </ac:picMkLst>
        </pc:picChg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327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328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329"/>
        </pc:sldMkLst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330"/>
        </pc:sldMkLst>
      </pc:sldChg>
      <pc:sldChg chg="modSp modTransition">
        <pc:chgData name="Camilo Daleles Rennó" userId="eac9aab033b2f962" providerId="LiveId" clId="{A9E811CB-31FE-4B72-8985-8E0209E21B06}" dt="2025-06-11T16:53:53.404" v="76"/>
        <pc:sldMkLst>
          <pc:docMk/>
          <pc:sldMk cId="0" sldId="331"/>
        </pc:sldMkLst>
        <pc:spChg chg="mod">
          <ac:chgData name="Camilo Daleles Rennó" userId="eac9aab033b2f962" providerId="LiveId" clId="{A9E811CB-31FE-4B72-8985-8E0209E21B06}" dt="2025-06-10T13:07:20.103" v="73" actId="20577"/>
          <ac:spMkLst>
            <pc:docMk/>
            <pc:sldMk cId="0" sldId="331"/>
            <ac:spMk id="38" creationId="{00000000-0000-0000-0000-000000000000}"/>
          </ac:spMkLst>
        </pc:sp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50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50"/>
            <ac:picMk id="11" creationId="{D993DE1E-20CE-F912-9B0C-09D418980D14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51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51"/>
            <ac:picMk id="18" creationId="{A68AB0C3-DC22-03F1-7799-034A543530FC}"/>
          </ac:picMkLst>
        </pc:picChg>
      </pc:sldChg>
      <pc:sldChg chg="addSp delSp modSp mod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53"/>
        </pc:sldMkLst>
        <pc:spChg chg="mod">
          <ac:chgData name="Camilo Daleles Rennó" userId="eac9aab033b2f962" providerId="LiveId" clId="{A9E811CB-31FE-4B72-8985-8E0209E21B06}" dt="2025-06-09T13:54:57.059" v="20" actId="5793"/>
          <ac:spMkLst>
            <pc:docMk/>
            <pc:sldMk cId="0" sldId="353"/>
            <ac:spMk id="4" creationId="{00000000-0000-0000-0000-000000000000}"/>
          </ac:spMkLst>
        </pc:spChg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53"/>
            <ac:picMk id="7" creationId="{504A14E6-1AC5-A84C-EEAA-9AB19E513E0B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54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54"/>
            <ac:picMk id="32" creationId="{D876D38E-0DAA-1478-FFD0-DA94AE831E99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55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55"/>
            <ac:picMk id="15" creationId="{C53AA150-154E-BF7A-A714-DA2CF8C70820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57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57"/>
            <ac:picMk id="7" creationId="{FD289C34-E0EF-8BD4-2092-DED197F50946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58"/>
        </pc:sldMkLst>
        <pc:spChg chg="mod">
          <ac:chgData name="Camilo Daleles Rennó" userId="eac9aab033b2f962" providerId="LiveId" clId="{A9E811CB-31FE-4B72-8985-8E0209E21B06}" dt="2025-06-10T13:07:39.097" v="75" actId="20577"/>
          <ac:spMkLst>
            <pc:docMk/>
            <pc:sldMk cId="0" sldId="358"/>
            <ac:spMk id="45" creationId="{00000000-0000-0000-0000-000000000000}"/>
          </ac:spMkLst>
        </pc:spChg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58"/>
            <ac:picMk id="8" creationId="{9889CCA3-1315-4CC7-D5B1-D969CD36AFEF}"/>
          </ac:picMkLst>
        </pc:picChg>
      </pc:sldChg>
      <pc:sldChg chg="addSp delSp modSp modTransition modAnim">
        <pc:chgData name="Camilo Daleles Rennó" userId="eac9aab033b2f962" providerId="LiveId" clId="{A9E811CB-31FE-4B72-8985-8E0209E21B06}" dt="2025-06-11T16:53:53.404" v="76"/>
        <pc:sldMkLst>
          <pc:docMk/>
          <pc:sldMk cId="0" sldId="359"/>
        </pc:sldMkLst>
        <pc:picChg chg="add del mod">
          <ac:chgData name="Camilo Daleles Rennó" userId="eac9aab033b2f962" providerId="LiveId" clId="{A9E811CB-31FE-4B72-8985-8E0209E21B06}" dt="2025-06-11T16:53:53.404" v="76"/>
          <ac:picMkLst>
            <pc:docMk/>
            <pc:sldMk cId="0" sldId="359"/>
            <ac:picMk id="6" creationId="{1218AFE3-7B23-FFB2-0437-ED4BAD2885E4}"/>
          </ac:picMkLst>
        </pc:picChg>
      </pc:sldChg>
      <pc:sldChg chg="modTransition">
        <pc:chgData name="Camilo Daleles Rennó" userId="eac9aab033b2f962" providerId="LiveId" clId="{A9E811CB-31FE-4B72-8985-8E0209E21B06}" dt="2025-06-11T16:53:53.404" v="76"/>
        <pc:sldMkLst>
          <pc:docMk/>
          <pc:sldMk cId="0" sldId="360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FB9E356D-DF07-4124-802A-1CDBE7B42B0E}" type="datetimeFigureOut">
              <a:rPr lang="pt-BR" smtClean="0"/>
              <a:pPr>
                <a:defRPr/>
              </a:pPr>
              <a:t>11/06/2025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pt-BR" noProof="0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noProof="0"/>
              <a:t>Clique para editar o texto mestre</a:t>
            </a:r>
          </a:p>
          <a:p>
            <a:pPr lvl="1"/>
            <a:r>
              <a:rPr lang="pt-BR" noProof="0"/>
              <a:t>Segundo nível</a:t>
            </a:r>
          </a:p>
          <a:p>
            <a:pPr lvl="2"/>
            <a:r>
              <a:rPr lang="pt-BR" noProof="0"/>
              <a:t>Terceiro nível</a:t>
            </a:r>
          </a:p>
          <a:p>
            <a:pPr lvl="3"/>
            <a:r>
              <a:rPr lang="pt-BR" noProof="0"/>
              <a:t>Quarto nível</a:t>
            </a:r>
          </a:p>
          <a:p>
            <a:pPr lvl="4"/>
            <a:r>
              <a:rPr lang="pt-BR" noProof="0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75558D71-EF5B-45CC-9C60-F0354F214BEC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3917771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AA14C61-F010-4E62-A739-F2C0F534841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836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7229475" y="6400800"/>
            <a:ext cx="1905000" cy="457200"/>
          </a:xfrm>
        </p:spPr>
        <p:txBody>
          <a:bodyPr anchor="b"/>
          <a:lstStyle>
            <a:lvl1pPr>
              <a:defRPr>
                <a:latin typeface="Tahoma" panose="020B0604030504040204" pitchFamily="34" charset="0"/>
              </a:defRPr>
            </a:lvl1pPr>
          </a:lstStyle>
          <a:p>
            <a:pPr>
              <a:defRPr/>
            </a:pPr>
            <a:fld id="{E6D65DFD-0D68-44C0-B13E-732A3A1540F2}" type="slidenum">
              <a:rPr lang="pt-BR" smtClean="0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128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693F35-DA72-4B96-8477-7CC6FC79F94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40055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6858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447800"/>
            <a:ext cx="38100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1EA1BB-A690-499D-91C3-85204C605A4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717661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537A4B-A7A1-43CA-A53C-245CD86F9CF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06517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6F35A9-CFC3-4475-B02D-658D11B8B2F1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012660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77B49CB-8ABA-4833-8A05-37FAAAC0174F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40432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FC41FA-D915-4204-A8AB-207B95DA5750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7912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do texto mestre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8811DAB-ECBC-448B-A37C-BDB60432CF1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41819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051AD4-37D7-4B04-98BD-F2AA05D8B44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34100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48450" y="609600"/>
            <a:ext cx="2114550" cy="5486400"/>
          </a:xfrm>
        </p:spPr>
        <p:txBody>
          <a:bodyPr vert="eaVert"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304800" y="609600"/>
            <a:ext cx="6191250" cy="5486400"/>
          </a:xfrm>
        </p:spPr>
        <p:txBody>
          <a:bodyPr vert="eaVert"/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7F4D45-8065-46BF-9E5F-54E078F75137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19273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04800" y="609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dirty="0"/>
              <a:t>Clique para editar o estilo do título mestre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447800"/>
            <a:ext cx="77724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 dirty="0"/>
              <a:t>Clique para editar os estilos do texto mestre</a:t>
            </a:r>
          </a:p>
          <a:p>
            <a:pPr lvl="1"/>
            <a:r>
              <a:rPr lang="pt-BR" altLang="pt-BR" dirty="0"/>
              <a:t>Segundo nível</a:t>
            </a:r>
          </a:p>
          <a:p>
            <a:pPr lvl="2"/>
            <a:r>
              <a:rPr lang="pt-BR" altLang="pt-BR" dirty="0"/>
              <a:t>Terceiro nível</a:t>
            </a:r>
          </a:p>
          <a:p>
            <a:pPr lvl="3"/>
            <a:r>
              <a:rPr lang="pt-BR" altLang="pt-BR" dirty="0"/>
              <a:t>Quarto nível</a:t>
            </a:r>
          </a:p>
          <a:p>
            <a:pPr lvl="4"/>
            <a:r>
              <a:rPr lang="pt-BR" altLang="pt-BR" dirty="0"/>
              <a:t>Quinto nível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Times New Roman" pitchFamily="18" charset="0"/>
                <a:cs typeface="+mn-cs"/>
              </a:defRPr>
            </a:lvl1pPr>
          </a:lstStyle>
          <a:p>
            <a:pPr>
              <a:defRPr/>
            </a:pPr>
            <a:fld id="{19D3DA2A-4068-449A-B52B-4895E1CB524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  <p:sp>
        <p:nvSpPr>
          <p:cNvPr id="1031" name="Rectangle 7"/>
          <p:cNvSpPr>
            <a:spLocks noChangeArrowheads="1"/>
          </p:cNvSpPr>
          <p:nvPr userDrawn="1"/>
        </p:nvSpPr>
        <p:spPr bwMode="auto">
          <a:xfrm>
            <a:off x="762000" y="1219200"/>
            <a:ext cx="7620000" cy="76200"/>
          </a:xfrm>
          <a:prstGeom prst="rect">
            <a:avLst/>
          </a:prstGeom>
          <a:gradFill rotWithShape="0">
            <a:gsLst>
              <a:gs pos="0">
                <a:schemeClr val="accent2">
                  <a:gamma/>
                  <a:tint val="20392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tint val="20392"/>
                  <a:invGamma/>
                </a:schemeClr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pt-BR">
              <a:latin typeface="Tahoma" panose="020B0604030504040204" pitchFamily="34" charset="0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5" r:id="rId1"/>
    <p:sldLayoutId id="214748375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Tahoma" panose="020B0604030504040204" pitchFamily="34" charset="0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200">
          <a:solidFill>
            <a:srgbClr val="FF3300"/>
          </a:solidFill>
          <a:effectLst>
            <a:outerShdw blurRad="38100" dist="38100" dir="2700000" algn="tl">
              <a:srgbClr val="C0C0C0"/>
            </a:outerShdw>
          </a:effectLst>
          <a:latin typeface="Comic Sans MS" pitchFamily="66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800">
          <a:solidFill>
            <a:schemeClr val="tx1"/>
          </a:solidFill>
          <a:latin typeface="Tahoma" panose="020B0604030504040204" pitchFamily="34" charset="0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400">
          <a:solidFill>
            <a:schemeClr val="tx1"/>
          </a:solidFill>
          <a:latin typeface="Tahoma" panose="020B060403050404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ahoma" panose="020B060403050404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ahoma" panose="020B060403050404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ahoma" panose="020B060403050404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>
          <a:solidFill>
            <a:schemeClr val="tx1"/>
          </a:solidFill>
          <a:latin typeface="+mn-lt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drenno.github.io/Estatistica/" TargetMode="External"/><Relationship Id="rId2" Type="http://schemas.openxmlformats.org/officeDocument/2006/relationships/hyperlink" Target="http://urlib.net/8JMKD2USNRW34T/4D6DMD2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6" Type="http://schemas.openxmlformats.org/officeDocument/2006/relationships/image" Target="../media/image2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1.w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.w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13" Type="http://schemas.openxmlformats.org/officeDocument/2006/relationships/oleObject" Target="../embeddings/oleObject9.bin"/><Relationship Id="rId18" Type="http://schemas.openxmlformats.org/officeDocument/2006/relationships/image" Target="../media/image11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12" Type="http://schemas.openxmlformats.org/officeDocument/2006/relationships/image" Target="../media/image8.wmf"/><Relationship Id="rId17" Type="http://schemas.openxmlformats.org/officeDocument/2006/relationships/oleObject" Target="../embeddings/oleObject11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0.wmf"/><Relationship Id="rId1" Type="http://schemas.openxmlformats.org/officeDocument/2006/relationships/tags" Target="../tags/tag8.xml"/><Relationship Id="rId6" Type="http://schemas.openxmlformats.org/officeDocument/2006/relationships/image" Target="../media/image5.wmf"/><Relationship Id="rId11" Type="http://schemas.openxmlformats.org/officeDocument/2006/relationships/oleObject" Target="../embeddings/oleObject8.bin"/><Relationship Id="rId5" Type="http://schemas.openxmlformats.org/officeDocument/2006/relationships/oleObject" Target="../embeddings/oleObject5.bin"/><Relationship Id="rId15" Type="http://schemas.openxmlformats.org/officeDocument/2006/relationships/oleObject" Target="../embeddings/oleObject10.bin"/><Relationship Id="rId10" Type="http://schemas.openxmlformats.org/officeDocument/2006/relationships/image" Target="../media/image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7.bin"/><Relationship Id="rId14" Type="http://schemas.openxmlformats.org/officeDocument/2006/relationships/image" Target="../media/image9.w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oleObject" Target="../embeddings/oleObject12.bin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3" Type="http://schemas.openxmlformats.org/officeDocument/2006/relationships/oleObject" Target="../embeddings/oleObject13.bin"/><Relationship Id="rId7" Type="http://schemas.openxmlformats.org/officeDocument/2006/relationships/oleObject" Target="../embeddings/oleObject15.bin"/><Relationship Id="rId12" Type="http://schemas.openxmlformats.org/officeDocument/2006/relationships/image" Target="../media/image16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9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17.bin"/><Relationship Id="rId5" Type="http://schemas.openxmlformats.org/officeDocument/2006/relationships/oleObject" Target="../embeddings/oleObject14.bin"/><Relationship Id="rId10" Type="http://schemas.openxmlformats.org/officeDocument/2006/relationships/image" Target="../media/image15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16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wmf"/><Relationship Id="rId13" Type="http://schemas.openxmlformats.org/officeDocument/2006/relationships/oleObject" Target="../embeddings/oleObject23.bin"/><Relationship Id="rId3" Type="http://schemas.openxmlformats.org/officeDocument/2006/relationships/oleObject" Target="../embeddings/oleObject18.bin"/><Relationship Id="rId7" Type="http://schemas.openxmlformats.org/officeDocument/2006/relationships/oleObject" Target="../embeddings/oleObject20.bin"/><Relationship Id="rId12" Type="http://schemas.openxmlformats.org/officeDocument/2006/relationships/image" Target="../media/image18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0.xml"/><Relationship Id="rId6" Type="http://schemas.openxmlformats.org/officeDocument/2006/relationships/image" Target="../media/image13.wmf"/><Relationship Id="rId11" Type="http://schemas.openxmlformats.org/officeDocument/2006/relationships/oleObject" Target="../embeddings/oleObject22.bin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17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21.bin"/><Relationship Id="rId14" Type="http://schemas.openxmlformats.org/officeDocument/2006/relationships/image" Target="../media/image19.wmf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wmf"/><Relationship Id="rId13" Type="http://schemas.openxmlformats.org/officeDocument/2006/relationships/oleObject" Target="../embeddings/oleObject29.bin"/><Relationship Id="rId3" Type="http://schemas.openxmlformats.org/officeDocument/2006/relationships/oleObject" Target="../embeddings/oleObject24.bin"/><Relationship Id="rId7" Type="http://schemas.openxmlformats.org/officeDocument/2006/relationships/oleObject" Target="../embeddings/oleObject26.bin"/><Relationship Id="rId12" Type="http://schemas.openxmlformats.org/officeDocument/2006/relationships/image" Target="../media/image23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1.xml"/><Relationship Id="rId6" Type="http://schemas.openxmlformats.org/officeDocument/2006/relationships/image" Target="../media/image20.wmf"/><Relationship Id="rId11" Type="http://schemas.openxmlformats.org/officeDocument/2006/relationships/oleObject" Target="../embeddings/oleObject28.bin"/><Relationship Id="rId5" Type="http://schemas.openxmlformats.org/officeDocument/2006/relationships/oleObject" Target="../embeddings/oleObject25.bin"/><Relationship Id="rId10" Type="http://schemas.openxmlformats.org/officeDocument/2006/relationships/image" Target="../media/image22.wmf"/><Relationship Id="rId4" Type="http://schemas.openxmlformats.org/officeDocument/2006/relationships/image" Target="../media/image4.wmf"/><Relationship Id="rId9" Type="http://schemas.openxmlformats.org/officeDocument/2006/relationships/oleObject" Target="../embeddings/oleObject27.bin"/><Relationship Id="rId14" Type="http://schemas.openxmlformats.org/officeDocument/2006/relationships/image" Target="../media/image2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wmf"/><Relationship Id="rId3" Type="http://schemas.openxmlformats.org/officeDocument/2006/relationships/oleObject" Target="../embeddings/oleObject30.bin"/><Relationship Id="rId7" Type="http://schemas.openxmlformats.org/officeDocument/2006/relationships/oleObject" Target="../embeddings/oleObject3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1.bin"/><Relationship Id="rId4" Type="http://schemas.openxmlformats.org/officeDocument/2006/relationships/image" Target="../media/image5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w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Relationship Id="rId6" Type="http://schemas.openxmlformats.org/officeDocument/2006/relationships/image" Target="../media/image25.wmf"/><Relationship Id="rId5" Type="http://schemas.openxmlformats.org/officeDocument/2006/relationships/oleObject" Target="../embeddings/oleObject34.bin"/><Relationship Id="rId4" Type="http://schemas.openxmlformats.org/officeDocument/2006/relationships/image" Target="../media/image5.wmf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41.bin"/><Relationship Id="rId3" Type="http://schemas.openxmlformats.org/officeDocument/2006/relationships/oleObject" Target="../embeddings/oleObject36.bin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30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2.wmf"/><Relationship Id="rId1" Type="http://schemas.openxmlformats.org/officeDocument/2006/relationships/tags" Target="../tags/tag14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oleObject" Target="../embeddings/oleObject42.bin"/><Relationship Id="rId10" Type="http://schemas.openxmlformats.org/officeDocument/2006/relationships/image" Target="../media/image29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39.bin"/><Relationship Id="rId14" Type="http://schemas.openxmlformats.org/officeDocument/2006/relationships/image" Target="../media/image31.wmf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wmf"/><Relationship Id="rId13" Type="http://schemas.openxmlformats.org/officeDocument/2006/relationships/oleObject" Target="../embeddings/oleObject48.bin"/><Relationship Id="rId18" Type="http://schemas.openxmlformats.org/officeDocument/2006/relationships/image" Target="../media/image34.wmf"/><Relationship Id="rId3" Type="http://schemas.openxmlformats.org/officeDocument/2006/relationships/oleObject" Target="../embeddings/oleObject43.bin"/><Relationship Id="rId7" Type="http://schemas.openxmlformats.org/officeDocument/2006/relationships/oleObject" Target="../embeddings/oleObject45.bin"/><Relationship Id="rId12" Type="http://schemas.openxmlformats.org/officeDocument/2006/relationships/image" Target="../media/image30.wmf"/><Relationship Id="rId17" Type="http://schemas.openxmlformats.org/officeDocument/2006/relationships/oleObject" Target="../embeddings/oleObject50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3.wmf"/><Relationship Id="rId1" Type="http://schemas.openxmlformats.org/officeDocument/2006/relationships/tags" Target="../tags/tag15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47.bin"/><Relationship Id="rId5" Type="http://schemas.openxmlformats.org/officeDocument/2006/relationships/oleObject" Target="../embeddings/oleObject44.bin"/><Relationship Id="rId15" Type="http://schemas.openxmlformats.org/officeDocument/2006/relationships/oleObject" Target="../embeddings/oleObject49.bin"/><Relationship Id="rId10" Type="http://schemas.openxmlformats.org/officeDocument/2006/relationships/image" Target="../media/image29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46.bin"/><Relationship Id="rId14" Type="http://schemas.openxmlformats.org/officeDocument/2006/relationships/image" Target="../media/image31.w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4.bin"/><Relationship Id="rId3" Type="http://schemas.openxmlformats.org/officeDocument/2006/relationships/image" Target="../media/image5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5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3.bin"/><Relationship Id="rId5" Type="http://schemas.openxmlformats.org/officeDocument/2006/relationships/image" Target="../media/image25.wmf"/><Relationship Id="rId4" Type="http://schemas.openxmlformats.org/officeDocument/2006/relationships/oleObject" Target="../embeddings/oleObject52.bin"/><Relationship Id="rId9" Type="http://schemas.openxmlformats.org/officeDocument/2006/relationships/image" Target="../media/image35.w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2" Type="http://schemas.openxmlformats.org/officeDocument/2006/relationships/oleObject" Target="../embeddings/oleObject55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wmf"/><Relationship Id="rId4" Type="http://schemas.openxmlformats.org/officeDocument/2006/relationships/oleObject" Target="../embeddings/oleObject56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wmf"/><Relationship Id="rId13" Type="http://schemas.openxmlformats.org/officeDocument/2006/relationships/oleObject" Target="../embeddings/oleObject62.bin"/><Relationship Id="rId3" Type="http://schemas.openxmlformats.org/officeDocument/2006/relationships/oleObject" Target="../embeddings/oleObject57.bin"/><Relationship Id="rId7" Type="http://schemas.openxmlformats.org/officeDocument/2006/relationships/oleObject" Target="../embeddings/oleObject59.bin"/><Relationship Id="rId12" Type="http://schemas.openxmlformats.org/officeDocument/2006/relationships/image" Target="../media/image39.w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6.xml"/><Relationship Id="rId6" Type="http://schemas.openxmlformats.org/officeDocument/2006/relationships/image" Target="../media/image25.wmf"/><Relationship Id="rId11" Type="http://schemas.openxmlformats.org/officeDocument/2006/relationships/oleObject" Target="../embeddings/oleObject61.bin"/><Relationship Id="rId5" Type="http://schemas.openxmlformats.org/officeDocument/2006/relationships/oleObject" Target="../embeddings/oleObject58.bin"/><Relationship Id="rId10" Type="http://schemas.openxmlformats.org/officeDocument/2006/relationships/image" Target="../media/image38.wmf"/><Relationship Id="rId4" Type="http://schemas.openxmlformats.org/officeDocument/2006/relationships/image" Target="../media/image5.wmf"/><Relationship Id="rId9" Type="http://schemas.openxmlformats.org/officeDocument/2006/relationships/oleObject" Target="../embeddings/oleObject60.bin"/><Relationship Id="rId14" Type="http://schemas.openxmlformats.org/officeDocument/2006/relationships/image" Target="../media/image40.wmf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wmf"/><Relationship Id="rId7" Type="http://schemas.openxmlformats.org/officeDocument/2006/relationships/image" Target="../media/image5.wmf"/><Relationship Id="rId2" Type="http://schemas.openxmlformats.org/officeDocument/2006/relationships/oleObject" Target="../embeddings/oleObject63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65.bin"/><Relationship Id="rId5" Type="http://schemas.openxmlformats.org/officeDocument/2006/relationships/image" Target="../media/image41.wmf"/><Relationship Id="rId4" Type="http://schemas.openxmlformats.org/officeDocument/2006/relationships/oleObject" Target="../embeddings/oleObject64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wmf"/><Relationship Id="rId13" Type="http://schemas.openxmlformats.org/officeDocument/2006/relationships/oleObject" Target="../embeddings/oleObject71.bin"/><Relationship Id="rId3" Type="http://schemas.openxmlformats.org/officeDocument/2006/relationships/oleObject" Target="../embeddings/oleObject66.bin"/><Relationship Id="rId7" Type="http://schemas.openxmlformats.org/officeDocument/2006/relationships/oleObject" Target="../embeddings/oleObject68.bin"/><Relationship Id="rId12" Type="http://schemas.openxmlformats.org/officeDocument/2006/relationships/image" Target="../media/image4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8.wmf"/><Relationship Id="rId1" Type="http://schemas.openxmlformats.org/officeDocument/2006/relationships/tags" Target="../tags/tag17.xml"/><Relationship Id="rId6" Type="http://schemas.openxmlformats.org/officeDocument/2006/relationships/image" Target="../media/image43.wmf"/><Relationship Id="rId11" Type="http://schemas.openxmlformats.org/officeDocument/2006/relationships/oleObject" Target="../embeddings/oleObject70.bin"/><Relationship Id="rId5" Type="http://schemas.openxmlformats.org/officeDocument/2006/relationships/oleObject" Target="../embeddings/oleObject67.bin"/><Relationship Id="rId15" Type="http://schemas.openxmlformats.org/officeDocument/2006/relationships/oleObject" Target="../embeddings/oleObject72.bin"/><Relationship Id="rId10" Type="http://schemas.openxmlformats.org/officeDocument/2006/relationships/image" Target="../media/image45.wmf"/><Relationship Id="rId4" Type="http://schemas.openxmlformats.org/officeDocument/2006/relationships/image" Target="../media/image42.wmf"/><Relationship Id="rId9" Type="http://schemas.openxmlformats.org/officeDocument/2006/relationships/oleObject" Target="../embeddings/oleObject69.bin"/><Relationship Id="rId14" Type="http://schemas.openxmlformats.org/officeDocument/2006/relationships/image" Target="../media/image47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wmf"/><Relationship Id="rId2" Type="http://schemas.openxmlformats.org/officeDocument/2006/relationships/oleObject" Target="../embeddings/oleObject73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2.wmf"/><Relationship Id="rId4" Type="http://schemas.openxmlformats.org/officeDocument/2006/relationships/oleObject" Target="../embeddings/oleObject74.bin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8.bin"/><Relationship Id="rId13" Type="http://schemas.openxmlformats.org/officeDocument/2006/relationships/oleObject" Target="../embeddings/oleObject81.bin"/><Relationship Id="rId18" Type="http://schemas.openxmlformats.org/officeDocument/2006/relationships/image" Target="../media/image42.wmf"/><Relationship Id="rId3" Type="http://schemas.openxmlformats.org/officeDocument/2006/relationships/image" Target="../media/image20.wmf"/><Relationship Id="rId7" Type="http://schemas.openxmlformats.org/officeDocument/2006/relationships/image" Target="../media/image21.wmf"/><Relationship Id="rId12" Type="http://schemas.openxmlformats.org/officeDocument/2006/relationships/image" Target="../media/image5.wmf"/><Relationship Id="rId17" Type="http://schemas.openxmlformats.org/officeDocument/2006/relationships/oleObject" Target="../embeddings/oleObject83.bin"/><Relationship Id="rId2" Type="http://schemas.openxmlformats.org/officeDocument/2006/relationships/oleObject" Target="../embeddings/oleObject75.bin"/><Relationship Id="rId16" Type="http://schemas.openxmlformats.org/officeDocument/2006/relationships/image" Target="../media/image49.wmf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7.bin"/><Relationship Id="rId11" Type="http://schemas.openxmlformats.org/officeDocument/2006/relationships/oleObject" Target="../embeddings/oleObject80.bin"/><Relationship Id="rId5" Type="http://schemas.openxmlformats.org/officeDocument/2006/relationships/image" Target="../media/image4.wmf"/><Relationship Id="rId15" Type="http://schemas.openxmlformats.org/officeDocument/2006/relationships/oleObject" Target="../embeddings/oleObject82.bin"/><Relationship Id="rId10" Type="http://schemas.openxmlformats.org/officeDocument/2006/relationships/image" Target="../media/image50.wmf"/><Relationship Id="rId4" Type="http://schemas.openxmlformats.org/officeDocument/2006/relationships/oleObject" Target="../embeddings/oleObject76.bin"/><Relationship Id="rId9" Type="http://schemas.openxmlformats.org/officeDocument/2006/relationships/oleObject" Target="../embeddings/oleObject79.bin"/><Relationship Id="rId14" Type="http://schemas.openxmlformats.org/officeDocument/2006/relationships/image" Target="../media/image51.wmf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5.wmf"/><Relationship Id="rId3" Type="http://schemas.openxmlformats.org/officeDocument/2006/relationships/image" Target="../media/image52.wmf"/><Relationship Id="rId7" Type="http://schemas.openxmlformats.org/officeDocument/2006/relationships/oleObject" Target="../embeddings/oleObject86.bin"/><Relationship Id="rId12" Type="http://schemas.openxmlformats.org/officeDocument/2006/relationships/image" Target="../media/image57.w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wmf"/><Relationship Id="rId11" Type="http://schemas.openxmlformats.org/officeDocument/2006/relationships/oleObject" Target="../embeddings/oleObject88.bin"/><Relationship Id="rId5" Type="http://schemas.openxmlformats.org/officeDocument/2006/relationships/oleObject" Target="../embeddings/oleObject85.bin"/><Relationship Id="rId10" Type="http://schemas.openxmlformats.org/officeDocument/2006/relationships/image" Target="../media/image56.wmf"/><Relationship Id="rId4" Type="http://schemas.openxmlformats.org/officeDocument/2006/relationships/image" Target="../media/image53.wmf"/><Relationship Id="rId9" Type="http://schemas.openxmlformats.org/officeDocument/2006/relationships/oleObject" Target="../embeddings/oleObject87.bin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59.w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0.bin"/><Relationship Id="rId5" Type="http://schemas.openxmlformats.org/officeDocument/2006/relationships/image" Target="../media/image58.wmf"/><Relationship Id="rId4" Type="http://schemas.openxmlformats.org/officeDocument/2006/relationships/oleObject" Target="../embeddings/oleObject89.bin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94.bin"/><Relationship Id="rId3" Type="http://schemas.openxmlformats.org/officeDocument/2006/relationships/image" Target="../media/image60.wmf"/><Relationship Id="rId7" Type="http://schemas.openxmlformats.org/officeDocument/2006/relationships/image" Target="../media/image62.wmf"/><Relationship Id="rId2" Type="http://schemas.openxmlformats.org/officeDocument/2006/relationships/oleObject" Target="../embeddings/oleObject9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3.bin"/><Relationship Id="rId5" Type="http://schemas.openxmlformats.org/officeDocument/2006/relationships/image" Target="../media/image61.wmf"/><Relationship Id="rId4" Type="http://schemas.openxmlformats.org/officeDocument/2006/relationships/oleObject" Target="../embeddings/oleObject92.bin"/><Relationship Id="rId9" Type="http://schemas.openxmlformats.org/officeDocument/2006/relationships/image" Target="../media/image63.wmf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wmf"/><Relationship Id="rId7" Type="http://schemas.openxmlformats.org/officeDocument/2006/relationships/image" Target="../media/image66.w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97.bin"/><Relationship Id="rId5" Type="http://schemas.openxmlformats.org/officeDocument/2006/relationships/image" Target="../media/image65.wmf"/><Relationship Id="rId4" Type="http://schemas.openxmlformats.org/officeDocument/2006/relationships/oleObject" Target="../embeddings/oleObject96.bin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3" Type="http://schemas.openxmlformats.org/officeDocument/2006/relationships/image" Target="../media/image67.wmf"/><Relationship Id="rId7" Type="http://schemas.openxmlformats.org/officeDocument/2006/relationships/image" Target="../media/image69.wmf"/><Relationship Id="rId2" Type="http://schemas.openxmlformats.org/officeDocument/2006/relationships/oleObject" Target="../embeddings/oleObject9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0.bin"/><Relationship Id="rId5" Type="http://schemas.openxmlformats.org/officeDocument/2006/relationships/image" Target="../media/image68.w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70.wmf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wmf"/><Relationship Id="rId7" Type="http://schemas.openxmlformats.org/officeDocument/2006/relationships/image" Target="../media/image72.wmf"/><Relationship Id="rId2" Type="http://schemas.openxmlformats.org/officeDocument/2006/relationships/oleObject" Target="../embeddings/oleObject8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3.bin"/><Relationship Id="rId5" Type="http://schemas.openxmlformats.org/officeDocument/2006/relationships/image" Target="../media/image71.wmf"/><Relationship Id="rId4" Type="http://schemas.openxmlformats.org/officeDocument/2006/relationships/oleObject" Target="../embeddings/oleObject102.bin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wmf"/><Relationship Id="rId7" Type="http://schemas.openxmlformats.org/officeDocument/2006/relationships/image" Target="../media/image75.wmf"/><Relationship Id="rId2" Type="http://schemas.openxmlformats.org/officeDocument/2006/relationships/oleObject" Target="../embeddings/oleObject10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06.bin"/><Relationship Id="rId5" Type="http://schemas.openxmlformats.org/officeDocument/2006/relationships/image" Target="../media/image74.wmf"/><Relationship Id="rId4" Type="http://schemas.openxmlformats.org/officeDocument/2006/relationships/oleObject" Target="../embeddings/oleObject105.bin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wmf"/><Relationship Id="rId2" Type="http://schemas.openxmlformats.org/officeDocument/2006/relationships/oleObject" Target="../embeddings/oleObject10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7.wmf"/><Relationship Id="rId4" Type="http://schemas.openxmlformats.org/officeDocument/2006/relationships/oleObject" Target="../embeddings/oleObject108.bin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wmf"/><Relationship Id="rId7" Type="http://schemas.openxmlformats.org/officeDocument/2006/relationships/image" Target="../media/image80.wmf"/><Relationship Id="rId2" Type="http://schemas.openxmlformats.org/officeDocument/2006/relationships/oleObject" Target="../embeddings/oleObject10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1.bin"/><Relationship Id="rId5" Type="http://schemas.openxmlformats.org/officeDocument/2006/relationships/image" Target="../media/image79.wmf"/><Relationship Id="rId4" Type="http://schemas.openxmlformats.org/officeDocument/2006/relationships/oleObject" Target="../embeddings/oleObject110.bin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wmf"/><Relationship Id="rId7" Type="http://schemas.openxmlformats.org/officeDocument/2006/relationships/image" Target="../media/image83.wmf"/><Relationship Id="rId2" Type="http://schemas.openxmlformats.org/officeDocument/2006/relationships/oleObject" Target="../embeddings/oleObject11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4.bin"/><Relationship Id="rId5" Type="http://schemas.openxmlformats.org/officeDocument/2006/relationships/image" Target="../media/image82.wmf"/><Relationship Id="rId4" Type="http://schemas.openxmlformats.org/officeDocument/2006/relationships/oleObject" Target="../embeddings/oleObject113.bin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8.bin"/><Relationship Id="rId3" Type="http://schemas.openxmlformats.org/officeDocument/2006/relationships/image" Target="../media/image82.wmf"/><Relationship Id="rId7" Type="http://schemas.openxmlformats.org/officeDocument/2006/relationships/image" Target="../media/image84.wmf"/><Relationship Id="rId2" Type="http://schemas.openxmlformats.org/officeDocument/2006/relationships/oleObject" Target="../embeddings/oleObject115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17.bin"/><Relationship Id="rId5" Type="http://schemas.openxmlformats.org/officeDocument/2006/relationships/image" Target="../media/image83.wmf"/><Relationship Id="rId4" Type="http://schemas.openxmlformats.org/officeDocument/2006/relationships/oleObject" Target="../embeddings/oleObject116.bin"/><Relationship Id="rId9" Type="http://schemas.openxmlformats.org/officeDocument/2006/relationships/image" Target="../media/image85.wmf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wmf"/><Relationship Id="rId7" Type="http://schemas.openxmlformats.org/officeDocument/2006/relationships/image" Target="../media/image88.wmf"/><Relationship Id="rId2" Type="http://schemas.openxmlformats.org/officeDocument/2006/relationships/oleObject" Target="../embeddings/oleObject119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1.bin"/><Relationship Id="rId5" Type="http://schemas.openxmlformats.org/officeDocument/2006/relationships/image" Target="../media/image87.wmf"/><Relationship Id="rId4" Type="http://schemas.openxmlformats.org/officeDocument/2006/relationships/oleObject" Target="../embeddings/oleObject120.bin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5.bin"/><Relationship Id="rId3" Type="http://schemas.openxmlformats.org/officeDocument/2006/relationships/image" Target="../media/image89.wmf"/><Relationship Id="rId7" Type="http://schemas.openxmlformats.org/officeDocument/2006/relationships/image" Target="../media/image91.wmf"/><Relationship Id="rId2" Type="http://schemas.openxmlformats.org/officeDocument/2006/relationships/oleObject" Target="../embeddings/oleObject12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4.bin"/><Relationship Id="rId5" Type="http://schemas.openxmlformats.org/officeDocument/2006/relationships/image" Target="../media/image90.wmf"/><Relationship Id="rId4" Type="http://schemas.openxmlformats.org/officeDocument/2006/relationships/oleObject" Target="../embeddings/oleObject123.bin"/><Relationship Id="rId9" Type="http://schemas.openxmlformats.org/officeDocument/2006/relationships/image" Target="../media/image92.wmf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9.bin"/><Relationship Id="rId3" Type="http://schemas.openxmlformats.org/officeDocument/2006/relationships/image" Target="../media/image82.wmf"/><Relationship Id="rId7" Type="http://schemas.openxmlformats.org/officeDocument/2006/relationships/image" Target="../media/image93.wmf"/><Relationship Id="rId2" Type="http://schemas.openxmlformats.org/officeDocument/2006/relationships/oleObject" Target="../embeddings/oleObject126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28.bin"/><Relationship Id="rId11" Type="http://schemas.openxmlformats.org/officeDocument/2006/relationships/image" Target="../media/image95.wmf"/><Relationship Id="rId5" Type="http://schemas.openxmlformats.org/officeDocument/2006/relationships/image" Target="../media/image83.wmf"/><Relationship Id="rId10" Type="http://schemas.openxmlformats.org/officeDocument/2006/relationships/oleObject" Target="../embeddings/oleObject130.bin"/><Relationship Id="rId4" Type="http://schemas.openxmlformats.org/officeDocument/2006/relationships/oleObject" Target="../embeddings/oleObject127.bin"/><Relationship Id="rId9" Type="http://schemas.openxmlformats.org/officeDocument/2006/relationships/image" Target="../media/image94.wmf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wmf"/><Relationship Id="rId7" Type="http://schemas.openxmlformats.org/officeDocument/2006/relationships/image" Target="../media/image98.wmf"/><Relationship Id="rId2" Type="http://schemas.openxmlformats.org/officeDocument/2006/relationships/oleObject" Target="../embeddings/oleObject131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3.bin"/><Relationship Id="rId5" Type="http://schemas.openxmlformats.org/officeDocument/2006/relationships/image" Target="../media/image97.wmf"/><Relationship Id="rId4" Type="http://schemas.openxmlformats.org/officeDocument/2006/relationships/oleObject" Target="../embeddings/oleObject132.bin"/></Relationships>
</file>

<file path=ppt/slides/_rels/slide4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7.bin"/><Relationship Id="rId3" Type="http://schemas.openxmlformats.org/officeDocument/2006/relationships/image" Target="../media/image99.wmf"/><Relationship Id="rId7" Type="http://schemas.openxmlformats.org/officeDocument/2006/relationships/image" Target="../media/image101.wmf"/><Relationship Id="rId2" Type="http://schemas.openxmlformats.org/officeDocument/2006/relationships/oleObject" Target="../embeddings/oleObject134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36.bin"/><Relationship Id="rId5" Type="http://schemas.openxmlformats.org/officeDocument/2006/relationships/image" Target="../media/image100.wmf"/><Relationship Id="rId4" Type="http://schemas.openxmlformats.org/officeDocument/2006/relationships/oleObject" Target="../embeddings/oleObject135.bin"/><Relationship Id="rId9" Type="http://schemas.openxmlformats.org/officeDocument/2006/relationships/image" Target="../media/image102.wmf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41.bin"/><Relationship Id="rId13" Type="http://schemas.openxmlformats.org/officeDocument/2006/relationships/image" Target="../media/image106.wmf"/><Relationship Id="rId3" Type="http://schemas.openxmlformats.org/officeDocument/2006/relationships/image" Target="../media/image101.wmf"/><Relationship Id="rId7" Type="http://schemas.openxmlformats.org/officeDocument/2006/relationships/image" Target="../media/image103.wmf"/><Relationship Id="rId12" Type="http://schemas.openxmlformats.org/officeDocument/2006/relationships/oleObject" Target="../embeddings/oleObject143.bin"/><Relationship Id="rId2" Type="http://schemas.openxmlformats.org/officeDocument/2006/relationships/oleObject" Target="../embeddings/oleObject138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40.bin"/><Relationship Id="rId11" Type="http://schemas.openxmlformats.org/officeDocument/2006/relationships/image" Target="../media/image105.wmf"/><Relationship Id="rId5" Type="http://schemas.openxmlformats.org/officeDocument/2006/relationships/image" Target="../media/image102.wmf"/><Relationship Id="rId15" Type="http://schemas.openxmlformats.org/officeDocument/2006/relationships/image" Target="../media/image107.wmf"/><Relationship Id="rId10" Type="http://schemas.openxmlformats.org/officeDocument/2006/relationships/oleObject" Target="../embeddings/oleObject142.bin"/><Relationship Id="rId4" Type="http://schemas.openxmlformats.org/officeDocument/2006/relationships/oleObject" Target="../embeddings/oleObject139.bin"/><Relationship Id="rId9" Type="http://schemas.openxmlformats.org/officeDocument/2006/relationships/image" Target="../media/image104.wmf"/><Relationship Id="rId14" Type="http://schemas.openxmlformats.org/officeDocument/2006/relationships/oleObject" Target="../embeddings/oleObject144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 txBox="1">
            <a:spLocks noChangeArrowheads="1"/>
          </p:cNvSpPr>
          <p:nvPr/>
        </p:nvSpPr>
        <p:spPr bwMode="auto">
          <a:xfrm>
            <a:off x="381000" y="2895600"/>
            <a:ext cx="8458200" cy="685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320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omic Sans MS" pitchFamily="66" charset="0"/>
              </a:defRPr>
            </a:lvl9pPr>
          </a:lstStyle>
          <a:p>
            <a:pPr eaLnBrk="1" hangingPunct="1">
              <a:defRPr/>
            </a:pPr>
            <a:r>
              <a:rPr lang="pt-BR" sz="2400" kern="0" dirty="0">
                <a:latin typeface="Tahoma" panose="020B0604030504040204" pitchFamily="34" charset="0"/>
              </a:rPr>
              <a:t>Estatística: Aplicação ao Sensoriamento Remoto</a:t>
            </a:r>
            <a:br>
              <a:rPr lang="pt-BR" sz="2400" kern="0" dirty="0">
                <a:latin typeface="Tahoma" panose="020B0604030504040204" pitchFamily="34" charset="0"/>
              </a:rPr>
            </a:br>
            <a:br>
              <a:rPr lang="pt-BR" sz="2400" kern="0" dirty="0">
                <a:latin typeface="Tahoma" panose="020B0604030504040204" pitchFamily="34" charset="0"/>
              </a:rPr>
            </a:br>
            <a:r>
              <a:rPr lang="pt-BR" sz="2400" kern="0" dirty="0">
                <a:latin typeface="Tahoma" panose="020B0604030504040204" pitchFamily="34" charset="0"/>
              </a:rPr>
              <a:t>SER 204</a:t>
            </a:r>
            <a:br>
              <a:rPr lang="pt-BR" sz="2400" kern="0" dirty="0">
                <a:latin typeface="Tahoma" panose="020B0604030504040204" pitchFamily="34" charset="0"/>
              </a:rPr>
            </a:br>
            <a:br>
              <a:rPr lang="pt-BR" sz="2400" kern="0" dirty="0">
                <a:latin typeface="Tahoma" panose="020B0604030504040204" pitchFamily="34" charset="0"/>
              </a:rPr>
            </a:br>
            <a:r>
              <a:rPr lang="pt-BR" sz="2400" kern="0" dirty="0">
                <a:latin typeface="Tahoma" panose="020B0604030504040204" pitchFamily="34" charset="0"/>
              </a:rPr>
              <a:t>Revisão </a:t>
            </a:r>
            <a:r>
              <a:rPr lang="pt-BR" sz="2400" dirty="0">
                <a:latin typeface="Tahoma" panose="020B0604030504040204" pitchFamily="34" charset="0"/>
              </a:rPr>
              <a:t>Probabilidade</a:t>
            </a:r>
            <a:endParaRPr lang="pt-BR" sz="2400" kern="0" dirty="0">
              <a:latin typeface="Tahoma" panose="020B0604030504040204" pitchFamily="34" charset="0"/>
            </a:endParaRPr>
          </a:p>
        </p:txBody>
      </p:sp>
      <p:sp>
        <p:nvSpPr>
          <p:cNvPr id="2" name="Rectangle 3">
            <a:extLst>
              <a:ext uri="{FF2B5EF4-FFF2-40B4-BE49-F238E27FC236}">
                <a16:creationId xmlns:a16="http://schemas.microsoft.com/office/drawing/2014/main" id="{DC926C57-5B43-16CC-9F5F-AB900ACAE7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7984" y="5903913"/>
            <a:ext cx="4487416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800" kern="0" dirty="0">
                <a:latin typeface="Tahoma" panose="020B0604030504040204" pitchFamily="34" charset="0"/>
                <a:cs typeface="+mn-cs"/>
              </a:rPr>
              <a:t>Camilo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Daleles</a:t>
            </a:r>
            <a:r>
              <a:rPr lang="pt-BR" sz="1800" kern="0" dirty="0">
                <a:latin typeface="Tahoma" panose="020B0604030504040204" pitchFamily="34" charset="0"/>
                <a:cs typeface="+mn-cs"/>
              </a:rPr>
              <a:t> </a:t>
            </a:r>
            <a:r>
              <a:rPr lang="pt-BR" sz="1800" kern="0" dirty="0" err="1">
                <a:latin typeface="Tahoma" panose="020B0604030504040204" pitchFamily="34" charset="0"/>
                <a:cs typeface="+mn-cs"/>
              </a:rPr>
              <a:t>Rennó</a:t>
            </a:r>
            <a:endParaRPr lang="pt-BR" sz="1800" kern="0" dirty="0">
              <a:latin typeface="Tahoma" panose="020B0604030504040204" pitchFamily="34" charset="0"/>
              <a:cs typeface="+mn-cs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camilo.renno@inpe.br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  <a:defRPr/>
            </a:pPr>
            <a:r>
              <a:rPr lang="pt-BR" sz="1200" kern="0" dirty="0">
                <a:latin typeface="Arial Unicode MS" pitchFamily="34" charset="-128"/>
              </a:rPr>
              <a:t>acesso do conteúdo do curso em </a:t>
            </a:r>
            <a:r>
              <a:rPr lang="pt-BR" sz="1200" kern="0" dirty="0" err="1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Bibdigital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do INPE</a:t>
            </a:r>
            <a:r>
              <a:rPr lang="pt-BR" sz="1200" kern="0" dirty="0">
                <a:latin typeface="Arial Unicode MS" pitchFamily="34" charset="-128"/>
              </a:rPr>
              <a:t> ou </a:t>
            </a:r>
            <a:r>
              <a:rPr lang="pt-BR" sz="1200" kern="0" dirty="0">
                <a:solidFill>
                  <a:schemeClr val="accent2"/>
                </a:solidFill>
                <a:latin typeface="Arial Unicode MS" pitchFamily="34" charset="-128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endParaRPr lang="pt-BR" sz="1200" kern="0" dirty="0">
              <a:solidFill>
                <a:schemeClr val="accent2"/>
              </a:solidFill>
              <a:latin typeface="Arial Unicode MS" pitchFamily="34" charset="-12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Frequência Absoluta e Relativa</a:t>
            </a:r>
          </a:p>
        </p:txBody>
      </p:sp>
      <p:sp>
        <p:nvSpPr>
          <p:cNvPr id="4099" name="Text Box 11"/>
          <p:cNvSpPr txBox="1">
            <a:spLocks noChangeArrowheads="1"/>
          </p:cNvSpPr>
          <p:nvPr/>
        </p:nvSpPr>
        <p:spPr bwMode="auto">
          <a:xfrm>
            <a:off x="395288" y="1571625"/>
            <a:ext cx="83534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Experimento: jogar um dado 100 vezes, observando-se os valores obtidos</a:t>
            </a:r>
          </a:p>
        </p:txBody>
      </p:sp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A16114F-68A1-40EF-95B2-81F6B59B226F}" type="slidenum">
              <a:rPr lang="pt-BR"/>
              <a:pPr>
                <a:defRPr/>
              </a:pPr>
              <a:t>2</a:t>
            </a:fld>
            <a:endParaRPr lang="pt-BR"/>
          </a:p>
        </p:txBody>
      </p:sp>
      <p:sp>
        <p:nvSpPr>
          <p:cNvPr id="5" name="Retângulo 4"/>
          <p:cNvSpPr>
            <a:spLocks noChangeArrowheads="1"/>
          </p:cNvSpPr>
          <p:nvPr/>
        </p:nvSpPr>
        <p:spPr bwMode="auto">
          <a:xfrm>
            <a:off x="1835150" y="2332931"/>
            <a:ext cx="1872754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5365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536575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536575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536575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536575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Sequência obtida:</a:t>
            </a:r>
            <a:endParaRPr lang="pt-BR" altLang="pt-BR" sz="1600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31" name="Grupo 30"/>
          <p:cNvGrpSpPr>
            <a:grpSpLocks/>
          </p:cNvGrpSpPr>
          <p:nvPr/>
        </p:nvGrpSpPr>
        <p:grpSpPr bwMode="auto">
          <a:xfrm>
            <a:off x="912813" y="2141538"/>
            <a:ext cx="628650" cy="752475"/>
            <a:chOff x="2657139" y="2216075"/>
            <a:chExt cx="2624866" cy="3141233"/>
          </a:xfrm>
        </p:grpSpPr>
        <p:sp>
          <p:nvSpPr>
            <p:cNvPr id="32" name="Forma livre 31"/>
            <p:cNvSpPr/>
            <p:nvPr/>
          </p:nvSpPr>
          <p:spPr>
            <a:xfrm>
              <a:off x="2683653" y="2978186"/>
              <a:ext cx="1252775" cy="2259834"/>
            </a:xfrm>
            <a:custGeom>
              <a:avLst/>
              <a:gdLst>
                <a:gd name="connsiteX0" fmla="*/ 0 w 1249052"/>
                <a:gd name="connsiteY0" fmla="*/ 113122 h 2257720"/>
                <a:gd name="connsiteX1" fmla="*/ 23567 w 1249052"/>
                <a:gd name="connsiteY1" fmla="*/ 65988 h 2257720"/>
                <a:gd name="connsiteX2" fmla="*/ 65988 w 1249052"/>
                <a:gd name="connsiteY2" fmla="*/ 18854 h 2257720"/>
                <a:gd name="connsiteX3" fmla="*/ 117835 w 1249052"/>
                <a:gd name="connsiteY3" fmla="*/ 0 h 2257720"/>
                <a:gd name="connsiteX4" fmla="*/ 179109 w 1249052"/>
                <a:gd name="connsiteY4" fmla="*/ 4714 h 2257720"/>
                <a:gd name="connsiteX5" fmla="*/ 254524 w 1249052"/>
                <a:gd name="connsiteY5" fmla="*/ 37707 h 2257720"/>
                <a:gd name="connsiteX6" fmla="*/ 1046375 w 1249052"/>
                <a:gd name="connsiteY6" fmla="*/ 542041 h 2257720"/>
                <a:gd name="connsiteX7" fmla="*/ 1107650 w 1249052"/>
                <a:gd name="connsiteY7" fmla="*/ 608029 h 2257720"/>
                <a:gd name="connsiteX8" fmla="*/ 1159497 w 1249052"/>
                <a:gd name="connsiteY8" fmla="*/ 674017 h 2257720"/>
                <a:gd name="connsiteX9" fmla="*/ 1201918 w 1249052"/>
                <a:gd name="connsiteY9" fmla="*/ 768285 h 2257720"/>
                <a:gd name="connsiteX10" fmla="*/ 1220771 w 1249052"/>
                <a:gd name="connsiteY10" fmla="*/ 824845 h 2257720"/>
                <a:gd name="connsiteX11" fmla="*/ 1234912 w 1249052"/>
                <a:gd name="connsiteY11" fmla="*/ 895546 h 2257720"/>
                <a:gd name="connsiteX12" fmla="*/ 1249052 w 1249052"/>
                <a:gd name="connsiteY12" fmla="*/ 961534 h 2257720"/>
                <a:gd name="connsiteX13" fmla="*/ 1249052 w 1249052"/>
                <a:gd name="connsiteY13" fmla="*/ 2078610 h 2257720"/>
                <a:gd name="connsiteX14" fmla="*/ 1230198 w 1249052"/>
                <a:gd name="connsiteY14" fmla="*/ 2139885 h 2257720"/>
                <a:gd name="connsiteX15" fmla="*/ 1201918 w 1249052"/>
                <a:gd name="connsiteY15" fmla="*/ 2187019 h 2257720"/>
                <a:gd name="connsiteX16" fmla="*/ 1173637 w 1249052"/>
                <a:gd name="connsiteY16" fmla="*/ 2234153 h 2257720"/>
                <a:gd name="connsiteX17" fmla="*/ 1112363 w 1249052"/>
                <a:gd name="connsiteY17" fmla="*/ 2257720 h 2257720"/>
                <a:gd name="connsiteX18" fmla="*/ 1032235 w 1249052"/>
                <a:gd name="connsiteY18" fmla="*/ 2229439 h 2257720"/>
                <a:gd name="connsiteX19" fmla="*/ 188536 w 1249052"/>
                <a:gd name="connsiteY19" fmla="*/ 1692111 h 2257720"/>
                <a:gd name="connsiteX20" fmla="*/ 122549 w 1249052"/>
                <a:gd name="connsiteY20" fmla="*/ 1607270 h 2257720"/>
                <a:gd name="connsiteX21" fmla="*/ 98982 w 1249052"/>
                <a:gd name="connsiteY21" fmla="*/ 1583703 h 2257720"/>
                <a:gd name="connsiteX22" fmla="*/ 65988 w 1249052"/>
                <a:gd name="connsiteY22" fmla="*/ 1498862 h 2257720"/>
                <a:gd name="connsiteX23" fmla="*/ 28281 w 1249052"/>
                <a:gd name="connsiteY23" fmla="*/ 1428161 h 2257720"/>
                <a:gd name="connsiteX24" fmla="*/ 18854 w 1249052"/>
                <a:gd name="connsiteY24" fmla="*/ 1381027 h 2257720"/>
                <a:gd name="connsiteX25" fmla="*/ 0 w 1249052"/>
                <a:gd name="connsiteY25" fmla="*/ 113122 h 225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49052" h="2257720">
                  <a:moveTo>
                    <a:pt x="0" y="113122"/>
                  </a:moveTo>
                  <a:lnTo>
                    <a:pt x="23567" y="65988"/>
                  </a:lnTo>
                  <a:lnTo>
                    <a:pt x="65988" y="18854"/>
                  </a:lnTo>
                  <a:lnTo>
                    <a:pt x="117835" y="0"/>
                  </a:lnTo>
                  <a:lnTo>
                    <a:pt x="179109" y="4714"/>
                  </a:lnTo>
                  <a:lnTo>
                    <a:pt x="254524" y="37707"/>
                  </a:lnTo>
                  <a:lnTo>
                    <a:pt x="1046375" y="542041"/>
                  </a:lnTo>
                  <a:lnTo>
                    <a:pt x="1107650" y="608029"/>
                  </a:lnTo>
                  <a:lnTo>
                    <a:pt x="1159497" y="674017"/>
                  </a:lnTo>
                  <a:lnTo>
                    <a:pt x="1201918" y="768285"/>
                  </a:lnTo>
                  <a:lnTo>
                    <a:pt x="1220771" y="824845"/>
                  </a:lnTo>
                  <a:lnTo>
                    <a:pt x="1234912" y="895546"/>
                  </a:lnTo>
                  <a:lnTo>
                    <a:pt x="1249052" y="961534"/>
                  </a:lnTo>
                  <a:lnTo>
                    <a:pt x="1249052" y="2078610"/>
                  </a:lnTo>
                  <a:lnTo>
                    <a:pt x="1230198" y="2139885"/>
                  </a:lnTo>
                  <a:lnTo>
                    <a:pt x="1201918" y="2187019"/>
                  </a:lnTo>
                  <a:lnTo>
                    <a:pt x="1173637" y="2234153"/>
                  </a:lnTo>
                  <a:lnTo>
                    <a:pt x="1112363" y="2257720"/>
                  </a:lnTo>
                  <a:lnTo>
                    <a:pt x="1032235" y="2229439"/>
                  </a:lnTo>
                  <a:lnTo>
                    <a:pt x="188536" y="1692111"/>
                  </a:lnTo>
                  <a:lnTo>
                    <a:pt x="122549" y="1607270"/>
                  </a:lnTo>
                  <a:lnTo>
                    <a:pt x="98982" y="1583703"/>
                  </a:lnTo>
                  <a:lnTo>
                    <a:pt x="65988" y="1498862"/>
                  </a:lnTo>
                  <a:lnTo>
                    <a:pt x="28281" y="1428161"/>
                  </a:lnTo>
                  <a:lnTo>
                    <a:pt x="18854" y="1381027"/>
                  </a:lnTo>
                  <a:lnTo>
                    <a:pt x="0" y="11312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3" name="Forma livre 32"/>
            <p:cNvSpPr/>
            <p:nvPr/>
          </p:nvSpPr>
          <p:spPr>
            <a:xfrm flipH="1">
              <a:off x="3969572" y="2958307"/>
              <a:ext cx="1259405" cy="2292968"/>
            </a:xfrm>
            <a:custGeom>
              <a:avLst/>
              <a:gdLst>
                <a:gd name="connsiteX0" fmla="*/ 0 w 1249052"/>
                <a:gd name="connsiteY0" fmla="*/ 113122 h 2257720"/>
                <a:gd name="connsiteX1" fmla="*/ 23567 w 1249052"/>
                <a:gd name="connsiteY1" fmla="*/ 65988 h 2257720"/>
                <a:gd name="connsiteX2" fmla="*/ 65988 w 1249052"/>
                <a:gd name="connsiteY2" fmla="*/ 18854 h 2257720"/>
                <a:gd name="connsiteX3" fmla="*/ 117835 w 1249052"/>
                <a:gd name="connsiteY3" fmla="*/ 0 h 2257720"/>
                <a:gd name="connsiteX4" fmla="*/ 179109 w 1249052"/>
                <a:gd name="connsiteY4" fmla="*/ 4714 h 2257720"/>
                <a:gd name="connsiteX5" fmla="*/ 254524 w 1249052"/>
                <a:gd name="connsiteY5" fmla="*/ 37707 h 2257720"/>
                <a:gd name="connsiteX6" fmla="*/ 1046375 w 1249052"/>
                <a:gd name="connsiteY6" fmla="*/ 542041 h 2257720"/>
                <a:gd name="connsiteX7" fmla="*/ 1107650 w 1249052"/>
                <a:gd name="connsiteY7" fmla="*/ 608029 h 2257720"/>
                <a:gd name="connsiteX8" fmla="*/ 1159497 w 1249052"/>
                <a:gd name="connsiteY8" fmla="*/ 674017 h 2257720"/>
                <a:gd name="connsiteX9" fmla="*/ 1201918 w 1249052"/>
                <a:gd name="connsiteY9" fmla="*/ 768285 h 2257720"/>
                <a:gd name="connsiteX10" fmla="*/ 1220771 w 1249052"/>
                <a:gd name="connsiteY10" fmla="*/ 824845 h 2257720"/>
                <a:gd name="connsiteX11" fmla="*/ 1234912 w 1249052"/>
                <a:gd name="connsiteY11" fmla="*/ 895546 h 2257720"/>
                <a:gd name="connsiteX12" fmla="*/ 1249052 w 1249052"/>
                <a:gd name="connsiteY12" fmla="*/ 961534 h 2257720"/>
                <a:gd name="connsiteX13" fmla="*/ 1249052 w 1249052"/>
                <a:gd name="connsiteY13" fmla="*/ 2078610 h 2257720"/>
                <a:gd name="connsiteX14" fmla="*/ 1230198 w 1249052"/>
                <a:gd name="connsiteY14" fmla="*/ 2139885 h 2257720"/>
                <a:gd name="connsiteX15" fmla="*/ 1201918 w 1249052"/>
                <a:gd name="connsiteY15" fmla="*/ 2187019 h 2257720"/>
                <a:gd name="connsiteX16" fmla="*/ 1173637 w 1249052"/>
                <a:gd name="connsiteY16" fmla="*/ 2234153 h 2257720"/>
                <a:gd name="connsiteX17" fmla="*/ 1112363 w 1249052"/>
                <a:gd name="connsiteY17" fmla="*/ 2257720 h 2257720"/>
                <a:gd name="connsiteX18" fmla="*/ 1032235 w 1249052"/>
                <a:gd name="connsiteY18" fmla="*/ 2229439 h 2257720"/>
                <a:gd name="connsiteX19" fmla="*/ 188536 w 1249052"/>
                <a:gd name="connsiteY19" fmla="*/ 1692111 h 2257720"/>
                <a:gd name="connsiteX20" fmla="*/ 122549 w 1249052"/>
                <a:gd name="connsiteY20" fmla="*/ 1607270 h 2257720"/>
                <a:gd name="connsiteX21" fmla="*/ 98982 w 1249052"/>
                <a:gd name="connsiteY21" fmla="*/ 1583703 h 2257720"/>
                <a:gd name="connsiteX22" fmla="*/ 65988 w 1249052"/>
                <a:gd name="connsiteY22" fmla="*/ 1498862 h 2257720"/>
                <a:gd name="connsiteX23" fmla="*/ 28281 w 1249052"/>
                <a:gd name="connsiteY23" fmla="*/ 1428161 h 2257720"/>
                <a:gd name="connsiteX24" fmla="*/ 18854 w 1249052"/>
                <a:gd name="connsiteY24" fmla="*/ 1381027 h 2257720"/>
                <a:gd name="connsiteX25" fmla="*/ 0 w 1249052"/>
                <a:gd name="connsiteY25" fmla="*/ 113122 h 225772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249052" h="2257720">
                  <a:moveTo>
                    <a:pt x="0" y="113122"/>
                  </a:moveTo>
                  <a:lnTo>
                    <a:pt x="23567" y="65988"/>
                  </a:lnTo>
                  <a:lnTo>
                    <a:pt x="65988" y="18854"/>
                  </a:lnTo>
                  <a:lnTo>
                    <a:pt x="117835" y="0"/>
                  </a:lnTo>
                  <a:lnTo>
                    <a:pt x="179109" y="4714"/>
                  </a:lnTo>
                  <a:lnTo>
                    <a:pt x="254524" y="37707"/>
                  </a:lnTo>
                  <a:lnTo>
                    <a:pt x="1046375" y="542041"/>
                  </a:lnTo>
                  <a:lnTo>
                    <a:pt x="1107650" y="608029"/>
                  </a:lnTo>
                  <a:lnTo>
                    <a:pt x="1159497" y="674017"/>
                  </a:lnTo>
                  <a:lnTo>
                    <a:pt x="1201918" y="768285"/>
                  </a:lnTo>
                  <a:lnTo>
                    <a:pt x="1220771" y="824845"/>
                  </a:lnTo>
                  <a:lnTo>
                    <a:pt x="1234912" y="895546"/>
                  </a:lnTo>
                  <a:lnTo>
                    <a:pt x="1249052" y="961534"/>
                  </a:lnTo>
                  <a:lnTo>
                    <a:pt x="1249052" y="2078610"/>
                  </a:lnTo>
                  <a:lnTo>
                    <a:pt x="1230198" y="2139885"/>
                  </a:lnTo>
                  <a:lnTo>
                    <a:pt x="1201918" y="2187019"/>
                  </a:lnTo>
                  <a:lnTo>
                    <a:pt x="1173637" y="2234153"/>
                  </a:lnTo>
                  <a:lnTo>
                    <a:pt x="1112363" y="2257720"/>
                  </a:lnTo>
                  <a:lnTo>
                    <a:pt x="1032235" y="2229439"/>
                  </a:lnTo>
                  <a:lnTo>
                    <a:pt x="188536" y="1692111"/>
                  </a:lnTo>
                  <a:lnTo>
                    <a:pt x="122549" y="1607270"/>
                  </a:lnTo>
                  <a:lnTo>
                    <a:pt x="98982" y="1583703"/>
                  </a:lnTo>
                  <a:lnTo>
                    <a:pt x="65988" y="1498862"/>
                  </a:lnTo>
                  <a:lnTo>
                    <a:pt x="28281" y="1428161"/>
                  </a:lnTo>
                  <a:lnTo>
                    <a:pt x="18854" y="1381027"/>
                  </a:lnTo>
                  <a:lnTo>
                    <a:pt x="0" y="113122"/>
                  </a:ln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4" name="Forma livre 33"/>
            <p:cNvSpPr/>
            <p:nvPr/>
          </p:nvSpPr>
          <p:spPr>
            <a:xfrm>
              <a:off x="2657139" y="2216075"/>
              <a:ext cx="2624866" cy="3141233"/>
            </a:xfrm>
            <a:custGeom>
              <a:avLst/>
              <a:gdLst>
                <a:gd name="connsiteX0" fmla="*/ 1290917 w 2624866"/>
                <a:gd name="connsiteY0" fmla="*/ 3141233 h 3141233"/>
                <a:gd name="connsiteX1" fmla="*/ 1183341 w 2624866"/>
                <a:gd name="connsiteY1" fmla="*/ 3119718 h 3141233"/>
                <a:gd name="connsiteX2" fmla="*/ 1043492 w 2624866"/>
                <a:gd name="connsiteY2" fmla="*/ 3055172 h 3141233"/>
                <a:gd name="connsiteX3" fmla="*/ 817581 w 2624866"/>
                <a:gd name="connsiteY3" fmla="*/ 2904565 h 3141233"/>
                <a:gd name="connsiteX4" fmla="*/ 225910 w 2624866"/>
                <a:gd name="connsiteY4" fmla="*/ 2528047 h 3141233"/>
                <a:gd name="connsiteX5" fmla="*/ 139849 w 2624866"/>
                <a:gd name="connsiteY5" fmla="*/ 2420471 h 3141233"/>
                <a:gd name="connsiteX6" fmla="*/ 86061 w 2624866"/>
                <a:gd name="connsiteY6" fmla="*/ 2302137 h 3141233"/>
                <a:gd name="connsiteX7" fmla="*/ 43030 w 2624866"/>
                <a:gd name="connsiteY7" fmla="*/ 2205318 h 3141233"/>
                <a:gd name="connsiteX8" fmla="*/ 32273 w 2624866"/>
                <a:gd name="connsiteY8" fmla="*/ 2130014 h 3141233"/>
                <a:gd name="connsiteX9" fmla="*/ 0 w 2624866"/>
                <a:gd name="connsiteY9" fmla="*/ 871370 h 3141233"/>
                <a:gd name="connsiteX10" fmla="*/ 32273 w 2624866"/>
                <a:gd name="connsiteY10" fmla="*/ 742278 h 3141233"/>
                <a:gd name="connsiteX11" fmla="*/ 75303 w 2624866"/>
                <a:gd name="connsiteY11" fmla="*/ 634701 h 3141233"/>
                <a:gd name="connsiteX12" fmla="*/ 150607 w 2624866"/>
                <a:gd name="connsiteY12" fmla="*/ 570156 h 3141233"/>
                <a:gd name="connsiteX13" fmla="*/ 247426 w 2624866"/>
                <a:gd name="connsiteY13" fmla="*/ 505610 h 3141233"/>
                <a:gd name="connsiteX14" fmla="*/ 1151068 w 2624866"/>
                <a:gd name="connsiteY14" fmla="*/ 43031 h 3141233"/>
                <a:gd name="connsiteX15" fmla="*/ 1269402 w 2624866"/>
                <a:gd name="connsiteY15" fmla="*/ 10758 h 3141233"/>
                <a:gd name="connsiteX16" fmla="*/ 1387736 w 2624866"/>
                <a:gd name="connsiteY16" fmla="*/ 0 h 3141233"/>
                <a:gd name="connsiteX17" fmla="*/ 1495313 w 2624866"/>
                <a:gd name="connsiteY17" fmla="*/ 32273 h 3141233"/>
                <a:gd name="connsiteX18" fmla="*/ 1592132 w 2624866"/>
                <a:gd name="connsiteY18" fmla="*/ 75304 h 3141233"/>
                <a:gd name="connsiteX19" fmla="*/ 2441986 w 2624866"/>
                <a:gd name="connsiteY19" fmla="*/ 559398 h 3141233"/>
                <a:gd name="connsiteX20" fmla="*/ 2538805 w 2624866"/>
                <a:gd name="connsiteY20" fmla="*/ 634701 h 3141233"/>
                <a:gd name="connsiteX21" fmla="*/ 2581835 w 2624866"/>
                <a:gd name="connsiteY21" fmla="*/ 699247 h 3141233"/>
                <a:gd name="connsiteX22" fmla="*/ 2624866 w 2624866"/>
                <a:gd name="connsiteY22" fmla="*/ 796066 h 3141233"/>
                <a:gd name="connsiteX23" fmla="*/ 2624866 w 2624866"/>
                <a:gd name="connsiteY23" fmla="*/ 882127 h 3141233"/>
                <a:gd name="connsiteX24" fmla="*/ 2603350 w 2624866"/>
                <a:gd name="connsiteY24" fmla="*/ 2119257 h 3141233"/>
                <a:gd name="connsiteX25" fmla="*/ 2581835 w 2624866"/>
                <a:gd name="connsiteY25" fmla="*/ 2269864 h 3141233"/>
                <a:gd name="connsiteX26" fmla="*/ 2538805 w 2624866"/>
                <a:gd name="connsiteY26" fmla="*/ 2355925 h 3141233"/>
                <a:gd name="connsiteX27" fmla="*/ 2474259 w 2624866"/>
                <a:gd name="connsiteY27" fmla="*/ 2441986 h 3141233"/>
                <a:gd name="connsiteX28" fmla="*/ 2409713 w 2624866"/>
                <a:gd name="connsiteY28" fmla="*/ 2517290 h 3141233"/>
                <a:gd name="connsiteX29" fmla="*/ 1463040 w 2624866"/>
                <a:gd name="connsiteY29" fmla="*/ 3119718 h 3141233"/>
                <a:gd name="connsiteX30" fmla="*/ 1441525 w 2624866"/>
                <a:gd name="connsiteY30" fmla="*/ 3130476 h 3141233"/>
                <a:gd name="connsiteX0" fmla="*/ 1290917 w 2624866"/>
                <a:gd name="connsiteY0" fmla="*/ 3141233 h 3141233"/>
                <a:gd name="connsiteX1" fmla="*/ 1183341 w 2624866"/>
                <a:gd name="connsiteY1" fmla="*/ 3119718 h 3141233"/>
                <a:gd name="connsiteX2" fmla="*/ 1043492 w 2624866"/>
                <a:gd name="connsiteY2" fmla="*/ 3055172 h 3141233"/>
                <a:gd name="connsiteX3" fmla="*/ 817581 w 2624866"/>
                <a:gd name="connsiteY3" fmla="*/ 2904565 h 3141233"/>
                <a:gd name="connsiteX4" fmla="*/ 225910 w 2624866"/>
                <a:gd name="connsiteY4" fmla="*/ 2528047 h 3141233"/>
                <a:gd name="connsiteX5" fmla="*/ 139849 w 2624866"/>
                <a:gd name="connsiteY5" fmla="*/ 2420471 h 3141233"/>
                <a:gd name="connsiteX6" fmla="*/ 86061 w 2624866"/>
                <a:gd name="connsiteY6" fmla="*/ 2302137 h 3141233"/>
                <a:gd name="connsiteX7" fmla="*/ 43030 w 2624866"/>
                <a:gd name="connsiteY7" fmla="*/ 2205318 h 3141233"/>
                <a:gd name="connsiteX8" fmla="*/ 32273 w 2624866"/>
                <a:gd name="connsiteY8" fmla="*/ 2130014 h 3141233"/>
                <a:gd name="connsiteX9" fmla="*/ 0 w 2624866"/>
                <a:gd name="connsiteY9" fmla="*/ 871370 h 3141233"/>
                <a:gd name="connsiteX10" fmla="*/ 32273 w 2624866"/>
                <a:gd name="connsiteY10" fmla="*/ 742278 h 3141233"/>
                <a:gd name="connsiteX11" fmla="*/ 75303 w 2624866"/>
                <a:gd name="connsiteY11" fmla="*/ 634701 h 3141233"/>
                <a:gd name="connsiteX12" fmla="*/ 150607 w 2624866"/>
                <a:gd name="connsiteY12" fmla="*/ 570156 h 3141233"/>
                <a:gd name="connsiteX13" fmla="*/ 247426 w 2624866"/>
                <a:gd name="connsiteY13" fmla="*/ 505610 h 3141233"/>
                <a:gd name="connsiteX14" fmla="*/ 1151068 w 2624866"/>
                <a:gd name="connsiteY14" fmla="*/ 43031 h 3141233"/>
                <a:gd name="connsiteX15" fmla="*/ 1269402 w 2624866"/>
                <a:gd name="connsiteY15" fmla="*/ 10758 h 3141233"/>
                <a:gd name="connsiteX16" fmla="*/ 1387736 w 2624866"/>
                <a:gd name="connsiteY16" fmla="*/ 0 h 3141233"/>
                <a:gd name="connsiteX17" fmla="*/ 1495313 w 2624866"/>
                <a:gd name="connsiteY17" fmla="*/ 32273 h 3141233"/>
                <a:gd name="connsiteX18" fmla="*/ 1592132 w 2624866"/>
                <a:gd name="connsiteY18" fmla="*/ 75304 h 3141233"/>
                <a:gd name="connsiteX19" fmla="*/ 2441986 w 2624866"/>
                <a:gd name="connsiteY19" fmla="*/ 559398 h 3141233"/>
                <a:gd name="connsiteX20" fmla="*/ 2538805 w 2624866"/>
                <a:gd name="connsiteY20" fmla="*/ 634701 h 3141233"/>
                <a:gd name="connsiteX21" fmla="*/ 2581835 w 2624866"/>
                <a:gd name="connsiteY21" fmla="*/ 699247 h 3141233"/>
                <a:gd name="connsiteX22" fmla="*/ 2624866 w 2624866"/>
                <a:gd name="connsiteY22" fmla="*/ 796066 h 3141233"/>
                <a:gd name="connsiteX23" fmla="*/ 2624866 w 2624866"/>
                <a:gd name="connsiteY23" fmla="*/ 882127 h 3141233"/>
                <a:gd name="connsiteX24" fmla="*/ 2603350 w 2624866"/>
                <a:gd name="connsiteY24" fmla="*/ 2119257 h 3141233"/>
                <a:gd name="connsiteX25" fmla="*/ 2581835 w 2624866"/>
                <a:gd name="connsiteY25" fmla="*/ 2269864 h 3141233"/>
                <a:gd name="connsiteX26" fmla="*/ 2538805 w 2624866"/>
                <a:gd name="connsiteY26" fmla="*/ 2355925 h 3141233"/>
                <a:gd name="connsiteX27" fmla="*/ 2474259 w 2624866"/>
                <a:gd name="connsiteY27" fmla="*/ 2441986 h 3141233"/>
                <a:gd name="connsiteX28" fmla="*/ 2409713 w 2624866"/>
                <a:gd name="connsiteY28" fmla="*/ 2517290 h 3141233"/>
                <a:gd name="connsiteX29" fmla="*/ 1463040 w 2624866"/>
                <a:gd name="connsiteY29" fmla="*/ 3119718 h 3141233"/>
                <a:gd name="connsiteX30" fmla="*/ 1441525 w 2624866"/>
                <a:gd name="connsiteY30" fmla="*/ 3130476 h 3141233"/>
                <a:gd name="connsiteX0" fmla="*/ 1290917 w 2624866"/>
                <a:gd name="connsiteY0" fmla="*/ 3141233 h 3141233"/>
                <a:gd name="connsiteX1" fmla="*/ 1183341 w 2624866"/>
                <a:gd name="connsiteY1" fmla="*/ 3119718 h 3141233"/>
                <a:gd name="connsiteX2" fmla="*/ 1043492 w 2624866"/>
                <a:gd name="connsiteY2" fmla="*/ 3055172 h 3141233"/>
                <a:gd name="connsiteX3" fmla="*/ 817581 w 2624866"/>
                <a:gd name="connsiteY3" fmla="*/ 2904565 h 3141233"/>
                <a:gd name="connsiteX4" fmla="*/ 225910 w 2624866"/>
                <a:gd name="connsiteY4" fmla="*/ 2528047 h 3141233"/>
                <a:gd name="connsiteX5" fmla="*/ 139849 w 2624866"/>
                <a:gd name="connsiteY5" fmla="*/ 2420471 h 3141233"/>
                <a:gd name="connsiteX6" fmla="*/ 86061 w 2624866"/>
                <a:gd name="connsiteY6" fmla="*/ 2302137 h 3141233"/>
                <a:gd name="connsiteX7" fmla="*/ 43030 w 2624866"/>
                <a:gd name="connsiteY7" fmla="*/ 2205318 h 3141233"/>
                <a:gd name="connsiteX8" fmla="*/ 32273 w 2624866"/>
                <a:gd name="connsiteY8" fmla="*/ 2130014 h 3141233"/>
                <a:gd name="connsiteX9" fmla="*/ 0 w 2624866"/>
                <a:gd name="connsiteY9" fmla="*/ 871370 h 3141233"/>
                <a:gd name="connsiteX10" fmla="*/ 32273 w 2624866"/>
                <a:gd name="connsiteY10" fmla="*/ 742278 h 3141233"/>
                <a:gd name="connsiteX11" fmla="*/ 75303 w 2624866"/>
                <a:gd name="connsiteY11" fmla="*/ 634701 h 3141233"/>
                <a:gd name="connsiteX12" fmla="*/ 150607 w 2624866"/>
                <a:gd name="connsiteY12" fmla="*/ 570156 h 3141233"/>
                <a:gd name="connsiteX13" fmla="*/ 247426 w 2624866"/>
                <a:gd name="connsiteY13" fmla="*/ 505610 h 3141233"/>
                <a:gd name="connsiteX14" fmla="*/ 1151068 w 2624866"/>
                <a:gd name="connsiteY14" fmla="*/ 43031 h 3141233"/>
                <a:gd name="connsiteX15" fmla="*/ 1269402 w 2624866"/>
                <a:gd name="connsiteY15" fmla="*/ 10758 h 3141233"/>
                <a:gd name="connsiteX16" fmla="*/ 1387736 w 2624866"/>
                <a:gd name="connsiteY16" fmla="*/ 0 h 3141233"/>
                <a:gd name="connsiteX17" fmla="*/ 1495313 w 2624866"/>
                <a:gd name="connsiteY17" fmla="*/ 32273 h 3141233"/>
                <a:gd name="connsiteX18" fmla="*/ 1592132 w 2624866"/>
                <a:gd name="connsiteY18" fmla="*/ 75304 h 3141233"/>
                <a:gd name="connsiteX19" fmla="*/ 2441986 w 2624866"/>
                <a:gd name="connsiteY19" fmla="*/ 559398 h 3141233"/>
                <a:gd name="connsiteX20" fmla="*/ 2538805 w 2624866"/>
                <a:gd name="connsiteY20" fmla="*/ 634701 h 3141233"/>
                <a:gd name="connsiteX21" fmla="*/ 2581835 w 2624866"/>
                <a:gd name="connsiteY21" fmla="*/ 699247 h 3141233"/>
                <a:gd name="connsiteX22" fmla="*/ 2624866 w 2624866"/>
                <a:gd name="connsiteY22" fmla="*/ 796066 h 3141233"/>
                <a:gd name="connsiteX23" fmla="*/ 2624866 w 2624866"/>
                <a:gd name="connsiteY23" fmla="*/ 882127 h 3141233"/>
                <a:gd name="connsiteX24" fmla="*/ 2603350 w 2624866"/>
                <a:gd name="connsiteY24" fmla="*/ 2119257 h 3141233"/>
                <a:gd name="connsiteX25" fmla="*/ 2581835 w 2624866"/>
                <a:gd name="connsiteY25" fmla="*/ 2269864 h 3141233"/>
                <a:gd name="connsiteX26" fmla="*/ 2538805 w 2624866"/>
                <a:gd name="connsiteY26" fmla="*/ 2355925 h 3141233"/>
                <a:gd name="connsiteX27" fmla="*/ 2474259 w 2624866"/>
                <a:gd name="connsiteY27" fmla="*/ 2441986 h 3141233"/>
                <a:gd name="connsiteX28" fmla="*/ 2409713 w 2624866"/>
                <a:gd name="connsiteY28" fmla="*/ 2517290 h 3141233"/>
                <a:gd name="connsiteX29" fmla="*/ 1463040 w 2624866"/>
                <a:gd name="connsiteY29" fmla="*/ 3119718 h 3141233"/>
                <a:gd name="connsiteX30" fmla="*/ 1441525 w 2624866"/>
                <a:gd name="connsiteY30" fmla="*/ 3130476 h 3141233"/>
                <a:gd name="connsiteX31" fmla="*/ 1290917 w 2624866"/>
                <a:gd name="connsiteY31" fmla="*/ 3141233 h 3141233"/>
                <a:gd name="connsiteX0" fmla="*/ 1290917 w 2624866"/>
                <a:gd name="connsiteY0" fmla="*/ 3141233 h 3141233"/>
                <a:gd name="connsiteX1" fmla="*/ 1183341 w 2624866"/>
                <a:gd name="connsiteY1" fmla="*/ 3119718 h 3141233"/>
                <a:gd name="connsiteX2" fmla="*/ 1043492 w 2624866"/>
                <a:gd name="connsiteY2" fmla="*/ 3055172 h 3141233"/>
                <a:gd name="connsiteX3" fmla="*/ 817581 w 2624866"/>
                <a:gd name="connsiteY3" fmla="*/ 2904565 h 3141233"/>
                <a:gd name="connsiteX4" fmla="*/ 225910 w 2624866"/>
                <a:gd name="connsiteY4" fmla="*/ 2528047 h 3141233"/>
                <a:gd name="connsiteX5" fmla="*/ 139849 w 2624866"/>
                <a:gd name="connsiteY5" fmla="*/ 2420471 h 3141233"/>
                <a:gd name="connsiteX6" fmla="*/ 86061 w 2624866"/>
                <a:gd name="connsiteY6" fmla="*/ 2302137 h 3141233"/>
                <a:gd name="connsiteX7" fmla="*/ 43030 w 2624866"/>
                <a:gd name="connsiteY7" fmla="*/ 2205318 h 3141233"/>
                <a:gd name="connsiteX8" fmla="*/ 32273 w 2624866"/>
                <a:gd name="connsiteY8" fmla="*/ 2130014 h 3141233"/>
                <a:gd name="connsiteX9" fmla="*/ 0 w 2624866"/>
                <a:gd name="connsiteY9" fmla="*/ 871370 h 3141233"/>
                <a:gd name="connsiteX10" fmla="*/ 32273 w 2624866"/>
                <a:gd name="connsiteY10" fmla="*/ 742278 h 3141233"/>
                <a:gd name="connsiteX11" fmla="*/ 75303 w 2624866"/>
                <a:gd name="connsiteY11" fmla="*/ 634701 h 3141233"/>
                <a:gd name="connsiteX12" fmla="*/ 150607 w 2624866"/>
                <a:gd name="connsiteY12" fmla="*/ 570156 h 3141233"/>
                <a:gd name="connsiteX13" fmla="*/ 247426 w 2624866"/>
                <a:gd name="connsiteY13" fmla="*/ 505610 h 3141233"/>
                <a:gd name="connsiteX14" fmla="*/ 1151068 w 2624866"/>
                <a:gd name="connsiteY14" fmla="*/ 43031 h 3141233"/>
                <a:gd name="connsiteX15" fmla="*/ 1269402 w 2624866"/>
                <a:gd name="connsiteY15" fmla="*/ 10758 h 3141233"/>
                <a:gd name="connsiteX16" fmla="*/ 1387736 w 2624866"/>
                <a:gd name="connsiteY16" fmla="*/ 0 h 3141233"/>
                <a:gd name="connsiteX17" fmla="*/ 1495313 w 2624866"/>
                <a:gd name="connsiteY17" fmla="*/ 32273 h 3141233"/>
                <a:gd name="connsiteX18" fmla="*/ 1592132 w 2624866"/>
                <a:gd name="connsiteY18" fmla="*/ 75304 h 3141233"/>
                <a:gd name="connsiteX19" fmla="*/ 2441986 w 2624866"/>
                <a:gd name="connsiteY19" fmla="*/ 559398 h 3141233"/>
                <a:gd name="connsiteX20" fmla="*/ 2538805 w 2624866"/>
                <a:gd name="connsiteY20" fmla="*/ 634701 h 3141233"/>
                <a:gd name="connsiteX21" fmla="*/ 2581835 w 2624866"/>
                <a:gd name="connsiteY21" fmla="*/ 699247 h 3141233"/>
                <a:gd name="connsiteX22" fmla="*/ 2624866 w 2624866"/>
                <a:gd name="connsiteY22" fmla="*/ 796066 h 3141233"/>
                <a:gd name="connsiteX23" fmla="*/ 2624866 w 2624866"/>
                <a:gd name="connsiteY23" fmla="*/ 882127 h 3141233"/>
                <a:gd name="connsiteX24" fmla="*/ 2603350 w 2624866"/>
                <a:gd name="connsiteY24" fmla="*/ 2119257 h 3141233"/>
                <a:gd name="connsiteX25" fmla="*/ 2581835 w 2624866"/>
                <a:gd name="connsiteY25" fmla="*/ 2269864 h 3141233"/>
                <a:gd name="connsiteX26" fmla="*/ 2538805 w 2624866"/>
                <a:gd name="connsiteY26" fmla="*/ 2355925 h 3141233"/>
                <a:gd name="connsiteX27" fmla="*/ 2474259 w 2624866"/>
                <a:gd name="connsiteY27" fmla="*/ 2441986 h 3141233"/>
                <a:gd name="connsiteX28" fmla="*/ 2409713 w 2624866"/>
                <a:gd name="connsiteY28" fmla="*/ 2517290 h 3141233"/>
                <a:gd name="connsiteX29" fmla="*/ 1463040 w 2624866"/>
                <a:gd name="connsiteY29" fmla="*/ 3119718 h 3141233"/>
                <a:gd name="connsiteX30" fmla="*/ 1441525 w 2624866"/>
                <a:gd name="connsiteY30" fmla="*/ 3130476 h 3141233"/>
                <a:gd name="connsiteX31" fmla="*/ 1290917 w 2624866"/>
                <a:gd name="connsiteY31" fmla="*/ 3141233 h 3141233"/>
                <a:gd name="connsiteX0" fmla="*/ 1290917 w 2624866"/>
                <a:gd name="connsiteY0" fmla="*/ 3141233 h 3141233"/>
                <a:gd name="connsiteX1" fmla="*/ 1183341 w 2624866"/>
                <a:gd name="connsiteY1" fmla="*/ 3119718 h 3141233"/>
                <a:gd name="connsiteX2" fmla="*/ 1043492 w 2624866"/>
                <a:gd name="connsiteY2" fmla="*/ 3055172 h 3141233"/>
                <a:gd name="connsiteX3" fmla="*/ 225910 w 2624866"/>
                <a:gd name="connsiteY3" fmla="*/ 2528047 h 3141233"/>
                <a:gd name="connsiteX4" fmla="*/ 139849 w 2624866"/>
                <a:gd name="connsiteY4" fmla="*/ 2420471 h 3141233"/>
                <a:gd name="connsiteX5" fmla="*/ 86061 w 2624866"/>
                <a:gd name="connsiteY5" fmla="*/ 2302137 h 3141233"/>
                <a:gd name="connsiteX6" fmla="*/ 43030 w 2624866"/>
                <a:gd name="connsiteY6" fmla="*/ 2205318 h 3141233"/>
                <a:gd name="connsiteX7" fmla="*/ 32273 w 2624866"/>
                <a:gd name="connsiteY7" fmla="*/ 2130014 h 3141233"/>
                <a:gd name="connsiteX8" fmla="*/ 0 w 2624866"/>
                <a:gd name="connsiteY8" fmla="*/ 871370 h 3141233"/>
                <a:gd name="connsiteX9" fmla="*/ 32273 w 2624866"/>
                <a:gd name="connsiteY9" fmla="*/ 742278 h 3141233"/>
                <a:gd name="connsiteX10" fmla="*/ 75303 w 2624866"/>
                <a:gd name="connsiteY10" fmla="*/ 634701 h 3141233"/>
                <a:gd name="connsiteX11" fmla="*/ 150607 w 2624866"/>
                <a:gd name="connsiteY11" fmla="*/ 570156 h 3141233"/>
                <a:gd name="connsiteX12" fmla="*/ 247426 w 2624866"/>
                <a:gd name="connsiteY12" fmla="*/ 505610 h 3141233"/>
                <a:gd name="connsiteX13" fmla="*/ 1151068 w 2624866"/>
                <a:gd name="connsiteY13" fmla="*/ 43031 h 3141233"/>
                <a:gd name="connsiteX14" fmla="*/ 1269402 w 2624866"/>
                <a:gd name="connsiteY14" fmla="*/ 10758 h 3141233"/>
                <a:gd name="connsiteX15" fmla="*/ 1387736 w 2624866"/>
                <a:gd name="connsiteY15" fmla="*/ 0 h 3141233"/>
                <a:gd name="connsiteX16" fmla="*/ 1495313 w 2624866"/>
                <a:gd name="connsiteY16" fmla="*/ 32273 h 3141233"/>
                <a:gd name="connsiteX17" fmla="*/ 1592132 w 2624866"/>
                <a:gd name="connsiteY17" fmla="*/ 75304 h 3141233"/>
                <a:gd name="connsiteX18" fmla="*/ 2441986 w 2624866"/>
                <a:gd name="connsiteY18" fmla="*/ 559398 h 3141233"/>
                <a:gd name="connsiteX19" fmla="*/ 2538805 w 2624866"/>
                <a:gd name="connsiteY19" fmla="*/ 634701 h 3141233"/>
                <a:gd name="connsiteX20" fmla="*/ 2581835 w 2624866"/>
                <a:gd name="connsiteY20" fmla="*/ 699247 h 3141233"/>
                <a:gd name="connsiteX21" fmla="*/ 2624866 w 2624866"/>
                <a:gd name="connsiteY21" fmla="*/ 796066 h 3141233"/>
                <a:gd name="connsiteX22" fmla="*/ 2624866 w 2624866"/>
                <a:gd name="connsiteY22" fmla="*/ 882127 h 3141233"/>
                <a:gd name="connsiteX23" fmla="*/ 2603350 w 2624866"/>
                <a:gd name="connsiteY23" fmla="*/ 2119257 h 3141233"/>
                <a:gd name="connsiteX24" fmla="*/ 2581835 w 2624866"/>
                <a:gd name="connsiteY24" fmla="*/ 2269864 h 3141233"/>
                <a:gd name="connsiteX25" fmla="*/ 2538805 w 2624866"/>
                <a:gd name="connsiteY25" fmla="*/ 2355925 h 3141233"/>
                <a:gd name="connsiteX26" fmla="*/ 2474259 w 2624866"/>
                <a:gd name="connsiteY26" fmla="*/ 2441986 h 3141233"/>
                <a:gd name="connsiteX27" fmla="*/ 2409713 w 2624866"/>
                <a:gd name="connsiteY27" fmla="*/ 2517290 h 3141233"/>
                <a:gd name="connsiteX28" fmla="*/ 1463040 w 2624866"/>
                <a:gd name="connsiteY28" fmla="*/ 3119718 h 3141233"/>
                <a:gd name="connsiteX29" fmla="*/ 1441525 w 2624866"/>
                <a:gd name="connsiteY29" fmla="*/ 3130476 h 3141233"/>
                <a:gd name="connsiteX30" fmla="*/ 1290917 w 2624866"/>
                <a:gd name="connsiteY30" fmla="*/ 3141233 h 3141233"/>
                <a:gd name="connsiteX0" fmla="*/ 1290917 w 2624866"/>
                <a:gd name="connsiteY0" fmla="*/ 3141233 h 3141233"/>
                <a:gd name="connsiteX1" fmla="*/ 1183341 w 2624866"/>
                <a:gd name="connsiteY1" fmla="*/ 3119718 h 3141233"/>
                <a:gd name="connsiteX2" fmla="*/ 1043492 w 2624866"/>
                <a:gd name="connsiteY2" fmla="*/ 3055172 h 3141233"/>
                <a:gd name="connsiteX3" fmla="*/ 225910 w 2624866"/>
                <a:gd name="connsiteY3" fmla="*/ 2528047 h 3141233"/>
                <a:gd name="connsiteX4" fmla="*/ 139849 w 2624866"/>
                <a:gd name="connsiteY4" fmla="*/ 2420471 h 3141233"/>
                <a:gd name="connsiteX5" fmla="*/ 86061 w 2624866"/>
                <a:gd name="connsiteY5" fmla="*/ 2302137 h 3141233"/>
                <a:gd name="connsiteX6" fmla="*/ 43030 w 2624866"/>
                <a:gd name="connsiteY6" fmla="*/ 2205318 h 3141233"/>
                <a:gd name="connsiteX7" fmla="*/ 32273 w 2624866"/>
                <a:gd name="connsiteY7" fmla="*/ 2130014 h 3141233"/>
                <a:gd name="connsiteX8" fmla="*/ 0 w 2624866"/>
                <a:gd name="connsiteY8" fmla="*/ 871370 h 3141233"/>
                <a:gd name="connsiteX9" fmla="*/ 32273 w 2624866"/>
                <a:gd name="connsiteY9" fmla="*/ 742278 h 3141233"/>
                <a:gd name="connsiteX10" fmla="*/ 75303 w 2624866"/>
                <a:gd name="connsiteY10" fmla="*/ 634701 h 3141233"/>
                <a:gd name="connsiteX11" fmla="*/ 150607 w 2624866"/>
                <a:gd name="connsiteY11" fmla="*/ 570156 h 3141233"/>
                <a:gd name="connsiteX12" fmla="*/ 247426 w 2624866"/>
                <a:gd name="connsiteY12" fmla="*/ 505610 h 3141233"/>
                <a:gd name="connsiteX13" fmla="*/ 1151068 w 2624866"/>
                <a:gd name="connsiteY13" fmla="*/ 43031 h 3141233"/>
                <a:gd name="connsiteX14" fmla="*/ 1269402 w 2624866"/>
                <a:gd name="connsiteY14" fmla="*/ 10758 h 3141233"/>
                <a:gd name="connsiteX15" fmla="*/ 1387736 w 2624866"/>
                <a:gd name="connsiteY15" fmla="*/ 0 h 3141233"/>
                <a:gd name="connsiteX16" fmla="*/ 1495313 w 2624866"/>
                <a:gd name="connsiteY16" fmla="*/ 32273 h 3141233"/>
                <a:gd name="connsiteX17" fmla="*/ 1592132 w 2624866"/>
                <a:gd name="connsiteY17" fmla="*/ 75304 h 3141233"/>
                <a:gd name="connsiteX18" fmla="*/ 2441986 w 2624866"/>
                <a:gd name="connsiteY18" fmla="*/ 559398 h 3141233"/>
                <a:gd name="connsiteX19" fmla="*/ 2538805 w 2624866"/>
                <a:gd name="connsiteY19" fmla="*/ 634701 h 3141233"/>
                <a:gd name="connsiteX20" fmla="*/ 2581835 w 2624866"/>
                <a:gd name="connsiteY20" fmla="*/ 699247 h 3141233"/>
                <a:gd name="connsiteX21" fmla="*/ 2624866 w 2624866"/>
                <a:gd name="connsiteY21" fmla="*/ 796066 h 3141233"/>
                <a:gd name="connsiteX22" fmla="*/ 2624866 w 2624866"/>
                <a:gd name="connsiteY22" fmla="*/ 882127 h 3141233"/>
                <a:gd name="connsiteX23" fmla="*/ 2603350 w 2624866"/>
                <a:gd name="connsiteY23" fmla="*/ 2119257 h 3141233"/>
                <a:gd name="connsiteX24" fmla="*/ 2581835 w 2624866"/>
                <a:gd name="connsiteY24" fmla="*/ 2269864 h 3141233"/>
                <a:gd name="connsiteX25" fmla="*/ 2538805 w 2624866"/>
                <a:gd name="connsiteY25" fmla="*/ 2355925 h 3141233"/>
                <a:gd name="connsiteX26" fmla="*/ 2474259 w 2624866"/>
                <a:gd name="connsiteY26" fmla="*/ 2441986 h 3141233"/>
                <a:gd name="connsiteX27" fmla="*/ 2409713 w 2624866"/>
                <a:gd name="connsiteY27" fmla="*/ 2517290 h 3141233"/>
                <a:gd name="connsiteX28" fmla="*/ 1463040 w 2624866"/>
                <a:gd name="connsiteY28" fmla="*/ 3119718 h 3141233"/>
                <a:gd name="connsiteX29" fmla="*/ 1441525 w 2624866"/>
                <a:gd name="connsiteY29" fmla="*/ 3130476 h 3141233"/>
                <a:gd name="connsiteX30" fmla="*/ 1290917 w 2624866"/>
                <a:gd name="connsiteY30" fmla="*/ 3141233 h 31412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24866" h="3141233">
                  <a:moveTo>
                    <a:pt x="1290917" y="3141233"/>
                  </a:moveTo>
                  <a:lnTo>
                    <a:pt x="1183341" y="3119718"/>
                  </a:lnTo>
                  <a:lnTo>
                    <a:pt x="1043492" y="3055172"/>
                  </a:lnTo>
                  <a:lnTo>
                    <a:pt x="225910" y="2528047"/>
                  </a:lnTo>
                  <a:lnTo>
                    <a:pt x="139849" y="2420471"/>
                  </a:lnTo>
                  <a:lnTo>
                    <a:pt x="86061" y="2302137"/>
                  </a:lnTo>
                  <a:lnTo>
                    <a:pt x="43030" y="2205318"/>
                  </a:lnTo>
                  <a:lnTo>
                    <a:pt x="32273" y="2130014"/>
                  </a:lnTo>
                  <a:lnTo>
                    <a:pt x="0" y="871370"/>
                  </a:lnTo>
                  <a:lnTo>
                    <a:pt x="32273" y="742278"/>
                  </a:lnTo>
                  <a:lnTo>
                    <a:pt x="75303" y="634701"/>
                  </a:lnTo>
                  <a:lnTo>
                    <a:pt x="150607" y="570156"/>
                  </a:lnTo>
                  <a:lnTo>
                    <a:pt x="247426" y="505610"/>
                  </a:lnTo>
                  <a:lnTo>
                    <a:pt x="1151068" y="43031"/>
                  </a:lnTo>
                  <a:lnTo>
                    <a:pt x="1269402" y="10758"/>
                  </a:lnTo>
                  <a:lnTo>
                    <a:pt x="1387736" y="0"/>
                  </a:lnTo>
                  <a:lnTo>
                    <a:pt x="1495313" y="32273"/>
                  </a:lnTo>
                  <a:lnTo>
                    <a:pt x="1592132" y="75304"/>
                  </a:lnTo>
                  <a:lnTo>
                    <a:pt x="2441986" y="559398"/>
                  </a:lnTo>
                  <a:lnTo>
                    <a:pt x="2538805" y="634701"/>
                  </a:lnTo>
                  <a:lnTo>
                    <a:pt x="2581835" y="699247"/>
                  </a:lnTo>
                  <a:lnTo>
                    <a:pt x="2624866" y="796066"/>
                  </a:lnTo>
                  <a:lnTo>
                    <a:pt x="2624866" y="882127"/>
                  </a:lnTo>
                  <a:lnTo>
                    <a:pt x="2603350" y="2119257"/>
                  </a:lnTo>
                  <a:lnTo>
                    <a:pt x="2581835" y="2269864"/>
                  </a:lnTo>
                  <a:lnTo>
                    <a:pt x="2538805" y="2355925"/>
                  </a:lnTo>
                  <a:lnTo>
                    <a:pt x="2474259" y="2441986"/>
                  </a:lnTo>
                  <a:lnTo>
                    <a:pt x="2409713" y="2517290"/>
                  </a:lnTo>
                  <a:lnTo>
                    <a:pt x="1463040" y="3119718"/>
                  </a:lnTo>
                  <a:lnTo>
                    <a:pt x="1441525" y="3130476"/>
                  </a:lnTo>
                  <a:lnTo>
                    <a:pt x="1290917" y="3141233"/>
                  </a:lnTo>
                  <a:close/>
                </a:path>
              </a:pathLst>
            </a:cu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5" name="Elipse 34"/>
            <p:cNvSpPr/>
            <p:nvPr/>
          </p:nvSpPr>
          <p:spPr>
            <a:xfrm>
              <a:off x="3664663" y="2699849"/>
              <a:ext cx="570047" cy="31147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6" name="Elipse 35"/>
            <p:cNvSpPr/>
            <p:nvPr/>
          </p:nvSpPr>
          <p:spPr>
            <a:xfrm>
              <a:off x="2796334" y="3216761"/>
              <a:ext cx="318166" cy="53679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7" name="Elipse 36"/>
            <p:cNvSpPr/>
            <p:nvPr/>
          </p:nvSpPr>
          <p:spPr>
            <a:xfrm>
              <a:off x="3386268" y="4336739"/>
              <a:ext cx="318166" cy="536791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8" name="Elipse 37"/>
            <p:cNvSpPr/>
            <p:nvPr/>
          </p:nvSpPr>
          <p:spPr>
            <a:xfrm>
              <a:off x="4181682" y="3594506"/>
              <a:ext cx="318166" cy="5301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9" name="Elipse 38"/>
            <p:cNvSpPr/>
            <p:nvPr/>
          </p:nvSpPr>
          <p:spPr>
            <a:xfrm>
              <a:off x="4208196" y="4442772"/>
              <a:ext cx="318166" cy="5301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40" name="Elipse 39"/>
            <p:cNvSpPr/>
            <p:nvPr/>
          </p:nvSpPr>
          <p:spPr>
            <a:xfrm>
              <a:off x="4738472" y="3243269"/>
              <a:ext cx="318166" cy="53016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41" name="Elipse 40"/>
            <p:cNvSpPr/>
            <p:nvPr/>
          </p:nvSpPr>
          <p:spPr>
            <a:xfrm>
              <a:off x="4784869" y="4104789"/>
              <a:ext cx="318166" cy="536795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atin typeface="Tahoma" panose="020B0604030504040204" pitchFamily="34" charset="0"/>
              </a:endParaRPr>
            </a:p>
          </p:txBody>
        </p:sp>
      </p:grp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395288" y="3141663"/>
            <a:ext cx="835342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Suponha que o interesse nesse experimento seja avaliar o quanto este dado é honesto</a:t>
            </a:r>
          </a:p>
        </p:txBody>
      </p:sp>
      <p:sp>
        <p:nvSpPr>
          <p:cNvPr id="43" name="Text Box 11"/>
          <p:cNvSpPr txBox="1">
            <a:spLocks noChangeArrowheads="1"/>
          </p:cNvSpPr>
          <p:nvPr/>
        </p:nvSpPr>
        <p:spPr bwMode="auto">
          <a:xfrm>
            <a:off x="2628106" y="4226151"/>
            <a:ext cx="3887787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74625" indent="-17462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Neste caso, a ordem dos valores não é importante e podemos reorganizar os resultados na forma de uma tabela</a:t>
            </a:r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auto">
          <a:xfrm>
            <a:off x="3491880" y="2329997"/>
            <a:ext cx="360040" cy="344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5365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536575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536575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536575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536575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auto">
          <a:xfrm>
            <a:off x="3702336" y="2329997"/>
            <a:ext cx="4248472" cy="3449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defTabSz="5365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defTabSz="536575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defTabSz="536575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defTabSz="536575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defTabSz="536575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defTabSz="536575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  <a:cs typeface="Times New Roman" pitchFamily="18" charset="0"/>
              </a:rPr>
              <a:t>5  6  3  4  1  1  2  3  6  3  2  1  2  5  5  4  6...  4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2" grpId="0"/>
      <p:bldP spid="43" grpId="0"/>
      <p:bldP spid="20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ela 31"/>
          <p:cNvGraphicFramePr>
            <a:graphicFrameLocks noGrp="1"/>
          </p:cNvGraphicFramePr>
          <p:nvPr/>
        </p:nvGraphicFramePr>
        <p:xfrm>
          <a:off x="2284413" y="2386013"/>
          <a:ext cx="3571875" cy="3114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266">
                <a:tc>
                  <a:txBody>
                    <a:bodyPr/>
                    <a:lstStyle/>
                    <a:p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Valor</a:t>
                      </a:r>
                      <a:endParaRPr lang="pt-BR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Frequência</a:t>
                      </a:r>
                      <a:b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</a:br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Absoluta</a:t>
                      </a:r>
                      <a:endParaRPr lang="pt-BR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Frequência</a:t>
                      </a:r>
                      <a:b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</a:br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Relativa</a:t>
                      </a:r>
                      <a:endParaRPr lang="pt-BR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15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0,15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2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19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0,19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3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4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14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0,14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5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19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0,19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17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0,17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Total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100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65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Frequência Absoluta e Relativa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B35171-1F0A-4277-B81A-7EDB90E37766}" type="slidenum">
              <a:rPr lang="pt-BR"/>
              <a:pPr>
                <a:defRPr/>
              </a:pPr>
              <a:t>3</a:t>
            </a:fld>
            <a:endParaRPr lang="pt-BR"/>
          </a:p>
        </p:txBody>
      </p:sp>
      <p:sp>
        <p:nvSpPr>
          <p:cNvPr id="5162" name="Text Box 11"/>
          <p:cNvSpPr txBox="1">
            <a:spLocks noChangeArrowheads="1"/>
          </p:cNvSpPr>
          <p:nvPr/>
        </p:nvSpPr>
        <p:spPr bwMode="auto">
          <a:xfrm>
            <a:off x="395288" y="1571625"/>
            <a:ext cx="83534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Experimento: jogar um dado 100 vezes, observando-se os valores obtidos</a:t>
            </a:r>
          </a:p>
        </p:txBody>
      </p:sp>
      <p:sp>
        <p:nvSpPr>
          <p:cNvPr id="67" name="Text Box 11"/>
          <p:cNvSpPr txBox="1">
            <a:spLocks noChangeArrowheads="1"/>
          </p:cNvSpPr>
          <p:nvPr/>
        </p:nvSpPr>
        <p:spPr bwMode="auto">
          <a:xfrm>
            <a:off x="6084888" y="3429000"/>
            <a:ext cx="2808287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 se continuássemos sorteando novos valores?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Tabela 31"/>
          <p:cNvGraphicFramePr>
            <a:graphicFrameLocks noGrp="1"/>
          </p:cNvGraphicFramePr>
          <p:nvPr/>
        </p:nvGraphicFramePr>
        <p:xfrm>
          <a:off x="2284413" y="2386013"/>
          <a:ext cx="3571875" cy="3114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266">
                <a:tc>
                  <a:txBody>
                    <a:bodyPr/>
                    <a:lstStyle/>
                    <a:p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Valor</a:t>
                      </a:r>
                      <a:endParaRPr lang="pt-BR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Frequência</a:t>
                      </a:r>
                      <a:b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</a:br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Absoluta</a:t>
                      </a:r>
                      <a:endParaRPr lang="pt-BR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Frequência</a:t>
                      </a:r>
                      <a:b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</a:br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Relativa</a:t>
                      </a:r>
                      <a:endParaRPr lang="pt-BR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158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0,158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2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168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0,168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3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166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0,166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4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146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0,146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5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178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0,178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184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0,184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Total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1000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39" marR="91439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65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Frequência Absoluta e Relativa</a:t>
            </a:r>
          </a:p>
        </p:txBody>
      </p:sp>
      <p:sp>
        <p:nvSpPr>
          <p:cNvPr id="6185" name="Text Box 11"/>
          <p:cNvSpPr txBox="1">
            <a:spLocks noChangeArrowheads="1"/>
          </p:cNvSpPr>
          <p:nvPr/>
        </p:nvSpPr>
        <p:spPr bwMode="auto">
          <a:xfrm>
            <a:off x="6084888" y="3429000"/>
            <a:ext cx="25193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Após 1000 sorteios...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F5EC13C-E5F2-40BF-9D00-92761A991F28}" type="slidenum">
              <a:rPr lang="pt-BR"/>
              <a:pPr>
                <a:defRPr/>
              </a:pPr>
              <a:t>4</a:t>
            </a:fld>
            <a:endParaRPr lang="pt-BR"/>
          </a:p>
        </p:txBody>
      </p:sp>
      <p:sp>
        <p:nvSpPr>
          <p:cNvPr id="6188" name="Text Box 11"/>
          <p:cNvSpPr txBox="1">
            <a:spLocks noChangeArrowheads="1"/>
          </p:cNvSpPr>
          <p:nvPr/>
        </p:nvSpPr>
        <p:spPr bwMode="auto">
          <a:xfrm>
            <a:off x="395288" y="1571625"/>
            <a:ext cx="83534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Experimento: jogar um dado 1000 vezes, observando-se os valores obtidos</a:t>
            </a:r>
          </a:p>
        </p:txBody>
      </p:sp>
      <p:sp>
        <p:nvSpPr>
          <p:cNvPr id="4" name="Retângulo 3"/>
          <p:cNvSpPr>
            <a:spLocks noChangeArrowheads="1"/>
          </p:cNvSpPr>
          <p:nvPr/>
        </p:nvSpPr>
        <p:spPr bwMode="auto">
          <a:xfrm>
            <a:off x="6084888" y="3933825"/>
            <a:ext cx="2519362" cy="7807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 se o experimento fosse repetido infinitamente?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Tabela 66"/>
          <p:cNvGraphicFramePr>
            <a:graphicFrameLocks noGrp="1"/>
          </p:cNvGraphicFramePr>
          <p:nvPr/>
        </p:nvGraphicFramePr>
        <p:xfrm>
          <a:off x="2284413" y="2386013"/>
          <a:ext cx="3571875" cy="3114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0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0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8266">
                <a:tc>
                  <a:txBody>
                    <a:bodyPr/>
                    <a:lstStyle/>
                    <a:p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Valor</a:t>
                      </a:r>
                      <a:endParaRPr lang="pt-BR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Frequência</a:t>
                      </a:r>
                      <a:b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</a:br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Absoluta</a:t>
                      </a:r>
                      <a:endParaRPr lang="pt-BR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Frequência</a:t>
                      </a:r>
                      <a:b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</a:br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Relativa</a:t>
                      </a:r>
                      <a:endParaRPr lang="pt-BR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?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2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?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3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?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4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?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5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?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pt-BR" sz="1400" b="0" dirty="0">
                        <a:solidFill>
                          <a:schemeClr val="tx1"/>
                        </a:solidFill>
                        <a:latin typeface="Tahoma" panose="020B0604030504040204" pitchFamily="34" charset="0"/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?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Total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pt-BR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Tahoma" panose="020B0604030504040204" pitchFamily="34" charset="0"/>
                          <a:ea typeface="+mn-ea"/>
                          <a:cs typeface="+mn-cs"/>
                          <a:sym typeface="Symbol"/>
                        </a:rPr>
                        <a:t></a:t>
                      </a:r>
                      <a:endParaRPr kumimoji="0" lang="pt-BR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Tahoma" panose="020B0604030504040204" pitchFamily="34" charset="0"/>
                        <a:ea typeface="+mn-ea"/>
                        <a:cs typeface="+mn-cs"/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20" marR="91420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65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Frequência Absoluta e Relativa</a:t>
            </a:r>
          </a:p>
        </p:txBody>
      </p:sp>
      <p:sp>
        <p:nvSpPr>
          <p:cNvPr id="45" name="Text Box 11"/>
          <p:cNvSpPr txBox="1">
            <a:spLocks noChangeArrowheads="1"/>
          </p:cNvSpPr>
          <p:nvPr/>
        </p:nvSpPr>
        <p:spPr bwMode="auto">
          <a:xfrm>
            <a:off x="107950" y="6470650"/>
            <a:ext cx="5429250" cy="261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100" dirty="0">
                <a:latin typeface="Tahoma" panose="020B0604030504040204" pitchFamily="34" charset="0"/>
              </a:rPr>
              <a:t>(ver exemplo1 em revisao_probabilidade.xlsx e </a:t>
            </a:r>
            <a:r>
              <a:rPr lang="pt-BR" altLang="pt-BR" sz="1100" dirty="0" err="1">
                <a:latin typeface="Tahoma" panose="020B0604030504040204" pitchFamily="34" charset="0"/>
              </a:rPr>
              <a:t>revisao_probabilidade.r</a:t>
            </a:r>
            <a:r>
              <a:rPr lang="pt-BR" altLang="pt-BR" sz="11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9BD76E4-0900-429E-8D0F-54637D7CA732}" type="slidenum">
              <a:rPr lang="pt-BR"/>
              <a:pPr>
                <a:defRPr/>
              </a:pPr>
              <a:t>5</a:t>
            </a:fld>
            <a:endParaRPr lang="pt-BR"/>
          </a:p>
        </p:txBody>
      </p:sp>
      <p:sp>
        <p:nvSpPr>
          <p:cNvPr id="7211" name="Text Box 11"/>
          <p:cNvSpPr txBox="1">
            <a:spLocks noChangeArrowheads="1"/>
          </p:cNvSpPr>
          <p:nvPr/>
        </p:nvSpPr>
        <p:spPr bwMode="auto">
          <a:xfrm>
            <a:off x="395288" y="1571625"/>
            <a:ext cx="83534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Experimento: jogar um dado infinitas vezes, observando-se os valores obtidos</a:t>
            </a:r>
          </a:p>
        </p:txBody>
      </p:sp>
      <p:sp>
        <p:nvSpPr>
          <p:cNvPr id="20" name="Retângulo 19"/>
          <p:cNvSpPr>
            <a:spLocks noChangeArrowheads="1"/>
          </p:cNvSpPr>
          <p:nvPr/>
        </p:nvSpPr>
        <p:spPr bwMode="auto">
          <a:xfrm>
            <a:off x="6084887" y="2903538"/>
            <a:ext cx="2733675" cy="15696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Se o dado fosse honesto, não haveria motivos para pensar que um valor ocorreria mais que outro</a:t>
            </a:r>
          </a:p>
        </p:txBody>
      </p:sp>
      <p:sp>
        <p:nvSpPr>
          <p:cNvPr id="21" name="Retângulo 20"/>
          <p:cNvSpPr>
            <a:spLocks noChangeArrowheads="1"/>
          </p:cNvSpPr>
          <p:nvPr/>
        </p:nvSpPr>
        <p:spPr bwMode="auto">
          <a:xfrm>
            <a:off x="6084888" y="4894263"/>
            <a:ext cx="2733675" cy="418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Freq. Rel. </a:t>
            </a:r>
            <a:r>
              <a:rPr lang="pt-BR" altLang="pt-BR" sz="1600">
                <a:latin typeface="Tahoma" panose="020B0604030504040204" pitchFamily="34" charset="0"/>
                <a:sym typeface="Symbol" pitchFamily="18" charset="2"/>
              </a:rPr>
              <a:t></a:t>
            </a:r>
            <a:r>
              <a:rPr lang="pt-BR" altLang="pt-BR" sz="1600">
                <a:latin typeface="Tahoma" panose="020B0604030504040204" pitchFamily="34" charset="0"/>
              </a:rPr>
              <a:t> Probabilidade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/>
      <p:bldP spid="20" grpId="0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7" name="Tabela 66"/>
          <p:cNvGraphicFramePr>
            <a:graphicFrameLocks noGrp="1"/>
          </p:cNvGraphicFramePr>
          <p:nvPr/>
        </p:nvGraphicFramePr>
        <p:xfrm>
          <a:off x="2284413" y="2386013"/>
          <a:ext cx="2522537" cy="311467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910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14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8266">
                <a:tc>
                  <a:txBody>
                    <a:bodyPr/>
                    <a:lstStyle/>
                    <a:p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Valor</a:t>
                      </a:r>
                      <a:endParaRPr lang="pt-BR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400" b="0" noProof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Probabilidade</a:t>
                      </a:r>
                      <a:endParaRPr lang="pt-BR" sz="1400" b="0" noProof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 anchor="ctr" anchorCtr="1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1/6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2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1/6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3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1/6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4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1/6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5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1/6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1/6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916">
                <a:tc>
                  <a:txBody>
                    <a:bodyPr/>
                    <a:lstStyle/>
                    <a:p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Total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Tahoma" panose="020B0604030504040204" pitchFamily="34" charset="0"/>
                        </a:rPr>
                        <a:t>1</a:t>
                      </a:r>
                      <a:endParaRPr lang="pt-BR" sz="1400" b="0" dirty="0">
                        <a:solidFill>
                          <a:schemeClr val="tx1"/>
                        </a:solidFill>
                      </a:endParaRPr>
                    </a:p>
                  </a:txBody>
                  <a:tcPr marL="91456" marR="91456" marT="45729" marB="4572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65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Probabilidade</a:t>
            </a:r>
          </a:p>
        </p:txBody>
      </p:sp>
      <p:sp>
        <p:nvSpPr>
          <p:cNvPr id="8224" name="Text Box 11"/>
          <p:cNvSpPr txBox="1">
            <a:spLocks noChangeArrowheads="1"/>
          </p:cNvSpPr>
          <p:nvPr/>
        </p:nvSpPr>
        <p:spPr bwMode="auto">
          <a:xfrm>
            <a:off x="785813" y="1571625"/>
            <a:ext cx="54292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Experimento: jogar um dado e observar seu valor.</a:t>
            </a:r>
          </a:p>
        </p:txBody>
      </p:sp>
      <p:sp>
        <p:nvSpPr>
          <p:cNvPr id="53" name="Text Box 1037"/>
          <p:cNvSpPr txBox="1">
            <a:spLocks noChangeArrowheads="1"/>
          </p:cNvSpPr>
          <p:nvPr/>
        </p:nvSpPr>
        <p:spPr bwMode="auto">
          <a:xfrm>
            <a:off x="6097434" y="4143375"/>
            <a:ext cx="18843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imes New Roman" pitchFamily="18" charset="0"/>
                <a:sym typeface="Symbol" pitchFamily="18" charset="2"/>
              </a:rPr>
              <a:t></a:t>
            </a:r>
            <a:r>
              <a:rPr lang="pt-BR" altLang="pt-BR" sz="1600" dirty="0">
                <a:latin typeface="Times New Roman" pitchFamily="18" charset="0"/>
              </a:rPr>
              <a:t> = {1, 2, 3, 4, 5, 6}</a:t>
            </a:r>
          </a:p>
        </p:txBody>
      </p:sp>
      <p:grpSp>
        <p:nvGrpSpPr>
          <p:cNvPr id="3" name="Grupo 58"/>
          <p:cNvGrpSpPr>
            <a:grpSpLocks/>
          </p:cNvGrpSpPr>
          <p:nvPr/>
        </p:nvGrpSpPr>
        <p:grpSpPr bwMode="auto">
          <a:xfrm>
            <a:off x="6396678" y="2286000"/>
            <a:ext cx="1285875" cy="1695450"/>
            <a:chOff x="6286512" y="2285992"/>
            <a:chExt cx="1285884" cy="1695878"/>
          </a:xfrm>
        </p:grpSpPr>
        <p:sp>
          <p:nvSpPr>
            <p:cNvPr id="8230" name="Rectangle 1029"/>
            <p:cNvSpPr>
              <a:spLocks noChangeArrowheads="1"/>
            </p:cNvSpPr>
            <p:nvPr/>
          </p:nvSpPr>
          <p:spPr bwMode="auto">
            <a:xfrm>
              <a:off x="6286512" y="2285992"/>
              <a:ext cx="1285884" cy="16430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8231" name="Text Box 1030"/>
            <p:cNvSpPr txBox="1">
              <a:spLocks noChangeArrowheads="1"/>
            </p:cNvSpPr>
            <p:nvPr/>
          </p:nvSpPr>
          <p:spPr bwMode="auto">
            <a:xfrm>
              <a:off x="6385715" y="2334276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latin typeface="Dice" pitchFamily="49" charset="0"/>
                </a:rPr>
                <a:t>1</a:t>
              </a:r>
            </a:p>
          </p:txBody>
        </p:sp>
        <p:sp>
          <p:nvSpPr>
            <p:cNvPr id="8232" name="Text Box 1036"/>
            <p:cNvSpPr txBox="1">
              <a:spLocks noChangeArrowheads="1"/>
            </p:cNvSpPr>
            <p:nvPr/>
          </p:nvSpPr>
          <p:spPr bwMode="auto">
            <a:xfrm>
              <a:off x="7230632" y="3643314"/>
              <a:ext cx="341762" cy="338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</a:t>
              </a:r>
              <a:endParaRPr lang="pt-BR" altLang="pt-BR" sz="1600" i="1">
                <a:latin typeface="Times New Roman" pitchFamily="18" charset="0"/>
              </a:endParaRPr>
            </a:p>
          </p:txBody>
        </p:sp>
        <p:sp>
          <p:nvSpPr>
            <p:cNvPr id="8233" name="Text Box 1030"/>
            <p:cNvSpPr txBox="1">
              <a:spLocks noChangeArrowheads="1"/>
            </p:cNvSpPr>
            <p:nvPr/>
          </p:nvSpPr>
          <p:spPr bwMode="auto">
            <a:xfrm>
              <a:off x="6858016" y="2334276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latin typeface="Dice" pitchFamily="49" charset="0"/>
                </a:rPr>
                <a:t>2</a:t>
              </a:r>
            </a:p>
          </p:txBody>
        </p:sp>
        <p:sp>
          <p:nvSpPr>
            <p:cNvPr id="8234" name="Text Box 1030"/>
            <p:cNvSpPr txBox="1">
              <a:spLocks noChangeArrowheads="1"/>
            </p:cNvSpPr>
            <p:nvPr/>
          </p:nvSpPr>
          <p:spPr bwMode="auto">
            <a:xfrm>
              <a:off x="6385715" y="28102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latin typeface="Dice" pitchFamily="49" charset="0"/>
                </a:rPr>
                <a:t>3</a:t>
              </a:r>
            </a:p>
          </p:txBody>
        </p:sp>
        <p:sp>
          <p:nvSpPr>
            <p:cNvPr id="8235" name="Text Box 1030"/>
            <p:cNvSpPr txBox="1">
              <a:spLocks noChangeArrowheads="1"/>
            </p:cNvSpPr>
            <p:nvPr/>
          </p:nvSpPr>
          <p:spPr bwMode="auto">
            <a:xfrm>
              <a:off x="6858016" y="28102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dirty="0">
                  <a:latin typeface="Dice" pitchFamily="49" charset="0"/>
                </a:rPr>
                <a:t>4</a:t>
              </a:r>
            </a:p>
          </p:txBody>
        </p:sp>
        <p:sp>
          <p:nvSpPr>
            <p:cNvPr id="8236" name="Text Box 1030"/>
            <p:cNvSpPr txBox="1">
              <a:spLocks noChangeArrowheads="1"/>
            </p:cNvSpPr>
            <p:nvPr/>
          </p:nvSpPr>
          <p:spPr bwMode="auto">
            <a:xfrm>
              <a:off x="6385715" y="3286124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latin typeface="Dice" pitchFamily="49" charset="0"/>
                </a:rPr>
                <a:t>5</a:t>
              </a:r>
            </a:p>
          </p:txBody>
        </p:sp>
        <p:sp>
          <p:nvSpPr>
            <p:cNvPr id="8237" name="Text Box 1030"/>
            <p:cNvSpPr txBox="1">
              <a:spLocks noChangeArrowheads="1"/>
            </p:cNvSpPr>
            <p:nvPr/>
          </p:nvSpPr>
          <p:spPr bwMode="auto">
            <a:xfrm>
              <a:off x="6858016" y="3286124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dirty="0">
                  <a:latin typeface="Dice" pitchFamily="49" charset="0"/>
                </a:rPr>
                <a:t>6</a:t>
              </a:r>
            </a:p>
          </p:txBody>
        </p:sp>
      </p:grpSp>
      <p:graphicFrame>
        <p:nvGraphicFramePr>
          <p:cNvPr id="6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282787149"/>
              </p:ext>
            </p:extLst>
          </p:nvPr>
        </p:nvGraphicFramePr>
        <p:xfrm>
          <a:off x="5742705" y="4775200"/>
          <a:ext cx="2509837" cy="5254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2057400" imgH="431640" progId="Equation.DSMT4">
                  <p:embed/>
                </p:oleObj>
              </mc:Choice>
              <mc:Fallback>
                <p:oleObj name="Equation" r:id="rId3" imgW="2057400" imgH="431640" progId="Equation.DSMT4">
                  <p:embed/>
                  <p:pic>
                    <p:nvPicPr>
                      <p:cNvPr id="6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42705" y="4775200"/>
                        <a:ext cx="2509837" cy="5254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" name="Text Box 20"/>
          <p:cNvSpPr txBox="1">
            <a:spLocks noChangeArrowheads="1"/>
          </p:cNvSpPr>
          <p:nvPr/>
        </p:nvSpPr>
        <p:spPr bwMode="auto">
          <a:xfrm>
            <a:off x="6076538" y="5507384"/>
            <a:ext cx="1842171" cy="369332"/>
          </a:xfrm>
          <a:prstGeom prst="rect">
            <a:avLst/>
          </a:prstGeom>
          <a:noFill/>
          <a:ln w="9525">
            <a:solidFill>
              <a:srgbClr val="FF33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800" dirty="0">
                <a:latin typeface="Times New Roman" pitchFamily="18" charset="0"/>
              </a:rPr>
              <a:t>0 </a:t>
            </a:r>
            <a:r>
              <a:rPr lang="pt-BR" altLang="pt-BR" sz="1800" dirty="0">
                <a:latin typeface="Times New Roman" pitchFamily="18" charset="0"/>
                <a:sym typeface="Symbol" pitchFamily="18" charset="2"/>
              </a:rPr>
              <a:t> </a:t>
            </a:r>
            <a:r>
              <a:rPr lang="pt-BR" altLang="pt-BR" sz="1800" dirty="0">
                <a:latin typeface="Times New Roman" pitchFamily="18" charset="0"/>
              </a:rPr>
              <a:t>P(</a:t>
            </a:r>
            <a:r>
              <a:rPr lang="pt-BR" altLang="pt-BR" sz="1800" i="1" dirty="0">
                <a:latin typeface="Times New Roman" pitchFamily="18" charset="0"/>
              </a:rPr>
              <a:t>evento</a:t>
            </a:r>
            <a:r>
              <a:rPr lang="pt-BR" altLang="pt-BR" sz="1800" dirty="0">
                <a:latin typeface="Times New Roman" pitchFamily="18" charset="0"/>
              </a:rPr>
              <a:t>) </a:t>
            </a:r>
            <a:r>
              <a:rPr lang="pt-BR" altLang="pt-BR" sz="1800" dirty="0">
                <a:latin typeface="Times New Roman" pitchFamily="18" charset="0"/>
                <a:sym typeface="Symbol" pitchFamily="18" charset="2"/>
              </a:rPr>
              <a:t></a:t>
            </a:r>
            <a:r>
              <a:rPr lang="pt-BR" altLang="pt-BR" sz="1800" dirty="0">
                <a:latin typeface="Times New Roman" pitchFamily="18" charset="0"/>
              </a:rPr>
              <a:t> 1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C69BD45-6EF3-49A1-B16F-4A25B897F23A}" type="slidenum">
              <a:rPr lang="pt-BR"/>
              <a:pPr>
                <a:defRPr/>
              </a:pPr>
              <a:t>6</a:t>
            </a:fld>
            <a:endParaRPr lang="pt-BR"/>
          </a:p>
        </p:txBody>
      </p:sp>
      <p:graphicFrame>
        <p:nvGraphicFramePr>
          <p:cNvPr id="18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74918555"/>
              </p:ext>
            </p:extLst>
          </p:nvPr>
        </p:nvGraphicFramePr>
        <p:xfrm>
          <a:off x="6098304" y="6032202"/>
          <a:ext cx="1798638" cy="565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091880" imgH="342720" progId="Equation.DSMT4">
                  <p:embed/>
                </p:oleObj>
              </mc:Choice>
              <mc:Fallback>
                <p:oleObj name="Equation" r:id="rId5" imgW="1091880" imgH="342720" progId="Equation.DSMT4">
                  <p:embed/>
                  <p:pic>
                    <p:nvPicPr>
                      <p:cNvPr id="18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8304" y="6032202"/>
                        <a:ext cx="1798638" cy="565150"/>
                      </a:xfrm>
                      <a:prstGeom prst="rect">
                        <a:avLst/>
                      </a:prstGeom>
                      <a:noFill/>
                      <a:ln>
                        <a:solidFill>
                          <a:srgbClr val="FF0000"/>
                        </a:solidFill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utoUpdateAnimBg="0"/>
      <p:bldP spid="69" grpId="0" animBg="1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 dirty="0"/>
              <a:t>Probabilidade</a:t>
            </a:r>
          </a:p>
        </p:txBody>
      </p:sp>
      <p:sp>
        <p:nvSpPr>
          <p:cNvPr id="9219" name="Text Box 11"/>
          <p:cNvSpPr txBox="1">
            <a:spLocks noChangeArrowheads="1"/>
          </p:cNvSpPr>
          <p:nvPr/>
        </p:nvSpPr>
        <p:spPr bwMode="auto">
          <a:xfrm>
            <a:off x="785813" y="1571625"/>
            <a:ext cx="54292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Experimento: jogar um dado e observar seu valor.</a:t>
            </a:r>
          </a:p>
        </p:txBody>
      </p:sp>
      <p:sp>
        <p:nvSpPr>
          <p:cNvPr id="9220" name="Text Box 1037"/>
          <p:cNvSpPr txBox="1">
            <a:spLocks noChangeArrowheads="1"/>
          </p:cNvSpPr>
          <p:nvPr/>
        </p:nvSpPr>
        <p:spPr bwMode="auto">
          <a:xfrm>
            <a:off x="687388" y="4143375"/>
            <a:ext cx="1884362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  <a:sym typeface="Symbol" pitchFamily="18" charset="2"/>
              </a:rPr>
              <a:t></a:t>
            </a:r>
            <a:r>
              <a:rPr lang="pt-BR" altLang="pt-BR" sz="1600">
                <a:latin typeface="Times New Roman" pitchFamily="18" charset="0"/>
              </a:rPr>
              <a:t> = {1, 2, 3, 4, 5, 6}</a:t>
            </a:r>
          </a:p>
        </p:txBody>
      </p:sp>
      <p:grpSp>
        <p:nvGrpSpPr>
          <p:cNvPr id="9221" name="Grupo 58"/>
          <p:cNvGrpSpPr>
            <a:grpSpLocks/>
          </p:cNvGrpSpPr>
          <p:nvPr/>
        </p:nvGrpSpPr>
        <p:grpSpPr bwMode="auto">
          <a:xfrm>
            <a:off x="901700" y="2286000"/>
            <a:ext cx="1285875" cy="1695450"/>
            <a:chOff x="6286512" y="2285992"/>
            <a:chExt cx="1285884" cy="1695878"/>
          </a:xfrm>
        </p:grpSpPr>
        <p:sp>
          <p:nvSpPr>
            <p:cNvPr id="9242" name="Rectangle 1029"/>
            <p:cNvSpPr>
              <a:spLocks noChangeArrowheads="1"/>
            </p:cNvSpPr>
            <p:nvPr/>
          </p:nvSpPr>
          <p:spPr bwMode="auto">
            <a:xfrm>
              <a:off x="6286512" y="2285992"/>
              <a:ext cx="1285884" cy="16430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9243" name="Text Box 1030"/>
            <p:cNvSpPr txBox="1">
              <a:spLocks noChangeArrowheads="1"/>
            </p:cNvSpPr>
            <p:nvPr/>
          </p:nvSpPr>
          <p:spPr bwMode="auto">
            <a:xfrm>
              <a:off x="6385715" y="2334276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latin typeface="Dice" pitchFamily="49" charset="0"/>
                </a:rPr>
                <a:t>1</a:t>
              </a:r>
            </a:p>
          </p:txBody>
        </p:sp>
        <p:sp>
          <p:nvSpPr>
            <p:cNvPr id="9244" name="Text Box 1036"/>
            <p:cNvSpPr txBox="1">
              <a:spLocks noChangeArrowheads="1"/>
            </p:cNvSpPr>
            <p:nvPr/>
          </p:nvSpPr>
          <p:spPr bwMode="auto">
            <a:xfrm>
              <a:off x="7230632" y="3643314"/>
              <a:ext cx="341762" cy="3385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</a:t>
              </a:r>
              <a:endParaRPr lang="pt-BR" altLang="pt-BR" sz="1600" i="1">
                <a:latin typeface="Times New Roman" pitchFamily="18" charset="0"/>
              </a:endParaRPr>
            </a:p>
          </p:txBody>
        </p:sp>
        <p:sp>
          <p:nvSpPr>
            <p:cNvPr id="9245" name="Text Box 1030"/>
            <p:cNvSpPr txBox="1">
              <a:spLocks noChangeArrowheads="1"/>
            </p:cNvSpPr>
            <p:nvPr/>
          </p:nvSpPr>
          <p:spPr bwMode="auto">
            <a:xfrm>
              <a:off x="6858016" y="2334276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latin typeface="Dice" pitchFamily="49" charset="0"/>
                </a:rPr>
                <a:t>2</a:t>
              </a:r>
            </a:p>
          </p:txBody>
        </p:sp>
        <p:sp>
          <p:nvSpPr>
            <p:cNvPr id="9246" name="Text Box 1030"/>
            <p:cNvSpPr txBox="1">
              <a:spLocks noChangeArrowheads="1"/>
            </p:cNvSpPr>
            <p:nvPr/>
          </p:nvSpPr>
          <p:spPr bwMode="auto">
            <a:xfrm>
              <a:off x="6385715" y="28102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latin typeface="Dice" pitchFamily="49" charset="0"/>
                </a:rPr>
                <a:t>3</a:t>
              </a:r>
            </a:p>
          </p:txBody>
        </p:sp>
        <p:sp>
          <p:nvSpPr>
            <p:cNvPr id="9247" name="Text Box 1030"/>
            <p:cNvSpPr txBox="1">
              <a:spLocks noChangeArrowheads="1"/>
            </p:cNvSpPr>
            <p:nvPr/>
          </p:nvSpPr>
          <p:spPr bwMode="auto">
            <a:xfrm>
              <a:off x="6858016" y="2810200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latin typeface="Dice" pitchFamily="49" charset="0"/>
                </a:rPr>
                <a:t>4</a:t>
              </a:r>
            </a:p>
          </p:txBody>
        </p:sp>
        <p:sp>
          <p:nvSpPr>
            <p:cNvPr id="9248" name="Text Box 1030"/>
            <p:cNvSpPr txBox="1">
              <a:spLocks noChangeArrowheads="1"/>
            </p:cNvSpPr>
            <p:nvPr/>
          </p:nvSpPr>
          <p:spPr bwMode="auto">
            <a:xfrm>
              <a:off x="6385715" y="3286124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latin typeface="Dice" pitchFamily="49" charset="0"/>
                </a:rPr>
                <a:t>5</a:t>
              </a:r>
            </a:p>
          </p:txBody>
        </p:sp>
        <p:sp>
          <p:nvSpPr>
            <p:cNvPr id="9249" name="Text Box 1030"/>
            <p:cNvSpPr txBox="1">
              <a:spLocks noChangeArrowheads="1"/>
            </p:cNvSpPr>
            <p:nvPr/>
          </p:nvSpPr>
          <p:spPr bwMode="auto">
            <a:xfrm>
              <a:off x="6858016" y="3286124"/>
              <a:ext cx="543739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>
                  <a:latin typeface="Dice" pitchFamily="49" charset="0"/>
                </a:rPr>
                <a:t>6</a:t>
              </a:r>
            </a:p>
          </p:txBody>
        </p:sp>
      </p:grpSp>
      <p:sp>
        <p:nvSpPr>
          <p:cNvPr id="9222" name="Text Box 14"/>
          <p:cNvSpPr txBox="1">
            <a:spLocks noChangeArrowheads="1"/>
          </p:cNvSpPr>
          <p:nvPr/>
        </p:nvSpPr>
        <p:spPr bwMode="auto">
          <a:xfrm>
            <a:off x="2786063" y="3282950"/>
            <a:ext cx="50133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2563" indent="-1825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>
                <a:latin typeface="Tahoma" panose="020B0604030504040204" pitchFamily="34" charset="0"/>
              </a:rPr>
              <a:t>Qual a probabilidade de obter um valor igual a 1?</a:t>
            </a:r>
          </a:p>
        </p:txBody>
      </p:sp>
      <p:sp>
        <p:nvSpPr>
          <p:cNvPr id="47" name="Text Box 14"/>
          <p:cNvSpPr txBox="1">
            <a:spLocks noChangeArrowheads="1"/>
          </p:cNvSpPr>
          <p:nvPr/>
        </p:nvSpPr>
        <p:spPr bwMode="auto">
          <a:xfrm>
            <a:off x="2857500" y="3997325"/>
            <a:ext cx="1947264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2563" indent="-1825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1600">
                <a:latin typeface="Tahoma" panose="020B0604030504040204" pitchFamily="34" charset="0"/>
              </a:rPr>
              <a:t>P(</a:t>
            </a:r>
            <a:r>
              <a:rPr lang="pt-BR" altLang="pt-BR" sz="1600">
                <a:latin typeface="Tahoma" panose="020B0604030504040204" pitchFamily="34" charset="0"/>
              </a:rPr>
              <a:t>valor igual a 1) =</a:t>
            </a:r>
          </a:p>
        </p:txBody>
      </p:sp>
      <p:cxnSp>
        <p:nvCxnSpPr>
          <p:cNvPr id="49" name="Conector reto 48"/>
          <p:cNvCxnSpPr/>
          <p:nvPr/>
        </p:nvCxnSpPr>
        <p:spPr>
          <a:xfrm flipV="1">
            <a:off x="4829175" y="4168775"/>
            <a:ext cx="227013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tângulo 49"/>
          <p:cNvSpPr>
            <a:spLocks noChangeArrowheads="1"/>
          </p:cNvSpPr>
          <p:nvPr/>
        </p:nvSpPr>
        <p:spPr bwMode="auto">
          <a:xfrm>
            <a:off x="4786313" y="4168775"/>
            <a:ext cx="31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Times New Roman" pitchFamily="18" charset="0"/>
              </a:rPr>
              <a:t>6</a:t>
            </a:r>
            <a:endParaRPr lang="pt-BR" altLang="pt-BR" sz="2000">
              <a:latin typeface="Tahoma" panose="020B0604030504040204" pitchFamily="34" charset="0"/>
            </a:endParaRPr>
          </a:p>
        </p:txBody>
      </p:sp>
      <p:sp>
        <p:nvSpPr>
          <p:cNvPr id="51" name="Retângulo 50"/>
          <p:cNvSpPr>
            <a:spLocks noChangeArrowheads="1"/>
          </p:cNvSpPr>
          <p:nvPr/>
        </p:nvSpPr>
        <p:spPr bwMode="auto">
          <a:xfrm>
            <a:off x="4786313" y="3797300"/>
            <a:ext cx="3127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Times New Roman" pitchFamily="18" charset="0"/>
              </a:rPr>
              <a:t>1</a:t>
            </a:r>
            <a:endParaRPr lang="pt-BR" altLang="pt-BR" sz="2000">
              <a:latin typeface="Tahoma" panose="020B0604030504040204" pitchFamily="34" charset="0"/>
            </a:endParaRPr>
          </a:p>
        </p:txBody>
      </p:sp>
      <p:sp>
        <p:nvSpPr>
          <p:cNvPr id="60" name="Elipse 59"/>
          <p:cNvSpPr/>
          <p:nvPr/>
        </p:nvSpPr>
        <p:spPr>
          <a:xfrm>
            <a:off x="1000125" y="2357438"/>
            <a:ext cx="571500" cy="50006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latin typeface="Tahoma" panose="020B0604030504040204" pitchFamily="34" charset="0"/>
            </a:endParaRPr>
          </a:p>
        </p:txBody>
      </p:sp>
      <p:sp>
        <p:nvSpPr>
          <p:cNvPr id="75" name="Text Box 14"/>
          <p:cNvSpPr txBox="1">
            <a:spLocks noChangeArrowheads="1"/>
          </p:cNvSpPr>
          <p:nvPr/>
        </p:nvSpPr>
        <p:spPr bwMode="auto">
          <a:xfrm>
            <a:off x="2809875" y="4640263"/>
            <a:ext cx="49737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2563" indent="-1825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>
                <a:latin typeface="Tahoma" panose="020B0604030504040204" pitchFamily="34" charset="0"/>
              </a:rPr>
              <a:t>Qual a probabilidade de obter um valor múltiplo 3?</a:t>
            </a:r>
          </a:p>
        </p:txBody>
      </p:sp>
      <p:sp>
        <p:nvSpPr>
          <p:cNvPr id="76" name="Text Box 14"/>
          <p:cNvSpPr txBox="1">
            <a:spLocks noChangeArrowheads="1"/>
          </p:cNvSpPr>
          <p:nvPr/>
        </p:nvSpPr>
        <p:spPr bwMode="auto">
          <a:xfrm>
            <a:off x="2881313" y="5354638"/>
            <a:ext cx="2071687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182563" indent="-1825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en-US" altLang="pt-BR" sz="1600">
                <a:latin typeface="Tahoma" panose="020B0604030504040204" pitchFamily="34" charset="0"/>
              </a:rPr>
              <a:t>P(</a:t>
            </a:r>
            <a:r>
              <a:rPr lang="pt-BR" altLang="pt-BR" sz="1600">
                <a:latin typeface="Tahoma" panose="020B0604030504040204" pitchFamily="34" charset="0"/>
              </a:rPr>
              <a:t>valor múltiplo 3) =</a:t>
            </a:r>
          </a:p>
        </p:txBody>
      </p:sp>
      <p:cxnSp>
        <p:nvCxnSpPr>
          <p:cNvPr id="77" name="Conector reto 76"/>
          <p:cNvCxnSpPr/>
          <p:nvPr/>
        </p:nvCxnSpPr>
        <p:spPr>
          <a:xfrm flipV="1">
            <a:off x="4929188" y="5526088"/>
            <a:ext cx="228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tângulo 77"/>
          <p:cNvSpPr>
            <a:spLocks noChangeArrowheads="1"/>
          </p:cNvSpPr>
          <p:nvPr/>
        </p:nvSpPr>
        <p:spPr bwMode="auto">
          <a:xfrm>
            <a:off x="4886325" y="5526088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Times New Roman" pitchFamily="18" charset="0"/>
              </a:rPr>
              <a:t>6</a:t>
            </a:r>
            <a:endParaRPr lang="pt-BR" altLang="pt-BR" sz="2000">
              <a:latin typeface="Tahoma" panose="020B0604030504040204" pitchFamily="34" charset="0"/>
            </a:endParaRPr>
          </a:p>
        </p:txBody>
      </p:sp>
      <p:sp>
        <p:nvSpPr>
          <p:cNvPr id="79" name="Retângulo 78"/>
          <p:cNvSpPr>
            <a:spLocks noChangeArrowheads="1"/>
          </p:cNvSpPr>
          <p:nvPr/>
        </p:nvSpPr>
        <p:spPr bwMode="auto">
          <a:xfrm>
            <a:off x="4886325" y="5154613"/>
            <a:ext cx="31273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dirty="0">
                <a:latin typeface="Times New Roman" pitchFamily="18" charset="0"/>
              </a:rPr>
              <a:t>2</a:t>
            </a:r>
            <a:endParaRPr lang="pt-BR" altLang="pt-BR" sz="2000">
              <a:latin typeface="Tahoma" panose="020B0604030504040204" pitchFamily="34" charset="0"/>
            </a:endParaRPr>
          </a:p>
        </p:txBody>
      </p:sp>
      <p:sp>
        <p:nvSpPr>
          <p:cNvPr id="80" name="Elipse 79"/>
          <p:cNvSpPr/>
          <p:nvPr/>
        </p:nvSpPr>
        <p:spPr>
          <a:xfrm>
            <a:off x="989013" y="2851150"/>
            <a:ext cx="571500" cy="500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latin typeface="Tahoma" panose="020B0604030504040204" pitchFamily="34" charset="0"/>
            </a:endParaRPr>
          </a:p>
        </p:txBody>
      </p:sp>
      <p:sp>
        <p:nvSpPr>
          <p:cNvPr id="81" name="Elipse 80"/>
          <p:cNvSpPr/>
          <p:nvPr/>
        </p:nvSpPr>
        <p:spPr>
          <a:xfrm>
            <a:off x="1450975" y="3317875"/>
            <a:ext cx="571500" cy="50006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pt-BR">
              <a:latin typeface="Tahoma" panose="020B0604030504040204" pitchFamily="34" charset="0"/>
            </a:endParaRPr>
          </a:p>
        </p:txBody>
      </p:sp>
      <p:grpSp>
        <p:nvGrpSpPr>
          <p:cNvPr id="3" name="Grupo 81"/>
          <p:cNvGrpSpPr>
            <a:grpSpLocks/>
          </p:cNvGrpSpPr>
          <p:nvPr/>
        </p:nvGrpSpPr>
        <p:grpSpPr bwMode="auto">
          <a:xfrm>
            <a:off x="5230813" y="5157788"/>
            <a:ext cx="606425" cy="771525"/>
            <a:chOff x="5207024" y="2804552"/>
            <a:chExt cx="606576" cy="771080"/>
          </a:xfrm>
        </p:grpSpPr>
        <p:cxnSp>
          <p:nvCxnSpPr>
            <p:cNvPr id="83" name="Conector reto 82"/>
            <p:cNvCxnSpPr/>
            <p:nvPr/>
          </p:nvCxnSpPr>
          <p:spPr>
            <a:xfrm flipV="1">
              <a:off x="5543658" y="3175813"/>
              <a:ext cx="227069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239" name="Retângulo 83"/>
            <p:cNvSpPr>
              <a:spLocks noChangeArrowheads="1"/>
            </p:cNvSpPr>
            <p:nvPr/>
          </p:nvSpPr>
          <p:spPr bwMode="auto">
            <a:xfrm>
              <a:off x="5500694" y="3175522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Times New Roman" pitchFamily="18" charset="0"/>
                </a:rPr>
                <a:t>3</a:t>
              </a:r>
              <a:endParaRPr lang="pt-BR" altLang="pt-BR" sz="2000">
                <a:latin typeface="Tahoma" panose="020B0604030504040204" pitchFamily="34" charset="0"/>
              </a:endParaRPr>
            </a:p>
          </p:txBody>
        </p:sp>
        <p:sp>
          <p:nvSpPr>
            <p:cNvPr id="9240" name="Retângulo 84"/>
            <p:cNvSpPr>
              <a:spLocks noChangeArrowheads="1"/>
            </p:cNvSpPr>
            <p:nvPr/>
          </p:nvSpPr>
          <p:spPr bwMode="auto">
            <a:xfrm>
              <a:off x="5500694" y="2804552"/>
              <a:ext cx="31290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2000" dirty="0">
                  <a:latin typeface="Times New Roman" pitchFamily="18" charset="0"/>
                </a:rPr>
                <a:t>1</a:t>
              </a:r>
              <a:endParaRPr lang="pt-BR" altLang="pt-BR" sz="2000">
                <a:latin typeface="Tahoma" panose="020B0604030504040204" pitchFamily="34" charset="0"/>
              </a:endParaRPr>
            </a:p>
          </p:txBody>
        </p:sp>
        <p:sp>
          <p:nvSpPr>
            <p:cNvPr id="9241" name="Retângulo 85"/>
            <p:cNvSpPr>
              <a:spLocks noChangeArrowheads="1"/>
            </p:cNvSpPr>
            <p:nvPr/>
          </p:nvSpPr>
          <p:spPr bwMode="auto">
            <a:xfrm>
              <a:off x="5207024" y="2996504"/>
              <a:ext cx="333829" cy="3383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=</a:t>
              </a:r>
            </a:p>
          </p:txBody>
        </p:sp>
      </p:grpSp>
      <p:graphicFrame>
        <p:nvGraphicFramePr>
          <p:cNvPr id="9236" name="Object 3"/>
          <p:cNvGraphicFramePr>
            <a:graphicFrameLocks noChangeAspect="1"/>
          </p:cNvGraphicFramePr>
          <p:nvPr/>
        </p:nvGraphicFramePr>
        <p:xfrm>
          <a:off x="2867025" y="2286000"/>
          <a:ext cx="2551113" cy="711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548728" imgH="431613" progId="Equation.DSMT4">
                  <p:embed/>
                </p:oleObj>
              </mc:Choice>
              <mc:Fallback>
                <p:oleObj name="Equation" r:id="rId3" imgW="1548728" imgH="431613" progId="Equation.DSMT4">
                  <p:embed/>
                  <p:pic>
                    <p:nvPicPr>
                      <p:cNvPr id="9236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67025" y="2286000"/>
                        <a:ext cx="2551113" cy="711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12BE594-B9E7-455E-9AF6-DEAD122F932D}" type="slidenum">
              <a:rPr lang="pt-BR"/>
              <a:pPr>
                <a:defRPr/>
              </a:pPr>
              <a:t>7</a:t>
            </a:fld>
            <a:endParaRPr lang="pt-BR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50" grpId="0"/>
      <p:bldP spid="51" grpId="0"/>
      <p:bldP spid="60" grpId="0" animBg="1"/>
      <p:bldP spid="75" grpId="0"/>
      <p:bldP spid="76" grpId="0"/>
      <p:bldP spid="78" grpId="0"/>
      <p:bldP spid="79" grpId="0"/>
      <p:bldP spid="80" grpId="0" animBg="1"/>
      <p:bldP spid="8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7" name="Rectangle 10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10243" name="Grupo 12"/>
          <p:cNvGrpSpPr>
            <a:grpSpLocks/>
          </p:cNvGrpSpPr>
          <p:nvPr/>
        </p:nvGrpSpPr>
        <p:grpSpPr bwMode="auto">
          <a:xfrm>
            <a:off x="1763713" y="2703513"/>
            <a:ext cx="2376487" cy="1690687"/>
            <a:chOff x="972394" y="2990767"/>
            <a:chExt cx="2376487" cy="1691482"/>
          </a:xfrm>
        </p:grpSpPr>
        <p:grpSp>
          <p:nvGrpSpPr>
            <p:cNvPr id="10267" name="Group 1034"/>
            <p:cNvGrpSpPr>
              <a:grpSpLocks/>
            </p:cNvGrpSpPr>
            <p:nvPr/>
          </p:nvGrpSpPr>
          <p:grpSpPr bwMode="auto">
            <a:xfrm>
              <a:off x="972394" y="3099511"/>
              <a:ext cx="1152525" cy="1582738"/>
              <a:chOff x="2562" y="1344"/>
              <a:chExt cx="726" cy="997"/>
            </a:xfrm>
          </p:grpSpPr>
          <p:sp>
            <p:nvSpPr>
              <p:cNvPr id="10272" name="Freeform 1035"/>
              <p:cNvSpPr>
                <a:spLocks/>
              </p:cNvSpPr>
              <p:nvPr/>
            </p:nvSpPr>
            <p:spPr bwMode="auto">
              <a:xfrm>
                <a:off x="2562" y="1344"/>
                <a:ext cx="726" cy="997"/>
              </a:xfrm>
              <a:custGeom>
                <a:avLst/>
                <a:gdLst>
                  <a:gd name="T0" fmla="*/ 0 w 499"/>
                  <a:gd name="T1" fmla="*/ 0 h 725"/>
                  <a:gd name="T2" fmla="*/ 0 w 499"/>
                  <a:gd name="T3" fmla="*/ 86201 h 725"/>
                  <a:gd name="T4" fmla="*/ 138183 w 499"/>
                  <a:gd name="T5" fmla="*/ 86201 h 725"/>
                  <a:gd name="T6" fmla="*/ 138183 w 499"/>
                  <a:gd name="T7" fmla="*/ 0 h 72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99"/>
                  <a:gd name="T13" fmla="*/ 0 h 725"/>
                  <a:gd name="T14" fmla="*/ 499 w 499"/>
                  <a:gd name="T15" fmla="*/ 725 h 72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99" h="725">
                    <a:moveTo>
                      <a:pt x="0" y="0"/>
                    </a:moveTo>
                    <a:lnTo>
                      <a:pt x="0" y="725"/>
                    </a:lnTo>
                    <a:lnTo>
                      <a:pt x="499" y="725"/>
                    </a:lnTo>
                    <a:lnTo>
                      <a:pt x="499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>
                  <a:latin typeface="Tahoma" panose="020B0604030504040204" pitchFamily="34" charset="0"/>
                </a:endParaRPr>
              </a:p>
            </p:txBody>
          </p:sp>
          <p:sp>
            <p:nvSpPr>
              <p:cNvPr id="10273" name="Oval 1036"/>
              <p:cNvSpPr>
                <a:spLocks noChangeArrowheads="1"/>
              </p:cNvSpPr>
              <p:nvPr/>
            </p:nvSpPr>
            <p:spPr bwMode="auto">
              <a:xfrm>
                <a:off x="2653" y="1389"/>
                <a:ext cx="181" cy="182"/>
              </a:xfrm>
              <a:prstGeom prst="ellipse">
                <a:avLst/>
              </a:prstGeom>
              <a:solidFill>
                <a:srgbClr val="FF33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0274" name="Oval 1037"/>
              <p:cNvSpPr>
                <a:spLocks noChangeArrowheads="1"/>
              </p:cNvSpPr>
              <p:nvPr/>
            </p:nvSpPr>
            <p:spPr bwMode="auto">
              <a:xfrm>
                <a:off x="2925" y="1389"/>
                <a:ext cx="181" cy="182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0275" name="Oval 1038"/>
              <p:cNvSpPr>
                <a:spLocks noChangeArrowheads="1"/>
              </p:cNvSpPr>
              <p:nvPr/>
            </p:nvSpPr>
            <p:spPr bwMode="auto">
              <a:xfrm>
                <a:off x="3061" y="2069"/>
                <a:ext cx="181" cy="182"/>
              </a:xfrm>
              <a:prstGeom prst="ellipse">
                <a:avLst/>
              </a:prstGeom>
              <a:solidFill>
                <a:srgbClr val="FF33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0276" name="Oval 1039"/>
              <p:cNvSpPr>
                <a:spLocks noChangeArrowheads="1"/>
              </p:cNvSpPr>
              <p:nvPr/>
            </p:nvSpPr>
            <p:spPr bwMode="auto">
              <a:xfrm>
                <a:off x="2835" y="1842"/>
                <a:ext cx="181" cy="182"/>
              </a:xfrm>
              <a:prstGeom prst="ellipse">
                <a:avLst/>
              </a:prstGeom>
              <a:solidFill>
                <a:srgbClr val="FF3300"/>
              </a:solidFill>
              <a:ln w="9525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0277" name="Rectangle 1040"/>
              <p:cNvSpPr>
                <a:spLocks noChangeArrowheads="1"/>
              </p:cNvSpPr>
              <p:nvPr/>
            </p:nvSpPr>
            <p:spPr bwMode="auto">
              <a:xfrm>
                <a:off x="2608" y="2115"/>
                <a:ext cx="181" cy="181"/>
              </a:xfrm>
              <a:prstGeom prst="rect">
                <a:avLst/>
              </a:prstGeom>
              <a:solidFill>
                <a:srgbClr val="FF330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0278" name="Rectangle 1041"/>
              <p:cNvSpPr>
                <a:spLocks noChangeArrowheads="1"/>
              </p:cNvSpPr>
              <p:nvPr/>
            </p:nvSpPr>
            <p:spPr bwMode="auto">
              <a:xfrm>
                <a:off x="3061" y="1616"/>
                <a:ext cx="181" cy="181"/>
              </a:xfrm>
              <a:prstGeom prst="rect">
                <a:avLst/>
              </a:prstGeom>
              <a:solidFill>
                <a:srgbClr val="FF3300"/>
              </a:solidFill>
              <a:ln w="9525" algn="ctr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0279" name="Rectangle 1042"/>
              <p:cNvSpPr>
                <a:spLocks noChangeArrowheads="1"/>
              </p:cNvSpPr>
              <p:nvPr/>
            </p:nvSpPr>
            <p:spPr bwMode="auto">
              <a:xfrm>
                <a:off x="2789" y="1616"/>
                <a:ext cx="181" cy="181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0280" name="Rectangle 1043"/>
              <p:cNvSpPr>
                <a:spLocks noChangeArrowheads="1"/>
              </p:cNvSpPr>
              <p:nvPr/>
            </p:nvSpPr>
            <p:spPr bwMode="auto">
              <a:xfrm>
                <a:off x="2608" y="1842"/>
                <a:ext cx="181" cy="181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0281" name="Rectangle 1044"/>
              <p:cNvSpPr>
                <a:spLocks noChangeArrowheads="1"/>
              </p:cNvSpPr>
              <p:nvPr/>
            </p:nvSpPr>
            <p:spPr bwMode="auto">
              <a:xfrm>
                <a:off x="2835" y="2069"/>
                <a:ext cx="181" cy="181"/>
              </a:xfrm>
              <a:prstGeom prst="rect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10268" name="Group 1045"/>
            <p:cNvGrpSpPr>
              <a:grpSpLocks/>
            </p:cNvGrpSpPr>
            <p:nvPr/>
          </p:nvGrpSpPr>
          <p:grpSpPr bwMode="auto">
            <a:xfrm>
              <a:off x="1548656" y="2990767"/>
              <a:ext cx="1800225" cy="1081088"/>
              <a:chOff x="2925" y="1298"/>
              <a:chExt cx="1134" cy="681"/>
            </a:xfrm>
          </p:grpSpPr>
          <p:cxnSp>
            <p:nvCxnSpPr>
              <p:cNvPr id="10270" name="AutoShape 1046"/>
              <p:cNvCxnSpPr>
                <a:cxnSpLocks noChangeShapeType="1"/>
              </p:cNvCxnSpPr>
              <p:nvPr/>
            </p:nvCxnSpPr>
            <p:spPr bwMode="auto">
              <a:xfrm rot="5400000" flipV="1">
                <a:off x="3213" y="1010"/>
                <a:ext cx="416" cy="992"/>
              </a:xfrm>
              <a:prstGeom prst="curvedConnector3">
                <a:avLst>
                  <a:gd name="adj1" fmla="val -34616"/>
                </a:avLst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271" name="Line 1047"/>
              <p:cNvSpPr>
                <a:spLocks noChangeShapeType="1"/>
              </p:cNvSpPr>
              <p:nvPr/>
            </p:nvSpPr>
            <p:spPr bwMode="auto">
              <a:xfrm>
                <a:off x="3787" y="1979"/>
                <a:ext cx="27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pt-BR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9" name="CaixaDeTexto 8"/>
            <p:cNvSpPr txBox="1"/>
            <p:nvPr/>
          </p:nvSpPr>
          <p:spPr>
            <a:xfrm>
              <a:off x="2986931" y="3735654"/>
              <a:ext cx="292100" cy="338297"/>
            </a:xfrm>
            <a:prstGeom prst="rect">
              <a:avLst/>
            </a:prstGeom>
            <a:noFill/>
          </p:spPr>
          <p:txBody>
            <a:bodyPr wrap="none">
              <a:spAutoFit/>
            </a:bodyPr>
            <a:lstStyle/>
            <a:p>
              <a:pPr>
                <a:defRPr/>
              </a:pPr>
              <a:r>
                <a:rPr lang="pt-BR" dirty="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81" name="Text Box 111"/>
          <p:cNvSpPr txBox="1">
            <a:spLocks noChangeArrowheads="1"/>
          </p:cNvSpPr>
          <p:nvPr/>
        </p:nvSpPr>
        <p:spPr bwMode="auto">
          <a:xfrm>
            <a:off x="5146675" y="4787900"/>
            <a:ext cx="2089150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r" eaLnBrk="1" hangingPunct="1">
              <a:defRPr/>
            </a:pPr>
            <a:r>
              <a:rPr lang="pt-BR" i="1" dirty="0"/>
              <a:t>A</a:t>
            </a:r>
            <a:r>
              <a:rPr lang="pt-BR" dirty="0"/>
              <a:t> </a:t>
            </a:r>
            <a:r>
              <a:rPr lang="pt-BR" dirty="0">
                <a:latin typeface="Tahoma" panose="020B0604030504040204" pitchFamily="34" charset="0"/>
              </a:rPr>
              <a:t>= objeto quadrado</a:t>
            </a:r>
          </a:p>
        </p:txBody>
      </p:sp>
      <p:grpSp>
        <p:nvGrpSpPr>
          <p:cNvPr id="14" name="Grupo 13"/>
          <p:cNvGrpSpPr>
            <a:grpSpLocks/>
          </p:cNvGrpSpPr>
          <p:nvPr/>
        </p:nvGrpSpPr>
        <p:grpSpPr bwMode="auto">
          <a:xfrm>
            <a:off x="5148263" y="2420938"/>
            <a:ext cx="1905000" cy="2228850"/>
            <a:chOff x="4932385" y="2708920"/>
            <a:chExt cx="1905000" cy="2229267"/>
          </a:xfrm>
        </p:grpSpPr>
        <p:sp>
          <p:nvSpPr>
            <p:cNvPr id="10256" name="Text Box 109"/>
            <p:cNvSpPr txBox="1">
              <a:spLocks noChangeArrowheads="1"/>
            </p:cNvSpPr>
            <p:nvPr/>
          </p:nvSpPr>
          <p:spPr bwMode="auto">
            <a:xfrm>
              <a:off x="6435300" y="4599633"/>
              <a:ext cx="341760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</a:t>
              </a:r>
              <a:endParaRPr lang="pt-BR" altLang="pt-BR" sz="1600" i="1">
                <a:latin typeface="Times New Roman" pitchFamily="18" charset="0"/>
              </a:endParaRPr>
            </a:p>
          </p:txBody>
        </p:sp>
        <p:sp>
          <p:nvSpPr>
            <p:cNvPr id="10257" name="Rectangle 106"/>
            <p:cNvSpPr>
              <a:spLocks noChangeArrowheads="1"/>
            </p:cNvSpPr>
            <p:nvPr/>
          </p:nvSpPr>
          <p:spPr bwMode="auto">
            <a:xfrm>
              <a:off x="4932385" y="2708920"/>
              <a:ext cx="1905000" cy="22098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0258" name="Oval 1036"/>
            <p:cNvSpPr>
              <a:spLocks noChangeArrowheads="1"/>
            </p:cNvSpPr>
            <p:nvPr/>
          </p:nvSpPr>
          <p:spPr bwMode="auto">
            <a:xfrm>
              <a:off x="6055597" y="4197643"/>
              <a:ext cx="287338" cy="288925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0259" name="Oval 1037"/>
            <p:cNvSpPr>
              <a:spLocks noChangeArrowheads="1"/>
            </p:cNvSpPr>
            <p:nvPr/>
          </p:nvSpPr>
          <p:spPr bwMode="auto">
            <a:xfrm>
              <a:off x="6444007" y="3435961"/>
              <a:ext cx="287338" cy="288925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0260" name="Oval 1038"/>
            <p:cNvSpPr>
              <a:spLocks noChangeArrowheads="1"/>
            </p:cNvSpPr>
            <p:nvPr/>
          </p:nvSpPr>
          <p:spPr bwMode="auto">
            <a:xfrm>
              <a:off x="6255568" y="3886160"/>
              <a:ext cx="287338" cy="288925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0261" name="Oval 1039"/>
            <p:cNvSpPr>
              <a:spLocks noChangeArrowheads="1"/>
            </p:cNvSpPr>
            <p:nvPr/>
          </p:nvSpPr>
          <p:spPr bwMode="auto">
            <a:xfrm>
              <a:off x="5544876" y="4167626"/>
              <a:ext cx="287338" cy="288925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0262" name="Rectangle 1040"/>
            <p:cNvSpPr>
              <a:spLocks noChangeArrowheads="1"/>
            </p:cNvSpPr>
            <p:nvPr/>
          </p:nvSpPr>
          <p:spPr bwMode="auto">
            <a:xfrm>
              <a:off x="5512895" y="3766554"/>
              <a:ext cx="287338" cy="287338"/>
            </a:xfrm>
            <a:prstGeom prst="rect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0263" name="Rectangle 1041"/>
            <p:cNvSpPr>
              <a:spLocks noChangeArrowheads="1"/>
            </p:cNvSpPr>
            <p:nvPr/>
          </p:nvSpPr>
          <p:spPr bwMode="auto">
            <a:xfrm>
              <a:off x="5912125" y="3613465"/>
              <a:ext cx="287338" cy="287338"/>
            </a:xfrm>
            <a:prstGeom prst="rect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0264" name="Rectangle 1042"/>
            <p:cNvSpPr>
              <a:spLocks noChangeArrowheads="1"/>
            </p:cNvSpPr>
            <p:nvPr/>
          </p:nvSpPr>
          <p:spPr bwMode="auto">
            <a:xfrm>
              <a:off x="5932063" y="3195975"/>
              <a:ext cx="287338" cy="28733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0265" name="Rectangle 1043"/>
            <p:cNvSpPr>
              <a:spLocks noChangeArrowheads="1"/>
            </p:cNvSpPr>
            <p:nvPr/>
          </p:nvSpPr>
          <p:spPr bwMode="auto">
            <a:xfrm>
              <a:off x="5225557" y="3341348"/>
              <a:ext cx="287338" cy="28733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0266" name="Rectangle 1044"/>
            <p:cNvSpPr>
              <a:spLocks noChangeArrowheads="1"/>
            </p:cNvSpPr>
            <p:nvPr/>
          </p:nvSpPr>
          <p:spPr bwMode="auto">
            <a:xfrm>
              <a:off x="5571329" y="3148623"/>
              <a:ext cx="287338" cy="287338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10" name="Grupo 9"/>
          <p:cNvGrpSpPr>
            <a:grpSpLocks/>
          </p:cNvGrpSpPr>
          <p:nvPr/>
        </p:nvGrpSpPr>
        <p:grpSpPr bwMode="auto">
          <a:xfrm>
            <a:off x="5329238" y="2689225"/>
            <a:ext cx="1270000" cy="1152525"/>
            <a:chOff x="4283968" y="3122822"/>
            <a:chExt cx="1269066" cy="1152525"/>
          </a:xfrm>
        </p:grpSpPr>
        <p:sp>
          <p:nvSpPr>
            <p:cNvPr id="10254" name="Text Box 111"/>
            <p:cNvSpPr txBox="1">
              <a:spLocks noChangeArrowheads="1"/>
            </p:cNvSpPr>
            <p:nvPr/>
          </p:nvSpPr>
          <p:spPr bwMode="auto">
            <a:xfrm>
              <a:off x="4412548" y="3170949"/>
              <a:ext cx="307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10255" name="Oval 107"/>
            <p:cNvSpPr>
              <a:spLocks noChangeArrowheads="1"/>
            </p:cNvSpPr>
            <p:nvPr/>
          </p:nvSpPr>
          <p:spPr bwMode="auto">
            <a:xfrm>
              <a:off x="4283968" y="3122822"/>
              <a:ext cx="1269066" cy="115252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11" name="Grupo 10"/>
          <p:cNvGrpSpPr>
            <a:grpSpLocks/>
          </p:cNvGrpSpPr>
          <p:nvPr/>
        </p:nvGrpSpPr>
        <p:grpSpPr bwMode="auto">
          <a:xfrm>
            <a:off x="5540375" y="3232150"/>
            <a:ext cx="1263650" cy="1117600"/>
            <a:chOff x="4494965" y="3665458"/>
            <a:chExt cx="1263344" cy="1117096"/>
          </a:xfrm>
        </p:grpSpPr>
        <p:sp>
          <p:nvSpPr>
            <p:cNvPr id="10252" name="Text Box 110"/>
            <p:cNvSpPr txBox="1">
              <a:spLocks noChangeArrowheads="1"/>
            </p:cNvSpPr>
            <p:nvPr/>
          </p:nvSpPr>
          <p:spPr bwMode="auto">
            <a:xfrm>
              <a:off x="4952039" y="4446004"/>
              <a:ext cx="307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0253" name="Oval 108"/>
            <p:cNvSpPr>
              <a:spLocks noChangeArrowheads="1"/>
            </p:cNvSpPr>
            <p:nvPr/>
          </p:nvSpPr>
          <p:spPr bwMode="auto">
            <a:xfrm>
              <a:off x="4494965" y="3665458"/>
              <a:ext cx="1263344" cy="10668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sp>
        <p:nvSpPr>
          <p:cNvPr id="97" name="Text Box 111"/>
          <p:cNvSpPr txBox="1">
            <a:spLocks noChangeArrowheads="1"/>
          </p:cNvSpPr>
          <p:nvPr/>
        </p:nvSpPr>
        <p:spPr bwMode="auto">
          <a:xfrm>
            <a:off x="5146675" y="5062538"/>
            <a:ext cx="2079625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lang="pt-BR" i="1" dirty="0"/>
              <a:t>B</a:t>
            </a:r>
            <a:r>
              <a:rPr lang="pt-BR" dirty="0"/>
              <a:t> </a:t>
            </a:r>
            <a:r>
              <a:rPr lang="pt-BR" dirty="0">
                <a:latin typeface="Tahoma" panose="020B0604030504040204" pitchFamily="34" charset="0"/>
              </a:rPr>
              <a:t>= objeto vermelho</a:t>
            </a:r>
          </a:p>
        </p:txBody>
      </p:sp>
      <p:sp>
        <p:nvSpPr>
          <p:cNvPr id="10249" name="Text Box 36"/>
          <p:cNvSpPr txBox="1">
            <a:spLocks noChangeArrowheads="1"/>
          </p:cNvSpPr>
          <p:nvPr/>
        </p:nvSpPr>
        <p:spPr bwMode="auto">
          <a:xfrm>
            <a:off x="1671638" y="4664075"/>
            <a:ext cx="2252662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Qual a probabilidade do objeto selecionado ser quadrado ou ser vermelho?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A2C947-FA07-4636-8097-364309486996}" type="slidenum">
              <a:rPr lang="pt-BR"/>
              <a:pPr>
                <a:defRPr/>
              </a:pPr>
              <a:t>8</a:t>
            </a:fld>
            <a:endParaRPr lang="pt-BR"/>
          </a:p>
        </p:txBody>
      </p:sp>
      <p:sp>
        <p:nvSpPr>
          <p:cNvPr id="41" name="Text Box 111"/>
          <p:cNvSpPr txBox="1">
            <a:spLocks noChangeArrowheads="1"/>
          </p:cNvSpPr>
          <p:nvPr/>
        </p:nvSpPr>
        <p:spPr bwMode="auto">
          <a:xfrm>
            <a:off x="5534025" y="5538788"/>
            <a:ext cx="12700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>
              <a:defRPr/>
            </a:pPr>
            <a:r>
              <a:rPr lang="pt-BR" dirty="0"/>
              <a:t>P(</a:t>
            </a:r>
            <a:r>
              <a:rPr lang="pt-BR" i="1" dirty="0"/>
              <a:t>A</a:t>
            </a:r>
            <a:r>
              <a:rPr lang="pt-BR" dirty="0"/>
              <a:t> </a:t>
            </a:r>
            <a:r>
              <a:rPr lang="pt-BR" dirty="0">
                <a:sym typeface="SymbolProp BT"/>
              </a:rPr>
              <a:t> </a:t>
            </a:r>
            <a:r>
              <a:rPr lang="pt-BR" i="1" dirty="0"/>
              <a:t>B</a:t>
            </a:r>
            <a:r>
              <a:rPr lang="pt-BR" dirty="0"/>
              <a:t>) = ?</a:t>
            </a:r>
            <a:endParaRPr lang="pt-BR" dirty="0">
              <a:latin typeface="Tahoma" panose="020B0604030504040204" pitchFamily="34" charset="0"/>
            </a:endParaRPr>
          </a:p>
        </p:txBody>
      </p:sp>
      <p:sp>
        <p:nvSpPr>
          <p:cNvPr id="42" name="Text Box 11"/>
          <p:cNvSpPr txBox="1">
            <a:spLocks noChangeArrowheads="1"/>
          </p:cNvSpPr>
          <p:nvPr/>
        </p:nvSpPr>
        <p:spPr bwMode="auto">
          <a:xfrm>
            <a:off x="785813" y="1571625"/>
            <a:ext cx="54292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Experimento: retira-se um objeto a urna...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1" grpId="0"/>
      <p:bldP spid="97" grpId="0"/>
      <p:bldP spid="4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0"/>
          <p:cNvGrpSpPr>
            <a:grpSpLocks/>
          </p:cNvGrpSpPr>
          <p:nvPr/>
        </p:nvGrpSpPr>
        <p:grpSpPr bwMode="auto">
          <a:xfrm>
            <a:off x="6026150" y="3994150"/>
            <a:ext cx="862013" cy="1000125"/>
            <a:chOff x="3504" y="3024"/>
            <a:chExt cx="543" cy="630"/>
          </a:xfrm>
        </p:grpSpPr>
        <p:sp>
          <p:nvSpPr>
            <p:cNvPr id="11319" name="Rectangle 71" descr="Diagonal para cima clara"/>
            <p:cNvSpPr>
              <a:spLocks noChangeArrowheads="1"/>
            </p:cNvSpPr>
            <p:nvPr/>
          </p:nvSpPr>
          <p:spPr bwMode="auto">
            <a:xfrm>
              <a:off x="3504" y="3024"/>
              <a:ext cx="543" cy="630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20" name="Oval 72"/>
            <p:cNvSpPr>
              <a:spLocks noChangeArrowheads="1"/>
            </p:cNvSpPr>
            <p:nvPr/>
          </p:nvSpPr>
          <p:spPr bwMode="auto">
            <a:xfrm>
              <a:off x="3591" y="3111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21" name="Oval 73"/>
            <p:cNvSpPr>
              <a:spLocks noChangeArrowheads="1"/>
            </p:cNvSpPr>
            <p:nvPr/>
          </p:nvSpPr>
          <p:spPr bwMode="auto">
            <a:xfrm>
              <a:off x="3743" y="3263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22" name="Oval 74" descr="Diagonal para cima clara"/>
            <p:cNvSpPr>
              <a:spLocks noChangeArrowheads="1"/>
            </p:cNvSpPr>
            <p:nvPr/>
          </p:nvSpPr>
          <p:spPr bwMode="auto">
            <a:xfrm>
              <a:off x="3590" y="3110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23" name="Freeform 75"/>
            <p:cNvSpPr>
              <a:spLocks/>
            </p:cNvSpPr>
            <p:nvPr/>
          </p:nvSpPr>
          <p:spPr bwMode="auto">
            <a:xfrm>
              <a:off x="3744" y="3266"/>
              <a:ext cx="109" cy="145"/>
            </a:xfrm>
            <a:custGeom>
              <a:avLst/>
              <a:gdLst>
                <a:gd name="T0" fmla="*/ 0 w 109"/>
                <a:gd name="T1" fmla="*/ 145 h 145"/>
                <a:gd name="T2" fmla="*/ 3 w 109"/>
                <a:gd name="T3" fmla="*/ 105 h 145"/>
                <a:gd name="T4" fmla="*/ 16 w 109"/>
                <a:gd name="T5" fmla="*/ 73 h 145"/>
                <a:gd name="T6" fmla="*/ 30 w 109"/>
                <a:gd name="T7" fmla="*/ 49 h 145"/>
                <a:gd name="T8" fmla="*/ 53 w 109"/>
                <a:gd name="T9" fmla="*/ 25 h 145"/>
                <a:gd name="T10" fmla="*/ 77 w 109"/>
                <a:gd name="T11" fmla="*/ 9 h 145"/>
                <a:gd name="T12" fmla="*/ 99 w 109"/>
                <a:gd name="T13" fmla="*/ 0 h 145"/>
                <a:gd name="T14" fmla="*/ 109 w 109"/>
                <a:gd name="T15" fmla="*/ 0 h 145"/>
                <a:gd name="T16" fmla="*/ 106 w 109"/>
                <a:gd name="T17" fmla="*/ 27 h 145"/>
                <a:gd name="T18" fmla="*/ 99 w 109"/>
                <a:gd name="T19" fmla="*/ 56 h 145"/>
                <a:gd name="T20" fmla="*/ 86 w 109"/>
                <a:gd name="T21" fmla="*/ 80 h 145"/>
                <a:gd name="T22" fmla="*/ 72 w 109"/>
                <a:gd name="T23" fmla="*/ 104 h 145"/>
                <a:gd name="T24" fmla="*/ 51 w 109"/>
                <a:gd name="T25" fmla="*/ 124 h 145"/>
                <a:gd name="T26" fmla="*/ 24 w 109"/>
                <a:gd name="T27" fmla="*/ 137 h 145"/>
                <a:gd name="T28" fmla="*/ 14 w 109"/>
                <a:gd name="T29" fmla="*/ 144 h 145"/>
                <a:gd name="T30" fmla="*/ 0 w 109"/>
                <a:gd name="T31" fmla="*/ 145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oup 76"/>
          <p:cNvGrpSpPr>
            <a:grpSpLocks/>
          </p:cNvGrpSpPr>
          <p:nvPr/>
        </p:nvGrpSpPr>
        <p:grpSpPr bwMode="auto">
          <a:xfrm>
            <a:off x="6026150" y="2355850"/>
            <a:ext cx="862013" cy="1000125"/>
            <a:chOff x="3504" y="2256"/>
            <a:chExt cx="543" cy="630"/>
          </a:xfrm>
        </p:grpSpPr>
        <p:sp>
          <p:nvSpPr>
            <p:cNvPr id="11315" name="Rectangle 77" descr="Diagonal para cima clara"/>
            <p:cNvSpPr>
              <a:spLocks noChangeArrowheads="1"/>
            </p:cNvSpPr>
            <p:nvPr/>
          </p:nvSpPr>
          <p:spPr bwMode="auto">
            <a:xfrm>
              <a:off x="3504" y="2256"/>
              <a:ext cx="543" cy="630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16" name="Oval 78"/>
            <p:cNvSpPr>
              <a:spLocks noChangeArrowheads="1"/>
            </p:cNvSpPr>
            <p:nvPr/>
          </p:nvSpPr>
          <p:spPr bwMode="auto">
            <a:xfrm>
              <a:off x="3591" y="2343"/>
              <a:ext cx="261" cy="30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17" name="Oval 79"/>
            <p:cNvSpPr>
              <a:spLocks noChangeArrowheads="1"/>
            </p:cNvSpPr>
            <p:nvPr/>
          </p:nvSpPr>
          <p:spPr bwMode="auto">
            <a:xfrm>
              <a:off x="3743" y="2495"/>
              <a:ext cx="261" cy="30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18" name="Oval 80" descr="Diagonal para cima clara"/>
            <p:cNvSpPr>
              <a:spLocks noChangeArrowheads="1"/>
            </p:cNvSpPr>
            <p:nvPr/>
          </p:nvSpPr>
          <p:spPr bwMode="auto">
            <a:xfrm>
              <a:off x="3590" y="2342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81"/>
          <p:cNvGrpSpPr>
            <a:grpSpLocks/>
          </p:cNvGrpSpPr>
          <p:nvPr/>
        </p:nvGrpSpPr>
        <p:grpSpPr bwMode="auto">
          <a:xfrm>
            <a:off x="6026150" y="5643563"/>
            <a:ext cx="862013" cy="1000125"/>
            <a:chOff x="3504" y="1488"/>
            <a:chExt cx="543" cy="630"/>
          </a:xfrm>
        </p:grpSpPr>
        <p:sp>
          <p:nvSpPr>
            <p:cNvPr id="11310" name="Oval 82" descr="Diagonal para cima clara"/>
            <p:cNvSpPr>
              <a:spLocks noChangeArrowheads="1"/>
            </p:cNvSpPr>
            <p:nvPr/>
          </p:nvSpPr>
          <p:spPr bwMode="auto">
            <a:xfrm>
              <a:off x="3590" y="1574"/>
              <a:ext cx="261" cy="30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11" name="Rectangle 83"/>
            <p:cNvSpPr>
              <a:spLocks noChangeArrowheads="1"/>
            </p:cNvSpPr>
            <p:nvPr/>
          </p:nvSpPr>
          <p:spPr bwMode="auto">
            <a:xfrm>
              <a:off x="3504" y="1488"/>
              <a:ext cx="543" cy="63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12" name="Oval 84" descr="Diagonal para cima clara"/>
            <p:cNvSpPr>
              <a:spLocks noChangeArrowheads="1"/>
            </p:cNvSpPr>
            <p:nvPr/>
          </p:nvSpPr>
          <p:spPr bwMode="auto">
            <a:xfrm>
              <a:off x="3591" y="1575"/>
              <a:ext cx="261" cy="30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13" name="Oval 85"/>
            <p:cNvSpPr>
              <a:spLocks noChangeArrowheads="1"/>
            </p:cNvSpPr>
            <p:nvPr/>
          </p:nvSpPr>
          <p:spPr bwMode="auto">
            <a:xfrm>
              <a:off x="3743" y="1727"/>
              <a:ext cx="261" cy="30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14" name="Oval 86" descr="Diagonal para cima clara"/>
            <p:cNvSpPr>
              <a:spLocks noChangeArrowheads="1"/>
            </p:cNvSpPr>
            <p:nvPr/>
          </p:nvSpPr>
          <p:spPr bwMode="auto">
            <a:xfrm>
              <a:off x="3590" y="1574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87"/>
          <p:cNvGrpSpPr>
            <a:grpSpLocks/>
          </p:cNvGrpSpPr>
          <p:nvPr/>
        </p:nvGrpSpPr>
        <p:grpSpPr bwMode="auto">
          <a:xfrm>
            <a:off x="3276600" y="5643563"/>
            <a:ext cx="862013" cy="1000125"/>
            <a:chOff x="2064" y="3024"/>
            <a:chExt cx="543" cy="630"/>
          </a:xfrm>
        </p:grpSpPr>
        <p:sp>
          <p:nvSpPr>
            <p:cNvPr id="11305" name="Rectangle 88" descr="Diagonal para cima clara"/>
            <p:cNvSpPr>
              <a:spLocks noChangeArrowheads="1"/>
            </p:cNvSpPr>
            <p:nvPr/>
          </p:nvSpPr>
          <p:spPr bwMode="auto">
            <a:xfrm>
              <a:off x="2064" y="3024"/>
              <a:ext cx="543" cy="630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06" name="Oval 89" descr="Diagonal para cima clara"/>
            <p:cNvSpPr>
              <a:spLocks noChangeArrowheads="1"/>
            </p:cNvSpPr>
            <p:nvPr/>
          </p:nvSpPr>
          <p:spPr bwMode="auto">
            <a:xfrm>
              <a:off x="2303" y="3263"/>
              <a:ext cx="261" cy="30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rgbClr val="FFFFFF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07" name="Oval 90" descr="Diagonal para cima clara"/>
            <p:cNvSpPr>
              <a:spLocks noChangeArrowheads="1"/>
            </p:cNvSpPr>
            <p:nvPr/>
          </p:nvSpPr>
          <p:spPr bwMode="auto">
            <a:xfrm>
              <a:off x="2150" y="3110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08" name="Oval 91"/>
            <p:cNvSpPr>
              <a:spLocks noChangeArrowheads="1"/>
            </p:cNvSpPr>
            <p:nvPr/>
          </p:nvSpPr>
          <p:spPr bwMode="auto">
            <a:xfrm>
              <a:off x="2151" y="3111"/>
              <a:ext cx="261" cy="304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09" name="Oval 92"/>
            <p:cNvSpPr>
              <a:spLocks noChangeArrowheads="1"/>
            </p:cNvSpPr>
            <p:nvPr/>
          </p:nvSpPr>
          <p:spPr bwMode="auto">
            <a:xfrm>
              <a:off x="2306" y="3264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6" name="Group 93"/>
          <p:cNvGrpSpPr>
            <a:grpSpLocks/>
          </p:cNvGrpSpPr>
          <p:nvPr/>
        </p:nvGrpSpPr>
        <p:grpSpPr bwMode="auto">
          <a:xfrm>
            <a:off x="3276600" y="4005263"/>
            <a:ext cx="862013" cy="1000125"/>
            <a:chOff x="2064" y="2256"/>
            <a:chExt cx="543" cy="630"/>
          </a:xfrm>
        </p:grpSpPr>
        <p:sp>
          <p:nvSpPr>
            <p:cNvPr id="11301" name="Rectangle 94"/>
            <p:cNvSpPr>
              <a:spLocks noChangeArrowheads="1"/>
            </p:cNvSpPr>
            <p:nvPr/>
          </p:nvSpPr>
          <p:spPr bwMode="auto">
            <a:xfrm>
              <a:off x="2064" y="2256"/>
              <a:ext cx="543" cy="63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02" name="Oval 95"/>
            <p:cNvSpPr>
              <a:spLocks noChangeArrowheads="1"/>
            </p:cNvSpPr>
            <p:nvPr/>
          </p:nvSpPr>
          <p:spPr bwMode="auto">
            <a:xfrm>
              <a:off x="2151" y="2343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03" name="Oval 96"/>
            <p:cNvSpPr>
              <a:spLocks noChangeArrowheads="1"/>
            </p:cNvSpPr>
            <p:nvPr/>
          </p:nvSpPr>
          <p:spPr bwMode="auto">
            <a:xfrm>
              <a:off x="2303" y="2495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04" name="Freeform 97" descr="Diagonal para cima clara"/>
            <p:cNvSpPr>
              <a:spLocks/>
            </p:cNvSpPr>
            <p:nvPr/>
          </p:nvSpPr>
          <p:spPr bwMode="auto">
            <a:xfrm>
              <a:off x="2304" y="2498"/>
              <a:ext cx="109" cy="145"/>
            </a:xfrm>
            <a:custGeom>
              <a:avLst/>
              <a:gdLst>
                <a:gd name="T0" fmla="*/ 0 w 109"/>
                <a:gd name="T1" fmla="*/ 145 h 145"/>
                <a:gd name="T2" fmla="*/ 3 w 109"/>
                <a:gd name="T3" fmla="*/ 105 h 145"/>
                <a:gd name="T4" fmla="*/ 16 w 109"/>
                <a:gd name="T5" fmla="*/ 73 h 145"/>
                <a:gd name="T6" fmla="*/ 30 w 109"/>
                <a:gd name="T7" fmla="*/ 49 h 145"/>
                <a:gd name="T8" fmla="*/ 53 w 109"/>
                <a:gd name="T9" fmla="*/ 25 h 145"/>
                <a:gd name="T10" fmla="*/ 77 w 109"/>
                <a:gd name="T11" fmla="*/ 9 h 145"/>
                <a:gd name="T12" fmla="*/ 99 w 109"/>
                <a:gd name="T13" fmla="*/ 0 h 145"/>
                <a:gd name="T14" fmla="*/ 109 w 109"/>
                <a:gd name="T15" fmla="*/ 0 h 145"/>
                <a:gd name="T16" fmla="*/ 106 w 109"/>
                <a:gd name="T17" fmla="*/ 27 h 145"/>
                <a:gd name="T18" fmla="*/ 99 w 109"/>
                <a:gd name="T19" fmla="*/ 56 h 145"/>
                <a:gd name="T20" fmla="*/ 86 w 109"/>
                <a:gd name="T21" fmla="*/ 80 h 145"/>
                <a:gd name="T22" fmla="*/ 72 w 109"/>
                <a:gd name="T23" fmla="*/ 104 h 145"/>
                <a:gd name="T24" fmla="*/ 51 w 109"/>
                <a:gd name="T25" fmla="*/ 124 h 145"/>
                <a:gd name="T26" fmla="*/ 24 w 109"/>
                <a:gd name="T27" fmla="*/ 137 h 145"/>
                <a:gd name="T28" fmla="*/ 14 w 109"/>
                <a:gd name="T29" fmla="*/ 144 h 145"/>
                <a:gd name="T30" fmla="*/ 0 w 109"/>
                <a:gd name="T31" fmla="*/ 145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oup 98"/>
          <p:cNvGrpSpPr>
            <a:grpSpLocks/>
          </p:cNvGrpSpPr>
          <p:nvPr/>
        </p:nvGrpSpPr>
        <p:grpSpPr bwMode="auto">
          <a:xfrm>
            <a:off x="3276600" y="2368550"/>
            <a:ext cx="862013" cy="1000125"/>
            <a:chOff x="2064" y="1488"/>
            <a:chExt cx="543" cy="630"/>
          </a:xfrm>
        </p:grpSpPr>
        <p:sp>
          <p:nvSpPr>
            <p:cNvPr id="11297" name="Rectangle 99"/>
            <p:cNvSpPr>
              <a:spLocks noChangeArrowheads="1"/>
            </p:cNvSpPr>
            <p:nvPr/>
          </p:nvSpPr>
          <p:spPr bwMode="auto">
            <a:xfrm>
              <a:off x="2064" y="1488"/>
              <a:ext cx="543" cy="630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298" name="Oval 100" descr="Diagonal para cima clara"/>
            <p:cNvSpPr>
              <a:spLocks noChangeArrowheads="1"/>
            </p:cNvSpPr>
            <p:nvPr/>
          </p:nvSpPr>
          <p:spPr bwMode="auto">
            <a:xfrm>
              <a:off x="2151" y="1575"/>
              <a:ext cx="261" cy="30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299" name="Oval 101" descr="Diagonal para cima clara"/>
            <p:cNvSpPr>
              <a:spLocks noChangeArrowheads="1"/>
            </p:cNvSpPr>
            <p:nvPr/>
          </p:nvSpPr>
          <p:spPr bwMode="auto">
            <a:xfrm>
              <a:off x="2303" y="1727"/>
              <a:ext cx="261" cy="30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300" name="Oval 102" descr="Diagonal para cima clara"/>
            <p:cNvSpPr>
              <a:spLocks noChangeArrowheads="1"/>
            </p:cNvSpPr>
            <p:nvPr/>
          </p:nvSpPr>
          <p:spPr bwMode="auto">
            <a:xfrm>
              <a:off x="2150" y="1574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sp>
        <p:nvSpPr>
          <p:cNvPr id="11367" name="Rectangle 103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sp>
        <p:nvSpPr>
          <p:cNvPr id="11273" name="Rectangle 104"/>
          <p:cNvSpPr>
            <a:spLocks noGrp="1" noChangeArrowheads="1"/>
          </p:cNvSpPr>
          <p:nvPr>
            <p:ph type="body" idx="1"/>
          </p:nvPr>
        </p:nvSpPr>
        <p:spPr>
          <a:xfrm>
            <a:off x="762000" y="1631950"/>
            <a:ext cx="7620000" cy="609600"/>
          </a:xfrm>
          <a:noFill/>
        </p:spPr>
        <p:txBody>
          <a:bodyPr/>
          <a:lstStyle/>
          <a:p>
            <a:pPr eaLnBrk="1" hangingPunct="1">
              <a:buFontTx/>
              <a:buNone/>
            </a:pPr>
            <a:r>
              <a:rPr lang="pt-BR" altLang="pt-BR"/>
              <a:t>Diagrama de Venn</a:t>
            </a:r>
          </a:p>
          <a:p>
            <a:pPr eaLnBrk="1" hangingPunct="1">
              <a:buFontTx/>
              <a:buNone/>
            </a:pPr>
            <a:endParaRPr lang="pt-BR" altLang="pt-BR"/>
          </a:p>
        </p:txBody>
      </p:sp>
      <p:grpSp>
        <p:nvGrpSpPr>
          <p:cNvPr id="11274" name="Group 105"/>
          <p:cNvGrpSpPr>
            <a:grpSpLocks/>
          </p:cNvGrpSpPr>
          <p:nvPr/>
        </p:nvGrpSpPr>
        <p:grpSpPr bwMode="auto">
          <a:xfrm>
            <a:off x="838200" y="3200400"/>
            <a:ext cx="1905000" cy="2228850"/>
            <a:chOff x="528" y="2016"/>
            <a:chExt cx="1200" cy="1404"/>
          </a:xfrm>
        </p:grpSpPr>
        <p:sp>
          <p:nvSpPr>
            <p:cNvPr id="11291" name="Rectangle 106"/>
            <p:cNvSpPr>
              <a:spLocks noChangeArrowheads="1"/>
            </p:cNvSpPr>
            <p:nvPr/>
          </p:nvSpPr>
          <p:spPr bwMode="auto">
            <a:xfrm>
              <a:off x="528" y="2016"/>
              <a:ext cx="1200" cy="139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292" name="Oval 107"/>
            <p:cNvSpPr>
              <a:spLocks noChangeArrowheads="1"/>
            </p:cNvSpPr>
            <p:nvPr/>
          </p:nvSpPr>
          <p:spPr bwMode="auto">
            <a:xfrm>
              <a:off x="720" y="2208"/>
              <a:ext cx="576" cy="6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293" name="Oval 108"/>
            <p:cNvSpPr>
              <a:spLocks noChangeArrowheads="1"/>
            </p:cNvSpPr>
            <p:nvPr/>
          </p:nvSpPr>
          <p:spPr bwMode="auto">
            <a:xfrm>
              <a:off x="1056" y="2544"/>
              <a:ext cx="576" cy="67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1294" name="Text Box 109"/>
            <p:cNvSpPr txBox="1">
              <a:spLocks noChangeArrowheads="1"/>
            </p:cNvSpPr>
            <p:nvPr/>
          </p:nvSpPr>
          <p:spPr bwMode="auto">
            <a:xfrm>
              <a:off x="1475" y="3207"/>
              <a:ext cx="215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  <a:sym typeface="Symbol" pitchFamily="18" charset="2"/>
                </a:rPr>
                <a:t></a:t>
              </a:r>
              <a:endParaRPr lang="pt-BR" altLang="pt-BR" sz="1600" i="1">
                <a:latin typeface="Times New Roman" pitchFamily="18" charset="0"/>
              </a:endParaRPr>
            </a:p>
          </p:txBody>
        </p:sp>
        <p:sp>
          <p:nvSpPr>
            <p:cNvPr id="11295" name="Text Box 110"/>
            <p:cNvSpPr txBox="1">
              <a:spLocks noChangeArrowheads="1"/>
            </p:cNvSpPr>
            <p:nvPr/>
          </p:nvSpPr>
          <p:spPr bwMode="auto">
            <a:xfrm>
              <a:off x="1378" y="2880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B</a:t>
              </a:r>
            </a:p>
          </p:txBody>
        </p:sp>
        <p:sp>
          <p:nvSpPr>
            <p:cNvPr id="11296" name="Text Box 111"/>
            <p:cNvSpPr txBox="1">
              <a:spLocks noChangeArrowheads="1"/>
            </p:cNvSpPr>
            <p:nvPr/>
          </p:nvSpPr>
          <p:spPr bwMode="auto">
            <a:xfrm>
              <a:off x="754" y="2304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</a:p>
          </p:txBody>
        </p:sp>
      </p:grpSp>
      <p:graphicFrame>
        <p:nvGraphicFramePr>
          <p:cNvPr id="11376" name="Object 112"/>
          <p:cNvGraphicFramePr>
            <a:graphicFrameLocks noChangeAspect="1"/>
          </p:cNvGraphicFramePr>
          <p:nvPr/>
        </p:nvGraphicFramePr>
        <p:xfrm>
          <a:off x="4191000" y="2963863"/>
          <a:ext cx="58102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418918" imgH="165028" progId="Equation.DSMT4">
                  <p:embed/>
                </p:oleObj>
              </mc:Choice>
              <mc:Fallback>
                <p:oleObj name="Equation" r:id="rId3" imgW="418918" imgH="165028" progId="Equation.DSMT4">
                  <p:embed/>
                  <p:pic>
                    <p:nvPicPr>
                      <p:cNvPr id="11376" name="Object 1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2963863"/>
                        <a:ext cx="581025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7" name="Object 113"/>
          <p:cNvGraphicFramePr>
            <a:graphicFrameLocks noChangeAspect="1"/>
          </p:cNvGraphicFramePr>
          <p:nvPr/>
        </p:nvGraphicFramePr>
        <p:xfrm>
          <a:off x="4191000" y="4600575"/>
          <a:ext cx="581025" cy="228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18918" imgH="165028" progId="Equation.DSMT4">
                  <p:embed/>
                </p:oleObj>
              </mc:Choice>
              <mc:Fallback>
                <p:oleObj name="Equation" r:id="rId5" imgW="418918" imgH="165028" progId="Equation.DSMT4">
                  <p:embed/>
                  <p:pic>
                    <p:nvPicPr>
                      <p:cNvPr id="11377" name="Object 1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1000" y="4600575"/>
                        <a:ext cx="581025" cy="228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8" name="Object 114"/>
          <p:cNvGraphicFramePr>
            <a:graphicFrameLocks noChangeAspect="1"/>
          </p:cNvGraphicFramePr>
          <p:nvPr/>
        </p:nvGraphicFramePr>
        <p:xfrm>
          <a:off x="4267200" y="6203950"/>
          <a:ext cx="211138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52334" imgH="190417" progId="Equation.DSMT4">
                  <p:embed/>
                </p:oleObj>
              </mc:Choice>
              <mc:Fallback>
                <p:oleObj name="Equation" r:id="rId7" imgW="152334" imgH="190417" progId="Equation.DSMT4">
                  <p:embed/>
                  <p:pic>
                    <p:nvPicPr>
                      <p:cNvPr id="11378" name="Object 1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267200" y="6203950"/>
                        <a:ext cx="211138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79" name="Object 115"/>
          <p:cNvGraphicFramePr>
            <a:graphicFrameLocks noChangeAspect="1"/>
          </p:cNvGraphicFramePr>
          <p:nvPr/>
        </p:nvGraphicFramePr>
        <p:xfrm>
          <a:off x="6969125" y="6203950"/>
          <a:ext cx="581025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419100" imgH="190500" progId="Equation.DSMT4">
                  <p:embed/>
                </p:oleObj>
              </mc:Choice>
              <mc:Fallback>
                <p:oleObj name="Equation" r:id="rId9" imgW="419100" imgH="190500" progId="Equation.DSMT4">
                  <p:embed/>
                  <p:pic>
                    <p:nvPicPr>
                      <p:cNvPr id="11379" name="Object 1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69125" y="6203950"/>
                        <a:ext cx="581025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80" name="Object 116"/>
          <p:cNvGraphicFramePr>
            <a:graphicFrameLocks noChangeAspect="1"/>
          </p:cNvGraphicFramePr>
          <p:nvPr/>
        </p:nvGraphicFramePr>
        <p:xfrm>
          <a:off x="6940550" y="2898775"/>
          <a:ext cx="581025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18918" imgH="203112" progId="Equation.DSMT4">
                  <p:embed/>
                </p:oleObj>
              </mc:Choice>
              <mc:Fallback>
                <p:oleObj name="Equation" r:id="rId11" imgW="418918" imgH="203112" progId="Equation.DSMT4">
                  <p:embed/>
                  <p:pic>
                    <p:nvPicPr>
                      <p:cNvPr id="11380" name="Object 1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0550" y="2898775"/>
                        <a:ext cx="581025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81" name="Object 117"/>
          <p:cNvGraphicFramePr>
            <a:graphicFrameLocks noChangeAspect="1"/>
          </p:cNvGraphicFramePr>
          <p:nvPr/>
        </p:nvGraphicFramePr>
        <p:xfrm>
          <a:off x="7550150" y="2916238"/>
          <a:ext cx="75565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45863" imgH="190417" progId="Equation.DSMT4">
                  <p:embed/>
                </p:oleObj>
              </mc:Choice>
              <mc:Fallback>
                <p:oleObj name="Equation" r:id="rId13" imgW="545863" imgH="190417" progId="Equation.DSMT4">
                  <p:embed/>
                  <p:pic>
                    <p:nvPicPr>
                      <p:cNvPr id="11381" name="Object 1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150" y="2916238"/>
                        <a:ext cx="755650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82" name="Object 118"/>
          <p:cNvGraphicFramePr>
            <a:graphicFrameLocks noChangeAspect="1"/>
          </p:cNvGraphicFramePr>
          <p:nvPr/>
        </p:nvGraphicFramePr>
        <p:xfrm>
          <a:off x="6940550" y="4537075"/>
          <a:ext cx="581025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418918" imgH="203112" progId="Equation.DSMT4">
                  <p:embed/>
                </p:oleObj>
              </mc:Choice>
              <mc:Fallback>
                <p:oleObj name="Equation" r:id="rId15" imgW="418918" imgH="203112" progId="Equation.DSMT4">
                  <p:embed/>
                  <p:pic>
                    <p:nvPicPr>
                      <p:cNvPr id="11382" name="Object 1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0550" y="4537075"/>
                        <a:ext cx="581025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383" name="Object 119"/>
          <p:cNvGraphicFramePr>
            <a:graphicFrameLocks noChangeAspect="1"/>
          </p:cNvGraphicFramePr>
          <p:nvPr/>
        </p:nvGraphicFramePr>
        <p:xfrm>
          <a:off x="7550150" y="4554538"/>
          <a:ext cx="755650" cy="263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545863" imgH="190417" progId="Equation.DSMT4">
                  <p:embed/>
                </p:oleObj>
              </mc:Choice>
              <mc:Fallback>
                <p:oleObj name="Equation" r:id="rId17" imgW="545863" imgH="190417" progId="Equation.DSMT4">
                  <p:embed/>
                  <p:pic>
                    <p:nvPicPr>
                      <p:cNvPr id="11383" name="Object 1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0150" y="4554538"/>
                        <a:ext cx="755650" cy="263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384" name="Text Box 120"/>
          <p:cNvSpPr txBox="1">
            <a:spLocks noChangeArrowheads="1"/>
          </p:cNvSpPr>
          <p:nvPr/>
        </p:nvSpPr>
        <p:spPr bwMode="auto">
          <a:xfrm>
            <a:off x="4143375" y="2368550"/>
            <a:ext cx="105410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FF3300"/>
                </a:solidFill>
                <a:latin typeface="Times New Roman" pitchFamily="18" charset="0"/>
              </a:rPr>
              <a:t>é </a:t>
            </a:r>
            <a:r>
              <a:rPr lang="pt-BR" altLang="pt-BR" sz="1600" b="1" i="1">
                <a:solidFill>
                  <a:srgbClr val="FF3300"/>
                </a:solidFill>
                <a:latin typeface="Times New Roman" pitchFamily="18" charset="0"/>
              </a:rPr>
              <a:t>A</a:t>
            </a:r>
            <a:r>
              <a:rPr lang="pt-BR" altLang="pt-BR" sz="1600" b="1">
                <a:solidFill>
                  <a:srgbClr val="FF3300"/>
                </a:solidFill>
                <a:latin typeface="Times New Roman" pitchFamily="18" charset="0"/>
              </a:rPr>
              <a:t> ou é </a:t>
            </a:r>
            <a:r>
              <a:rPr lang="pt-BR" altLang="pt-BR" sz="1600" b="1" i="1">
                <a:solidFill>
                  <a:srgbClr val="FF3300"/>
                </a:solidFill>
                <a:latin typeface="Times New Roman" pitchFamily="18" charset="0"/>
              </a:rPr>
              <a:t>B</a:t>
            </a:r>
            <a:endParaRPr lang="pt-BR" altLang="pt-BR" sz="16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1385" name="Text Box 121"/>
          <p:cNvSpPr txBox="1">
            <a:spLocks noChangeArrowheads="1"/>
          </p:cNvSpPr>
          <p:nvPr/>
        </p:nvSpPr>
        <p:spPr bwMode="auto">
          <a:xfrm>
            <a:off x="4143375" y="4005263"/>
            <a:ext cx="1681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FF3300"/>
                </a:solidFill>
                <a:latin typeface="Times New Roman" pitchFamily="18" charset="0"/>
              </a:rPr>
              <a:t>é </a:t>
            </a:r>
            <a:r>
              <a:rPr lang="pt-BR" altLang="pt-BR" sz="1600" b="1" i="1">
                <a:solidFill>
                  <a:srgbClr val="FF3300"/>
                </a:solidFill>
                <a:latin typeface="Times New Roman" pitchFamily="18" charset="0"/>
              </a:rPr>
              <a:t>A</a:t>
            </a:r>
            <a:r>
              <a:rPr lang="pt-BR" altLang="pt-BR" sz="1600" b="1">
                <a:solidFill>
                  <a:srgbClr val="FF3300"/>
                </a:solidFill>
                <a:latin typeface="Times New Roman" pitchFamily="18" charset="0"/>
              </a:rPr>
              <a:t> e </a:t>
            </a:r>
            <a:r>
              <a:rPr lang="pt-BR" altLang="pt-BR" sz="1600" b="1" i="1">
                <a:solidFill>
                  <a:srgbClr val="FF3300"/>
                </a:solidFill>
                <a:latin typeface="Times New Roman" pitchFamily="18" charset="0"/>
              </a:rPr>
              <a:t>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FF3300"/>
                </a:solidFill>
                <a:latin typeface="Times New Roman" pitchFamily="18" charset="0"/>
              </a:rPr>
              <a:t>simultaneamente</a:t>
            </a:r>
          </a:p>
        </p:txBody>
      </p:sp>
      <p:sp>
        <p:nvSpPr>
          <p:cNvPr id="11386" name="Text Box 122"/>
          <p:cNvSpPr txBox="1">
            <a:spLocks noChangeArrowheads="1"/>
          </p:cNvSpPr>
          <p:nvPr/>
        </p:nvSpPr>
        <p:spPr bwMode="auto">
          <a:xfrm>
            <a:off x="4143375" y="5643563"/>
            <a:ext cx="82550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FF3300"/>
                </a:solidFill>
                <a:latin typeface="Times New Roman" pitchFamily="18" charset="0"/>
              </a:rPr>
              <a:t>não é </a:t>
            </a:r>
            <a:r>
              <a:rPr lang="pt-BR" altLang="pt-BR" sz="1600" b="1" i="1">
                <a:solidFill>
                  <a:srgbClr val="FF3300"/>
                </a:solidFill>
                <a:latin typeface="Times New Roman" pitchFamily="18" charset="0"/>
              </a:rPr>
              <a:t>A</a:t>
            </a:r>
            <a:endParaRPr lang="pt-BR" altLang="pt-BR" sz="16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1387" name="Text Box 123"/>
          <p:cNvSpPr txBox="1">
            <a:spLocks noChangeArrowheads="1"/>
          </p:cNvSpPr>
          <p:nvPr/>
        </p:nvSpPr>
        <p:spPr bwMode="auto">
          <a:xfrm>
            <a:off x="6892925" y="5643563"/>
            <a:ext cx="12350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FF3300"/>
                </a:solidFill>
                <a:latin typeface="Times New Roman" pitchFamily="18" charset="0"/>
              </a:rPr>
              <a:t>é somente </a:t>
            </a:r>
            <a:r>
              <a:rPr lang="pt-BR" altLang="pt-BR" sz="1600" b="1" i="1">
                <a:solidFill>
                  <a:srgbClr val="FF3300"/>
                </a:solidFill>
                <a:latin typeface="Times New Roman" pitchFamily="18" charset="0"/>
              </a:rPr>
              <a:t>A</a:t>
            </a:r>
            <a:endParaRPr lang="pt-BR" altLang="pt-BR" sz="16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1388" name="Text Box 124"/>
          <p:cNvSpPr txBox="1">
            <a:spLocks noChangeArrowheads="1"/>
          </p:cNvSpPr>
          <p:nvPr/>
        </p:nvSpPr>
        <p:spPr bwMode="auto">
          <a:xfrm>
            <a:off x="6892925" y="2355850"/>
            <a:ext cx="12620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FF3300"/>
                </a:solidFill>
                <a:latin typeface="Times New Roman" pitchFamily="18" charset="0"/>
              </a:rPr>
              <a:t>não é nem </a:t>
            </a:r>
            <a:r>
              <a:rPr lang="pt-BR" altLang="pt-BR" sz="1600" b="1" i="1">
                <a:solidFill>
                  <a:srgbClr val="FF3300"/>
                </a:solidFill>
                <a:latin typeface="Times New Roman" pitchFamily="18" charset="0"/>
              </a:rPr>
              <a:t>A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FF3300"/>
                </a:solidFill>
                <a:latin typeface="Times New Roman" pitchFamily="18" charset="0"/>
              </a:rPr>
              <a:t>nem </a:t>
            </a:r>
            <a:r>
              <a:rPr lang="pt-BR" altLang="pt-BR" sz="1600" b="1" i="1">
                <a:solidFill>
                  <a:srgbClr val="FF3300"/>
                </a:solidFill>
                <a:latin typeface="Times New Roman" pitchFamily="18" charset="0"/>
              </a:rPr>
              <a:t>B</a:t>
            </a:r>
            <a:endParaRPr lang="pt-BR" altLang="pt-BR" sz="1600" b="1">
              <a:solidFill>
                <a:srgbClr val="FF3300"/>
              </a:solidFill>
              <a:latin typeface="Times New Roman" pitchFamily="18" charset="0"/>
            </a:endParaRPr>
          </a:p>
        </p:txBody>
      </p:sp>
      <p:sp>
        <p:nvSpPr>
          <p:cNvPr id="11389" name="Text Box 125"/>
          <p:cNvSpPr txBox="1">
            <a:spLocks noChangeArrowheads="1"/>
          </p:cNvSpPr>
          <p:nvPr/>
        </p:nvSpPr>
        <p:spPr bwMode="auto">
          <a:xfrm>
            <a:off x="6892925" y="3994150"/>
            <a:ext cx="1681163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 dirty="0">
                <a:solidFill>
                  <a:srgbClr val="FF3300"/>
                </a:solidFill>
                <a:latin typeface="Times New Roman" pitchFamily="18" charset="0"/>
              </a:rPr>
              <a:t>não é </a:t>
            </a:r>
            <a:r>
              <a:rPr lang="pt-BR" altLang="pt-BR" sz="1600" b="1" i="1" dirty="0">
                <a:solidFill>
                  <a:srgbClr val="FF3300"/>
                </a:solidFill>
                <a:latin typeface="Times New Roman" pitchFamily="18" charset="0"/>
              </a:rPr>
              <a:t>A</a:t>
            </a:r>
            <a:r>
              <a:rPr lang="pt-BR" altLang="pt-BR" sz="1600" b="1" dirty="0">
                <a:solidFill>
                  <a:srgbClr val="FF3300"/>
                </a:solidFill>
                <a:latin typeface="Times New Roman" pitchFamily="18" charset="0"/>
              </a:rPr>
              <a:t> e </a:t>
            </a:r>
            <a:r>
              <a:rPr lang="pt-BR" altLang="pt-BR" sz="1600" b="1" i="1" dirty="0">
                <a:solidFill>
                  <a:srgbClr val="FF3300"/>
                </a:solidFill>
                <a:latin typeface="Times New Roman" pitchFamily="18" charset="0"/>
              </a:rPr>
              <a:t>B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 dirty="0">
                <a:solidFill>
                  <a:srgbClr val="FF3300"/>
                </a:solidFill>
                <a:latin typeface="Times New Roman" pitchFamily="18" charset="0"/>
              </a:rPr>
              <a:t>simultaneamente</a:t>
            </a:r>
          </a:p>
        </p:txBody>
      </p:sp>
      <p:sp>
        <p:nvSpPr>
          <p:cNvPr id="8" name="Espaço Reservado para Número de Slide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8A699FB-1058-49B1-96F9-C2322503001B}" type="slidenum">
              <a:rPr lang="pt-BR"/>
              <a:pPr>
                <a:defRPr/>
              </a:pPr>
              <a:t>9</a:t>
            </a:fld>
            <a:endParaRPr lang="pt-BR"/>
          </a:p>
        </p:txBody>
      </p:sp>
      <p:sp>
        <p:nvSpPr>
          <p:cNvPr id="59" name="Text Box 120"/>
          <p:cNvSpPr txBox="1">
            <a:spLocks noChangeArrowheads="1"/>
          </p:cNvSpPr>
          <p:nvPr/>
        </p:nvSpPr>
        <p:spPr bwMode="auto">
          <a:xfrm>
            <a:off x="838200" y="2386013"/>
            <a:ext cx="2201863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b="1">
                <a:solidFill>
                  <a:srgbClr val="FF3300"/>
                </a:solidFill>
                <a:latin typeface="Times New Roman" pitchFamily="18" charset="0"/>
              </a:rPr>
              <a:t>O elemento escolhido...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84" grpId="0" autoUpdateAnimBg="0"/>
      <p:bldP spid="11385" grpId="0" autoUpdateAnimBg="0"/>
      <p:bldP spid="11386" grpId="0" autoUpdateAnimBg="0"/>
      <p:bldP spid="11387" grpId="0" autoUpdateAnimBg="0"/>
      <p:bldP spid="11388" grpId="0" autoUpdateAnimBg="0"/>
      <p:bldP spid="11389" grpId="0" autoUpdateAnimBg="0"/>
      <p:bldP spid="59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aphicFrame>
        <p:nvGraphicFramePr>
          <p:cNvPr id="12291" name="Object 43"/>
          <p:cNvGraphicFramePr>
            <a:graphicFrameLocks noChangeAspect="1"/>
          </p:cNvGraphicFramePr>
          <p:nvPr/>
        </p:nvGraphicFramePr>
        <p:xfrm>
          <a:off x="3505200" y="2895600"/>
          <a:ext cx="1600200" cy="1265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50531" imgH="672808" progId="Equation.DSMT4">
                  <p:embed/>
                </p:oleObj>
              </mc:Choice>
              <mc:Fallback>
                <p:oleObj name="Equation" r:id="rId2" imgW="850531" imgH="672808" progId="Equation.DSMT4">
                  <p:embed/>
                  <p:pic>
                    <p:nvPicPr>
                      <p:cNvPr id="12291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05200" y="2895600"/>
                        <a:ext cx="1600200" cy="1265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F0DD299-0055-4CA7-942B-C474647BD367}" type="slidenum">
              <a:rPr lang="pt-BR"/>
              <a:pPr>
                <a:defRPr/>
              </a:pPr>
              <a:t>10</a:t>
            </a:fld>
            <a:endParaRPr lang="pt-B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13315" name="Group 5"/>
          <p:cNvGrpSpPr>
            <a:grpSpLocks/>
          </p:cNvGrpSpPr>
          <p:nvPr/>
        </p:nvGrpSpPr>
        <p:grpSpPr bwMode="auto">
          <a:xfrm>
            <a:off x="914400" y="1447800"/>
            <a:ext cx="2743200" cy="1835150"/>
            <a:chOff x="2064" y="1488"/>
            <a:chExt cx="942" cy="630"/>
          </a:xfrm>
        </p:grpSpPr>
        <p:sp>
          <p:nvSpPr>
            <p:cNvPr id="13340" name="Rectangle 6"/>
            <p:cNvSpPr>
              <a:spLocks noChangeArrowheads="1"/>
            </p:cNvSpPr>
            <p:nvPr/>
          </p:nvSpPr>
          <p:spPr bwMode="auto">
            <a:xfrm>
              <a:off x="2064" y="1488"/>
              <a:ext cx="543" cy="6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3341" name="Oval 7" descr="Diagonal para cima clara"/>
            <p:cNvSpPr>
              <a:spLocks noChangeArrowheads="1"/>
            </p:cNvSpPr>
            <p:nvPr/>
          </p:nvSpPr>
          <p:spPr bwMode="auto">
            <a:xfrm>
              <a:off x="2151" y="1575"/>
              <a:ext cx="261" cy="30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3342" name="Oval 8" descr="Diagonal para cima clara"/>
            <p:cNvSpPr>
              <a:spLocks noChangeArrowheads="1"/>
            </p:cNvSpPr>
            <p:nvPr/>
          </p:nvSpPr>
          <p:spPr bwMode="auto">
            <a:xfrm>
              <a:off x="2303" y="1727"/>
              <a:ext cx="261" cy="30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3343" name="Oval 9" descr="Diagonal para cima clara"/>
            <p:cNvSpPr>
              <a:spLocks noChangeArrowheads="1"/>
            </p:cNvSpPr>
            <p:nvPr/>
          </p:nvSpPr>
          <p:spPr bwMode="auto">
            <a:xfrm>
              <a:off x="2150" y="1574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graphicFrame>
          <p:nvGraphicFramePr>
            <p:cNvPr id="13344" name="Object 10"/>
            <p:cNvGraphicFramePr>
              <a:graphicFrameLocks noChangeAspect="1"/>
            </p:cNvGraphicFramePr>
            <p:nvPr/>
          </p:nvGraphicFramePr>
          <p:xfrm>
            <a:off x="2640" y="1728"/>
            <a:ext cx="36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18918" imgH="165028" progId="Equation.DSMT4">
                    <p:embed/>
                  </p:oleObj>
                </mc:Choice>
                <mc:Fallback>
                  <p:oleObj name="Equation" r:id="rId3" imgW="418918" imgH="165028" progId="Equation.DSMT4">
                    <p:embed/>
                    <p:pic>
                      <p:nvPicPr>
                        <p:cNvPr id="13344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1728"/>
                          <a:ext cx="36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70676" name="Text Box 20"/>
          <p:cNvSpPr txBox="1">
            <a:spLocks noChangeArrowheads="1"/>
          </p:cNvSpPr>
          <p:nvPr/>
        </p:nvSpPr>
        <p:spPr bwMode="auto">
          <a:xfrm>
            <a:off x="3975100" y="1460500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Exemplo:</a:t>
            </a:r>
          </a:p>
        </p:txBody>
      </p:sp>
      <p:grpSp>
        <p:nvGrpSpPr>
          <p:cNvPr id="3" name="Group 34"/>
          <p:cNvGrpSpPr>
            <a:grpSpLocks/>
          </p:cNvGrpSpPr>
          <p:nvPr/>
        </p:nvGrpSpPr>
        <p:grpSpPr bwMode="auto">
          <a:xfrm>
            <a:off x="4067175" y="2133600"/>
            <a:ext cx="1152525" cy="1582738"/>
            <a:chOff x="2562" y="1344"/>
            <a:chExt cx="726" cy="997"/>
          </a:xfrm>
        </p:grpSpPr>
        <p:sp>
          <p:nvSpPr>
            <p:cNvPr id="13330" name="Freeform 21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3331" name="Oval 22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3332" name="Oval 23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3333" name="Oval 24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3334" name="Oval 25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3335" name="Rectangle 26"/>
            <p:cNvSpPr>
              <a:spLocks noChangeArrowheads="1"/>
            </p:cNvSpPr>
            <p:nvPr/>
          </p:nvSpPr>
          <p:spPr bwMode="auto">
            <a:xfrm>
              <a:off x="2608" y="2115"/>
              <a:ext cx="181" cy="181"/>
            </a:xfrm>
            <a:prstGeom prst="rect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3336" name="Rectangle 27"/>
            <p:cNvSpPr>
              <a:spLocks noChangeArrowheads="1"/>
            </p:cNvSpPr>
            <p:nvPr/>
          </p:nvSpPr>
          <p:spPr bwMode="auto">
            <a:xfrm>
              <a:off x="3061" y="1616"/>
              <a:ext cx="181" cy="181"/>
            </a:xfrm>
            <a:prstGeom prst="rect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3337" name="Rectangle 28"/>
            <p:cNvSpPr>
              <a:spLocks noChangeArrowheads="1"/>
            </p:cNvSpPr>
            <p:nvPr/>
          </p:nvSpPr>
          <p:spPr bwMode="auto">
            <a:xfrm>
              <a:off x="2789" y="1616"/>
              <a:ext cx="181" cy="1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3338" name="Rectangle 29"/>
            <p:cNvSpPr>
              <a:spLocks noChangeArrowheads="1"/>
            </p:cNvSpPr>
            <p:nvPr/>
          </p:nvSpPr>
          <p:spPr bwMode="auto">
            <a:xfrm>
              <a:off x="2608" y="1842"/>
              <a:ext cx="181" cy="1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3339" name="Rectangle 30"/>
            <p:cNvSpPr>
              <a:spLocks noChangeArrowheads="1"/>
            </p:cNvSpPr>
            <p:nvPr/>
          </p:nvSpPr>
          <p:spPr bwMode="auto">
            <a:xfrm>
              <a:off x="2835" y="2069"/>
              <a:ext cx="181" cy="1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35"/>
          <p:cNvGrpSpPr>
            <a:grpSpLocks/>
          </p:cNvGrpSpPr>
          <p:nvPr/>
        </p:nvGrpSpPr>
        <p:grpSpPr bwMode="auto">
          <a:xfrm>
            <a:off x="4643438" y="2060575"/>
            <a:ext cx="1800225" cy="1081088"/>
            <a:chOff x="2925" y="1298"/>
            <a:chExt cx="1134" cy="681"/>
          </a:xfrm>
        </p:grpSpPr>
        <p:cxnSp>
          <p:nvCxnSpPr>
            <p:cNvPr id="13328" name="AutoShape 32"/>
            <p:cNvCxnSpPr>
              <a:cxnSpLocks noChangeShapeType="1"/>
            </p:cNvCxnSpPr>
            <p:nvPr/>
          </p:nvCxnSpPr>
          <p:spPr bwMode="auto">
            <a:xfrm rot="5400000" flipV="1">
              <a:off x="3213" y="1010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329" name="Line 33"/>
            <p:cNvSpPr>
              <a:spLocks noChangeShapeType="1"/>
            </p:cNvSpPr>
            <p:nvPr/>
          </p:nvSpPr>
          <p:spPr bwMode="auto">
            <a:xfrm>
              <a:off x="3787" y="1979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sp>
        <p:nvSpPr>
          <p:cNvPr id="70692" name="Text Box 36"/>
          <p:cNvSpPr txBox="1">
            <a:spLocks noChangeArrowheads="1"/>
          </p:cNvSpPr>
          <p:nvPr/>
        </p:nvSpPr>
        <p:spPr bwMode="auto">
          <a:xfrm>
            <a:off x="6640513" y="1676400"/>
            <a:ext cx="2252662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probabilidade do objeto selecionado ser quadrado ou ser vermelho?</a:t>
            </a:r>
          </a:p>
        </p:txBody>
      </p:sp>
      <p:graphicFrame>
        <p:nvGraphicFramePr>
          <p:cNvPr id="70693" name="Object 37"/>
          <p:cNvGraphicFramePr>
            <a:graphicFrameLocks noChangeAspect="1"/>
          </p:cNvGraphicFramePr>
          <p:nvPr/>
        </p:nvGraphicFramePr>
        <p:xfrm>
          <a:off x="5580063" y="3500438"/>
          <a:ext cx="2490787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39900" imgH="203200" progId="Equation.DSMT4">
                  <p:embed/>
                </p:oleObj>
              </mc:Choice>
              <mc:Fallback>
                <p:oleObj name="Equation" r:id="rId5" imgW="1739900" imgH="203200" progId="Equation.DSMT4">
                  <p:embed/>
                  <p:pic>
                    <p:nvPicPr>
                      <p:cNvPr id="70693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500438"/>
                        <a:ext cx="2490787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94" name="Object 38"/>
          <p:cNvGraphicFramePr>
            <a:graphicFrameLocks noChangeAspect="1"/>
          </p:cNvGraphicFramePr>
          <p:nvPr/>
        </p:nvGraphicFramePr>
        <p:xfrm>
          <a:off x="7878763" y="3354388"/>
          <a:ext cx="3810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469" imgH="393359" progId="Equation.DSMT4">
                  <p:embed/>
                </p:oleObj>
              </mc:Choice>
              <mc:Fallback>
                <p:oleObj name="Equation" r:id="rId7" imgW="266469" imgH="393359" progId="Equation.DSMT4">
                  <p:embed/>
                  <p:pic>
                    <p:nvPicPr>
                      <p:cNvPr id="70694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8763" y="3354388"/>
                        <a:ext cx="3810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95" name="Object 39"/>
          <p:cNvGraphicFramePr>
            <a:graphicFrameLocks noChangeAspect="1"/>
          </p:cNvGraphicFramePr>
          <p:nvPr/>
        </p:nvGraphicFramePr>
        <p:xfrm>
          <a:off x="885825" y="4578350"/>
          <a:ext cx="50546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530600" imgH="203200" progId="Equation.DSMT4">
                  <p:embed/>
                </p:oleObj>
              </mc:Choice>
              <mc:Fallback>
                <p:oleObj name="Equation" r:id="rId9" imgW="3530600" imgH="203200" progId="Equation.DSMT4">
                  <p:embed/>
                  <p:pic>
                    <p:nvPicPr>
                      <p:cNvPr id="70695" name="Object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4578350"/>
                        <a:ext cx="50546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0696" name="Object 40"/>
          <p:cNvGraphicFramePr>
            <a:graphicFrameLocks noChangeAspect="1"/>
          </p:cNvGraphicFramePr>
          <p:nvPr/>
        </p:nvGraphicFramePr>
        <p:xfrm>
          <a:off x="3187700" y="5013325"/>
          <a:ext cx="1563688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091726" imgH="393529" progId="Equation.DSMT4">
                  <p:embed/>
                </p:oleObj>
              </mc:Choice>
              <mc:Fallback>
                <p:oleObj name="Equation" r:id="rId11" imgW="1091726" imgH="393529" progId="Equation.DSMT4">
                  <p:embed/>
                  <p:pic>
                    <p:nvPicPr>
                      <p:cNvPr id="70696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87700" y="5013325"/>
                        <a:ext cx="1563688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43"/>
          <p:cNvGrpSpPr>
            <a:grpSpLocks/>
          </p:cNvGrpSpPr>
          <p:nvPr/>
        </p:nvGrpSpPr>
        <p:grpSpPr bwMode="auto">
          <a:xfrm>
            <a:off x="3341688" y="5013325"/>
            <a:ext cx="1368425" cy="576263"/>
            <a:chOff x="2018" y="3158"/>
            <a:chExt cx="635" cy="363"/>
          </a:xfrm>
        </p:grpSpPr>
        <p:sp>
          <p:nvSpPr>
            <p:cNvPr id="13326" name="Line 41"/>
            <p:cNvSpPr>
              <a:spLocks noChangeShapeType="1"/>
            </p:cNvSpPr>
            <p:nvPr/>
          </p:nvSpPr>
          <p:spPr bwMode="auto">
            <a:xfrm>
              <a:off x="2018" y="3158"/>
              <a:ext cx="635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3327" name="Line 42"/>
            <p:cNvSpPr>
              <a:spLocks noChangeShapeType="1"/>
            </p:cNvSpPr>
            <p:nvPr/>
          </p:nvSpPr>
          <p:spPr bwMode="auto">
            <a:xfrm flipH="1">
              <a:off x="2018" y="3158"/>
              <a:ext cx="635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748A087A-A51B-4FF3-BD27-2E16AE5973D5}" type="slidenum">
              <a:rPr lang="pt-BR"/>
              <a:pPr>
                <a:defRPr/>
              </a:pPr>
              <a:t>11</a:t>
            </a:fld>
            <a:endParaRPr lang="pt-BR"/>
          </a:p>
        </p:txBody>
      </p:sp>
      <p:grpSp>
        <p:nvGrpSpPr>
          <p:cNvPr id="6" name="Group 43">
            <a:extLst>
              <a:ext uri="{FF2B5EF4-FFF2-40B4-BE49-F238E27FC236}">
                <a16:creationId xmlns:a16="http://schemas.microsoft.com/office/drawing/2014/main" id="{939EDE33-94A8-879B-1775-621ED85724CD}"/>
              </a:ext>
            </a:extLst>
          </p:cNvPr>
          <p:cNvGrpSpPr>
            <a:grpSpLocks/>
          </p:cNvGrpSpPr>
          <p:nvPr/>
        </p:nvGrpSpPr>
        <p:grpSpPr bwMode="auto">
          <a:xfrm>
            <a:off x="3491881" y="4578350"/>
            <a:ext cx="2448544" cy="278175"/>
            <a:chOff x="2018" y="3158"/>
            <a:chExt cx="635" cy="363"/>
          </a:xfrm>
        </p:grpSpPr>
        <p:sp>
          <p:nvSpPr>
            <p:cNvPr id="7" name="Line 41">
              <a:extLst>
                <a:ext uri="{FF2B5EF4-FFF2-40B4-BE49-F238E27FC236}">
                  <a16:creationId xmlns:a16="http://schemas.microsoft.com/office/drawing/2014/main" id="{DB54137B-FFA9-A4E7-C4E1-5D294C2E54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8" y="3158"/>
              <a:ext cx="635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8" name="Line 42">
              <a:extLst>
                <a:ext uri="{FF2B5EF4-FFF2-40B4-BE49-F238E27FC236}">
                  <a16:creationId xmlns:a16="http://schemas.microsoft.com/office/drawing/2014/main" id="{F0422AF9-6512-A36E-48FD-6C19F060D8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8" y="3158"/>
              <a:ext cx="635" cy="363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676" grpId="0"/>
      <p:bldP spid="7069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14339" name="Group 3"/>
          <p:cNvGrpSpPr>
            <a:grpSpLocks/>
          </p:cNvGrpSpPr>
          <p:nvPr/>
        </p:nvGrpSpPr>
        <p:grpSpPr bwMode="auto">
          <a:xfrm>
            <a:off x="914400" y="1447800"/>
            <a:ext cx="2743200" cy="1835150"/>
            <a:chOff x="2064" y="1488"/>
            <a:chExt cx="942" cy="630"/>
          </a:xfrm>
        </p:grpSpPr>
        <p:sp>
          <p:nvSpPr>
            <p:cNvPr id="14362" name="Rectangle 4"/>
            <p:cNvSpPr>
              <a:spLocks noChangeArrowheads="1"/>
            </p:cNvSpPr>
            <p:nvPr/>
          </p:nvSpPr>
          <p:spPr bwMode="auto">
            <a:xfrm>
              <a:off x="2064" y="1488"/>
              <a:ext cx="543" cy="6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4363" name="Oval 5" descr="Diagonal para cima clara"/>
            <p:cNvSpPr>
              <a:spLocks noChangeArrowheads="1"/>
            </p:cNvSpPr>
            <p:nvPr/>
          </p:nvSpPr>
          <p:spPr bwMode="auto">
            <a:xfrm>
              <a:off x="2151" y="1575"/>
              <a:ext cx="261" cy="30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4364" name="Oval 6" descr="Diagonal para cima clara"/>
            <p:cNvSpPr>
              <a:spLocks noChangeArrowheads="1"/>
            </p:cNvSpPr>
            <p:nvPr/>
          </p:nvSpPr>
          <p:spPr bwMode="auto">
            <a:xfrm>
              <a:off x="2303" y="1727"/>
              <a:ext cx="261" cy="30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4365" name="Oval 7" descr="Diagonal para cima clara"/>
            <p:cNvSpPr>
              <a:spLocks noChangeArrowheads="1"/>
            </p:cNvSpPr>
            <p:nvPr/>
          </p:nvSpPr>
          <p:spPr bwMode="auto">
            <a:xfrm>
              <a:off x="2150" y="1574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graphicFrame>
          <p:nvGraphicFramePr>
            <p:cNvPr id="14366" name="Object 8"/>
            <p:cNvGraphicFramePr>
              <a:graphicFrameLocks noChangeAspect="1"/>
            </p:cNvGraphicFramePr>
            <p:nvPr/>
          </p:nvGraphicFramePr>
          <p:xfrm>
            <a:off x="2640" y="1728"/>
            <a:ext cx="36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18918" imgH="165028" progId="Equation.DSMT4">
                    <p:embed/>
                  </p:oleObj>
                </mc:Choice>
                <mc:Fallback>
                  <p:oleObj name="Equation" r:id="rId3" imgW="418918" imgH="165028" progId="Equation.DSMT4">
                    <p:embed/>
                    <p:pic>
                      <p:nvPicPr>
                        <p:cNvPr id="14366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1728"/>
                          <a:ext cx="36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40" name="Text Box 9"/>
          <p:cNvSpPr txBox="1">
            <a:spLocks noChangeArrowheads="1"/>
          </p:cNvSpPr>
          <p:nvPr/>
        </p:nvSpPr>
        <p:spPr bwMode="auto">
          <a:xfrm>
            <a:off x="3975100" y="1460500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Exemplo:</a:t>
            </a:r>
          </a:p>
        </p:txBody>
      </p:sp>
      <p:grpSp>
        <p:nvGrpSpPr>
          <p:cNvPr id="14341" name="Group 10"/>
          <p:cNvGrpSpPr>
            <a:grpSpLocks/>
          </p:cNvGrpSpPr>
          <p:nvPr/>
        </p:nvGrpSpPr>
        <p:grpSpPr bwMode="auto">
          <a:xfrm>
            <a:off x="4067175" y="2133600"/>
            <a:ext cx="1152525" cy="1582738"/>
            <a:chOff x="2562" y="1344"/>
            <a:chExt cx="726" cy="997"/>
          </a:xfrm>
        </p:grpSpPr>
        <p:sp>
          <p:nvSpPr>
            <p:cNvPr id="14352" name="Freeform 11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4353" name="Oval 12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4354" name="Oval 13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4355" name="Oval 14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4356" name="Oval 15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4357" name="Rectangle 16"/>
            <p:cNvSpPr>
              <a:spLocks noChangeArrowheads="1"/>
            </p:cNvSpPr>
            <p:nvPr/>
          </p:nvSpPr>
          <p:spPr bwMode="auto">
            <a:xfrm>
              <a:off x="2608" y="2115"/>
              <a:ext cx="181" cy="181"/>
            </a:xfrm>
            <a:prstGeom prst="rect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4358" name="Rectangle 17"/>
            <p:cNvSpPr>
              <a:spLocks noChangeArrowheads="1"/>
            </p:cNvSpPr>
            <p:nvPr/>
          </p:nvSpPr>
          <p:spPr bwMode="auto">
            <a:xfrm>
              <a:off x="3061" y="1616"/>
              <a:ext cx="181" cy="181"/>
            </a:xfrm>
            <a:prstGeom prst="rect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4359" name="Rectangle 18"/>
            <p:cNvSpPr>
              <a:spLocks noChangeArrowheads="1"/>
            </p:cNvSpPr>
            <p:nvPr/>
          </p:nvSpPr>
          <p:spPr bwMode="auto">
            <a:xfrm>
              <a:off x="2789" y="1616"/>
              <a:ext cx="181" cy="1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4360" name="Rectangle 19"/>
            <p:cNvSpPr>
              <a:spLocks noChangeArrowheads="1"/>
            </p:cNvSpPr>
            <p:nvPr/>
          </p:nvSpPr>
          <p:spPr bwMode="auto">
            <a:xfrm>
              <a:off x="2608" y="1842"/>
              <a:ext cx="181" cy="1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4361" name="Rectangle 20"/>
            <p:cNvSpPr>
              <a:spLocks noChangeArrowheads="1"/>
            </p:cNvSpPr>
            <p:nvPr/>
          </p:nvSpPr>
          <p:spPr bwMode="auto">
            <a:xfrm>
              <a:off x="2835" y="2069"/>
              <a:ext cx="181" cy="181"/>
            </a:xfrm>
            <a:prstGeom prst="rect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14342" name="Group 21"/>
          <p:cNvGrpSpPr>
            <a:grpSpLocks/>
          </p:cNvGrpSpPr>
          <p:nvPr/>
        </p:nvGrpSpPr>
        <p:grpSpPr bwMode="auto">
          <a:xfrm>
            <a:off x="4643438" y="2060575"/>
            <a:ext cx="1800225" cy="1081088"/>
            <a:chOff x="2925" y="1298"/>
            <a:chExt cx="1134" cy="681"/>
          </a:xfrm>
        </p:grpSpPr>
        <p:cxnSp>
          <p:nvCxnSpPr>
            <p:cNvPr id="14350" name="AutoShape 22"/>
            <p:cNvCxnSpPr>
              <a:cxnSpLocks noChangeShapeType="1"/>
            </p:cNvCxnSpPr>
            <p:nvPr/>
          </p:nvCxnSpPr>
          <p:spPr bwMode="auto">
            <a:xfrm rot="5400000" flipV="1">
              <a:off x="3213" y="1010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4351" name="Line 23"/>
            <p:cNvSpPr>
              <a:spLocks noChangeShapeType="1"/>
            </p:cNvSpPr>
            <p:nvPr/>
          </p:nvSpPr>
          <p:spPr bwMode="auto">
            <a:xfrm>
              <a:off x="3787" y="1979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sp>
        <p:nvSpPr>
          <p:cNvPr id="14343" name="Text Box 24"/>
          <p:cNvSpPr txBox="1">
            <a:spLocks noChangeArrowheads="1"/>
          </p:cNvSpPr>
          <p:nvPr/>
        </p:nvSpPr>
        <p:spPr bwMode="auto">
          <a:xfrm>
            <a:off x="6640513" y="1676400"/>
            <a:ext cx="2252662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Qual a probabilidade do objeto selecionado ser quadrado ou ser vermelho?</a:t>
            </a:r>
          </a:p>
        </p:txBody>
      </p:sp>
      <p:graphicFrame>
        <p:nvGraphicFramePr>
          <p:cNvPr id="14344" name="Object 25"/>
          <p:cNvGraphicFramePr>
            <a:graphicFrameLocks noChangeAspect="1"/>
          </p:cNvGraphicFramePr>
          <p:nvPr/>
        </p:nvGraphicFramePr>
        <p:xfrm>
          <a:off x="5580063" y="3500438"/>
          <a:ext cx="2490787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39900" imgH="203200" progId="Equation.DSMT4">
                  <p:embed/>
                </p:oleObj>
              </mc:Choice>
              <mc:Fallback>
                <p:oleObj name="Equation" r:id="rId5" imgW="1739900" imgH="203200" progId="Equation.DSMT4">
                  <p:embed/>
                  <p:pic>
                    <p:nvPicPr>
                      <p:cNvPr id="14344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80063" y="3500438"/>
                        <a:ext cx="2490787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5" name="Object 26"/>
          <p:cNvGraphicFramePr>
            <a:graphicFrameLocks noChangeAspect="1"/>
          </p:cNvGraphicFramePr>
          <p:nvPr/>
        </p:nvGraphicFramePr>
        <p:xfrm>
          <a:off x="7878763" y="3354388"/>
          <a:ext cx="3810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66469" imgH="393359" progId="Equation.DSMT4">
                  <p:embed/>
                </p:oleObj>
              </mc:Choice>
              <mc:Fallback>
                <p:oleObj name="Equation" r:id="rId7" imgW="266469" imgH="393359" progId="Equation.DSMT4">
                  <p:embed/>
                  <p:pic>
                    <p:nvPicPr>
                      <p:cNvPr id="14345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8763" y="3354388"/>
                        <a:ext cx="3810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6" name="Object 27"/>
          <p:cNvGraphicFramePr>
            <a:graphicFrameLocks noChangeAspect="1"/>
          </p:cNvGraphicFramePr>
          <p:nvPr/>
        </p:nvGraphicFramePr>
        <p:xfrm>
          <a:off x="885825" y="4578350"/>
          <a:ext cx="5054600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530600" imgH="203200" progId="Equation.DSMT4">
                  <p:embed/>
                </p:oleObj>
              </mc:Choice>
              <mc:Fallback>
                <p:oleObj name="Equation" r:id="rId9" imgW="3530600" imgH="203200" progId="Equation.DSMT4">
                  <p:embed/>
                  <p:pic>
                    <p:nvPicPr>
                      <p:cNvPr id="14346" name="Object 2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4578350"/>
                        <a:ext cx="5054600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2732" name="Object 28"/>
          <p:cNvGraphicFramePr>
            <a:graphicFrameLocks noChangeAspect="1"/>
          </p:cNvGraphicFramePr>
          <p:nvPr/>
        </p:nvGraphicFramePr>
        <p:xfrm>
          <a:off x="3203575" y="5013325"/>
          <a:ext cx="14001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977476" imgH="393529" progId="Equation.DSMT4">
                  <p:embed/>
                </p:oleObj>
              </mc:Choice>
              <mc:Fallback>
                <p:oleObj name="Equation" r:id="rId11" imgW="977476" imgH="393529" progId="Equation.DSMT4">
                  <p:embed/>
                  <p:pic>
                    <p:nvPicPr>
                      <p:cNvPr id="72732" name="Object 2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03575" y="5013325"/>
                        <a:ext cx="14001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348" name="Object 32"/>
          <p:cNvGraphicFramePr>
            <a:graphicFrameLocks noChangeAspect="1"/>
          </p:cNvGraphicFramePr>
          <p:nvPr/>
        </p:nvGraphicFramePr>
        <p:xfrm>
          <a:off x="5907088" y="4581525"/>
          <a:ext cx="245427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714500" imgH="203200" progId="Equation.DSMT4">
                  <p:embed/>
                </p:oleObj>
              </mc:Choice>
              <mc:Fallback>
                <p:oleObj name="Equation" r:id="rId13" imgW="1714500" imgH="203200" progId="Equation.DSMT4">
                  <p:embed/>
                  <p:pic>
                    <p:nvPicPr>
                      <p:cNvPr id="1434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07088" y="4581525"/>
                        <a:ext cx="2454275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184C7B0-9013-451E-A4FD-98B0028E4C73}" type="slidenum">
              <a:rPr lang="pt-BR"/>
              <a:pPr>
                <a:defRPr/>
              </a:pPr>
              <a:t>12</a:t>
            </a:fld>
            <a:endParaRPr lang="pt-BR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15363" name="Group 4"/>
          <p:cNvGrpSpPr>
            <a:grpSpLocks/>
          </p:cNvGrpSpPr>
          <p:nvPr/>
        </p:nvGrpSpPr>
        <p:grpSpPr bwMode="auto">
          <a:xfrm>
            <a:off x="914400" y="1447800"/>
            <a:ext cx="2743200" cy="1835150"/>
            <a:chOff x="2064" y="1488"/>
            <a:chExt cx="942" cy="630"/>
          </a:xfrm>
        </p:grpSpPr>
        <p:sp>
          <p:nvSpPr>
            <p:cNvPr id="15379" name="Rectangle 5"/>
            <p:cNvSpPr>
              <a:spLocks noChangeArrowheads="1"/>
            </p:cNvSpPr>
            <p:nvPr/>
          </p:nvSpPr>
          <p:spPr bwMode="auto">
            <a:xfrm>
              <a:off x="2064" y="1488"/>
              <a:ext cx="543" cy="6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5380" name="Oval 6" descr="Diagonal para cima clara"/>
            <p:cNvSpPr>
              <a:spLocks noChangeArrowheads="1"/>
            </p:cNvSpPr>
            <p:nvPr/>
          </p:nvSpPr>
          <p:spPr bwMode="auto">
            <a:xfrm>
              <a:off x="2151" y="1575"/>
              <a:ext cx="261" cy="30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5381" name="Oval 7" descr="Diagonal para cima clara"/>
            <p:cNvSpPr>
              <a:spLocks noChangeArrowheads="1"/>
            </p:cNvSpPr>
            <p:nvPr/>
          </p:nvSpPr>
          <p:spPr bwMode="auto">
            <a:xfrm>
              <a:off x="2303" y="1727"/>
              <a:ext cx="261" cy="304"/>
            </a:xfrm>
            <a:prstGeom prst="ellipse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5382" name="Oval 8" descr="Diagonal para cima clara"/>
            <p:cNvSpPr>
              <a:spLocks noChangeArrowheads="1"/>
            </p:cNvSpPr>
            <p:nvPr/>
          </p:nvSpPr>
          <p:spPr bwMode="auto">
            <a:xfrm>
              <a:off x="2150" y="1574"/>
              <a:ext cx="261" cy="30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graphicFrame>
          <p:nvGraphicFramePr>
            <p:cNvPr id="15383" name="Object 9"/>
            <p:cNvGraphicFramePr>
              <a:graphicFrameLocks noChangeAspect="1"/>
            </p:cNvGraphicFramePr>
            <p:nvPr/>
          </p:nvGraphicFramePr>
          <p:xfrm>
            <a:off x="2640" y="1728"/>
            <a:ext cx="36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18918" imgH="165028" progId="Equation.DSMT4">
                    <p:embed/>
                  </p:oleObj>
                </mc:Choice>
                <mc:Fallback>
                  <p:oleObj name="Equation" r:id="rId3" imgW="418918" imgH="165028" progId="Equation.DSMT4">
                    <p:embed/>
                    <p:pic>
                      <p:nvPicPr>
                        <p:cNvPr id="15383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1728"/>
                          <a:ext cx="36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5364" name="Group 19"/>
          <p:cNvGrpSpPr>
            <a:grpSpLocks/>
          </p:cNvGrpSpPr>
          <p:nvPr/>
        </p:nvGrpSpPr>
        <p:grpSpPr bwMode="auto">
          <a:xfrm>
            <a:off x="2057400" y="3505200"/>
            <a:ext cx="4724400" cy="762000"/>
            <a:chOff x="1296" y="2208"/>
            <a:chExt cx="2976" cy="480"/>
          </a:xfrm>
        </p:grpSpPr>
        <p:graphicFrame>
          <p:nvGraphicFramePr>
            <p:cNvPr id="15376" name="Object 5"/>
            <p:cNvGraphicFramePr>
              <a:graphicFrameLocks noChangeAspect="1"/>
            </p:cNvGraphicFramePr>
            <p:nvPr/>
          </p:nvGraphicFramePr>
          <p:xfrm>
            <a:off x="1440" y="2352"/>
            <a:ext cx="1851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5" imgW="1562100" imgH="203200" progId="Equation.DSMT4">
                    <p:embed/>
                  </p:oleObj>
                </mc:Choice>
                <mc:Fallback>
                  <p:oleObj name="Equation" r:id="rId5" imgW="1562100" imgH="203200" progId="Equation.DSMT4">
                    <p:embed/>
                    <p:pic>
                      <p:nvPicPr>
                        <p:cNvPr id="15376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40" y="2352"/>
                          <a:ext cx="1851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377" name="Object 10"/>
            <p:cNvGraphicFramePr>
              <a:graphicFrameLocks noChangeAspect="1"/>
            </p:cNvGraphicFramePr>
            <p:nvPr/>
          </p:nvGraphicFramePr>
          <p:xfrm>
            <a:off x="3264" y="2352"/>
            <a:ext cx="858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7" imgW="723586" imgH="203112" progId="Equation.DSMT4">
                    <p:embed/>
                  </p:oleObj>
                </mc:Choice>
                <mc:Fallback>
                  <p:oleObj name="Equation" r:id="rId7" imgW="723586" imgH="203112" progId="Equation.DSMT4">
                    <p:embed/>
                    <p:pic>
                      <p:nvPicPr>
                        <p:cNvPr id="15377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64" y="2352"/>
                          <a:ext cx="858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8" name="Rectangle 11"/>
            <p:cNvSpPr>
              <a:spLocks noChangeArrowheads="1"/>
            </p:cNvSpPr>
            <p:nvPr/>
          </p:nvSpPr>
          <p:spPr bwMode="auto">
            <a:xfrm>
              <a:off x="1296" y="2208"/>
              <a:ext cx="2976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12"/>
          <p:cNvGrpSpPr>
            <a:grpSpLocks/>
          </p:cNvGrpSpPr>
          <p:nvPr/>
        </p:nvGrpSpPr>
        <p:grpSpPr bwMode="auto">
          <a:xfrm>
            <a:off x="990600" y="4495800"/>
            <a:ext cx="6985000" cy="1835150"/>
            <a:chOff x="624" y="2832"/>
            <a:chExt cx="4400" cy="1156"/>
          </a:xfrm>
        </p:grpSpPr>
        <p:grpSp>
          <p:nvGrpSpPr>
            <p:cNvPr id="15370" name="Group 13"/>
            <p:cNvGrpSpPr>
              <a:grpSpLocks/>
            </p:cNvGrpSpPr>
            <p:nvPr/>
          </p:nvGrpSpPr>
          <p:grpSpPr bwMode="auto">
            <a:xfrm>
              <a:off x="624" y="2832"/>
              <a:ext cx="996" cy="1156"/>
              <a:chOff x="624" y="2832"/>
              <a:chExt cx="996" cy="1156"/>
            </a:xfrm>
          </p:grpSpPr>
          <p:sp>
            <p:nvSpPr>
              <p:cNvPr id="15373" name="Rectangle 14"/>
              <p:cNvSpPr>
                <a:spLocks noChangeArrowheads="1"/>
              </p:cNvSpPr>
              <p:nvPr/>
            </p:nvSpPr>
            <p:spPr bwMode="auto">
              <a:xfrm>
                <a:off x="624" y="2832"/>
                <a:ext cx="996" cy="1156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5374" name="Oval 15" descr="Diagonal para cima clara"/>
              <p:cNvSpPr>
                <a:spLocks noChangeArrowheads="1"/>
              </p:cNvSpPr>
              <p:nvPr/>
            </p:nvSpPr>
            <p:spPr bwMode="auto">
              <a:xfrm>
                <a:off x="720" y="2928"/>
                <a:ext cx="478" cy="557"/>
              </a:xfrm>
              <a:prstGeom prst="ellipse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5375" name="Oval 16" descr="Diagonal para cima clara"/>
              <p:cNvSpPr>
                <a:spLocks noChangeArrowheads="1"/>
              </p:cNvSpPr>
              <p:nvPr/>
            </p:nvSpPr>
            <p:spPr bwMode="auto">
              <a:xfrm>
                <a:off x="1104" y="3360"/>
                <a:ext cx="479" cy="557"/>
              </a:xfrm>
              <a:prstGeom prst="ellipse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graphicFrame>
          <p:nvGraphicFramePr>
            <p:cNvPr id="15371" name="Object 17"/>
            <p:cNvGraphicFramePr>
              <a:graphicFrameLocks noChangeAspect="1"/>
            </p:cNvGraphicFramePr>
            <p:nvPr/>
          </p:nvGraphicFramePr>
          <p:xfrm>
            <a:off x="1728" y="3264"/>
            <a:ext cx="3296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781300" imgH="203200" progId="Equation.DSMT4">
                    <p:embed/>
                  </p:oleObj>
                </mc:Choice>
                <mc:Fallback>
                  <p:oleObj name="Equation" r:id="rId9" imgW="2781300" imgH="203200" progId="Equation.DSMT4">
                    <p:embed/>
                    <p:pic>
                      <p:nvPicPr>
                        <p:cNvPr id="15371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28" y="3264"/>
                          <a:ext cx="3296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2" name="Text Box 18"/>
            <p:cNvSpPr txBox="1">
              <a:spLocks noChangeArrowheads="1"/>
            </p:cNvSpPr>
            <p:nvPr/>
          </p:nvSpPr>
          <p:spPr bwMode="auto">
            <a:xfrm>
              <a:off x="1696" y="3582"/>
              <a:ext cx="207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3300"/>
                  </a:solidFill>
                  <a:latin typeface="Tahoma" panose="020B0604030504040204" pitchFamily="34" charset="0"/>
                </a:rPr>
                <a:t>(eventos mutuamente exclusivos)</a:t>
              </a:r>
            </a:p>
          </p:txBody>
        </p:sp>
      </p:grpSp>
      <p:graphicFrame>
        <p:nvGraphicFramePr>
          <p:cNvPr id="21" name="Object 3"/>
          <p:cNvGraphicFramePr>
            <a:graphicFrameLocks noChangeAspect="1"/>
          </p:cNvGraphicFramePr>
          <p:nvPr/>
        </p:nvGraphicFramePr>
        <p:xfrm>
          <a:off x="3770313" y="2643188"/>
          <a:ext cx="523081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81300" imgH="228600" progId="Equation.DSMT4">
                  <p:embed/>
                </p:oleObj>
              </mc:Choice>
              <mc:Fallback>
                <p:oleObj name="Equation" r:id="rId11" imgW="2781300" imgH="228600" progId="Equation.DSMT4">
                  <p:embed/>
                  <p:pic>
                    <p:nvPicPr>
                      <p:cNvPr id="21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70313" y="2643188"/>
                        <a:ext cx="5230812" cy="4302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Rectangle 11"/>
          <p:cNvSpPr>
            <a:spLocks noChangeArrowheads="1"/>
          </p:cNvSpPr>
          <p:nvPr/>
        </p:nvSpPr>
        <p:spPr bwMode="auto">
          <a:xfrm>
            <a:off x="2500313" y="6096000"/>
            <a:ext cx="4724400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graphicFrame>
        <p:nvGraphicFramePr>
          <p:cNvPr id="24" name="Object 20"/>
          <p:cNvGraphicFramePr>
            <a:graphicFrameLocks noChangeAspect="1"/>
          </p:cNvGraphicFramePr>
          <p:nvPr/>
        </p:nvGraphicFramePr>
        <p:xfrm>
          <a:off x="3786188" y="2143125"/>
          <a:ext cx="36068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917700" imgH="228600" progId="Equation.DSMT4">
                  <p:embed/>
                </p:oleObj>
              </mc:Choice>
              <mc:Fallback>
                <p:oleObj name="Equation" r:id="rId13" imgW="1917700" imgH="228600" progId="Equation.DSMT4">
                  <p:embed/>
                  <p:pic>
                    <p:nvPicPr>
                      <p:cNvPr id="2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6188" y="2143125"/>
                        <a:ext cx="36068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203D1B-776C-4C91-B298-05E125730E15}" type="slidenum">
              <a:rPr lang="pt-BR"/>
              <a:pPr>
                <a:defRPr/>
              </a:pPr>
              <a:t>13</a:t>
            </a:fld>
            <a:endParaRPr lang="pt-BR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16" name="Text Box 80"/>
          <p:cNvSpPr txBox="1">
            <a:spLocks noChangeArrowheads="1"/>
          </p:cNvSpPr>
          <p:nvPr/>
        </p:nvSpPr>
        <p:spPr bwMode="auto">
          <a:xfrm>
            <a:off x="5895975" y="4557713"/>
            <a:ext cx="4090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11</a:t>
            </a:r>
          </a:p>
        </p:txBody>
      </p:sp>
      <p:sp>
        <p:nvSpPr>
          <p:cNvPr id="14417" name="Text Box 81"/>
          <p:cNvSpPr txBox="1">
            <a:spLocks noChangeArrowheads="1"/>
          </p:cNvSpPr>
          <p:nvPr/>
        </p:nvSpPr>
        <p:spPr bwMode="auto">
          <a:xfrm>
            <a:off x="6388100" y="4559300"/>
            <a:ext cx="40908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10</a:t>
            </a:r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16389" name="Group 20"/>
          <p:cNvGrpSpPr>
            <a:grpSpLocks/>
          </p:cNvGrpSpPr>
          <p:nvPr/>
        </p:nvGrpSpPr>
        <p:grpSpPr bwMode="auto">
          <a:xfrm>
            <a:off x="914400" y="1465263"/>
            <a:ext cx="2667000" cy="1784350"/>
            <a:chOff x="2064" y="2256"/>
            <a:chExt cx="942" cy="630"/>
          </a:xfrm>
        </p:grpSpPr>
        <p:grpSp>
          <p:nvGrpSpPr>
            <p:cNvPr id="16432" name="Group 21"/>
            <p:cNvGrpSpPr>
              <a:grpSpLocks/>
            </p:cNvGrpSpPr>
            <p:nvPr/>
          </p:nvGrpSpPr>
          <p:grpSpPr bwMode="auto">
            <a:xfrm>
              <a:off x="2064" y="2256"/>
              <a:ext cx="543" cy="630"/>
              <a:chOff x="1968" y="2160"/>
              <a:chExt cx="543" cy="630"/>
            </a:xfrm>
          </p:grpSpPr>
          <p:sp>
            <p:nvSpPr>
              <p:cNvPr id="16435" name="Rectangle 22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543" cy="6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6436" name="Oval 23"/>
              <p:cNvSpPr>
                <a:spLocks noChangeArrowheads="1"/>
              </p:cNvSpPr>
              <p:nvPr/>
            </p:nvSpPr>
            <p:spPr bwMode="auto">
              <a:xfrm>
                <a:off x="2055" y="2247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6437" name="Oval 24"/>
              <p:cNvSpPr>
                <a:spLocks noChangeArrowheads="1"/>
              </p:cNvSpPr>
              <p:nvPr/>
            </p:nvSpPr>
            <p:spPr bwMode="auto">
              <a:xfrm>
                <a:off x="2207" y="2399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6433" name="Freeform 25" descr="Diagonal para cima clara"/>
            <p:cNvSpPr>
              <a:spLocks/>
            </p:cNvSpPr>
            <p:nvPr/>
          </p:nvSpPr>
          <p:spPr bwMode="auto">
            <a:xfrm>
              <a:off x="2304" y="2498"/>
              <a:ext cx="109" cy="145"/>
            </a:xfrm>
            <a:custGeom>
              <a:avLst/>
              <a:gdLst>
                <a:gd name="T0" fmla="*/ 0 w 109"/>
                <a:gd name="T1" fmla="*/ 145 h 145"/>
                <a:gd name="T2" fmla="*/ 3 w 109"/>
                <a:gd name="T3" fmla="*/ 105 h 145"/>
                <a:gd name="T4" fmla="*/ 16 w 109"/>
                <a:gd name="T5" fmla="*/ 73 h 145"/>
                <a:gd name="T6" fmla="*/ 30 w 109"/>
                <a:gd name="T7" fmla="*/ 49 h 145"/>
                <a:gd name="T8" fmla="*/ 53 w 109"/>
                <a:gd name="T9" fmla="*/ 25 h 145"/>
                <a:gd name="T10" fmla="*/ 77 w 109"/>
                <a:gd name="T11" fmla="*/ 9 h 145"/>
                <a:gd name="T12" fmla="*/ 99 w 109"/>
                <a:gd name="T13" fmla="*/ 0 h 145"/>
                <a:gd name="T14" fmla="*/ 109 w 109"/>
                <a:gd name="T15" fmla="*/ 0 h 145"/>
                <a:gd name="T16" fmla="*/ 106 w 109"/>
                <a:gd name="T17" fmla="*/ 27 h 145"/>
                <a:gd name="T18" fmla="*/ 99 w 109"/>
                <a:gd name="T19" fmla="*/ 56 h 145"/>
                <a:gd name="T20" fmla="*/ 86 w 109"/>
                <a:gd name="T21" fmla="*/ 80 h 145"/>
                <a:gd name="T22" fmla="*/ 72 w 109"/>
                <a:gd name="T23" fmla="*/ 104 h 145"/>
                <a:gd name="T24" fmla="*/ 51 w 109"/>
                <a:gd name="T25" fmla="*/ 124 h 145"/>
                <a:gd name="T26" fmla="*/ 24 w 109"/>
                <a:gd name="T27" fmla="*/ 137 h 145"/>
                <a:gd name="T28" fmla="*/ 14 w 109"/>
                <a:gd name="T29" fmla="*/ 144 h 145"/>
                <a:gd name="T30" fmla="*/ 0 w 109"/>
                <a:gd name="T31" fmla="*/ 145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aphicFrame>
          <p:nvGraphicFramePr>
            <p:cNvPr id="16434" name="Object 26"/>
            <p:cNvGraphicFramePr>
              <a:graphicFrameLocks noChangeAspect="1"/>
            </p:cNvGraphicFramePr>
            <p:nvPr/>
          </p:nvGraphicFramePr>
          <p:xfrm>
            <a:off x="2640" y="2496"/>
            <a:ext cx="36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18918" imgH="165028" progId="Equation.DSMT4">
                    <p:embed/>
                  </p:oleObj>
                </mc:Choice>
                <mc:Fallback>
                  <p:oleObj name="Equation" r:id="rId3" imgW="418918" imgH="165028" progId="Equation.DSMT4">
                    <p:embed/>
                    <p:pic>
                      <p:nvPicPr>
                        <p:cNvPr id="16434" name="Object 2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496"/>
                          <a:ext cx="36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4364" name="Text Box 28"/>
          <p:cNvSpPr txBox="1">
            <a:spLocks noChangeArrowheads="1"/>
          </p:cNvSpPr>
          <p:nvPr/>
        </p:nvSpPr>
        <p:spPr bwMode="auto">
          <a:xfrm>
            <a:off x="3975100" y="1460500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Exemplo:</a:t>
            </a:r>
          </a:p>
        </p:txBody>
      </p:sp>
      <p:sp>
        <p:nvSpPr>
          <p:cNvPr id="14379" name="Text Box 43"/>
          <p:cNvSpPr txBox="1">
            <a:spLocks noChangeArrowheads="1"/>
          </p:cNvSpPr>
          <p:nvPr/>
        </p:nvSpPr>
        <p:spPr bwMode="auto">
          <a:xfrm>
            <a:off x="6640513" y="1676400"/>
            <a:ext cx="22526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probabilidade de escolher dois objetos vermelhos (sem reposição)?</a:t>
            </a:r>
          </a:p>
        </p:txBody>
      </p:sp>
      <p:grpSp>
        <p:nvGrpSpPr>
          <p:cNvPr id="4" name="Group 52"/>
          <p:cNvGrpSpPr>
            <a:grpSpLocks/>
          </p:cNvGrpSpPr>
          <p:nvPr/>
        </p:nvGrpSpPr>
        <p:grpSpPr bwMode="auto">
          <a:xfrm>
            <a:off x="3995738" y="2208213"/>
            <a:ext cx="1152525" cy="1582737"/>
            <a:chOff x="2562" y="1344"/>
            <a:chExt cx="726" cy="997"/>
          </a:xfrm>
        </p:grpSpPr>
        <p:sp>
          <p:nvSpPr>
            <p:cNvPr id="16420" name="Freeform 30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6421" name="Oval 31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22" name="Oval 32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23" name="Oval 33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24" name="Oval 34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25" name="Oval 44"/>
            <p:cNvSpPr>
              <a:spLocks noChangeArrowheads="1"/>
            </p:cNvSpPr>
            <p:nvPr/>
          </p:nvSpPr>
          <p:spPr bwMode="auto">
            <a:xfrm>
              <a:off x="2653" y="1616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26" name="Oval 45"/>
            <p:cNvSpPr>
              <a:spLocks noChangeArrowheads="1"/>
            </p:cNvSpPr>
            <p:nvPr/>
          </p:nvSpPr>
          <p:spPr bwMode="auto">
            <a:xfrm>
              <a:off x="3080" y="153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27" name="Oval 46"/>
            <p:cNvSpPr>
              <a:spLocks noChangeArrowheads="1"/>
            </p:cNvSpPr>
            <p:nvPr/>
          </p:nvSpPr>
          <p:spPr bwMode="auto">
            <a:xfrm>
              <a:off x="2607" y="18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28" name="Oval 47"/>
            <p:cNvSpPr>
              <a:spLocks noChangeArrowheads="1"/>
            </p:cNvSpPr>
            <p:nvPr/>
          </p:nvSpPr>
          <p:spPr bwMode="auto">
            <a:xfrm>
              <a:off x="2880" y="1616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29" name="Oval 48"/>
            <p:cNvSpPr>
              <a:spLocks noChangeArrowheads="1"/>
            </p:cNvSpPr>
            <p:nvPr/>
          </p:nvSpPr>
          <p:spPr bwMode="auto">
            <a:xfrm>
              <a:off x="3061" y="1797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30" name="Oval 49"/>
            <p:cNvSpPr>
              <a:spLocks noChangeArrowheads="1"/>
            </p:cNvSpPr>
            <p:nvPr/>
          </p:nvSpPr>
          <p:spPr bwMode="auto">
            <a:xfrm>
              <a:off x="2608" y="2115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31" name="Oval 51"/>
            <p:cNvSpPr>
              <a:spLocks noChangeArrowheads="1"/>
            </p:cNvSpPr>
            <p:nvPr/>
          </p:nvSpPr>
          <p:spPr bwMode="auto">
            <a:xfrm>
              <a:off x="2835" y="206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5" name="Group 60"/>
          <p:cNvGrpSpPr>
            <a:grpSpLocks/>
          </p:cNvGrpSpPr>
          <p:nvPr/>
        </p:nvGrpSpPr>
        <p:grpSpPr bwMode="auto">
          <a:xfrm>
            <a:off x="4356100" y="2133600"/>
            <a:ext cx="2376488" cy="938213"/>
            <a:chOff x="2608" y="1434"/>
            <a:chExt cx="1497" cy="591"/>
          </a:xfrm>
        </p:grpSpPr>
        <p:cxnSp>
          <p:nvCxnSpPr>
            <p:cNvPr id="16416" name="AutoShape 41"/>
            <p:cNvCxnSpPr>
              <a:cxnSpLocks noChangeShapeType="1"/>
            </p:cNvCxnSpPr>
            <p:nvPr/>
          </p:nvCxnSpPr>
          <p:spPr bwMode="auto">
            <a:xfrm rot="5400000" flipV="1">
              <a:off x="2896" y="1147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417" name="Line 42"/>
            <p:cNvSpPr>
              <a:spLocks noChangeShapeType="1"/>
            </p:cNvSpPr>
            <p:nvPr/>
          </p:nvSpPr>
          <p:spPr bwMode="auto">
            <a:xfrm>
              <a:off x="3470" y="202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6418" name="Line 53"/>
            <p:cNvSpPr>
              <a:spLocks noChangeShapeType="1"/>
            </p:cNvSpPr>
            <p:nvPr/>
          </p:nvSpPr>
          <p:spPr bwMode="auto">
            <a:xfrm>
              <a:off x="3833" y="202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cxnSp>
          <p:nvCxnSpPr>
            <p:cNvPr id="16419" name="AutoShape 54"/>
            <p:cNvCxnSpPr>
              <a:cxnSpLocks noChangeShapeType="1"/>
            </p:cNvCxnSpPr>
            <p:nvPr/>
          </p:nvCxnSpPr>
          <p:spPr bwMode="auto">
            <a:xfrm rot="5400000" flipV="1">
              <a:off x="3214" y="1146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4395" name="Object 59"/>
          <p:cNvGraphicFramePr>
            <a:graphicFrameLocks noChangeAspect="1"/>
          </p:cNvGraphicFramePr>
          <p:nvPr/>
        </p:nvGraphicFramePr>
        <p:xfrm>
          <a:off x="5545138" y="3482975"/>
          <a:ext cx="2562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700" imgH="228600" progId="Equation.DSMT4">
                  <p:embed/>
                </p:oleObj>
              </mc:Choice>
              <mc:Fallback>
                <p:oleObj name="Equation" r:id="rId5" imgW="1790700" imgH="228600" progId="Equation.DSMT4">
                  <p:embed/>
                  <p:pic>
                    <p:nvPicPr>
                      <p:cNvPr id="14395" name="Object 5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138" y="3482975"/>
                        <a:ext cx="25622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410" name="Object 7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9141613"/>
              </p:ext>
            </p:extLst>
          </p:nvPr>
        </p:nvGraphicFramePr>
        <p:xfrm>
          <a:off x="7926388" y="3354388"/>
          <a:ext cx="3619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DSMT4">
                  <p:embed/>
                </p:oleObj>
              </mc:Choice>
              <mc:Fallback>
                <p:oleObj name="Equation" r:id="rId7" imgW="253890" imgH="393529" progId="Equation.DSMT4">
                  <p:embed/>
                  <p:pic>
                    <p:nvPicPr>
                      <p:cNvPr id="14410" name="Object 7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26388" y="3354388"/>
                        <a:ext cx="361950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79"/>
          <p:cNvGrpSpPr>
            <a:grpSpLocks/>
          </p:cNvGrpSpPr>
          <p:nvPr/>
        </p:nvGrpSpPr>
        <p:grpSpPr bwMode="auto">
          <a:xfrm>
            <a:off x="5940425" y="4581525"/>
            <a:ext cx="792163" cy="288925"/>
            <a:chOff x="3696" y="2886"/>
            <a:chExt cx="499" cy="182"/>
          </a:xfrm>
        </p:grpSpPr>
        <p:sp>
          <p:nvSpPr>
            <p:cNvPr id="16414" name="Oval 63"/>
            <p:cNvSpPr>
              <a:spLocks noChangeArrowheads="1"/>
            </p:cNvSpPr>
            <p:nvPr/>
          </p:nvSpPr>
          <p:spPr bwMode="auto">
            <a:xfrm>
              <a:off x="3696" y="2886"/>
              <a:ext cx="181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15" name="Oval 75"/>
            <p:cNvSpPr>
              <a:spLocks noChangeArrowheads="1"/>
            </p:cNvSpPr>
            <p:nvPr/>
          </p:nvSpPr>
          <p:spPr bwMode="auto">
            <a:xfrm>
              <a:off x="4014" y="2886"/>
              <a:ext cx="181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oup 78"/>
          <p:cNvGrpSpPr>
            <a:grpSpLocks/>
          </p:cNvGrpSpPr>
          <p:nvPr/>
        </p:nvGrpSpPr>
        <p:grpSpPr bwMode="auto">
          <a:xfrm>
            <a:off x="6948488" y="3662363"/>
            <a:ext cx="1352550" cy="846137"/>
            <a:chOff x="4377" y="2307"/>
            <a:chExt cx="852" cy="533"/>
          </a:xfrm>
        </p:grpSpPr>
        <p:sp>
          <p:nvSpPr>
            <p:cNvPr id="16412" name="Oval 76"/>
            <p:cNvSpPr>
              <a:spLocks noChangeArrowheads="1"/>
            </p:cNvSpPr>
            <p:nvPr/>
          </p:nvSpPr>
          <p:spPr bwMode="auto">
            <a:xfrm>
              <a:off x="5093" y="2307"/>
              <a:ext cx="136" cy="181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13" name="Line 77"/>
            <p:cNvSpPr>
              <a:spLocks noChangeShapeType="1"/>
            </p:cNvSpPr>
            <p:nvPr/>
          </p:nvSpPr>
          <p:spPr bwMode="auto">
            <a:xfrm flipH="1">
              <a:off x="4377" y="2432"/>
              <a:ext cx="726" cy="40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sp>
        <p:nvSpPr>
          <p:cNvPr id="14419" name="Oval 83"/>
          <p:cNvSpPr>
            <a:spLocks noChangeArrowheads="1"/>
          </p:cNvSpPr>
          <p:nvPr/>
        </p:nvSpPr>
        <p:spPr bwMode="auto">
          <a:xfrm>
            <a:off x="5940425" y="5661025"/>
            <a:ext cx="287338" cy="28892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grpSp>
        <p:nvGrpSpPr>
          <p:cNvPr id="8" name="Group 95"/>
          <p:cNvGrpSpPr>
            <a:grpSpLocks/>
          </p:cNvGrpSpPr>
          <p:nvPr/>
        </p:nvGrpSpPr>
        <p:grpSpPr bwMode="auto">
          <a:xfrm>
            <a:off x="6300788" y="4941888"/>
            <a:ext cx="1422400" cy="1582737"/>
            <a:chOff x="3969" y="3113"/>
            <a:chExt cx="896" cy="997"/>
          </a:xfrm>
        </p:grpSpPr>
        <p:sp>
          <p:nvSpPr>
            <p:cNvPr id="16402" name="Line 86"/>
            <p:cNvSpPr>
              <a:spLocks noChangeShapeType="1"/>
            </p:cNvSpPr>
            <p:nvPr/>
          </p:nvSpPr>
          <p:spPr bwMode="auto">
            <a:xfrm flipV="1">
              <a:off x="3969" y="3521"/>
              <a:ext cx="226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6403" name="Line 87"/>
            <p:cNvSpPr>
              <a:spLocks noChangeShapeType="1"/>
            </p:cNvSpPr>
            <p:nvPr/>
          </p:nvSpPr>
          <p:spPr bwMode="auto">
            <a:xfrm>
              <a:off x="3969" y="3657"/>
              <a:ext cx="226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6404" name="Line 88"/>
            <p:cNvSpPr>
              <a:spLocks noChangeShapeType="1"/>
            </p:cNvSpPr>
            <p:nvPr/>
          </p:nvSpPr>
          <p:spPr bwMode="auto">
            <a:xfrm flipV="1">
              <a:off x="3969" y="3339"/>
              <a:ext cx="226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pSp>
          <p:nvGrpSpPr>
            <p:cNvPr id="16405" name="Group 92"/>
            <p:cNvGrpSpPr>
              <a:grpSpLocks/>
            </p:cNvGrpSpPr>
            <p:nvPr/>
          </p:nvGrpSpPr>
          <p:grpSpPr bwMode="auto">
            <a:xfrm>
              <a:off x="4241" y="3158"/>
              <a:ext cx="181" cy="908"/>
              <a:chOff x="4241" y="3158"/>
              <a:chExt cx="181" cy="908"/>
            </a:xfrm>
          </p:grpSpPr>
          <p:sp>
            <p:nvSpPr>
              <p:cNvPr id="16408" name="Oval 84"/>
              <p:cNvSpPr>
                <a:spLocks noChangeArrowheads="1"/>
              </p:cNvSpPr>
              <p:nvPr/>
            </p:nvSpPr>
            <p:spPr bwMode="auto">
              <a:xfrm>
                <a:off x="4241" y="3158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6409" name="Oval 89"/>
              <p:cNvSpPr>
                <a:spLocks noChangeArrowheads="1"/>
              </p:cNvSpPr>
              <p:nvPr/>
            </p:nvSpPr>
            <p:spPr bwMode="auto">
              <a:xfrm>
                <a:off x="4241" y="3385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6410" name="Text Box 90"/>
              <p:cNvSpPr txBox="1">
                <a:spLocks noChangeArrowheads="1"/>
              </p:cNvSpPr>
              <p:nvPr/>
            </p:nvSpPr>
            <p:spPr bwMode="auto">
              <a:xfrm>
                <a:off x="4260" y="3599"/>
                <a:ext cx="151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lnSpc>
                    <a:spcPct val="5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400">
                    <a:latin typeface="Tahoma" panose="020B0604030504040204" pitchFamily="34" charset="0"/>
                  </a:rPr>
                  <a:t>.</a:t>
                </a:r>
              </a:p>
              <a:p>
                <a:pPr eaLnBrk="1" hangingPunct="1">
                  <a:lnSpc>
                    <a:spcPct val="5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400">
                    <a:latin typeface="Tahoma" panose="020B0604030504040204" pitchFamily="34" charset="0"/>
                  </a:rPr>
                  <a:t>.</a:t>
                </a:r>
              </a:p>
              <a:p>
                <a:pPr eaLnBrk="1" hangingPunct="1">
                  <a:lnSpc>
                    <a:spcPct val="5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400">
                    <a:latin typeface="Tahoma" panose="020B0604030504040204" pitchFamily="34" charset="0"/>
                  </a:rPr>
                  <a:t>.</a:t>
                </a:r>
              </a:p>
            </p:txBody>
          </p:sp>
          <p:sp>
            <p:nvSpPr>
              <p:cNvPr id="16411" name="Oval 91"/>
              <p:cNvSpPr>
                <a:spLocks noChangeArrowheads="1"/>
              </p:cNvSpPr>
              <p:nvPr/>
            </p:nvSpPr>
            <p:spPr bwMode="auto">
              <a:xfrm>
                <a:off x="4241" y="3884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6406" name="AutoShape 93"/>
            <p:cNvSpPr>
              <a:spLocks/>
            </p:cNvSpPr>
            <p:nvPr/>
          </p:nvSpPr>
          <p:spPr bwMode="auto">
            <a:xfrm>
              <a:off x="4513" y="3113"/>
              <a:ext cx="136" cy="997"/>
            </a:xfrm>
            <a:prstGeom prst="rightBrace">
              <a:avLst>
                <a:gd name="adj1" fmla="val 6109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6407" name="Text Box 94"/>
            <p:cNvSpPr txBox="1">
              <a:spLocks noChangeArrowheads="1"/>
            </p:cNvSpPr>
            <p:nvPr/>
          </p:nvSpPr>
          <p:spPr bwMode="auto">
            <a:xfrm>
              <a:off x="4682" y="3506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14433" name="Oval 97"/>
          <p:cNvSpPr>
            <a:spLocks noChangeArrowheads="1"/>
          </p:cNvSpPr>
          <p:nvPr/>
        </p:nvSpPr>
        <p:spPr bwMode="auto">
          <a:xfrm>
            <a:off x="4140200" y="2276475"/>
            <a:ext cx="287338" cy="288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D12D00C-2358-431F-8C23-41967477D7E8}" type="slidenum">
              <a:rPr lang="pt-BR"/>
              <a:pPr>
                <a:defRPr/>
              </a:pPr>
              <a:t>14</a:t>
            </a:fld>
            <a:endParaRPr lang="pt-BR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16" grpId="0"/>
      <p:bldP spid="14417" grpId="0"/>
      <p:bldP spid="14364" grpId="0"/>
      <p:bldP spid="14379" grpId="0"/>
      <p:bldP spid="14419" grpId="0" animBg="1"/>
      <p:bldP spid="144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ext Box 2"/>
          <p:cNvSpPr txBox="1">
            <a:spLocks noChangeArrowheads="1"/>
          </p:cNvSpPr>
          <p:nvPr/>
        </p:nvSpPr>
        <p:spPr bwMode="auto">
          <a:xfrm>
            <a:off x="5926138" y="4557713"/>
            <a:ext cx="307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6</a:t>
            </a:r>
          </a:p>
        </p:txBody>
      </p:sp>
      <p:sp>
        <p:nvSpPr>
          <p:cNvPr id="74755" name="Text Box 3"/>
          <p:cNvSpPr txBox="1">
            <a:spLocks noChangeArrowheads="1"/>
          </p:cNvSpPr>
          <p:nvPr/>
        </p:nvSpPr>
        <p:spPr bwMode="auto">
          <a:xfrm>
            <a:off x="6434138" y="4559300"/>
            <a:ext cx="307975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74756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17413" name="Group 5"/>
          <p:cNvGrpSpPr>
            <a:grpSpLocks/>
          </p:cNvGrpSpPr>
          <p:nvPr/>
        </p:nvGrpSpPr>
        <p:grpSpPr bwMode="auto">
          <a:xfrm>
            <a:off x="914400" y="1465263"/>
            <a:ext cx="2667000" cy="1784350"/>
            <a:chOff x="2064" y="2256"/>
            <a:chExt cx="942" cy="630"/>
          </a:xfrm>
        </p:grpSpPr>
        <p:grpSp>
          <p:nvGrpSpPr>
            <p:cNvPr id="17456" name="Group 6"/>
            <p:cNvGrpSpPr>
              <a:grpSpLocks/>
            </p:cNvGrpSpPr>
            <p:nvPr/>
          </p:nvGrpSpPr>
          <p:grpSpPr bwMode="auto">
            <a:xfrm>
              <a:off x="2064" y="2256"/>
              <a:ext cx="543" cy="630"/>
              <a:chOff x="1968" y="2160"/>
              <a:chExt cx="543" cy="630"/>
            </a:xfrm>
          </p:grpSpPr>
          <p:sp>
            <p:nvSpPr>
              <p:cNvPr id="17459" name="Rectangle 7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543" cy="6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460" name="Oval 8"/>
              <p:cNvSpPr>
                <a:spLocks noChangeArrowheads="1"/>
              </p:cNvSpPr>
              <p:nvPr/>
            </p:nvSpPr>
            <p:spPr bwMode="auto">
              <a:xfrm>
                <a:off x="2055" y="2247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461" name="Oval 9"/>
              <p:cNvSpPr>
                <a:spLocks noChangeArrowheads="1"/>
              </p:cNvSpPr>
              <p:nvPr/>
            </p:nvSpPr>
            <p:spPr bwMode="auto">
              <a:xfrm>
                <a:off x="2207" y="2399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7457" name="Freeform 10" descr="Diagonal para cima clara"/>
            <p:cNvSpPr>
              <a:spLocks/>
            </p:cNvSpPr>
            <p:nvPr/>
          </p:nvSpPr>
          <p:spPr bwMode="auto">
            <a:xfrm>
              <a:off x="2304" y="2498"/>
              <a:ext cx="109" cy="145"/>
            </a:xfrm>
            <a:custGeom>
              <a:avLst/>
              <a:gdLst>
                <a:gd name="T0" fmla="*/ 0 w 109"/>
                <a:gd name="T1" fmla="*/ 145 h 145"/>
                <a:gd name="T2" fmla="*/ 3 w 109"/>
                <a:gd name="T3" fmla="*/ 105 h 145"/>
                <a:gd name="T4" fmla="*/ 16 w 109"/>
                <a:gd name="T5" fmla="*/ 73 h 145"/>
                <a:gd name="T6" fmla="*/ 30 w 109"/>
                <a:gd name="T7" fmla="*/ 49 h 145"/>
                <a:gd name="T8" fmla="*/ 53 w 109"/>
                <a:gd name="T9" fmla="*/ 25 h 145"/>
                <a:gd name="T10" fmla="*/ 77 w 109"/>
                <a:gd name="T11" fmla="*/ 9 h 145"/>
                <a:gd name="T12" fmla="*/ 99 w 109"/>
                <a:gd name="T13" fmla="*/ 0 h 145"/>
                <a:gd name="T14" fmla="*/ 109 w 109"/>
                <a:gd name="T15" fmla="*/ 0 h 145"/>
                <a:gd name="T16" fmla="*/ 106 w 109"/>
                <a:gd name="T17" fmla="*/ 27 h 145"/>
                <a:gd name="T18" fmla="*/ 99 w 109"/>
                <a:gd name="T19" fmla="*/ 56 h 145"/>
                <a:gd name="T20" fmla="*/ 86 w 109"/>
                <a:gd name="T21" fmla="*/ 80 h 145"/>
                <a:gd name="T22" fmla="*/ 72 w 109"/>
                <a:gd name="T23" fmla="*/ 104 h 145"/>
                <a:gd name="T24" fmla="*/ 51 w 109"/>
                <a:gd name="T25" fmla="*/ 124 h 145"/>
                <a:gd name="T26" fmla="*/ 24 w 109"/>
                <a:gd name="T27" fmla="*/ 137 h 145"/>
                <a:gd name="T28" fmla="*/ 14 w 109"/>
                <a:gd name="T29" fmla="*/ 144 h 145"/>
                <a:gd name="T30" fmla="*/ 0 w 109"/>
                <a:gd name="T31" fmla="*/ 145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aphicFrame>
          <p:nvGraphicFramePr>
            <p:cNvPr id="17458" name="Object 11"/>
            <p:cNvGraphicFramePr>
              <a:graphicFrameLocks noChangeAspect="1"/>
            </p:cNvGraphicFramePr>
            <p:nvPr/>
          </p:nvGraphicFramePr>
          <p:xfrm>
            <a:off x="2640" y="2496"/>
            <a:ext cx="36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18918" imgH="165028" progId="Equation.DSMT4">
                    <p:embed/>
                  </p:oleObj>
                </mc:Choice>
                <mc:Fallback>
                  <p:oleObj name="Equation" r:id="rId3" imgW="418918" imgH="165028" progId="Equation.DSMT4">
                    <p:embed/>
                    <p:pic>
                      <p:nvPicPr>
                        <p:cNvPr id="17458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496"/>
                          <a:ext cx="36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4" name="Text Box 12"/>
          <p:cNvSpPr txBox="1">
            <a:spLocks noChangeArrowheads="1"/>
          </p:cNvSpPr>
          <p:nvPr/>
        </p:nvSpPr>
        <p:spPr bwMode="auto">
          <a:xfrm>
            <a:off x="3975100" y="1460500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Exemplo:</a:t>
            </a:r>
          </a:p>
        </p:txBody>
      </p:sp>
      <p:grpSp>
        <p:nvGrpSpPr>
          <p:cNvPr id="17416" name="Group 14"/>
          <p:cNvGrpSpPr>
            <a:grpSpLocks/>
          </p:cNvGrpSpPr>
          <p:nvPr/>
        </p:nvGrpSpPr>
        <p:grpSpPr bwMode="auto">
          <a:xfrm>
            <a:off x="3995738" y="2208213"/>
            <a:ext cx="1152525" cy="1582737"/>
            <a:chOff x="2562" y="1344"/>
            <a:chExt cx="726" cy="997"/>
          </a:xfrm>
        </p:grpSpPr>
        <p:sp>
          <p:nvSpPr>
            <p:cNvPr id="17444" name="Freeform 15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7445" name="Oval 16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46" name="Oval 17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47" name="Oval 18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48" name="Oval 19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49" name="Oval 20"/>
            <p:cNvSpPr>
              <a:spLocks noChangeArrowheads="1"/>
            </p:cNvSpPr>
            <p:nvPr/>
          </p:nvSpPr>
          <p:spPr bwMode="auto">
            <a:xfrm>
              <a:off x="2653" y="1616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50" name="Oval 21"/>
            <p:cNvSpPr>
              <a:spLocks noChangeArrowheads="1"/>
            </p:cNvSpPr>
            <p:nvPr/>
          </p:nvSpPr>
          <p:spPr bwMode="auto">
            <a:xfrm>
              <a:off x="3080" y="153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51" name="Oval 22"/>
            <p:cNvSpPr>
              <a:spLocks noChangeArrowheads="1"/>
            </p:cNvSpPr>
            <p:nvPr/>
          </p:nvSpPr>
          <p:spPr bwMode="auto">
            <a:xfrm>
              <a:off x="2607" y="18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52" name="Oval 23"/>
            <p:cNvSpPr>
              <a:spLocks noChangeArrowheads="1"/>
            </p:cNvSpPr>
            <p:nvPr/>
          </p:nvSpPr>
          <p:spPr bwMode="auto">
            <a:xfrm>
              <a:off x="2880" y="1616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53" name="Oval 24"/>
            <p:cNvSpPr>
              <a:spLocks noChangeArrowheads="1"/>
            </p:cNvSpPr>
            <p:nvPr/>
          </p:nvSpPr>
          <p:spPr bwMode="auto">
            <a:xfrm>
              <a:off x="3061" y="1797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54" name="Oval 25"/>
            <p:cNvSpPr>
              <a:spLocks noChangeArrowheads="1"/>
            </p:cNvSpPr>
            <p:nvPr/>
          </p:nvSpPr>
          <p:spPr bwMode="auto">
            <a:xfrm>
              <a:off x="2608" y="2115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55" name="Oval 26"/>
            <p:cNvSpPr>
              <a:spLocks noChangeArrowheads="1"/>
            </p:cNvSpPr>
            <p:nvPr/>
          </p:nvSpPr>
          <p:spPr bwMode="auto">
            <a:xfrm>
              <a:off x="2835" y="206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17417" name="Group 27"/>
          <p:cNvGrpSpPr>
            <a:grpSpLocks/>
          </p:cNvGrpSpPr>
          <p:nvPr/>
        </p:nvGrpSpPr>
        <p:grpSpPr bwMode="auto">
          <a:xfrm>
            <a:off x="4356100" y="2133600"/>
            <a:ext cx="2376488" cy="938213"/>
            <a:chOff x="2608" y="1434"/>
            <a:chExt cx="1497" cy="591"/>
          </a:xfrm>
        </p:grpSpPr>
        <p:cxnSp>
          <p:nvCxnSpPr>
            <p:cNvPr id="17440" name="AutoShape 28"/>
            <p:cNvCxnSpPr>
              <a:cxnSpLocks noChangeShapeType="1"/>
            </p:cNvCxnSpPr>
            <p:nvPr/>
          </p:nvCxnSpPr>
          <p:spPr bwMode="auto">
            <a:xfrm rot="5400000" flipV="1">
              <a:off x="2896" y="1147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7441" name="Line 29"/>
            <p:cNvSpPr>
              <a:spLocks noChangeShapeType="1"/>
            </p:cNvSpPr>
            <p:nvPr/>
          </p:nvSpPr>
          <p:spPr bwMode="auto">
            <a:xfrm>
              <a:off x="3470" y="202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7442" name="Line 30"/>
            <p:cNvSpPr>
              <a:spLocks noChangeShapeType="1"/>
            </p:cNvSpPr>
            <p:nvPr/>
          </p:nvSpPr>
          <p:spPr bwMode="auto">
            <a:xfrm>
              <a:off x="3833" y="202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cxnSp>
          <p:nvCxnSpPr>
            <p:cNvPr id="17443" name="AutoShape 31"/>
            <p:cNvCxnSpPr>
              <a:cxnSpLocks noChangeShapeType="1"/>
            </p:cNvCxnSpPr>
            <p:nvPr/>
          </p:nvCxnSpPr>
          <p:spPr bwMode="auto">
            <a:xfrm rot="5400000" flipV="1">
              <a:off x="3214" y="1146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7418" name="Object 32"/>
          <p:cNvGraphicFramePr>
            <a:graphicFrameLocks noChangeAspect="1"/>
          </p:cNvGraphicFramePr>
          <p:nvPr/>
        </p:nvGraphicFramePr>
        <p:xfrm>
          <a:off x="5545138" y="3482975"/>
          <a:ext cx="2562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700" imgH="228600" progId="Equation.DSMT4">
                  <p:embed/>
                </p:oleObj>
              </mc:Choice>
              <mc:Fallback>
                <p:oleObj name="Equation" r:id="rId5" imgW="1790700" imgH="228600" progId="Equation.DSMT4">
                  <p:embed/>
                  <p:pic>
                    <p:nvPicPr>
                      <p:cNvPr id="1741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138" y="3482975"/>
                        <a:ext cx="25622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40462928"/>
              </p:ext>
            </p:extLst>
          </p:nvPr>
        </p:nvGraphicFramePr>
        <p:xfrm>
          <a:off x="7915275" y="3354388"/>
          <a:ext cx="5794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048" imgH="393359" progId="Equation.DSMT4">
                  <p:embed/>
                </p:oleObj>
              </mc:Choice>
              <mc:Fallback>
                <p:oleObj name="Equation" r:id="rId7" imgW="406048" imgH="393359" progId="Equation.DSMT4">
                  <p:embed/>
                  <p:pic>
                    <p:nvPicPr>
                      <p:cNvPr id="1741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275" y="3354388"/>
                        <a:ext cx="579438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4"/>
          <p:cNvGrpSpPr>
            <a:grpSpLocks/>
          </p:cNvGrpSpPr>
          <p:nvPr/>
        </p:nvGrpSpPr>
        <p:grpSpPr bwMode="auto">
          <a:xfrm>
            <a:off x="5940425" y="4581525"/>
            <a:ext cx="792163" cy="288925"/>
            <a:chOff x="3696" y="2886"/>
            <a:chExt cx="499" cy="182"/>
          </a:xfrm>
        </p:grpSpPr>
        <p:sp>
          <p:nvSpPr>
            <p:cNvPr id="17438" name="Oval 35"/>
            <p:cNvSpPr>
              <a:spLocks noChangeArrowheads="1"/>
            </p:cNvSpPr>
            <p:nvPr/>
          </p:nvSpPr>
          <p:spPr bwMode="auto">
            <a:xfrm>
              <a:off x="3696" y="2886"/>
              <a:ext cx="181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39" name="Oval 36"/>
            <p:cNvSpPr>
              <a:spLocks noChangeArrowheads="1"/>
            </p:cNvSpPr>
            <p:nvPr/>
          </p:nvSpPr>
          <p:spPr bwMode="auto">
            <a:xfrm>
              <a:off x="4014" y="2886"/>
              <a:ext cx="181" cy="18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7" name="Group 56"/>
          <p:cNvGrpSpPr>
            <a:grpSpLocks/>
          </p:cNvGrpSpPr>
          <p:nvPr/>
        </p:nvGrpSpPr>
        <p:grpSpPr bwMode="auto">
          <a:xfrm>
            <a:off x="6959600" y="3341688"/>
            <a:ext cx="1428750" cy="1147762"/>
            <a:chOff x="4384" y="2105"/>
            <a:chExt cx="900" cy="723"/>
          </a:xfrm>
        </p:grpSpPr>
        <p:sp>
          <p:nvSpPr>
            <p:cNvPr id="17436" name="Oval 38"/>
            <p:cNvSpPr>
              <a:spLocks noChangeArrowheads="1"/>
            </p:cNvSpPr>
            <p:nvPr/>
          </p:nvSpPr>
          <p:spPr bwMode="auto">
            <a:xfrm>
              <a:off x="5148" y="2105"/>
              <a:ext cx="136" cy="181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37" name="Line 39"/>
            <p:cNvSpPr>
              <a:spLocks noChangeShapeType="1"/>
            </p:cNvSpPr>
            <p:nvPr/>
          </p:nvSpPr>
          <p:spPr bwMode="auto">
            <a:xfrm flipH="1">
              <a:off x="4384" y="2230"/>
              <a:ext cx="774" cy="59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sp>
        <p:nvSpPr>
          <p:cNvPr id="74792" name="Oval 40"/>
          <p:cNvSpPr>
            <a:spLocks noChangeArrowheads="1"/>
          </p:cNvSpPr>
          <p:nvPr/>
        </p:nvSpPr>
        <p:spPr bwMode="auto">
          <a:xfrm>
            <a:off x="5940425" y="5661025"/>
            <a:ext cx="287338" cy="288925"/>
          </a:xfrm>
          <a:prstGeom prst="ellipse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grpSp>
        <p:nvGrpSpPr>
          <p:cNvPr id="8" name="Group 41"/>
          <p:cNvGrpSpPr>
            <a:grpSpLocks/>
          </p:cNvGrpSpPr>
          <p:nvPr/>
        </p:nvGrpSpPr>
        <p:grpSpPr bwMode="auto">
          <a:xfrm>
            <a:off x="6300788" y="4941888"/>
            <a:ext cx="1422400" cy="1582737"/>
            <a:chOff x="3969" y="3113"/>
            <a:chExt cx="896" cy="997"/>
          </a:xfrm>
        </p:grpSpPr>
        <p:sp>
          <p:nvSpPr>
            <p:cNvPr id="17426" name="Line 42"/>
            <p:cNvSpPr>
              <a:spLocks noChangeShapeType="1"/>
            </p:cNvSpPr>
            <p:nvPr/>
          </p:nvSpPr>
          <p:spPr bwMode="auto">
            <a:xfrm flipV="1">
              <a:off x="3969" y="3521"/>
              <a:ext cx="226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7427" name="Line 43"/>
            <p:cNvSpPr>
              <a:spLocks noChangeShapeType="1"/>
            </p:cNvSpPr>
            <p:nvPr/>
          </p:nvSpPr>
          <p:spPr bwMode="auto">
            <a:xfrm>
              <a:off x="3969" y="3657"/>
              <a:ext cx="226" cy="2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7428" name="Line 44"/>
            <p:cNvSpPr>
              <a:spLocks noChangeShapeType="1"/>
            </p:cNvSpPr>
            <p:nvPr/>
          </p:nvSpPr>
          <p:spPr bwMode="auto">
            <a:xfrm flipV="1">
              <a:off x="3969" y="3339"/>
              <a:ext cx="226" cy="3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pSp>
          <p:nvGrpSpPr>
            <p:cNvPr id="17429" name="Group 45"/>
            <p:cNvGrpSpPr>
              <a:grpSpLocks/>
            </p:cNvGrpSpPr>
            <p:nvPr/>
          </p:nvGrpSpPr>
          <p:grpSpPr bwMode="auto">
            <a:xfrm>
              <a:off x="4241" y="3158"/>
              <a:ext cx="181" cy="908"/>
              <a:chOff x="4241" y="3158"/>
              <a:chExt cx="181" cy="908"/>
            </a:xfrm>
          </p:grpSpPr>
          <p:sp>
            <p:nvSpPr>
              <p:cNvPr id="17432" name="Oval 46"/>
              <p:cNvSpPr>
                <a:spLocks noChangeArrowheads="1"/>
              </p:cNvSpPr>
              <p:nvPr/>
            </p:nvSpPr>
            <p:spPr bwMode="auto">
              <a:xfrm>
                <a:off x="4241" y="3158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433" name="Oval 47"/>
              <p:cNvSpPr>
                <a:spLocks noChangeArrowheads="1"/>
              </p:cNvSpPr>
              <p:nvPr/>
            </p:nvSpPr>
            <p:spPr bwMode="auto">
              <a:xfrm>
                <a:off x="4241" y="3385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7434" name="Text Box 48"/>
              <p:cNvSpPr txBox="1">
                <a:spLocks noChangeArrowheads="1"/>
              </p:cNvSpPr>
              <p:nvPr/>
            </p:nvSpPr>
            <p:spPr bwMode="auto">
              <a:xfrm>
                <a:off x="4260" y="3599"/>
                <a:ext cx="151" cy="27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lnSpc>
                    <a:spcPct val="5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400">
                    <a:latin typeface="Tahoma" panose="020B0604030504040204" pitchFamily="34" charset="0"/>
                  </a:rPr>
                  <a:t>.</a:t>
                </a:r>
              </a:p>
              <a:p>
                <a:pPr eaLnBrk="1" hangingPunct="1">
                  <a:lnSpc>
                    <a:spcPct val="5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400">
                    <a:latin typeface="Tahoma" panose="020B0604030504040204" pitchFamily="34" charset="0"/>
                  </a:rPr>
                  <a:t>.</a:t>
                </a:r>
              </a:p>
              <a:p>
                <a:pPr eaLnBrk="1" hangingPunct="1">
                  <a:lnSpc>
                    <a:spcPct val="50000"/>
                  </a:lnSpc>
                  <a:spcBef>
                    <a:spcPct val="0"/>
                  </a:spcBef>
                  <a:buFontTx/>
                  <a:buNone/>
                </a:pPr>
                <a:r>
                  <a:rPr lang="pt-BR" altLang="pt-BR" sz="1400">
                    <a:latin typeface="Tahoma" panose="020B0604030504040204" pitchFamily="34" charset="0"/>
                  </a:rPr>
                  <a:t>.</a:t>
                </a:r>
              </a:p>
            </p:txBody>
          </p:sp>
          <p:sp>
            <p:nvSpPr>
              <p:cNvPr id="17435" name="Oval 49"/>
              <p:cNvSpPr>
                <a:spLocks noChangeArrowheads="1"/>
              </p:cNvSpPr>
              <p:nvPr/>
            </p:nvSpPr>
            <p:spPr bwMode="auto">
              <a:xfrm>
                <a:off x="4241" y="3884"/>
                <a:ext cx="181" cy="182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7430" name="AutoShape 50"/>
            <p:cNvSpPr>
              <a:spLocks/>
            </p:cNvSpPr>
            <p:nvPr/>
          </p:nvSpPr>
          <p:spPr bwMode="auto">
            <a:xfrm>
              <a:off x="4513" y="3113"/>
              <a:ext cx="136" cy="997"/>
            </a:xfrm>
            <a:prstGeom prst="rightBrace">
              <a:avLst>
                <a:gd name="adj1" fmla="val 61091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7431" name="Text Box 51"/>
            <p:cNvSpPr txBox="1">
              <a:spLocks noChangeArrowheads="1"/>
            </p:cNvSpPr>
            <p:nvPr/>
          </p:nvSpPr>
          <p:spPr bwMode="auto">
            <a:xfrm>
              <a:off x="4682" y="3506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74809" name="Oval 57"/>
          <p:cNvSpPr>
            <a:spLocks noChangeArrowheads="1"/>
          </p:cNvSpPr>
          <p:nvPr/>
        </p:nvSpPr>
        <p:spPr bwMode="auto">
          <a:xfrm>
            <a:off x="4140200" y="2276475"/>
            <a:ext cx="287338" cy="288925"/>
          </a:xfrm>
          <a:prstGeom prst="ellipse">
            <a:avLst/>
          </a:prstGeom>
          <a:solidFill>
            <a:schemeClr val="bg1"/>
          </a:solidFill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5FFB6E-3173-4A9B-89E2-E6B3C325DF09}" type="slidenum">
              <a:rPr lang="pt-BR"/>
              <a:pPr>
                <a:defRPr/>
              </a:pPr>
              <a:t>15</a:t>
            </a:fld>
            <a:endParaRPr lang="pt-BR"/>
          </a:p>
        </p:txBody>
      </p:sp>
      <p:sp>
        <p:nvSpPr>
          <p:cNvPr id="3" name="Text Box 43">
            <a:extLst>
              <a:ext uri="{FF2B5EF4-FFF2-40B4-BE49-F238E27FC236}">
                <a16:creationId xmlns:a16="http://schemas.microsoft.com/office/drawing/2014/main" id="{52BB8D68-B156-9A1B-2082-A242078913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513" y="1676400"/>
            <a:ext cx="22526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probabilidade de escolher dois objetos vermelhos (sem reposição)?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8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754" grpId="0"/>
      <p:bldP spid="74755" grpId="0"/>
      <p:bldP spid="74792" grpId="0" animBg="1"/>
      <p:bldP spid="7480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8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18435" name="Group 5"/>
          <p:cNvGrpSpPr>
            <a:grpSpLocks/>
          </p:cNvGrpSpPr>
          <p:nvPr/>
        </p:nvGrpSpPr>
        <p:grpSpPr bwMode="auto">
          <a:xfrm>
            <a:off x="914400" y="1465263"/>
            <a:ext cx="2667000" cy="1784350"/>
            <a:chOff x="2064" y="2256"/>
            <a:chExt cx="942" cy="630"/>
          </a:xfrm>
        </p:grpSpPr>
        <p:grpSp>
          <p:nvGrpSpPr>
            <p:cNvPr id="18469" name="Group 6"/>
            <p:cNvGrpSpPr>
              <a:grpSpLocks/>
            </p:cNvGrpSpPr>
            <p:nvPr/>
          </p:nvGrpSpPr>
          <p:grpSpPr bwMode="auto">
            <a:xfrm>
              <a:off x="2064" y="2256"/>
              <a:ext cx="543" cy="630"/>
              <a:chOff x="1968" y="2160"/>
              <a:chExt cx="543" cy="630"/>
            </a:xfrm>
          </p:grpSpPr>
          <p:sp>
            <p:nvSpPr>
              <p:cNvPr id="18472" name="Rectangle 7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543" cy="6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8473" name="Oval 8"/>
              <p:cNvSpPr>
                <a:spLocks noChangeArrowheads="1"/>
              </p:cNvSpPr>
              <p:nvPr/>
            </p:nvSpPr>
            <p:spPr bwMode="auto">
              <a:xfrm>
                <a:off x="2055" y="2247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8474" name="Oval 9"/>
              <p:cNvSpPr>
                <a:spLocks noChangeArrowheads="1"/>
              </p:cNvSpPr>
              <p:nvPr/>
            </p:nvSpPr>
            <p:spPr bwMode="auto">
              <a:xfrm>
                <a:off x="2207" y="2399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8470" name="Freeform 10" descr="Diagonal para cima clara"/>
            <p:cNvSpPr>
              <a:spLocks/>
            </p:cNvSpPr>
            <p:nvPr/>
          </p:nvSpPr>
          <p:spPr bwMode="auto">
            <a:xfrm>
              <a:off x="2304" y="2498"/>
              <a:ext cx="109" cy="145"/>
            </a:xfrm>
            <a:custGeom>
              <a:avLst/>
              <a:gdLst>
                <a:gd name="T0" fmla="*/ 0 w 109"/>
                <a:gd name="T1" fmla="*/ 145 h 145"/>
                <a:gd name="T2" fmla="*/ 3 w 109"/>
                <a:gd name="T3" fmla="*/ 105 h 145"/>
                <a:gd name="T4" fmla="*/ 16 w 109"/>
                <a:gd name="T5" fmla="*/ 73 h 145"/>
                <a:gd name="T6" fmla="*/ 30 w 109"/>
                <a:gd name="T7" fmla="*/ 49 h 145"/>
                <a:gd name="T8" fmla="*/ 53 w 109"/>
                <a:gd name="T9" fmla="*/ 25 h 145"/>
                <a:gd name="T10" fmla="*/ 77 w 109"/>
                <a:gd name="T11" fmla="*/ 9 h 145"/>
                <a:gd name="T12" fmla="*/ 99 w 109"/>
                <a:gd name="T13" fmla="*/ 0 h 145"/>
                <a:gd name="T14" fmla="*/ 109 w 109"/>
                <a:gd name="T15" fmla="*/ 0 h 145"/>
                <a:gd name="T16" fmla="*/ 106 w 109"/>
                <a:gd name="T17" fmla="*/ 27 h 145"/>
                <a:gd name="T18" fmla="*/ 99 w 109"/>
                <a:gd name="T19" fmla="*/ 56 h 145"/>
                <a:gd name="T20" fmla="*/ 86 w 109"/>
                <a:gd name="T21" fmla="*/ 80 h 145"/>
                <a:gd name="T22" fmla="*/ 72 w 109"/>
                <a:gd name="T23" fmla="*/ 104 h 145"/>
                <a:gd name="T24" fmla="*/ 51 w 109"/>
                <a:gd name="T25" fmla="*/ 124 h 145"/>
                <a:gd name="T26" fmla="*/ 24 w 109"/>
                <a:gd name="T27" fmla="*/ 137 h 145"/>
                <a:gd name="T28" fmla="*/ 14 w 109"/>
                <a:gd name="T29" fmla="*/ 144 h 145"/>
                <a:gd name="T30" fmla="*/ 0 w 109"/>
                <a:gd name="T31" fmla="*/ 145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aphicFrame>
          <p:nvGraphicFramePr>
            <p:cNvPr id="18471" name="Object 11"/>
            <p:cNvGraphicFramePr>
              <a:graphicFrameLocks noChangeAspect="1"/>
            </p:cNvGraphicFramePr>
            <p:nvPr/>
          </p:nvGraphicFramePr>
          <p:xfrm>
            <a:off x="2640" y="2496"/>
            <a:ext cx="36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18918" imgH="165028" progId="Equation.DSMT4">
                    <p:embed/>
                  </p:oleObj>
                </mc:Choice>
                <mc:Fallback>
                  <p:oleObj name="Equation" r:id="rId3" imgW="418918" imgH="165028" progId="Equation.DSMT4">
                    <p:embed/>
                    <p:pic>
                      <p:nvPicPr>
                        <p:cNvPr id="18471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496"/>
                          <a:ext cx="36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36" name="Text Box 12"/>
          <p:cNvSpPr txBox="1">
            <a:spLocks noChangeArrowheads="1"/>
          </p:cNvSpPr>
          <p:nvPr/>
        </p:nvSpPr>
        <p:spPr bwMode="auto">
          <a:xfrm>
            <a:off x="3975100" y="1460500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Exemplo:</a:t>
            </a:r>
          </a:p>
        </p:txBody>
      </p:sp>
      <p:grpSp>
        <p:nvGrpSpPr>
          <p:cNvPr id="18438" name="Group 14"/>
          <p:cNvGrpSpPr>
            <a:grpSpLocks/>
          </p:cNvGrpSpPr>
          <p:nvPr/>
        </p:nvGrpSpPr>
        <p:grpSpPr bwMode="auto">
          <a:xfrm>
            <a:off x="3995738" y="2208213"/>
            <a:ext cx="1152525" cy="1582737"/>
            <a:chOff x="2562" y="1344"/>
            <a:chExt cx="726" cy="997"/>
          </a:xfrm>
        </p:grpSpPr>
        <p:sp>
          <p:nvSpPr>
            <p:cNvPr id="18457" name="Freeform 15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8458" name="Oval 16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59" name="Oval 17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60" name="Oval 18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61" name="Oval 19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62" name="Oval 20"/>
            <p:cNvSpPr>
              <a:spLocks noChangeArrowheads="1"/>
            </p:cNvSpPr>
            <p:nvPr/>
          </p:nvSpPr>
          <p:spPr bwMode="auto">
            <a:xfrm>
              <a:off x="2653" y="1616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63" name="Oval 21"/>
            <p:cNvSpPr>
              <a:spLocks noChangeArrowheads="1"/>
            </p:cNvSpPr>
            <p:nvPr/>
          </p:nvSpPr>
          <p:spPr bwMode="auto">
            <a:xfrm>
              <a:off x="3080" y="153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64" name="Oval 22"/>
            <p:cNvSpPr>
              <a:spLocks noChangeArrowheads="1"/>
            </p:cNvSpPr>
            <p:nvPr/>
          </p:nvSpPr>
          <p:spPr bwMode="auto">
            <a:xfrm>
              <a:off x="2607" y="18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65" name="Oval 23"/>
            <p:cNvSpPr>
              <a:spLocks noChangeArrowheads="1"/>
            </p:cNvSpPr>
            <p:nvPr/>
          </p:nvSpPr>
          <p:spPr bwMode="auto">
            <a:xfrm>
              <a:off x="2880" y="1616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66" name="Oval 24"/>
            <p:cNvSpPr>
              <a:spLocks noChangeArrowheads="1"/>
            </p:cNvSpPr>
            <p:nvPr/>
          </p:nvSpPr>
          <p:spPr bwMode="auto">
            <a:xfrm>
              <a:off x="3061" y="1797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67" name="Oval 25"/>
            <p:cNvSpPr>
              <a:spLocks noChangeArrowheads="1"/>
            </p:cNvSpPr>
            <p:nvPr/>
          </p:nvSpPr>
          <p:spPr bwMode="auto">
            <a:xfrm>
              <a:off x="2608" y="2115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68" name="Oval 26"/>
            <p:cNvSpPr>
              <a:spLocks noChangeArrowheads="1"/>
            </p:cNvSpPr>
            <p:nvPr/>
          </p:nvSpPr>
          <p:spPr bwMode="auto">
            <a:xfrm>
              <a:off x="2835" y="206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18439" name="Group 27"/>
          <p:cNvGrpSpPr>
            <a:grpSpLocks/>
          </p:cNvGrpSpPr>
          <p:nvPr/>
        </p:nvGrpSpPr>
        <p:grpSpPr bwMode="auto">
          <a:xfrm>
            <a:off x="4356100" y="2133600"/>
            <a:ext cx="2376488" cy="938213"/>
            <a:chOff x="2608" y="1434"/>
            <a:chExt cx="1497" cy="591"/>
          </a:xfrm>
        </p:grpSpPr>
        <p:cxnSp>
          <p:nvCxnSpPr>
            <p:cNvPr id="18453" name="AutoShape 28"/>
            <p:cNvCxnSpPr>
              <a:cxnSpLocks noChangeShapeType="1"/>
            </p:cNvCxnSpPr>
            <p:nvPr/>
          </p:nvCxnSpPr>
          <p:spPr bwMode="auto">
            <a:xfrm rot="5400000" flipV="1">
              <a:off x="2896" y="1147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454" name="Line 29"/>
            <p:cNvSpPr>
              <a:spLocks noChangeShapeType="1"/>
            </p:cNvSpPr>
            <p:nvPr/>
          </p:nvSpPr>
          <p:spPr bwMode="auto">
            <a:xfrm>
              <a:off x="3470" y="202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8455" name="Line 30"/>
            <p:cNvSpPr>
              <a:spLocks noChangeShapeType="1"/>
            </p:cNvSpPr>
            <p:nvPr/>
          </p:nvSpPr>
          <p:spPr bwMode="auto">
            <a:xfrm>
              <a:off x="3833" y="202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cxnSp>
          <p:nvCxnSpPr>
            <p:cNvPr id="18456" name="AutoShape 31"/>
            <p:cNvCxnSpPr>
              <a:cxnSpLocks noChangeShapeType="1"/>
            </p:cNvCxnSpPr>
            <p:nvPr/>
          </p:nvCxnSpPr>
          <p:spPr bwMode="auto">
            <a:xfrm rot="5400000" flipV="1">
              <a:off x="3214" y="1146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8440" name="Object 32"/>
          <p:cNvGraphicFramePr>
            <a:graphicFrameLocks noChangeAspect="1"/>
          </p:cNvGraphicFramePr>
          <p:nvPr/>
        </p:nvGraphicFramePr>
        <p:xfrm>
          <a:off x="5545138" y="3482975"/>
          <a:ext cx="2562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700" imgH="228600" progId="Equation.DSMT4">
                  <p:embed/>
                </p:oleObj>
              </mc:Choice>
              <mc:Fallback>
                <p:oleObj name="Equation" r:id="rId5" imgW="1790700" imgH="228600" progId="Equation.DSMT4">
                  <p:embed/>
                  <p:pic>
                    <p:nvPicPr>
                      <p:cNvPr id="18440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138" y="3482975"/>
                        <a:ext cx="25622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41" name="Object 3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44268870"/>
              </p:ext>
            </p:extLst>
          </p:nvPr>
        </p:nvGraphicFramePr>
        <p:xfrm>
          <a:off x="7915275" y="3354388"/>
          <a:ext cx="5794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048" imgH="393359" progId="Equation.DSMT4">
                  <p:embed/>
                </p:oleObj>
              </mc:Choice>
              <mc:Fallback>
                <p:oleObj name="Equation" r:id="rId7" imgW="406048" imgH="393359" progId="Equation.DSMT4">
                  <p:embed/>
                  <p:pic>
                    <p:nvPicPr>
                      <p:cNvPr id="18441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275" y="3354388"/>
                        <a:ext cx="579438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60"/>
          <p:cNvGrpSpPr>
            <a:grpSpLocks/>
          </p:cNvGrpSpPr>
          <p:nvPr/>
        </p:nvGrpSpPr>
        <p:grpSpPr bwMode="auto">
          <a:xfrm>
            <a:off x="6850063" y="3325813"/>
            <a:ext cx="1635125" cy="1454150"/>
            <a:chOff x="4315" y="2095"/>
            <a:chExt cx="1030" cy="916"/>
          </a:xfrm>
        </p:grpSpPr>
        <p:sp>
          <p:nvSpPr>
            <p:cNvPr id="18451" name="Oval 54"/>
            <p:cNvSpPr>
              <a:spLocks noChangeArrowheads="1"/>
            </p:cNvSpPr>
            <p:nvPr/>
          </p:nvSpPr>
          <p:spPr bwMode="auto">
            <a:xfrm>
              <a:off x="5073" y="2095"/>
              <a:ext cx="272" cy="418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52" name="Line 55"/>
            <p:cNvSpPr>
              <a:spLocks noChangeShapeType="1"/>
            </p:cNvSpPr>
            <p:nvPr/>
          </p:nvSpPr>
          <p:spPr bwMode="auto">
            <a:xfrm flipH="1">
              <a:off x="4315" y="2413"/>
              <a:ext cx="774" cy="59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75832" name="Object 56"/>
          <p:cNvGraphicFramePr>
            <a:graphicFrameLocks noChangeAspect="1"/>
          </p:cNvGraphicFramePr>
          <p:nvPr/>
        </p:nvGraphicFramePr>
        <p:xfrm>
          <a:off x="6372225" y="4868863"/>
          <a:ext cx="5619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3529" imgH="393529" progId="Equation.DSMT4">
                  <p:embed/>
                </p:oleObj>
              </mc:Choice>
              <mc:Fallback>
                <p:oleObj name="Equation" r:id="rId9" imgW="393529" imgH="393529" progId="Equation.DSMT4">
                  <p:embed/>
                  <p:pic>
                    <p:nvPicPr>
                      <p:cNvPr id="75832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868863"/>
                        <a:ext cx="5619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33" name="Object 57"/>
          <p:cNvGraphicFramePr>
            <a:graphicFrameLocks noChangeAspect="1"/>
          </p:cNvGraphicFramePr>
          <p:nvPr/>
        </p:nvGraphicFramePr>
        <p:xfrm>
          <a:off x="5651500" y="4868863"/>
          <a:ext cx="7064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5085" imgH="393529" progId="Equation.DSMT4">
                  <p:embed/>
                </p:oleObj>
              </mc:Choice>
              <mc:Fallback>
                <p:oleObj name="Equation" r:id="rId11" imgW="495085" imgH="393529" progId="Equation.DSMT4">
                  <p:embed/>
                  <p:pic>
                    <p:nvPicPr>
                      <p:cNvPr id="75833" name="Object 5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868863"/>
                        <a:ext cx="706438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1"/>
          <p:cNvGrpSpPr>
            <a:grpSpLocks/>
          </p:cNvGrpSpPr>
          <p:nvPr/>
        </p:nvGrpSpPr>
        <p:grpSpPr bwMode="auto">
          <a:xfrm>
            <a:off x="5557838" y="4835525"/>
            <a:ext cx="431800" cy="1022350"/>
            <a:chOff x="3491" y="3046"/>
            <a:chExt cx="272" cy="644"/>
          </a:xfrm>
        </p:grpSpPr>
        <p:sp>
          <p:nvSpPr>
            <p:cNvPr id="18449" name="Oval 58"/>
            <p:cNvSpPr>
              <a:spLocks noChangeArrowheads="1"/>
            </p:cNvSpPr>
            <p:nvPr/>
          </p:nvSpPr>
          <p:spPr bwMode="auto">
            <a:xfrm>
              <a:off x="3491" y="3046"/>
              <a:ext cx="272" cy="418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8450" name="Line 59"/>
            <p:cNvSpPr>
              <a:spLocks noChangeShapeType="1"/>
            </p:cNvSpPr>
            <p:nvPr/>
          </p:nvSpPr>
          <p:spPr bwMode="auto">
            <a:xfrm flipH="1">
              <a:off x="3624" y="3463"/>
              <a:ext cx="3" cy="22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75839" name="Object 63"/>
          <p:cNvGraphicFramePr>
            <a:graphicFrameLocks noChangeAspect="1"/>
          </p:cNvGraphicFramePr>
          <p:nvPr/>
        </p:nvGraphicFramePr>
        <p:xfrm>
          <a:off x="5548313" y="5919788"/>
          <a:ext cx="454025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7225" imgH="203024" progId="Equation.DSMT4">
                  <p:embed/>
                </p:oleObj>
              </mc:Choice>
              <mc:Fallback>
                <p:oleObj name="Equation" r:id="rId13" imgW="317225" imgH="203024" progId="Equation.DSMT4">
                  <p:embed/>
                  <p:pic>
                    <p:nvPicPr>
                      <p:cNvPr id="75839" name="Object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8313" y="5919788"/>
                        <a:ext cx="454025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5840" name="Object 64"/>
          <p:cNvGraphicFramePr>
            <a:graphicFrameLocks noChangeAspect="1"/>
          </p:cNvGraphicFramePr>
          <p:nvPr/>
        </p:nvGraphicFramePr>
        <p:xfrm>
          <a:off x="5148263" y="5910263"/>
          <a:ext cx="12541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876300" imgH="228600" progId="Equation.DSMT4">
                  <p:embed/>
                </p:oleObj>
              </mc:Choice>
              <mc:Fallback>
                <p:oleObj name="Equation" r:id="rId15" imgW="876300" imgH="228600" progId="Equation.DSMT4">
                  <p:embed/>
                  <p:pic>
                    <p:nvPicPr>
                      <p:cNvPr id="75840" name="Object 6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910263"/>
                        <a:ext cx="125412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C44920-66B9-4CBE-932A-816508230548}" type="slidenum">
              <a:rPr lang="pt-BR"/>
              <a:pPr>
                <a:defRPr/>
              </a:pPr>
              <a:t>16</a:t>
            </a:fld>
            <a:endParaRPr lang="pt-BR"/>
          </a:p>
        </p:txBody>
      </p:sp>
      <p:sp>
        <p:nvSpPr>
          <p:cNvPr id="3" name="Text Box 43">
            <a:extLst>
              <a:ext uri="{FF2B5EF4-FFF2-40B4-BE49-F238E27FC236}">
                <a16:creationId xmlns:a16="http://schemas.microsoft.com/office/drawing/2014/main" id="{F98EE2EB-9607-1F77-CB00-77D2C5850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513" y="1676400"/>
            <a:ext cx="22526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probabilidade de escolher dois objetos vermelhos (sem reposição)?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 nodeType="clickPar">
                      <p:stCondLst>
                        <p:cond delay="indefinite"/>
                      </p:stCondLst>
                      <p:childTnLst>
                        <p:par>
                          <p:cTn id="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5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19459" name="Group 3"/>
          <p:cNvGrpSpPr>
            <a:grpSpLocks/>
          </p:cNvGrpSpPr>
          <p:nvPr/>
        </p:nvGrpSpPr>
        <p:grpSpPr bwMode="auto">
          <a:xfrm>
            <a:off x="914400" y="1465263"/>
            <a:ext cx="2667000" cy="1784350"/>
            <a:chOff x="2064" y="2256"/>
            <a:chExt cx="942" cy="630"/>
          </a:xfrm>
        </p:grpSpPr>
        <p:grpSp>
          <p:nvGrpSpPr>
            <p:cNvPr id="19494" name="Group 4"/>
            <p:cNvGrpSpPr>
              <a:grpSpLocks/>
            </p:cNvGrpSpPr>
            <p:nvPr/>
          </p:nvGrpSpPr>
          <p:grpSpPr bwMode="auto">
            <a:xfrm>
              <a:off x="2064" y="2256"/>
              <a:ext cx="543" cy="630"/>
              <a:chOff x="1968" y="2160"/>
              <a:chExt cx="543" cy="630"/>
            </a:xfrm>
          </p:grpSpPr>
          <p:sp>
            <p:nvSpPr>
              <p:cNvPr id="19497" name="Rectangle 5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543" cy="6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9498" name="Oval 6"/>
              <p:cNvSpPr>
                <a:spLocks noChangeArrowheads="1"/>
              </p:cNvSpPr>
              <p:nvPr/>
            </p:nvSpPr>
            <p:spPr bwMode="auto">
              <a:xfrm>
                <a:off x="2055" y="2247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19499" name="Oval 7"/>
              <p:cNvSpPr>
                <a:spLocks noChangeArrowheads="1"/>
              </p:cNvSpPr>
              <p:nvPr/>
            </p:nvSpPr>
            <p:spPr bwMode="auto">
              <a:xfrm>
                <a:off x="2207" y="2399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19495" name="Freeform 8" descr="Diagonal para cima clara"/>
            <p:cNvSpPr>
              <a:spLocks/>
            </p:cNvSpPr>
            <p:nvPr/>
          </p:nvSpPr>
          <p:spPr bwMode="auto">
            <a:xfrm>
              <a:off x="2304" y="2498"/>
              <a:ext cx="109" cy="145"/>
            </a:xfrm>
            <a:custGeom>
              <a:avLst/>
              <a:gdLst>
                <a:gd name="T0" fmla="*/ 0 w 109"/>
                <a:gd name="T1" fmla="*/ 145 h 145"/>
                <a:gd name="T2" fmla="*/ 3 w 109"/>
                <a:gd name="T3" fmla="*/ 105 h 145"/>
                <a:gd name="T4" fmla="*/ 16 w 109"/>
                <a:gd name="T5" fmla="*/ 73 h 145"/>
                <a:gd name="T6" fmla="*/ 30 w 109"/>
                <a:gd name="T7" fmla="*/ 49 h 145"/>
                <a:gd name="T8" fmla="*/ 53 w 109"/>
                <a:gd name="T9" fmla="*/ 25 h 145"/>
                <a:gd name="T10" fmla="*/ 77 w 109"/>
                <a:gd name="T11" fmla="*/ 9 h 145"/>
                <a:gd name="T12" fmla="*/ 99 w 109"/>
                <a:gd name="T13" fmla="*/ 0 h 145"/>
                <a:gd name="T14" fmla="*/ 109 w 109"/>
                <a:gd name="T15" fmla="*/ 0 h 145"/>
                <a:gd name="T16" fmla="*/ 106 w 109"/>
                <a:gd name="T17" fmla="*/ 27 h 145"/>
                <a:gd name="T18" fmla="*/ 99 w 109"/>
                <a:gd name="T19" fmla="*/ 56 h 145"/>
                <a:gd name="T20" fmla="*/ 86 w 109"/>
                <a:gd name="T21" fmla="*/ 80 h 145"/>
                <a:gd name="T22" fmla="*/ 72 w 109"/>
                <a:gd name="T23" fmla="*/ 104 h 145"/>
                <a:gd name="T24" fmla="*/ 51 w 109"/>
                <a:gd name="T25" fmla="*/ 124 h 145"/>
                <a:gd name="T26" fmla="*/ 24 w 109"/>
                <a:gd name="T27" fmla="*/ 137 h 145"/>
                <a:gd name="T28" fmla="*/ 14 w 109"/>
                <a:gd name="T29" fmla="*/ 144 h 145"/>
                <a:gd name="T30" fmla="*/ 0 w 109"/>
                <a:gd name="T31" fmla="*/ 145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aphicFrame>
          <p:nvGraphicFramePr>
            <p:cNvPr id="19496" name="Object 9"/>
            <p:cNvGraphicFramePr>
              <a:graphicFrameLocks noChangeAspect="1"/>
            </p:cNvGraphicFramePr>
            <p:nvPr/>
          </p:nvGraphicFramePr>
          <p:xfrm>
            <a:off x="2640" y="2496"/>
            <a:ext cx="36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18918" imgH="165028" progId="Equation.DSMT4">
                    <p:embed/>
                  </p:oleObj>
                </mc:Choice>
                <mc:Fallback>
                  <p:oleObj name="Equation" r:id="rId3" imgW="418918" imgH="165028" progId="Equation.DSMT4">
                    <p:embed/>
                    <p:pic>
                      <p:nvPicPr>
                        <p:cNvPr id="19496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496"/>
                          <a:ext cx="36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9460" name="Text Box 10"/>
          <p:cNvSpPr txBox="1">
            <a:spLocks noChangeArrowheads="1"/>
          </p:cNvSpPr>
          <p:nvPr/>
        </p:nvSpPr>
        <p:spPr bwMode="auto">
          <a:xfrm>
            <a:off x="3975100" y="1460500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Exemplo:</a:t>
            </a:r>
          </a:p>
        </p:txBody>
      </p:sp>
      <p:grpSp>
        <p:nvGrpSpPr>
          <p:cNvPr id="19462" name="Group 12"/>
          <p:cNvGrpSpPr>
            <a:grpSpLocks/>
          </p:cNvGrpSpPr>
          <p:nvPr/>
        </p:nvGrpSpPr>
        <p:grpSpPr bwMode="auto">
          <a:xfrm>
            <a:off x="3995738" y="2208213"/>
            <a:ext cx="1152525" cy="1582737"/>
            <a:chOff x="2562" y="1344"/>
            <a:chExt cx="726" cy="997"/>
          </a:xfrm>
        </p:grpSpPr>
        <p:sp>
          <p:nvSpPr>
            <p:cNvPr id="19482" name="Freeform 13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9483" name="Oval 14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84" name="Oval 15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85" name="Oval 16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86" name="Oval 17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87" name="Oval 18"/>
            <p:cNvSpPr>
              <a:spLocks noChangeArrowheads="1"/>
            </p:cNvSpPr>
            <p:nvPr/>
          </p:nvSpPr>
          <p:spPr bwMode="auto">
            <a:xfrm>
              <a:off x="2653" y="1616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88" name="Oval 19"/>
            <p:cNvSpPr>
              <a:spLocks noChangeArrowheads="1"/>
            </p:cNvSpPr>
            <p:nvPr/>
          </p:nvSpPr>
          <p:spPr bwMode="auto">
            <a:xfrm>
              <a:off x="3080" y="153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89" name="Oval 20"/>
            <p:cNvSpPr>
              <a:spLocks noChangeArrowheads="1"/>
            </p:cNvSpPr>
            <p:nvPr/>
          </p:nvSpPr>
          <p:spPr bwMode="auto">
            <a:xfrm>
              <a:off x="2607" y="18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90" name="Oval 21"/>
            <p:cNvSpPr>
              <a:spLocks noChangeArrowheads="1"/>
            </p:cNvSpPr>
            <p:nvPr/>
          </p:nvSpPr>
          <p:spPr bwMode="auto">
            <a:xfrm>
              <a:off x="2880" y="1616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91" name="Oval 22"/>
            <p:cNvSpPr>
              <a:spLocks noChangeArrowheads="1"/>
            </p:cNvSpPr>
            <p:nvPr/>
          </p:nvSpPr>
          <p:spPr bwMode="auto">
            <a:xfrm>
              <a:off x="3061" y="1797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92" name="Oval 23"/>
            <p:cNvSpPr>
              <a:spLocks noChangeArrowheads="1"/>
            </p:cNvSpPr>
            <p:nvPr/>
          </p:nvSpPr>
          <p:spPr bwMode="auto">
            <a:xfrm>
              <a:off x="2608" y="2115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93" name="Oval 24"/>
            <p:cNvSpPr>
              <a:spLocks noChangeArrowheads="1"/>
            </p:cNvSpPr>
            <p:nvPr/>
          </p:nvSpPr>
          <p:spPr bwMode="auto">
            <a:xfrm>
              <a:off x="2835" y="206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19463" name="Group 25"/>
          <p:cNvGrpSpPr>
            <a:grpSpLocks/>
          </p:cNvGrpSpPr>
          <p:nvPr/>
        </p:nvGrpSpPr>
        <p:grpSpPr bwMode="auto">
          <a:xfrm>
            <a:off x="4356100" y="2133600"/>
            <a:ext cx="2376488" cy="938213"/>
            <a:chOff x="2608" y="1434"/>
            <a:chExt cx="1497" cy="591"/>
          </a:xfrm>
        </p:grpSpPr>
        <p:cxnSp>
          <p:nvCxnSpPr>
            <p:cNvPr id="19478" name="AutoShape 26"/>
            <p:cNvCxnSpPr>
              <a:cxnSpLocks noChangeShapeType="1"/>
            </p:cNvCxnSpPr>
            <p:nvPr/>
          </p:nvCxnSpPr>
          <p:spPr bwMode="auto">
            <a:xfrm rot="5400000" flipV="1">
              <a:off x="2896" y="1147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9479" name="Line 27"/>
            <p:cNvSpPr>
              <a:spLocks noChangeShapeType="1"/>
            </p:cNvSpPr>
            <p:nvPr/>
          </p:nvSpPr>
          <p:spPr bwMode="auto">
            <a:xfrm>
              <a:off x="3470" y="202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19480" name="Line 28"/>
            <p:cNvSpPr>
              <a:spLocks noChangeShapeType="1"/>
            </p:cNvSpPr>
            <p:nvPr/>
          </p:nvSpPr>
          <p:spPr bwMode="auto">
            <a:xfrm>
              <a:off x="3833" y="202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cxnSp>
          <p:nvCxnSpPr>
            <p:cNvPr id="19481" name="AutoShape 29"/>
            <p:cNvCxnSpPr>
              <a:cxnSpLocks noChangeShapeType="1"/>
            </p:cNvCxnSpPr>
            <p:nvPr/>
          </p:nvCxnSpPr>
          <p:spPr bwMode="auto">
            <a:xfrm rot="5400000" flipV="1">
              <a:off x="3214" y="1146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19464" name="Object 30"/>
          <p:cNvGraphicFramePr>
            <a:graphicFrameLocks noChangeAspect="1"/>
          </p:cNvGraphicFramePr>
          <p:nvPr/>
        </p:nvGraphicFramePr>
        <p:xfrm>
          <a:off x="5545138" y="3482975"/>
          <a:ext cx="2562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700" imgH="228600" progId="Equation.DSMT4">
                  <p:embed/>
                </p:oleObj>
              </mc:Choice>
              <mc:Fallback>
                <p:oleObj name="Equation" r:id="rId5" imgW="1790700" imgH="228600" progId="Equation.DSMT4">
                  <p:embed/>
                  <p:pic>
                    <p:nvPicPr>
                      <p:cNvPr id="19464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138" y="3482975"/>
                        <a:ext cx="25622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0805308"/>
              </p:ext>
            </p:extLst>
          </p:nvPr>
        </p:nvGraphicFramePr>
        <p:xfrm>
          <a:off x="7915275" y="3354388"/>
          <a:ext cx="5794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06048" imgH="393359" progId="Equation.DSMT4">
                  <p:embed/>
                </p:oleObj>
              </mc:Choice>
              <mc:Fallback>
                <p:oleObj name="Equation" r:id="rId7" imgW="406048" imgH="393359" progId="Equation.DSMT4">
                  <p:embed/>
                  <p:pic>
                    <p:nvPicPr>
                      <p:cNvPr id="19465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275" y="3354388"/>
                        <a:ext cx="579438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9466" name="Group 32"/>
          <p:cNvGrpSpPr>
            <a:grpSpLocks/>
          </p:cNvGrpSpPr>
          <p:nvPr/>
        </p:nvGrpSpPr>
        <p:grpSpPr bwMode="auto">
          <a:xfrm>
            <a:off x="6850063" y="3325813"/>
            <a:ext cx="1635125" cy="1454150"/>
            <a:chOff x="4315" y="2095"/>
            <a:chExt cx="1030" cy="916"/>
          </a:xfrm>
        </p:grpSpPr>
        <p:sp>
          <p:nvSpPr>
            <p:cNvPr id="19476" name="Oval 33"/>
            <p:cNvSpPr>
              <a:spLocks noChangeArrowheads="1"/>
            </p:cNvSpPr>
            <p:nvPr/>
          </p:nvSpPr>
          <p:spPr bwMode="auto">
            <a:xfrm>
              <a:off x="5073" y="2095"/>
              <a:ext cx="272" cy="418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77" name="Line 34"/>
            <p:cNvSpPr>
              <a:spLocks noChangeShapeType="1"/>
            </p:cNvSpPr>
            <p:nvPr/>
          </p:nvSpPr>
          <p:spPr bwMode="auto">
            <a:xfrm flipH="1">
              <a:off x="4315" y="2413"/>
              <a:ext cx="774" cy="598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19467" name="Object 35"/>
          <p:cNvGraphicFramePr>
            <a:graphicFrameLocks noChangeAspect="1"/>
          </p:cNvGraphicFramePr>
          <p:nvPr/>
        </p:nvGraphicFramePr>
        <p:xfrm>
          <a:off x="6372225" y="4868863"/>
          <a:ext cx="56197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393529" imgH="393529" progId="Equation.DSMT4">
                  <p:embed/>
                </p:oleObj>
              </mc:Choice>
              <mc:Fallback>
                <p:oleObj name="Equation" r:id="rId9" imgW="393529" imgH="393529" progId="Equation.DSMT4">
                  <p:embed/>
                  <p:pic>
                    <p:nvPicPr>
                      <p:cNvPr id="19467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72225" y="4868863"/>
                        <a:ext cx="56197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8" name="Object 36"/>
          <p:cNvGraphicFramePr>
            <a:graphicFrameLocks noChangeAspect="1"/>
          </p:cNvGraphicFramePr>
          <p:nvPr/>
        </p:nvGraphicFramePr>
        <p:xfrm>
          <a:off x="5651500" y="4868863"/>
          <a:ext cx="7064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495085" imgH="393529" progId="Equation.DSMT4">
                  <p:embed/>
                </p:oleObj>
              </mc:Choice>
              <mc:Fallback>
                <p:oleObj name="Equation" r:id="rId11" imgW="495085" imgH="393529" progId="Equation.DSMT4">
                  <p:embed/>
                  <p:pic>
                    <p:nvPicPr>
                      <p:cNvPr id="1946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51500" y="4868863"/>
                        <a:ext cx="706438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7"/>
          <p:cNvGrpSpPr>
            <a:grpSpLocks/>
          </p:cNvGrpSpPr>
          <p:nvPr/>
        </p:nvGrpSpPr>
        <p:grpSpPr bwMode="auto">
          <a:xfrm>
            <a:off x="5795963" y="4835525"/>
            <a:ext cx="431800" cy="1022350"/>
            <a:chOff x="3491" y="3046"/>
            <a:chExt cx="272" cy="644"/>
          </a:xfrm>
        </p:grpSpPr>
        <p:sp>
          <p:nvSpPr>
            <p:cNvPr id="19474" name="Oval 38"/>
            <p:cNvSpPr>
              <a:spLocks noChangeArrowheads="1"/>
            </p:cNvSpPr>
            <p:nvPr/>
          </p:nvSpPr>
          <p:spPr bwMode="auto">
            <a:xfrm>
              <a:off x="3491" y="3046"/>
              <a:ext cx="272" cy="418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19475" name="Line 39"/>
            <p:cNvSpPr>
              <a:spLocks noChangeShapeType="1"/>
            </p:cNvSpPr>
            <p:nvPr/>
          </p:nvSpPr>
          <p:spPr bwMode="auto">
            <a:xfrm flipH="1">
              <a:off x="3624" y="3463"/>
              <a:ext cx="3" cy="227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76840" name="Object 40"/>
          <p:cNvGraphicFramePr>
            <a:graphicFrameLocks noChangeAspect="1"/>
          </p:cNvGraphicFramePr>
          <p:nvPr/>
        </p:nvGraphicFramePr>
        <p:xfrm>
          <a:off x="5764213" y="5919788"/>
          <a:ext cx="454025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317225" imgH="203024" progId="Equation.DSMT4">
                  <p:embed/>
                </p:oleObj>
              </mc:Choice>
              <mc:Fallback>
                <p:oleObj name="Equation" r:id="rId13" imgW="317225" imgH="203024" progId="Equation.DSMT4">
                  <p:embed/>
                  <p:pic>
                    <p:nvPicPr>
                      <p:cNvPr id="7684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64213" y="5919788"/>
                        <a:ext cx="454025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41" name="Object 41"/>
          <p:cNvGraphicFramePr>
            <a:graphicFrameLocks noChangeAspect="1"/>
          </p:cNvGraphicFramePr>
          <p:nvPr/>
        </p:nvGraphicFramePr>
        <p:xfrm>
          <a:off x="4311650" y="5910263"/>
          <a:ext cx="33813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362200" imgH="228600" progId="Equation.DSMT4">
                  <p:embed/>
                </p:oleObj>
              </mc:Choice>
              <mc:Fallback>
                <p:oleObj name="Equation" r:id="rId15" imgW="2362200" imgH="228600" progId="Equation.DSMT4">
                  <p:embed/>
                  <p:pic>
                    <p:nvPicPr>
                      <p:cNvPr id="76841" name="Object 4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11650" y="5910263"/>
                        <a:ext cx="3381375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6842" name="Object 42"/>
          <p:cNvGraphicFramePr>
            <a:graphicFrameLocks noChangeAspect="1"/>
          </p:cNvGraphicFramePr>
          <p:nvPr/>
        </p:nvGraphicFramePr>
        <p:xfrm>
          <a:off x="4859338" y="6270625"/>
          <a:ext cx="229076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1600200" imgH="228600" progId="Equation.DSMT4">
                  <p:embed/>
                </p:oleObj>
              </mc:Choice>
              <mc:Fallback>
                <p:oleObj name="Equation" r:id="rId17" imgW="1600200" imgH="228600" progId="Equation.DSMT4">
                  <p:embed/>
                  <p:pic>
                    <p:nvPicPr>
                      <p:cNvPr id="76842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9338" y="6270625"/>
                        <a:ext cx="2290762" cy="32702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439E30-94D7-4CDE-866F-61C22E9B767C}" type="slidenum">
              <a:rPr lang="pt-BR"/>
              <a:pPr>
                <a:defRPr/>
              </a:pPr>
              <a:t>17</a:t>
            </a:fld>
            <a:endParaRPr lang="pt-BR"/>
          </a:p>
        </p:txBody>
      </p:sp>
      <p:sp>
        <p:nvSpPr>
          <p:cNvPr id="3" name="Text Box 43">
            <a:extLst>
              <a:ext uri="{FF2B5EF4-FFF2-40B4-BE49-F238E27FC236}">
                <a16:creationId xmlns:a16="http://schemas.microsoft.com/office/drawing/2014/main" id="{601BE1C9-590A-FE4D-890F-5BC125617B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513" y="1676400"/>
            <a:ext cx="22526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probabilidade de escolher dois objetos vermelhos (sem reposição)?</a:t>
            </a:r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20483" name="Group 3"/>
          <p:cNvGrpSpPr>
            <a:grpSpLocks/>
          </p:cNvGrpSpPr>
          <p:nvPr/>
        </p:nvGrpSpPr>
        <p:grpSpPr bwMode="auto">
          <a:xfrm>
            <a:off x="914400" y="1465263"/>
            <a:ext cx="2667000" cy="1784350"/>
            <a:chOff x="2064" y="2256"/>
            <a:chExt cx="942" cy="630"/>
          </a:xfrm>
        </p:grpSpPr>
        <p:grpSp>
          <p:nvGrpSpPr>
            <p:cNvPr id="20508" name="Group 4"/>
            <p:cNvGrpSpPr>
              <a:grpSpLocks/>
            </p:cNvGrpSpPr>
            <p:nvPr/>
          </p:nvGrpSpPr>
          <p:grpSpPr bwMode="auto">
            <a:xfrm>
              <a:off x="2064" y="2256"/>
              <a:ext cx="543" cy="630"/>
              <a:chOff x="1968" y="2160"/>
              <a:chExt cx="543" cy="630"/>
            </a:xfrm>
          </p:grpSpPr>
          <p:sp>
            <p:nvSpPr>
              <p:cNvPr id="20511" name="Rectangle 5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543" cy="6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20512" name="Oval 6"/>
              <p:cNvSpPr>
                <a:spLocks noChangeArrowheads="1"/>
              </p:cNvSpPr>
              <p:nvPr/>
            </p:nvSpPr>
            <p:spPr bwMode="auto">
              <a:xfrm>
                <a:off x="2055" y="2247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20513" name="Oval 7"/>
              <p:cNvSpPr>
                <a:spLocks noChangeArrowheads="1"/>
              </p:cNvSpPr>
              <p:nvPr/>
            </p:nvSpPr>
            <p:spPr bwMode="auto">
              <a:xfrm>
                <a:off x="2207" y="2399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0509" name="Freeform 8" descr="Diagonal para cima clara"/>
            <p:cNvSpPr>
              <a:spLocks/>
            </p:cNvSpPr>
            <p:nvPr/>
          </p:nvSpPr>
          <p:spPr bwMode="auto">
            <a:xfrm>
              <a:off x="2304" y="2498"/>
              <a:ext cx="109" cy="145"/>
            </a:xfrm>
            <a:custGeom>
              <a:avLst/>
              <a:gdLst>
                <a:gd name="T0" fmla="*/ 0 w 109"/>
                <a:gd name="T1" fmla="*/ 145 h 145"/>
                <a:gd name="T2" fmla="*/ 3 w 109"/>
                <a:gd name="T3" fmla="*/ 105 h 145"/>
                <a:gd name="T4" fmla="*/ 16 w 109"/>
                <a:gd name="T5" fmla="*/ 73 h 145"/>
                <a:gd name="T6" fmla="*/ 30 w 109"/>
                <a:gd name="T7" fmla="*/ 49 h 145"/>
                <a:gd name="T8" fmla="*/ 53 w 109"/>
                <a:gd name="T9" fmla="*/ 25 h 145"/>
                <a:gd name="T10" fmla="*/ 77 w 109"/>
                <a:gd name="T11" fmla="*/ 9 h 145"/>
                <a:gd name="T12" fmla="*/ 99 w 109"/>
                <a:gd name="T13" fmla="*/ 0 h 145"/>
                <a:gd name="T14" fmla="*/ 109 w 109"/>
                <a:gd name="T15" fmla="*/ 0 h 145"/>
                <a:gd name="T16" fmla="*/ 106 w 109"/>
                <a:gd name="T17" fmla="*/ 27 h 145"/>
                <a:gd name="T18" fmla="*/ 99 w 109"/>
                <a:gd name="T19" fmla="*/ 56 h 145"/>
                <a:gd name="T20" fmla="*/ 86 w 109"/>
                <a:gd name="T21" fmla="*/ 80 h 145"/>
                <a:gd name="T22" fmla="*/ 72 w 109"/>
                <a:gd name="T23" fmla="*/ 104 h 145"/>
                <a:gd name="T24" fmla="*/ 51 w 109"/>
                <a:gd name="T25" fmla="*/ 124 h 145"/>
                <a:gd name="T26" fmla="*/ 24 w 109"/>
                <a:gd name="T27" fmla="*/ 137 h 145"/>
                <a:gd name="T28" fmla="*/ 14 w 109"/>
                <a:gd name="T29" fmla="*/ 144 h 145"/>
                <a:gd name="T30" fmla="*/ 0 w 109"/>
                <a:gd name="T31" fmla="*/ 145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aphicFrame>
          <p:nvGraphicFramePr>
            <p:cNvPr id="20510" name="Object 9"/>
            <p:cNvGraphicFramePr>
              <a:graphicFrameLocks noChangeAspect="1"/>
            </p:cNvGraphicFramePr>
            <p:nvPr/>
          </p:nvGraphicFramePr>
          <p:xfrm>
            <a:off x="2640" y="2496"/>
            <a:ext cx="36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18918" imgH="165028" progId="Equation.DSMT4">
                    <p:embed/>
                  </p:oleObj>
                </mc:Choice>
                <mc:Fallback>
                  <p:oleObj name="Equation" r:id="rId2" imgW="418918" imgH="165028" progId="Equation.DSMT4">
                    <p:embed/>
                    <p:pic>
                      <p:nvPicPr>
                        <p:cNvPr id="20510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496"/>
                          <a:ext cx="36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0484" name="Text Box 10"/>
          <p:cNvSpPr txBox="1">
            <a:spLocks noChangeArrowheads="1"/>
          </p:cNvSpPr>
          <p:nvPr/>
        </p:nvSpPr>
        <p:spPr bwMode="auto">
          <a:xfrm>
            <a:off x="3975100" y="1460500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Exemplo:</a:t>
            </a:r>
          </a:p>
        </p:txBody>
      </p:sp>
      <p:grpSp>
        <p:nvGrpSpPr>
          <p:cNvPr id="20486" name="Group 12"/>
          <p:cNvGrpSpPr>
            <a:grpSpLocks/>
          </p:cNvGrpSpPr>
          <p:nvPr/>
        </p:nvGrpSpPr>
        <p:grpSpPr bwMode="auto">
          <a:xfrm>
            <a:off x="3995738" y="2208213"/>
            <a:ext cx="1152525" cy="1582737"/>
            <a:chOff x="2562" y="1344"/>
            <a:chExt cx="726" cy="997"/>
          </a:xfrm>
        </p:grpSpPr>
        <p:sp>
          <p:nvSpPr>
            <p:cNvPr id="20496" name="Freeform 13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20497" name="Oval 14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0498" name="Oval 15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0499" name="Oval 16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0500" name="Oval 17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0501" name="Oval 18"/>
            <p:cNvSpPr>
              <a:spLocks noChangeArrowheads="1"/>
            </p:cNvSpPr>
            <p:nvPr/>
          </p:nvSpPr>
          <p:spPr bwMode="auto">
            <a:xfrm>
              <a:off x="2653" y="1616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0502" name="Oval 19"/>
            <p:cNvSpPr>
              <a:spLocks noChangeArrowheads="1"/>
            </p:cNvSpPr>
            <p:nvPr/>
          </p:nvSpPr>
          <p:spPr bwMode="auto">
            <a:xfrm>
              <a:off x="3080" y="153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0503" name="Oval 20"/>
            <p:cNvSpPr>
              <a:spLocks noChangeArrowheads="1"/>
            </p:cNvSpPr>
            <p:nvPr/>
          </p:nvSpPr>
          <p:spPr bwMode="auto">
            <a:xfrm>
              <a:off x="2607" y="18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0504" name="Oval 21"/>
            <p:cNvSpPr>
              <a:spLocks noChangeArrowheads="1"/>
            </p:cNvSpPr>
            <p:nvPr/>
          </p:nvSpPr>
          <p:spPr bwMode="auto">
            <a:xfrm>
              <a:off x="2880" y="1616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0505" name="Oval 22"/>
            <p:cNvSpPr>
              <a:spLocks noChangeArrowheads="1"/>
            </p:cNvSpPr>
            <p:nvPr/>
          </p:nvSpPr>
          <p:spPr bwMode="auto">
            <a:xfrm>
              <a:off x="3061" y="1797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0506" name="Oval 23"/>
            <p:cNvSpPr>
              <a:spLocks noChangeArrowheads="1"/>
            </p:cNvSpPr>
            <p:nvPr/>
          </p:nvSpPr>
          <p:spPr bwMode="auto">
            <a:xfrm>
              <a:off x="2608" y="2115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0507" name="Oval 24"/>
            <p:cNvSpPr>
              <a:spLocks noChangeArrowheads="1"/>
            </p:cNvSpPr>
            <p:nvPr/>
          </p:nvSpPr>
          <p:spPr bwMode="auto">
            <a:xfrm>
              <a:off x="2835" y="206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20487" name="Group 25"/>
          <p:cNvGrpSpPr>
            <a:grpSpLocks/>
          </p:cNvGrpSpPr>
          <p:nvPr/>
        </p:nvGrpSpPr>
        <p:grpSpPr bwMode="auto">
          <a:xfrm>
            <a:off x="4356100" y="2133600"/>
            <a:ext cx="2376488" cy="938213"/>
            <a:chOff x="2608" y="1434"/>
            <a:chExt cx="1497" cy="591"/>
          </a:xfrm>
        </p:grpSpPr>
        <p:cxnSp>
          <p:nvCxnSpPr>
            <p:cNvPr id="20492" name="AutoShape 26"/>
            <p:cNvCxnSpPr>
              <a:cxnSpLocks noChangeShapeType="1"/>
            </p:cNvCxnSpPr>
            <p:nvPr/>
          </p:nvCxnSpPr>
          <p:spPr bwMode="auto">
            <a:xfrm rot="5400000" flipV="1">
              <a:off x="2896" y="1147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0493" name="Line 27"/>
            <p:cNvSpPr>
              <a:spLocks noChangeShapeType="1"/>
            </p:cNvSpPr>
            <p:nvPr/>
          </p:nvSpPr>
          <p:spPr bwMode="auto">
            <a:xfrm>
              <a:off x="3470" y="202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20494" name="Line 28"/>
            <p:cNvSpPr>
              <a:spLocks noChangeShapeType="1"/>
            </p:cNvSpPr>
            <p:nvPr/>
          </p:nvSpPr>
          <p:spPr bwMode="auto">
            <a:xfrm>
              <a:off x="3833" y="202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cxnSp>
          <p:nvCxnSpPr>
            <p:cNvPr id="20495" name="AutoShape 29"/>
            <p:cNvCxnSpPr>
              <a:cxnSpLocks noChangeShapeType="1"/>
            </p:cNvCxnSpPr>
            <p:nvPr/>
          </p:nvCxnSpPr>
          <p:spPr bwMode="auto">
            <a:xfrm rot="5400000" flipV="1">
              <a:off x="3214" y="1146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20488" name="Object 30"/>
          <p:cNvGraphicFramePr>
            <a:graphicFrameLocks noChangeAspect="1"/>
          </p:cNvGraphicFramePr>
          <p:nvPr/>
        </p:nvGraphicFramePr>
        <p:xfrm>
          <a:off x="5545138" y="3482975"/>
          <a:ext cx="2562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90700" imgH="228600" progId="Equation.DSMT4">
                  <p:embed/>
                </p:oleObj>
              </mc:Choice>
              <mc:Fallback>
                <p:oleObj name="Equation" r:id="rId4" imgW="1790700" imgH="228600" progId="Equation.DSMT4">
                  <p:embed/>
                  <p:pic>
                    <p:nvPicPr>
                      <p:cNvPr id="2048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138" y="3482975"/>
                        <a:ext cx="25622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89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35201727"/>
              </p:ext>
            </p:extLst>
          </p:nvPr>
        </p:nvGraphicFramePr>
        <p:xfrm>
          <a:off x="7915275" y="3354388"/>
          <a:ext cx="579438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6048" imgH="393359" progId="Equation.DSMT4">
                  <p:embed/>
                </p:oleObj>
              </mc:Choice>
              <mc:Fallback>
                <p:oleObj name="Equation" r:id="rId6" imgW="406048" imgH="393359" progId="Equation.DSMT4">
                  <p:embed/>
                  <p:pic>
                    <p:nvPicPr>
                      <p:cNvPr id="20489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5275" y="3354388"/>
                        <a:ext cx="579438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490" name="Object 43"/>
          <p:cNvGraphicFramePr>
            <a:graphicFrameLocks noChangeAspect="1"/>
          </p:cNvGraphicFramePr>
          <p:nvPr/>
        </p:nvGraphicFramePr>
        <p:xfrm>
          <a:off x="1671638" y="4606925"/>
          <a:ext cx="6069012" cy="909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241800" imgH="635000" progId="Equation.DSMT4">
                  <p:embed/>
                </p:oleObj>
              </mc:Choice>
              <mc:Fallback>
                <p:oleObj name="Equation" r:id="rId8" imgW="4241800" imgH="635000" progId="Equation.DSMT4">
                  <p:embed/>
                  <p:pic>
                    <p:nvPicPr>
                      <p:cNvPr id="20490" name="Object 4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638" y="4606925"/>
                        <a:ext cx="6069012" cy="9096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B51BEBC-4832-42BD-8770-07F3D6CED571}" type="slidenum">
              <a:rPr lang="pt-BR"/>
              <a:pPr>
                <a:defRPr/>
              </a:pPr>
              <a:t>18</a:t>
            </a:fld>
            <a:endParaRPr lang="pt-BR"/>
          </a:p>
        </p:txBody>
      </p:sp>
      <p:sp>
        <p:nvSpPr>
          <p:cNvPr id="3" name="Text Box 43">
            <a:extLst>
              <a:ext uri="{FF2B5EF4-FFF2-40B4-BE49-F238E27FC236}">
                <a16:creationId xmlns:a16="http://schemas.microsoft.com/office/drawing/2014/main" id="{A30D76C4-4DEA-AB91-7C55-5E437796EC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40513" y="1676400"/>
            <a:ext cx="22526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probabilidade de escolher dois objetos vermelhos (sem reposição)?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21507" name="Group 3"/>
          <p:cNvGrpSpPr>
            <a:grpSpLocks/>
          </p:cNvGrpSpPr>
          <p:nvPr/>
        </p:nvGrpSpPr>
        <p:grpSpPr bwMode="auto">
          <a:xfrm>
            <a:off x="2971800" y="3505200"/>
            <a:ext cx="3352800" cy="990600"/>
            <a:chOff x="1725" y="2151"/>
            <a:chExt cx="2112" cy="624"/>
          </a:xfrm>
        </p:grpSpPr>
        <p:graphicFrame>
          <p:nvGraphicFramePr>
            <p:cNvPr id="21516" name="Object 4"/>
            <p:cNvGraphicFramePr>
              <a:graphicFrameLocks noChangeAspect="1"/>
            </p:cNvGraphicFramePr>
            <p:nvPr/>
          </p:nvGraphicFramePr>
          <p:xfrm>
            <a:off x="1824" y="2208"/>
            <a:ext cx="1942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37589" imgH="431613" progId="Equation.DSMT4">
                    <p:embed/>
                  </p:oleObj>
                </mc:Choice>
                <mc:Fallback>
                  <p:oleObj name="Equation" r:id="rId2" imgW="1637589" imgH="431613" progId="Equation.DSMT4">
                    <p:embed/>
                    <p:pic>
                      <p:nvPicPr>
                        <p:cNvPr id="2151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208"/>
                          <a:ext cx="1942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17" name="Rectangle 5"/>
            <p:cNvSpPr>
              <a:spLocks noChangeArrowheads="1"/>
            </p:cNvSpPr>
            <p:nvPr/>
          </p:nvSpPr>
          <p:spPr bwMode="auto">
            <a:xfrm>
              <a:off x="1725" y="2151"/>
              <a:ext cx="2112" cy="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21508" name="Group 8"/>
          <p:cNvGrpSpPr>
            <a:grpSpLocks/>
          </p:cNvGrpSpPr>
          <p:nvPr/>
        </p:nvGrpSpPr>
        <p:grpSpPr bwMode="auto">
          <a:xfrm>
            <a:off x="914400" y="1465263"/>
            <a:ext cx="2667000" cy="1784350"/>
            <a:chOff x="2064" y="2256"/>
            <a:chExt cx="942" cy="630"/>
          </a:xfrm>
        </p:grpSpPr>
        <p:grpSp>
          <p:nvGrpSpPr>
            <p:cNvPr id="21510" name="Group 9"/>
            <p:cNvGrpSpPr>
              <a:grpSpLocks/>
            </p:cNvGrpSpPr>
            <p:nvPr/>
          </p:nvGrpSpPr>
          <p:grpSpPr bwMode="auto">
            <a:xfrm>
              <a:off x="2064" y="2256"/>
              <a:ext cx="543" cy="630"/>
              <a:chOff x="1968" y="2160"/>
              <a:chExt cx="543" cy="630"/>
            </a:xfrm>
          </p:grpSpPr>
          <p:sp>
            <p:nvSpPr>
              <p:cNvPr id="21513" name="Rectangle 10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543" cy="6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21514" name="Oval 11"/>
              <p:cNvSpPr>
                <a:spLocks noChangeArrowheads="1"/>
              </p:cNvSpPr>
              <p:nvPr/>
            </p:nvSpPr>
            <p:spPr bwMode="auto">
              <a:xfrm>
                <a:off x="2055" y="2247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21515" name="Oval 12"/>
              <p:cNvSpPr>
                <a:spLocks noChangeArrowheads="1"/>
              </p:cNvSpPr>
              <p:nvPr/>
            </p:nvSpPr>
            <p:spPr bwMode="auto">
              <a:xfrm>
                <a:off x="2207" y="2399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1511" name="Freeform 13" descr="Diagonal para cima clara"/>
            <p:cNvSpPr>
              <a:spLocks/>
            </p:cNvSpPr>
            <p:nvPr/>
          </p:nvSpPr>
          <p:spPr bwMode="auto">
            <a:xfrm>
              <a:off x="2304" y="2498"/>
              <a:ext cx="109" cy="145"/>
            </a:xfrm>
            <a:custGeom>
              <a:avLst/>
              <a:gdLst>
                <a:gd name="T0" fmla="*/ 0 w 109"/>
                <a:gd name="T1" fmla="*/ 145 h 145"/>
                <a:gd name="T2" fmla="*/ 3 w 109"/>
                <a:gd name="T3" fmla="*/ 105 h 145"/>
                <a:gd name="T4" fmla="*/ 16 w 109"/>
                <a:gd name="T5" fmla="*/ 73 h 145"/>
                <a:gd name="T6" fmla="*/ 30 w 109"/>
                <a:gd name="T7" fmla="*/ 49 h 145"/>
                <a:gd name="T8" fmla="*/ 53 w 109"/>
                <a:gd name="T9" fmla="*/ 25 h 145"/>
                <a:gd name="T10" fmla="*/ 77 w 109"/>
                <a:gd name="T11" fmla="*/ 9 h 145"/>
                <a:gd name="T12" fmla="*/ 99 w 109"/>
                <a:gd name="T13" fmla="*/ 0 h 145"/>
                <a:gd name="T14" fmla="*/ 109 w 109"/>
                <a:gd name="T15" fmla="*/ 0 h 145"/>
                <a:gd name="T16" fmla="*/ 106 w 109"/>
                <a:gd name="T17" fmla="*/ 27 h 145"/>
                <a:gd name="T18" fmla="*/ 99 w 109"/>
                <a:gd name="T19" fmla="*/ 56 h 145"/>
                <a:gd name="T20" fmla="*/ 86 w 109"/>
                <a:gd name="T21" fmla="*/ 80 h 145"/>
                <a:gd name="T22" fmla="*/ 72 w 109"/>
                <a:gd name="T23" fmla="*/ 104 h 145"/>
                <a:gd name="T24" fmla="*/ 51 w 109"/>
                <a:gd name="T25" fmla="*/ 124 h 145"/>
                <a:gd name="T26" fmla="*/ 24 w 109"/>
                <a:gd name="T27" fmla="*/ 137 h 145"/>
                <a:gd name="T28" fmla="*/ 14 w 109"/>
                <a:gd name="T29" fmla="*/ 144 h 145"/>
                <a:gd name="T30" fmla="*/ 0 w 109"/>
                <a:gd name="T31" fmla="*/ 145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aphicFrame>
          <p:nvGraphicFramePr>
            <p:cNvPr id="21512" name="Object 14"/>
            <p:cNvGraphicFramePr>
              <a:graphicFrameLocks noChangeAspect="1"/>
            </p:cNvGraphicFramePr>
            <p:nvPr/>
          </p:nvGraphicFramePr>
          <p:xfrm>
            <a:off x="2640" y="2496"/>
            <a:ext cx="36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18918" imgH="165028" progId="Equation.DSMT4">
                    <p:embed/>
                  </p:oleObj>
                </mc:Choice>
                <mc:Fallback>
                  <p:oleObj name="Equation" r:id="rId4" imgW="418918" imgH="165028" progId="Equation.DSMT4">
                    <p:embed/>
                    <p:pic>
                      <p:nvPicPr>
                        <p:cNvPr id="2151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496"/>
                          <a:ext cx="36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60415A2-CA76-41C7-BAB8-4FFE1B87CD85}" type="slidenum">
              <a:rPr lang="pt-BR"/>
              <a:pPr>
                <a:defRPr/>
              </a:pPr>
              <a:t>19</a:t>
            </a:fld>
            <a:endParaRPr lang="pt-B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22531" name="Group 3"/>
          <p:cNvGrpSpPr>
            <a:grpSpLocks/>
          </p:cNvGrpSpPr>
          <p:nvPr/>
        </p:nvGrpSpPr>
        <p:grpSpPr bwMode="auto">
          <a:xfrm>
            <a:off x="914400" y="1465263"/>
            <a:ext cx="2667000" cy="1784350"/>
            <a:chOff x="2064" y="2256"/>
            <a:chExt cx="942" cy="630"/>
          </a:xfrm>
        </p:grpSpPr>
        <p:grpSp>
          <p:nvGrpSpPr>
            <p:cNvPr id="22560" name="Group 4"/>
            <p:cNvGrpSpPr>
              <a:grpSpLocks/>
            </p:cNvGrpSpPr>
            <p:nvPr/>
          </p:nvGrpSpPr>
          <p:grpSpPr bwMode="auto">
            <a:xfrm>
              <a:off x="2064" y="2256"/>
              <a:ext cx="543" cy="630"/>
              <a:chOff x="1968" y="2160"/>
              <a:chExt cx="543" cy="630"/>
            </a:xfrm>
          </p:grpSpPr>
          <p:sp>
            <p:nvSpPr>
              <p:cNvPr id="22563" name="Rectangle 5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543" cy="6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22564" name="Oval 6"/>
              <p:cNvSpPr>
                <a:spLocks noChangeArrowheads="1"/>
              </p:cNvSpPr>
              <p:nvPr/>
            </p:nvSpPr>
            <p:spPr bwMode="auto">
              <a:xfrm>
                <a:off x="2055" y="2247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22565" name="Oval 7"/>
              <p:cNvSpPr>
                <a:spLocks noChangeArrowheads="1"/>
              </p:cNvSpPr>
              <p:nvPr/>
            </p:nvSpPr>
            <p:spPr bwMode="auto">
              <a:xfrm>
                <a:off x="2207" y="2399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2561" name="Freeform 8" descr="Diagonal para cima clara"/>
            <p:cNvSpPr>
              <a:spLocks/>
            </p:cNvSpPr>
            <p:nvPr/>
          </p:nvSpPr>
          <p:spPr bwMode="auto">
            <a:xfrm>
              <a:off x="2304" y="2498"/>
              <a:ext cx="109" cy="145"/>
            </a:xfrm>
            <a:custGeom>
              <a:avLst/>
              <a:gdLst>
                <a:gd name="T0" fmla="*/ 0 w 109"/>
                <a:gd name="T1" fmla="*/ 145 h 145"/>
                <a:gd name="T2" fmla="*/ 3 w 109"/>
                <a:gd name="T3" fmla="*/ 105 h 145"/>
                <a:gd name="T4" fmla="*/ 16 w 109"/>
                <a:gd name="T5" fmla="*/ 73 h 145"/>
                <a:gd name="T6" fmla="*/ 30 w 109"/>
                <a:gd name="T7" fmla="*/ 49 h 145"/>
                <a:gd name="T8" fmla="*/ 53 w 109"/>
                <a:gd name="T9" fmla="*/ 25 h 145"/>
                <a:gd name="T10" fmla="*/ 77 w 109"/>
                <a:gd name="T11" fmla="*/ 9 h 145"/>
                <a:gd name="T12" fmla="*/ 99 w 109"/>
                <a:gd name="T13" fmla="*/ 0 h 145"/>
                <a:gd name="T14" fmla="*/ 109 w 109"/>
                <a:gd name="T15" fmla="*/ 0 h 145"/>
                <a:gd name="T16" fmla="*/ 106 w 109"/>
                <a:gd name="T17" fmla="*/ 27 h 145"/>
                <a:gd name="T18" fmla="*/ 99 w 109"/>
                <a:gd name="T19" fmla="*/ 56 h 145"/>
                <a:gd name="T20" fmla="*/ 86 w 109"/>
                <a:gd name="T21" fmla="*/ 80 h 145"/>
                <a:gd name="T22" fmla="*/ 72 w 109"/>
                <a:gd name="T23" fmla="*/ 104 h 145"/>
                <a:gd name="T24" fmla="*/ 51 w 109"/>
                <a:gd name="T25" fmla="*/ 124 h 145"/>
                <a:gd name="T26" fmla="*/ 24 w 109"/>
                <a:gd name="T27" fmla="*/ 137 h 145"/>
                <a:gd name="T28" fmla="*/ 14 w 109"/>
                <a:gd name="T29" fmla="*/ 144 h 145"/>
                <a:gd name="T30" fmla="*/ 0 w 109"/>
                <a:gd name="T31" fmla="*/ 145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aphicFrame>
          <p:nvGraphicFramePr>
            <p:cNvPr id="22562" name="Object 9"/>
            <p:cNvGraphicFramePr>
              <a:graphicFrameLocks noChangeAspect="1"/>
            </p:cNvGraphicFramePr>
            <p:nvPr/>
          </p:nvGraphicFramePr>
          <p:xfrm>
            <a:off x="2640" y="2496"/>
            <a:ext cx="36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18918" imgH="165028" progId="Equation.DSMT4">
                    <p:embed/>
                  </p:oleObj>
                </mc:Choice>
                <mc:Fallback>
                  <p:oleObj name="Equation" r:id="rId3" imgW="418918" imgH="165028" progId="Equation.DSMT4">
                    <p:embed/>
                    <p:pic>
                      <p:nvPicPr>
                        <p:cNvPr id="22562" name="Object 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496"/>
                          <a:ext cx="36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32" name="Text Box 10"/>
          <p:cNvSpPr txBox="1">
            <a:spLocks noChangeArrowheads="1"/>
          </p:cNvSpPr>
          <p:nvPr/>
        </p:nvSpPr>
        <p:spPr bwMode="auto">
          <a:xfrm>
            <a:off x="3975100" y="1460500"/>
            <a:ext cx="103028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Exemplo:</a:t>
            </a:r>
          </a:p>
        </p:txBody>
      </p:sp>
      <p:sp>
        <p:nvSpPr>
          <p:cNvPr id="22533" name="Text Box 11"/>
          <p:cNvSpPr txBox="1">
            <a:spLocks noChangeArrowheads="1"/>
          </p:cNvSpPr>
          <p:nvPr/>
        </p:nvSpPr>
        <p:spPr bwMode="auto">
          <a:xfrm>
            <a:off x="6640513" y="1676400"/>
            <a:ext cx="2252662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Qual a probabilidade de escolher dois objetos vermelhos (</a:t>
            </a:r>
            <a:r>
              <a:rPr lang="pt-BR" altLang="pt-BR" sz="1600">
                <a:latin typeface="Tahoma" panose="020B0604030504040204" pitchFamily="34" charset="0"/>
              </a:rPr>
              <a:t>com reposição)?</a:t>
            </a:r>
          </a:p>
        </p:txBody>
      </p:sp>
      <p:grpSp>
        <p:nvGrpSpPr>
          <p:cNvPr id="22534" name="Group 12"/>
          <p:cNvGrpSpPr>
            <a:grpSpLocks/>
          </p:cNvGrpSpPr>
          <p:nvPr/>
        </p:nvGrpSpPr>
        <p:grpSpPr bwMode="auto">
          <a:xfrm>
            <a:off x="3995738" y="2208213"/>
            <a:ext cx="1152525" cy="1582737"/>
            <a:chOff x="2562" y="1344"/>
            <a:chExt cx="726" cy="997"/>
          </a:xfrm>
        </p:grpSpPr>
        <p:sp>
          <p:nvSpPr>
            <p:cNvPr id="22548" name="Freeform 13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22549" name="Oval 14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2550" name="Oval 15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2551" name="Oval 16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2552" name="Oval 17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2553" name="Oval 18"/>
            <p:cNvSpPr>
              <a:spLocks noChangeArrowheads="1"/>
            </p:cNvSpPr>
            <p:nvPr/>
          </p:nvSpPr>
          <p:spPr bwMode="auto">
            <a:xfrm>
              <a:off x="2653" y="1616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2554" name="Oval 19"/>
            <p:cNvSpPr>
              <a:spLocks noChangeArrowheads="1"/>
            </p:cNvSpPr>
            <p:nvPr/>
          </p:nvSpPr>
          <p:spPr bwMode="auto">
            <a:xfrm>
              <a:off x="3080" y="153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2555" name="Oval 20"/>
            <p:cNvSpPr>
              <a:spLocks noChangeArrowheads="1"/>
            </p:cNvSpPr>
            <p:nvPr/>
          </p:nvSpPr>
          <p:spPr bwMode="auto">
            <a:xfrm>
              <a:off x="2607" y="18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2556" name="Oval 21"/>
            <p:cNvSpPr>
              <a:spLocks noChangeArrowheads="1"/>
            </p:cNvSpPr>
            <p:nvPr/>
          </p:nvSpPr>
          <p:spPr bwMode="auto">
            <a:xfrm>
              <a:off x="2880" y="1616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2557" name="Oval 22"/>
            <p:cNvSpPr>
              <a:spLocks noChangeArrowheads="1"/>
            </p:cNvSpPr>
            <p:nvPr/>
          </p:nvSpPr>
          <p:spPr bwMode="auto">
            <a:xfrm>
              <a:off x="3061" y="1797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2558" name="Oval 23"/>
            <p:cNvSpPr>
              <a:spLocks noChangeArrowheads="1"/>
            </p:cNvSpPr>
            <p:nvPr/>
          </p:nvSpPr>
          <p:spPr bwMode="auto">
            <a:xfrm>
              <a:off x="2608" y="2115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2559" name="Oval 24"/>
            <p:cNvSpPr>
              <a:spLocks noChangeArrowheads="1"/>
            </p:cNvSpPr>
            <p:nvPr/>
          </p:nvSpPr>
          <p:spPr bwMode="auto">
            <a:xfrm>
              <a:off x="2835" y="206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22535" name="Group 41"/>
          <p:cNvGrpSpPr>
            <a:grpSpLocks/>
          </p:cNvGrpSpPr>
          <p:nvPr/>
        </p:nvGrpSpPr>
        <p:grpSpPr bwMode="auto">
          <a:xfrm>
            <a:off x="4356100" y="2133600"/>
            <a:ext cx="2376488" cy="938213"/>
            <a:chOff x="2744" y="1344"/>
            <a:chExt cx="1497" cy="591"/>
          </a:xfrm>
        </p:grpSpPr>
        <p:cxnSp>
          <p:nvCxnSpPr>
            <p:cNvPr id="22544" name="AutoShape 26"/>
            <p:cNvCxnSpPr>
              <a:cxnSpLocks noChangeShapeType="1"/>
            </p:cNvCxnSpPr>
            <p:nvPr/>
          </p:nvCxnSpPr>
          <p:spPr bwMode="auto">
            <a:xfrm rot="5400000" flipV="1">
              <a:off x="3032" y="1057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2545" name="Line 27"/>
            <p:cNvSpPr>
              <a:spLocks noChangeShapeType="1"/>
            </p:cNvSpPr>
            <p:nvPr/>
          </p:nvSpPr>
          <p:spPr bwMode="auto">
            <a:xfrm>
              <a:off x="3606" y="1935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22546" name="Line 28"/>
            <p:cNvSpPr>
              <a:spLocks noChangeShapeType="1"/>
            </p:cNvSpPr>
            <p:nvPr/>
          </p:nvSpPr>
          <p:spPr bwMode="auto">
            <a:xfrm>
              <a:off x="3969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cxnSp>
          <p:nvCxnSpPr>
            <p:cNvPr id="22547" name="AutoShape 29"/>
            <p:cNvCxnSpPr>
              <a:cxnSpLocks noChangeShapeType="1"/>
            </p:cNvCxnSpPr>
            <p:nvPr/>
          </p:nvCxnSpPr>
          <p:spPr bwMode="auto">
            <a:xfrm rot="5400000" flipV="1">
              <a:off x="3350" y="1056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aphicFrame>
        <p:nvGraphicFramePr>
          <p:cNvPr id="22536" name="Object 30"/>
          <p:cNvGraphicFramePr>
            <a:graphicFrameLocks noChangeAspect="1"/>
          </p:cNvGraphicFramePr>
          <p:nvPr/>
        </p:nvGraphicFramePr>
        <p:xfrm>
          <a:off x="5545138" y="3482975"/>
          <a:ext cx="2562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790700" imgH="228600" progId="Equation.DSMT4">
                  <p:embed/>
                </p:oleObj>
              </mc:Choice>
              <mc:Fallback>
                <p:oleObj name="Equation" r:id="rId5" imgW="1790700" imgH="228600" progId="Equation.DSMT4">
                  <p:embed/>
                  <p:pic>
                    <p:nvPicPr>
                      <p:cNvPr id="2253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5138" y="3482975"/>
                        <a:ext cx="25622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7" name="Object 3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3815079"/>
              </p:ext>
            </p:extLst>
          </p:nvPr>
        </p:nvGraphicFramePr>
        <p:xfrm>
          <a:off x="7916863" y="3354388"/>
          <a:ext cx="36195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53890" imgH="393529" progId="Equation.DSMT4">
                  <p:embed/>
                </p:oleObj>
              </mc:Choice>
              <mc:Fallback>
                <p:oleObj name="Equation" r:id="rId7" imgW="253890" imgH="393529" progId="Equation.DSMT4">
                  <p:embed/>
                  <p:pic>
                    <p:nvPicPr>
                      <p:cNvPr id="2253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16863" y="3354388"/>
                        <a:ext cx="361950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2538" name="AutoShape 34"/>
          <p:cNvCxnSpPr>
            <a:cxnSpLocks noChangeShapeType="1"/>
          </p:cNvCxnSpPr>
          <p:nvPr/>
        </p:nvCxnSpPr>
        <p:spPr bwMode="auto">
          <a:xfrm rot="5400000" flipV="1">
            <a:off x="4812506" y="1586707"/>
            <a:ext cx="712787" cy="1701800"/>
          </a:xfrm>
          <a:prstGeom prst="curvedConnector3">
            <a:avLst>
              <a:gd name="adj1" fmla="val -34616"/>
            </a:avLst>
          </a:prstGeom>
          <a:noFill/>
          <a:ln w="9525">
            <a:solidFill>
              <a:schemeClr val="tx1"/>
            </a:solidFill>
            <a:prstDash val="dash"/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aphicFrame>
        <p:nvGraphicFramePr>
          <p:cNvPr id="79909" name="Object 37"/>
          <p:cNvGraphicFramePr>
            <a:graphicFrameLocks noChangeAspect="1"/>
          </p:cNvGraphicFramePr>
          <p:nvPr/>
        </p:nvGraphicFramePr>
        <p:xfrm>
          <a:off x="2124075" y="4437063"/>
          <a:ext cx="3125788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184400" imgH="431800" progId="Equation.DSMT4">
                  <p:embed/>
                </p:oleObj>
              </mc:Choice>
              <mc:Fallback>
                <p:oleObj name="Equation" r:id="rId9" imgW="2184400" imgH="431800" progId="Equation.DSMT4">
                  <p:embed/>
                  <p:pic>
                    <p:nvPicPr>
                      <p:cNvPr id="79909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4075" y="4437063"/>
                        <a:ext cx="3125788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10" name="Object 38"/>
          <p:cNvGraphicFramePr>
            <a:graphicFrameLocks noChangeAspect="1"/>
          </p:cNvGraphicFramePr>
          <p:nvPr/>
        </p:nvGraphicFramePr>
        <p:xfrm>
          <a:off x="2122488" y="4437063"/>
          <a:ext cx="3125787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184400" imgH="393700" progId="Equation.DSMT4">
                  <p:embed/>
                </p:oleObj>
              </mc:Choice>
              <mc:Fallback>
                <p:oleObj name="Equation" r:id="rId11" imgW="2184400" imgH="393700" progId="Equation.DSMT4">
                  <p:embed/>
                  <p:pic>
                    <p:nvPicPr>
                      <p:cNvPr id="7991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22488" y="4437063"/>
                        <a:ext cx="3125787" cy="563562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9904" name="Object 32"/>
          <p:cNvGraphicFramePr>
            <a:graphicFrameLocks noChangeAspect="1"/>
          </p:cNvGraphicFramePr>
          <p:nvPr/>
        </p:nvGraphicFramePr>
        <p:xfrm>
          <a:off x="4492625" y="5118100"/>
          <a:ext cx="26717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866900" imgH="228600" progId="Equation.DSMT4">
                  <p:embed/>
                </p:oleObj>
              </mc:Choice>
              <mc:Fallback>
                <p:oleObj name="Equation" r:id="rId13" imgW="1866900" imgH="228600" progId="Equation.DSMT4">
                  <p:embed/>
                  <p:pic>
                    <p:nvPicPr>
                      <p:cNvPr id="79904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92625" y="5118100"/>
                        <a:ext cx="2671763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9912" name="Text Box 40"/>
          <p:cNvSpPr txBox="1">
            <a:spLocks noChangeArrowheads="1"/>
          </p:cNvSpPr>
          <p:nvPr/>
        </p:nvSpPr>
        <p:spPr bwMode="auto">
          <a:xfrm>
            <a:off x="5403850" y="4554538"/>
            <a:ext cx="2481263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(eventos independentes)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4FD1739-108E-4823-8942-6134326C5150}" type="slidenum">
              <a:rPr lang="pt-BR"/>
              <a:pPr>
                <a:defRPr/>
              </a:pPr>
              <a:t>20</a:t>
            </a:fld>
            <a:endParaRPr lang="pt-BR"/>
          </a:p>
        </p:txBody>
      </p:sp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9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9912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23555" name="Group 3"/>
          <p:cNvGrpSpPr>
            <a:grpSpLocks/>
          </p:cNvGrpSpPr>
          <p:nvPr/>
        </p:nvGrpSpPr>
        <p:grpSpPr bwMode="auto">
          <a:xfrm>
            <a:off x="2971800" y="3505200"/>
            <a:ext cx="3352800" cy="990600"/>
            <a:chOff x="1725" y="2151"/>
            <a:chExt cx="2112" cy="624"/>
          </a:xfrm>
        </p:grpSpPr>
        <p:graphicFrame>
          <p:nvGraphicFramePr>
            <p:cNvPr id="23566" name="Object 4"/>
            <p:cNvGraphicFramePr>
              <a:graphicFrameLocks noChangeAspect="1"/>
            </p:cNvGraphicFramePr>
            <p:nvPr/>
          </p:nvGraphicFramePr>
          <p:xfrm>
            <a:off x="1824" y="2208"/>
            <a:ext cx="1942" cy="51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637589" imgH="431613" progId="Equation.DSMT4">
                    <p:embed/>
                  </p:oleObj>
                </mc:Choice>
                <mc:Fallback>
                  <p:oleObj name="Equation" r:id="rId2" imgW="1637589" imgH="431613" progId="Equation.DSMT4">
                    <p:embed/>
                    <p:pic>
                      <p:nvPicPr>
                        <p:cNvPr id="23566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24" y="2208"/>
                          <a:ext cx="1942" cy="51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67" name="Rectangle 5"/>
            <p:cNvSpPr>
              <a:spLocks noChangeArrowheads="1"/>
            </p:cNvSpPr>
            <p:nvPr/>
          </p:nvSpPr>
          <p:spPr bwMode="auto">
            <a:xfrm>
              <a:off x="1725" y="2151"/>
              <a:ext cx="2112" cy="62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23556" name="Object 6"/>
          <p:cNvGraphicFramePr>
            <a:graphicFrameLocks noChangeAspect="1"/>
          </p:cNvGraphicFramePr>
          <p:nvPr/>
        </p:nvGraphicFramePr>
        <p:xfrm>
          <a:off x="844550" y="5494338"/>
          <a:ext cx="7456488" cy="38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962400" imgH="203200" progId="Equation.DSMT4">
                  <p:embed/>
                </p:oleObj>
              </mc:Choice>
              <mc:Fallback>
                <p:oleObj name="Equation" r:id="rId4" imgW="3962400" imgH="203200" progId="Equation.DSMT4">
                  <p:embed/>
                  <p:pic>
                    <p:nvPicPr>
                      <p:cNvPr id="2355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5494338"/>
                        <a:ext cx="7456488" cy="3825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Text Box 7"/>
          <p:cNvSpPr txBox="1">
            <a:spLocks noChangeArrowheads="1"/>
          </p:cNvSpPr>
          <p:nvPr/>
        </p:nvSpPr>
        <p:spPr bwMode="auto">
          <a:xfrm>
            <a:off x="844550" y="5013325"/>
            <a:ext cx="369411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Se </a:t>
            </a:r>
            <a:r>
              <a:rPr lang="pt-BR" altLang="pt-BR" sz="1600" i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 e </a:t>
            </a:r>
            <a:r>
              <a:rPr lang="pt-BR" altLang="pt-BR" sz="1600" i="1" dirty="0">
                <a:solidFill>
                  <a:srgbClr val="FF33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 são eventos independentes:</a:t>
            </a:r>
          </a:p>
        </p:txBody>
      </p:sp>
      <p:grpSp>
        <p:nvGrpSpPr>
          <p:cNvPr id="23558" name="Group 8"/>
          <p:cNvGrpSpPr>
            <a:grpSpLocks/>
          </p:cNvGrpSpPr>
          <p:nvPr/>
        </p:nvGrpSpPr>
        <p:grpSpPr bwMode="auto">
          <a:xfrm>
            <a:off x="914400" y="1465263"/>
            <a:ext cx="2667000" cy="1784350"/>
            <a:chOff x="2064" y="2256"/>
            <a:chExt cx="942" cy="630"/>
          </a:xfrm>
        </p:grpSpPr>
        <p:grpSp>
          <p:nvGrpSpPr>
            <p:cNvPr id="23560" name="Group 9"/>
            <p:cNvGrpSpPr>
              <a:grpSpLocks/>
            </p:cNvGrpSpPr>
            <p:nvPr/>
          </p:nvGrpSpPr>
          <p:grpSpPr bwMode="auto">
            <a:xfrm>
              <a:off x="2064" y="2256"/>
              <a:ext cx="543" cy="630"/>
              <a:chOff x="1968" y="2160"/>
              <a:chExt cx="543" cy="630"/>
            </a:xfrm>
          </p:grpSpPr>
          <p:sp>
            <p:nvSpPr>
              <p:cNvPr id="23563" name="Rectangle 10"/>
              <p:cNvSpPr>
                <a:spLocks noChangeArrowheads="1"/>
              </p:cNvSpPr>
              <p:nvPr/>
            </p:nvSpPr>
            <p:spPr bwMode="auto">
              <a:xfrm>
                <a:off x="1968" y="2160"/>
                <a:ext cx="543" cy="6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23564" name="Oval 11"/>
              <p:cNvSpPr>
                <a:spLocks noChangeArrowheads="1"/>
              </p:cNvSpPr>
              <p:nvPr/>
            </p:nvSpPr>
            <p:spPr bwMode="auto">
              <a:xfrm>
                <a:off x="2055" y="2247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23565" name="Oval 12"/>
              <p:cNvSpPr>
                <a:spLocks noChangeArrowheads="1"/>
              </p:cNvSpPr>
              <p:nvPr/>
            </p:nvSpPr>
            <p:spPr bwMode="auto">
              <a:xfrm>
                <a:off x="2207" y="2399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3561" name="Freeform 13" descr="Diagonal para cima clara"/>
            <p:cNvSpPr>
              <a:spLocks/>
            </p:cNvSpPr>
            <p:nvPr/>
          </p:nvSpPr>
          <p:spPr bwMode="auto">
            <a:xfrm>
              <a:off x="2304" y="2498"/>
              <a:ext cx="109" cy="145"/>
            </a:xfrm>
            <a:custGeom>
              <a:avLst/>
              <a:gdLst>
                <a:gd name="T0" fmla="*/ 0 w 109"/>
                <a:gd name="T1" fmla="*/ 145 h 145"/>
                <a:gd name="T2" fmla="*/ 3 w 109"/>
                <a:gd name="T3" fmla="*/ 105 h 145"/>
                <a:gd name="T4" fmla="*/ 16 w 109"/>
                <a:gd name="T5" fmla="*/ 73 h 145"/>
                <a:gd name="T6" fmla="*/ 30 w 109"/>
                <a:gd name="T7" fmla="*/ 49 h 145"/>
                <a:gd name="T8" fmla="*/ 53 w 109"/>
                <a:gd name="T9" fmla="*/ 25 h 145"/>
                <a:gd name="T10" fmla="*/ 77 w 109"/>
                <a:gd name="T11" fmla="*/ 9 h 145"/>
                <a:gd name="T12" fmla="*/ 99 w 109"/>
                <a:gd name="T13" fmla="*/ 0 h 145"/>
                <a:gd name="T14" fmla="*/ 109 w 109"/>
                <a:gd name="T15" fmla="*/ 0 h 145"/>
                <a:gd name="T16" fmla="*/ 106 w 109"/>
                <a:gd name="T17" fmla="*/ 27 h 145"/>
                <a:gd name="T18" fmla="*/ 99 w 109"/>
                <a:gd name="T19" fmla="*/ 56 h 145"/>
                <a:gd name="T20" fmla="*/ 86 w 109"/>
                <a:gd name="T21" fmla="*/ 80 h 145"/>
                <a:gd name="T22" fmla="*/ 72 w 109"/>
                <a:gd name="T23" fmla="*/ 104 h 145"/>
                <a:gd name="T24" fmla="*/ 51 w 109"/>
                <a:gd name="T25" fmla="*/ 124 h 145"/>
                <a:gd name="T26" fmla="*/ 24 w 109"/>
                <a:gd name="T27" fmla="*/ 137 h 145"/>
                <a:gd name="T28" fmla="*/ 14 w 109"/>
                <a:gd name="T29" fmla="*/ 144 h 145"/>
                <a:gd name="T30" fmla="*/ 0 w 109"/>
                <a:gd name="T31" fmla="*/ 145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aphicFrame>
          <p:nvGraphicFramePr>
            <p:cNvPr id="23562" name="Object 14"/>
            <p:cNvGraphicFramePr>
              <a:graphicFrameLocks noChangeAspect="1"/>
            </p:cNvGraphicFramePr>
            <p:nvPr/>
          </p:nvGraphicFramePr>
          <p:xfrm>
            <a:off x="2640" y="2496"/>
            <a:ext cx="366" cy="1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18918" imgH="165028" progId="Equation.DSMT4">
                    <p:embed/>
                  </p:oleObj>
                </mc:Choice>
                <mc:Fallback>
                  <p:oleObj name="Equation" r:id="rId6" imgW="418918" imgH="165028" progId="Equation.DSMT4">
                    <p:embed/>
                    <p:pic>
                      <p:nvPicPr>
                        <p:cNvPr id="23562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40" y="2496"/>
                          <a:ext cx="366" cy="1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5563E56-141A-4A4C-8185-A40393DD65D9}" type="slidenum">
              <a:rPr lang="pt-BR"/>
              <a:pPr>
                <a:defRPr/>
              </a:pPr>
              <a:t>21</a:t>
            </a:fld>
            <a:endParaRPr lang="pt-B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24579" name="Group 48"/>
          <p:cNvGrpSpPr>
            <a:grpSpLocks/>
          </p:cNvGrpSpPr>
          <p:nvPr/>
        </p:nvGrpSpPr>
        <p:grpSpPr bwMode="auto">
          <a:xfrm>
            <a:off x="914400" y="1465263"/>
            <a:ext cx="2336800" cy="1784350"/>
            <a:chOff x="576" y="923"/>
            <a:chExt cx="1472" cy="1124"/>
          </a:xfrm>
        </p:grpSpPr>
        <p:sp>
          <p:nvSpPr>
            <p:cNvPr id="24607" name="Rectangle 10" descr="Diagonal para cima clara"/>
            <p:cNvSpPr>
              <a:spLocks noChangeArrowheads="1"/>
            </p:cNvSpPr>
            <p:nvPr/>
          </p:nvSpPr>
          <p:spPr bwMode="auto">
            <a:xfrm>
              <a:off x="576" y="923"/>
              <a:ext cx="968" cy="1124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608" name="Oval 11"/>
            <p:cNvSpPr>
              <a:spLocks noChangeArrowheads="1"/>
            </p:cNvSpPr>
            <p:nvPr/>
          </p:nvSpPr>
          <p:spPr bwMode="auto">
            <a:xfrm>
              <a:off x="731" y="1078"/>
              <a:ext cx="465" cy="54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609" name="Oval 12"/>
            <p:cNvSpPr>
              <a:spLocks noChangeArrowheads="1"/>
            </p:cNvSpPr>
            <p:nvPr/>
          </p:nvSpPr>
          <p:spPr bwMode="auto">
            <a:xfrm>
              <a:off x="1002" y="1349"/>
              <a:ext cx="465" cy="54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610" name="Freeform 13"/>
            <p:cNvSpPr>
              <a:spLocks/>
            </p:cNvSpPr>
            <p:nvPr/>
          </p:nvSpPr>
          <p:spPr bwMode="auto">
            <a:xfrm>
              <a:off x="1004" y="1355"/>
              <a:ext cx="194" cy="258"/>
            </a:xfrm>
            <a:custGeom>
              <a:avLst/>
              <a:gdLst>
                <a:gd name="T0" fmla="*/ 0 w 109"/>
                <a:gd name="T1" fmla="*/ 1464100 h 145"/>
                <a:gd name="T2" fmla="*/ 28285 w 109"/>
                <a:gd name="T3" fmla="*/ 1062291 h 145"/>
                <a:gd name="T4" fmla="*/ 159472 w 109"/>
                <a:gd name="T5" fmla="*/ 736327 h 145"/>
                <a:gd name="T6" fmla="*/ 300577 w 109"/>
                <a:gd name="T7" fmla="*/ 494618 h 145"/>
                <a:gd name="T8" fmla="*/ 534972 w 109"/>
                <a:gd name="T9" fmla="*/ 248434 h 145"/>
                <a:gd name="T10" fmla="*/ 779949 w 109"/>
                <a:gd name="T11" fmla="*/ 89416 h 145"/>
                <a:gd name="T12" fmla="*/ 1001617 w 109"/>
                <a:gd name="T13" fmla="*/ 0 h 145"/>
                <a:gd name="T14" fmla="*/ 1104289 w 109"/>
                <a:gd name="T15" fmla="*/ 0 h 145"/>
                <a:gd name="T16" fmla="*/ 1075321 w 109"/>
                <a:gd name="T17" fmla="*/ 270980 h 145"/>
                <a:gd name="T18" fmla="*/ 1001617 w 109"/>
                <a:gd name="T19" fmla="*/ 568112 h 145"/>
                <a:gd name="T20" fmla="*/ 869882 w 109"/>
                <a:gd name="T21" fmla="*/ 806528 h 145"/>
                <a:gd name="T22" fmla="*/ 730859 w 109"/>
                <a:gd name="T23" fmla="*/ 1048080 h 145"/>
                <a:gd name="T24" fmla="*/ 518291 w 109"/>
                <a:gd name="T25" fmla="*/ 1252558 h 145"/>
                <a:gd name="T26" fmla="*/ 246216 w 109"/>
                <a:gd name="T27" fmla="*/ 1383617 h 145"/>
                <a:gd name="T28" fmla="*/ 140376 w 109"/>
                <a:gd name="T29" fmla="*/ 1453342 h 145"/>
                <a:gd name="T30" fmla="*/ 0 w 109"/>
                <a:gd name="T31" fmla="*/ 1464100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aphicFrame>
          <p:nvGraphicFramePr>
            <p:cNvPr id="24611" name="Object 14"/>
            <p:cNvGraphicFramePr>
              <a:graphicFrameLocks noChangeAspect="1"/>
            </p:cNvGraphicFramePr>
            <p:nvPr/>
          </p:nvGraphicFramePr>
          <p:xfrm>
            <a:off x="1811" y="1332"/>
            <a:ext cx="23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152334" imgH="190417" progId="Equation.DSMT4">
                    <p:embed/>
                  </p:oleObj>
                </mc:Choice>
                <mc:Fallback>
                  <p:oleObj name="Equation" r:id="rId3" imgW="152334" imgH="190417" progId="Equation.DSMT4">
                    <p:embed/>
                    <p:pic>
                      <p:nvPicPr>
                        <p:cNvPr id="24611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1" y="1332"/>
                          <a:ext cx="23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69654" name="Text Box 22"/>
          <p:cNvSpPr txBox="1">
            <a:spLocks noChangeArrowheads="1"/>
          </p:cNvSpPr>
          <p:nvPr/>
        </p:nvSpPr>
        <p:spPr bwMode="auto">
          <a:xfrm>
            <a:off x="6640513" y="1676400"/>
            <a:ext cx="2252662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Qual a probabilidade de escolher pelo menos 1 objeto vermelho?</a:t>
            </a:r>
          </a:p>
        </p:txBody>
      </p:sp>
      <p:grpSp>
        <p:nvGrpSpPr>
          <p:cNvPr id="24581" name="Group 23"/>
          <p:cNvGrpSpPr>
            <a:grpSpLocks/>
          </p:cNvGrpSpPr>
          <p:nvPr/>
        </p:nvGrpSpPr>
        <p:grpSpPr bwMode="auto">
          <a:xfrm>
            <a:off x="3995738" y="2208213"/>
            <a:ext cx="1152525" cy="1582737"/>
            <a:chOff x="2562" y="1344"/>
            <a:chExt cx="726" cy="997"/>
          </a:xfrm>
        </p:grpSpPr>
        <p:sp>
          <p:nvSpPr>
            <p:cNvPr id="24595" name="Freeform 24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24596" name="Oval 25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597" name="Oval 26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598" name="Oval 27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599" name="Oval 28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600" name="Oval 29"/>
            <p:cNvSpPr>
              <a:spLocks noChangeArrowheads="1"/>
            </p:cNvSpPr>
            <p:nvPr/>
          </p:nvSpPr>
          <p:spPr bwMode="auto">
            <a:xfrm>
              <a:off x="2653" y="1616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601" name="Oval 30"/>
            <p:cNvSpPr>
              <a:spLocks noChangeArrowheads="1"/>
            </p:cNvSpPr>
            <p:nvPr/>
          </p:nvSpPr>
          <p:spPr bwMode="auto">
            <a:xfrm>
              <a:off x="3080" y="153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602" name="Oval 31"/>
            <p:cNvSpPr>
              <a:spLocks noChangeArrowheads="1"/>
            </p:cNvSpPr>
            <p:nvPr/>
          </p:nvSpPr>
          <p:spPr bwMode="auto">
            <a:xfrm>
              <a:off x="2607" y="18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603" name="Oval 32"/>
            <p:cNvSpPr>
              <a:spLocks noChangeArrowheads="1"/>
            </p:cNvSpPr>
            <p:nvPr/>
          </p:nvSpPr>
          <p:spPr bwMode="auto">
            <a:xfrm>
              <a:off x="2880" y="1616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604" name="Oval 33"/>
            <p:cNvSpPr>
              <a:spLocks noChangeArrowheads="1"/>
            </p:cNvSpPr>
            <p:nvPr/>
          </p:nvSpPr>
          <p:spPr bwMode="auto">
            <a:xfrm>
              <a:off x="3061" y="1797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605" name="Oval 34"/>
            <p:cNvSpPr>
              <a:spLocks noChangeArrowheads="1"/>
            </p:cNvSpPr>
            <p:nvPr/>
          </p:nvSpPr>
          <p:spPr bwMode="auto">
            <a:xfrm>
              <a:off x="2608" y="2115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4606" name="Oval 35"/>
            <p:cNvSpPr>
              <a:spLocks noChangeArrowheads="1"/>
            </p:cNvSpPr>
            <p:nvPr/>
          </p:nvSpPr>
          <p:spPr bwMode="auto">
            <a:xfrm>
              <a:off x="2835" y="206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47"/>
          <p:cNvGrpSpPr>
            <a:grpSpLocks/>
          </p:cNvGrpSpPr>
          <p:nvPr/>
        </p:nvGrpSpPr>
        <p:grpSpPr bwMode="auto">
          <a:xfrm>
            <a:off x="4356100" y="2135188"/>
            <a:ext cx="3667125" cy="935037"/>
            <a:chOff x="2744" y="1345"/>
            <a:chExt cx="2310" cy="589"/>
          </a:xfrm>
        </p:grpSpPr>
        <p:cxnSp>
          <p:nvCxnSpPr>
            <p:cNvPr id="24589" name="AutoShape 37"/>
            <p:cNvCxnSpPr>
              <a:cxnSpLocks noChangeShapeType="1"/>
            </p:cNvCxnSpPr>
            <p:nvPr/>
          </p:nvCxnSpPr>
          <p:spPr bwMode="auto">
            <a:xfrm rot="5400000" flipV="1">
              <a:off x="3032" y="1057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4590" name="Line 38"/>
            <p:cNvSpPr>
              <a:spLocks noChangeShapeType="1"/>
            </p:cNvSpPr>
            <p:nvPr/>
          </p:nvSpPr>
          <p:spPr bwMode="auto">
            <a:xfrm>
              <a:off x="3726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24591" name="Line 39"/>
            <p:cNvSpPr>
              <a:spLocks noChangeShapeType="1"/>
            </p:cNvSpPr>
            <p:nvPr/>
          </p:nvSpPr>
          <p:spPr bwMode="auto">
            <a:xfrm>
              <a:off x="4078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24592" name="Line 41"/>
            <p:cNvSpPr>
              <a:spLocks noChangeShapeType="1"/>
            </p:cNvSpPr>
            <p:nvPr/>
          </p:nvSpPr>
          <p:spPr bwMode="auto">
            <a:xfrm>
              <a:off x="4430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24593" name="Line 42"/>
            <p:cNvSpPr>
              <a:spLocks noChangeShapeType="1"/>
            </p:cNvSpPr>
            <p:nvPr/>
          </p:nvSpPr>
          <p:spPr bwMode="auto">
            <a:xfrm>
              <a:off x="4782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24594" name="Line 43"/>
            <p:cNvSpPr>
              <a:spLocks noChangeShapeType="1"/>
            </p:cNvSpPr>
            <p:nvPr/>
          </p:nvSpPr>
          <p:spPr bwMode="auto">
            <a:xfrm>
              <a:off x="3375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69676" name="Object 44"/>
          <p:cNvGraphicFramePr>
            <a:graphicFrameLocks noChangeAspect="1"/>
          </p:cNvGraphicFramePr>
          <p:nvPr/>
        </p:nvGraphicFramePr>
        <p:xfrm>
          <a:off x="539750" y="4292600"/>
          <a:ext cx="2598738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1816100" imgH="203200" progId="Equation.DSMT4">
                  <p:embed/>
                </p:oleObj>
              </mc:Choice>
              <mc:Fallback>
                <p:oleObj name="Equation" r:id="rId5" imgW="1816100" imgH="203200" progId="Equation.DSMT4">
                  <p:embed/>
                  <p:pic>
                    <p:nvPicPr>
                      <p:cNvPr id="69676" name="Object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4292600"/>
                        <a:ext cx="2598738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77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770752"/>
              </p:ext>
            </p:extLst>
          </p:nvPr>
        </p:nvGraphicFramePr>
        <p:xfrm>
          <a:off x="3132138" y="4303713"/>
          <a:ext cx="4652962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3251200" imgH="431800" progId="Equation.DSMT4">
                  <p:embed/>
                </p:oleObj>
              </mc:Choice>
              <mc:Fallback>
                <p:oleObj name="Equation" r:id="rId7" imgW="3251200" imgH="431800" progId="Equation.DSMT4">
                  <p:embed/>
                  <p:pic>
                    <p:nvPicPr>
                      <p:cNvPr id="69677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2138" y="4303713"/>
                        <a:ext cx="4652962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78" name="Object 4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54718951"/>
              </p:ext>
            </p:extLst>
          </p:nvPr>
        </p:nvGraphicFramePr>
        <p:xfrm>
          <a:off x="2940050" y="5675115"/>
          <a:ext cx="1454150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016000" imgH="203200" progId="Equation.DSMT4">
                  <p:embed/>
                </p:oleObj>
              </mc:Choice>
              <mc:Fallback>
                <p:oleObj name="Equation" r:id="rId9" imgW="1016000" imgH="203200" progId="Equation.DSMT4">
                  <p:embed/>
                  <p:pic>
                    <p:nvPicPr>
                      <p:cNvPr id="69678" name="Object 4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5675115"/>
                        <a:ext cx="1454150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81" name="Object 4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85125302"/>
              </p:ext>
            </p:extLst>
          </p:nvPr>
        </p:nvGraphicFramePr>
        <p:xfrm>
          <a:off x="2940050" y="6033790"/>
          <a:ext cx="17113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193800" imgH="393700" progId="Equation.DSMT4">
                  <p:embed/>
                </p:oleObj>
              </mc:Choice>
              <mc:Fallback>
                <p:oleObj name="Equation" r:id="rId11" imgW="1193800" imgH="393700" progId="Equation.DSMT4">
                  <p:embed/>
                  <p:pic>
                    <p:nvPicPr>
                      <p:cNvPr id="69681" name="Object 4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0050" y="6033790"/>
                        <a:ext cx="17113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682" name="Object 5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6765383"/>
              </p:ext>
            </p:extLst>
          </p:nvPr>
        </p:nvGraphicFramePr>
        <p:xfrm>
          <a:off x="4788024" y="6141814"/>
          <a:ext cx="855663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596641" imgH="203112" progId="Equation.DSMT4">
                  <p:embed/>
                </p:oleObj>
              </mc:Choice>
              <mc:Fallback>
                <p:oleObj name="Equation" r:id="rId13" imgW="596641" imgH="203112" progId="Equation.DSMT4">
                  <p:embed/>
                  <p:pic>
                    <p:nvPicPr>
                      <p:cNvPr id="69682" name="Object 5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88024" y="6141814"/>
                        <a:ext cx="855663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A685ED8-D2FE-46F4-B4CB-2A241FE0D7E0}" type="slidenum">
              <a:rPr lang="pt-BR"/>
              <a:pPr>
                <a:defRPr/>
              </a:pPr>
              <a:t>22</a:t>
            </a:fld>
            <a:endParaRPr lang="pt-BR"/>
          </a:p>
        </p:txBody>
      </p:sp>
      <p:graphicFrame>
        <p:nvGraphicFramePr>
          <p:cNvPr id="36" name="Object 4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28867127"/>
              </p:ext>
            </p:extLst>
          </p:nvPr>
        </p:nvGraphicFramePr>
        <p:xfrm>
          <a:off x="2941638" y="4989513"/>
          <a:ext cx="4964112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466800" imgH="431640" progId="Equation.DSMT4">
                  <p:embed/>
                </p:oleObj>
              </mc:Choice>
              <mc:Fallback>
                <p:oleObj name="Equation" r:id="rId15" imgW="3466800" imgH="431640" progId="Equation.DSMT4">
                  <p:embed/>
                  <p:pic>
                    <p:nvPicPr>
                      <p:cNvPr id="36" name="Object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1638" y="4989513"/>
                        <a:ext cx="4964112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1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654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25603" name="Group 3"/>
          <p:cNvGrpSpPr>
            <a:grpSpLocks/>
          </p:cNvGrpSpPr>
          <p:nvPr/>
        </p:nvGrpSpPr>
        <p:grpSpPr bwMode="auto">
          <a:xfrm>
            <a:off x="3581400" y="3657600"/>
            <a:ext cx="2209800" cy="685800"/>
            <a:chOff x="2256" y="2304"/>
            <a:chExt cx="1392" cy="432"/>
          </a:xfrm>
        </p:grpSpPr>
        <p:graphicFrame>
          <p:nvGraphicFramePr>
            <p:cNvPr id="25611" name="Object 4"/>
            <p:cNvGraphicFramePr>
              <a:graphicFrameLocks noChangeAspect="1"/>
            </p:cNvGraphicFramePr>
            <p:nvPr/>
          </p:nvGraphicFramePr>
          <p:xfrm>
            <a:off x="2332" y="2385"/>
            <a:ext cx="1219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028700" imgH="228600" progId="Equation.DSMT4">
                    <p:embed/>
                  </p:oleObj>
                </mc:Choice>
                <mc:Fallback>
                  <p:oleObj name="Equation" r:id="rId2" imgW="1028700" imgH="228600" progId="Equation.DSMT4">
                    <p:embed/>
                    <p:pic>
                      <p:nvPicPr>
                        <p:cNvPr id="25611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32" y="2385"/>
                          <a:ext cx="1219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2" name="Rectangle 5"/>
            <p:cNvSpPr>
              <a:spLocks noChangeArrowheads="1"/>
            </p:cNvSpPr>
            <p:nvPr/>
          </p:nvSpPr>
          <p:spPr bwMode="auto">
            <a:xfrm>
              <a:off x="2256" y="2304"/>
              <a:ext cx="1392" cy="4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25604" name="Group 11"/>
          <p:cNvGrpSpPr>
            <a:grpSpLocks/>
          </p:cNvGrpSpPr>
          <p:nvPr/>
        </p:nvGrpSpPr>
        <p:grpSpPr bwMode="auto">
          <a:xfrm>
            <a:off x="914400" y="1465263"/>
            <a:ext cx="2336800" cy="1784350"/>
            <a:chOff x="576" y="923"/>
            <a:chExt cx="1472" cy="1124"/>
          </a:xfrm>
        </p:grpSpPr>
        <p:sp>
          <p:nvSpPr>
            <p:cNvPr id="25606" name="Rectangle 6" descr="Diagonal para cima clara"/>
            <p:cNvSpPr>
              <a:spLocks noChangeArrowheads="1"/>
            </p:cNvSpPr>
            <p:nvPr/>
          </p:nvSpPr>
          <p:spPr bwMode="auto">
            <a:xfrm>
              <a:off x="576" y="923"/>
              <a:ext cx="968" cy="1124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5607" name="Oval 7"/>
            <p:cNvSpPr>
              <a:spLocks noChangeArrowheads="1"/>
            </p:cNvSpPr>
            <p:nvPr/>
          </p:nvSpPr>
          <p:spPr bwMode="auto">
            <a:xfrm>
              <a:off x="731" y="1078"/>
              <a:ext cx="465" cy="54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5608" name="Oval 8"/>
            <p:cNvSpPr>
              <a:spLocks noChangeArrowheads="1"/>
            </p:cNvSpPr>
            <p:nvPr/>
          </p:nvSpPr>
          <p:spPr bwMode="auto">
            <a:xfrm>
              <a:off x="1002" y="1349"/>
              <a:ext cx="465" cy="54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5609" name="Freeform 9"/>
            <p:cNvSpPr>
              <a:spLocks/>
            </p:cNvSpPr>
            <p:nvPr/>
          </p:nvSpPr>
          <p:spPr bwMode="auto">
            <a:xfrm>
              <a:off x="1004" y="1355"/>
              <a:ext cx="194" cy="258"/>
            </a:xfrm>
            <a:custGeom>
              <a:avLst/>
              <a:gdLst>
                <a:gd name="T0" fmla="*/ 0 w 109"/>
                <a:gd name="T1" fmla="*/ 1464100 h 145"/>
                <a:gd name="T2" fmla="*/ 28285 w 109"/>
                <a:gd name="T3" fmla="*/ 1062291 h 145"/>
                <a:gd name="T4" fmla="*/ 159472 w 109"/>
                <a:gd name="T5" fmla="*/ 736327 h 145"/>
                <a:gd name="T6" fmla="*/ 300577 w 109"/>
                <a:gd name="T7" fmla="*/ 494618 h 145"/>
                <a:gd name="T8" fmla="*/ 534972 w 109"/>
                <a:gd name="T9" fmla="*/ 248434 h 145"/>
                <a:gd name="T10" fmla="*/ 779949 w 109"/>
                <a:gd name="T11" fmla="*/ 89416 h 145"/>
                <a:gd name="T12" fmla="*/ 1001617 w 109"/>
                <a:gd name="T13" fmla="*/ 0 h 145"/>
                <a:gd name="T14" fmla="*/ 1104289 w 109"/>
                <a:gd name="T15" fmla="*/ 0 h 145"/>
                <a:gd name="T16" fmla="*/ 1075321 w 109"/>
                <a:gd name="T17" fmla="*/ 270980 h 145"/>
                <a:gd name="T18" fmla="*/ 1001617 w 109"/>
                <a:gd name="T19" fmla="*/ 568112 h 145"/>
                <a:gd name="T20" fmla="*/ 869882 w 109"/>
                <a:gd name="T21" fmla="*/ 806528 h 145"/>
                <a:gd name="T22" fmla="*/ 730859 w 109"/>
                <a:gd name="T23" fmla="*/ 1048080 h 145"/>
                <a:gd name="T24" fmla="*/ 518291 w 109"/>
                <a:gd name="T25" fmla="*/ 1252558 h 145"/>
                <a:gd name="T26" fmla="*/ 246216 w 109"/>
                <a:gd name="T27" fmla="*/ 1383617 h 145"/>
                <a:gd name="T28" fmla="*/ 140376 w 109"/>
                <a:gd name="T29" fmla="*/ 1453342 h 145"/>
                <a:gd name="T30" fmla="*/ 0 w 109"/>
                <a:gd name="T31" fmla="*/ 1464100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aphicFrame>
          <p:nvGraphicFramePr>
            <p:cNvPr id="25610" name="Object 10"/>
            <p:cNvGraphicFramePr>
              <a:graphicFrameLocks noChangeAspect="1"/>
            </p:cNvGraphicFramePr>
            <p:nvPr/>
          </p:nvGraphicFramePr>
          <p:xfrm>
            <a:off x="1811" y="1332"/>
            <a:ext cx="23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152334" imgH="190417" progId="Equation.DSMT4">
                    <p:embed/>
                  </p:oleObj>
                </mc:Choice>
                <mc:Fallback>
                  <p:oleObj name="Equation" r:id="rId4" imgW="152334" imgH="190417" progId="Equation.DSMT4">
                    <p:embed/>
                    <p:pic>
                      <p:nvPicPr>
                        <p:cNvPr id="2561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11" y="1332"/>
                          <a:ext cx="23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8FC2C86-85DC-4BD9-BBE3-8224E7035BAE}" type="slidenum">
              <a:rPr lang="pt-BR"/>
              <a:pPr>
                <a:defRPr/>
              </a:pPr>
              <a:t>23</a:t>
            </a:fld>
            <a:endParaRPr lang="pt-B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26627" name="Group 37"/>
          <p:cNvGrpSpPr>
            <a:grpSpLocks/>
          </p:cNvGrpSpPr>
          <p:nvPr/>
        </p:nvGrpSpPr>
        <p:grpSpPr bwMode="auto">
          <a:xfrm>
            <a:off x="519113" y="1341438"/>
            <a:ext cx="7661275" cy="1835150"/>
            <a:chOff x="576" y="845"/>
            <a:chExt cx="4826" cy="1156"/>
          </a:xfrm>
        </p:grpSpPr>
        <p:graphicFrame>
          <p:nvGraphicFramePr>
            <p:cNvPr id="26651" name="Object 3"/>
            <p:cNvGraphicFramePr>
              <a:graphicFrameLocks noChangeAspect="1"/>
            </p:cNvGraphicFramePr>
            <p:nvPr/>
          </p:nvGraphicFramePr>
          <p:xfrm>
            <a:off x="2570" y="1058"/>
            <a:ext cx="1851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562100" imgH="203200" progId="Equation.DSMT4">
                    <p:embed/>
                  </p:oleObj>
                </mc:Choice>
                <mc:Fallback>
                  <p:oleObj name="Equation" r:id="rId2" imgW="1562100" imgH="203200" progId="Equation.DSMT4">
                    <p:embed/>
                    <p:pic>
                      <p:nvPicPr>
                        <p:cNvPr id="26651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0" y="1058"/>
                          <a:ext cx="1851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26652" name="Group 4"/>
            <p:cNvGrpSpPr>
              <a:grpSpLocks/>
            </p:cNvGrpSpPr>
            <p:nvPr/>
          </p:nvGrpSpPr>
          <p:grpSpPr bwMode="auto">
            <a:xfrm>
              <a:off x="576" y="845"/>
              <a:ext cx="1728" cy="1156"/>
              <a:chOff x="2064" y="1488"/>
              <a:chExt cx="942" cy="630"/>
            </a:xfrm>
          </p:grpSpPr>
          <p:sp>
            <p:nvSpPr>
              <p:cNvPr id="26658" name="Rectangle 5"/>
              <p:cNvSpPr>
                <a:spLocks noChangeArrowheads="1"/>
              </p:cNvSpPr>
              <p:nvPr/>
            </p:nvSpPr>
            <p:spPr bwMode="auto">
              <a:xfrm>
                <a:off x="2064" y="1488"/>
                <a:ext cx="543" cy="630"/>
              </a:xfrm>
              <a:prstGeom prst="rect">
                <a:avLst/>
              </a:prstGeom>
              <a:noFill/>
              <a:ln w="9525">
                <a:solidFill>
                  <a:schemeClr val="tx1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26659" name="Oval 6" descr="Diagonal para cima clara"/>
              <p:cNvSpPr>
                <a:spLocks noChangeArrowheads="1"/>
              </p:cNvSpPr>
              <p:nvPr/>
            </p:nvSpPr>
            <p:spPr bwMode="auto">
              <a:xfrm>
                <a:off x="2151" y="1575"/>
                <a:ext cx="261" cy="304"/>
              </a:xfrm>
              <a:prstGeom prst="ellipse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26660" name="Oval 7" descr="Diagonal para cima clara"/>
              <p:cNvSpPr>
                <a:spLocks noChangeArrowheads="1"/>
              </p:cNvSpPr>
              <p:nvPr/>
            </p:nvSpPr>
            <p:spPr bwMode="auto">
              <a:xfrm>
                <a:off x="2303" y="1727"/>
                <a:ext cx="261" cy="304"/>
              </a:xfrm>
              <a:prstGeom prst="ellipse">
                <a:avLst/>
              </a:pr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26661" name="Oval 8" descr="Diagonal para cima clara"/>
              <p:cNvSpPr>
                <a:spLocks noChangeArrowheads="1"/>
              </p:cNvSpPr>
              <p:nvPr/>
            </p:nvSpPr>
            <p:spPr bwMode="auto">
              <a:xfrm>
                <a:off x="2150" y="1574"/>
                <a:ext cx="261" cy="304"/>
              </a:xfrm>
              <a:prstGeom prst="ellips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6662" name="Object 9"/>
              <p:cNvGraphicFramePr>
                <a:graphicFrameLocks noChangeAspect="1"/>
              </p:cNvGraphicFramePr>
              <p:nvPr/>
            </p:nvGraphicFramePr>
            <p:xfrm>
              <a:off x="2640" y="1728"/>
              <a:ext cx="366" cy="14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418918" imgH="165028" progId="Equation.DSMT4">
                      <p:embed/>
                    </p:oleObj>
                  </mc:Choice>
                  <mc:Fallback>
                    <p:oleObj name="Equation" r:id="rId4" imgW="418918" imgH="165028" progId="Equation.DSMT4">
                      <p:embed/>
                      <p:pic>
                        <p:nvPicPr>
                          <p:cNvPr id="26662" name="Object 9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2640" y="1728"/>
                            <a:ext cx="366" cy="14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6653" name="Object 10"/>
            <p:cNvGraphicFramePr>
              <a:graphicFrameLocks noChangeAspect="1"/>
            </p:cNvGraphicFramePr>
            <p:nvPr/>
          </p:nvGraphicFramePr>
          <p:xfrm>
            <a:off x="4394" y="1058"/>
            <a:ext cx="858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723586" imgH="203112" progId="Equation.DSMT4">
                    <p:embed/>
                  </p:oleObj>
                </mc:Choice>
                <mc:Fallback>
                  <p:oleObj name="Equation" r:id="rId6" imgW="723586" imgH="203112" progId="Equation.DSMT4">
                    <p:embed/>
                    <p:pic>
                      <p:nvPicPr>
                        <p:cNvPr id="26653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94" y="1058"/>
                          <a:ext cx="858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4" name="Rectangle 11"/>
            <p:cNvSpPr>
              <a:spLocks noChangeArrowheads="1"/>
            </p:cNvSpPr>
            <p:nvPr/>
          </p:nvSpPr>
          <p:spPr bwMode="auto">
            <a:xfrm>
              <a:off x="2426" y="914"/>
              <a:ext cx="2976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6655" name="Text Box 18"/>
            <p:cNvSpPr txBox="1">
              <a:spLocks noChangeArrowheads="1"/>
            </p:cNvSpPr>
            <p:nvPr/>
          </p:nvSpPr>
          <p:spPr bwMode="auto">
            <a:xfrm>
              <a:off x="4513" y="1410"/>
              <a:ext cx="841" cy="5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3300"/>
                  </a:solidFill>
                  <a:latin typeface="Tahoma" panose="020B0604030504040204" pitchFamily="34" charset="0"/>
                </a:rPr>
                <a:t>eventos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3300"/>
                  </a:solidFill>
                  <a:latin typeface="Tahoma" panose="020B0604030504040204" pitchFamily="34" charset="0"/>
                </a:rPr>
                <a:t>mutuamente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3300"/>
                  </a:solidFill>
                  <a:latin typeface="Tahoma" panose="020B0604030504040204" pitchFamily="34" charset="0"/>
                </a:rPr>
                <a:t>exclusivos</a:t>
              </a:r>
            </a:p>
          </p:txBody>
        </p:sp>
        <p:graphicFrame>
          <p:nvGraphicFramePr>
            <p:cNvPr id="26656" name="Object 19"/>
            <p:cNvGraphicFramePr>
              <a:graphicFrameLocks noChangeAspect="1"/>
            </p:cNvGraphicFramePr>
            <p:nvPr/>
          </p:nvGraphicFramePr>
          <p:xfrm>
            <a:off x="2562" y="1592"/>
            <a:ext cx="1851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1562100" imgH="203200" progId="Equation.DSMT4">
                    <p:embed/>
                  </p:oleObj>
                </mc:Choice>
                <mc:Fallback>
                  <p:oleObj name="Equation" r:id="rId8" imgW="1562100" imgH="203200" progId="Equation.DSMT4">
                    <p:embed/>
                    <p:pic>
                      <p:nvPicPr>
                        <p:cNvPr id="26656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62" y="1592"/>
                          <a:ext cx="1851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57" name="Rectangle 21"/>
            <p:cNvSpPr>
              <a:spLocks noChangeArrowheads="1"/>
            </p:cNvSpPr>
            <p:nvPr/>
          </p:nvSpPr>
          <p:spPr bwMode="auto">
            <a:xfrm>
              <a:off x="2418" y="1448"/>
              <a:ext cx="2050" cy="48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26628" name="Group 40"/>
          <p:cNvGrpSpPr>
            <a:grpSpLocks/>
          </p:cNvGrpSpPr>
          <p:nvPr/>
        </p:nvGrpSpPr>
        <p:grpSpPr bwMode="auto">
          <a:xfrm>
            <a:off x="519113" y="3213100"/>
            <a:ext cx="8229600" cy="1784350"/>
            <a:chOff x="576" y="2024"/>
            <a:chExt cx="5184" cy="1124"/>
          </a:xfrm>
        </p:grpSpPr>
        <p:graphicFrame>
          <p:nvGraphicFramePr>
            <p:cNvPr id="26639" name="Object 24"/>
            <p:cNvGraphicFramePr>
              <a:graphicFrameLocks noChangeAspect="1"/>
            </p:cNvGraphicFramePr>
            <p:nvPr/>
          </p:nvGraphicFramePr>
          <p:xfrm>
            <a:off x="2574" y="2245"/>
            <a:ext cx="3116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2628900" imgH="203200" progId="Equation.DSMT4">
                    <p:embed/>
                  </p:oleObj>
                </mc:Choice>
                <mc:Fallback>
                  <p:oleObj name="Equation" r:id="rId9" imgW="2628900" imgH="203200" progId="Equation.DSMT4">
                    <p:embed/>
                    <p:pic>
                      <p:nvPicPr>
                        <p:cNvPr id="26639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4" y="2245"/>
                          <a:ext cx="3116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0" name="Rectangle 25"/>
            <p:cNvSpPr>
              <a:spLocks noChangeArrowheads="1"/>
            </p:cNvSpPr>
            <p:nvPr/>
          </p:nvSpPr>
          <p:spPr bwMode="auto">
            <a:xfrm>
              <a:off x="2426" y="2091"/>
              <a:ext cx="3334" cy="4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6641" name="Text Box 27"/>
            <p:cNvSpPr txBox="1">
              <a:spLocks noChangeArrowheads="1"/>
            </p:cNvSpPr>
            <p:nvPr/>
          </p:nvSpPr>
          <p:spPr bwMode="auto">
            <a:xfrm>
              <a:off x="4513" y="2704"/>
              <a:ext cx="973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3300"/>
                  </a:solidFill>
                  <a:latin typeface="Tahoma" panose="020B0604030504040204" pitchFamily="34" charset="0"/>
                </a:rPr>
                <a:t>eventos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3300"/>
                  </a:solidFill>
                  <a:latin typeface="Tahoma" panose="020B0604030504040204" pitchFamily="34" charset="0"/>
                </a:rPr>
                <a:t>independentes</a:t>
              </a:r>
            </a:p>
          </p:txBody>
        </p:sp>
        <p:grpSp>
          <p:nvGrpSpPr>
            <p:cNvPr id="26642" name="Group 36"/>
            <p:cNvGrpSpPr>
              <a:grpSpLocks/>
            </p:cNvGrpSpPr>
            <p:nvPr/>
          </p:nvGrpSpPr>
          <p:grpSpPr bwMode="auto">
            <a:xfrm>
              <a:off x="576" y="2024"/>
              <a:ext cx="1700" cy="1124"/>
              <a:chOff x="576" y="2024"/>
              <a:chExt cx="1700" cy="1124"/>
            </a:xfrm>
          </p:grpSpPr>
          <p:grpSp>
            <p:nvGrpSpPr>
              <p:cNvPr id="26645" name="Group 35"/>
              <p:cNvGrpSpPr>
                <a:grpSpLocks/>
              </p:cNvGrpSpPr>
              <p:nvPr/>
            </p:nvGrpSpPr>
            <p:grpSpPr bwMode="auto">
              <a:xfrm>
                <a:off x="576" y="2024"/>
                <a:ext cx="995" cy="1124"/>
                <a:chOff x="576" y="2024"/>
                <a:chExt cx="995" cy="1124"/>
              </a:xfrm>
            </p:grpSpPr>
            <p:sp>
              <p:nvSpPr>
                <p:cNvPr id="26648" name="Rectangle 30"/>
                <p:cNvSpPr>
                  <a:spLocks noChangeArrowheads="1"/>
                </p:cNvSpPr>
                <p:nvPr/>
              </p:nvSpPr>
              <p:spPr bwMode="auto">
                <a:xfrm>
                  <a:off x="576" y="2024"/>
                  <a:ext cx="995" cy="1124"/>
                </a:xfrm>
                <a:prstGeom prst="rect">
                  <a:avLst/>
                </a:prstGeom>
                <a:noFill/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6649" name="Oval 31"/>
                <p:cNvSpPr>
                  <a:spLocks noChangeArrowheads="1"/>
                </p:cNvSpPr>
                <p:nvPr/>
              </p:nvSpPr>
              <p:spPr bwMode="auto">
                <a:xfrm>
                  <a:off x="751" y="2179"/>
                  <a:ext cx="465" cy="54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26650" name="Oval 32"/>
                <p:cNvSpPr>
                  <a:spLocks noChangeArrowheads="1"/>
                </p:cNvSpPr>
                <p:nvPr/>
              </p:nvSpPr>
              <p:spPr bwMode="auto">
                <a:xfrm>
                  <a:off x="1022" y="2450"/>
                  <a:ext cx="465" cy="543"/>
                </a:xfrm>
                <a:prstGeom prst="ellips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26646" name="Freeform 33" descr="Diagonal para cima clara"/>
              <p:cNvSpPr>
                <a:spLocks/>
              </p:cNvSpPr>
              <p:nvPr/>
            </p:nvSpPr>
            <p:spPr bwMode="auto">
              <a:xfrm>
                <a:off x="1024" y="2456"/>
                <a:ext cx="194" cy="258"/>
              </a:xfrm>
              <a:custGeom>
                <a:avLst/>
                <a:gdLst>
                  <a:gd name="T0" fmla="*/ 0 w 109"/>
                  <a:gd name="T1" fmla="*/ 1464100 h 145"/>
                  <a:gd name="T2" fmla="*/ 28285 w 109"/>
                  <a:gd name="T3" fmla="*/ 1062291 h 145"/>
                  <a:gd name="T4" fmla="*/ 159472 w 109"/>
                  <a:gd name="T5" fmla="*/ 736327 h 145"/>
                  <a:gd name="T6" fmla="*/ 300577 w 109"/>
                  <a:gd name="T7" fmla="*/ 494618 h 145"/>
                  <a:gd name="T8" fmla="*/ 534972 w 109"/>
                  <a:gd name="T9" fmla="*/ 248434 h 145"/>
                  <a:gd name="T10" fmla="*/ 779949 w 109"/>
                  <a:gd name="T11" fmla="*/ 89416 h 145"/>
                  <a:gd name="T12" fmla="*/ 1001617 w 109"/>
                  <a:gd name="T13" fmla="*/ 0 h 145"/>
                  <a:gd name="T14" fmla="*/ 1104289 w 109"/>
                  <a:gd name="T15" fmla="*/ 0 h 145"/>
                  <a:gd name="T16" fmla="*/ 1075321 w 109"/>
                  <a:gd name="T17" fmla="*/ 270980 h 145"/>
                  <a:gd name="T18" fmla="*/ 1001617 w 109"/>
                  <a:gd name="T19" fmla="*/ 568112 h 145"/>
                  <a:gd name="T20" fmla="*/ 869882 w 109"/>
                  <a:gd name="T21" fmla="*/ 806528 h 145"/>
                  <a:gd name="T22" fmla="*/ 730859 w 109"/>
                  <a:gd name="T23" fmla="*/ 1048080 h 145"/>
                  <a:gd name="T24" fmla="*/ 518291 w 109"/>
                  <a:gd name="T25" fmla="*/ 1252558 h 145"/>
                  <a:gd name="T26" fmla="*/ 246216 w 109"/>
                  <a:gd name="T27" fmla="*/ 1383617 h 145"/>
                  <a:gd name="T28" fmla="*/ 140376 w 109"/>
                  <a:gd name="T29" fmla="*/ 1453342 h 145"/>
                  <a:gd name="T30" fmla="*/ 0 w 109"/>
                  <a:gd name="T31" fmla="*/ 1464100 h 145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109"/>
                  <a:gd name="T49" fmla="*/ 0 h 145"/>
                  <a:gd name="T50" fmla="*/ 109 w 109"/>
                  <a:gd name="T51" fmla="*/ 145 h 145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109" h="145">
                    <a:moveTo>
                      <a:pt x="0" y="145"/>
                    </a:moveTo>
                    <a:lnTo>
                      <a:pt x="3" y="105"/>
                    </a:lnTo>
                    <a:lnTo>
                      <a:pt x="16" y="73"/>
                    </a:lnTo>
                    <a:lnTo>
                      <a:pt x="30" y="49"/>
                    </a:lnTo>
                    <a:lnTo>
                      <a:pt x="53" y="25"/>
                    </a:lnTo>
                    <a:lnTo>
                      <a:pt x="77" y="9"/>
                    </a:lnTo>
                    <a:lnTo>
                      <a:pt x="99" y="0"/>
                    </a:lnTo>
                    <a:lnTo>
                      <a:pt x="109" y="0"/>
                    </a:lnTo>
                    <a:lnTo>
                      <a:pt x="106" y="27"/>
                    </a:lnTo>
                    <a:lnTo>
                      <a:pt x="99" y="56"/>
                    </a:lnTo>
                    <a:lnTo>
                      <a:pt x="86" y="80"/>
                    </a:lnTo>
                    <a:lnTo>
                      <a:pt x="72" y="104"/>
                    </a:lnTo>
                    <a:lnTo>
                      <a:pt x="51" y="124"/>
                    </a:lnTo>
                    <a:lnTo>
                      <a:pt x="24" y="137"/>
                    </a:lnTo>
                    <a:lnTo>
                      <a:pt x="14" y="144"/>
                    </a:lnTo>
                    <a:lnTo>
                      <a:pt x="0" y="145"/>
                    </a:lnTo>
                    <a:close/>
                  </a:path>
                </a:pathLst>
              </a:custGeom>
              <a:pattFill prst="ltUpDiag">
                <a:fgClr>
                  <a:schemeClr val="tx1"/>
                </a:fgClr>
                <a:bgClr>
                  <a:schemeClr val="bg1"/>
                </a:bgClr>
              </a:patt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>
                  <a:latin typeface="Tahoma" panose="020B0604030504040204" pitchFamily="34" charset="0"/>
                </a:endParaRPr>
              </a:p>
            </p:txBody>
          </p:sp>
          <p:graphicFrame>
            <p:nvGraphicFramePr>
              <p:cNvPr id="26647" name="Object 34"/>
              <p:cNvGraphicFramePr>
                <a:graphicFrameLocks noChangeAspect="1"/>
              </p:cNvGraphicFramePr>
              <p:nvPr/>
            </p:nvGraphicFramePr>
            <p:xfrm>
              <a:off x="1623" y="2452"/>
              <a:ext cx="653" cy="25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11" imgW="418918" imgH="165028" progId="Equation.DSMT4">
                      <p:embed/>
                    </p:oleObj>
                  </mc:Choice>
                  <mc:Fallback>
                    <p:oleObj name="Equation" r:id="rId11" imgW="418918" imgH="165028" progId="Equation.DSMT4">
                      <p:embed/>
                      <p:pic>
                        <p:nvPicPr>
                          <p:cNvPr id="26647" name="Object 3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2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623" y="2452"/>
                            <a:ext cx="653" cy="25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graphicFrame>
          <p:nvGraphicFramePr>
            <p:cNvPr id="26643" name="Object 38"/>
            <p:cNvGraphicFramePr>
              <a:graphicFrameLocks noChangeAspect="1"/>
            </p:cNvGraphicFramePr>
            <p:nvPr/>
          </p:nvGraphicFramePr>
          <p:xfrm>
            <a:off x="2573" y="2795"/>
            <a:ext cx="1701" cy="24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1435100" imgH="203200" progId="Equation.DSMT4">
                    <p:embed/>
                  </p:oleObj>
                </mc:Choice>
                <mc:Fallback>
                  <p:oleObj name="Equation" r:id="rId13" imgW="1435100" imgH="203200" progId="Equation.DSMT4">
                    <p:embed/>
                    <p:pic>
                      <p:nvPicPr>
                        <p:cNvPr id="26643" name="Object 3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3" y="2795"/>
                          <a:ext cx="1701" cy="24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44" name="Rectangle 39"/>
            <p:cNvSpPr>
              <a:spLocks noChangeArrowheads="1"/>
            </p:cNvSpPr>
            <p:nvPr/>
          </p:nvSpPr>
          <p:spPr bwMode="auto">
            <a:xfrm>
              <a:off x="2426" y="2641"/>
              <a:ext cx="2042" cy="4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26629" name="Group 51"/>
          <p:cNvGrpSpPr>
            <a:grpSpLocks/>
          </p:cNvGrpSpPr>
          <p:nvPr/>
        </p:nvGrpSpPr>
        <p:grpSpPr bwMode="auto">
          <a:xfrm>
            <a:off x="3455988" y="5540375"/>
            <a:ext cx="2471737" cy="768350"/>
            <a:chOff x="2177" y="2638"/>
            <a:chExt cx="1557" cy="484"/>
          </a:xfrm>
        </p:grpSpPr>
        <p:graphicFrame>
          <p:nvGraphicFramePr>
            <p:cNvPr id="26637" name="Object 42"/>
            <p:cNvGraphicFramePr>
              <a:graphicFrameLocks noChangeAspect="1"/>
            </p:cNvGraphicFramePr>
            <p:nvPr/>
          </p:nvGraphicFramePr>
          <p:xfrm>
            <a:off x="2328" y="2764"/>
            <a:ext cx="1219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028700" imgH="228600" progId="Equation.DSMT4">
                    <p:embed/>
                  </p:oleObj>
                </mc:Choice>
                <mc:Fallback>
                  <p:oleObj name="Equation" r:id="rId15" imgW="1028700" imgH="228600" progId="Equation.DSMT4">
                    <p:embed/>
                    <p:pic>
                      <p:nvPicPr>
                        <p:cNvPr id="26637" name="Object 4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328" y="2764"/>
                          <a:ext cx="1219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6638" name="Rectangle 43"/>
            <p:cNvSpPr>
              <a:spLocks noChangeArrowheads="1"/>
            </p:cNvSpPr>
            <p:nvPr/>
          </p:nvSpPr>
          <p:spPr bwMode="auto">
            <a:xfrm>
              <a:off x="2177" y="2638"/>
              <a:ext cx="1557" cy="48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26630" name="Group 50"/>
          <p:cNvGrpSpPr>
            <a:grpSpLocks/>
          </p:cNvGrpSpPr>
          <p:nvPr/>
        </p:nvGrpSpPr>
        <p:grpSpPr bwMode="auto">
          <a:xfrm>
            <a:off x="528638" y="5040313"/>
            <a:ext cx="2336800" cy="1784350"/>
            <a:chOff x="333" y="3175"/>
            <a:chExt cx="1472" cy="1124"/>
          </a:xfrm>
        </p:grpSpPr>
        <p:sp>
          <p:nvSpPr>
            <p:cNvPr id="26632" name="Rectangle 45" descr="Diagonal para cima clara"/>
            <p:cNvSpPr>
              <a:spLocks noChangeArrowheads="1"/>
            </p:cNvSpPr>
            <p:nvPr/>
          </p:nvSpPr>
          <p:spPr bwMode="auto">
            <a:xfrm>
              <a:off x="333" y="3175"/>
              <a:ext cx="984" cy="1124"/>
            </a:xfrm>
            <a:prstGeom prst="rect">
              <a:avLst/>
            </a:prstGeom>
            <a:pattFill prst="ltUpDiag">
              <a:fgClr>
                <a:schemeClr val="tx1"/>
              </a:fgClr>
              <a:bgClr>
                <a:schemeClr val="bg1"/>
              </a:bgClr>
            </a:patt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6633" name="Oval 46"/>
            <p:cNvSpPr>
              <a:spLocks noChangeArrowheads="1"/>
            </p:cNvSpPr>
            <p:nvPr/>
          </p:nvSpPr>
          <p:spPr bwMode="auto">
            <a:xfrm>
              <a:off x="488" y="3330"/>
              <a:ext cx="465" cy="543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6634" name="Oval 47"/>
            <p:cNvSpPr>
              <a:spLocks noChangeArrowheads="1"/>
            </p:cNvSpPr>
            <p:nvPr/>
          </p:nvSpPr>
          <p:spPr bwMode="auto">
            <a:xfrm>
              <a:off x="759" y="3601"/>
              <a:ext cx="465" cy="543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26635" name="Freeform 48"/>
            <p:cNvSpPr>
              <a:spLocks/>
            </p:cNvSpPr>
            <p:nvPr/>
          </p:nvSpPr>
          <p:spPr bwMode="auto">
            <a:xfrm>
              <a:off x="761" y="3607"/>
              <a:ext cx="194" cy="258"/>
            </a:xfrm>
            <a:custGeom>
              <a:avLst/>
              <a:gdLst>
                <a:gd name="T0" fmla="*/ 0 w 109"/>
                <a:gd name="T1" fmla="*/ 1464100 h 145"/>
                <a:gd name="T2" fmla="*/ 28285 w 109"/>
                <a:gd name="T3" fmla="*/ 1062291 h 145"/>
                <a:gd name="T4" fmla="*/ 159472 w 109"/>
                <a:gd name="T5" fmla="*/ 736327 h 145"/>
                <a:gd name="T6" fmla="*/ 300577 w 109"/>
                <a:gd name="T7" fmla="*/ 494618 h 145"/>
                <a:gd name="T8" fmla="*/ 534972 w 109"/>
                <a:gd name="T9" fmla="*/ 248434 h 145"/>
                <a:gd name="T10" fmla="*/ 779949 w 109"/>
                <a:gd name="T11" fmla="*/ 89416 h 145"/>
                <a:gd name="T12" fmla="*/ 1001617 w 109"/>
                <a:gd name="T13" fmla="*/ 0 h 145"/>
                <a:gd name="T14" fmla="*/ 1104289 w 109"/>
                <a:gd name="T15" fmla="*/ 0 h 145"/>
                <a:gd name="T16" fmla="*/ 1075321 w 109"/>
                <a:gd name="T17" fmla="*/ 270980 h 145"/>
                <a:gd name="T18" fmla="*/ 1001617 w 109"/>
                <a:gd name="T19" fmla="*/ 568112 h 145"/>
                <a:gd name="T20" fmla="*/ 869882 w 109"/>
                <a:gd name="T21" fmla="*/ 806528 h 145"/>
                <a:gd name="T22" fmla="*/ 730859 w 109"/>
                <a:gd name="T23" fmla="*/ 1048080 h 145"/>
                <a:gd name="T24" fmla="*/ 518291 w 109"/>
                <a:gd name="T25" fmla="*/ 1252558 h 145"/>
                <a:gd name="T26" fmla="*/ 246216 w 109"/>
                <a:gd name="T27" fmla="*/ 1383617 h 145"/>
                <a:gd name="T28" fmla="*/ 140376 w 109"/>
                <a:gd name="T29" fmla="*/ 1453342 h 145"/>
                <a:gd name="T30" fmla="*/ 0 w 109"/>
                <a:gd name="T31" fmla="*/ 1464100 h 1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w 109"/>
                <a:gd name="T49" fmla="*/ 0 h 145"/>
                <a:gd name="T50" fmla="*/ 109 w 109"/>
                <a:gd name="T51" fmla="*/ 145 h 145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T48" t="T49" r="T50" b="T51"/>
              <a:pathLst>
                <a:path w="109" h="145">
                  <a:moveTo>
                    <a:pt x="0" y="145"/>
                  </a:moveTo>
                  <a:lnTo>
                    <a:pt x="3" y="105"/>
                  </a:lnTo>
                  <a:lnTo>
                    <a:pt x="16" y="73"/>
                  </a:lnTo>
                  <a:lnTo>
                    <a:pt x="30" y="49"/>
                  </a:lnTo>
                  <a:lnTo>
                    <a:pt x="53" y="25"/>
                  </a:lnTo>
                  <a:lnTo>
                    <a:pt x="77" y="9"/>
                  </a:lnTo>
                  <a:lnTo>
                    <a:pt x="99" y="0"/>
                  </a:lnTo>
                  <a:lnTo>
                    <a:pt x="109" y="0"/>
                  </a:lnTo>
                  <a:lnTo>
                    <a:pt x="106" y="27"/>
                  </a:lnTo>
                  <a:lnTo>
                    <a:pt x="99" y="56"/>
                  </a:lnTo>
                  <a:lnTo>
                    <a:pt x="86" y="80"/>
                  </a:lnTo>
                  <a:lnTo>
                    <a:pt x="72" y="104"/>
                  </a:lnTo>
                  <a:lnTo>
                    <a:pt x="51" y="124"/>
                  </a:lnTo>
                  <a:lnTo>
                    <a:pt x="24" y="137"/>
                  </a:lnTo>
                  <a:lnTo>
                    <a:pt x="14" y="144"/>
                  </a:lnTo>
                  <a:lnTo>
                    <a:pt x="0" y="145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graphicFrame>
          <p:nvGraphicFramePr>
            <p:cNvPr id="26636" name="Object 49"/>
            <p:cNvGraphicFramePr>
              <a:graphicFrameLocks noChangeAspect="1"/>
            </p:cNvGraphicFramePr>
            <p:nvPr/>
          </p:nvGraphicFramePr>
          <p:xfrm>
            <a:off x="1568" y="3584"/>
            <a:ext cx="237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7" imgW="152334" imgH="190417" progId="Equation.DSMT4">
                    <p:embed/>
                  </p:oleObj>
                </mc:Choice>
                <mc:Fallback>
                  <p:oleObj name="Equation" r:id="rId17" imgW="152334" imgH="190417" progId="Equation.DSMT4">
                    <p:embed/>
                    <p:pic>
                      <p:nvPicPr>
                        <p:cNvPr id="26636" name="Object 4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568" y="3584"/>
                          <a:ext cx="237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D461131-54CD-41DA-979D-D873275BFED9}" type="slidenum">
              <a:rPr lang="pt-BR"/>
              <a:pPr>
                <a:defRPr/>
              </a:pPr>
              <a:t>24</a:t>
            </a:fld>
            <a:endParaRPr lang="pt-B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sp>
        <p:nvSpPr>
          <p:cNvPr id="27651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526338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914400" indent="-4572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rabicParenR"/>
            </a:pPr>
            <a:r>
              <a:rPr lang="pt-BR" altLang="pt-BR" sz="1600">
                <a:latin typeface="Tahoma" panose="020B0604030504040204" pitchFamily="34" charset="0"/>
              </a:rPr>
              <a:t>Num estudo sobre ocorrência de queimadas, 600 pontos foram escolhidos aleatoriamente e divididos em 3 grupos (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) de acordo com sua classe de uso do solo, sendo 100 de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200 de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 e 300 de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. Suponha que a probabilidade de ocorrência de queimada em cada uma das classes seja respectivamente de 10%; 5% e 1%. Selecionando-se um ponto ao acaso, calcule a probabilidade de que esse ponto: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/>
            </a:pPr>
            <a:r>
              <a:rPr lang="pt-BR" altLang="pt-BR" sz="1600">
                <a:latin typeface="Tahoma" panose="020B0604030504040204" pitchFamily="34" charset="0"/>
              </a:rPr>
              <a:t>seja da classe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/>
            </a:pPr>
            <a:r>
              <a:rPr lang="pt-BR" altLang="pt-BR" sz="1600">
                <a:latin typeface="Tahoma" panose="020B0604030504040204" pitchFamily="34" charset="0"/>
              </a:rPr>
              <a:t>corresponda a uma queimada, sabendo que o ponto é da classe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;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/>
            </a:pPr>
            <a:r>
              <a:rPr lang="pt-BR" altLang="pt-BR" sz="1600">
                <a:latin typeface="Tahoma" panose="020B0604030504040204" pitchFamily="34" charset="0"/>
              </a:rPr>
              <a:t>corresponda a uma queimada; e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/>
            </a:pPr>
            <a:r>
              <a:rPr lang="pt-BR" altLang="pt-BR" sz="1600">
                <a:latin typeface="Tahoma" panose="020B0604030504040204" pitchFamily="34" charset="0"/>
              </a:rPr>
              <a:t>seja da classe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sabendo que o ponto corresponde a uma queimada.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BA0ADDD8-622D-412D-906A-FD3C1FD707CC}" type="slidenum">
              <a:rPr lang="pt-BR"/>
              <a:pPr>
                <a:defRPr/>
              </a:pPr>
              <a:t>25</a:t>
            </a:fld>
            <a:endParaRPr lang="pt-B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51511843"/>
              </p:ext>
            </p:extLst>
          </p:nvPr>
        </p:nvGraphicFramePr>
        <p:xfrm>
          <a:off x="2945968" y="5010602"/>
          <a:ext cx="2000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393480" progId="Equation.DSMT4">
                  <p:embed/>
                </p:oleObj>
              </mc:Choice>
              <mc:Fallback>
                <p:oleObj name="Equation" r:id="rId2" imgW="139680" imgH="393480" progId="Equation.DSMT4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5968" y="5010602"/>
                        <a:ext cx="2000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742470554"/>
              </p:ext>
            </p:extLst>
          </p:nvPr>
        </p:nvGraphicFramePr>
        <p:xfrm>
          <a:off x="2642298" y="4012066"/>
          <a:ext cx="2000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80" imgH="393480" progId="Equation.DSMT4">
                  <p:embed/>
                </p:oleObj>
              </mc:Choice>
              <mc:Fallback>
                <p:oleObj name="Equation" r:id="rId2" imgW="139680" imgH="393480" progId="Equation.DSMT4">
                  <p:embed/>
                  <p:pic>
                    <p:nvPicPr>
                      <p:cNvPr id="1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2298" y="4012066"/>
                        <a:ext cx="2000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4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52633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914400" indent="-4572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rabicParenR"/>
            </a:pPr>
            <a:r>
              <a:rPr lang="pt-BR" altLang="pt-BR" sz="1600">
                <a:latin typeface="Tahoma" panose="020B0604030504040204" pitchFamily="34" charset="0"/>
              </a:rPr>
              <a:t>Num estudo sobre ocorrência de queimadas, 600 pontos foram escolhidos aleatoriamente e divididos em 3 grupos (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) de acordo com sua classe de uso do solo, sendo 100 de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200 de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 e 300 de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. Suponha que a probabilidade de ocorrência de queimada em cada uma das classes seja respectivamente de 10%; 5% e 1%. Selecionando-se um ponto ao acaso, calcule a probabilidade de que esse ponto: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/>
            </a:pPr>
            <a:r>
              <a:rPr lang="pt-BR" altLang="pt-BR" sz="1600">
                <a:latin typeface="Tahoma" panose="020B0604030504040204" pitchFamily="34" charset="0"/>
              </a:rPr>
              <a:t>seja da classe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;</a:t>
            </a:r>
          </a:p>
        </p:txBody>
      </p:sp>
      <p:sp>
        <p:nvSpPr>
          <p:cNvPr id="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aphicFrame>
        <p:nvGraphicFramePr>
          <p:cNvPr id="28676" name="Object 4"/>
          <p:cNvGraphicFramePr>
            <a:graphicFrameLocks noChangeAspect="1"/>
          </p:cNvGraphicFramePr>
          <p:nvPr/>
        </p:nvGraphicFramePr>
        <p:xfrm>
          <a:off x="1960563" y="4137025"/>
          <a:ext cx="690562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2391" imgH="203112" progId="Equation.DSMT4">
                  <p:embed/>
                </p:oleObj>
              </mc:Choice>
              <mc:Fallback>
                <p:oleObj name="Equation" r:id="rId5" imgW="482391" imgH="203112" progId="Equation.DSMT4">
                  <p:embed/>
                  <p:pic>
                    <p:nvPicPr>
                      <p:cNvPr id="28676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4137025"/>
                        <a:ext cx="690562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7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74897238"/>
              </p:ext>
            </p:extLst>
          </p:nvPr>
        </p:nvGraphicFramePr>
        <p:xfrm>
          <a:off x="2646363" y="4000500"/>
          <a:ext cx="78263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45863" imgH="393529" progId="Equation.DSMT4">
                  <p:embed/>
                </p:oleObj>
              </mc:Choice>
              <mc:Fallback>
                <p:oleObj name="Equation" r:id="rId7" imgW="545863" imgH="393529" progId="Equation.DSMT4">
                  <p:embed/>
                  <p:pic>
                    <p:nvPicPr>
                      <p:cNvPr id="2867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46363" y="4000500"/>
                        <a:ext cx="782637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8" name="Text Box 6"/>
          <p:cNvSpPr txBox="1">
            <a:spLocks noChangeArrowheads="1"/>
          </p:cNvSpPr>
          <p:nvPr/>
        </p:nvSpPr>
        <p:spPr bwMode="auto">
          <a:xfrm>
            <a:off x="966788" y="4610100"/>
            <a:ext cx="7677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914400" indent="-4572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lvl="1"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lphaLcParenR" startAt="2"/>
            </a:pPr>
            <a:r>
              <a:rPr lang="pt-BR" altLang="pt-BR" sz="1600">
                <a:latin typeface="Tahoma" panose="020B0604030504040204" pitchFamily="34" charset="0"/>
              </a:rPr>
              <a:t>corresponda a uma queimada, sabendo que o ponto é da classe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;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graphicFrame>
        <p:nvGraphicFramePr>
          <p:cNvPr id="28679" name="Object 7"/>
          <p:cNvGraphicFramePr>
            <a:graphicFrameLocks noChangeAspect="1"/>
          </p:cNvGraphicFramePr>
          <p:nvPr/>
        </p:nvGraphicFramePr>
        <p:xfrm>
          <a:off x="1933575" y="5143500"/>
          <a:ext cx="96202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672808" imgH="203112" progId="Equation.DSMT4">
                  <p:embed/>
                </p:oleObj>
              </mc:Choice>
              <mc:Fallback>
                <p:oleObj name="Equation" r:id="rId9" imgW="672808" imgH="203112" progId="Equation.DSMT4">
                  <p:embed/>
                  <p:pic>
                    <p:nvPicPr>
                      <p:cNvPr id="28679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33575" y="5143500"/>
                        <a:ext cx="962025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0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93945798"/>
              </p:ext>
            </p:extLst>
          </p:nvPr>
        </p:nvGraphicFramePr>
        <p:xfrm>
          <a:off x="2946400" y="5006975"/>
          <a:ext cx="40005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79279" imgH="393529" progId="Equation.DSMT4">
                  <p:embed/>
                </p:oleObj>
              </mc:Choice>
              <mc:Fallback>
                <p:oleObj name="Equation" r:id="rId11" imgW="279279" imgH="393529" progId="Equation.DSMT4">
                  <p:embed/>
                  <p:pic>
                    <p:nvPicPr>
                      <p:cNvPr id="2868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6400" y="5006975"/>
                        <a:ext cx="400050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2890A93-6D5E-49B7-B70E-498479A3705C}" type="slidenum">
              <a:rPr lang="pt-BR"/>
              <a:pPr>
                <a:defRPr/>
              </a:pPr>
              <a:t>26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8" grpId="0" autoUpdateAnimBg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431652426"/>
              </p:ext>
            </p:extLst>
          </p:nvPr>
        </p:nvGraphicFramePr>
        <p:xfrm>
          <a:off x="2685840" y="4192060"/>
          <a:ext cx="2000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9" imgH="393529" progId="Equation.DSMT4">
                  <p:embed/>
                </p:oleObj>
              </mc:Choice>
              <mc:Fallback>
                <p:oleObj name="Equation" r:id="rId2" imgW="139639" imgH="393529" progId="Equation.DSMT4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5840" y="4192060"/>
                        <a:ext cx="20002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3048000" y="5105400"/>
            <a:ext cx="268855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Tahoma" panose="020B0604030504040204" pitchFamily="34" charset="0"/>
              </a:rPr>
              <a:t>Probabilidade Total</a:t>
            </a:r>
          </a:p>
        </p:txBody>
      </p:sp>
      <p:graphicFrame>
        <p:nvGraphicFramePr>
          <p:cNvPr id="29701" name="Object 5"/>
          <p:cNvGraphicFramePr>
            <a:graphicFrameLocks noChangeAspect="1"/>
          </p:cNvGraphicFramePr>
          <p:nvPr/>
        </p:nvGraphicFramePr>
        <p:xfrm>
          <a:off x="1960563" y="4327525"/>
          <a:ext cx="690562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2391" imgH="203112" progId="Equation.DSMT4">
                  <p:embed/>
                </p:oleObj>
              </mc:Choice>
              <mc:Fallback>
                <p:oleObj name="Equation" r:id="rId4" imgW="482391" imgH="203112" progId="Equation.DSMT4">
                  <p:embed/>
                  <p:pic>
                    <p:nvPicPr>
                      <p:cNvPr id="2970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4327525"/>
                        <a:ext cx="690562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02481805"/>
              </p:ext>
            </p:extLst>
          </p:nvPr>
        </p:nvGraphicFramePr>
        <p:xfrm>
          <a:off x="2684463" y="4191000"/>
          <a:ext cx="1582737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04900" imgH="393700" progId="Equation.DSMT4">
                  <p:embed/>
                </p:oleObj>
              </mc:Choice>
              <mc:Fallback>
                <p:oleObj name="Equation" r:id="rId6" imgW="1104900" imgH="393700" progId="Equation.DSMT4">
                  <p:embed/>
                  <p:pic>
                    <p:nvPicPr>
                      <p:cNvPr id="29702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84463" y="4191000"/>
                        <a:ext cx="1582737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52633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914400" indent="-4572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rabicParenR"/>
            </a:pPr>
            <a:r>
              <a:rPr lang="pt-BR" altLang="pt-BR" sz="1600">
                <a:latin typeface="Tahoma" panose="020B0604030504040204" pitchFamily="34" charset="0"/>
              </a:rPr>
              <a:t>Num estudo sobre ocorrência de queimadas, 600 pontos foram escolhidos aleatoriamente e divididos em 3 grupos (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) de acordo com sua classe de uso do solo, sendo 100 de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200 de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 e 300 de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. Suponha que a probabilidade de ocorrência de queimada em cada uma das classes seja respectivamente de 10%; 5% e 1%. Selecionando-se um ponto ao acaso, calcule a probabilidade de que esse ponto: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lphaLcParenR" startAt="3"/>
            </a:pPr>
            <a:r>
              <a:rPr lang="pt-BR" altLang="pt-BR" sz="1600">
                <a:latin typeface="Tahoma" panose="020B0604030504040204" pitchFamily="34" charset="0"/>
              </a:rPr>
              <a:t>corresponda a uma queimada;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4E3E701-A611-4F0F-89C7-06A59232EA84}" type="slidenum">
              <a:rPr lang="pt-BR"/>
              <a:pPr>
                <a:defRPr/>
              </a:pPr>
              <a:t>27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0" grpId="0" autoUpdateAnimBg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3635375" y="2852738"/>
            <a:ext cx="5184775" cy="869950"/>
            <a:chOff x="2290" y="1797"/>
            <a:chExt cx="3266" cy="548"/>
          </a:xfrm>
        </p:grpSpPr>
        <p:sp>
          <p:nvSpPr>
            <p:cNvPr id="30743" name="AutoShape 21"/>
            <p:cNvSpPr>
              <a:spLocks/>
            </p:cNvSpPr>
            <p:nvPr/>
          </p:nvSpPr>
          <p:spPr bwMode="auto">
            <a:xfrm rot="5400000">
              <a:off x="3855" y="232"/>
              <a:ext cx="136" cy="3266"/>
            </a:xfrm>
            <a:prstGeom prst="rightBrace">
              <a:avLst>
                <a:gd name="adj1" fmla="val 200123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0744" name="Text Box 22"/>
            <p:cNvSpPr txBox="1">
              <a:spLocks noChangeArrowheads="1"/>
            </p:cNvSpPr>
            <p:nvPr/>
          </p:nvSpPr>
          <p:spPr bwMode="auto">
            <a:xfrm>
              <a:off x="2925" y="1979"/>
              <a:ext cx="1978" cy="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conjuntos disjuntos</a:t>
              </a:r>
            </a:p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eventos mutuamente exclusivos</a:t>
              </a:r>
            </a:p>
          </p:txBody>
        </p:sp>
      </p:grpSp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 Total</a:t>
            </a:r>
          </a:p>
        </p:txBody>
      </p:sp>
      <p:grpSp>
        <p:nvGrpSpPr>
          <p:cNvPr id="30724" name="Group 3"/>
          <p:cNvGrpSpPr>
            <a:grpSpLocks/>
          </p:cNvGrpSpPr>
          <p:nvPr/>
        </p:nvGrpSpPr>
        <p:grpSpPr bwMode="auto">
          <a:xfrm>
            <a:off x="1439863" y="2057400"/>
            <a:ext cx="1752600" cy="2441575"/>
            <a:chOff x="528" y="1296"/>
            <a:chExt cx="1104" cy="1538"/>
          </a:xfrm>
        </p:grpSpPr>
        <p:grpSp>
          <p:nvGrpSpPr>
            <p:cNvPr id="30732" name="Group 4"/>
            <p:cNvGrpSpPr>
              <a:grpSpLocks/>
            </p:cNvGrpSpPr>
            <p:nvPr/>
          </p:nvGrpSpPr>
          <p:grpSpPr bwMode="auto">
            <a:xfrm>
              <a:off x="528" y="1296"/>
              <a:ext cx="1104" cy="1538"/>
              <a:chOff x="528" y="1296"/>
              <a:chExt cx="1104" cy="1538"/>
            </a:xfrm>
          </p:grpSpPr>
          <p:sp>
            <p:nvSpPr>
              <p:cNvPr id="30738" name="Rectangle 5"/>
              <p:cNvSpPr>
                <a:spLocks noChangeArrowheads="1"/>
              </p:cNvSpPr>
              <p:nvPr/>
            </p:nvSpPr>
            <p:spPr bwMode="auto">
              <a:xfrm>
                <a:off x="528" y="1296"/>
                <a:ext cx="1104" cy="1536"/>
              </a:xfrm>
              <a:prstGeom prst="rect">
                <a:avLst/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30739" name="Freeform 6"/>
              <p:cNvSpPr>
                <a:spLocks/>
              </p:cNvSpPr>
              <p:nvPr/>
            </p:nvSpPr>
            <p:spPr bwMode="auto">
              <a:xfrm>
                <a:off x="530" y="1301"/>
                <a:ext cx="725" cy="669"/>
              </a:xfrm>
              <a:custGeom>
                <a:avLst/>
                <a:gdLst>
                  <a:gd name="T0" fmla="*/ 0 w 725"/>
                  <a:gd name="T1" fmla="*/ 669 h 669"/>
                  <a:gd name="T2" fmla="*/ 118 w 725"/>
                  <a:gd name="T3" fmla="*/ 617 h 669"/>
                  <a:gd name="T4" fmla="*/ 241 w 725"/>
                  <a:gd name="T5" fmla="*/ 545 h 669"/>
                  <a:gd name="T6" fmla="*/ 324 w 725"/>
                  <a:gd name="T7" fmla="*/ 458 h 669"/>
                  <a:gd name="T8" fmla="*/ 339 w 725"/>
                  <a:gd name="T9" fmla="*/ 417 h 669"/>
                  <a:gd name="T10" fmla="*/ 355 w 725"/>
                  <a:gd name="T11" fmla="*/ 345 h 669"/>
                  <a:gd name="T12" fmla="*/ 360 w 725"/>
                  <a:gd name="T13" fmla="*/ 309 h 669"/>
                  <a:gd name="T14" fmla="*/ 396 w 725"/>
                  <a:gd name="T15" fmla="*/ 273 h 669"/>
                  <a:gd name="T16" fmla="*/ 560 w 725"/>
                  <a:gd name="T17" fmla="*/ 211 h 669"/>
                  <a:gd name="T18" fmla="*/ 612 w 725"/>
                  <a:gd name="T19" fmla="*/ 185 h 669"/>
                  <a:gd name="T20" fmla="*/ 653 w 725"/>
                  <a:gd name="T21" fmla="*/ 165 h 669"/>
                  <a:gd name="T22" fmla="*/ 694 w 725"/>
                  <a:gd name="T23" fmla="*/ 124 h 669"/>
                  <a:gd name="T24" fmla="*/ 715 w 725"/>
                  <a:gd name="T25" fmla="*/ 82 h 669"/>
                  <a:gd name="T26" fmla="*/ 725 w 725"/>
                  <a:gd name="T27" fmla="*/ 0 h 669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725"/>
                  <a:gd name="T43" fmla="*/ 0 h 669"/>
                  <a:gd name="T44" fmla="*/ 725 w 725"/>
                  <a:gd name="T45" fmla="*/ 669 h 669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725" h="669">
                    <a:moveTo>
                      <a:pt x="0" y="669"/>
                    </a:moveTo>
                    <a:cubicBezTo>
                      <a:pt x="48" y="653"/>
                      <a:pt x="83" y="656"/>
                      <a:pt x="118" y="617"/>
                    </a:cubicBezTo>
                    <a:cubicBezTo>
                      <a:pt x="133" y="573"/>
                      <a:pt x="199" y="553"/>
                      <a:pt x="241" y="545"/>
                    </a:cubicBezTo>
                    <a:cubicBezTo>
                      <a:pt x="286" y="524"/>
                      <a:pt x="296" y="496"/>
                      <a:pt x="324" y="458"/>
                    </a:cubicBezTo>
                    <a:cubicBezTo>
                      <a:pt x="337" y="403"/>
                      <a:pt x="319" y="471"/>
                      <a:pt x="339" y="417"/>
                    </a:cubicBezTo>
                    <a:cubicBezTo>
                      <a:pt x="348" y="393"/>
                      <a:pt x="346" y="368"/>
                      <a:pt x="355" y="345"/>
                    </a:cubicBezTo>
                    <a:cubicBezTo>
                      <a:pt x="357" y="333"/>
                      <a:pt x="357" y="321"/>
                      <a:pt x="360" y="309"/>
                    </a:cubicBezTo>
                    <a:cubicBezTo>
                      <a:pt x="365" y="291"/>
                      <a:pt x="384" y="285"/>
                      <a:pt x="396" y="273"/>
                    </a:cubicBezTo>
                    <a:cubicBezTo>
                      <a:pt x="436" y="233"/>
                      <a:pt x="510" y="224"/>
                      <a:pt x="560" y="211"/>
                    </a:cubicBezTo>
                    <a:cubicBezTo>
                      <a:pt x="580" y="206"/>
                      <a:pt x="594" y="195"/>
                      <a:pt x="612" y="185"/>
                    </a:cubicBezTo>
                    <a:cubicBezTo>
                      <a:pt x="625" y="178"/>
                      <a:pt x="653" y="165"/>
                      <a:pt x="653" y="165"/>
                    </a:cubicBezTo>
                    <a:cubicBezTo>
                      <a:pt x="664" y="147"/>
                      <a:pt x="679" y="139"/>
                      <a:pt x="694" y="124"/>
                    </a:cubicBezTo>
                    <a:cubicBezTo>
                      <a:pt x="706" y="88"/>
                      <a:pt x="696" y="101"/>
                      <a:pt x="715" y="82"/>
                    </a:cubicBezTo>
                    <a:cubicBezTo>
                      <a:pt x="720" y="55"/>
                      <a:pt x="725" y="28"/>
                      <a:pt x="725" y="0"/>
                    </a:cubicBezTo>
                  </a:path>
                </a:pathLst>
              </a:cu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>
                  <a:latin typeface="Tahoma" panose="020B0604030504040204" pitchFamily="34" charset="0"/>
                </a:endParaRPr>
              </a:p>
            </p:txBody>
          </p:sp>
          <p:sp>
            <p:nvSpPr>
              <p:cNvPr id="4" name="Freeform 7"/>
              <p:cNvSpPr>
                <a:spLocks/>
              </p:cNvSpPr>
              <p:nvPr/>
            </p:nvSpPr>
            <p:spPr bwMode="auto">
              <a:xfrm>
                <a:off x="792" y="1836"/>
                <a:ext cx="494" cy="998"/>
              </a:xfrm>
              <a:custGeom>
                <a:avLst/>
                <a:gdLst>
                  <a:gd name="T0" fmla="*/ 0 w 494"/>
                  <a:gd name="T1" fmla="*/ 0 h 998"/>
                  <a:gd name="T2" fmla="*/ 87 w 494"/>
                  <a:gd name="T3" fmla="*/ 26 h 998"/>
                  <a:gd name="T4" fmla="*/ 154 w 494"/>
                  <a:gd name="T5" fmla="*/ 170 h 998"/>
                  <a:gd name="T6" fmla="*/ 134 w 494"/>
                  <a:gd name="T7" fmla="*/ 278 h 998"/>
                  <a:gd name="T8" fmla="*/ 108 w 494"/>
                  <a:gd name="T9" fmla="*/ 334 h 998"/>
                  <a:gd name="T10" fmla="*/ 87 w 494"/>
                  <a:gd name="T11" fmla="*/ 381 h 998"/>
                  <a:gd name="T12" fmla="*/ 67 w 494"/>
                  <a:gd name="T13" fmla="*/ 478 h 998"/>
                  <a:gd name="T14" fmla="*/ 72 w 494"/>
                  <a:gd name="T15" fmla="*/ 597 h 998"/>
                  <a:gd name="T16" fmla="*/ 93 w 494"/>
                  <a:gd name="T17" fmla="*/ 643 h 998"/>
                  <a:gd name="T18" fmla="*/ 108 w 494"/>
                  <a:gd name="T19" fmla="*/ 679 h 998"/>
                  <a:gd name="T20" fmla="*/ 154 w 494"/>
                  <a:gd name="T21" fmla="*/ 720 h 998"/>
                  <a:gd name="T22" fmla="*/ 257 w 494"/>
                  <a:gd name="T23" fmla="*/ 802 h 998"/>
                  <a:gd name="T24" fmla="*/ 422 w 494"/>
                  <a:gd name="T25" fmla="*/ 869 h 998"/>
                  <a:gd name="T26" fmla="*/ 483 w 494"/>
                  <a:gd name="T27" fmla="*/ 926 h 998"/>
                  <a:gd name="T28" fmla="*/ 494 w 494"/>
                  <a:gd name="T29" fmla="*/ 998 h 99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494"/>
                  <a:gd name="T46" fmla="*/ 0 h 998"/>
                  <a:gd name="T47" fmla="*/ 494 w 494"/>
                  <a:gd name="T48" fmla="*/ 998 h 998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494" h="998">
                    <a:moveTo>
                      <a:pt x="0" y="0"/>
                    </a:moveTo>
                    <a:cubicBezTo>
                      <a:pt x="37" y="7"/>
                      <a:pt x="55" y="15"/>
                      <a:pt x="87" y="26"/>
                    </a:cubicBezTo>
                    <a:cubicBezTo>
                      <a:pt x="129" y="67"/>
                      <a:pt x="137" y="115"/>
                      <a:pt x="154" y="170"/>
                    </a:cubicBezTo>
                    <a:cubicBezTo>
                      <a:pt x="150" y="224"/>
                      <a:pt x="158" y="240"/>
                      <a:pt x="134" y="278"/>
                    </a:cubicBezTo>
                    <a:cubicBezTo>
                      <a:pt x="129" y="300"/>
                      <a:pt x="120" y="316"/>
                      <a:pt x="108" y="334"/>
                    </a:cubicBezTo>
                    <a:cubicBezTo>
                      <a:pt x="102" y="353"/>
                      <a:pt x="101" y="367"/>
                      <a:pt x="87" y="381"/>
                    </a:cubicBezTo>
                    <a:cubicBezTo>
                      <a:pt x="79" y="413"/>
                      <a:pt x="74" y="445"/>
                      <a:pt x="67" y="478"/>
                    </a:cubicBezTo>
                    <a:cubicBezTo>
                      <a:pt x="69" y="518"/>
                      <a:pt x="68" y="557"/>
                      <a:pt x="72" y="597"/>
                    </a:cubicBezTo>
                    <a:cubicBezTo>
                      <a:pt x="75" y="624"/>
                      <a:pt x="82" y="624"/>
                      <a:pt x="93" y="643"/>
                    </a:cubicBezTo>
                    <a:cubicBezTo>
                      <a:pt x="100" y="654"/>
                      <a:pt x="100" y="669"/>
                      <a:pt x="108" y="679"/>
                    </a:cubicBezTo>
                    <a:cubicBezTo>
                      <a:pt x="139" y="721"/>
                      <a:pt x="125" y="691"/>
                      <a:pt x="154" y="720"/>
                    </a:cubicBezTo>
                    <a:cubicBezTo>
                      <a:pt x="185" y="751"/>
                      <a:pt x="214" y="788"/>
                      <a:pt x="257" y="802"/>
                    </a:cubicBezTo>
                    <a:cubicBezTo>
                      <a:pt x="303" y="848"/>
                      <a:pt x="358" y="862"/>
                      <a:pt x="422" y="869"/>
                    </a:cubicBezTo>
                    <a:cubicBezTo>
                      <a:pt x="439" y="893"/>
                      <a:pt x="463" y="904"/>
                      <a:pt x="483" y="926"/>
                    </a:cubicBezTo>
                    <a:cubicBezTo>
                      <a:pt x="494" y="954"/>
                      <a:pt x="494" y="965"/>
                      <a:pt x="494" y="998"/>
                    </a:cubicBezTo>
                  </a:path>
                </a:pathLst>
              </a:cu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>
                  <a:latin typeface="Tahoma" panose="020B0604030504040204" pitchFamily="34" charset="0"/>
                </a:endParaRPr>
              </a:p>
            </p:txBody>
          </p:sp>
          <p:sp>
            <p:nvSpPr>
              <p:cNvPr id="30741" name="Freeform 8"/>
              <p:cNvSpPr>
                <a:spLocks/>
              </p:cNvSpPr>
              <p:nvPr/>
            </p:nvSpPr>
            <p:spPr bwMode="auto">
              <a:xfrm>
                <a:off x="1075" y="2253"/>
                <a:ext cx="555" cy="406"/>
              </a:xfrm>
              <a:custGeom>
                <a:avLst/>
                <a:gdLst>
                  <a:gd name="T0" fmla="*/ 0 w 555"/>
                  <a:gd name="T1" fmla="*/ 406 h 406"/>
                  <a:gd name="T2" fmla="*/ 41 w 555"/>
                  <a:gd name="T3" fmla="*/ 375 h 406"/>
                  <a:gd name="T4" fmla="*/ 56 w 555"/>
                  <a:gd name="T5" fmla="*/ 360 h 406"/>
                  <a:gd name="T6" fmla="*/ 72 w 555"/>
                  <a:gd name="T7" fmla="*/ 303 h 406"/>
                  <a:gd name="T8" fmla="*/ 87 w 555"/>
                  <a:gd name="T9" fmla="*/ 200 h 406"/>
                  <a:gd name="T10" fmla="*/ 293 w 555"/>
                  <a:gd name="T11" fmla="*/ 138 h 406"/>
                  <a:gd name="T12" fmla="*/ 396 w 555"/>
                  <a:gd name="T13" fmla="*/ 36 h 406"/>
                  <a:gd name="T14" fmla="*/ 427 w 555"/>
                  <a:gd name="T15" fmla="*/ 25 h 406"/>
                  <a:gd name="T16" fmla="*/ 555 w 555"/>
                  <a:gd name="T17" fmla="*/ 0 h 40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555"/>
                  <a:gd name="T28" fmla="*/ 0 h 406"/>
                  <a:gd name="T29" fmla="*/ 555 w 555"/>
                  <a:gd name="T30" fmla="*/ 406 h 40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555" h="406">
                    <a:moveTo>
                      <a:pt x="0" y="406"/>
                    </a:moveTo>
                    <a:cubicBezTo>
                      <a:pt x="27" y="397"/>
                      <a:pt x="11" y="405"/>
                      <a:pt x="41" y="375"/>
                    </a:cubicBezTo>
                    <a:cubicBezTo>
                      <a:pt x="46" y="370"/>
                      <a:pt x="56" y="360"/>
                      <a:pt x="56" y="360"/>
                    </a:cubicBezTo>
                    <a:cubicBezTo>
                      <a:pt x="61" y="341"/>
                      <a:pt x="67" y="322"/>
                      <a:pt x="72" y="303"/>
                    </a:cubicBezTo>
                    <a:cubicBezTo>
                      <a:pt x="73" y="288"/>
                      <a:pt x="72" y="223"/>
                      <a:pt x="87" y="200"/>
                    </a:cubicBezTo>
                    <a:cubicBezTo>
                      <a:pt x="132" y="133"/>
                      <a:pt x="224" y="142"/>
                      <a:pt x="293" y="138"/>
                    </a:cubicBezTo>
                    <a:cubicBezTo>
                      <a:pt x="349" y="111"/>
                      <a:pt x="361" y="86"/>
                      <a:pt x="396" y="36"/>
                    </a:cubicBezTo>
                    <a:cubicBezTo>
                      <a:pt x="398" y="33"/>
                      <a:pt x="425" y="26"/>
                      <a:pt x="427" y="25"/>
                    </a:cubicBezTo>
                    <a:cubicBezTo>
                      <a:pt x="470" y="7"/>
                      <a:pt x="508" y="0"/>
                      <a:pt x="555" y="0"/>
                    </a:cubicBezTo>
                  </a:path>
                </a:pathLst>
              </a:cu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>
                  <a:latin typeface="Tahoma" panose="020B0604030504040204" pitchFamily="34" charset="0"/>
                </a:endParaRPr>
              </a:p>
            </p:txBody>
          </p:sp>
          <p:sp>
            <p:nvSpPr>
              <p:cNvPr id="30742" name="Freeform 9"/>
              <p:cNvSpPr>
                <a:spLocks/>
              </p:cNvSpPr>
              <p:nvPr/>
            </p:nvSpPr>
            <p:spPr bwMode="auto">
              <a:xfrm>
                <a:off x="1070" y="1645"/>
                <a:ext cx="429" cy="562"/>
              </a:xfrm>
              <a:custGeom>
                <a:avLst/>
                <a:gdLst>
                  <a:gd name="T0" fmla="*/ 97 w 429"/>
                  <a:gd name="T1" fmla="*/ 458 h 562"/>
                  <a:gd name="T2" fmla="*/ 61 w 429"/>
                  <a:gd name="T3" fmla="*/ 366 h 562"/>
                  <a:gd name="T4" fmla="*/ 20 w 429"/>
                  <a:gd name="T5" fmla="*/ 299 h 562"/>
                  <a:gd name="T6" fmla="*/ 0 w 429"/>
                  <a:gd name="T7" fmla="*/ 253 h 562"/>
                  <a:gd name="T8" fmla="*/ 5 w 429"/>
                  <a:gd name="T9" fmla="*/ 176 h 562"/>
                  <a:gd name="T10" fmla="*/ 154 w 429"/>
                  <a:gd name="T11" fmla="*/ 124 h 562"/>
                  <a:gd name="T12" fmla="*/ 190 w 429"/>
                  <a:gd name="T13" fmla="*/ 78 h 562"/>
                  <a:gd name="T14" fmla="*/ 211 w 429"/>
                  <a:gd name="T15" fmla="*/ 37 h 562"/>
                  <a:gd name="T16" fmla="*/ 216 w 429"/>
                  <a:gd name="T17" fmla="*/ 16 h 562"/>
                  <a:gd name="T18" fmla="*/ 252 w 429"/>
                  <a:gd name="T19" fmla="*/ 6 h 562"/>
                  <a:gd name="T20" fmla="*/ 344 w 429"/>
                  <a:gd name="T21" fmla="*/ 32 h 562"/>
                  <a:gd name="T22" fmla="*/ 365 w 429"/>
                  <a:gd name="T23" fmla="*/ 88 h 562"/>
                  <a:gd name="T24" fmla="*/ 375 w 429"/>
                  <a:gd name="T25" fmla="*/ 191 h 562"/>
                  <a:gd name="T26" fmla="*/ 406 w 429"/>
                  <a:gd name="T27" fmla="*/ 242 h 562"/>
                  <a:gd name="T28" fmla="*/ 370 w 429"/>
                  <a:gd name="T29" fmla="*/ 433 h 562"/>
                  <a:gd name="T30" fmla="*/ 308 w 429"/>
                  <a:gd name="T31" fmla="*/ 500 h 562"/>
                  <a:gd name="T32" fmla="*/ 277 w 429"/>
                  <a:gd name="T33" fmla="*/ 520 h 562"/>
                  <a:gd name="T34" fmla="*/ 200 w 429"/>
                  <a:gd name="T35" fmla="*/ 561 h 562"/>
                  <a:gd name="T36" fmla="*/ 103 w 429"/>
                  <a:gd name="T37" fmla="*/ 530 h 562"/>
                  <a:gd name="T38" fmla="*/ 97 w 429"/>
                  <a:gd name="T39" fmla="*/ 458 h 562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w 429"/>
                  <a:gd name="T61" fmla="*/ 0 h 562"/>
                  <a:gd name="T62" fmla="*/ 429 w 429"/>
                  <a:gd name="T63" fmla="*/ 562 h 562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T60" t="T61" r="T62" b="T63"/>
                <a:pathLst>
                  <a:path w="429" h="562">
                    <a:moveTo>
                      <a:pt x="97" y="458"/>
                    </a:moveTo>
                    <a:cubicBezTo>
                      <a:pt x="90" y="423"/>
                      <a:pt x="83" y="394"/>
                      <a:pt x="61" y="366"/>
                    </a:cubicBezTo>
                    <a:cubicBezTo>
                      <a:pt x="51" y="340"/>
                      <a:pt x="41" y="318"/>
                      <a:pt x="20" y="299"/>
                    </a:cubicBezTo>
                    <a:cubicBezTo>
                      <a:pt x="8" y="262"/>
                      <a:pt x="16" y="277"/>
                      <a:pt x="0" y="253"/>
                    </a:cubicBezTo>
                    <a:cubicBezTo>
                      <a:pt x="2" y="227"/>
                      <a:pt x="2" y="202"/>
                      <a:pt x="5" y="176"/>
                    </a:cubicBezTo>
                    <a:cubicBezTo>
                      <a:pt x="12" y="113"/>
                      <a:pt x="125" y="125"/>
                      <a:pt x="154" y="124"/>
                    </a:cubicBezTo>
                    <a:cubicBezTo>
                      <a:pt x="173" y="111"/>
                      <a:pt x="180" y="99"/>
                      <a:pt x="190" y="78"/>
                    </a:cubicBezTo>
                    <a:cubicBezTo>
                      <a:pt x="202" y="26"/>
                      <a:pt x="184" y="90"/>
                      <a:pt x="211" y="37"/>
                    </a:cubicBezTo>
                    <a:cubicBezTo>
                      <a:pt x="214" y="31"/>
                      <a:pt x="212" y="22"/>
                      <a:pt x="216" y="16"/>
                    </a:cubicBezTo>
                    <a:cubicBezTo>
                      <a:pt x="224" y="6"/>
                      <a:pt x="240" y="9"/>
                      <a:pt x="252" y="6"/>
                    </a:cubicBezTo>
                    <a:cubicBezTo>
                      <a:pt x="305" y="10"/>
                      <a:pt x="315" y="0"/>
                      <a:pt x="344" y="32"/>
                    </a:cubicBezTo>
                    <a:cubicBezTo>
                      <a:pt x="349" y="52"/>
                      <a:pt x="358" y="68"/>
                      <a:pt x="365" y="88"/>
                    </a:cubicBezTo>
                    <a:cubicBezTo>
                      <a:pt x="367" y="126"/>
                      <a:pt x="361" y="158"/>
                      <a:pt x="375" y="191"/>
                    </a:cubicBezTo>
                    <a:cubicBezTo>
                      <a:pt x="383" y="209"/>
                      <a:pt x="406" y="242"/>
                      <a:pt x="406" y="242"/>
                    </a:cubicBezTo>
                    <a:cubicBezTo>
                      <a:pt x="418" y="305"/>
                      <a:pt x="429" y="390"/>
                      <a:pt x="370" y="433"/>
                    </a:cubicBezTo>
                    <a:cubicBezTo>
                      <a:pt x="351" y="461"/>
                      <a:pt x="335" y="480"/>
                      <a:pt x="308" y="500"/>
                    </a:cubicBezTo>
                    <a:cubicBezTo>
                      <a:pt x="298" y="507"/>
                      <a:pt x="277" y="520"/>
                      <a:pt x="277" y="520"/>
                    </a:cubicBezTo>
                    <a:cubicBezTo>
                      <a:pt x="260" y="547"/>
                      <a:pt x="231" y="555"/>
                      <a:pt x="200" y="561"/>
                    </a:cubicBezTo>
                    <a:cubicBezTo>
                      <a:pt x="189" y="560"/>
                      <a:pt x="109" y="562"/>
                      <a:pt x="103" y="530"/>
                    </a:cubicBezTo>
                    <a:cubicBezTo>
                      <a:pt x="98" y="506"/>
                      <a:pt x="99" y="482"/>
                      <a:pt x="97" y="458"/>
                    </a:cubicBezTo>
                    <a:close/>
                  </a:path>
                </a:pathLst>
              </a:cu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pt-BR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0733" name="Text Box 10"/>
            <p:cNvSpPr txBox="1">
              <a:spLocks noChangeArrowheads="1"/>
            </p:cNvSpPr>
            <p:nvPr/>
          </p:nvSpPr>
          <p:spPr bwMode="auto">
            <a:xfrm>
              <a:off x="576" y="1344"/>
              <a:ext cx="2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  <a:r>
                <a:rPr lang="pt-BR" altLang="pt-BR" sz="1600" baseline="-25000">
                  <a:latin typeface="Times New Roman" pitchFamily="18" charset="0"/>
                </a:rPr>
                <a:t>1</a:t>
              </a:r>
            </a:p>
          </p:txBody>
        </p:sp>
        <p:sp>
          <p:nvSpPr>
            <p:cNvPr id="30734" name="Text Box 11"/>
            <p:cNvSpPr txBox="1">
              <a:spLocks noChangeArrowheads="1"/>
            </p:cNvSpPr>
            <p:nvPr/>
          </p:nvSpPr>
          <p:spPr bwMode="auto">
            <a:xfrm>
              <a:off x="1344" y="1344"/>
              <a:ext cx="2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  <a:r>
                <a:rPr lang="pt-BR" altLang="pt-BR" sz="1600" baseline="-25000">
                  <a:latin typeface="Times New Roman" pitchFamily="18" charset="0"/>
                </a:rPr>
                <a:t>2</a:t>
              </a:r>
            </a:p>
          </p:txBody>
        </p:sp>
        <p:sp>
          <p:nvSpPr>
            <p:cNvPr id="6" name="Text Box 12"/>
            <p:cNvSpPr txBox="1">
              <a:spLocks noChangeArrowheads="1"/>
            </p:cNvSpPr>
            <p:nvPr/>
          </p:nvSpPr>
          <p:spPr bwMode="auto">
            <a:xfrm>
              <a:off x="1200" y="1824"/>
              <a:ext cx="2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  <a:r>
                <a:rPr lang="pt-BR" altLang="pt-BR" sz="1600" baseline="-25000">
                  <a:latin typeface="Times New Roman" pitchFamily="18" charset="0"/>
                </a:rPr>
                <a:t>3</a:t>
              </a:r>
            </a:p>
          </p:txBody>
        </p:sp>
        <p:sp>
          <p:nvSpPr>
            <p:cNvPr id="7" name="Text Box 13"/>
            <p:cNvSpPr txBox="1">
              <a:spLocks noChangeArrowheads="1"/>
            </p:cNvSpPr>
            <p:nvPr/>
          </p:nvSpPr>
          <p:spPr bwMode="auto">
            <a:xfrm>
              <a:off x="576" y="2544"/>
              <a:ext cx="2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  <a:r>
                <a:rPr lang="pt-BR" altLang="pt-BR" sz="1600" baseline="-25000">
                  <a:latin typeface="Times New Roman" pitchFamily="18" charset="0"/>
                </a:rPr>
                <a:t>4</a:t>
              </a:r>
            </a:p>
          </p:txBody>
        </p:sp>
        <p:sp>
          <p:nvSpPr>
            <p:cNvPr id="30737" name="Text Box 14"/>
            <p:cNvSpPr txBox="1">
              <a:spLocks noChangeArrowheads="1"/>
            </p:cNvSpPr>
            <p:nvPr/>
          </p:nvSpPr>
          <p:spPr bwMode="auto">
            <a:xfrm>
              <a:off x="1296" y="2496"/>
              <a:ext cx="23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latin typeface="Times New Roman" pitchFamily="18" charset="0"/>
                </a:rPr>
                <a:t>A</a:t>
              </a:r>
              <a:r>
                <a:rPr lang="pt-BR" altLang="pt-BR" sz="1600" baseline="-25000">
                  <a:latin typeface="Times New Roman" pitchFamily="18" charset="0"/>
                </a:rPr>
                <a:t>5</a:t>
              </a:r>
            </a:p>
          </p:txBody>
        </p:sp>
      </p:grpSp>
      <p:graphicFrame>
        <p:nvGraphicFramePr>
          <p:cNvPr id="30735" name="Object 1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15396774"/>
              </p:ext>
            </p:extLst>
          </p:nvPr>
        </p:nvGraphicFramePr>
        <p:xfrm>
          <a:off x="3632200" y="2438400"/>
          <a:ext cx="245110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714320" imgH="228600" progId="Equation.DSMT4">
                  <p:embed/>
                </p:oleObj>
              </mc:Choice>
              <mc:Fallback>
                <p:oleObj name="Equation" r:id="rId2" imgW="1714320" imgH="228600" progId="Equation.DSMT4">
                  <p:embed/>
                  <p:pic>
                    <p:nvPicPr>
                      <p:cNvPr id="30735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2200" y="2438400"/>
                        <a:ext cx="245110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36" name="Object 16"/>
          <p:cNvGraphicFramePr>
            <a:graphicFrameLocks noChangeAspect="1"/>
          </p:cNvGraphicFramePr>
          <p:nvPr/>
        </p:nvGraphicFramePr>
        <p:xfrm>
          <a:off x="3649663" y="3971925"/>
          <a:ext cx="3741737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616200" imgH="228600" progId="Equation.DSMT4">
                  <p:embed/>
                </p:oleObj>
              </mc:Choice>
              <mc:Fallback>
                <p:oleObj name="Equation" r:id="rId4" imgW="2616200" imgH="228600" progId="Equation.DSMT4">
                  <p:embed/>
                  <p:pic>
                    <p:nvPicPr>
                      <p:cNvPr id="30736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9663" y="3971925"/>
                        <a:ext cx="3741737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17"/>
          <p:cNvGrpSpPr>
            <a:grpSpLocks/>
          </p:cNvGrpSpPr>
          <p:nvPr/>
        </p:nvGrpSpPr>
        <p:grpSpPr bwMode="auto">
          <a:xfrm>
            <a:off x="3878263" y="4810125"/>
            <a:ext cx="3352800" cy="1066800"/>
            <a:chOff x="2064" y="2448"/>
            <a:chExt cx="2112" cy="672"/>
          </a:xfrm>
        </p:grpSpPr>
        <p:graphicFrame>
          <p:nvGraphicFramePr>
            <p:cNvPr id="30730" name="Object 1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655929957"/>
                </p:ext>
              </p:extLst>
            </p:nvPr>
          </p:nvGraphicFramePr>
          <p:xfrm>
            <a:off x="2298" y="2592"/>
            <a:ext cx="1705" cy="38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892160" imgH="431640" progId="Equation.DSMT4">
                    <p:embed/>
                  </p:oleObj>
                </mc:Choice>
                <mc:Fallback>
                  <p:oleObj name="Equation" r:id="rId6" imgW="1892160" imgH="431640" progId="Equation.DSMT4">
                    <p:embed/>
                    <p:pic>
                      <p:nvPicPr>
                        <p:cNvPr id="3073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298" y="2592"/>
                          <a:ext cx="1705" cy="38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731" name="Rectangle 19"/>
            <p:cNvSpPr>
              <a:spLocks noChangeArrowheads="1"/>
            </p:cNvSpPr>
            <p:nvPr/>
          </p:nvSpPr>
          <p:spPr bwMode="auto">
            <a:xfrm>
              <a:off x="2064" y="2448"/>
              <a:ext cx="2112" cy="67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aphicFrame>
        <p:nvGraphicFramePr>
          <p:cNvPr id="30740" name="Object 20"/>
          <p:cNvGraphicFramePr>
            <a:graphicFrameLocks noChangeAspect="1"/>
          </p:cNvGraphicFramePr>
          <p:nvPr/>
        </p:nvGraphicFramePr>
        <p:xfrm>
          <a:off x="6513513" y="2443163"/>
          <a:ext cx="2379662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663700" imgH="241300" progId="Equation.DSMT4">
                  <p:embed/>
                </p:oleObj>
              </mc:Choice>
              <mc:Fallback>
                <p:oleObj name="Equation" r:id="rId8" imgW="1663700" imgH="241300" progId="Equation.DSMT4">
                  <p:embed/>
                  <p:pic>
                    <p:nvPicPr>
                      <p:cNvPr id="30740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3513" y="2443163"/>
                        <a:ext cx="2379662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Espaço Reservado para Número de Slide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02C29B4C-E4F3-4F57-A588-FFF1AC87BB80}" type="slidenum">
              <a:rPr lang="pt-BR"/>
              <a:pPr>
                <a:defRPr/>
              </a:pPr>
              <a:t>28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 Total</a:t>
            </a:r>
          </a:p>
        </p:txBody>
      </p:sp>
      <p:graphicFrame>
        <p:nvGraphicFramePr>
          <p:cNvPr id="31747" name="Object 3"/>
          <p:cNvGraphicFramePr>
            <a:graphicFrameLocks noChangeAspect="1"/>
          </p:cNvGraphicFramePr>
          <p:nvPr/>
        </p:nvGraphicFramePr>
        <p:xfrm>
          <a:off x="3651250" y="2735263"/>
          <a:ext cx="35782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501900" imgH="228600" progId="Equation.DSMT4">
                  <p:embed/>
                </p:oleObj>
              </mc:Choice>
              <mc:Fallback>
                <p:oleObj name="Equation" r:id="rId2" imgW="2501900" imgH="228600" progId="Equation.DSMT4">
                  <p:embed/>
                  <p:pic>
                    <p:nvPicPr>
                      <p:cNvPr id="31747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1250" y="2735263"/>
                        <a:ext cx="35782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1748" name="Object 4"/>
          <p:cNvGraphicFramePr>
            <a:graphicFrameLocks noChangeAspect="1"/>
          </p:cNvGraphicFramePr>
          <p:nvPr/>
        </p:nvGraphicFramePr>
        <p:xfrm>
          <a:off x="3657600" y="3192463"/>
          <a:ext cx="1871663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07532" imgH="431613" progId="Equation.DSMT4">
                  <p:embed/>
                </p:oleObj>
              </mc:Choice>
              <mc:Fallback>
                <p:oleObj name="Equation" r:id="rId4" imgW="1307532" imgH="431613" progId="Equation.DSMT4">
                  <p:embed/>
                  <p:pic>
                    <p:nvPicPr>
                      <p:cNvPr id="3174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57600" y="3192463"/>
                        <a:ext cx="1871663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1749" name="Group 5"/>
          <p:cNvGrpSpPr>
            <a:grpSpLocks/>
          </p:cNvGrpSpPr>
          <p:nvPr/>
        </p:nvGrpSpPr>
        <p:grpSpPr bwMode="auto">
          <a:xfrm>
            <a:off x="1441450" y="2057400"/>
            <a:ext cx="1752600" cy="2441575"/>
            <a:chOff x="908" y="1296"/>
            <a:chExt cx="1104" cy="1538"/>
          </a:xfrm>
        </p:grpSpPr>
        <p:grpSp>
          <p:nvGrpSpPr>
            <p:cNvPr id="31752" name="Group 6"/>
            <p:cNvGrpSpPr>
              <a:grpSpLocks/>
            </p:cNvGrpSpPr>
            <p:nvPr/>
          </p:nvGrpSpPr>
          <p:grpSpPr bwMode="auto">
            <a:xfrm>
              <a:off x="908" y="1296"/>
              <a:ext cx="1104" cy="1538"/>
              <a:chOff x="528" y="1296"/>
              <a:chExt cx="1104" cy="1538"/>
            </a:xfrm>
          </p:grpSpPr>
          <p:grpSp>
            <p:nvGrpSpPr>
              <p:cNvPr id="31755" name="Group 7"/>
              <p:cNvGrpSpPr>
                <a:grpSpLocks/>
              </p:cNvGrpSpPr>
              <p:nvPr/>
            </p:nvGrpSpPr>
            <p:grpSpPr bwMode="auto">
              <a:xfrm>
                <a:off x="528" y="1296"/>
                <a:ext cx="1104" cy="1538"/>
                <a:chOff x="528" y="1296"/>
                <a:chExt cx="1104" cy="1538"/>
              </a:xfrm>
            </p:grpSpPr>
            <p:sp>
              <p:nvSpPr>
                <p:cNvPr id="31761" name="Rectangle 8"/>
                <p:cNvSpPr>
                  <a:spLocks noChangeArrowheads="1"/>
                </p:cNvSpPr>
                <p:nvPr/>
              </p:nvSpPr>
              <p:spPr bwMode="auto">
                <a:xfrm>
                  <a:off x="528" y="1296"/>
                  <a:ext cx="1104" cy="1536"/>
                </a:xfrm>
                <a:prstGeom prst="rect">
                  <a:avLst/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762" name="Freeform 9"/>
                <p:cNvSpPr>
                  <a:spLocks/>
                </p:cNvSpPr>
                <p:nvPr/>
              </p:nvSpPr>
              <p:spPr bwMode="auto">
                <a:xfrm>
                  <a:off x="530" y="1301"/>
                  <a:ext cx="725" cy="669"/>
                </a:xfrm>
                <a:custGeom>
                  <a:avLst/>
                  <a:gdLst>
                    <a:gd name="T0" fmla="*/ 0 w 725"/>
                    <a:gd name="T1" fmla="*/ 669 h 669"/>
                    <a:gd name="T2" fmla="*/ 118 w 725"/>
                    <a:gd name="T3" fmla="*/ 617 h 669"/>
                    <a:gd name="T4" fmla="*/ 241 w 725"/>
                    <a:gd name="T5" fmla="*/ 545 h 669"/>
                    <a:gd name="T6" fmla="*/ 324 w 725"/>
                    <a:gd name="T7" fmla="*/ 458 h 669"/>
                    <a:gd name="T8" fmla="*/ 339 w 725"/>
                    <a:gd name="T9" fmla="*/ 417 h 669"/>
                    <a:gd name="T10" fmla="*/ 355 w 725"/>
                    <a:gd name="T11" fmla="*/ 345 h 669"/>
                    <a:gd name="T12" fmla="*/ 360 w 725"/>
                    <a:gd name="T13" fmla="*/ 309 h 669"/>
                    <a:gd name="T14" fmla="*/ 396 w 725"/>
                    <a:gd name="T15" fmla="*/ 273 h 669"/>
                    <a:gd name="T16" fmla="*/ 560 w 725"/>
                    <a:gd name="T17" fmla="*/ 211 h 669"/>
                    <a:gd name="T18" fmla="*/ 612 w 725"/>
                    <a:gd name="T19" fmla="*/ 185 h 669"/>
                    <a:gd name="T20" fmla="*/ 653 w 725"/>
                    <a:gd name="T21" fmla="*/ 165 h 669"/>
                    <a:gd name="T22" fmla="*/ 694 w 725"/>
                    <a:gd name="T23" fmla="*/ 124 h 669"/>
                    <a:gd name="T24" fmla="*/ 715 w 725"/>
                    <a:gd name="T25" fmla="*/ 82 h 669"/>
                    <a:gd name="T26" fmla="*/ 725 w 725"/>
                    <a:gd name="T27" fmla="*/ 0 h 669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725"/>
                    <a:gd name="T43" fmla="*/ 0 h 669"/>
                    <a:gd name="T44" fmla="*/ 725 w 725"/>
                    <a:gd name="T45" fmla="*/ 669 h 669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725" h="669">
                      <a:moveTo>
                        <a:pt x="0" y="669"/>
                      </a:moveTo>
                      <a:cubicBezTo>
                        <a:pt x="48" y="653"/>
                        <a:pt x="83" y="656"/>
                        <a:pt x="118" y="617"/>
                      </a:cubicBezTo>
                      <a:cubicBezTo>
                        <a:pt x="133" y="573"/>
                        <a:pt x="199" y="553"/>
                        <a:pt x="241" y="545"/>
                      </a:cubicBezTo>
                      <a:cubicBezTo>
                        <a:pt x="286" y="524"/>
                        <a:pt x="296" y="496"/>
                        <a:pt x="324" y="458"/>
                      </a:cubicBezTo>
                      <a:cubicBezTo>
                        <a:pt x="337" y="403"/>
                        <a:pt x="319" y="471"/>
                        <a:pt x="339" y="417"/>
                      </a:cubicBezTo>
                      <a:cubicBezTo>
                        <a:pt x="348" y="393"/>
                        <a:pt x="346" y="368"/>
                        <a:pt x="355" y="345"/>
                      </a:cubicBezTo>
                      <a:cubicBezTo>
                        <a:pt x="357" y="333"/>
                        <a:pt x="357" y="321"/>
                        <a:pt x="360" y="309"/>
                      </a:cubicBezTo>
                      <a:cubicBezTo>
                        <a:pt x="365" y="291"/>
                        <a:pt x="384" y="285"/>
                        <a:pt x="396" y="273"/>
                      </a:cubicBezTo>
                      <a:cubicBezTo>
                        <a:pt x="436" y="233"/>
                        <a:pt x="510" y="224"/>
                        <a:pt x="560" y="211"/>
                      </a:cubicBezTo>
                      <a:cubicBezTo>
                        <a:pt x="580" y="206"/>
                        <a:pt x="594" y="195"/>
                        <a:pt x="612" y="185"/>
                      </a:cubicBezTo>
                      <a:cubicBezTo>
                        <a:pt x="625" y="178"/>
                        <a:pt x="653" y="165"/>
                        <a:pt x="653" y="165"/>
                      </a:cubicBezTo>
                      <a:cubicBezTo>
                        <a:pt x="664" y="147"/>
                        <a:pt x="679" y="139"/>
                        <a:pt x="694" y="124"/>
                      </a:cubicBezTo>
                      <a:cubicBezTo>
                        <a:pt x="706" y="88"/>
                        <a:pt x="696" y="101"/>
                        <a:pt x="715" y="82"/>
                      </a:cubicBezTo>
                      <a:cubicBezTo>
                        <a:pt x="720" y="55"/>
                        <a:pt x="725" y="28"/>
                        <a:pt x="725" y="0"/>
                      </a:cubicBezTo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763" name="Freeform 10"/>
                <p:cNvSpPr>
                  <a:spLocks/>
                </p:cNvSpPr>
                <p:nvPr/>
              </p:nvSpPr>
              <p:spPr bwMode="auto">
                <a:xfrm>
                  <a:off x="792" y="1836"/>
                  <a:ext cx="494" cy="998"/>
                </a:xfrm>
                <a:custGeom>
                  <a:avLst/>
                  <a:gdLst>
                    <a:gd name="T0" fmla="*/ 0 w 494"/>
                    <a:gd name="T1" fmla="*/ 0 h 998"/>
                    <a:gd name="T2" fmla="*/ 87 w 494"/>
                    <a:gd name="T3" fmla="*/ 26 h 998"/>
                    <a:gd name="T4" fmla="*/ 154 w 494"/>
                    <a:gd name="T5" fmla="*/ 170 h 998"/>
                    <a:gd name="T6" fmla="*/ 134 w 494"/>
                    <a:gd name="T7" fmla="*/ 278 h 998"/>
                    <a:gd name="T8" fmla="*/ 108 w 494"/>
                    <a:gd name="T9" fmla="*/ 334 h 998"/>
                    <a:gd name="T10" fmla="*/ 87 w 494"/>
                    <a:gd name="T11" fmla="*/ 381 h 998"/>
                    <a:gd name="T12" fmla="*/ 67 w 494"/>
                    <a:gd name="T13" fmla="*/ 478 h 998"/>
                    <a:gd name="T14" fmla="*/ 72 w 494"/>
                    <a:gd name="T15" fmla="*/ 597 h 998"/>
                    <a:gd name="T16" fmla="*/ 93 w 494"/>
                    <a:gd name="T17" fmla="*/ 643 h 998"/>
                    <a:gd name="T18" fmla="*/ 108 w 494"/>
                    <a:gd name="T19" fmla="*/ 679 h 998"/>
                    <a:gd name="T20" fmla="*/ 154 w 494"/>
                    <a:gd name="T21" fmla="*/ 720 h 998"/>
                    <a:gd name="T22" fmla="*/ 257 w 494"/>
                    <a:gd name="T23" fmla="*/ 802 h 998"/>
                    <a:gd name="T24" fmla="*/ 422 w 494"/>
                    <a:gd name="T25" fmla="*/ 869 h 998"/>
                    <a:gd name="T26" fmla="*/ 483 w 494"/>
                    <a:gd name="T27" fmla="*/ 926 h 998"/>
                    <a:gd name="T28" fmla="*/ 494 w 494"/>
                    <a:gd name="T29" fmla="*/ 998 h 99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494"/>
                    <a:gd name="T46" fmla="*/ 0 h 998"/>
                    <a:gd name="T47" fmla="*/ 494 w 494"/>
                    <a:gd name="T48" fmla="*/ 998 h 99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494" h="998">
                      <a:moveTo>
                        <a:pt x="0" y="0"/>
                      </a:moveTo>
                      <a:cubicBezTo>
                        <a:pt x="37" y="7"/>
                        <a:pt x="55" y="15"/>
                        <a:pt x="87" y="26"/>
                      </a:cubicBezTo>
                      <a:cubicBezTo>
                        <a:pt x="129" y="67"/>
                        <a:pt x="137" y="115"/>
                        <a:pt x="154" y="170"/>
                      </a:cubicBezTo>
                      <a:cubicBezTo>
                        <a:pt x="150" y="224"/>
                        <a:pt x="158" y="240"/>
                        <a:pt x="134" y="278"/>
                      </a:cubicBezTo>
                      <a:cubicBezTo>
                        <a:pt x="129" y="300"/>
                        <a:pt x="120" y="316"/>
                        <a:pt x="108" y="334"/>
                      </a:cubicBezTo>
                      <a:cubicBezTo>
                        <a:pt x="102" y="353"/>
                        <a:pt x="101" y="367"/>
                        <a:pt x="87" y="381"/>
                      </a:cubicBezTo>
                      <a:cubicBezTo>
                        <a:pt x="79" y="413"/>
                        <a:pt x="74" y="445"/>
                        <a:pt x="67" y="478"/>
                      </a:cubicBezTo>
                      <a:cubicBezTo>
                        <a:pt x="69" y="518"/>
                        <a:pt x="68" y="557"/>
                        <a:pt x="72" y="597"/>
                      </a:cubicBezTo>
                      <a:cubicBezTo>
                        <a:pt x="75" y="624"/>
                        <a:pt x="82" y="624"/>
                        <a:pt x="93" y="643"/>
                      </a:cubicBezTo>
                      <a:cubicBezTo>
                        <a:pt x="100" y="654"/>
                        <a:pt x="100" y="669"/>
                        <a:pt x="108" y="679"/>
                      </a:cubicBezTo>
                      <a:cubicBezTo>
                        <a:pt x="139" y="721"/>
                        <a:pt x="125" y="691"/>
                        <a:pt x="154" y="720"/>
                      </a:cubicBezTo>
                      <a:cubicBezTo>
                        <a:pt x="185" y="751"/>
                        <a:pt x="214" y="788"/>
                        <a:pt x="257" y="802"/>
                      </a:cubicBezTo>
                      <a:cubicBezTo>
                        <a:pt x="303" y="848"/>
                        <a:pt x="358" y="862"/>
                        <a:pt x="422" y="869"/>
                      </a:cubicBezTo>
                      <a:cubicBezTo>
                        <a:pt x="439" y="893"/>
                        <a:pt x="463" y="904"/>
                        <a:pt x="483" y="926"/>
                      </a:cubicBezTo>
                      <a:cubicBezTo>
                        <a:pt x="494" y="954"/>
                        <a:pt x="494" y="965"/>
                        <a:pt x="494" y="998"/>
                      </a:cubicBezTo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" name="Freeform 11"/>
                <p:cNvSpPr>
                  <a:spLocks/>
                </p:cNvSpPr>
                <p:nvPr/>
              </p:nvSpPr>
              <p:spPr bwMode="auto">
                <a:xfrm>
                  <a:off x="1075" y="2253"/>
                  <a:ext cx="555" cy="406"/>
                </a:xfrm>
                <a:custGeom>
                  <a:avLst/>
                  <a:gdLst>
                    <a:gd name="T0" fmla="*/ 0 w 555"/>
                    <a:gd name="T1" fmla="*/ 406 h 406"/>
                    <a:gd name="T2" fmla="*/ 41 w 555"/>
                    <a:gd name="T3" fmla="*/ 375 h 406"/>
                    <a:gd name="T4" fmla="*/ 56 w 555"/>
                    <a:gd name="T5" fmla="*/ 360 h 406"/>
                    <a:gd name="T6" fmla="*/ 72 w 555"/>
                    <a:gd name="T7" fmla="*/ 303 h 406"/>
                    <a:gd name="T8" fmla="*/ 87 w 555"/>
                    <a:gd name="T9" fmla="*/ 200 h 406"/>
                    <a:gd name="T10" fmla="*/ 293 w 555"/>
                    <a:gd name="T11" fmla="*/ 138 h 406"/>
                    <a:gd name="T12" fmla="*/ 396 w 555"/>
                    <a:gd name="T13" fmla="*/ 36 h 406"/>
                    <a:gd name="T14" fmla="*/ 427 w 555"/>
                    <a:gd name="T15" fmla="*/ 25 h 406"/>
                    <a:gd name="T16" fmla="*/ 555 w 555"/>
                    <a:gd name="T17" fmla="*/ 0 h 4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555"/>
                    <a:gd name="T28" fmla="*/ 0 h 406"/>
                    <a:gd name="T29" fmla="*/ 555 w 555"/>
                    <a:gd name="T30" fmla="*/ 406 h 40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555" h="406">
                      <a:moveTo>
                        <a:pt x="0" y="406"/>
                      </a:moveTo>
                      <a:cubicBezTo>
                        <a:pt x="27" y="397"/>
                        <a:pt x="11" y="405"/>
                        <a:pt x="41" y="375"/>
                      </a:cubicBezTo>
                      <a:cubicBezTo>
                        <a:pt x="46" y="370"/>
                        <a:pt x="56" y="360"/>
                        <a:pt x="56" y="360"/>
                      </a:cubicBezTo>
                      <a:cubicBezTo>
                        <a:pt x="61" y="341"/>
                        <a:pt x="67" y="322"/>
                        <a:pt x="72" y="303"/>
                      </a:cubicBezTo>
                      <a:cubicBezTo>
                        <a:pt x="73" y="288"/>
                        <a:pt x="72" y="223"/>
                        <a:pt x="87" y="200"/>
                      </a:cubicBezTo>
                      <a:cubicBezTo>
                        <a:pt x="132" y="133"/>
                        <a:pt x="224" y="142"/>
                        <a:pt x="293" y="138"/>
                      </a:cubicBezTo>
                      <a:cubicBezTo>
                        <a:pt x="349" y="111"/>
                        <a:pt x="361" y="86"/>
                        <a:pt x="396" y="36"/>
                      </a:cubicBezTo>
                      <a:cubicBezTo>
                        <a:pt x="398" y="33"/>
                        <a:pt x="425" y="26"/>
                        <a:pt x="427" y="25"/>
                      </a:cubicBezTo>
                      <a:cubicBezTo>
                        <a:pt x="470" y="7"/>
                        <a:pt x="508" y="0"/>
                        <a:pt x="555" y="0"/>
                      </a:cubicBezTo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1765" name="Freeform 12"/>
                <p:cNvSpPr>
                  <a:spLocks/>
                </p:cNvSpPr>
                <p:nvPr/>
              </p:nvSpPr>
              <p:spPr bwMode="auto">
                <a:xfrm>
                  <a:off x="1070" y="1645"/>
                  <a:ext cx="429" cy="562"/>
                </a:xfrm>
                <a:custGeom>
                  <a:avLst/>
                  <a:gdLst>
                    <a:gd name="T0" fmla="*/ 97 w 429"/>
                    <a:gd name="T1" fmla="*/ 458 h 562"/>
                    <a:gd name="T2" fmla="*/ 61 w 429"/>
                    <a:gd name="T3" fmla="*/ 366 h 562"/>
                    <a:gd name="T4" fmla="*/ 20 w 429"/>
                    <a:gd name="T5" fmla="*/ 299 h 562"/>
                    <a:gd name="T6" fmla="*/ 0 w 429"/>
                    <a:gd name="T7" fmla="*/ 253 h 562"/>
                    <a:gd name="T8" fmla="*/ 5 w 429"/>
                    <a:gd name="T9" fmla="*/ 176 h 562"/>
                    <a:gd name="T10" fmla="*/ 154 w 429"/>
                    <a:gd name="T11" fmla="*/ 124 h 562"/>
                    <a:gd name="T12" fmla="*/ 190 w 429"/>
                    <a:gd name="T13" fmla="*/ 78 h 562"/>
                    <a:gd name="T14" fmla="*/ 211 w 429"/>
                    <a:gd name="T15" fmla="*/ 37 h 562"/>
                    <a:gd name="T16" fmla="*/ 216 w 429"/>
                    <a:gd name="T17" fmla="*/ 16 h 562"/>
                    <a:gd name="T18" fmla="*/ 252 w 429"/>
                    <a:gd name="T19" fmla="*/ 6 h 562"/>
                    <a:gd name="T20" fmla="*/ 344 w 429"/>
                    <a:gd name="T21" fmla="*/ 32 h 562"/>
                    <a:gd name="T22" fmla="*/ 365 w 429"/>
                    <a:gd name="T23" fmla="*/ 88 h 562"/>
                    <a:gd name="T24" fmla="*/ 375 w 429"/>
                    <a:gd name="T25" fmla="*/ 191 h 562"/>
                    <a:gd name="T26" fmla="*/ 406 w 429"/>
                    <a:gd name="T27" fmla="*/ 242 h 562"/>
                    <a:gd name="T28" fmla="*/ 370 w 429"/>
                    <a:gd name="T29" fmla="*/ 433 h 562"/>
                    <a:gd name="T30" fmla="*/ 308 w 429"/>
                    <a:gd name="T31" fmla="*/ 500 h 562"/>
                    <a:gd name="T32" fmla="*/ 277 w 429"/>
                    <a:gd name="T33" fmla="*/ 520 h 562"/>
                    <a:gd name="T34" fmla="*/ 200 w 429"/>
                    <a:gd name="T35" fmla="*/ 561 h 562"/>
                    <a:gd name="T36" fmla="*/ 103 w 429"/>
                    <a:gd name="T37" fmla="*/ 530 h 562"/>
                    <a:gd name="T38" fmla="*/ 97 w 429"/>
                    <a:gd name="T39" fmla="*/ 458 h 562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429"/>
                    <a:gd name="T61" fmla="*/ 0 h 562"/>
                    <a:gd name="T62" fmla="*/ 429 w 429"/>
                    <a:gd name="T63" fmla="*/ 562 h 562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429" h="562">
                      <a:moveTo>
                        <a:pt x="97" y="458"/>
                      </a:moveTo>
                      <a:cubicBezTo>
                        <a:pt x="90" y="423"/>
                        <a:pt x="83" y="394"/>
                        <a:pt x="61" y="366"/>
                      </a:cubicBezTo>
                      <a:cubicBezTo>
                        <a:pt x="51" y="340"/>
                        <a:pt x="41" y="318"/>
                        <a:pt x="20" y="299"/>
                      </a:cubicBezTo>
                      <a:cubicBezTo>
                        <a:pt x="8" y="262"/>
                        <a:pt x="16" y="277"/>
                        <a:pt x="0" y="253"/>
                      </a:cubicBezTo>
                      <a:cubicBezTo>
                        <a:pt x="2" y="227"/>
                        <a:pt x="2" y="202"/>
                        <a:pt x="5" y="176"/>
                      </a:cubicBezTo>
                      <a:cubicBezTo>
                        <a:pt x="12" y="113"/>
                        <a:pt x="125" y="125"/>
                        <a:pt x="154" y="124"/>
                      </a:cubicBezTo>
                      <a:cubicBezTo>
                        <a:pt x="173" y="111"/>
                        <a:pt x="180" y="99"/>
                        <a:pt x="190" y="78"/>
                      </a:cubicBezTo>
                      <a:cubicBezTo>
                        <a:pt x="202" y="26"/>
                        <a:pt x="184" y="90"/>
                        <a:pt x="211" y="37"/>
                      </a:cubicBezTo>
                      <a:cubicBezTo>
                        <a:pt x="214" y="31"/>
                        <a:pt x="212" y="22"/>
                        <a:pt x="216" y="16"/>
                      </a:cubicBezTo>
                      <a:cubicBezTo>
                        <a:pt x="224" y="6"/>
                        <a:pt x="240" y="9"/>
                        <a:pt x="252" y="6"/>
                      </a:cubicBezTo>
                      <a:cubicBezTo>
                        <a:pt x="305" y="10"/>
                        <a:pt x="315" y="0"/>
                        <a:pt x="344" y="32"/>
                      </a:cubicBezTo>
                      <a:cubicBezTo>
                        <a:pt x="349" y="52"/>
                        <a:pt x="358" y="68"/>
                        <a:pt x="365" y="88"/>
                      </a:cubicBezTo>
                      <a:cubicBezTo>
                        <a:pt x="367" y="126"/>
                        <a:pt x="361" y="158"/>
                        <a:pt x="375" y="191"/>
                      </a:cubicBezTo>
                      <a:cubicBezTo>
                        <a:pt x="383" y="209"/>
                        <a:pt x="406" y="242"/>
                        <a:pt x="406" y="242"/>
                      </a:cubicBezTo>
                      <a:cubicBezTo>
                        <a:pt x="418" y="305"/>
                        <a:pt x="429" y="390"/>
                        <a:pt x="370" y="433"/>
                      </a:cubicBezTo>
                      <a:cubicBezTo>
                        <a:pt x="351" y="461"/>
                        <a:pt x="335" y="480"/>
                        <a:pt x="308" y="500"/>
                      </a:cubicBezTo>
                      <a:cubicBezTo>
                        <a:pt x="298" y="507"/>
                        <a:pt x="277" y="520"/>
                        <a:pt x="277" y="520"/>
                      </a:cubicBezTo>
                      <a:cubicBezTo>
                        <a:pt x="260" y="547"/>
                        <a:pt x="231" y="555"/>
                        <a:pt x="200" y="561"/>
                      </a:cubicBezTo>
                      <a:cubicBezTo>
                        <a:pt x="189" y="560"/>
                        <a:pt x="109" y="562"/>
                        <a:pt x="103" y="530"/>
                      </a:cubicBezTo>
                      <a:cubicBezTo>
                        <a:pt x="98" y="506"/>
                        <a:pt x="99" y="482"/>
                        <a:pt x="97" y="458"/>
                      </a:cubicBezTo>
                      <a:close/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1756" name="Text Box 13"/>
              <p:cNvSpPr txBox="1">
                <a:spLocks noChangeArrowheads="1"/>
              </p:cNvSpPr>
              <p:nvPr/>
            </p:nvSpPr>
            <p:spPr bwMode="auto">
              <a:xfrm>
                <a:off x="576" y="1344"/>
                <a:ext cx="23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</a:rPr>
                  <a:t>A</a:t>
                </a:r>
                <a:r>
                  <a:rPr lang="pt-BR" altLang="pt-BR" sz="1600" baseline="-2500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31757" name="Text Box 14"/>
              <p:cNvSpPr txBox="1">
                <a:spLocks noChangeArrowheads="1"/>
              </p:cNvSpPr>
              <p:nvPr/>
            </p:nvSpPr>
            <p:spPr bwMode="auto">
              <a:xfrm>
                <a:off x="1344" y="1344"/>
                <a:ext cx="23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</a:rPr>
                  <a:t>A</a:t>
                </a:r>
                <a:r>
                  <a:rPr lang="pt-BR" altLang="pt-BR" sz="1600" baseline="-250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31758" name="Text Box 15"/>
              <p:cNvSpPr txBox="1">
                <a:spLocks noChangeArrowheads="1"/>
              </p:cNvSpPr>
              <p:nvPr/>
            </p:nvSpPr>
            <p:spPr bwMode="auto">
              <a:xfrm>
                <a:off x="1200" y="1824"/>
                <a:ext cx="23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</a:rPr>
                  <a:t>A</a:t>
                </a:r>
                <a:r>
                  <a:rPr lang="pt-BR" altLang="pt-BR" sz="1600" baseline="-25000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31759" name="Text Box 16"/>
              <p:cNvSpPr txBox="1">
                <a:spLocks noChangeArrowheads="1"/>
              </p:cNvSpPr>
              <p:nvPr/>
            </p:nvSpPr>
            <p:spPr bwMode="auto">
              <a:xfrm>
                <a:off x="576" y="2544"/>
                <a:ext cx="23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</a:rPr>
                  <a:t>A</a:t>
                </a:r>
                <a:r>
                  <a:rPr lang="pt-BR" altLang="pt-BR" sz="1600" baseline="-25000"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31760" name="Text Box 17"/>
              <p:cNvSpPr txBox="1">
                <a:spLocks noChangeArrowheads="1"/>
              </p:cNvSpPr>
              <p:nvPr/>
            </p:nvSpPr>
            <p:spPr bwMode="auto">
              <a:xfrm>
                <a:off x="1296" y="2496"/>
                <a:ext cx="23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</a:rPr>
                  <a:t>A</a:t>
                </a:r>
                <a:r>
                  <a:rPr lang="pt-BR" altLang="pt-BR" sz="1600" baseline="-25000">
                    <a:latin typeface="Times New Roman" pitchFamily="18" charset="0"/>
                  </a:rPr>
                  <a:t>5</a:t>
                </a:r>
              </a:p>
            </p:txBody>
          </p:sp>
        </p:grpSp>
        <p:sp>
          <p:nvSpPr>
            <p:cNvPr id="31753" name="Freeform 18"/>
            <p:cNvSpPr>
              <a:spLocks/>
            </p:cNvSpPr>
            <p:nvPr/>
          </p:nvSpPr>
          <p:spPr bwMode="auto">
            <a:xfrm>
              <a:off x="1112" y="1579"/>
              <a:ext cx="614" cy="941"/>
            </a:xfrm>
            <a:custGeom>
              <a:avLst/>
              <a:gdLst>
                <a:gd name="T0" fmla="*/ 261 w 614"/>
                <a:gd name="T1" fmla="*/ 890 h 941"/>
                <a:gd name="T2" fmla="*/ 194 w 614"/>
                <a:gd name="T3" fmla="*/ 802 h 941"/>
                <a:gd name="T4" fmla="*/ 55 w 614"/>
                <a:gd name="T5" fmla="*/ 694 h 941"/>
                <a:gd name="T6" fmla="*/ 14 w 614"/>
                <a:gd name="T7" fmla="*/ 653 h 941"/>
                <a:gd name="T8" fmla="*/ 50 w 614"/>
                <a:gd name="T9" fmla="*/ 185 h 941"/>
                <a:gd name="T10" fmla="*/ 122 w 614"/>
                <a:gd name="T11" fmla="*/ 41 h 941"/>
                <a:gd name="T12" fmla="*/ 189 w 614"/>
                <a:gd name="T13" fmla="*/ 10 h 941"/>
                <a:gd name="T14" fmla="*/ 230 w 614"/>
                <a:gd name="T15" fmla="*/ 0 h 941"/>
                <a:gd name="T16" fmla="*/ 297 w 614"/>
                <a:gd name="T17" fmla="*/ 5 h 941"/>
                <a:gd name="T18" fmla="*/ 327 w 614"/>
                <a:gd name="T19" fmla="*/ 15 h 941"/>
                <a:gd name="T20" fmla="*/ 482 w 614"/>
                <a:gd name="T21" fmla="*/ 128 h 941"/>
                <a:gd name="T22" fmla="*/ 466 w 614"/>
                <a:gd name="T23" fmla="*/ 324 h 941"/>
                <a:gd name="T24" fmla="*/ 435 w 614"/>
                <a:gd name="T25" fmla="*/ 375 h 941"/>
                <a:gd name="T26" fmla="*/ 451 w 614"/>
                <a:gd name="T27" fmla="*/ 499 h 941"/>
                <a:gd name="T28" fmla="*/ 482 w 614"/>
                <a:gd name="T29" fmla="*/ 550 h 941"/>
                <a:gd name="T30" fmla="*/ 513 w 614"/>
                <a:gd name="T31" fmla="*/ 632 h 941"/>
                <a:gd name="T32" fmla="*/ 528 w 614"/>
                <a:gd name="T33" fmla="*/ 674 h 941"/>
                <a:gd name="T34" fmla="*/ 549 w 614"/>
                <a:gd name="T35" fmla="*/ 715 h 941"/>
                <a:gd name="T36" fmla="*/ 574 w 614"/>
                <a:gd name="T37" fmla="*/ 771 h 941"/>
                <a:gd name="T38" fmla="*/ 538 w 614"/>
                <a:gd name="T39" fmla="*/ 936 h 941"/>
                <a:gd name="T40" fmla="*/ 297 w 614"/>
                <a:gd name="T41" fmla="*/ 915 h 941"/>
                <a:gd name="T42" fmla="*/ 286 w 614"/>
                <a:gd name="T43" fmla="*/ 905 h 941"/>
                <a:gd name="T44" fmla="*/ 271 w 614"/>
                <a:gd name="T45" fmla="*/ 900 h 941"/>
                <a:gd name="T46" fmla="*/ 261 w 614"/>
                <a:gd name="T47" fmla="*/ 884 h 941"/>
                <a:gd name="T48" fmla="*/ 261 w 614"/>
                <a:gd name="T49" fmla="*/ 890 h 94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14"/>
                <a:gd name="T76" fmla="*/ 0 h 941"/>
                <a:gd name="T77" fmla="*/ 614 w 614"/>
                <a:gd name="T78" fmla="*/ 941 h 94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14" h="941">
                  <a:moveTo>
                    <a:pt x="261" y="890"/>
                  </a:moveTo>
                  <a:cubicBezTo>
                    <a:pt x="247" y="856"/>
                    <a:pt x="216" y="833"/>
                    <a:pt x="194" y="802"/>
                  </a:cubicBezTo>
                  <a:cubicBezTo>
                    <a:pt x="155" y="748"/>
                    <a:pt x="122" y="711"/>
                    <a:pt x="55" y="694"/>
                  </a:cubicBezTo>
                  <a:cubicBezTo>
                    <a:pt x="43" y="677"/>
                    <a:pt x="29" y="668"/>
                    <a:pt x="14" y="653"/>
                  </a:cubicBezTo>
                  <a:cubicBezTo>
                    <a:pt x="18" y="496"/>
                    <a:pt x="0" y="334"/>
                    <a:pt x="50" y="185"/>
                  </a:cubicBezTo>
                  <a:cubicBezTo>
                    <a:pt x="59" y="129"/>
                    <a:pt x="66" y="68"/>
                    <a:pt x="122" y="41"/>
                  </a:cubicBezTo>
                  <a:cubicBezTo>
                    <a:pt x="143" y="31"/>
                    <a:pt x="166" y="17"/>
                    <a:pt x="189" y="10"/>
                  </a:cubicBezTo>
                  <a:cubicBezTo>
                    <a:pt x="202" y="6"/>
                    <a:pt x="230" y="0"/>
                    <a:pt x="230" y="0"/>
                  </a:cubicBezTo>
                  <a:cubicBezTo>
                    <a:pt x="252" y="2"/>
                    <a:pt x="275" y="2"/>
                    <a:pt x="297" y="5"/>
                  </a:cubicBezTo>
                  <a:cubicBezTo>
                    <a:pt x="307" y="7"/>
                    <a:pt x="327" y="15"/>
                    <a:pt x="327" y="15"/>
                  </a:cubicBezTo>
                  <a:cubicBezTo>
                    <a:pt x="373" y="61"/>
                    <a:pt x="434" y="84"/>
                    <a:pt x="482" y="128"/>
                  </a:cubicBezTo>
                  <a:cubicBezTo>
                    <a:pt x="497" y="191"/>
                    <a:pt x="519" y="276"/>
                    <a:pt x="466" y="324"/>
                  </a:cubicBezTo>
                  <a:cubicBezTo>
                    <a:pt x="457" y="342"/>
                    <a:pt x="447" y="358"/>
                    <a:pt x="435" y="375"/>
                  </a:cubicBezTo>
                  <a:cubicBezTo>
                    <a:pt x="427" y="418"/>
                    <a:pt x="417" y="465"/>
                    <a:pt x="451" y="499"/>
                  </a:cubicBezTo>
                  <a:cubicBezTo>
                    <a:pt x="458" y="519"/>
                    <a:pt x="472" y="531"/>
                    <a:pt x="482" y="550"/>
                  </a:cubicBezTo>
                  <a:cubicBezTo>
                    <a:pt x="496" y="577"/>
                    <a:pt x="498" y="605"/>
                    <a:pt x="513" y="632"/>
                  </a:cubicBezTo>
                  <a:cubicBezTo>
                    <a:pt x="521" y="672"/>
                    <a:pt x="512" y="645"/>
                    <a:pt x="528" y="674"/>
                  </a:cubicBezTo>
                  <a:cubicBezTo>
                    <a:pt x="535" y="687"/>
                    <a:pt x="549" y="715"/>
                    <a:pt x="549" y="715"/>
                  </a:cubicBezTo>
                  <a:cubicBezTo>
                    <a:pt x="554" y="736"/>
                    <a:pt x="562" y="753"/>
                    <a:pt x="574" y="771"/>
                  </a:cubicBezTo>
                  <a:cubicBezTo>
                    <a:pt x="582" y="828"/>
                    <a:pt x="614" y="921"/>
                    <a:pt x="538" y="936"/>
                  </a:cubicBezTo>
                  <a:cubicBezTo>
                    <a:pt x="458" y="934"/>
                    <a:pt x="374" y="941"/>
                    <a:pt x="297" y="915"/>
                  </a:cubicBezTo>
                  <a:cubicBezTo>
                    <a:pt x="293" y="912"/>
                    <a:pt x="290" y="907"/>
                    <a:pt x="286" y="905"/>
                  </a:cubicBezTo>
                  <a:cubicBezTo>
                    <a:pt x="281" y="902"/>
                    <a:pt x="275" y="903"/>
                    <a:pt x="271" y="900"/>
                  </a:cubicBezTo>
                  <a:cubicBezTo>
                    <a:pt x="266" y="896"/>
                    <a:pt x="265" y="888"/>
                    <a:pt x="261" y="884"/>
                  </a:cubicBezTo>
                  <a:cubicBezTo>
                    <a:pt x="260" y="883"/>
                    <a:pt x="261" y="888"/>
                    <a:pt x="261" y="890"/>
                  </a:cubicBezTo>
                  <a:close/>
                </a:path>
              </a:pathLst>
            </a:custGeom>
            <a:noFill/>
            <a:ln w="28575" cap="rnd">
              <a:solidFill>
                <a:srgbClr val="FF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1754" name="Text Box 19"/>
            <p:cNvSpPr txBox="1">
              <a:spLocks noChangeArrowheads="1"/>
            </p:cNvSpPr>
            <p:nvPr/>
          </p:nvSpPr>
          <p:spPr bwMode="auto">
            <a:xfrm>
              <a:off x="1340" y="2064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solidFill>
                    <a:srgbClr val="FF3300"/>
                  </a:solidFill>
                  <a:latin typeface="Times New Roman" pitchFamily="18" charset="0"/>
                </a:rPr>
                <a:t>B</a:t>
              </a:r>
            </a:p>
          </p:txBody>
        </p:sp>
      </p:grpSp>
      <p:graphicFrame>
        <p:nvGraphicFramePr>
          <p:cNvPr id="31764" name="Object 20"/>
          <p:cNvGraphicFramePr>
            <a:graphicFrameLocks noChangeAspect="1"/>
          </p:cNvGraphicFramePr>
          <p:nvPr/>
        </p:nvGraphicFramePr>
        <p:xfrm>
          <a:off x="5562600" y="3192463"/>
          <a:ext cx="1816100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69449" imgH="431613" progId="Equation.DSMT4">
                  <p:embed/>
                </p:oleObj>
              </mc:Choice>
              <mc:Fallback>
                <p:oleObj name="Equation" r:id="rId6" imgW="1269449" imgH="431613" progId="Equation.DSMT4">
                  <p:embed/>
                  <p:pic>
                    <p:nvPicPr>
                      <p:cNvPr id="31764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3192463"/>
                        <a:ext cx="1816100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9C6A226-9AA4-4FE8-BE54-5BA61382BCE5}" type="slidenum">
              <a:rPr lang="pt-BR"/>
              <a:pPr>
                <a:defRPr/>
              </a:pPr>
              <a:t>29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aphicFrame>
        <p:nvGraphicFramePr>
          <p:cNvPr id="32772" name="Object 4"/>
          <p:cNvGraphicFramePr>
            <a:graphicFrameLocks noChangeAspect="1"/>
          </p:cNvGraphicFramePr>
          <p:nvPr/>
        </p:nvGraphicFramePr>
        <p:xfrm>
          <a:off x="1917700" y="4343400"/>
          <a:ext cx="296386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070100" imgH="203200" progId="Equation.DSMT4">
                  <p:embed/>
                </p:oleObj>
              </mc:Choice>
              <mc:Fallback>
                <p:oleObj name="Equation" r:id="rId2" imgW="2070100" imgH="203200" progId="Equation.DSMT4">
                  <p:embed/>
                  <p:pic>
                    <p:nvPicPr>
                      <p:cNvPr id="32772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4343400"/>
                        <a:ext cx="296386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3" name="Object 5"/>
          <p:cNvGraphicFramePr>
            <a:graphicFrameLocks noChangeAspect="1"/>
          </p:cNvGraphicFramePr>
          <p:nvPr/>
        </p:nvGraphicFramePr>
        <p:xfrm>
          <a:off x="1917700" y="4724400"/>
          <a:ext cx="363537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540000" imgH="203200" progId="Equation.DSMT4">
                  <p:embed/>
                </p:oleObj>
              </mc:Choice>
              <mc:Fallback>
                <p:oleObj name="Equation" r:id="rId4" imgW="2540000" imgH="203200" progId="Equation.DSMT4">
                  <p:embed/>
                  <p:pic>
                    <p:nvPicPr>
                      <p:cNvPr id="32773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4724400"/>
                        <a:ext cx="3635375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6"/>
          <p:cNvGraphicFramePr>
            <a:graphicFrameLocks noChangeAspect="1"/>
          </p:cNvGraphicFramePr>
          <p:nvPr/>
        </p:nvGraphicFramePr>
        <p:xfrm>
          <a:off x="1917700" y="5105400"/>
          <a:ext cx="4816475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365500" imgH="203200" progId="Equation.DSMT4">
                  <p:embed/>
                </p:oleObj>
              </mc:Choice>
              <mc:Fallback>
                <p:oleObj name="Equation" r:id="rId6" imgW="3365500" imgH="203200" progId="Equation.DSMT4">
                  <p:embed/>
                  <p:pic>
                    <p:nvPicPr>
                      <p:cNvPr id="32774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5105400"/>
                        <a:ext cx="4816475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7"/>
          <p:cNvGraphicFramePr>
            <a:graphicFrameLocks noChangeAspect="1"/>
          </p:cNvGraphicFramePr>
          <p:nvPr/>
        </p:nvGraphicFramePr>
        <p:xfrm>
          <a:off x="1917700" y="5410200"/>
          <a:ext cx="44354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098800" imgH="393700" progId="Equation.DSMT4">
                  <p:embed/>
                </p:oleObj>
              </mc:Choice>
              <mc:Fallback>
                <p:oleObj name="Equation" r:id="rId8" imgW="3098800" imgH="393700" progId="Equation.DSMT4">
                  <p:embed/>
                  <p:pic>
                    <p:nvPicPr>
                      <p:cNvPr id="32775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17700" y="5410200"/>
                        <a:ext cx="44354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526338" cy="230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914400" indent="-4572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rabicParenR"/>
            </a:pPr>
            <a:r>
              <a:rPr lang="pt-BR" altLang="pt-BR" sz="1600">
                <a:latin typeface="Tahoma" panose="020B0604030504040204" pitchFamily="34" charset="0"/>
              </a:rPr>
              <a:t>Num estudo sobre ocorrência de queimadas, 600 pontos foram escolhidos aleatoriamente e divididos em 3 grupos (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) de acordo com sua classe de uso do solo, sendo 100 de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200 de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 e 300 de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. Suponha que a probabilidade de ocorrência de queimada em cada uma das classes seja respectivamente de 10%; 5% e 1%. Selecionando-se um ponto ao acaso, calcule a probabilidade de que esse ponto: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lphaLcParenR" startAt="3"/>
            </a:pPr>
            <a:r>
              <a:rPr lang="pt-BR" altLang="pt-BR" sz="1600">
                <a:latin typeface="Tahoma" panose="020B0604030504040204" pitchFamily="34" charset="0"/>
              </a:rPr>
              <a:t>corresponda a uma queimada;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FBF0EAA2-A8AA-4AA9-8B6F-80A2A157A241}" type="slidenum">
              <a:rPr lang="pt-BR"/>
              <a:pPr>
                <a:defRPr/>
              </a:pPr>
              <a:t>30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to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28115297"/>
              </p:ext>
            </p:extLst>
          </p:nvPr>
        </p:nvGraphicFramePr>
        <p:xfrm>
          <a:off x="2975428" y="4192622"/>
          <a:ext cx="20002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9639" imgH="393529" progId="Equation.DSMT4">
                  <p:embed/>
                </p:oleObj>
              </mc:Choice>
              <mc:Fallback>
                <p:oleObj name="Equation" r:id="rId2" imgW="139639" imgH="393529" progId="Equation.DSMT4">
                  <p:embed/>
                  <p:pic>
                    <p:nvPicPr>
                      <p:cNvPr id="4" name="Objeto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5428" y="4192622"/>
                        <a:ext cx="20002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sp>
        <p:nvSpPr>
          <p:cNvPr id="33796" name="Text Box 4"/>
          <p:cNvSpPr txBox="1">
            <a:spLocks noChangeArrowheads="1"/>
          </p:cNvSpPr>
          <p:nvPr/>
        </p:nvSpPr>
        <p:spPr bwMode="auto">
          <a:xfrm>
            <a:off x="3048000" y="5105400"/>
            <a:ext cx="254108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Tahoma" panose="020B0604030504040204" pitchFamily="34" charset="0"/>
              </a:rPr>
              <a:t>Teorema de Bayes</a:t>
            </a:r>
          </a:p>
        </p:txBody>
      </p:sp>
      <p:graphicFrame>
        <p:nvGraphicFramePr>
          <p:cNvPr id="33797" name="Object 5"/>
          <p:cNvGraphicFramePr>
            <a:graphicFrameLocks noChangeAspect="1"/>
          </p:cNvGraphicFramePr>
          <p:nvPr/>
        </p:nvGraphicFramePr>
        <p:xfrm>
          <a:off x="1990725" y="4327525"/>
          <a:ext cx="963613" cy="290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672808" imgH="203112" progId="Equation.DSMT4">
                  <p:embed/>
                </p:oleObj>
              </mc:Choice>
              <mc:Fallback>
                <p:oleObj name="Equation" r:id="rId4" imgW="672808" imgH="203112" progId="Equation.DSMT4">
                  <p:embed/>
                  <p:pic>
                    <p:nvPicPr>
                      <p:cNvPr id="33797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0725" y="4327525"/>
                        <a:ext cx="963613" cy="290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3798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65705596"/>
              </p:ext>
            </p:extLst>
          </p:nvPr>
        </p:nvGraphicFramePr>
        <p:xfrm>
          <a:off x="2971800" y="4191000"/>
          <a:ext cx="3095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15713" imgH="393359" progId="Equation.DSMT4">
                  <p:embed/>
                </p:oleObj>
              </mc:Choice>
              <mc:Fallback>
                <p:oleObj name="Equation" r:id="rId6" imgW="215713" imgH="393359" progId="Equation.DSMT4">
                  <p:embed/>
                  <p:pic>
                    <p:nvPicPr>
                      <p:cNvPr id="33798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191000"/>
                        <a:ext cx="309563" cy="563563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526338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914400" indent="-4572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rabicParenR"/>
            </a:pPr>
            <a:r>
              <a:rPr lang="pt-BR" altLang="pt-BR" sz="1600">
                <a:latin typeface="Tahoma" panose="020B0604030504040204" pitchFamily="34" charset="0"/>
              </a:rPr>
              <a:t>Num estudo sobre ocorrência de queimadas, 600 pontos foram escolhidos aleatoriamente e divididos em 3 grupos (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) de acordo com sua classe de uso do solo, sendo 100 de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200 de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 e 300 de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. Suponha que a probabilidade de ocorrência de queimada em cada uma das classes seja respectivamente de 10%; 5% e 1%. Selecionando-se um ponto ao acaso, calcule a probabilidade de que esse ponto: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lphaLcParenR" startAt="4"/>
            </a:pPr>
            <a:r>
              <a:rPr lang="pt-BR" altLang="pt-BR" sz="1600">
                <a:latin typeface="Tahoma" panose="020B0604030504040204" pitchFamily="34" charset="0"/>
              </a:rPr>
              <a:t>seja da classe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sabendo que o ponto corresponde a uma queimada.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 startAt="4"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260C078-DD8F-41B7-B23D-18389B628011}" type="slidenum">
              <a:rPr lang="pt-BR"/>
              <a:pPr>
                <a:defRPr/>
              </a:pPr>
              <a:t>31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796" grpId="0" autoUpdateAnimBg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Teorema de Bayes</a:t>
            </a:r>
          </a:p>
        </p:txBody>
      </p:sp>
      <p:graphicFrame>
        <p:nvGraphicFramePr>
          <p:cNvPr id="34819" name="Object 3"/>
          <p:cNvGraphicFramePr>
            <a:graphicFrameLocks noChangeAspect="1"/>
          </p:cNvGraphicFramePr>
          <p:nvPr/>
        </p:nvGraphicFramePr>
        <p:xfrm>
          <a:off x="3640138" y="2735263"/>
          <a:ext cx="3979862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81300" imgH="228600" progId="Equation.DSMT4">
                  <p:embed/>
                </p:oleObj>
              </mc:Choice>
              <mc:Fallback>
                <p:oleObj name="Equation" r:id="rId2" imgW="2781300" imgH="228600" progId="Equation.DSMT4">
                  <p:embed/>
                  <p:pic>
                    <p:nvPicPr>
                      <p:cNvPr id="34819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40138" y="2735263"/>
                        <a:ext cx="3979862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4820" name="Object 4"/>
          <p:cNvGraphicFramePr>
            <a:graphicFrameLocks noChangeAspect="1"/>
          </p:cNvGraphicFramePr>
          <p:nvPr/>
        </p:nvGraphicFramePr>
        <p:xfrm>
          <a:off x="3621088" y="3344863"/>
          <a:ext cx="2398712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76400" imgH="419100" progId="Equation.DSMT4">
                  <p:embed/>
                </p:oleObj>
              </mc:Choice>
              <mc:Fallback>
                <p:oleObj name="Equation" r:id="rId4" imgW="1676400" imgH="419100" progId="Equation.DSMT4">
                  <p:embed/>
                  <p:pic>
                    <p:nvPicPr>
                      <p:cNvPr id="3482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21088" y="3344863"/>
                        <a:ext cx="2398712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4821" name="Group 5"/>
          <p:cNvGrpSpPr>
            <a:grpSpLocks/>
          </p:cNvGrpSpPr>
          <p:nvPr/>
        </p:nvGrpSpPr>
        <p:grpSpPr bwMode="auto">
          <a:xfrm>
            <a:off x="1441450" y="2057400"/>
            <a:ext cx="1752600" cy="2441575"/>
            <a:chOff x="908" y="1296"/>
            <a:chExt cx="1104" cy="1538"/>
          </a:xfrm>
        </p:grpSpPr>
        <p:grpSp>
          <p:nvGrpSpPr>
            <p:cNvPr id="34825" name="Group 6"/>
            <p:cNvGrpSpPr>
              <a:grpSpLocks/>
            </p:cNvGrpSpPr>
            <p:nvPr/>
          </p:nvGrpSpPr>
          <p:grpSpPr bwMode="auto">
            <a:xfrm>
              <a:off x="908" y="1296"/>
              <a:ext cx="1104" cy="1538"/>
              <a:chOff x="528" y="1296"/>
              <a:chExt cx="1104" cy="1538"/>
            </a:xfrm>
          </p:grpSpPr>
          <p:grpSp>
            <p:nvGrpSpPr>
              <p:cNvPr id="34828" name="Group 7"/>
              <p:cNvGrpSpPr>
                <a:grpSpLocks/>
              </p:cNvGrpSpPr>
              <p:nvPr/>
            </p:nvGrpSpPr>
            <p:grpSpPr bwMode="auto">
              <a:xfrm>
                <a:off x="528" y="1296"/>
                <a:ext cx="1104" cy="1538"/>
                <a:chOff x="528" y="1296"/>
                <a:chExt cx="1104" cy="1538"/>
              </a:xfrm>
            </p:grpSpPr>
            <p:sp>
              <p:nvSpPr>
                <p:cNvPr id="34834" name="Rectangle 8"/>
                <p:cNvSpPr>
                  <a:spLocks noChangeArrowheads="1"/>
                </p:cNvSpPr>
                <p:nvPr/>
              </p:nvSpPr>
              <p:spPr bwMode="auto">
                <a:xfrm>
                  <a:off x="528" y="1296"/>
                  <a:ext cx="1104" cy="1536"/>
                </a:xfrm>
                <a:prstGeom prst="rect">
                  <a:avLst/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spcBef>
                      <a:spcPct val="20000"/>
                    </a:spcBef>
                    <a:buChar char="•"/>
                    <a:defRPr sz="2800">
                      <a:solidFill>
                        <a:schemeClr val="tx1"/>
                      </a:solidFill>
                      <a:latin typeface="Comic Sans MS" pitchFamily="66" charset="0"/>
                    </a:defRPr>
                  </a:lvl1pPr>
                  <a:lvl2pPr marL="742950" indent="-285750" eaLnBrk="0" hangingPunct="0">
                    <a:spcBef>
                      <a:spcPct val="20000"/>
                    </a:spcBef>
                    <a:buChar char="–"/>
                    <a:defRPr sz="2400">
                      <a:solidFill>
                        <a:schemeClr val="tx1"/>
                      </a:solidFill>
                      <a:latin typeface="Comic Sans MS" pitchFamily="66" charset="0"/>
                    </a:defRPr>
                  </a:lvl2pPr>
                  <a:lvl3pPr marL="1143000" indent="-228600" eaLnBrk="0" hangingPunct="0">
                    <a:spcBef>
                      <a:spcPct val="20000"/>
                    </a:spcBef>
                    <a:buChar char="•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3pPr>
                  <a:lvl4pPr marL="1600200" indent="-228600" eaLnBrk="0" hangingPunct="0">
                    <a:spcBef>
                      <a:spcPct val="20000"/>
                    </a:spcBef>
                    <a:buChar char="–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4pPr>
                  <a:lvl5pPr marL="2057400" indent="-228600" eaLnBrk="0" hangingPunct="0">
                    <a:spcBef>
                      <a:spcPct val="20000"/>
                    </a:spcBef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har char="»"/>
                    <a:defRPr sz="2000">
                      <a:solidFill>
                        <a:schemeClr val="tx1"/>
                      </a:solidFill>
                      <a:latin typeface="Comic Sans MS" pitchFamily="66" charset="0"/>
                    </a:defRPr>
                  </a:lvl9pPr>
                </a:lstStyle>
                <a:p>
                  <a:pPr eaLnBrk="1" hangingPunct="1">
                    <a:spcBef>
                      <a:spcPct val="0"/>
                    </a:spcBef>
                    <a:buFontTx/>
                    <a:buNone/>
                  </a:pPr>
                  <a:endParaRPr lang="pt-BR" altLang="pt-BR" sz="1600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35" name="Freeform 9"/>
                <p:cNvSpPr>
                  <a:spLocks/>
                </p:cNvSpPr>
                <p:nvPr/>
              </p:nvSpPr>
              <p:spPr bwMode="auto">
                <a:xfrm>
                  <a:off x="530" y="1301"/>
                  <a:ext cx="725" cy="669"/>
                </a:xfrm>
                <a:custGeom>
                  <a:avLst/>
                  <a:gdLst>
                    <a:gd name="T0" fmla="*/ 0 w 725"/>
                    <a:gd name="T1" fmla="*/ 669 h 669"/>
                    <a:gd name="T2" fmla="*/ 118 w 725"/>
                    <a:gd name="T3" fmla="*/ 617 h 669"/>
                    <a:gd name="T4" fmla="*/ 241 w 725"/>
                    <a:gd name="T5" fmla="*/ 545 h 669"/>
                    <a:gd name="T6" fmla="*/ 324 w 725"/>
                    <a:gd name="T7" fmla="*/ 458 h 669"/>
                    <a:gd name="T8" fmla="*/ 339 w 725"/>
                    <a:gd name="T9" fmla="*/ 417 h 669"/>
                    <a:gd name="T10" fmla="*/ 355 w 725"/>
                    <a:gd name="T11" fmla="*/ 345 h 669"/>
                    <a:gd name="T12" fmla="*/ 360 w 725"/>
                    <a:gd name="T13" fmla="*/ 309 h 669"/>
                    <a:gd name="T14" fmla="*/ 396 w 725"/>
                    <a:gd name="T15" fmla="*/ 273 h 669"/>
                    <a:gd name="T16" fmla="*/ 560 w 725"/>
                    <a:gd name="T17" fmla="*/ 211 h 669"/>
                    <a:gd name="T18" fmla="*/ 612 w 725"/>
                    <a:gd name="T19" fmla="*/ 185 h 669"/>
                    <a:gd name="T20" fmla="*/ 653 w 725"/>
                    <a:gd name="T21" fmla="*/ 165 h 669"/>
                    <a:gd name="T22" fmla="*/ 694 w 725"/>
                    <a:gd name="T23" fmla="*/ 124 h 669"/>
                    <a:gd name="T24" fmla="*/ 715 w 725"/>
                    <a:gd name="T25" fmla="*/ 82 h 669"/>
                    <a:gd name="T26" fmla="*/ 725 w 725"/>
                    <a:gd name="T27" fmla="*/ 0 h 669"/>
                    <a:gd name="T28" fmla="*/ 0 60000 65536"/>
                    <a:gd name="T29" fmla="*/ 0 60000 65536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w 725"/>
                    <a:gd name="T43" fmla="*/ 0 h 669"/>
                    <a:gd name="T44" fmla="*/ 725 w 725"/>
                    <a:gd name="T45" fmla="*/ 669 h 669"/>
                  </a:gdLst>
                  <a:ahLst/>
                  <a:cxnLst>
                    <a:cxn ang="T28">
                      <a:pos x="T0" y="T1"/>
                    </a:cxn>
                    <a:cxn ang="T29">
                      <a:pos x="T2" y="T3"/>
                    </a:cxn>
                    <a:cxn ang="T30">
                      <a:pos x="T4" y="T5"/>
                    </a:cxn>
                    <a:cxn ang="T31">
                      <a:pos x="T6" y="T7"/>
                    </a:cxn>
                    <a:cxn ang="T32">
                      <a:pos x="T8" y="T9"/>
                    </a:cxn>
                    <a:cxn ang="T33">
                      <a:pos x="T10" y="T11"/>
                    </a:cxn>
                    <a:cxn ang="T34">
                      <a:pos x="T12" y="T13"/>
                    </a:cxn>
                    <a:cxn ang="T35">
                      <a:pos x="T14" y="T15"/>
                    </a:cxn>
                    <a:cxn ang="T36">
                      <a:pos x="T16" y="T17"/>
                    </a:cxn>
                    <a:cxn ang="T37">
                      <a:pos x="T18" y="T19"/>
                    </a:cxn>
                    <a:cxn ang="T38">
                      <a:pos x="T20" y="T21"/>
                    </a:cxn>
                    <a:cxn ang="T39">
                      <a:pos x="T22" y="T23"/>
                    </a:cxn>
                    <a:cxn ang="T40">
                      <a:pos x="T24" y="T25"/>
                    </a:cxn>
                    <a:cxn ang="T41">
                      <a:pos x="T26" y="T27"/>
                    </a:cxn>
                  </a:cxnLst>
                  <a:rect l="T42" t="T43" r="T44" b="T45"/>
                  <a:pathLst>
                    <a:path w="725" h="669">
                      <a:moveTo>
                        <a:pt x="0" y="669"/>
                      </a:moveTo>
                      <a:cubicBezTo>
                        <a:pt x="48" y="653"/>
                        <a:pt x="83" y="656"/>
                        <a:pt x="118" y="617"/>
                      </a:cubicBezTo>
                      <a:cubicBezTo>
                        <a:pt x="133" y="573"/>
                        <a:pt x="199" y="553"/>
                        <a:pt x="241" y="545"/>
                      </a:cubicBezTo>
                      <a:cubicBezTo>
                        <a:pt x="286" y="524"/>
                        <a:pt x="296" y="496"/>
                        <a:pt x="324" y="458"/>
                      </a:cubicBezTo>
                      <a:cubicBezTo>
                        <a:pt x="337" y="403"/>
                        <a:pt x="319" y="471"/>
                        <a:pt x="339" y="417"/>
                      </a:cubicBezTo>
                      <a:cubicBezTo>
                        <a:pt x="348" y="393"/>
                        <a:pt x="346" y="368"/>
                        <a:pt x="355" y="345"/>
                      </a:cubicBezTo>
                      <a:cubicBezTo>
                        <a:pt x="357" y="333"/>
                        <a:pt x="357" y="321"/>
                        <a:pt x="360" y="309"/>
                      </a:cubicBezTo>
                      <a:cubicBezTo>
                        <a:pt x="365" y="291"/>
                        <a:pt x="384" y="285"/>
                        <a:pt x="396" y="273"/>
                      </a:cubicBezTo>
                      <a:cubicBezTo>
                        <a:pt x="436" y="233"/>
                        <a:pt x="510" y="224"/>
                        <a:pt x="560" y="211"/>
                      </a:cubicBezTo>
                      <a:cubicBezTo>
                        <a:pt x="580" y="206"/>
                        <a:pt x="594" y="195"/>
                        <a:pt x="612" y="185"/>
                      </a:cubicBezTo>
                      <a:cubicBezTo>
                        <a:pt x="625" y="178"/>
                        <a:pt x="653" y="165"/>
                        <a:pt x="653" y="165"/>
                      </a:cubicBezTo>
                      <a:cubicBezTo>
                        <a:pt x="664" y="147"/>
                        <a:pt x="679" y="139"/>
                        <a:pt x="694" y="124"/>
                      </a:cubicBezTo>
                      <a:cubicBezTo>
                        <a:pt x="706" y="88"/>
                        <a:pt x="696" y="101"/>
                        <a:pt x="715" y="82"/>
                      </a:cubicBezTo>
                      <a:cubicBezTo>
                        <a:pt x="720" y="55"/>
                        <a:pt x="725" y="28"/>
                        <a:pt x="725" y="0"/>
                      </a:cubicBezTo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" name="Freeform 10"/>
                <p:cNvSpPr>
                  <a:spLocks/>
                </p:cNvSpPr>
                <p:nvPr/>
              </p:nvSpPr>
              <p:spPr bwMode="auto">
                <a:xfrm>
                  <a:off x="792" y="1836"/>
                  <a:ext cx="494" cy="998"/>
                </a:xfrm>
                <a:custGeom>
                  <a:avLst/>
                  <a:gdLst>
                    <a:gd name="T0" fmla="*/ 0 w 494"/>
                    <a:gd name="T1" fmla="*/ 0 h 998"/>
                    <a:gd name="T2" fmla="*/ 87 w 494"/>
                    <a:gd name="T3" fmla="*/ 26 h 998"/>
                    <a:gd name="T4" fmla="*/ 154 w 494"/>
                    <a:gd name="T5" fmla="*/ 170 h 998"/>
                    <a:gd name="T6" fmla="*/ 134 w 494"/>
                    <a:gd name="T7" fmla="*/ 278 h 998"/>
                    <a:gd name="T8" fmla="*/ 108 w 494"/>
                    <a:gd name="T9" fmla="*/ 334 h 998"/>
                    <a:gd name="T10" fmla="*/ 87 w 494"/>
                    <a:gd name="T11" fmla="*/ 381 h 998"/>
                    <a:gd name="T12" fmla="*/ 67 w 494"/>
                    <a:gd name="T13" fmla="*/ 478 h 998"/>
                    <a:gd name="T14" fmla="*/ 72 w 494"/>
                    <a:gd name="T15" fmla="*/ 597 h 998"/>
                    <a:gd name="T16" fmla="*/ 93 w 494"/>
                    <a:gd name="T17" fmla="*/ 643 h 998"/>
                    <a:gd name="T18" fmla="*/ 108 w 494"/>
                    <a:gd name="T19" fmla="*/ 679 h 998"/>
                    <a:gd name="T20" fmla="*/ 154 w 494"/>
                    <a:gd name="T21" fmla="*/ 720 h 998"/>
                    <a:gd name="T22" fmla="*/ 257 w 494"/>
                    <a:gd name="T23" fmla="*/ 802 h 998"/>
                    <a:gd name="T24" fmla="*/ 422 w 494"/>
                    <a:gd name="T25" fmla="*/ 869 h 998"/>
                    <a:gd name="T26" fmla="*/ 483 w 494"/>
                    <a:gd name="T27" fmla="*/ 926 h 998"/>
                    <a:gd name="T28" fmla="*/ 494 w 494"/>
                    <a:gd name="T29" fmla="*/ 998 h 998"/>
                    <a:gd name="T30" fmla="*/ 0 60000 65536"/>
                    <a:gd name="T31" fmla="*/ 0 60000 65536"/>
                    <a:gd name="T32" fmla="*/ 0 60000 65536"/>
                    <a:gd name="T33" fmla="*/ 0 60000 65536"/>
                    <a:gd name="T34" fmla="*/ 0 60000 65536"/>
                    <a:gd name="T35" fmla="*/ 0 60000 65536"/>
                    <a:gd name="T36" fmla="*/ 0 60000 65536"/>
                    <a:gd name="T37" fmla="*/ 0 60000 65536"/>
                    <a:gd name="T38" fmla="*/ 0 60000 65536"/>
                    <a:gd name="T39" fmla="*/ 0 60000 65536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w 494"/>
                    <a:gd name="T46" fmla="*/ 0 h 998"/>
                    <a:gd name="T47" fmla="*/ 494 w 494"/>
                    <a:gd name="T48" fmla="*/ 998 h 998"/>
                  </a:gdLst>
                  <a:ahLst/>
                  <a:cxnLst>
                    <a:cxn ang="T30">
                      <a:pos x="T0" y="T1"/>
                    </a:cxn>
                    <a:cxn ang="T31">
                      <a:pos x="T2" y="T3"/>
                    </a:cxn>
                    <a:cxn ang="T32">
                      <a:pos x="T4" y="T5"/>
                    </a:cxn>
                    <a:cxn ang="T33">
                      <a:pos x="T6" y="T7"/>
                    </a:cxn>
                    <a:cxn ang="T34">
                      <a:pos x="T8" y="T9"/>
                    </a:cxn>
                    <a:cxn ang="T35">
                      <a:pos x="T10" y="T11"/>
                    </a:cxn>
                    <a:cxn ang="T36">
                      <a:pos x="T12" y="T13"/>
                    </a:cxn>
                    <a:cxn ang="T37">
                      <a:pos x="T14" y="T15"/>
                    </a:cxn>
                    <a:cxn ang="T38">
                      <a:pos x="T16" y="T17"/>
                    </a:cxn>
                    <a:cxn ang="T39">
                      <a:pos x="T18" y="T19"/>
                    </a:cxn>
                    <a:cxn ang="T40">
                      <a:pos x="T20" y="T21"/>
                    </a:cxn>
                    <a:cxn ang="T41">
                      <a:pos x="T22" y="T23"/>
                    </a:cxn>
                    <a:cxn ang="T42">
                      <a:pos x="T24" y="T25"/>
                    </a:cxn>
                    <a:cxn ang="T43">
                      <a:pos x="T26" y="T27"/>
                    </a:cxn>
                    <a:cxn ang="T44">
                      <a:pos x="T28" y="T29"/>
                    </a:cxn>
                  </a:cxnLst>
                  <a:rect l="T45" t="T46" r="T47" b="T48"/>
                  <a:pathLst>
                    <a:path w="494" h="998">
                      <a:moveTo>
                        <a:pt x="0" y="0"/>
                      </a:moveTo>
                      <a:cubicBezTo>
                        <a:pt x="37" y="7"/>
                        <a:pt x="55" y="15"/>
                        <a:pt x="87" y="26"/>
                      </a:cubicBezTo>
                      <a:cubicBezTo>
                        <a:pt x="129" y="67"/>
                        <a:pt x="137" y="115"/>
                        <a:pt x="154" y="170"/>
                      </a:cubicBezTo>
                      <a:cubicBezTo>
                        <a:pt x="150" y="224"/>
                        <a:pt x="158" y="240"/>
                        <a:pt x="134" y="278"/>
                      </a:cubicBezTo>
                      <a:cubicBezTo>
                        <a:pt x="129" y="300"/>
                        <a:pt x="120" y="316"/>
                        <a:pt x="108" y="334"/>
                      </a:cubicBezTo>
                      <a:cubicBezTo>
                        <a:pt x="102" y="353"/>
                        <a:pt x="101" y="367"/>
                        <a:pt x="87" y="381"/>
                      </a:cubicBezTo>
                      <a:cubicBezTo>
                        <a:pt x="79" y="413"/>
                        <a:pt x="74" y="445"/>
                        <a:pt x="67" y="478"/>
                      </a:cubicBezTo>
                      <a:cubicBezTo>
                        <a:pt x="69" y="518"/>
                        <a:pt x="68" y="557"/>
                        <a:pt x="72" y="597"/>
                      </a:cubicBezTo>
                      <a:cubicBezTo>
                        <a:pt x="75" y="624"/>
                        <a:pt x="82" y="624"/>
                        <a:pt x="93" y="643"/>
                      </a:cubicBezTo>
                      <a:cubicBezTo>
                        <a:pt x="100" y="654"/>
                        <a:pt x="100" y="669"/>
                        <a:pt x="108" y="679"/>
                      </a:cubicBezTo>
                      <a:cubicBezTo>
                        <a:pt x="139" y="721"/>
                        <a:pt x="125" y="691"/>
                        <a:pt x="154" y="720"/>
                      </a:cubicBezTo>
                      <a:cubicBezTo>
                        <a:pt x="185" y="751"/>
                        <a:pt x="214" y="788"/>
                        <a:pt x="257" y="802"/>
                      </a:cubicBezTo>
                      <a:cubicBezTo>
                        <a:pt x="303" y="848"/>
                        <a:pt x="358" y="862"/>
                        <a:pt x="422" y="869"/>
                      </a:cubicBezTo>
                      <a:cubicBezTo>
                        <a:pt x="439" y="893"/>
                        <a:pt x="463" y="904"/>
                        <a:pt x="483" y="926"/>
                      </a:cubicBezTo>
                      <a:cubicBezTo>
                        <a:pt x="494" y="954"/>
                        <a:pt x="494" y="965"/>
                        <a:pt x="494" y="998"/>
                      </a:cubicBezTo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37" name="Freeform 11"/>
                <p:cNvSpPr>
                  <a:spLocks/>
                </p:cNvSpPr>
                <p:nvPr/>
              </p:nvSpPr>
              <p:spPr bwMode="auto">
                <a:xfrm>
                  <a:off x="1075" y="2253"/>
                  <a:ext cx="555" cy="406"/>
                </a:xfrm>
                <a:custGeom>
                  <a:avLst/>
                  <a:gdLst>
                    <a:gd name="T0" fmla="*/ 0 w 555"/>
                    <a:gd name="T1" fmla="*/ 406 h 406"/>
                    <a:gd name="T2" fmla="*/ 41 w 555"/>
                    <a:gd name="T3" fmla="*/ 375 h 406"/>
                    <a:gd name="T4" fmla="*/ 56 w 555"/>
                    <a:gd name="T5" fmla="*/ 360 h 406"/>
                    <a:gd name="T6" fmla="*/ 72 w 555"/>
                    <a:gd name="T7" fmla="*/ 303 h 406"/>
                    <a:gd name="T8" fmla="*/ 87 w 555"/>
                    <a:gd name="T9" fmla="*/ 200 h 406"/>
                    <a:gd name="T10" fmla="*/ 293 w 555"/>
                    <a:gd name="T11" fmla="*/ 138 h 406"/>
                    <a:gd name="T12" fmla="*/ 396 w 555"/>
                    <a:gd name="T13" fmla="*/ 36 h 406"/>
                    <a:gd name="T14" fmla="*/ 427 w 555"/>
                    <a:gd name="T15" fmla="*/ 25 h 406"/>
                    <a:gd name="T16" fmla="*/ 555 w 555"/>
                    <a:gd name="T17" fmla="*/ 0 h 406"/>
                    <a:gd name="T18" fmla="*/ 0 60000 65536"/>
                    <a:gd name="T19" fmla="*/ 0 60000 65536"/>
                    <a:gd name="T20" fmla="*/ 0 60000 65536"/>
                    <a:gd name="T21" fmla="*/ 0 60000 65536"/>
                    <a:gd name="T22" fmla="*/ 0 60000 65536"/>
                    <a:gd name="T23" fmla="*/ 0 60000 65536"/>
                    <a:gd name="T24" fmla="*/ 0 60000 65536"/>
                    <a:gd name="T25" fmla="*/ 0 60000 65536"/>
                    <a:gd name="T26" fmla="*/ 0 60000 65536"/>
                    <a:gd name="T27" fmla="*/ 0 w 555"/>
                    <a:gd name="T28" fmla="*/ 0 h 406"/>
                    <a:gd name="T29" fmla="*/ 555 w 555"/>
                    <a:gd name="T30" fmla="*/ 406 h 406"/>
                  </a:gdLst>
                  <a:ahLst/>
                  <a:cxnLst>
                    <a:cxn ang="T18">
                      <a:pos x="T0" y="T1"/>
                    </a:cxn>
                    <a:cxn ang="T19">
                      <a:pos x="T2" y="T3"/>
                    </a:cxn>
                    <a:cxn ang="T20">
                      <a:pos x="T4" y="T5"/>
                    </a:cxn>
                    <a:cxn ang="T21">
                      <a:pos x="T6" y="T7"/>
                    </a:cxn>
                    <a:cxn ang="T22">
                      <a:pos x="T8" y="T9"/>
                    </a:cxn>
                    <a:cxn ang="T23">
                      <a:pos x="T10" y="T11"/>
                    </a:cxn>
                    <a:cxn ang="T24">
                      <a:pos x="T12" y="T13"/>
                    </a:cxn>
                    <a:cxn ang="T25">
                      <a:pos x="T14" y="T15"/>
                    </a:cxn>
                    <a:cxn ang="T26">
                      <a:pos x="T16" y="T17"/>
                    </a:cxn>
                  </a:cxnLst>
                  <a:rect l="T27" t="T28" r="T29" b="T30"/>
                  <a:pathLst>
                    <a:path w="555" h="406">
                      <a:moveTo>
                        <a:pt x="0" y="406"/>
                      </a:moveTo>
                      <a:cubicBezTo>
                        <a:pt x="27" y="397"/>
                        <a:pt x="11" y="405"/>
                        <a:pt x="41" y="375"/>
                      </a:cubicBezTo>
                      <a:cubicBezTo>
                        <a:pt x="46" y="370"/>
                        <a:pt x="56" y="360"/>
                        <a:pt x="56" y="360"/>
                      </a:cubicBezTo>
                      <a:cubicBezTo>
                        <a:pt x="61" y="341"/>
                        <a:pt x="67" y="322"/>
                        <a:pt x="72" y="303"/>
                      </a:cubicBezTo>
                      <a:cubicBezTo>
                        <a:pt x="73" y="288"/>
                        <a:pt x="72" y="223"/>
                        <a:pt x="87" y="200"/>
                      </a:cubicBezTo>
                      <a:cubicBezTo>
                        <a:pt x="132" y="133"/>
                        <a:pt x="224" y="142"/>
                        <a:pt x="293" y="138"/>
                      </a:cubicBezTo>
                      <a:cubicBezTo>
                        <a:pt x="349" y="111"/>
                        <a:pt x="361" y="86"/>
                        <a:pt x="396" y="36"/>
                      </a:cubicBezTo>
                      <a:cubicBezTo>
                        <a:pt x="398" y="33"/>
                        <a:pt x="425" y="26"/>
                        <a:pt x="427" y="25"/>
                      </a:cubicBezTo>
                      <a:cubicBezTo>
                        <a:pt x="470" y="7"/>
                        <a:pt x="508" y="0"/>
                        <a:pt x="555" y="0"/>
                      </a:cubicBezTo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>
                    <a:latin typeface="Tahoma" panose="020B0604030504040204" pitchFamily="34" charset="0"/>
                  </a:endParaRPr>
                </a:p>
              </p:txBody>
            </p:sp>
            <p:sp>
              <p:nvSpPr>
                <p:cNvPr id="34838" name="Freeform 12"/>
                <p:cNvSpPr>
                  <a:spLocks/>
                </p:cNvSpPr>
                <p:nvPr/>
              </p:nvSpPr>
              <p:spPr bwMode="auto">
                <a:xfrm>
                  <a:off x="1070" y="1645"/>
                  <a:ext cx="429" cy="562"/>
                </a:xfrm>
                <a:custGeom>
                  <a:avLst/>
                  <a:gdLst>
                    <a:gd name="T0" fmla="*/ 97 w 429"/>
                    <a:gd name="T1" fmla="*/ 458 h 562"/>
                    <a:gd name="T2" fmla="*/ 61 w 429"/>
                    <a:gd name="T3" fmla="*/ 366 h 562"/>
                    <a:gd name="T4" fmla="*/ 20 w 429"/>
                    <a:gd name="T5" fmla="*/ 299 h 562"/>
                    <a:gd name="T6" fmla="*/ 0 w 429"/>
                    <a:gd name="T7" fmla="*/ 253 h 562"/>
                    <a:gd name="T8" fmla="*/ 5 w 429"/>
                    <a:gd name="T9" fmla="*/ 176 h 562"/>
                    <a:gd name="T10" fmla="*/ 154 w 429"/>
                    <a:gd name="T11" fmla="*/ 124 h 562"/>
                    <a:gd name="T12" fmla="*/ 190 w 429"/>
                    <a:gd name="T13" fmla="*/ 78 h 562"/>
                    <a:gd name="T14" fmla="*/ 211 w 429"/>
                    <a:gd name="T15" fmla="*/ 37 h 562"/>
                    <a:gd name="T16" fmla="*/ 216 w 429"/>
                    <a:gd name="T17" fmla="*/ 16 h 562"/>
                    <a:gd name="T18" fmla="*/ 252 w 429"/>
                    <a:gd name="T19" fmla="*/ 6 h 562"/>
                    <a:gd name="T20" fmla="*/ 344 w 429"/>
                    <a:gd name="T21" fmla="*/ 32 h 562"/>
                    <a:gd name="T22" fmla="*/ 365 w 429"/>
                    <a:gd name="T23" fmla="*/ 88 h 562"/>
                    <a:gd name="T24" fmla="*/ 375 w 429"/>
                    <a:gd name="T25" fmla="*/ 191 h 562"/>
                    <a:gd name="T26" fmla="*/ 406 w 429"/>
                    <a:gd name="T27" fmla="*/ 242 h 562"/>
                    <a:gd name="T28" fmla="*/ 370 w 429"/>
                    <a:gd name="T29" fmla="*/ 433 h 562"/>
                    <a:gd name="T30" fmla="*/ 308 w 429"/>
                    <a:gd name="T31" fmla="*/ 500 h 562"/>
                    <a:gd name="T32" fmla="*/ 277 w 429"/>
                    <a:gd name="T33" fmla="*/ 520 h 562"/>
                    <a:gd name="T34" fmla="*/ 200 w 429"/>
                    <a:gd name="T35" fmla="*/ 561 h 562"/>
                    <a:gd name="T36" fmla="*/ 103 w 429"/>
                    <a:gd name="T37" fmla="*/ 530 h 562"/>
                    <a:gd name="T38" fmla="*/ 97 w 429"/>
                    <a:gd name="T39" fmla="*/ 458 h 562"/>
                    <a:gd name="T40" fmla="*/ 0 60000 65536"/>
                    <a:gd name="T41" fmla="*/ 0 60000 65536"/>
                    <a:gd name="T42" fmla="*/ 0 60000 65536"/>
                    <a:gd name="T43" fmla="*/ 0 60000 65536"/>
                    <a:gd name="T44" fmla="*/ 0 60000 65536"/>
                    <a:gd name="T45" fmla="*/ 0 60000 65536"/>
                    <a:gd name="T46" fmla="*/ 0 60000 65536"/>
                    <a:gd name="T47" fmla="*/ 0 60000 65536"/>
                    <a:gd name="T48" fmla="*/ 0 60000 65536"/>
                    <a:gd name="T49" fmla="*/ 0 60000 65536"/>
                    <a:gd name="T50" fmla="*/ 0 60000 65536"/>
                    <a:gd name="T51" fmla="*/ 0 60000 65536"/>
                    <a:gd name="T52" fmla="*/ 0 60000 65536"/>
                    <a:gd name="T53" fmla="*/ 0 60000 65536"/>
                    <a:gd name="T54" fmla="*/ 0 60000 65536"/>
                    <a:gd name="T55" fmla="*/ 0 60000 65536"/>
                    <a:gd name="T56" fmla="*/ 0 60000 65536"/>
                    <a:gd name="T57" fmla="*/ 0 60000 65536"/>
                    <a:gd name="T58" fmla="*/ 0 60000 65536"/>
                    <a:gd name="T59" fmla="*/ 0 60000 65536"/>
                    <a:gd name="T60" fmla="*/ 0 w 429"/>
                    <a:gd name="T61" fmla="*/ 0 h 562"/>
                    <a:gd name="T62" fmla="*/ 429 w 429"/>
                    <a:gd name="T63" fmla="*/ 562 h 562"/>
                  </a:gdLst>
                  <a:ahLst/>
                  <a:cxnLst>
                    <a:cxn ang="T40">
                      <a:pos x="T0" y="T1"/>
                    </a:cxn>
                    <a:cxn ang="T41">
                      <a:pos x="T2" y="T3"/>
                    </a:cxn>
                    <a:cxn ang="T42">
                      <a:pos x="T4" y="T5"/>
                    </a:cxn>
                    <a:cxn ang="T43">
                      <a:pos x="T6" y="T7"/>
                    </a:cxn>
                    <a:cxn ang="T44">
                      <a:pos x="T8" y="T9"/>
                    </a:cxn>
                    <a:cxn ang="T45">
                      <a:pos x="T10" y="T11"/>
                    </a:cxn>
                    <a:cxn ang="T46">
                      <a:pos x="T12" y="T13"/>
                    </a:cxn>
                    <a:cxn ang="T47">
                      <a:pos x="T14" y="T15"/>
                    </a:cxn>
                    <a:cxn ang="T48">
                      <a:pos x="T16" y="T17"/>
                    </a:cxn>
                    <a:cxn ang="T49">
                      <a:pos x="T18" y="T19"/>
                    </a:cxn>
                    <a:cxn ang="T50">
                      <a:pos x="T20" y="T21"/>
                    </a:cxn>
                    <a:cxn ang="T51">
                      <a:pos x="T22" y="T23"/>
                    </a:cxn>
                    <a:cxn ang="T52">
                      <a:pos x="T24" y="T25"/>
                    </a:cxn>
                    <a:cxn ang="T53">
                      <a:pos x="T26" y="T27"/>
                    </a:cxn>
                    <a:cxn ang="T54">
                      <a:pos x="T28" y="T29"/>
                    </a:cxn>
                    <a:cxn ang="T55">
                      <a:pos x="T30" y="T31"/>
                    </a:cxn>
                    <a:cxn ang="T56">
                      <a:pos x="T32" y="T33"/>
                    </a:cxn>
                    <a:cxn ang="T57">
                      <a:pos x="T34" y="T35"/>
                    </a:cxn>
                    <a:cxn ang="T58">
                      <a:pos x="T36" y="T37"/>
                    </a:cxn>
                    <a:cxn ang="T59">
                      <a:pos x="T38" y="T39"/>
                    </a:cxn>
                  </a:cxnLst>
                  <a:rect l="T60" t="T61" r="T62" b="T63"/>
                  <a:pathLst>
                    <a:path w="429" h="562">
                      <a:moveTo>
                        <a:pt x="97" y="458"/>
                      </a:moveTo>
                      <a:cubicBezTo>
                        <a:pt x="90" y="423"/>
                        <a:pt x="83" y="394"/>
                        <a:pt x="61" y="366"/>
                      </a:cubicBezTo>
                      <a:cubicBezTo>
                        <a:pt x="51" y="340"/>
                        <a:pt x="41" y="318"/>
                        <a:pt x="20" y="299"/>
                      </a:cubicBezTo>
                      <a:cubicBezTo>
                        <a:pt x="8" y="262"/>
                        <a:pt x="16" y="277"/>
                        <a:pt x="0" y="253"/>
                      </a:cubicBezTo>
                      <a:cubicBezTo>
                        <a:pt x="2" y="227"/>
                        <a:pt x="2" y="202"/>
                        <a:pt x="5" y="176"/>
                      </a:cubicBezTo>
                      <a:cubicBezTo>
                        <a:pt x="12" y="113"/>
                        <a:pt x="125" y="125"/>
                        <a:pt x="154" y="124"/>
                      </a:cubicBezTo>
                      <a:cubicBezTo>
                        <a:pt x="173" y="111"/>
                        <a:pt x="180" y="99"/>
                        <a:pt x="190" y="78"/>
                      </a:cubicBezTo>
                      <a:cubicBezTo>
                        <a:pt x="202" y="26"/>
                        <a:pt x="184" y="90"/>
                        <a:pt x="211" y="37"/>
                      </a:cubicBezTo>
                      <a:cubicBezTo>
                        <a:pt x="214" y="31"/>
                        <a:pt x="212" y="22"/>
                        <a:pt x="216" y="16"/>
                      </a:cubicBezTo>
                      <a:cubicBezTo>
                        <a:pt x="224" y="6"/>
                        <a:pt x="240" y="9"/>
                        <a:pt x="252" y="6"/>
                      </a:cubicBezTo>
                      <a:cubicBezTo>
                        <a:pt x="305" y="10"/>
                        <a:pt x="315" y="0"/>
                        <a:pt x="344" y="32"/>
                      </a:cubicBezTo>
                      <a:cubicBezTo>
                        <a:pt x="349" y="52"/>
                        <a:pt x="358" y="68"/>
                        <a:pt x="365" y="88"/>
                      </a:cubicBezTo>
                      <a:cubicBezTo>
                        <a:pt x="367" y="126"/>
                        <a:pt x="361" y="158"/>
                        <a:pt x="375" y="191"/>
                      </a:cubicBezTo>
                      <a:cubicBezTo>
                        <a:pt x="383" y="209"/>
                        <a:pt x="406" y="242"/>
                        <a:pt x="406" y="242"/>
                      </a:cubicBezTo>
                      <a:cubicBezTo>
                        <a:pt x="418" y="305"/>
                        <a:pt x="429" y="390"/>
                        <a:pt x="370" y="433"/>
                      </a:cubicBezTo>
                      <a:cubicBezTo>
                        <a:pt x="351" y="461"/>
                        <a:pt x="335" y="480"/>
                        <a:pt x="308" y="500"/>
                      </a:cubicBezTo>
                      <a:cubicBezTo>
                        <a:pt x="298" y="507"/>
                        <a:pt x="277" y="520"/>
                        <a:pt x="277" y="520"/>
                      </a:cubicBezTo>
                      <a:cubicBezTo>
                        <a:pt x="260" y="547"/>
                        <a:pt x="231" y="555"/>
                        <a:pt x="200" y="561"/>
                      </a:cubicBezTo>
                      <a:cubicBezTo>
                        <a:pt x="189" y="560"/>
                        <a:pt x="109" y="562"/>
                        <a:pt x="103" y="530"/>
                      </a:cubicBezTo>
                      <a:cubicBezTo>
                        <a:pt x="98" y="506"/>
                        <a:pt x="99" y="482"/>
                        <a:pt x="97" y="458"/>
                      </a:cubicBezTo>
                      <a:close/>
                    </a:path>
                  </a:pathLst>
                </a:cu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/>
                <a:lstStyle/>
                <a:p>
                  <a:endParaRPr lang="pt-BR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4829" name="Text Box 13"/>
              <p:cNvSpPr txBox="1">
                <a:spLocks noChangeArrowheads="1"/>
              </p:cNvSpPr>
              <p:nvPr/>
            </p:nvSpPr>
            <p:spPr bwMode="auto">
              <a:xfrm>
                <a:off x="576" y="1344"/>
                <a:ext cx="23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</a:rPr>
                  <a:t>A</a:t>
                </a:r>
                <a:r>
                  <a:rPr lang="pt-BR" altLang="pt-BR" sz="1600" baseline="-25000">
                    <a:latin typeface="Times New Roman" pitchFamily="18" charset="0"/>
                  </a:rPr>
                  <a:t>1</a:t>
                </a:r>
              </a:p>
            </p:txBody>
          </p:sp>
          <p:sp>
            <p:nvSpPr>
              <p:cNvPr id="34830" name="Text Box 14"/>
              <p:cNvSpPr txBox="1">
                <a:spLocks noChangeArrowheads="1"/>
              </p:cNvSpPr>
              <p:nvPr/>
            </p:nvSpPr>
            <p:spPr bwMode="auto">
              <a:xfrm>
                <a:off x="1344" y="1344"/>
                <a:ext cx="23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</a:rPr>
                  <a:t>A</a:t>
                </a:r>
                <a:r>
                  <a:rPr lang="pt-BR" altLang="pt-BR" sz="1600" baseline="-25000">
                    <a:latin typeface="Times New Roman" pitchFamily="18" charset="0"/>
                  </a:rPr>
                  <a:t>2</a:t>
                </a:r>
              </a:p>
            </p:txBody>
          </p:sp>
          <p:sp>
            <p:nvSpPr>
              <p:cNvPr id="34831" name="Text Box 15"/>
              <p:cNvSpPr txBox="1">
                <a:spLocks noChangeArrowheads="1"/>
              </p:cNvSpPr>
              <p:nvPr/>
            </p:nvSpPr>
            <p:spPr bwMode="auto">
              <a:xfrm>
                <a:off x="1200" y="1824"/>
                <a:ext cx="23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</a:rPr>
                  <a:t>A</a:t>
                </a:r>
                <a:r>
                  <a:rPr lang="pt-BR" altLang="pt-BR" sz="1600" baseline="-25000">
                    <a:latin typeface="Times New Roman" pitchFamily="18" charset="0"/>
                  </a:rPr>
                  <a:t>3</a:t>
                </a:r>
              </a:p>
            </p:txBody>
          </p:sp>
          <p:sp>
            <p:nvSpPr>
              <p:cNvPr id="34832" name="Text Box 16"/>
              <p:cNvSpPr txBox="1">
                <a:spLocks noChangeArrowheads="1"/>
              </p:cNvSpPr>
              <p:nvPr/>
            </p:nvSpPr>
            <p:spPr bwMode="auto">
              <a:xfrm>
                <a:off x="576" y="2544"/>
                <a:ext cx="23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</a:rPr>
                  <a:t>A</a:t>
                </a:r>
                <a:r>
                  <a:rPr lang="pt-BR" altLang="pt-BR" sz="1600" baseline="-25000">
                    <a:latin typeface="Times New Roman" pitchFamily="18" charset="0"/>
                  </a:rPr>
                  <a:t>4</a:t>
                </a:r>
              </a:p>
            </p:txBody>
          </p:sp>
          <p:sp>
            <p:nvSpPr>
              <p:cNvPr id="34833" name="Text Box 17"/>
              <p:cNvSpPr txBox="1">
                <a:spLocks noChangeArrowheads="1"/>
              </p:cNvSpPr>
              <p:nvPr/>
            </p:nvSpPr>
            <p:spPr bwMode="auto">
              <a:xfrm>
                <a:off x="1296" y="2496"/>
                <a:ext cx="238" cy="2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r>
                  <a:rPr lang="pt-BR" altLang="pt-BR" sz="1600" i="1">
                    <a:latin typeface="Times New Roman" pitchFamily="18" charset="0"/>
                  </a:rPr>
                  <a:t>A</a:t>
                </a:r>
                <a:r>
                  <a:rPr lang="pt-BR" altLang="pt-BR" sz="1600" baseline="-25000">
                    <a:latin typeface="Times New Roman" pitchFamily="18" charset="0"/>
                  </a:rPr>
                  <a:t>5</a:t>
                </a:r>
              </a:p>
            </p:txBody>
          </p:sp>
        </p:grpSp>
        <p:sp>
          <p:nvSpPr>
            <p:cNvPr id="34826" name="Freeform 18"/>
            <p:cNvSpPr>
              <a:spLocks/>
            </p:cNvSpPr>
            <p:nvPr/>
          </p:nvSpPr>
          <p:spPr bwMode="auto">
            <a:xfrm>
              <a:off x="1112" y="1579"/>
              <a:ext cx="614" cy="941"/>
            </a:xfrm>
            <a:custGeom>
              <a:avLst/>
              <a:gdLst>
                <a:gd name="T0" fmla="*/ 261 w 614"/>
                <a:gd name="T1" fmla="*/ 890 h 941"/>
                <a:gd name="T2" fmla="*/ 194 w 614"/>
                <a:gd name="T3" fmla="*/ 802 h 941"/>
                <a:gd name="T4" fmla="*/ 55 w 614"/>
                <a:gd name="T5" fmla="*/ 694 h 941"/>
                <a:gd name="T6" fmla="*/ 14 w 614"/>
                <a:gd name="T7" fmla="*/ 653 h 941"/>
                <a:gd name="T8" fmla="*/ 50 w 614"/>
                <a:gd name="T9" fmla="*/ 185 h 941"/>
                <a:gd name="T10" fmla="*/ 122 w 614"/>
                <a:gd name="T11" fmla="*/ 41 h 941"/>
                <a:gd name="T12" fmla="*/ 189 w 614"/>
                <a:gd name="T13" fmla="*/ 10 h 941"/>
                <a:gd name="T14" fmla="*/ 230 w 614"/>
                <a:gd name="T15" fmla="*/ 0 h 941"/>
                <a:gd name="T16" fmla="*/ 297 w 614"/>
                <a:gd name="T17" fmla="*/ 5 h 941"/>
                <a:gd name="T18" fmla="*/ 327 w 614"/>
                <a:gd name="T19" fmla="*/ 15 h 941"/>
                <a:gd name="T20" fmla="*/ 482 w 614"/>
                <a:gd name="T21" fmla="*/ 128 h 941"/>
                <a:gd name="T22" fmla="*/ 466 w 614"/>
                <a:gd name="T23" fmla="*/ 324 h 941"/>
                <a:gd name="T24" fmla="*/ 435 w 614"/>
                <a:gd name="T25" fmla="*/ 375 h 941"/>
                <a:gd name="T26" fmla="*/ 451 w 614"/>
                <a:gd name="T27" fmla="*/ 499 h 941"/>
                <a:gd name="T28" fmla="*/ 482 w 614"/>
                <a:gd name="T29" fmla="*/ 550 h 941"/>
                <a:gd name="T30" fmla="*/ 513 w 614"/>
                <a:gd name="T31" fmla="*/ 632 h 941"/>
                <a:gd name="T32" fmla="*/ 528 w 614"/>
                <a:gd name="T33" fmla="*/ 674 h 941"/>
                <a:gd name="T34" fmla="*/ 549 w 614"/>
                <a:gd name="T35" fmla="*/ 715 h 941"/>
                <a:gd name="T36" fmla="*/ 574 w 614"/>
                <a:gd name="T37" fmla="*/ 771 h 941"/>
                <a:gd name="T38" fmla="*/ 538 w 614"/>
                <a:gd name="T39" fmla="*/ 936 h 941"/>
                <a:gd name="T40" fmla="*/ 297 w 614"/>
                <a:gd name="T41" fmla="*/ 915 h 941"/>
                <a:gd name="T42" fmla="*/ 286 w 614"/>
                <a:gd name="T43" fmla="*/ 905 h 941"/>
                <a:gd name="T44" fmla="*/ 271 w 614"/>
                <a:gd name="T45" fmla="*/ 900 h 941"/>
                <a:gd name="T46" fmla="*/ 261 w 614"/>
                <a:gd name="T47" fmla="*/ 884 h 941"/>
                <a:gd name="T48" fmla="*/ 261 w 614"/>
                <a:gd name="T49" fmla="*/ 890 h 941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w 614"/>
                <a:gd name="T76" fmla="*/ 0 h 941"/>
                <a:gd name="T77" fmla="*/ 614 w 614"/>
                <a:gd name="T78" fmla="*/ 941 h 941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T75" t="T76" r="T77" b="T78"/>
              <a:pathLst>
                <a:path w="614" h="941">
                  <a:moveTo>
                    <a:pt x="261" y="890"/>
                  </a:moveTo>
                  <a:cubicBezTo>
                    <a:pt x="247" y="856"/>
                    <a:pt x="216" y="833"/>
                    <a:pt x="194" y="802"/>
                  </a:cubicBezTo>
                  <a:cubicBezTo>
                    <a:pt x="155" y="748"/>
                    <a:pt x="122" y="711"/>
                    <a:pt x="55" y="694"/>
                  </a:cubicBezTo>
                  <a:cubicBezTo>
                    <a:pt x="43" y="677"/>
                    <a:pt x="29" y="668"/>
                    <a:pt x="14" y="653"/>
                  </a:cubicBezTo>
                  <a:cubicBezTo>
                    <a:pt x="18" y="496"/>
                    <a:pt x="0" y="334"/>
                    <a:pt x="50" y="185"/>
                  </a:cubicBezTo>
                  <a:cubicBezTo>
                    <a:pt x="59" y="129"/>
                    <a:pt x="66" y="68"/>
                    <a:pt x="122" y="41"/>
                  </a:cubicBezTo>
                  <a:cubicBezTo>
                    <a:pt x="143" y="31"/>
                    <a:pt x="166" y="17"/>
                    <a:pt x="189" y="10"/>
                  </a:cubicBezTo>
                  <a:cubicBezTo>
                    <a:pt x="202" y="6"/>
                    <a:pt x="230" y="0"/>
                    <a:pt x="230" y="0"/>
                  </a:cubicBezTo>
                  <a:cubicBezTo>
                    <a:pt x="252" y="2"/>
                    <a:pt x="275" y="2"/>
                    <a:pt x="297" y="5"/>
                  </a:cubicBezTo>
                  <a:cubicBezTo>
                    <a:pt x="307" y="7"/>
                    <a:pt x="327" y="15"/>
                    <a:pt x="327" y="15"/>
                  </a:cubicBezTo>
                  <a:cubicBezTo>
                    <a:pt x="373" y="61"/>
                    <a:pt x="434" y="84"/>
                    <a:pt x="482" y="128"/>
                  </a:cubicBezTo>
                  <a:cubicBezTo>
                    <a:pt x="497" y="191"/>
                    <a:pt x="519" y="276"/>
                    <a:pt x="466" y="324"/>
                  </a:cubicBezTo>
                  <a:cubicBezTo>
                    <a:pt x="457" y="342"/>
                    <a:pt x="447" y="358"/>
                    <a:pt x="435" y="375"/>
                  </a:cubicBezTo>
                  <a:cubicBezTo>
                    <a:pt x="427" y="418"/>
                    <a:pt x="417" y="465"/>
                    <a:pt x="451" y="499"/>
                  </a:cubicBezTo>
                  <a:cubicBezTo>
                    <a:pt x="458" y="519"/>
                    <a:pt x="472" y="531"/>
                    <a:pt x="482" y="550"/>
                  </a:cubicBezTo>
                  <a:cubicBezTo>
                    <a:pt x="496" y="577"/>
                    <a:pt x="498" y="605"/>
                    <a:pt x="513" y="632"/>
                  </a:cubicBezTo>
                  <a:cubicBezTo>
                    <a:pt x="521" y="672"/>
                    <a:pt x="512" y="645"/>
                    <a:pt x="528" y="674"/>
                  </a:cubicBezTo>
                  <a:cubicBezTo>
                    <a:pt x="535" y="687"/>
                    <a:pt x="549" y="715"/>
                    <a:pt x="549" y="715"/>
                  </a:cubicBezTo>
                  <a:cubicBezTo>
                    <a:pt x="554" y="736"/>
                    <a:pt x="562" y="753"/>
                    <a:pt x="574" y="771"/>
                  </a:cubicBezTo>
                  <a:cubicBezTo>
                    <a:pt x="582" y="828"/>
                    <a:pt x="614" y="921"/>
                    <a:pt x="538" y="936"/>
                  </a:cubicBezTo>
                  <a:cubicBezTo>
                    <a:pt x="458" y="934"/>
                    <a:pt x="374" y="941"/>
                    <a:pt x="297" y="915"/>
                  </a:cubicBezTo>
                  <a:cubicBezTo>
                    <a:pt x="293" y="912"/>
                    <a:pt x="290" y="907"/>
                    <a:pt x="286" y="905"/>
                  </a:cubicBezTo>
                  <a:cubicBezTo>
                    <a:pt x="281" y="902"/>
                    <a:pt x="275" y="903"/>
                    <a:pt x="271" y="900"/>
                  </a:cubicBezTo>
                  <a:cubicBezTo>
                    <a:pt x="266" y="896"/>
                    <a:pt x="265" y="888"/>
                    <a:pt x="261" y="884"/>
                  </a:cubicBezTo>
                  <a:cubicBezTo>
                    <a:pt x="260" y="883"/>
                    <a:pt x="261" y="888"/>
                    <a:pt x="261" y="890"/>
                  </a:cubicBezTo>
                  <a:close/>
                </a:path>
              </a:pathLst>
            </a:custGeom>
            <a:noFill/>
            <a:ln w="28575" cap="rnd">
              <a:solidFill>
                <a:srgbClr val="FF3300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4827" name="Text Box 19"/>
            <p:cNvSpPr txBox="1">
              <a:spLocks noChangeArrowheads="1"/>
            </p:cNvSpPr>
            <p:nvPr/>
          </p:nvSpPr>
          <p:spPr bwMode="auto">
            <a:xfrm>
              <a:off x="1340" y="2064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 i="1">
                  <a:solidFill>
                    <a:srgbClr val="FF3300"/>
                  </a:solidFill>
                  <a:latin typeface="Times New Roman" pitchFamily="18" charset="0"/>
                </a:rPr>
                <a:t>B</a:t>
              </a:r>
            </a:p>
          </p:txBody>
        </p:sp>
      </p:grpSp>
      <p:graphicFrame>
        <p:nvGraphicFramePr>
          <p:cNvPr id="34836" name="Object 20"/>
          <p:cNvGraphicFramePr>
            <a:graphicFrameLocks noChangeAspect="1"/>
          </p:cNvGraphicFramePr>
          <p:nvPr/>
        </p:nvGraphicFramePr>
        <p:xfrm>
          <a:off x="6045200" y="3336925"/>
          <a:ext cx="1906588" cy="908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500" imgH="635000" progId="Equation.DSMT4">
                  <p:embed/>
                </p:oleObj>
              </mc:Choice>
              <mc:Fallback>
                <p:oleObj name="Equation" r:id="rId6" imgW="1333500" imgH="635000" progId="Equation.DSMT4">
                  <p:embed/>
                  <p:pic>
                    <p:nvPicPr>
                      <p:cNvPr id="34836" name="Object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45200" y="3336925"/>
                        <a:ext cx="1906588" cy="908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44BFEAF-E1AC-4533-9A8D-28E27E0569F7}" type="slidenum">
              <a:rPr lang="pt-BR"/>
              <a:pPr>
                <a:defRPr/>
              </a:pPr>
              <a:t>32</a:t>
            </a:fld>
            <a:endParaRPr lang="pt-BR"/>
          </a:p>
        </p:txBody>
      </p:sp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3563938" y="4498975"/>
            <a:ext cx="4824412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536575" indent="-536575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Obs.: o termo no numerador será um dos termos do denominador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aphicFrame>
        <p:nvGraphicFramePr>
          <p:cNvPr id="105472" name="Object 1024"/>
          <p:cNvGraphicFramePr>
            <a:graphicFrameLocks noChangeAspect="1"/>
          </p:cNvGraphicFramePr>
          <p:nvPr/>
        </p:nvGraphicFramePr>
        <p:xfrm>
          <a:off x="2043113" y="4276725"/>
          <a:ext cx="5132387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81400" imgH="419100" progId="Equation.DSMT4">
                  <p:embed/>
                </p:oleObj>
              </mc:Choice>
              <mc:Fallback>
                <p:oleObj name="Equation" r:id="rId2" imgW="3581400" imgH="419100" progId="Equation.DSMT4">
                  <p:embed/>
                  <p:pic>
                    <p:nvPicPr>
                      <p:cNvPr id="105472" name="Object 10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3113" y="4276725"/>
                        <a:ext cx="5132387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5473" name="Object 1025"/>
          <p:cNvGraphicFramePr>
            <a:graphicFrameLocks noChangeAspect="1"/>
          </p:cNvGraphicFramePr>
          <p:nvPr/>
        </p:nvGraphicFramePr>
        <p:xfrm>
          <a:off x="1979613" y="5005388"/>
          <a:ext cx="5113337" cy="1090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568700" imgH="762000" progId="Equation.DSMT4">
                  <p:embed/>
                </p:oleObj>
              </mc:Choice>
              <mc:Fallback>
                <p:oleObj name="Equation" r:id="rId4" imgW="3568700" imgH="762000" progId="Equation.DSMT4">
                  <p:embed/>
                  <p:pic>
                    <p:nvPicPr>
                      <p:cNvPr id="105473" name="Object 10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5005388"/>
                        <a:ext cx="5113337" cy="1090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5845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526338" cy="255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914400" indent="-45720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rabicParenR"/>
            </a:pPr>
            <a:r>
              <a:rPr lang="pt-BR" altLang="pt-BR" sz="1600">
                <a:latin typeface="Tahoma" panose="020B0604030504040204" pitchFamily="34" charset="0"/>
              </a:rPr>
              <a:t>Num estudo sobre ocorrência de queimadas, 600 pontos foram escolhidos aleatoriamente e divididos em 3 grupos (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,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) de acordo com sua classe de uso do solo, sendo 100 de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200 de </a:t>
            </a:r>
            <a:r>
              <a:rPr lang="pt-BR" altLang="pt-BR" sz="1600" i="1" dirty="0">
                <a:latin typeface="Times New Roman" pitchFamily="18" charset="0"/>
              </a:rPr>
              <a:t>B</a:t>
            </a:r>
            <a:r>
              <a:rPr lang="pt-BR" altLang="pt-BR" sz="1600">
                <a:latin typeface="Tahoma" panose="020B0604030504040204" pitchFamily="34" charset="0"/>
              </a:rPr>
              <a:t> e 300 de </a:t>
            </a:r>
            <a:r>
              <a:rPr lang="pt-BR" altLang="pt-BR" sz="1600" i="1" dirty="0">
                <a:latin typeface="Times New Roman" pitchFamily="18" charset="0"/>
              </a:rPr>
              <a:t>C</a:t>
            </a:r>
            <a:r>
              <a:rPr lang="pt-BR" altLang="pt-BR" sz="1600">
                <a:latin typeface="Tahoma" panose="020B0604030504040204" pitchFamily="34" charset="0"/>
              </a:rPr>
              <a:t>. Suponha que a probabilidade de ocorrência de queimada em cada uma das classes seja respectivamente de 10%; 5% e 1%. Selecionando-se um ponto ao acaso, calcule a probabilidade de que esse ponto: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 typeface="Comic Sans MS" pitchFamily="66" charset="0"/>
              <a:buAutoNum type="alphaLcParenR" startAt="4"/>
            </a:pPr>
            <a:r>
              <a:rPr lang="pt-BR" altLang="pt-BR" sz="1600">
                <a:latin typeface="Tahoma" panose="020B0604030504040204" pitchFamily="34" charset="0"/>
              </a:rPr>
              <a:t>seja da classe </a:t>
            </a:r>
            <a:r>
              <a:rPr lang="pt-BR" altLang="pt-BR" sz="1600" i="1" dirty="0">
                <a:latin typeface="Times New Roman" pitchFamily="18" charset="0"/>
              </a:rPr>
              <a:t>A</a:t>
            </a:r>
            <a:r>
              <a:rPr lang="pt-BR" altLang="pt-BR" sz="1600">
                <a:latin typeface="Tahoma" panose="020B0604030504040204" pitchFamily="34" charset="0"/>
              </a:rPr>
              <a:t>, sabendo que o ponto corresponde a uma queimada.</a:t>
            </a:r>
          </a:p>
          <a:p>
            <a:pPr lvl="1" eaLnBrk="1" hangingPunct="1">
              <a:spcBef>
                <a:spcPct val="0"/>
              </a:spcBef>
              <a:buClr>
                <a:srgbClr val="FF3300"/>
              </a:buClr>
              <a:buFontTx/>
              <a:buAutoNum type="alphaLcParenR" startAt="4"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C4AA9B8-A93A-4007-823B-9EC3A4BCFF31}" type="slidenum">
              <a:rPr lang="pt-BR"/>
              <a:pPr>
                <a:defRPr/>
              </a:pPr>
              <a:t>33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sp>
        <p:nvSpPr>
          <p:cNvPr id="36867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1024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2)</a:t>
            </a:r>
            <a:r>
              <a:rPr lang="pt-BR" altLang="pt-BR" sz="1600">
                <a:latin typeface="Tahoma" panose="020B0604030504040204" pitchFamily="34" charset="0"/>
              </a:rPr>
              <a:t> </a:t>
            </a:r>
          </a:p>
        </p:txBody>
      </p:sp>
      <p:grpSp>
        <p:nvGrpSpPr>
          <p:cNvPr id="36868" name="Group 15"/>
          <p:cNvGrpSpPr>
            <a:grpSpLocks/>
          </p:cNvGrpSpPr>
          <p:nvPr/>
        </p:nvGrpSpPr>
        <p:grpSpPr bwMode="auto">
          <a:xfrm>
            <a:off x="1619250" y="2276475"/>
            <a:ext cx="1152525" cy="1582738"/>
            <a:chOff x="2562" y="1344"/>
            <a:chExt cx="726" cy="997"/>
          </a:xfrm>
        </p:grpSpPr>
        <p:sp>
          <p:nvSpPr>
            <p:cNvPr id="36884" name="Freeform 16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6885" name="Oval 17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6886" name="Oval 18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6887" name="Oval 19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6888" name="Oval 20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6889" name="Oval 21"/>
            <p:cNvSpPr>
              <a:spLocks noChangeArrowheads="1"/>
            </p:cNvSpPr>
            <p:nvPr/>
          </p:nvSpPr>
          <p:spPr bwMode="auto">
            <a:xfrm>
              <a:off x="2653" y="1616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6890" name="Oval 22"/>
            <p:cNvSpPr>
              <a:spLocks noChangeArrowheads="1"/>
            </p:cNvSpPr>
            <p:nvPr/>
          </p:nvSpPr>
          <p:spPr bwMode="auto">
            <a:xfrm>
              <a:off x="3080" y="153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6891" name="Oval 23"/>
            <p:cNvSpPr>
              <a:spLocks noChangeArrowheads="1"/>
            </p:cNvSpPr>
            <p:nvPr/>
          </p:nvSpPr>
          <p:spPr bwMode="auto">
            <a:xfrm>
              <a:off x="2607" y="18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6892" name="Oval 24"/>
            <p:cNvSpPr>
              <a:spLocks noChangeArrowheads="1"/>
            </p:cNvSpPr>
            <p:nvPr/>
          </p:nvSpPr>
          <p:spPr bwMode="auto">
            <a:xfrm>
              <a:off x="2880" y="1616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6893" name="Oval 25"/>
            <p:cNvSpPr>
              <a:spLocks noChangeArrowheads="1"/>
            </p:cNvSpPr>
            <p:nvPr/>
          </p:nvSpPr>
          <p:spPr bwMode="auto">
            <a:xfrm>
              <a:off x="3061" y="1797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6894" name="Oval 26"/>
            <p:cNvSpPr>
              <a:spLocks noChangeArrowheads="1"/>
            </p:cNvSpPr>
            <p:nvPr/>
          </p:nvSpPr>
          <p:spPr bwMode="auto">
            <a:xfrm>
              <a:off x="2608" y="2115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6895" name="Oval 27"/>
            <p:cNvSpPr>
              <a:spLocks noChangeArrowheads="1"/>
            </p:cNvSpPr>
            <p:nvPr/>
          </p:nvSpPr>
          <p:spPr bwMode="auto">
            <a:xfrm>
              <a:off x="2835" y="206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36869" name="Group 28"/>
          <p:cNvGrpSpPr>
            <a:grpSpLocks/>
          </p:cNvGrpSpPr>
          <p:nvPr/>
        </p:nvGrpSpPr>
        <p:grpSpPr bwMode="auto">
          <a:xfrm>
            <a:off x="1979613" y="2203450"/>
            <a:ext cx="3667125" cy="935038"/>
            <a:chOff x="2744" y="1345"/>
            <a:chExt cx="2310" cy="589"/>
          </a:xfrm>
        </p:grpSpPr>
        <p:cxnSp>
          <p:nvCxnSpPr>
            <p:cNvPr id="36878" name="AutoShape 29"/>
            <p:cNvCxnSpPr>
              <a:cxnSpLocks noChangeShapeType="1"/>
            </p:cNvCxnSpPr>
            <p:nvPr/>
          </p:nvCxnSpPr>
          <p:spPr bwMode="auto">
            <a:xfrm rot="5400000" flipV="1">
              <a:off x="3032" y="1057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879" name="Line 30"/>
            <p:cNvSpPr>
              <a:spLocks noChangeShapeType="1"/>
            </p:cNvSpPr>
            <p:nvPr/>
          </p:nvSpPr>
          <p:spPr bwMode="auto">
            <a:xfrm>
              <a:off x="3726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6880" name="Line 31"/>
            <p:cNvSpPr>
              <a:spLocks noChangeShapeType="1"/>
            </p:cNvSpPr>
            <p:nvPr/>
          </p:nvSpPr>
          <p:spPr bwMode="auto">
            <a:xfrm>
              <a:off x="4078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6881" name="Line 32"/>
            <p:cNvSpPr>
              <a:spLocks noChangeShapeType="1"/>
            </p:cNvSpPr>
            <p:nvPr/>
          </p:nvSpPr>
          <p:spPr bwMode="auto">
            <a:xfrm>
              <a:off x="4430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6882" name="Line 33"/>
            <p:cNvSpPr>
              <a:spLocks noChangeShapeType="1"/>
            </p:cNvSpPr>
            <p:nvPr/>
          </p:nvSpPr>
          <p:spPr bwMode="auto">
            <a:xfrm>
              <a:off x="4782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6883" name="Line 34"/>
            <p:cNvSpPr>
              <a:spLocks noChangeShapeType="1"/>
            </p:cNvSpPr>
            <p:nvPr/>
          </p:nvSpPr>
          <p:spPr bwMode="auto">
            <a:xfrm>
              <a:off x="3375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sp>
        <p:nvSpPr>
          <p:cNvPr id="82979" name="Text Box 35"/>
          <p:cNvSpPr txBox="1">
            <a:spLocks noChangeArrowheads="1"/>
          </p:cNvSpPr>
          <p:nvPr/>
        </p:nvSpPr>
        <p:spPr bwMode="auto">
          <a:xfrm>
            <a:off x="5867400" y="2133600"/>
            <a:ext cx="2252663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Qual a probabilidade de escolher exatamente 3 objetos vermelhos?</a:t>
            </a:r>
          </a:p>
        </p:txBody>
      </p:sp>
      <p:graphicFrame>
        <p:nvGraphicFramePr>
          <p:cNvPr id="82981" name="Object 37"/>
          <p:cNvGraphicFramePr>
            <a:graphicFrameLocks noChangeAspect="1"/>
          </p:cNvGraphicFramePr>
          <p:nvPr/>
        </p:nvGraphicFramePr>
        <p:xfrm>
          <a:off x="2843213" y="4005263"/>
          <a:ext cx="3271837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177800" progId="Equation.DSMT4">
                  <p:embed/>
                </p:oleObj>
              </mc:Choice>
              <mc:Fallback>
                <p:oleObj name="Equation" r:id="rId2" imgW="2286000" imgH="177800" progId="Equation.DSMT4">
                  <p:embed/>
                  <p:pic>
                    <p:nvPicPr>
                      <p:cNvPr id="82981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005263"/>
                        <a:ext cx="3271837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2982" name="Object 38"/>
          <p:cNvGraphicFramePr>
            <a:graphicFrameLocks noChangeAspect="1"/>
          </p:cNvGraphicFramePr>
          <p:nvPr/>
        </p:nvGraphicFramePr>
        <p:xfrm>
          <a:off x="1331913" y="4437063"/>
          <a:ext cx="65976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10100" imgH="228600" progId="Equation.DSMT4">
                  <p:embed/>
                </p:oleObj>
              </mc:Choice>
              <mc:Fallback>
                <p:oleObj name="Equation" r:id="rId4" imgW="4610100" imgH="228600" progId="Equation.DSMT4">
                  <p:embed/>
                  <p:pic>
                    <p:nvPicPr>
                      <p:cNvPr id="82982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37063"/>
                        <a:ext cx="65976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1"/>
          <p:cNvGrpSpPr>
            <a:grpSpLocks/>
          </p:cNvGrpSpPr>
          <p:nvPr/>
        </p:nvGrpSpPr>
        <p:grpSpPr bwMode="auto">
          <a:xfrm>
            <a:off x="2843213" y="4797425"/>
            <a:ext cx="5041900" cy="673100"/>
            <a:chOff x="1791" y="3022"/>
            <a:chExt cx="3176" cy="424"/>
          </a:xfrm>
        </p:grpSpPr>
        <p:sp>
          <p:nvSpPr>
            <p:cNvPr id="36876" name="AutoShape 39"/>
            <p:cNvSpPr>
              <a:spLocks/>
            </p:cNvSpPr>
            <p:nvPr/>
          </p:nvSpPr>
          <p:spPr bwMode="auto">
            <a:xfrm rot="-5400000">
              <a:off x="3288" y="1525"/>
              <a:ext cx="181" cy="3176"/>
            </a:xfrm>
            <a:prstGeom prst="leftBrace">
              <a:avLst>
                <a:gd name="adj1" fmla="val 14622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6877" name="Text Box 40"/>
            <p:cNvSpPr txBox="1">
              <a:spLocks noChangeArrowheads="1"/>
            </p:cNvSpPr>
            <p:nvPr/>
          </p:nvSpPr>
          <p:spPr bwMode="auto">
            <a:xfrm>
              <a:off x="3286" y="3234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?</a:t>
              </a:r>
            </a:p>
          </p:txBody>
        </p:sp>
      </p:grpSp>
      <p:graphicFrame>
        <p:nvGraphicFramePr>
          <p:cNvPr id="82986" name="Object 4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68333373"/>
              </p:ext>
            </p:extLst>
          </p:nvPr>
        </p:nvGraphicFramePr>
        <p:xfrm>
          <a:off x="501650" y="5445125"/>
          <a:ext cx="34702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25700" imgH="393700" progId="Equation.DSMT4">
                  <p:embed/>
                </p:oleObj>
              </mc:Choice>
              <mc:Fallback>
                <p:oleObj name="Equation" r:id="rId6" imgW="2425700" imgH="393700" progId="Equation.DSMT4">
                  <p:embed/>
                  <p:pic>
                    <p:nvPicPr>
                      <p:cNvPr id="82986" name="Object 4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" y="5445125"/>
                        <a:ext cx="34702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CD20905-9764-4A42-88E9-BFE9B80A86E2}" type="slidenum">
              <a:rPr lang="pt-BR"/>
              <a:pPr>
                <a:defRPr/>
              </a:pPr>
              <a:t>34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979" grpId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7898" name="Object 3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8284211"/>
              </p:ext>
            </p:extLst>
          </p:nvPr>
        </p:nvGraphicFramePr>
        <p:xfrm>
          <a:off x="501650" y="5445125"/>
          <a:ext cx="3560763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89200" imgH="393700" progId="Equation.DSMT4">
                  <p:embed/>
                </p:oleObj>
              </mc:Choice>
              <mc:Fallback>
                <p:oleObj name="Equation" r:id="rId2" imgW="2489200" imgH="393700" progId="Equation.DSMT4">
                  <p:embed/>
                  <p:pic>
                    <p:nvPicPr>
                      <p:cNvPr id="37898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" y="5445125"/>
                        <a:ext cx="3560763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39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sp>
        <p:nvSpPr>
          <p:cNvPr id="37891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1024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2)</a:t>
            </a:r>
            <a:r>
              <a:rPr lang="pt-BR" altLang="pt-BR" sz="1600">
                <a:latin typeface="Tahoma" panose="020B0604030504040204" pitchFamily="34" charset="0"/>
              </a:rPr>
              <a:t> </a:t>
            </a:r>
          </a:p>
        </p:txBody>
      </p:sp>
      <p:grpSp>
        <p:nvGrpSpPr>
          <p:cNvPr id="37892" name="Group 4"/>
          <p:cNvGrpSpPr>
            <a:grpSpLocks/>
          </p:cNvGrpSpPr>
          <p:nvPr/>
        </p:nvGrpSpPr>
        <p:grpSpPr bwMode="auto">
          <a:xfrm>
            <a:off x="1619250" y="2276475"/>
            <a:ext cx="1152525" cy="1582738"/>
            <a:chOff x="2562" y="1344"/>
            <a:chExt cx="726" cy="997"/>
          </a:xfrm>
        </p:grpSpPr>
        <p:sp>
          <p:nvSpPr>
            <p:cNvPr id="37908" name="Freeform 5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7909" name="Oval 6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7910" name="Oval 7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7911" name="Oval 8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7912" name="Oval 9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7913" name="Oval 10"/>
            <p:cNvSpPr>
              <a:spLocks noChangeArrowheads="1"/>
            </p:cNvSpPr>
            <p:nvPr/>
          </p:nvSpPr>
          <p:spPr bwMode="auto">
            <a:xfrm>
              <a:off x="2653" y="1616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7914" name="Oval 11"/>
            <p:cNvSpPr>
              <a:spLocks noChangeArrowheads="1"/>
            </p:cNvSpPr>
            <p:nvPr/>
          </p:nvSpPr>
          <p:spPr bwMode="auto">
            <a:xfrm>
              <a:off x="3080" y="153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7915" name="Oval 12"/>
            <p:cNvSpPr>
              <a:spLocks noChangeArrowheads="1"/>
            </p:cNvSpPr>
            <p:nvPr/>
          </p:nvSpPr>
          <p:spPr bwMode="auto">
            <a:xfrm>
              <a:off x="2607" y="18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7916" name="Oval 13"/>
            <p:cNvSpPr>
              <a:spLocks noChangeArrowheads="1"/>
            </p:cNvSpPr>
            <p:nvPr/>
          </p:nvSpPr>
          <p:spPr bwMode="auto">
            <a:xfrm>
              <a:off x="2880" y="1616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7917" name="Oval 14"/>
            <p:cNvSpPr>
              <a:spLocks noChangeArrowheads="1"/>
            </p:cNvSpPr>
            <p:nvPr/>
          </p:nvSpPr>
          <p:spPr bwMode="auto">
            <a:xfrm>
              <a:off x="3061" y="1797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7918" name="Oval 15"/>
            <p:cNvSpPr>
              <a:spLocks noChangeArrowheads="1"/>
            </p:cNvSpPr>
            <p:nvPr/>
          </p:nvSpPr>
          <p:spPr bwMode="auto">
            <a:xfrm>
              <a:off x="2608" y="2115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7919" name="Oval 16"/>
            <p:cNvSpPr>
              <a:spLocks noChangeArrowheads="1"/>
            </p:cNvSpPr>
            <p:nvPr/>
          </p:nvSpPr>
          <p:spPr bwMode="auto">
            <a:xfrm>
              <a:off x="2835" y="206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37893" name="Group 17"/>
          <p:cNvGrpSpPr>
            <a:grpSpLocks/>
          </p:cNvGrpSpPr>
          <p:nvPr/>
        </p:nvGrpSpPr>
        <p:grpSpPr bwMode="auto">
          <a:xfrm>
            <a:off x="1979613" y="2203450"/>
            <a:ext cx="3667125" cy="935038"/>
            <a:chOff x="2744" y="1345"/>
            <a:chExt cx="2310" cy="589"/>
          </a:xfrm>
        </p:grpSpPr>
        <p:cxnSp>
          <p:nvCxnSpPr>
            <p:cNvPr id="37902" name="AutoShape 18"/>
            <p:cNvCxnSpPr>
              <a:cxnSpLocks noChangeShapeType="1"/>
            </p:cNvCxnSpPr>
            <p:nvPr/>
          </p:nvCxnSpPr>
          <p:spPr bwMode="auto">
            <a:xfrm rot="5400000" flipV="1">
              <a:off x="3032" y="1057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903" name="Line 19"/>
            <p:cNvSpPr>
              <a:spLocks noChangeShapeType="1"/>
            </p:cNvSpPr>
            <p:nvPr/>
          </p:nvSpPr>
          <p:spPr bwMode="auto">
            <a:xfrm>
              <a:off x="3726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7904" name="Line 20"/>
            <p:cNvSpPr>
              <a:spLocks noChangeShapeType="1"/>
            </p:cNvSpPr>
            <p:nvPr/>
          </p:nvSpPr>
          <p:spPr bwMode="auto">
            <a:xfrm>
              <a:off x="4078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7905" name="Line 21"/>
            <p:cNvSpPr>
              <a:spLocks noChangeShapeType="1"/>
            </p:cNvSpPr>
            <p:nvPr/>
          </p:nvSpPr>
          <p:spPr bwMode="auto">
            <a:xfrm>
              <a:off x="4430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7906" name="Line 22"/>
            <p:cNvSpPr>
              <a:spLocks noChangeShapeType="1"/>
            </p:cNvSpPr>
            <p:nvPr/>
          </p:nvSpPr>
          <p:spPr bwMode="auto">
            <a:xfrm>
              <a:off x="4782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7907" name="Line 23"/>
            <p:cNvSpPr>
              <a:spLocks noChangeShapeType="1"/>
            </p:cNvSpPr>
            <p:nvPr/>
          </p:nvSpPr>
          <p:spPr bwMode="auto">
            <a:xfrm>
              <a:off x="3375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sp>
        <p:nvSpPr>
          <p:cNvPr id="37894" name="Text Box 24"/>
          <p:cNvSpPr txBox="1">
            <a:spLocks noChangeArrowheads="1"/>
          </p:cNvSpPr>
          <p:nvPr/>
        </p:nvSpPr>
        <p:spPr bwMode="auto">
          <a:xfrm>
            <a:off x="5867400" y="2133600"/>
            <a:ext cx="2252663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Qual a probabilidade de escolher exatamente 3 objetos vermelhos?</a:t>
            </a:r>
          </a:p>
        </p:txBody>
      </p:sp>
      <p:graphicFrame>
        <p:nvGraphicFramePr>
          <p:cNvPr id="37895" name="Object 25"/>
          <p:cNvGraphicFramePr>
            <a:graphicFrameLocks noChangeAspect="1"/>
          </p:cNvGraphicFramePr>
          <p:nvPr/>
        </p:nvGraphicFramePr>
        <p:xfrm>
          <a:off x="2843213" y="4005263"/>
          <a:ext cx="3271837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86000" imgH="177800" progId="Equation.DSMT4">
                  <p:embed/>
                </p:oleObj>
              </mc:Choice>
              <mc:Fallback>
                <p:oleObj name="Equation" r:id="rId4" imgW="2286000" imgH="177800" progId="Equation.DSMT4">
                  <p:embed/>
                  <p:pic>
                    <p:nvPicPr>
                      <p:cNvPr id="37895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005263"/>
                        <a:ext cx="3271837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7896" name="Object 26"/>
          <p:cNvGraphicFramePr>
            <a:graphicFrameLocks noChangeAspect="1"/>
          </p:cNvGraphicFramePr>
          <p:nvPr/>
        </p:nvGraphicFramePr>
        <p:xfrm>
          <a:off x="1331913" y="4437063"/>
          <a:ext cx="65976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610100" imgH="228600" progId="Equation.DSMT4">
                  <p:embed/>
                </p:oleObj>
              </mc:Choice>
              <mc:Fallback>
                <p:oleObj name="Equation" r:id="rId6" imgW="4610100" imgH="228600" progId="Equation.DSMT4">
                  <p:embed/>
                  <p:pic>
                    <p:nvPicPr>
                      <p:cNvPr id="37896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37063"/>
                        <a:ext cx="65976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7897" name="Group 27"/>
          <p:cNvGrpSpPr>
            <a:grpSpLocks/>
          </p:cNvGrpSpPr>
          <p:nvPr/>
        </p:nvGrpSpPr>
        <p:grpSpPr bwMode="auto">
          <a:xfrm>
            <a:off x="2843213" y="4797425"/>
            <a:ext cx="5041900" cy="673100"/>
            <a:chOff x="1791" y="3022"/>
            <a:chExt cx="3176" cy="424"/>
          </a:xfrm>
        </p:grpSpPr>
        <p:sp>
          <p:nvSpPr>
            <p:cNvPr id="37900" name="AutoShape 28"/>
            <p:cNvSpPr>
              <a:spLocks/>
            </p:cNvSpPr>
            <p:nvPr/>
          </p:nvSpPr>
          <p:spPr bwMode="auto">
            <a:xfrm rot="-5400000">
              <a:off x="3288" y="1525"/>
              <a:ext cx="181" cy="3176"/>
            </a:xfrm>
            <a:prstGeom prst="leftBrace">
              <a:avLst>
                <a:gd name="adj1" fmla="val 14622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7901" name="Text Box 29"/>
            <p:cNvSpPr txBox="1">
              <a:spLocks noChangeArrowheads="1"/>
            </p:cNvSpPr>
            <p:nvPr/>
          </p:nvSpPr>
          <p:spPr bwMode="auto">
            <a:xfrm>
              <a:off x="3286" y="3234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?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DEB1C91-4EA2-457B-92B5-3294E3D80634}" type="slidenum">
              <a:rPr lang="pt-BR"/>
              <a:pPr>
                <a:defRPr/>
              </a:pPr>
              <a:t>35</a:t>
            </a:fld>
            <a:endParaRPr lang="pt-BR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sp>
        <p:nvSpPr>
          <p:cNvPr id="38915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1024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2)</a:t>
            </a:r>
            <a:r>
              <a:rPr lang="pt-BR" altLang="pt-BR" sz="1600">
                <a:latin typeface="Tahoma" panose="020B0604030504040204" pitchFamily="34" charset="0"/>
              </a:rPr>
              <a:t> </a:t>
            </a:r>
          </a:p>
        </p:txBody>
      </p:sp>
      <p:grpSp>
        <p:nvGrpSpPr>
          <p:cNvPr id="38916" name="Group 4"/>
          <p:cNvGrpSpPr>
            <a:grpSpLocks/>
          </p:cNvGrpSpPr>
          <p:nvPr/>
        </p:nvGrpSpPr>
        <p:grpSpPr bwMode="auto">
          <a:xfrm>
            <a:off x="1619250" y="2276475"/>
            <a:ext cx="1152525" cy="1582738"/>
            <a:chOff x="2562" y="1344"/>
            <a:chExt cx="726" cy="997"/>
          </a:xfrm>
        </p:grpSpPr>
        <p:sp>
          <p:nvSpPr>
            <p:cNvPr id="38938" name="Freeform 5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8939" name="Oval 6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8940" name="Oval 7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8941" name="Oval 8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8942" name="Oval 9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8943" name="Oval 10"/>
            <p:cNvSpPr>
              <a:spLocks noChangeArrowheads="1"/>
            </p:cNvSpPr>
            <p:nvPr/>
          </p:nvSpPr>
          <p:spPr bwMode="auto">
            <a:xfrm>
              <a:off x="2653" y="1616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8944" name="Oval 11"/>
            <p:cNvSpPr>
              <a:spLocks noChangeArrowheads="1"/>
            </p:cNvSpPr>
            <p:nvPr/>
          </p:nvSpPr>
          <p:spPr bwMode="auto">
            <a:xfrm>
              <a:off x="3080" y="153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8945" name="Oval 12"/>
            <p:cNvSpPr>
              <a:spLocks noChangeArrowheads="1"/>
            </p:cNvSpPr>
            <p:nvPr/>
          </p:nvSpPr>
          <p:spPr bwMode="auto">
            <a:xfrm>
              <a:off x="2607" y="18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8946" name="Oval 13"/>
            <p:cNvSpPr>
              <a:spLocks noChangeArrowheads="1"/>
            </p:cNvSpPr>
            <p:nvPr/>
          </p:nvSpPr>
          <p:spPr bwMode="auto">
            <a:xfrm>
              <a:off x="2880" y="1616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8947" name="Oval 14"/>
            <p:cNvSpPr>
              <a:spLocks noChangeArrowheads="1"/>
            </p:cNvSpPr>
            <p:nvPr/>
          </p:nvSpPr>
          <p:spPr bwMode="auto">
            <a:xfrm>
              <a:off x="3061" y="1797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8948" name="Oval 15"/>
            <p:cNvSpPr>
              <a:spLocks noChangeArrowheads="1"/>
            </p:cNvSpPr>
            <p:nvPr/>
          </p:nvSpPr>
          <p:spPr bwMode="auto">
            <a:xfrm>
              <a:off x="2608" y="2115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8949" name="Oval 16"/>
            <p:cNvSpPr>
              <a:spLocks noChangeArrowheads="1"/>
            </p:cNvSpPr>
            <p:nvPr/>
          </p:nvSpPr>
          <p:spPr bwMode="auto">
            <a:xfrm>
              <a:off x="2835" y="206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38917" name="Group 17"/>
          <p:cNvGrpSpPr>
            <a:grpSpLocks/>
          </p:cNvGrpSpPr>
          <p:nvPr/>
        </p:nvGrpSpPr>
        <p:grpSpPr bwMode="auto">
          <a:xfrm>
            <a:off x="1979613" y="2203450"/>
            <a:ext cx="3667125" cy="935038"/>
            <a:chOff x="2744" y="1345"/>
            <a:chExt cx="2310" cy="589"/>
          </a:xfrm>
        </p:grpSpPr>
        <p:cxnSp>
          <p:nvCxnSpPr>
            <p:cNvPr id="38932" name="AutoShape 18"/>
            <p:cNvCxnSpPr>
              <a:cxnSpLocks noChangeShapeType="1"/>
            </p:cNvCxnSpPr>
            <p:nvPr/>
          </p:nvCxnSpPr>
          <p:spPr bwMode="auto">
            <a:xfrm rot="5400000" flipV="1">
              <a:off x="3032" y="1057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8933" name="Line 19"/>
            <p:cNvSpPr>
              <a:spLocks noChangeShapeType="1"/>
            </p:cNvSpPr>
            <p:nvPr/>
          </p:nvSpPr>
          <p:spPr bwMode="auto">
            <a:xfrm>
              <a:off x="3726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8934" name="Line 20"/>
            <p:cNvSpPr>
              <a:spLocks noChangeShapeType="1"/>
            </p:cNvSpPr>
            <p:nvPr/>
          </p:nvSpPr>
          <p:spPr bwMode="auto">
            <a:xfrm>
              <a:off x="4078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8935" name="Line 21"/>
            <p:cNvSpPr>
              <a:spLocks noChangeShapeType="1"/>
            </p:cNvSpPr>
            <p:nvPr/>
          </p:nvSpPr>
          <p:spPr bwMode="auto">
            <a:xfrm>
              <a:off x="4430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8936" name="Line 22"/>
            <p:cNvSpPr>
              <a:spLocks noChangeShapeType="1"/>
            </p:cNvSpPr>
            <p:nvPr/>
          </p:nvSpPr>
          <p:spPr bwMode="auto">
            <a:xfrm>
              <a:off x="4782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8937" name="Line 23"/>
            <p:cNvSpPr>
              <a:spLocks noChangeShapeType="1"/>
            </p:cNvSpPr>
            <p:nvPr/>
          </p:nvSpPr>
          <p:spPr bwMode="auto">
            <a:xfrm>
              <a:off x="3375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sp>
        <p:nvSpPr>
          <p:cNvPr id="38918" name="Text Box 24"/>
          <p:cNvSpPr txBox="1">
            <a:spLocks noChangeArrowheads="1"/>
          </p:cNvSpPr>
          <p:nvPr/>
        </p:nvSpPr>
        <p:spPr bwMode="auto">
          <a:xfrm>
            <a:off x="5867400" y="2133600"/>
            <a:ext cx="2252663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Qual a probabilidade de escolher exatamente 3 objetos vermelhos?</a:t>
            </a:r>
          </a:p>
        </p:txBody>
      </p:sp>
      <p:graphicFrame>
        <p:nvGraphicFramePr>
          <p:cNvPr id="38919" name="Object 25"/>
          <p:cNvGraphicFramePr>
            <a:graphicFrameLocks noChangeAspect="1"/>
          </p:cNvGraphicFramePr>
          <p:nvPr/>
        </p:nvGraphicFramePr>
        <p:xfrm>
          <a:off x="2843213" y="4005263"/>
          <a:ext cx="3271837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177800" progId="Equation.DSMT4">
                  <p:embed/>
                </p:oleObj>
              </mc:Choice>
              <mc:Fallback>
                <p:oleObj name="Equation" r:id="rId2" imgW="2286000" imgH="177800" progId="Equation.DSMT4">
                  <p:embed/>
                  <p:pic>
                    <p:nvPicPr>
                      <p:cNvPr id="38919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005263"/>
                        <a:ext cx="3271837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8920" name="Object 26"/>
          <p:cNvGraphicFramePr>
            <a:graphicFrameLocks noChangeAspect="1"/>
          </p:cNvGraphicFramePr>
          <p:nvPr/>
        </p:nvGraphicFramePr>
        <p:xfrm>
          <a:off x="1331913" y="4437063"/>
          <a:ext cx="65976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10100" imgH="228600" progId="Equation.DSMT4">
                  <p:embed/>
                </p:oleObj>
              </mc:Choice>
              <mc:Fallback>
                <p:oleObj name="Equation" r:id="rId4" imgW="4610100" imgH="228600" progId="Equation.DSMT4">
                  <p:embed/>
                  <p:pic>
                    <p:nvPicPr>
                      <p:cNvPr id="38920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37063"/>
                        <a:ext cx="65976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8921" name="Group 27"/>
          <p:cNvGrpSpPr>
            <a:grpSpLocks/>
          </p:cNvGrpSpPr>
          <p:nvPr/>
        </p:nvGrpSpPr>
        <p:grpSpPr bwMode="auto">
          <a:xfrm>
            <a:off x="2843213" y="4797425"/>
            <a:ext cx="5041900" cy="673100"/>
            <a:chOff x="1791" y="3022"/>
            <a:chExt cx="3176" cy="424"/>
          </a:xfrm>
        </p:grpSpPr>
        <p:sp>
          <p:nvSpPr>
            <p:cNvPr id="38930" name="AutoShape 28"/>
            <p:cNvSpPr>
              <a:spLocks/>
            </p:cNvSpPr>
            <p:nvPr/>
          </p:nvSpPr>
          <p:spPr bwMode="auto">
            <a:xfrm rot="-5400000">
              <a:off x="3288" y="1525"/>
              <a:ext cx="181" cy="3176"/>
            </a:xfrm>
            <a:prstGeom prst="leftBrace">
              <a:avLst>
                <a:gd name="adj1" fmla="val 146225"/>
                <a:gd name="adj2" fmla="val 5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8931" name="Text Box 29"/>
            <p:cNvSpPr txBox="1">
              <a:spLocks noChangeArrowheads="1"/>
            </p:cNvSpPr>
            <p:nvPr/>
          </p:nvSpPr>
          <p:spPr bwMode="auto">
            <a:xfrm>
              <a:off x="3286" y="3234"/>
              <a:ext cx="183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?</a:t>
              </a:r>
            </a:p>
          </p:txBody>
        </p:sp>
      </p:grpSp>
      <p:graphicFrame>
        <p:nvGraphicFramePr>
          <p:cNvPr id="38922" name="Object 30"/>
          <p:cNvGraphicFramePr>
            <a:graphicFrameLocks noChangeAspect="1"/>
          </p:cNvGraphicFramePr>
          <p:nvPr/>
        </p:nvGraphicFramePr>
        <p:xfrm>
          <a:off x="501650" y="5445125"/>
          <a:ext cx="34702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425700" imgH="393700" progId="Equation.DSMT4">
                  <p:embed/>
                </p:oleObj>
              </mc:Choice>
              <mc:Fallback>
                <p:oleObj name="Equation" r:id="rId6" imgW="2425700" imgH="393700" progId="Equation.DSMT4">
                  <p:embed/>
                  <p:pic>
                    <p:nvPicPr>
                      <p:cNvPr id="38922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650" y="5445125"/>
                        <a:ext cx="34702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5023" name="Object 31"/>
          <p:cNvGraphicFramePr>
            <a:graphicFrameLocks noChangeAspect="1"/>
          </p:cNvGraphicFramePr>
          <p:nvPr/>
        </p:nvGraphicFramePr>
        <p:xfrm>
          <a:off x="468313" y="6092825"/>
          <a:ext cx="34702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25700" imgH="393700" progId="Equation.DSMT4">
                  <p:embed/>
                </p:oleObj>
              </mc:Choice>
              <mc:Fallback>
                <p:oleObj name="Equation" r:id="rId8" imgW="2425700" imgH="393700" progId="Equation.DSMT4">
                  <p:embed/>
                  <p:pic>
                    <p:nvPicPr>
                      <p:cNvPr id="85023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6092825"/>
                        <a:ext cx="34702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5024" name="Text Box 32"/>
          <p:cNvSpPr txBox="1">
            <a:spLocks noChangeArrowheads="1"/>
          </p:cNvSpPr>
          <p:nvPr/>
        </p:nvSpPr>
        <p:spPr bwMode="auto">
          <a:xfrm>
            <a:off x="5618163" y="6130925"/>
            <a:ext cx="302999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2000" b="1">
                <a:latin typeface="Tahoma" panose="020B0604030504040204" pitchFamily="34" charset="0"/>
              </a:rPr>
              <a:t>Técnicas de contagem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A325268-D80A-43A1-9132-A782159FE582}" type="slidenum">
              <a:rPr lang="pt-BR"/>
              <a:pPr>
                <a:defRPr/>
              </a:pPr>
              <a:t>36</a:t>
            </a:fld>
            <a:endParaRPr lang="pt-BR"/>
          </a:p>
        </p:txBody>
      </p:sp>
      <p:grpSp>
        <p:nvGrpSpPr>
          <p:cNvPr id="5" name="Grupo 4"/>
          <p:cNvGrpSpPr>
            <a:grpSpLocks/>
          </p:cNvGrpSpPr>
          <p:nvPr/>
        </p:nvGrpSpPr>
        <p:grpSpPr bwMode="auto">
          <a:xfrm>
            <a:off x="3725863" y="5673725"/>
            <a:ext cx="1508125" cy="779463"/>
            <a:chOff x="3726308" y="5673725"/>
            <a:chExt cx="1508412" cy="779611"/>
          </a:xfrm>
        </p:grpSpPr>
        <p:sp>
          <p:nvSpPr>
            <p:cNvPr id="3" name="Arco 2"/>
            <p:cNvSpPr/>
            <p:nvPr/>
          </p:nvSpPr>
          <p:spPr>
            <a:xfrm>
              <a:off x="3726308" y="5673725"/>
              <a:ext cx="701809" cy="779611"/>
            </a:xfrm>
            <a:prstGeom prst="arc">
              <a:avLst>
                <a:gd name="adj1" fmla="val 16200000"/>
                <a:gd name="adj2" fmla="val 5349450"/>
              </a:avLst>
            </a:prstGeom>
            <a:ln>
              <a:solidFill>
                <a:schemeClr val="tx1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38929" name="Retângulo 3"/>
            <p:cNvSpPr>
              <a:spLocks noChangeArrowheads="1"/>
            </p:cNvSpPr>
            <p:nvPr/>
          </p:nvSpPr>
          <p:spPr bwMode="auto">
            <a:xfrm>
              <a:off x="4464957" y="5894253"/>
              <a:ext cx="769763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ahoma" panose="020B0604030504040204" pitchFamily="34" charset="0"/>
                </a:rPr>
                <a:t>iguais!</a:t>
              </a:r>
            </a:p>
          </p:txBody>
        </p:sp>
      </p:grpSp>
      <p:sp>
        <p:nvSpPr>
          <p:cNvPr id="37" name="Retângulo 36"/>
          <p:cNvSpPr>
            <a:spLocks noChangeArrowheads="1"/>
          </p:cNvSpPr>
          <p:nvPr/>
        </p:nvSpPr>
        <p:spPr bwMode="auto">
          <a:xfrm>
            <a:off x="5962650" y="5724525"/>
            <a:ext cx="1982209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Mas quantas vezes?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024" grpId="0" autoUpdateAnimBg="0"/>
      <p:bldP spid="37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1663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/>
              <a:t>Técnicas de Contagem</a:t>
            </a:r>
          </a:p>
        </p:txBody>
      </p:sp>
      <p:sp>
        <p:nvSpPr>
          <p:cNvPr id="39939" name="Text Box 10"/>
          <p:cNvSpPr txBox="1">
            <a:spLocks noChangeArrowheads="1"/>
          </p:cNvSpPr>
          <p:nvPr/>
        </p:nvSpPr>
        <p:spPr bwMode="auto">
          <a:xfrm>
            <a:off x="2590800" y="1905000"/>
            <a:ext cx="479926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De quantas formas posso rearranjar estas 9 letras?</a:t>
            </a:r>
          </a:p>
        </p:txBody>
      </p:sp>
      <p:grpSp>
        <p:nvGrpSpPr>
          <p:cNvPr id="39940" name="Grupo 7"/>
          <p:cNvGrpSpPr>
            <a:grpSpLocks/>
          </p:cNvGrpSpPr>
          <p:nvPr/>
        </p:nvGrpSpPr>
        <p:grpSpPr bwMode="auto">
          <a:xfrm>
            <a:off x="914400" y="1447800"/>
            <a:ext cx="1447800" cy="1295400"/>
            <a:chOff x="914400" y="1447800"/>
            <a:chExt cx="1447800" cy="1295400"/>
          </a:xfrm>
        </p:grpSpPr>
        <p:sp>
          <p:nvSpPr>
            <p:cNvPr id="39967" name="Rectangle 11"/>
            <p:cNvSpPr>
              <a:spLocks noChangeArrowheads="1"/>
            </p:cNvSpPr>
            <p:nvPr/>
          </p:nvSpPr>
          <p:spPr bwMode="auto">
            <a:xfrm>
              <a:off x="914400" y="1447800"/>
              <a:ext cx="1447800" cy="12954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9968" name="Text Box 12"/>
            <p:cNvSpPr txBox="1">
              <a:spLocks noChangeArrowheads="1"/>
            </p:cNvSpPr>
            <p:nvPr/>
          </p:nvSpPr>
          <p:spPr bwMode="auto">
            <a:xfrm>
              <a:off x="1127125" y="1585913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9969" name="Text Box 13"/>
            <p:cNvSpPr txBox="1">
              <a:spLocks noChangeArrowheads="1"/>
            </p:cNvSpPr>
            <p:nvPr/>
          </p:nvSpPr>
          <p:spPr bwMode="auto">
            <a:xfrm>
              <a:off x="1905000" y="1600200"/>
              <a:ext cx="307975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E</a:t>
              </a:r>
            </a:p>
          </p:txBody>
        </p:sp>
        <p:sp>
          <p:nvSpPr>
            <p:cNvPr id="39970" name="Text Box 14"/>
            <p:cNvSpPr txBox="1">
              <a:spLocks noChangeArrowheads="1"/>
            </p:cNvSpPr>
            <p:nvPr/>
          </p:nvSpPr>
          <p:spPr bwMode="auto">
            <a:xfrm>
              <a:off x="1066800" y="2209800"/>
              <a:ext cx="2524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I</a:t>
              </a:r>
            </a:p>
          </p:txBody>
        </p:sp>
        <p:sp>
          <p:nvSpPr>
            <p:cNvPr id="39971" name="Text Box 15"/>
            <p:cNvSpPr txBox="1">
              <a:spLocks noChangeArrowheads="1"/>
            </p:cNvSpPr>
            <p:nvPr/>
          </p:nvSpPr>
          <p:spPr bwMode="auto">
            <a:xfrm>
              <a:off x="1905000" y="2286000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39972" name="Text Box 16"/>
            <p:cNvSpPr txBox="1">
              <a:spLocks noChangeArrowheads="1"/>
            </p:cNvSpPr>
            <p:nvPr/>
          </p:nvSpPr>
          <p:spPr bwMode="auto">
            <a:xfrm>
              <a:off x="1524000" y="1905000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U</a:t>
              </a:r>
            </a:p>
          </p:txBody>
        </p:sp>
        <p:sp>
          <p:nvSpPr>
            <p:cNvPr id="39973" name="Text Box 17"/>
            <p:cNvSpPr txBox="1">
              <a:spLocks noChangeArrowheads="1"/>
            </p:cNvSpPr>
            <p:nvPr/>
          </p:nvSpPr>
          <p:spPr bwMode="auto">
            <a:xfrm>
              <a:off x="1447800" y="1524000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39974" name="Text Box 18"/>
            <p:cNvSpPr txBox="1">
              <a:spLocks noChangeArrowheads="1"/>
            </p:cNvSpPr>
            <p:nvPr/>
          </p:nvSpPr>
          <p:spPr bwMode="auto">
            <a:xfrm>
              <a:off x="1447800" y="2286000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39975" name="Text Box 19"/>
            <p:cNvSpPr txBox="1">
              <a:spLocks noChangeArrowheads="1"/>
            </p:cNvSpPr>
            <p:nvPr/>
          </p:nvSpPr>
          <p:spPr bwMode="auto">
            <a:xfrm>
              <a:off x="1905000" y="1905000"/>
              <a:ext cx="330200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O</a:t>
              </a:r>
            </a:p>
          </p:txBody>
        </p:sp>
        <p:sp>
          <p:nvSpPr>
            <p:cNvPr id="39976" name="Text Box 20"/>
            <p:cNvSpPr txBox="1">
              <a:spLocks noChangeArrowheads="1"/>
            </p:cNvSpPr>
            <p:nvPr/>
          </p:nvSpPr>
          <p:spPr bwMode="auto">
            <a:xfrm>
              <a:off x="1219200" y="1905000"/>
              <a:ext cx="252413" cy="3365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I</a:t>
              </a:r>
            </a:p>
          </p:txBody>
        </p:sp>
      </p:grp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2276332-D153-4C74-9CC9-8059C8FFCB41}" type="slidenum">
              <a:rPr lang="pt-BR"/>
              <a:pPr>
                <a:defRPr/>
              </a:pPr>
              <a:t>37</a:t>
            </a:fld>
            <a:endParaRPr lang="pt-BR"/>
          </a:p>
        </p:txBody>
      </p:sp>
      <p:sp>
        <p:nvSpPr>
          <p:cNvPr id="42" name="Text Box 10"/>
          <p:cNvSpPr txBox="1">
            <a:spLocks noChangeArrowheads="1"/>
          </p:cNvSpPr>
          <p:nvPr/>
        </p:nvSpPr>
        <p:spPr bwMode="auto">
          <a:xfrm>
            <a:off x="836613" y="3111500"/>
            <a:ext cx="2935675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Se fossem 9 letras diferentes: </a:t>
            </a:r>
          </a:p>
        </p:txBody>
      </p:sp>
      <p:sp>
        <p:nvSpPr>
          <p:cNvPr id="43" name="Text Box 10"/>
          <p:cNvSpPr txBox="1">
            <a:spLocks noChangeArrowheads="1"/>
          </p:cNvSpPr>
          <p:nvPr/>
        </p:nvSpPr>
        <p:spPr bwMode="auto">
          <a:xfrm>
            <a:off x="4038600" y="3111500"/>
            <a:ext cx="15684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  <a:cs typeface="Times New Roman" pitchFamily="18" charset="0"/>
              </a:rPr>
              <a:t>9.8.7.6.5.4.3.2.1</a:t>
            </a:r>
          </a:p>
        </p:txBody>
      </p:sp>
      <p:sp>
        <p:nvSpPr>
          <p:cNvPr id="44" name="Text Box 10"/>
          <p:cNvSpPr txBox="1">
            <a:spLocks noChangeArrowheads="1"/>
          </p:cNvSpPr>
          <p:nvPr/>
        </p:nvSpPr>
        <p:spPr bwMode="auto">
          <a:xfrm>
            <a:off x="6665913" y="3111500"/>
            <a:ext cx="12906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0000"/>
                </a:solidFill>
                <a:latin typeface="Tahoma" panose="020B0604030504040204" pitchFamily="34" charset="0"/>
              </a:rPr>
              <a:t>Permutação</a:t>
            </a:r>
          </a:p>
        </p:txBody>
      </p:sp>
      <p:sp>
        <p:nvSpPr>
          <p:cNvPr id="45" name="Text Box 10"/>
          <p:cNvSpPr txBox="1">
            <a:spLocks noChangeArrowheads="1"/>
          </p:cNvSpPr>
          <p:nvPr/>
        </p:nvSpPr>
        <p:spPr bwMode="auto">
          <a:xfrm>
            <a:off x="4024313" y="3349625"/>
            <a:ext cx="1485900" cy="307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400">
                <a:solidFill>
                  <a:srgbClr val="FF0000"/>
                </a:solidFill>
                <a:latin typeface="Tahoma" panose="020B0604030504040204" pitchFamily="34" charset="0"/>
              </a:rPr>
              <a:t>(sem reposição)</a:t>
            </a:r>
          </a:p>
        </p:txBody>
      </p:sp>
      <p:sp>
        <p:nvSpPr>
          <p:cNvPr id="46" name="Text Box 10"/>
          <p:cNvSpPr txBox="1">
            <a:spLocks noChangeArrowheads="1"/>
          </p:cNvSpPr>
          <p:nvPr/>
        </p:nvSpPr>
        <p:spPr bwMode="auto">
          <a:xfrm>
            <a:off x="5451475" y="3111500"/>
            <a:ext cx="5238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  <a:cs typeface="Times New Roman" pitchFamily="18" charset="0"/>
              </a:rPr>
              <a:t>= 9!</a:t>
            </a:r>
          </a:p>
        </p:txBody>
      </p:sp>
      <p:sp>
        <p:nvSpPr>
          <p:cNvPr id="66" name="Text Box 21"/>
          <p:cNvSpPr txBox="1">
            <a:spLocks noChangeArrowheads="1"/>
          </p:cNvSpPr>
          <p:nvPr/>
        </p:nvSpPr>
        <p:spPr bwMode="auto">
          <a:xfrm>
            <a:off x="836613" y="4024313"/>
            <a:ext cx="71024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Permutação com repetição</a:t>
            </a:r>
          </a:p>
        </p:txBody>
      </p:sp>
      <p:graphicFrame>
        <p:nvGraphicFramePr>
          <p:cNvPr id="67" name="Object 0"/>
          <p:cNvGraphicFramePr>
            <a:graphicFrameLocks noChangeAspect="1"/>
          </p:cNvGraphicFramePr>
          <p:nvPr/>
        </p:nvGraphicFramePr>
        <p:xfrm>
          <a:off x="2147888" y="4384675"/>
          <a:ext cx="3732212" cy="635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03500" imgH="444500" progId="Equation.DSMT4">
                  <p:embed/>
                </p:oleObj>
              </mc:Choice>
              <mc:Fallback>
                <p:oleObj name="Equation" r:id="rId2" imgW="2603500" imgH="444500" progId="Equation.DSMT4">
                  <p:embed/>
                  <p:pic>
                    <p:nvPicPr>
                      <p:cNvPr id="67" name="Object 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7888" y="4384675"/>
                        <a:ext cx="3732212" cy="635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" name="Object 1"/>
          <p:cNvGraphicFramePr>
            <a:graphicFrameLocks noChangeAspect="1"/>
          </p:cNvGraphicFramePr>
          <p:nvPr/>
        </p:nvGraphicFramePr>
        <p:xfrm>
          <a:off x="2192338" y="5248275"/>
          <a:ext cx="1984375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84300" imgH="393700" progId="Equation.DSMT4">
                  <p:embed/>
                </p:oleObj>
              </mc:Choice>
              <mc:Fallback>
                <p:oleObj name="Equation" r:id="rId4" imgW="1384300" imgH="393700" progId="Equation.DSMT4">
                  <p:embed/>
                  <p:pic>
                    <p:nvPicPr>
                      <p:cNvPr id="68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2338" y="5248275"/>
                        <a:ext cx="1984375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" name="Object 2"/>
          <p:cNvGraphicFramePr>
            <a:graphicFrameLocks noChangeAspect="1"/>
          </p:cNvGraphicFramePr>
          <p:nvPr/>
        </p:nvGraphicFramePr>
        <p:xfrm>
          <a:off x="4152900" y="5249863"/>
          <a:ext cx="2474913" cy="6175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27200" imgH="431800" progId="Equation.DSMT4">
                  <p:embed/>
                </p:oleObj>
              </mc:Choice>
              <mc:Fallback>
                <p:oleObj name="Equation" r:id="rId6" imgW="1727200" imgH="431800" progId="Equation.DSMT4">
                  <p:embed/>
                  <p:pic>
                    <p:nvPicPr>
                      <p:cNvPr id="69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2900" y="5249863"/>
                        <a:ext cx="2474913" cy="6175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0" name="Group 25"/>
          <p:cNvGrpSpPr>
            <a:grpSpLocks/>
          </p:cNvGrpSpPr>
          <p:nvPr/>
        </p:nvGrpSpPr>
        <p:grpSpPr bwMode="auto">
          <a:xfrm>
            <a:off x="3122613" y="5562600"/>
            <a:ext cx="330200" cy="530225"/>
            <a:chOff x="2016" y="3264"/>
            <a:chExt cx="208" cy="334"/>
          </a:xfrm>
        </p:grpSpPr>
        <p:sp>
          <p:nvSpPr>
            <p:cNvPr id="39965" name="Oval 26"/>
            <p:cNvSpPr>
              <a:spLocks noChangeArrowheads="1"/>
            </p:cNvSpPr>
            <p:nvPr/>
          </p:nvSpPr>
          <p:spPr bwMode="auto">
            <a:xfrm>
              <a:off x="2064" y="3264"/>
              <a:ext cx="96" cy="144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9966" name="Text Box 27"/>
            <p:cNvSpPr txBox="1">
              <a:spLocks noChangeArrowheads="1"/>
            </p:cNvSpPr>
            <p:nvPr/>
          </p:nvSpPr>
          <p:spPr bwMode="auto">
            <a:xfrm>
              <a:off x="2016" y="3386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3300"/>
                  </a:solidFill>
                  <a:latin typeface="Times New Roman" pitchFamily="18" charset="0"/>
                </a:rPr>
                <a:t>A</a:t>
              </a:r>
            </a:p>
          </p:txBody>
        </p:sp>
      </p:grpSp>
      <p:grpSp>
        <p:nvGrpSpPr>
          <p:cNvPr id="73" name="Group 28"/>
          <p:cNvGrpSpPr>
            <a:grpSpLocks/>
          </p:cNvGrpSpPr>
          <p:nvPr/>
        </p:nvGrpSpPr>
        <p:grpSpPr bwMode="auto">
          <a:xfrm>
            <a:off x="3306763" y="5562600"/>
            <a:ext cx="307975" cy="530225"/>
            <a:chOff x="2112" y="3360"/>
            <a:chExt cx="194" cy="334"/>
          </a:xfrm>
        </p:grpSpPr>
        <p:sp>
          <p:nvSpPr>
            <p:cNvPr id="39963" name="Oval 29"/>
            <p:cNvSpPr>
              <a:spLocks noChangeArrowheads="1"/>
            </p:cNvSpPr>
            <p:nvPr/>
          </p:nvSpPr>
          <p:spPr bwMode="auto">
            <a:xfrm>
              <a:off x="2161" y="3360"/>
              <a:ext cx="96" cy="144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9964" name="Text Box 30"/>
            <p:cNvSpPr txBox="1">
              <a:spLocks noChangeArrowheads="1"/>
            </p:cNvSpPr>
            <p:nvPr/>
          </p:nvSpPr>
          <p:spPr bwMode="auto">
            <a:xfrm>
              <a:off x="2112" y="3482"/>
              <a:ext cx="194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3300"/>
                  </a:solidFill>
                  <a:latin typeface="Times New Roman" pitchFamily="18" charset="0"/>
                </a:rPr>
                <a:t>E</a:t>
              </a:r>
            </a:p>
          </p:txBody>
        </p:sp>
      </p:grpSp>
      <p:grpSp>
        <p:nvGrpSpPr>
          <p:cNvPr id="76" name="Group 31"/>
          <p:cNvGrpSpPr>
            <a:grpSpLocks/>
          </p:cNvGrpSpPr>
          <p:nvPr/>
        </p:nvGrpSpPr>
        <p:grpSpPr bwMode="auto">
          <a:xfrm>
            <a:off x="3514725" y="5562600"/>
            <a:ext cx="252413" cy="530225"/>
            <a:chOff x="2208" y="3456"/>
            <a:chExt cx="159" cy="334"/>
          </a:xfrm>
        </p:grpSpPr>
        <p:sp>
          <p:nvSpPr>
            <p:cNvPr id="39961" name="Oval 32"/>
            <p:cNvSpPr>
              <a:spLocks noChangeArrowheads="1"/>
            </p:cNvSpPr>
            <p:nvPr/>
          </p:nvSpPr>
          <p:spPr bwMode="auto">
            <a:xfrm>
              <a:off x="2240" y="3456"/>
              <a:ext cx="96" cy="144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9962" name="Text Box 33"/>
            <p:cNvSpPr txBox="1">
              <a:spLocks noChangeArrowheads="1"/>
            </p:cNvSpPr>
            <p:nvPr/>
          </p:nvSpPr>
          <p:spPr bwMode="auto">
            <a:xfrm>
              <a:off x="2208" y="3578"/>
              <a:ext cx="159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3300"/>
                  </a:solidFill>
                  <a:latin typeface="Times New Roman" pitchFamily="18" charset="0"/>
                </a:rPr>
                <a:t>I</a:t>
              </a:r>
            </a:p>
          </p:txBody>
        </p:sp>
      </p:grpSp>
      <p:grpSp>
        <p:nvGrpSpPr>
          <p:cNvPr id="79" name="Group 34"/>
          <p:cNvGrpSpPr>
            <a:grpSpLocks/>
          </p:cNvGrpSpPr>
          <p:nvPr/>
        </p:nvGrpSpPr>
        <p:grpSpPr bwMode="auto">
          <a:xfrm>
            <a:off x="3667125" y="5562600"/>
            <a:ext cx="330200" cy="530225"/>
            <a:chOff x="2304" y="3552"/>
            <a:chExt cx="208" cy="334"/>
          </a:xfrm>
        </p:grpSpPr>
        <p:sp>
          <p:nvSpPr>
            <p:cNvPr id="39959" name="Oval 35"/>
            <p:cNvSpPr>
              <a:spLocks noChangeArrowheads="1"/>
            </p:cNvSpPr>
            <p:nvPr/>
          </p:nvSpPr>
          <p:spPr bwMode="auto">
            <a:xfrm>
              <a:off x="2360" y="3552"/>
              <a:ext cx="96" cy="144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9960" name="Text Box 36"/>
            <p:cNvSpPr txBox="1">
              <a:spLocks noChangeArrowheads="1"/>
            </p:cNvSpPr>
            <p:nvPr/>
          </p:nvSpPr>
          <p:spPr bwMode="auto">
            <a:xfrm>
              <a:off x="2304" y="3674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3300"/>
                  </a:solidFill>
                  <a:latin typeface="Times New Roman" pitchFamily="18" charset="0"/>
                </a:rPr>
                <a:t>O</a:t>
              </a:r>
            </a:p>
          </p:txBody>
        </p:sp>
      </p:grpSp>
      <p:grpSp>
        <p:nvGrpSpPr>
          <p:cNvPr id="82" name="Group 37"/>
          <p:cNvGrpSpPr>
            <a:grpSpLocks/>
          </p:cNvGrpSpPr>
          <p:nvPr/>
        </p:nvGrpSpPr>
        <p:grpSpPr bwMode="auto">
          <a:xfrm>
            <a:off x="3843338" y="5562600"/>
            <a:ext cx="330200" cy="530225"/>
            <a:chOff x="2400" y="3648"/>
            <a:chExt cx="208" cy="334"/>
          </a:xfrm>
        </p:grpSpPr>
        <p:sp>
          <p:nvSpPr>
            <p:cNvPr id="39957" name="Oval 38"/>
            <p:cNvSpPr>
              <a:spLocks noChangeArrowheads="1"/>
            </p:cNvSpPr>
            <p:nvPr/>
          </p:nvSpPr>
          <p:spPr bwMode="auto">
            <a:xfrm>
              <a:off x="2456" y="3648"/>
              <a:ext cx="96" cy="144"/>
            </a:xfrm>
            <a:prstGeom prst="ellips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39958" name="Text Box 39"/>
            <p:cNvSpPr txBox="1">
              <a:spLocks noChangeArrowheads="1"/>
            </p:cNvSpPr>
            <p:nvPr/>
          </p:nvSpPr>
          <p:spPr bwMode="auto">
            <a:xfrm>
              <a:off x="2400" y="3770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solidFill>
                    <a:srgbClr val="FF3300"/>
                  </a:solidFill>
                  <a:latin typeface="Times New Roman" pitchFamily="18" charset="0"/>
                </a:rPr>
                <a:t>U</a:t>
              </a:r>
            </a:p>
          </p:txBody>
        </p:sp>
      </p:grpSp>
      <p:sp>
        <p:nvSpPr>
          <p:cNvPr id="85" name="Oval 40"/>
          <p:cNvSpPr>
            <a:spLocks noChangeArrowheads="1"/>
          </p:cNvSpPr>
          <p:nvPr/>
        </p:nvSpPr>
        <p:spPr bwMode="auto">
          <a:xfrm>
            <a:off x="3559175" y="5265738"/>
            <a:ext cx="152400" cy="228600"/>
          </a:xfrm>
          <a:prstGeom prst="ellips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  <p:bldP spid="45" grpId="0"/>
      <p:bldP spid="46" grpId="0"/>
      <p:bldP spid="66" grpId="0" autoUpdateAnimBg="0"/>
      <p:bldP spid="85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1663"/>
            <a:ext cx="8458200" cy="685800"/>
          </a:xfrm>
        </p:spPr>
        <p:txBody>
          <a:bodyPr/>
          <a:lstStyle/>
          <a:p>
            <a:pPr eaLnBrk="1" hangingPunct="1">
              <a:defRPr/>
            </a:pPr>
            <a:r>
              <a:rPr lang="pt-BR"/>
              <a:t>Técnicas de Contagem</a:t>
            </a:r>
          </a:p>
        </p:txBody>
      </p:sp>
      <p:grpSp>
        <p:nvGrpSpPr>
          <p:cNvPr id="40963" name="Group 3"/>
          <p:cNvGrpSpPr>
            <a:grpSpLocks/>
          </p:cNvGrpSpPr>
          <p:nvPr/>
        </p:nvGrpSpPr>
        <p:grpSpPr bwMode="auto">
          <a:xfrm>
            <a:off x="914400" y="1447800"/>
            <a:ext cx="1447800" cy="1295400"/>
            <a:chOff x="576" y="912"/>
            <a:chExt cx="912" cy="816"/>
          </a:xfrm>
        </p:grpSpPr>
        <p:sp>
          <p:nvSpPr>
            <p:cNvPr id="40977" name="Rectangle 4"/>
            <p:cNvSpPr>
              <a:spLocks noChangeArrowheads="1"/>
            </p:cNvSpPr>
            <p:nvPr/>
          </p:nvSpPr>
          <p:spPr bwMode="auto">
            <a:xfrm>
              <a:off x="576" y="912"/>
              <a:ext cx="912" cy="81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0978" name="Text Box 5"/>
            <p:cNvSpPr txBox="1">
              <a:spLocks noChangeArrowheads="1"/>
            </p:cNvSpPr>
            <p:nvPr/>
          </p:nvSpPr>
          <p:spPr bwMode="auto">
            <a:xfrm>
              <a:off x="768" y="999"/>
              <a:ext cx="208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A</a:t>
              </a:r>
            </a:p>
          </p:txBody>
        </p:sp>
        <p:sp>
          <p:nvSpPr>
            <p:cNvPr id="40979" name="Text Box 6"/>
            <p:cNvSpPr txBox="1">
              <a:spLocks noChangeArrowheads="1"/>
            </p:cNvSpPr>
            <p:nvPr/>
          </p:nvSpPr>
          <p:spPr bwMode="auto">
            <a:xfrm>
              <a:off x="970" y="1198"/>
              <a:ext cx="202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lang="pt-BR" altLang="pt-BR" sz="1600">
                  <a:latin typeface="Times New Roman" pitchFamily="18" charset="0"/>
                </a:rPr>
                <a:t>C</a:t>
              </a:r>
            </a:p>
          </p:txBody>
        </p:sp>
      </p:grpSp>
      <p:sp>
        <p:nvSpPr>
          <p:cNvPr id="40964" name="Text Box 10"/>
          <p:cNvSpPr txBox="1">
            <a:spLocks noChangeArrowheads="1"/>
          </p:cNvSpPr>
          <p:nvPr/>
        </p:nvSpPr>
        <p:spPr bwMode="auto">
          <a:xfrm>
            <a:off x="2590800" y="1905000"/>
            <a:ext cx="6057043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Quantos grupos de 2 letras é possível formar com estas 5 letras?</a:t>
            </a:r>
          </a:p>
        </p:txBody>
      </p:sp>
      <p:sp>
        <p:nvSpPr>
          <p:cNvPr id="40965" name="Text Box 16"/>
          <p:cNvSpPr txBox="1">
            <a:spLocks noChangeArrowheads="1"/>
          </p:cNvSpPr>
          <p:nvPr/>
        </p:nvSpPr>
        <p:spPr bwMode="auto">
          <a:xfrm>
            <a:off x="1728788" y="2244725"/>
            <a:ext cx="309562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E</a:t>
            </a:r>
          </a:p>
        </p:txBody>
      </p:sp>
      <p:sp>
        <p:nvSpPr>
          <p:cNvPr id="40966" name="Text Box 19"/>
          <p:cNvSpPr txBox="1">
            <a:spLocks noChangeArrowheads="1"/>
          </p:cNvSpPr>
          <p:nvPr/>
        </p:nvSpPr>
        <p:spPr bwMode="auto">
          <a:xfrm>
            <a:off x="1889125" y="1603375"/>
            <a:ext cx="3302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B</a:t>
            </a:r>
          </a:p>
        </p:txBody>
      </p:sp>
      <p:sp>
        <p:nvSpPr>
          <p:cNvPr id="40967" name="Text Box 20"/>
          <p:cNvSpPr txBox="1">
            <a:spLocks noChangeArrowheads="1"/>
          </p:cNvSpPr>
          <p:nvPr/>
        </p:nvSpPr>
        <p:spPr bwMode="auto">
          <a:xfrm>
            <a:off x="1152525" y="2149475"/>
            <a:ext cx="33178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imes New Roman" pitchFamily="18" charset="0"/>
              </a:rPr>
              <a:t>D</a:t>
            </a:r>
          </a:p>
        </p:txBody>
      </p:sp>
      <p:sp>
        <p:nvSpPr>
          <p:cNvPr id="54293" name="Text Box 21"/>
          <p:cNvSpPr txBox="1">
            <a:spLocks noChangeArrowheads="1"/>
          </p:cNvSpPr>
          <p:nvPr/>
        </p:nvSpPr>
        <p:spPr bwMode="auto">
          <a:xfrm>
            <a:off x="914400" y="3048000"/>
            <a:ext cx="7102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>
                <a:latin typeface="Tahoma" panose="020B0604030504040204" pitchFamily="34" charset="0"/>
              </a:rPr>
              <a:t>A ordem é importante: </a:t>
            </a: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Arranjo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4A6C167B-1030-4D1F-9961-D7449C522AE9}" type="slidenum">
              <a:rPr lang="pt-BR"/>
              <a:pPr>
                <a:defRPr/>
              </a:pPr>
              <a:t>38</a:t>
            </a:fld>
            <a:endParaRPr lang="pt-BR"/>
          </a:p>
        </p:txBody>
      </p:sp>
      <p:sp>
        <p:nvSpPr>
          <p:cNvPr id="42" name="Text Box 21"/>
          <p:cNvSpPr txBox="1">
            <a:spLocks noChangeArrowheads="1"/>
          </p:cNvSpPr>
          <p:nvPr/>
        </p:nvSpPr>
        <p:spPr bwMode="auto">
          <a:xfrm>
            <a:off x="1095375" y="3406775"/>
            <a:ext cx="3370263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{AB, AC, AD, AE, BA, BC, ..., ED}</a:t>
            </a:r>
            <a:endParaRPr lang="pt-BR" altLang="pt-BR" sz="16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sp>
        <p:nvSpPr>
          <p:cNvPr id="46" name="Text Box 21"/>
          <p:cNvSpPr txBox="1">
            <a:spLocks noChangeArrowheads="1"/>
          </p:cNvSpPr>
          <p:nvPr/>
        </p:nvSpPr>
        <p:spPr bwMode="auto">
          <a:xfrm>
            <a:off x="914400" y="4616450"/>
            <a:ext cx="7102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95263" indent="-1952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</a:pPr>
            <a:r>
              <a:rPr lang="pt-BR" altLang="pt-BR" sz="1600">
                <a:latin typeface="Tahoma" panose="020B0604030504040204" pitchFamily="34" charset="0"/>
              </a:rPr>
              <a:t>A ordem não é importante: </a:t>
            </a: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Combinação</a:t>
            </a:r>
          </a:p>
        </p:txBody>
      </p:sp>
      <p:sp>
        <p:nvSpPr>
          <p:cNvPr id="47" name="Text Box 21"/>
          <p:cNvSpPr txBox="1">
            <a:spLocks noChangeArrowheads="1"/>
          </p:cNvSpPr>
          <p:nvPr/>
        </p:nvSpPr>
        <p:spPr bwMode="auto">
          <a:xfrm>
            <a:off x="1095375" y="4975225"/>
            <a:ext cx="3551238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{AB, AC, AD, AE, BC, BD, ..., DE}</a:t>
            </a:r>
            <a:endParaRPr lang="pt-BR" altLang="pt-BR" sz="1600">
              <a:solidFill>
                <a:srgbClr val="FF3300"/>
              </a:solidFill>
              <a:latin typeface="Tahoma" panose="020B0604030504040204" pitchFamily="34" charset="0"/>
            </a:endParaRPr>
          </a:p>
        </p:txBody>
      </p:sp>
      <p:graphicFrame>
        <p:nvGraphicFramePr>
          <p:cNvPr id="3" name="Objeto 2"/>
          <p:cNvGraphicFramePr>
            <a:graphicFrameLocks noChangeAspect="1"/>
          </p:cNvGraphicFramePr>
          <p:nvPr/>
        </p:nvGraphicFramePr>
        <p:xfrm>
          <a:off x="1138238" y="3860800"/>
          <a:ext cx="1711325" cy="598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93800" imgH="419100" progId="Equation.DSMT4">
                  <p:embed/>
                </p:oleObj>
              </mc:Choice>
              <mc:Fallback>
                <p:oleObj name="Equation" r:id="rId2" imgW="1193800" imgH="419100" progId="Equation.DSMT4">
                  <p:embed/>
                  <p:pic>
                    <p:nvPicPr>
                      <p:cNvPr id="3" name="Objeto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8238" y="3860800"/>
                        <a:ext cx="1711325" cy="598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Objeto 20"/>
          <p:cNvGraphicFramePr>
            <a:graphicFrameLocks noChangeAspect="1"/>
          </p:cNvGraphicFramePr>
          <p:nvPr/>
        </p:nvGraphicFramePr>
        <p:xfrm>
          <a:off x="2884488" y="3857625"/>
          <a:ext cx="1347787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39392" imgH="393529" progId="Equation.DSMT4">
                  <p:embed/>
                </p:oleObj>
              </mc:Choice>
              <mc:Fallback>
                <p:oleObj name="Equation" r:id="rId4" imgW="939392" imgH="393529" progId="Equation.DSMT4">
                  <p:embed/>
                  <p:pic>
                    <p:nvPicPr>
                      <p:cNvPr id="21" name="Objeto 2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84488" y="3857625"/>
                        <a:ext cx="1347787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Objeto 21"/>
          <p:cNvGraphicFramePr>
            <a:graphicFrameLocks noChangeAspect="1"/>
          </p:cNvGraphicFramePr>
          <p:nvPr/>
        </p:nvGraphicFramePr>
        <p:xfrm>
          <a:off x="1131888" y="5519738"/>
          <a:ext cx="1912937" cy="598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33500" imgH="419100" progId="Equation.DSMT4">
                  <p:embed/>
                </p:oleObj>
              </mc:Choice>
              <mc:Fallback>
                <p:oleObj name="Equation" r:id="rId6" imgW="1333500" imgH="419100" progId="Equation.DSMT4">
                  <p:embed/>
                  <p:pic>
                    <p:nvPicPr>
                      <p:cNvPr id="22" name="Objeto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1888" y="5519738"/>
                        <a:ext cx="1912937" cy="598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Objeto 22"/>
          <p:cNvGraphicFramePr>
            <a:graphicFrameLocks noChangeAspect="1"/>
          </p:cNvGraphicFramePr>
          <p:nvPr/>
        </p:nvGraphicFramePr>
        <p:xfrm>
          <a:off x="3062288" y="5516563"/>
          <a:ext cx="1038225" cy="5619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23586" imgH="393529" progId="Equation.DSMT4">
                  <p:embed/>
                </p:oleObj>
              </mc:Choice>
              <mc:Fallback>
                <p:oleObj name="Equation" r:id="rId8" imgW="723586" imgH="393529" progId="Equation.DSMT4">
                  <p:embed/>
                  <p:pic>
                    <p:nvPicPr>
                      <p:cNvPr id="23" name="Objeto 2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2288" y="5516563"/>
                        <a:ext cx="1038225" cy="5619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4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293" grpId="0" autoUpdateAnimBg="0"/>
      <p:bldP spid="42" grpId="0" autoUpdateAnimBg="0"/>
      <p:bldP spid="46" grpId="0" autoUpdateAnimBg="0"/>
      <p:bldP spid="47" grpId="0" autoUpdateAnimBg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sp>
        <p:nvSpPr>
          <p:cNvPr id="41987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1024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2)</a:t>
            </a:r>
            <a:r>
              <a:rPr lang="pt-BR" altLang="pt-BR" sz="1600">
                <a:latin typeface="Tahoma" panose="020B0604030504040204" pitchFamily="34" charset="0"/>
              </a:rPr>
              <a:t> </a:t>
            </a:r>
          </a:p>
        </p:txBody>
      </p:sp>
      <p:grpSp>
        <p:nvGrpSpPr>
          <p:cNvPr id="41988" name="Group 4"/>
          <p:cNvGrpSpPr>
            <a:grpSpLocks/>
          </p:cNvGrpSpPr>
          <p:nvPr/>
        </p:nvGrpSpPr>
        <p:grpSpPr bwMode="auto">
          <a:xfrm>
            <a:off x="1619250" y="2276475"/>
            <a:ext cx="1152525" cy="1582738"/>
            <a:chOff x="2562" y="1344"/>
            <a:chExt cx="726" cy="997"/>
          </a:xfrm>
        </p:grpSpPr>
        <p:sp>
          <p:nvSpPr>
            <p:cNvPr id="42004" name="Freeform 5"/>
            <p:cNvSpPr>
              <a:spLocks/>
            </p:cNvSpPr>
            <p:nvPr/>
          </p:nvSpPr>
          <p:spPr bwMode="auto">
            <a:xfrm>
              <a:off x="2562" y="1344"/>
              <a:ext cx="726" cy="997"/>
            </a:xfrm>
            <a:custGeom>
              <a:avLst/>
              <a:gdLst>
                <a:gd name="T0" fmla="*/ 0 w 499"/>
                <a:gd name="T1" fmla="*/ 0 h 725"/>
                <a:gd name="T2" fmla="*/ 0 w 499"/>
                <a:gd name="T3" fmla="*/ 118541 h 725"/>
                <a:gd name="T4" fmla="*/ 201044 w 499"/>
                <a:gd name="T5" fmla="*/ 118541 h 725"/>
                <a:gd name="T6" fmla="*/ 201044 w 499"/>
                <a:gd name="T7" fmla="*/ 0 h 72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499"/>
                <a:gd name="T13" fmla="*/ 0 h 725"/>
                <a:gd name="T14" fmla="*/ 499 w 499"/>
                <a:gd name="T15" fmla="*/ 725 h 72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499" h="725">
                  <a:moveTo>
                    <a:pt x="0" y="0"/>
                  </a:moveTo>
                  <a:lnTo>
                    <a:pt x="0" y="725"/>
                  </a:lnTo>
                  <a:lnTo>
                    <a:pt x="499" y="725"/>
                  </a:lnTo>
                  <a:lnTo>
                    <a:pt x="49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42005" name="Oval 6"/>
            <p:cNvSpPr>
              <a:spLocks noChangeArrowheads="1"/>
            </p:cNvSpPr>
            <p:nvPr/>
          </p:nvSpPr>
          <p:spPr bwMode="auto">
            <a:xfrm>
              <a:off x="2653" y="13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2006" name="Oval 7"/>
            <p:cNvSpPr>
              <a:spLocks noChangeArrowheads="1"/>
            </p:cNvSpPr>
            <p:nvPr/>
          </p:nvSpPr>
          <p:spPr bwMode="auto">
            <a:xfrm>
              <a:off x="2925" y="138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2007" name="Oval 8"/>
            <p:cNvSpPr>
              <a:spLocks noChangeArrowheads="1"/>
            </p:cNvSpPr>
            <p:nvPr/>
          </p:nvSpPr>
          <p:spPr bwMode="auto">
            <a:xfrm>
              <a:off x="3061" y="206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2008" name="Oval 9"/>
            <p:cNvSpPr>
              <a:spLocks noChangeArrowheads="1"/>
            </p:cNvSpPr>
            <p:nvPr/>
          </p:nvSpPr>
          <p:spPr bwMode="auto">
            <a:xfrm>
              <a:off x="2835" y="1842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2009" name="Oval 10"/>
            <p:cNvSpPr>
              <a:spLocks noChangeArrowheads="1"/>
            </p:cNvSpPr>
            <p:nvPr/>
          </p:nvSpPr>
          <p:spPr bwMode="auto">
            <a:xfrm>
              <a:off x="2653" y="1616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2010" name="Oval 11"/>
            <p:cNvSpPr>
              <a:spLocks noChangeArrowheads="1"/>
            </p:cNvSpPr>
            <p:nvPr/>
          </p:nvSpPr>
          <p:spPr bwMode="auto">
            <a:xfrm>
              <a:off x="3080" y="1539"/>
              <a:ext cx="181" cy="182"/>
            </a:xfrm>
            <a:prstGeom prst="ellipse">
              <a:avLst/>
            </a:prstGeom>
            <a:solidFill>
              <a:srgbClr val="FF3300"/>
            </a:solidFill>
            <a:ln w="9525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2011" name="Oval 12"/>
            <p:cNvSpPr>
              <a:spLocks noChangeArrowheads="1"/>
            </p:cNvSpPr>
            <p:nvPr/>
          </p:nvSpPr>
          <p:spPr bwMode="auto">
            <a:xfrm>
              <a:off x="2607" y="1889"/>
              <a:ext cx="181" cy="182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2012" name="Oval 13"/>
            <p:cNvSpPr>
              <a:spLocks noChangeArrowheads="1"/>
            </p:cNvSpPr>
            <p:nvPr/>
          </p:nvSpPr>
          <p:spPr bwMode="auto">
            <a:xfrm>
              <a:off x="2880" y="1616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2013" name="Oval 14"/>
            <p:cNvSpPr>
              <a:spLocks noChangeArrowheads="1"/>
            </p:cNvSpPr>
            <p:nvPr/>
          </p:nvSpPr>
          <p:spPr bwMode="auto">
            <a:xfrm>
              <a:off x="3061" y="1797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2014" name="Oval 15"/>
            <p:cNvSpPr>
              <a:spLocks noChangeArrowheads="1"/>
            </p:cNvSpPr>
            <p:nvPr/>
          </p:nvSpPr>
          <p:spPr bwMode="auto">
            <a:xfrm>
              <a:off x="2608" y="2115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2015" name="Oval 16"/>
            <p:cNvSpPr>
              <a:spLocks noChangeArrowheads="1"/>
            </p:cNvSpPr>
            <p:nvPr/>
          </p:nvSpPr>
          <p:spPr bwMode="auto">
            <a:xfrm>
              <a:off x="2835" y="2069"/>
              <a:ext cx="181" cy="18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41989" name="Group 17"/>
          <p:cNvGrpSpPr>
            <a:grpSpLocks/>
          </p:cNvGrpSpPr>
          <p:nvPr/>
        </p:nvGrpSpPr>
        <p:grpSpPr bwMode="auto">
          <a:xfrm>
            <a:off x="1979613" y="2203450"/>
            <a:ext cx="3667125" cy="935038"/>
            <a:chOff x="2744" y="1345"/>
            <a:chExt cx="2310" cy="589"/>
          </a:xfrm>
        </p:grpSpPr>
        <p:cxnSp>
          <p:nvCxnSpPr>
            <p:cNvPr id="41998" name="AutoShape 18"/>
            <p:cNvCxnSpPr>
              <a:cxnSpLocks noChangeShapeType="1"/>
            </p:cNvCxnSpPr>
            <p:nvPr/>
          </p:nvCxnSpPr>
          <p:spPr bwMode="auto">
            <a:xfrm rot="5400000" flipV="1">
              <a:off x="3032" y="1057"/>
              <a:ext cx="416" cy="992"/>
            </a:xfrm>
            <a:prstGeom prst="curvedConnector3">
              <a:avLst>
                <a:gd name="adj1" fmla="val -34616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1999" name="Line 19"/>
            <p:cNvSpPr>
              <a:spLocks noChangeShapeType="1"/>
            </p:cNvSpPr>
            <p:nvPr/>
          </p:nvSpPr>
          <p:spPr bwMode="auto">
            <a:xfrm>
              <a:off x="3726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42000" name="Line 20"/>
            <p:cNvSpPr>
              <a:spLocks noChangeShapeType="1"/>
            </p:cNvSpPr>
            <p:nvPr/>
          </p:nvSpPr>
          <p:spPr bwMode="auto">
            <a:xfrm>
              <a:off x="4078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42001" name="Line 21"/>
            <p:cNvSpPr>
              <a:spLocks noChangeShapeType="1"/>
            </p:cNvSpPr>
            <p:nvPr/>
          </p:nvSpPr>
          <p:spPr bwMode="auto">
            <a:xfrm>
              <a:off x="4430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42002" name="Line 22"/>
            <p:cNvSpPr>
              <a:spLocks noChangeShapeType="1"/>
            </p:cNvSpPr>
            <p:nvPr/>
          </p:nvSpPr>
          <p:spPr bwMode="auto">
            <a:xfrm>
              <a:off x="4782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42003" name="Line 23"/>
            <p:cNvSpPr>
              <a:spLocks noChangeShapeType="1"/>
            </p:cNvSpPr>
            <p:nvPr/>
          </p:nvSpPr>
          <p:spPr bwMode="auto">
            <a:xfrm>
              <a:off x="3375" y="1934"/>
              <a:ext cx="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</p:grpSp>
      <p:sp>
        <p:nvSpPr>
          <p:cNvPr id="41990" name="Text Box 24"/>
          <p:cNvSpPr txBox="1">
            <a:spLocks noChangeArrowheads="1"/>
          </p:cNvSpPr>
          <p:nvPr/>
        </p:nvSpPr>
        <p:spPr bwMode="auto">
          <a:xfrm>
            <a:off x="5867400" y="2133600"/>
            <a:ext cx="2252663" cy="1069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Qual a probabilidade de escolher exatamente 3 objetos vermelhos?</a:t>
            </a:r>
          </a:p>
        </p:txBody>
      </p:sp>
      <p:graphicFrame>
        <p:nvGraphicFramePr>
          <p:cNvPr id="41991" name="Object 25"/>
          <p:cNvGraphicFramePr>
            <a:graphicFrameLocks noChangeAspect="1"/>
          </p:cNvGraphicFramePr>
          <p:nvPr/>
        </p:nvGraphicFramePr>
        <p:xfrm>
          <a:off x="2843213" y="4005263"/>
          <a:ext cx="3271837" cy="25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86000" imgH="177800" progId="Equation.DSMT4">
                  <p:embed/>
                </p:oleObj>
              </mc:Choice>
              <mc:Fallback>
                <p:oleObj name="Equation" r:id="rId2" imgW="2286000" imgH="177800" progId="Equation.DSMT4">
                  <p:embed/>
                  <p:pic>
                    <p:nvPicPr>
                      <p:cNvPr id="41991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213" y="4005263"/>
                        <a:ext cx="3271837" cy="254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1992" name="Object 26"/>
          <p:cNvGraphicFramePr>
            <a:graphicFrameLocks noChangeAspect="1"/>
          </p:cNvGraphicFramePr>
          <p:nvPr/>
        </p:nvGraphicFramePr>
        <p:xfrm>
          <a:off x="1331913" y="4437063"/>
          <a:ext cx="6597650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610100" imgH="228600" progId="Equation.DSMT4">
                  <p:embed/>
                </p:oleObj>
              </mc:Choice>
              <mc:Fallback>
                <p:oleObj name="Equation" r:id="rId4" imgW="4610100" imgH="228600" progId="Equation.DSMT4">
                  <p:embed/>
                  <p:pic>
                    <p:nvPicPr>
                      <p:cNvPr id="41992" name="Object 2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4437063"/>
                        <a:ext cx="6597650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993" name="AutoShape 28"/>
          <p:cNvSpPr>
            <a:spLocks/>
          </p:cNvSpPr>
          <p:nvPr/>
        </p:nvSpPr>
        <p:spPr bwMode="auto">
          <a:xfrm rot="-5400000">
            <a:off x="5220494" y="2420144"/>
            <a:ext cx="287338" cy="5041900"/>
          </a:xfrm>
          <a:prstGeom prst="leftBrace">
            <a:avLst>
              <a:gd name="adj1" fmla="val 146224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graphicFrame>
        <p:nvGraphicFramePr>
          <p:cNvPr id="86046" name="Object 30"/>
          <p:cNvGraphicFramePr>
            <a:graphicFrameLocks noChangeAspect="1"/>
          </p:cNvGraphicFramePr>
          <p:nvPr/>
        </p:nvGraphicFramePr>
        <p:xfrm>
          <a:off x="1274763" y="5876925"/>
          <a:ext cx="2997200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95500" imgH="393700" progId="Equation.DSMT4">
                  <p:embed/>
                </p:oleObj>
              </mc:Choice>
              <mc:Fallback>
                <p:oleObj name="Equation" r:id="rId6" imgW="2095500" imgH="393700" progId="Equation.DSMT4">
                  <p:embed/>
                  <p:pic>
                    <p:nvPicPr>
                      <p:cNvPr id="8604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4763" y="5876925"/>
                        <a:ext cx="2997200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49" name="Object 33"/>
          <p:cNvGraphicFramePr>
            <a:graphicFrameLocks noChangeAspect="1"/>
          </p:cNvGraphicFramePr>
          <p:nvPr/>
        </p:nvGraphicFramePr>
        <p:xfrm>
          <a:off x="5148263" y="5157788"/>
          <a:ext cx="454025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17225" imgH="393359" progId="Equation.DSMT4">
                  <p:embed/>
                </p:oleObj>
              </mc:Choice>
              <mc:Fallback>
                <p:oleObj name="Equation" r:id="rId8" imgW="317225" imgH="393359" progId="Equation.DSMT4">
                  <p:embed/>
                  <p:pic>
                    <p:nvPicPr>
                      <p:cNvPr id="8604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5157788"/>
                        <a:ext cx="454025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6050" name="Object 34"/>
          <p:cNvGraphicFramePr>
            <a:graphicFrameLocks noChangeAspect="1"/>
          </p:cNvGraphicFramePr>
          <p:nvPr/>
        </p:nvGraphicFramePr>
        <p:xfrm>
          <a:off x="5707063" y="5118100"/>
          <a:ext cx="1090612" cy="654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762000" imgH="457200" progId="Equation.DSMT4">
                  <p:embed/>
                </p:oleObj>
              </mc:Choice>
              <mc:Fallback>
                <p:oleObj name="Equation" r:id="rId10" imgW="762000" imgH="457200" progId="Equation.DSMT4">
                  <p:embed/>
                  <p:pic>
                    <p:nvPicPr>
                      <p:cNvPr id="8605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063" y="5118100"/>
                        <a:ext cx="1090612" cy="654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86B16FB-FD9D-4CE0-A008-D2448BCECF68}" type="slidenum">
              <a:rPr lang="pt-BR"/>
              <a:pPr>
                <a:defRPr/>
              </a:pPr>
              <a:t>39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sp>
        <p:nvSpPr>
          <p:cNvPr id="43011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1024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3)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</a:p>
        </p:txBody>
      </p:sp>
      <p:grpSp>
        <p:nvGrpSpPr>
          <p:cNvPr id="43012" name="Group 4"/>
          <p:cNvGrpSpPr>
            <a:grpSpLocks/>
          </p:cNvGrpSpPr>
          <p:nvPr/>
        </p:nvGrpSpPr>
        <p:grpSpPr bwMode="auto">
          <a:xfrm>
            <a:off x="2209800" y="2514600"/>
            <a:ext cx="990600" cy="1371600"/>
            <a:chOff x="1104" y="1776"/>
            <a:chExt cx="624" cy="864"/>
          </a:xfrm>
        </p:grpSpPr>
        <p:sp>
          <p:nvSpPr>
            <p:cNvPr id="43039" name="Freeform 5"/>
            <p:cNvSpPr>
              <a:spLocks/>
            </p:cNvSpPr>
            <p:nvPr/>
          </p:nvSpPr>
          <p:spPr bwMode="auto">
            <a:xfrm>
              <a:off x="1104" y="1776"/>
              <a:ext cx="624" cy="864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179 h 960"/>
                <a:gd name="T4" fmla="*/ 624 w 624"/>
                <a:gd name="T5" fmla="*/ 179 h 960"/>
                <a:gd name="T6" fmla="*/ 624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43040" name="Oval 6"/>
            <p:cNvSpPr>
              <a:spLocks noChangeArrowheads="1"/>
            </p:cNvSpPr>
            <p:nvPr/>
          </p:nvSpPr>
          <p:spPr bwMode="auto">
            <a:xfrm>
              <a:off x="1200" y="1776"/>
              <a:ext cx="192" cy="19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3041" name="Oval 7"/>
            <p:cNvSpPr>
              <a:spLocks noChangeArrowheads="1"/>
            </p:cNvSpPr>
            <p:nvPr/>
          </p:nvSpPr>
          <p:spPr bwMode="auto">
            <a:xfrm>
              <a:off x="1440" y="1872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3042" name="Oval 8"/>
            <p:cNvSpPr>
              <a:spLocks noChangeArrowheads="1"/>
            </p:cNvSpPr>
            <p:nvPr/>
          </p:nvSpPr>
          <p:spPr bwMode="auto">
            <a:xfrm>
              <a:off x="1200" y="2064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3043" name="Oval 9"/>
            <p:cNvSpPr>
              <a:spLocks noChangeArrowheads="1"/>
            </p:cNvSpPr>
            <p:nvPr/>
          </p:nvSpPr>
          <p:spPr bwMode="auto">
            <a:xfrm>
              <a:off x="1440" y="216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3044" name="Oval 10"/>
            <p:cNvSpPr>
              <a:spLocks noChangeArrowheads="1"/>
            </p:cNvSpPr>
            <p:nvPr/>
          </p:nvSpPr>
          <p:spPr bwMode="auto">
            <a:xfrm>
              <a:off x="1200" y="2352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3045" name="Oval 11"/>
            <p:cNvSpPr>
              <a:spLocks noChangeArrowheads="1"/>
            </p:cNvSpPr>
            <p:nvPr/>
          </p:nvSpPr>
          <p:spPr bwMode="auto">
            <a:xfrm>
              <a:off x="1488" y="240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3046" name="Rectangle 12"/>
            <p:cNvSpPr>
              <a:spLocks noChangeArrowheads="1"/>
            </p:cNvSpPr>
            <p:nvPr/>
          </p:nvSpPr>
          <p:spPr bwMode="auto">
            <a:xfrm>
              <a:off x="1344" y="1776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3" name="Group 13"/>
          <p:cNvGrpSpPr>
            <a:grpSpLocks/>
          </p:cNvGrpSpPr>
          <p:nvPr/>
        </p:nvGrpSpPr>
        <p:grpSpPr bwMode="auto">
          <a:xfrm>
            <a:off x="2705100" y="2514600"/>
            <a:ext cx="1714500" cy="381000"/>
            <a:chOff x="1656" y="2160"/>
            <a:chExt cx="1080" cy="240"/>
          </a:xfrm>
        </p:grpSpPr>
        <p:cxnSp>
          <p:nvCxnSpPr>
            <p:cNvPr id="43037" name="AutoShape 14"/>
            <p:cNvCxnSpPr>
              <a:cxnSpLocks noChangeShapeType="1"/>
              <a:stCxn id="43046" idx="0"/>
              <a:endCxn id="43038" idx="0"/>
            </p:cNvCxnSpPr>
            <p:nvPr/>
          </p:nvCxnSpPr>
          <p:spPr bwMode="auto">
            <a:xfrm rot="5400000" flipV="1">
              <a:off x="2124" y="1692"/>
              <a:ext cx="48" cy="984"/>
            </a:xfrm>
            <a:prstGeom prst="curvedConnector3">
              <a:avLst>
                <a:gd name="adj1" fmla="val -300000"/>
              </a:avLst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3038" name="Oval 15"/>
            <p:cNvSpPr>
              <a:spLocks noChangeArrowheads="1"/>
            </p:cNvSpPr>
            <p:nvPr/>
          </p:nvSpPr>
          <p:spPr bwMode="auto">
            <a:xfrm>
              <a:off x="2544" y="2208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4" name="Group 16"/>
          <p:cNvGrpSpPr>
            <a:grpSpLocks/>
          </p:cNvGrpSpPr>
          <p:nvPr/>
        </p:nvGrpSpPr>
        <p:grpSpPr bwMode="auto">
          <a:xfrm>
            <a:off x="5715000" y="3276600"/>
            <a:ext cx="685800" cy="304800"/>
            <a:chOff x="2569" y="1536"/>
            <a:chExt cx="432" cy="192"/>
          </a:xfrm>
        </p:grpSpPr>
        <p:sp>
          <p:nvSpPr>
            <p:cNvPr id="43035" name="Oval 17"/>
            <p:cNvSpPr>
              <a:spLocks noChangeArrowheads="1"/>
            </p:cNvSpPr>
            <p:nvPr/>
          </p:nvSpPr>
          <p:spPr bwMode="auto">
            <a:xfrm>
              <a:off x="2569" y="15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3036" name="Oval 18"/>
            <p:cNvSpPr>
              <a:spLocks noChangeArrowheads="1"/>
            </p:cNvSpPr>
            <p:nvPr/>
          </p:nvSpPr>
          <p:spPr bwMode="auto">
            <a:xfrm>
              <a:off x="2809" y="15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sp>
        <p:nvSpPr>
          <p:cNvPr id="64531" name="Oval 19"/>
          <p:cNvSpPr>
            <a:spLocks noChangeArrowheads="1"/>
          </p:cNvSpPr>
          <p:nvPr/>
        </p:nvSpPr>
        <p:spPr bwMode="auto">
          <a:xfrm>
            <a:off x="4113213" y="2590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cxnSp>
        <p:nvCxnSpPr>
          <p:cNvPr id="64532" name="AutoShape 20"/>
          <p:cNvCxnSpPr>
            <a:cxnSpLocks noChangeShapeType="1"/>
            <a:stCxn id="43029" idx="0"/>
            <a:endCxn id="43017" idx="0"/>
          </p:cNvCxnSpPr>
          <p:nvPr/>
        </p:nvCxnSpPr>
        <p:spPr bwMode="auto">
          <a:xfrm rot="5400000" flipV="1">
            <a:off x="4940300" y="2082800"/>
            <a:ext cx="660400" cy="1574800"/>
          </a:xfrm>
          <a:prstGeom prst="curvedConnector3">
            <a:avLst>
              <a:gd name="adj1" fmla="val -3461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3017" name="Rectangle 21"/>
          <p:cNvSpPr>
            <a:spLocks noChangeArrowheads="1"/>
          </p:cNvSpPr>
          <p:nvPr/>
        </p:nvSpPr>
        <p:spPr bwMode="auto">
          <a:xfrm>
            <a:off x="5943600" y="32004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grpSp>
        <p:nvGrpSpPr>
          <p:cNvPr id="43018" name="Group 22"/>
          <p:cNvGrpSpPr>
            <a:grpSpLocks/>
          </p:cNvGrpSpPr>
          <p:nvPr/>
        </p:nvGrpSpPr>
        <p:grpSpPr bwMode="auto">
          <a:xfrm>
            <a:off x="3962400" y="2514600"/>
            <a:ext cx="990600" cy="1371600"/>
            <a:chOff x="2448" y="2160"/>
            <a:chExt cx="624" cy="864"/>
          </a:xfrm>
        </p:grpSpPr>
        <p:grpSp>
          <p:nvGrpSpPr>
            <p:cNvPr id="43028" name="Group 23"/>
            <p:cNvGrpSpPr>
              <a:grpSpLocks/>
            </p:cNvGrpSpPr>
            <p:nvPr/>
          </p:nvGrpSpPr>
          <p:grpSpPr bwMode="auto">
            <a:xfrm>
              <a:off x="2448" y="2160"/>
              <a:ext cx="624" cy="864"/>
              <a:chOff x="2448" y="2160"/>
              <a:chExt cx="624" cy="864"/>
            </a:xfrm>
          </p:grpSpPr>
          <p:sp>
            <p:nvSpPr>
              <p:cNvPr id="43030" name="Freeform 24"/>
              <p:cNvSpPr>
                <a:spLocks/>
              </p:cNvSpPr>
              <p:nvPr/>
            </p:nvSpPr>
            <p:spPr bwMode="auto">
              <a:xfrm>
                <a:off x="2448" y="2160"/>
                <a:ext cx="624" cy="864"/>
              </a:xfrm>
              <a:custGeom>
                <a:avLst/>
                <a:gdLst>
                  <a:gd name="T0" fmla="*/ 0 w 624"/>
                  <a:gd name="T1" fmla="*/ 0 h 960"/>
                  <a:gd name="T2" fmla="*/ 0 w 624"/>
                  <a:gd name="T3" fmla="*/ 179 h 960"/>
                  <a:gd name="T4" fmla="*/ 624 w 624"/>
                  <a:gd name="T5" fmla="*/ 179 h 960"/>
                  <a:gd name="T6" fmla="*/ 624 w 624"/>
                  <a:gd name="T7" fmla="*/ 0 h 9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4"/>
                  <a:gd name="T13" fmla="*/ 0 h 960"/>
                  <a:gd name="T14" fmla="*/ 624 w 624"/>
                  <a:gd name="T15" fmla="*/ 960 h 9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4" h="960">
                    <a:moveTo>
                      <a:pt x="0" y="0"/>
                    </a:moveTo>
                    <a:lnTo>
                      <a:pt x="0" y="960"/>
                    </a:lnTo>
                    <a:lnTo>
                      <a:pt x="624" y="960"/>
                    </a:lnTo>
                    <a:lnTo>
                      <a:pt x="62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>
                  <a:latin typeface="Tahoma" panose="020B0604030504040204" pitchFamily="34" charset="0"/>
                </a:endParaRPr>
              </a:p>
            </p:txBody>
          </p:sp>
          <p:sp>
            <p:nvSpPr>
              <p:cNvPr id="43031" name="Oval 25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192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3032" name="Oval 26"/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3033" name="Oval 27"/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192" cy="19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3034" name="Oval 28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3029" name="Rectangle 29"/>
            <p:cNvSpPr>
              <a:spLocks noChangeArrowheads="1"/>
            </p:cNvSpPr>
            <p:nvPr/>
          </p:nvSpPr>
          <p:spPr bwMode="auto">
            <a:xfrm>
              <a:off x="2704" y="2176"/>
              <a:ext cx="1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sp>
        <p:nvSpPr>
          <p:cNvPr id="43019" name="Text Box 30"/>
          <p:cNvSpPr txBox="1">
            <a:spLocks noChangeArrowheads="1"/>
          </p:cNvSpPr>
          <p:nvPr/>
        </p:nvSpPr>
        <p:spPr bwMode="auto">
          <a:xfrm>
            <a:off x="2512951" y="3951288"/>
            <a:ext cx="30809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43020" name="Text Box 31"/>
          <p:cNvSpPr txBox="1">
            <a:spLocks noChangeArrowheads="1"/>
          </p:cNvSpPr>
          <p:nvPr/>
        </p:nvSpPr>
        <p:spPr bwMode="auto">
          <a:xfrm>
            <a:off x="4264025" y="3951288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64544" name="Text Box 32"/>
          <p:cNvSpPr txBox="1">
            <a:spLocks noChangeArrowheads="1"/>
          </p:cNvSpPr>
          <p:nvPr/>
        </p:nvSpPr>
        <p:spPr bwMode="auto">
          <a:xfrm>
            <a:off x="5241925" y="3798888"/>
            <a:ext cx="32924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Qual a probabilidade que ambas sejam da mesma cor?</a:t>
            </a:r>
          </a:p>
        </p:txBody>
      </p:sp>
      <p:graphicFrame>
        <p:nvGraphicFramePr>
          <p:cNvPr id="64545" name="Object 33"/>
          <p:cNvGraphicFramePr>
            <a:graphicFrameLocks noChangeAspect="1"/>
          </p:cNvGraphicFramePr>
          <p:nvPr/>
        </p:nvGraphicFramePr>
        <p:xfrm>
          <a:off x="1762125" y="4495800"/>
          <a:ext cx="345281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13000" imgH="228600" progId="Equation.DSMT4">
                  <p:embed/>
                </p:oleObj>
              </mc:Choice>
              <mc:Fallback>
                <p:oleObj name="Equation" r:id="rId2" imgW="2413000" imgH="228600" progId="Equation.DSMT4">
                  <p:embed/>
                  <p:pic>
                    <p:nvPicPr>
                      <p:cNvPr id="64545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4495800"/>
                        <a:ext cx="3452813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546" name="Object 34"/>
          <p:cNvGraphicFramePr>
            <a:graphicFrameLocks noChangeAspect="1"/>
          </p:cNvGraphicFramePr>
          <p:nvPr/>
        </p:nvGraphicFramePr>
        <p:xfrm>
          <a:off x="1762125" y="4902200"/>
          <a:ext cx="41243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82900" imgH="228600" progId="Equation.DSMT4">
                  <p:embed/>
                </p:oleObj>
              </mc:Choice>
              <mc:Fallback>
                <p:oleObj name="Equation" r:id="rId4" imgW="2882900" imgH="228600" progId="Equation.DSMT4">
                  <p:embed/>
                  <p:pic>
                    <p:nvPicPr>
                      <p:cNvPr id="64546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4902200"/>
                        <a:ext cx="41243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547" name="Text Box 35"/>
          <p:cNvSpPr txBox="1">
            <a:spLocks noChangeArrowheads="1"/>
          </p:cNvSpPr>
          <p:nvPr/>
        </p:nvSpPr>
        <p:spPr bwMode="auto">
          <a:xfrm>
            <a:off x="7256463" y="5284788"/>
            <a:ext cx="478016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solidFill>
                  <a:srgbClr val="FF3300"/>
                </a:solidFill>
                <a:latin typeface="Tahoma" panose="020B0604030504040204" pitchFamily="34" charset="0"/>
              </a:rPr>
              <a:t>???</a:t>
            </a:r>
          </a:p>
        </p:txBody>
      </p:sp>
      <p:graphicFrame>
        <p:nvGraphicFramePr>
          <p:cNvPr id="64548" name="Object 36"/>
          <p:cNvGraphicFramePr>
            <a:graphicFrameLocks noChangeAspect="1"/>
          </p:cNvGraphicFramePr>
          <p:nvPr/>
        </p:nvGraphicFramePr>
        <p:xfrm>
          <a:off x="1762125" y="5308600"/>
          <a:ext cx="532447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21100" imgH="228600" progId="Equation.DSMT4">
                  <p:embed/>
                </p:oleObj>
              </mc:Choice>
              <mc:Fallback>
                <p:oleObj name="Equation" r:id="rId6" imgW="3721100" imgH="228600" progId="Equation.DSMT4">
                  <p:embed/>
                  <p:pic>
                    <p:nvPicPr>
                      <p:cNvPr id="64548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2125" y="5308600"/>
                        <a:ext cx="532447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D4221347-59B3-4A16-B3B1-7200A613D506}" type="slidenum">
              <a:rPr lang="pt-BR"/>
              <a:pPr>
                <a:defRPr/>
              </a:pPr>
              <a:t>40</a:t>
            </a:fld>
            <a:endParaRPr lang="pt-BR"/>
          </a:p>
        </p:txBody>
      </p:sp>
      <p:sp>
        <p:nvSpPr>
          <p:cNvPr id="38" name="Text Box 32"/>
          <p:cNvSpPr txBox="1">
            <a:spLocks noChangeArrowheads="1"/>
          </p:cNvSpPr>
          <p:nvPr/>
        </p:nvSpPr>
        <p:spPr bwMode="auto">
          <a:xfrm>
            <a:off x="6459538" y="3271838"/>
            <a:ext cx="18732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(sem reposição)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4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531" grpId="0" animBg="1"/>
      <p:bldP spid="64544" grpId="0" autoUpdateAnimBg="0"/>
      <p:bldP spid="64547" grpId="0" autoUpdateAnimBg="0"/>
      <p:bldP spid="38" grpId="0" autoUpdateAnimBg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44035" name="Group 4"/>
          <p:cNvGrpSpPr>
            <a:grpSpLocks/>
          </p:cNvGrpSpPr>
          <p:nvPr/>
        </p:nvGrpSpPr>
        <p:grpSpPr bwMode="auto">
          <a:xfrm>
            <a:off x="2209800" y="2514600"/>
            <a:ext cx="990600" cy="1371600"/>
            <a:chOff x="1104" y="1776"/>
            <a:chExt cx="624" cy="864"/>
          </a:xfrm>
        </p:grpSpPr>
        <p:sp>
          <p:nvSpPr>
            <p:cNvPr id="44059" name="Freeform 5"/>
            <p:cNvSpPr>
              <a:spLocks/>
            </p:cNvSpPr>
            <p:nvPr/>
          </p:nvSpPr>
          <p:spPr bwMode="auto">
            <a:xfrm>
              <a:off x="1104" y="1776"/>
              <a:ext cx="624" cy="864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179 h 960"/>
                <a:gd name="T4" fmla="*/ 624 w 624"/>
                <a:gd name="T5" fmla="*/ 179 h 960"/>
                <a:gd name="T6" fmla="*/ 624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44060" name="Oval 6"/>
            <p:cNvSpPr>
              <a:spLocks noChangeArrowheads="1"/>
            </p:cNvSpPr>
            <p:nvPr/>
          </p:nvSpPr>
          <p:spPr bwMode="auto">
            <a:xfrm>
              <a:off x="1200" y="1776"/>
              <a:ext cx="192" cy="19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4061" name="Oval 7"/>
            <p:cNvSpPr>
              <a:spLocks noChangeArrowheads="1"/>
            </p:cNvSpPr>
            <p:nvPr/>
          </p:nvSpPr>
          <p:spPr bwMode="auto">
            <a:xfrm>
              <a:off x="1440" y="1872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4062" name="Oval 8"/>
            <p:cNvSpPr>
              <a:spLocks noChangeArrowheads="1"/>
            </p:cNvSpPr>
            <p:nvPr/>
          </p:nvSpPr>
          <p:spPr bwMode="auto">
            <a:xfrm>
              <a:off x="1200" y="2064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4063" name="Oval 9"/>
            <p:cNvSpPr>
              <a:spLocks noChangeArrowheads="1"/>
            </p:cNvSpPr>
            <p:nvPr/>
          </p:nvSpPr>
          <p:spPr bwMode="auto">
            <a:xfrm>
              <a:off x="1440" y="216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4064" name="Oval 10"/>
            <p:cNvSpPr>
              <a:spLocks noChangeArrowheads="1"/>
            </p:cNvSpPr>
            <p:nvPr/>
          </p:nvSpPr>
          <p:spPr bwMode="auto">
            <a:xfrm>
              <a:off x="1200" y="2352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4065" name="Oval 11"/>
            <p:cNvSpPr>
              <a:spLocks noChangeArrowheads="1"/>
            </p:cNvSpPr>
            <p:nvPr/>
          </p:nvSpPr>
          <p:spPr bwMode="auto">
            <a:xfrm>
              <a:off x="1488" y="240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4066" name="Rectangle 12"/>
            <p:cNvSpPr>
              <a:spLocks noChangeArrowheads="1"/>
            </p:cNvSpPr>
            <p:nvPr/>
          </p:nvSpPr>
          <p:spPr bwMode="auto">
            <a:xfrm>
              <a:off x="1344" y="1776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44036" name="Group 13"/>
          <p:cNvGrpSpPr>
            <a:grpSpLocks/>
          </p:cNvGrpSpPr>
          <p:nvPr/>
        </p:nvGrpSpPr>
        <p:grpSpPr bwMode="auto">
          <a:xfrm>
            <a:off x="5715000" y="3276600"/>
            <a:ext cx="685800" cy="304800"/>
            <a:chOff x="2569" y="1536"/>
            <a:chExt cx="432" cy="192"/>
          </a:xfrm>
        </p:grpSpPr>
        <p:sp>
          <p:nvSpPr>
            <p:cNvPr id="44057" name="Oval 14"/>
            <p:cNvSpPr>
              <a:spLocks noChangeArrowheads="1"/>
            </p:cNvSpPr>
            <p:nvPr/>
          </p:nvSpPr>
          <p:spPr bwMode="auto">
            <a:xfrm>
              <a:off x="2569" y="15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4058" name="Oval 15"/>
            <p:cNvSpPr>
              <a:spLocks noChangeArrowheads="1"/>
            </p:cNvSpPr>
            <p:nvPr/>
          </p:nvSpPr>
          <p:spPr bwMode="auto">
            <a:xfrm>
              <a:off x="2809" y="15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sp>
        <p:nvSpPr>
          <p:cNvPr id="44037" name="Oval 16"/>
          <p:cNvSpPr>
            <a:spLocks noChangeArrowheads="1"/>
          </p:cNvSpPr>
          <p:nvPr/>
        </p:nvSpPr>
        <p:spPr bwMode="auto">
          <a:xfrm>
            <a:off x="4113213" y="2590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cxnSp>
        <p:nvCxnSpPr>
          <p:cNvPr id="44038" name="AutoShape 17"/>
          <p:cNvCxnSpPr>
            <a:cxnSpLocks noChangeShapeType="1"/>
            <a:stCxn id="44051" idx="0"/>
            <a:endCxn id="44039" idx="0"/>
          </p:cNvCxnSpPr>
          <p:nvPr/>
        </p:nvCxnSpPr>
        <p:spPr bwMode="auto">
          <a:xfrm rot="5400000" flipV="1">
            <a:off x="4940300" y="2082800"/>
            <a:ext cx="660400" cy="1574800"/>
          </a:xfrm>
          <a:prstGeom prst="curvedConnector3">
            <a:avLst>
              <a:gd name="adj1" fmla="val -3461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4039" name="Rectangle 18"/>
          <p:cNvSpPr>
            <a:spLocks noChangeArrowheads="1"/>
          </p:cNvSpPr>
          <p:nvPr/>
        </p:nvSpPr>
        <p:spPr bwMode="auto">
          <a:xfrm>
            <a:off x="5943600" y="32004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grpSp>
        <p:nvGrpSpPr>
          <p:cNvPr id="44040" name="Group 19"/>
          <p:cNvGrpSpPr>
            <a:grpSpLocks/>
          </p:cNvGrpSpPr>
          <p:nvPr/>
        </p:nvGrpSpPr>
        <p:grpSpPr bwMode="auto">
          <a:xfrm>
            <a:off x="3962400" y="2514600"/>
            <a:ext cx="990600" cy="1371600"/>
            <a:chOff x="2448" y="2160"/>
            <a:chExt cx="624" cy="864"/>
          </a:xfrm>
        </p:grpSpPr>
        <p:grpSp>
          <p:nvGrpSpPr>
            <p:cNvPr id="44050" name="Group 20"/>
            <p:cNvGrpSpPr>
              <a:grpSpLocks/>
            </p:cNvGrpSpPr>
            <p:nvPr/>
          </p:nvGrpSpPr>
          <p:grpSpPr bwMode="auto">
            <a:xfrm>
              <a:off x="2448" y="2160"/>
              <a:ext cx="624" cy="864"/>
              <a:chOff x="2448" y="2160"/>
              <a:chExt cx="624" cy="864"/>
            </a:xfrm>
          </p:grpSpPr>
          <p:sp>
            <p:nvSpPr>
              <p:cNvPr id="44052" name="Freeform 21"/>
              <p:cNvSpPr>
                <a:spLocks/>
              </p:cNvSpPr>
              <p:nvPr/>
            </p:nvSpPr>
            <p:spPr bwMode="auto">
              <a:xfrm>
                <a:off x="2448" y="2160"/>
                <a:ext cx="624" cy="864"/>
              </a:xfrm>
              <a:custGeom>
                <a:avLst/>
                <a:gdLst>
                  <a:gd name="T0" fmla="*/ 0 w 624"/>
                  <a:gd name="T1" fmla="*/ 0 h 960"/>
                  <a:gd name="T2" fmla="*/ 0 w 624"/>
                  <a:gd name="T3" fmla="*/ 179 h 960"/>
                  <a:gd name="T4" fmla="*/ 624 w 624"/>
                  <a:gd name="T5" fmla="*/ 179 h 960"/>
                  <a:gd name="T6" fmla="*/ 624 w 624"/>
                  <a:gd name="T7" fmla="*/ 0 h 9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4"/>
                  <a:gd name="T13" fmla="*/ 0 h 960"/>
                  <a:gd name="T14" fmla="*/ 624 w 624"/>
                  <a:gd name="T15" fmla="*/ 960 h 9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4" h="960">
                    <a:moveTo>
                      <a:pt x="0" y="0"/>
                    </a:moveTo>
                    <a:lnTo>
                      <a:pt x="0" y="960"/>
                    </a:lnTo>
                    <a:lnTo>
                      <a:pt x="624" y="960"/>
                    </a:lnTo>
                    <a:lnTo>
                      <a:pt x="62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>
                  <a:latin typeface="Tahoma" panose="020B0604030504040204" pitchFamily="34" charset="0"/>
                </a:endParaRPr>
              </a:p>
            </p:txBody>
          </p:sp>
          <p:sp>
            <p:nvSpPr>
              <p:cNvPr id="44053" name="Oval 22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192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4054" name="Oval 23"/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4055" name="Oval 24"/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192" cy="19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4056" name="Oval 25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4051" name="Rectangle 26"/>
            <p:cNvSpPr>
              <a:spLocks noChangeArrowheads="1"/>
            </p:cNvSpPr>
            <p:nvPr/>
          </p:nvSpPr>
          <p:spPr bwMode="auto">
            <a:xfrm>
              <a:off x="2704" y="2176"/>
              <a:ext cx="1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sp>
        <p:nvSpPr>
          <p:cNvPr id="44041" name="Text Box 27"/>
          <p:cNvSpPr txBox="1">
            <a:spLocks noChangeArrowheads="1"/>
          </p:cNvSpPr>
          <p:nvPr/>
        </p:nvSpPr>
        <p:spPr bwMode="auto">
          <a:xfrm>
            <a:off x="2512951" y="3951288"/>
            <a:ext cx="30809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44042" name="Text Box 28"/>
          <p:cNvSpPr txBox="1">
            <a:spLocks noChangeArrowheads="1"/>
          </p:cNvSpPr>
          <p:nvPr/>
        </p:nvSpPr>
        <p:spPr bwMode="auto">
          <a:xfrm>
            <a:off x="4264025" y="3951288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44043" name="Text Box 29"/>
          <p:cNvSpPr txBox="1">
            <a:spLocks noChangeArrowheads="1"/>
          </p:cNvSpPr>
          <p:nvPr/>
        </p:nvSpPr>
        <p:spPr bwMode="auto">
          <a:xfrm>
            <a:off x="5241925" y="3798888"/>
            <a:ext cx="32924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Qual a probabilidade que ambas sejam da mesma cor?</a:t>
            </a:r>
          </a:p>
        </p:txBody>
      </p:sp>
      <p:graphicFrame>
        <p:nvGraphicFramePr>
          <p:cNvPr id="65566" name="Object 30"/>
          <p:cNvGraphicFramePr>
            <a:graphicFrameLocks noChangeAspect="1"/>
          </p:cNvGraphicFramePr>
          <p:nvPr/>
        </p:nvGraphicFramePr>
        <p:xfrm>
          <a:off x="1539875" y="4603750"/>
          <a:ext cx="38528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692400" imgH="228600" progId="Equation.DSMT4">
                  <p:embed/>
                </p:oleObj>
              </mc:Choice>
              <mc:Fallback>
                <p:oleObj name="Equation" r:id="rId2" imgW="2692400" imgH="228600" progId="Equation.DSMT4">
                  <p:embed/>
                  <p:pic>
                    <p:nvPicPr>
                      <p:cNvPr id="65566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75" y="4603750"/>
                        <a:ext cx="3852863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7" name="Object 31"/>
          <p:cNvGraphicFramePr>
            <a:graphicFrameLocks noChangeAspect="1"/>
          </p:cNvGraphicFramePr>
          <p:nvPr/>
        </p:nvGraphicFramePr>
        <p:xfrm>
          <a:off x="1539875" y="4999038"/>
          <a:ext cx="45434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75000" imgH="228600" progId="Equation.DSMT4">
                  <p:embed/>
                </p:oleObj>
              </mc:Choice>
              <mc:Fallback>
                <p:oleObj name="Equation" r:id="rId4" imgW="3175000" imgH="228600" progId="Equation.DSMT4">
                  <p:embed/>
                  <p:pic>
                    <p:nvPicPr>
                      <p:cNvPr id="65567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75" y="4999038"/>
                        <a:ext cx="45434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8" name="Object 32"/>
          <p:cNvGraphicFramePr>
            <a:graphicFrameLocks noChangeAspect="1"/>
          </p:cNvGraphicFramePr>
          <p:nvPr/>
        </p:nvGraphicFramePr>
        <p:xfrm>
          <a:off x="1539875" y="5394325"/>
          <a:ext cx="58515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4089400" imgH="228600" progId="Equation.DSMT4">
                  <p:embed/>
                </p:oleObj>
              </mc:Choice>
              <mc:Fallback>
                <p:oleObj name="Equation" r:id="rId6" imgW="4089400" imgH="228600" progId="Equation.DSMT4">
                  <p:embed/>
                  <p:pic>
                    <p:nvPicPr>
                      <p:cNvPr id="6556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75" y="5394325"/>
                        <a:ext cx="58515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5569" name="Object 33"/>
          <p:cNvGraphicFramePr>
            <a:graphicFrameLocks noChangeAspect="1"/>
          </p:cNvGraphicFramePr>
          <p:nvPr/>
        </p:nvGraphicFramePr>
        <p:xfrm>
          <a:off x="1539875" y="5791200"/>
          <a:ext cx="41068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870200" imgH="228600" progId="Equation.DSMT4">
                  <p:embed/>
                </p:oleObj>
              </mc:Choice>
              <mc:Fallback>
                <p:oleObj name="Equation" r:id="rId8" imgW="2870200" imgH="228600" progId="Equation.DSMT4">
                  <p:embed/>
                  <p:pic>
                    <p:nvPicPr>
                      <p:cNvPr id="6556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75" y="5791200"/>
                        <a:ext cx="4106863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4048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1024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3)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FC6DB0C-828B-4E21-AF4E-C2B7D9363E59}" type="slidenum">
              <a:rPr lang="pt-BR"/>
              <a:pPr>
                <a:defRPr/>
              </a:pPr>
              <a:t>41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5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pt-BR"/>
              <a:t>Probabilidade</a:t>
            </a:r>
          </a:p>
        </p:txBody>
      </p:sp>
      <p:grpSp>
        <p:nvGrpSpPr>
          <p:cNvPr id="45059" name="Group 4"/>
          <p:cNvGrpSpPr>
            <a:grpSpLocks/>
          </p:cNvGrpSpPr>
          <p:nvPr/>
        </p:nvGrpSpPr>
        <p:grpSpPr bwMode="auto">
          <a:xfrm>
            <a:off x="2209800" y="2514600"/>
            <a:ext cx="990600" cy="1371600"/>
            <a:chOff x="1104" y="1776"/>
            <a:chExt cx="624" cy="864"/>
          </a:xfrm>
        </p:grpSpPr>
        <p:sp>
          <p:nvSpPr>
            <p:cNvPr id="45087" name="Freeform 5"/>
            <p:cNvSpPr>
              <a:spLocks/>
            </p:cNvSpPr>
            <p:nvPr/>
          </p:nvSpPr>
          <p:spPr bwMode="auto">
            <a:xfrm>
              <a:off x="1104" y="1776"/>
              <a:ext cx="624" cy="864"/>
            </a:xfrm>
            <a:custGeom>
              <a:avLst/>
              <a:gdLst>
                <a:gd name="T0" fmla="*/ 0 w 624"/>
                <a:gd name="T1" fmla="*/ 0 h 960"/>
                <a:gd name="T2" fmla="*/ 0 w 624"/>
                <a:gd name="T3" fmla="*/ 179 h 960"/>
                <a:gd name="T4" fmla="*/ 624 w 624"/>
                <a:gd name="T5" fmla="*/ 179 h 960"/>
                <a:gd name="T6" fmla="*/ 624 w 624"/>
                <a:gd name="T7" fmla="*/ 0 h 960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624"/>
                <a:gd name="T13" fmla="*/ 0 h 960"/>
                <a:gd name="T14" fmla="*/ 624 w 624"/>
                <a:gd name="T15" fmla="*/ 960 h 96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624" h="960">
                  <a:moveTo>
                    <a:pt x="0" y="0"/>
                  </a:moveTo>
                  <a:lnTo>
                    <a:pt x="0" y="960"/>
                  </a:lnTo>
                  <a:lnTo>
                    <a:pt x="624" y="960"/>
                  </a:lnTo>
                  <a:lnTo>
                    <a:pt x="62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pt-BR">
                <a:latin typeface="Tahoma" panose="020B0604030504040204" pitchFamily="34" charset="0"/>
              </a:endParaRPr>
            </a:p>
          </p:txBody>
        </p:sp>
        <p:sp>
          <p:nvSpPr>
            <p:cNvPr id="45088" name="Oval 6"/>
            <p:cNvSpPr>
              <a:spLocks noChangeArrowheads="1"/>
            </p:cNvSpPr>
            <p:nvPr/>
          </p:nvSpPr>
          <p:spPr bwMode="auto">
            <a:xfrm>
              <a:off x="1200" y="1776"/>
              <a:ext cx="192" cy="192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5089" name="Oval 7"/>
            <p:cNvSpPr>
              <a:spLocks noChangeArrowheads="1"/>
            </p:cNvSpPr>
            <p:nvPr/>
          </p:nvSpPr>
          <p:spPr bwMode="auto">
            <a:xfrm>
              <a:off x="1440" y="1872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5090" name="Oval 8"/>
            <p:cNvSpPr>
              <a:spLocks noChangeArrowheads="1"/>
            </p:cNvSpPr>
            <p:nvPr/>
          </p:nvSpPr>
          <p:spPr bwMode="auto">
            <a:xfrm>
              <a:off x="1200" y="2064"/>
              <a:ext cx="192" cy="192"/>
            </a:xfrm>
            <a:prstGeom prst="ellipse">
              <a:avLst/>
            </a:prstGeom>
            <a:solidFill>
              <a:schemeClr val="accent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5091" name="Oval 9"/>
            <p:cNvSpPr>
              <a:spLocks noChangeArrowheads="1"/>
            </p:cNvSpPr>
            <p:nvPr/>
          </p:nvSpPr>
          <p:spPr bwMode="auto">
            <a:xfrm>
              <a:off x="1440" y="216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5092" name="Oval 10"/>
            <p:cNvSpPr>
              <a:spLocks noChangeArrowheads="1"/>
            </p:cNvSpPr>
            <p:nvPr/>
          </p:nvSpPr>
          <p:spPr bwMode="auto">
            <a:xfrm>
              <a:off x="1200" y="2352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5093" name="Oval 11"/>
            <p:cNvSpPr>
              <a:spLocks noChangeArrowheads="1"/>
            </p:cNvSpPr>
            <p:nvPr/>
          </p:nvSpPr>
          <p:spPr bwMode="auto">
            <a:xfrm>
              <a:off x="1488" y="2400"/>
              <a:ext cx="192" cy="192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5094" name="Rectangle 12"/>
            <p:cNvSpPr>
              <a:spLocks noChangeArrowheads="1"/>
            </p:cNvSpPr>
            <p:nvPr/>
          </p:nvSpPr>
          <p:spPr bwMode="auto">
            <a:xfrm>
              <a:off x="1344" y="1776"/>
              <a:ext cx="144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grpSp>
        <p:nvGrpSpPr>
          <p:cNvPr id="45060" name="Group 13"/>
          <p:cNvGrpSpPr>
            <a:grpSpLocks/>
          </p:cNvGrpSpPr>
          <p:nvPr/>
        </p:nvGrpSpPr>
        <p:grpSpPr bwMode="auto">
          <a:xfrm>
            <a:off x="5715000" y="3276600"/>
            <a:ext cx="685800" cy="304800"/>
            <a:chOff x="2569" y="1536"/>
            <a:chExt cx="432" cy="192"/>
          </a:xfrm>
        </p:grpSpPr>
        <p:sp>
          <p:nvSpPr>
            <p:cNvPr id="45085" name="Oval 14"/>
            <p:cNvSpPr>
              <a:spLocks noChangeArrowheads="1"/>
            </p:cNvSpPr>
            <p:nvPr/>
          </p:nvSpPr>
          <p:spPr bwMode="auto">
            <a:xfrm>
              <a:off x="2569" y="15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  <p:sp>
          <p:nvSpPr>
            <p:cNvPr id="45086" name="Oval 15"/>
            <p:cNvSpPr>
              <a:spLocks noChangeArrowheads="1"/>
            </p:cNvSpPr>
            <p:nvPr/>
          </p:nvSpPr>
          <p:spPr bwMode="auto">
            <a:xfrm>
              <a:off x="2809" y="1536"/>
              <a:ext cx="192" cy="192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sp>
        <p:nvSpPr>
          <p:cNvPr id="45061" name="Oval 16"/>
          <p:cNvSpPr>
            <a:spLocks noChangeArrowheads="1"/>
          </p:cNvSpPr>
          <p:nvPr/>
        </p:nvSpPr>
        <p:spPr bwMode="auto">
          <a:xfrm>
            <a:off x="4113213" y="2590800"/>
            <a:ext cx="304800" cy="304800"/>
          </a:xfrm>
          <a:prstGeom prst="ellips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cxnSp>
        <p:nvCxnSpPr>
          <p:cNvPr id="45062" name="AutoShape 17"/>
          <p:cNvCxnSpPr>
            <a:cxnSpLocks noChangeShapeType="1"/>
            <a:stCxn id="45079" idx="0"/>
            <a:endCxn id="45063" idx="0"/>
          </p:cNvCxnSpPr>
          <p:nvPr/>
        </p:nvCxnSpPr>
        <p:spPr bwMode="auto">
          <a:xfrm rot="5400000" flipV="1">
            <a:off x="4940300" y="2082800"/>
            <a:ext cx="660400" cy="1574800"/>
          </a:xfrm>
          <a:prstGeom prst="curvedConnector3">
            <a:avLst>
              <a:gd name="adj1" fmla="val -34616"/>
            </a:avLst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5063" name="Rectangle 18"/>
          <p:cNvSpPr>
            <a:spLocks noChangeArrowheads="1"/>
          </p:cNvSpPr>
          <p:nvPr/>
        </p:nvSpPr>
        <p:spPr bwMode="auto">
          <a:xfrm>
            <a:off x="5943600" y="3200400"/>
            <a:ext cx="228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>
              <a:latin typeface="Tahoma" panose="020B0604030504040204" pitchFamily="34" charset="0"/>
            </a:endParaRPr>
          </a:p>
        </p:txBody>
      </p:sp>
      <p:grpSp>
        <p:nvGrpSpPr>
          <p:cNvPr id="45064" name="Group 19"/>
          <p:cNvGrpSpPr>
            <a:grpSpLocks/>
          </p:cNvGrpSpPr>
          <p:nvPr/>
        </p:nvGrpSpPr>
        <p:grpSpPr bwMode="auto">
          <a:xfrm>
            <a:off x="3962400" y="2514600"/>
            <a:ext cx="990600" cy="1371600"/>
            <a:chOff x="2448" y="2160"/>
            <a:chExt cx="624" cy="864"/>
          </a:xfrm>
        </p:grpSpPr>
        <p:grpSp>
          <p:nvGrpSpPr>
            <p:cNvPr id="45078" name="Group 20"/>
            <p:cNvGrpSpPr>
              <a:grpSpLocks/>
            </p:cNvGrpSpPr>
            <p:nvPr/>
          </p:nvGrpSpPr>
          <p:grpSpPr bwMode="auto">
            <a:xfrm>
              <a:off x="2448" y="2160"/>
              <a:ext cx="624" cy="864"/>
              <a:chOff x="2448" y="2160"/>
              <a:chExt cx="624" cy="864"/>
            </a:xfrm>
          </p:grpSpPr>
          <p:sp>
            <p:nvSpPr>
              <p:cNvPr id="45080" name="Freeform 21"/>
              <p:cNvSpPr>
                <a:spLocks/>
              </p:cNvSpPr>
              <p:nvPr/>
            </p:nvSpPr>
            <p:spPr bwMode="auto">
              <a:xfrm>
                <a:off x="2448" y="2160"/>
                <a:ext cx="624" cy="864"/>
              </a:xfrm>
              <a:custGeom>
                <a:avLst/>
                <a:gdLst>
                  <a:gd name="T0" fmla="*/ 0 w 624"/>
                  <a:gd name="T1" fmla="*/ 0 h 960"/>
                  <a:gd name="T2" fmla="*/ 0 w 624"/>
                  <a:gd name="T3" fmla="*/ 179 h 960"/>
                  <a:gd name="T4" fmla="*/ 624 w 624"/>
                  <a:gd name="T5" fmla="*/ 179 h 960"/>
                  <a:gd name="T6" fmla="*/ 624 w 624"/>
                  <a:gd name="T7" fmla="*/ 0 h 960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24"/>
                  <a:gd name="T13" fmla="*/ 0 h 960"/>
                  <a:gd name="T14" fmla="*/ 624 w 624"/>
                  <a:gd name="T15" fmla="*/ 960 h 960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24" h="960">
                    <a:moveTo>
                      <a:pt x="0" y="0"/>
                    </a:moveTo>
                    <a:lnTo>
                      <a:pt x="0" y="960"/>
                    </a:lnTo>
                    <a:lnTo>
                      <a:pt x="624" y="960"/>
                    </a:lnTo>
                    <a:lnTo>
                      <a:pt x="624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pt-BR">
                  <a:latin typeface="Tahoma" panose="020B0604030504040204" pitchFamily="34" charset="0"/>
                </a:endParaRPr>
              </a:p>
            </p:txBody>
          </p:sp>
          <p:sp>
            <p:nvSpPr>
              <p:cNvPr id="45081" name="Oval 22"/>
              <p:cNvSpPr>
                <a:spLocks noChangeArrowheads="1"/>
              </p:cNvSpPr>
              <p:nvPr/>
            </p:nvSpPr>
            <p:spPr bwMode="auto">
              <a:xfrm>
                <a:off x="2544" y="2448"/>
                <a:ext cx="192" cy="192"/>
              </a:xfrm>
              <a:prstGeom prst="ellipse">
                <a:avLst/>
              </a:prstGeom>
              <a:solidFill>
                <a:schemeClr val="accent2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5082" name="Oval 23"/>
              <p:cNvSpPr>
                <a:spLocks noChangeArrowheads="1"/>
              </p:cNvSpPr>
              <p:nvPr/>
            </p:nvSpPr>
            <p:spPr bwMode="auto">
              <a:xfrm>
                <a:off x="2784" y="254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5083" name="Oval 24"/>
              <p:cNvSpPr>
                <a:spLocks noChangeArrowheads="1"/>
              </p:cNvSpPr>
              <p:nvPr/>
            </p:nvSpPr>
            <p:spPr bwMode="auto">
              <a:xfrm>
                <a:off x="2544" y="2736"/>
                <a:ext cx="192" cy="192"/>
              </a:xfrm>
              <a:prstGeom prst="ellipse">
                <a:avLst/>
              </a:prstGeom>
              <a:solidFill>
                <a:srgbClr val="FF00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  <p:sp>
            <p:nvSpPr>
              <p:cNvPr id="45084" name="Oval 25"/>
              <p:cNvSpPr>
                <a:spLocks noChangeArrowheads="1"/>
              </p:cNvSpPr>
              <p:nvPr/>
            </p:nvSpPr>
            <p:spPr bwMode="auto">
              <a:xfrm>
                <a:off x="2832" y="2784"/>
                <a:ext cx="192" cy="192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spcBef>
                    <a:spcPct val="20000"/>
                  </a:spcBef>
                  <a:buChar char="•"/>
                  <a:defRPr sz="2800">
                    <a:solidFill>
                      <a:schemeClr val="tx1"/>
                    </a:solidFill>
                    <a:latin typeface="Comic Sans MS" pitchFamily="66" charset="0"/>
                  </a:defRPr>
                </a:lvl1pPr>
                <a:lvl2pPr marL="742950" indent="-285750" eaLnBrk="0" hangingPunct="0">
                  <a:spcBef>
                    <a:spcPct val="20000"/>
                  </a:spcBef>
                  <a:buChar char="–"/>
                  <a:defRPr sz="2400">
                    <a:solidFill>
                      <a:schemeClr val="tx1"/>
                    </a:solidFill>
                    <a:latin typeface="Comic Sans MS" pitchFamily="66" charset="0"/>
                  </a:defRPr>
                </a:lvl2pPr>
                <a:lvl3pPr marL="1143000" indent="-228600" eaLnBrk="0" hangingPunct="0">
                  <a:spcBef>
                    <a:spcPct val="20000"/>
                  </a:spcBef>
                  <a:buChar char="•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3pPr>
                <a:lvl4pPr marL="1600200" indent="-228600" eaLnBrk="0" hangingPunct="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4pPr>
                <a:lvl5pPr marL="2057400" indent="-228600" eaLnBrk="0" hangingPunct="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Comic Sans MS" pitchFamily="66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FontTx/>
                  <a:buNone/>
                </a:pPr>
                <a:endParaRPr lang="pt-BR" altLang="pt-BR" sz="16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45079" name="Rectangle 26"/>
            <p:cNvSpPr>
              <a:spLocks noChangeArrowheads="1"/>
            </p:cNvSpPr>
            <p:nvPr/>
          </p:nvSpPr>
          <p:spPr bwMode="auto">
            <a:xfrm>
              <a:off x="2704" y="2176"/>
              <a:ext cx="14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 eaLnBrk="0" hangingPunct="0">
                <a:spcBef>
                  <a:spcPct val="20000"/>
                </a:spcBef>
                <a:buChar char="•"/>
                <a:defRPr sz="2800">
                  <a:solidFill>
                    <a:schemeClr val="tx1"/>
                  </a:solidFill>
                  <a:latin typeface="Comic Sans MS" pitchFamily="66" charset="0"/>
                </a:defRPr>
              </a:lvl1pPr>
              <a:lvl2pPr marL="742950" indent="-285750" eaLnBrk="0" hangingPunct="0">
                <a:spcBef>
                  <a:spcPct val="20000"/>
                </a:spcBef>
                <a:buChar char="–"/>
                <a:defRPr sz="2400">
                  <a:solidFill>
                    <a:schemeClr val="tx1"/>
                  </a:solidFill>
                  <a:latin typeface="Comic Sans MS" pitchFamily="66" charset="0"/>
                </a:defRPr>
              </a:lvl2pPr>
              <a:lvl3pPr marL="1143000" indent="-228600" eaLnBrk="0" hangingPunct="0">
                <a:spcBef>
                  <a:spcPct val="20000"/>
                </a:spcBef>
                <a:buChar char="•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3pPr>
              <a:lvl4pPr marL="1600200" indent="-228600" eaLnBrk="0" hangingPunct="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4pPr>
              <a:lvl5pPr marL="2057400" indent="-228600" eaLnBrk="0" hangingPunct="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Comic Sans MS" pitchFamily="66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endParaRPr lang="pt-BR" altLang="pt-BR" sz="1600">
                <a:latin typeface="Tahoma" panose="020B0604030504040204" pitchFamily="34" charset="0"/>
              </a:endParaRPr>
            </a:p>
          </p:txBody>
        </p:sp>
      </p:grpSp>
      <p:sp>
        <p:nvSpPr>
          <p:cNvPr id="45065" name="Text Box 27"/>
          <p:cNvSpPr txBox="1">
            <a:spLocks noChangeArrowheads="1"/>
          </p:cNvSpPr>
          <p:nvPr/>
        </p:nvSpPr>
        <p:spPr bwMode="auto">
          <a:xfrm>
            <a:off x="2512951" y="3951288"/>
            <a:ext cx="308098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A</a:t>
            </a:r>
          </a:p>
        </p:txBody>
      </p:sp>
      <p:sp>
        <p:nvSpPr>
          <p:cNvPr id="45066" name="Text Box 28"/>
          <p:cNvSpPr txBox="1">
            <a:spLocks noChangeArrowheads="1"/>
          </p:cNvSpPr>
          <p:nvPr/>
        </p:nvSpPr>
        <p:spPr bwMode="auto">
          <a:xfrm>
            <a:off x="4264025" y="3951288"/>
            <a:ext cx="312738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B</a:t>
            </a:r>
          </a:p>
        </p:txBody>
      </p:sp>
      <p:sp>
        <p:nvSpPr>
          <p:cNvPr id="45067" name="Text Box 29"/>
          <p:cNvSpPr txBox="1">
            <a:spLocks noChangeArrowheads="1"/>
          </p:cNvSpPr>
          <p:nvPr/>
        </p:nvSpPr>
        <p:spPr bwMode="auto">
          <a:xfrm>
            <a:off x="5241925" y="3798888"/>
            <a:ext cx="3292475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5763" indent="-385763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>
                <a:latin typeface="Tahoma" panose="020B0604030504040204" pitchFamily="34" charset="0"/>
              </a:rPr>
              <a:t>Qual a probabilidade que ambas sejam da mesma cor?</a:t>
            </a:r>
          </a:p>
        </p:txBody>
      </p:sp>
      <p:graphicFrame>
        <p:nvGraphicFramePr>
          <p:cNvPr id="45068" name="Object 32"/>
          <p:cNvGraphicFramePr>
            <a:graphicFrameLocks noChangeAspect="1"/>
          </p:cNvGraphicFramePr>
          <p:nvPr/>
        </p:nvGraphicFramePr>
        <p:xfrm>
          <a:off x="1539875" y="4505325"/>
          <a:ext cx="5851525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089400" imgH="228600" progId="Equation.DSMT4">
                  <p:embed/>
                </p:oleObj>
              </mc:Choice>
              <mc:Fallback>
                <p:oleObj name="Equation" r:id="rId2" imgW="4089400" imgH="228600" progId="Equation.DSMT4">
                  <p:embed/>
                  <p:pic>
                    <p:nvPicPr>
                      <p:cNvPr id="45068" name="Object 3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75" y="4505325"/>
                        <a:ext cx="5851525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5069" name="Object 33"/>
          <p:cNvGraphicFramePr>
            <a:graphicFrameLocks noChangeAspect="1"/>
          </p:cNvGraphicFramePr>
          <p:nvPr/>
        </p:nvGraphicFramePr>
        <p:xfrm>
          <a:off x="1539875" y="4902200"/>
          <a:ext cx="4106863" cy="327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70200" imgH="228600" progId="Equation.DSMT4">
                  <p:embed/>
                </p:oleObj>
              </mc:Choice>
              <mc:Fallback>
                <p:oleObj name="Equation" r:id="rId4" imgW="2870200" imgH="228600" progId="Equation.DSMT4">
                  <p:embed/>
                  <p:pic>
                    <p:nvPicPr>
                      <p:cNvPr id="45069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9875" y="4902200"/>
                        <a:ext cx="4106863" cy="3270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74" name="Object 34"/>
          <p:cNvGraphicFramePr>
            <a:graphicFrameLocks noChangeAspect="1"/>
          </p:cNvGraphicFramePr>
          <p:nvPr/>
        </p:nvGraphicFramePr>
        <p:xfrm>
          <a:off x="1516063" y="5443538"/>
          <a:ext cx="763587" cy="290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33169" imgH="203112" progId="Equation.DSMT4">
                  <p:embed/>
                </p:oleObj>
              </mc:Choice>
              <mc:Fallback>
                <p:oleObj name="Equation" r:id="rId6" imgW="533169" imgH="203112" progId="Equation.DSMT4">
                  <p:embed/>
                  <p:pic>
                    <p:nvPicPr>
                      <p:cNvPr id="87074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6063" y="5443538"/>
                        <a:ext cx="763587" cy="290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75" name="Object 35"/>
          <p:cNvGraphicFramePr>
            <a:graphicFrameLocks noChangeAspect="1"/>
          </p:cNvGraphicFramePr>
          <p:nvPr/>
        </p:nvGraphicFramePr>
        <p:xfrm>
          <a:off x="2309813" y="5280025"/>
          <a:ext cx="1582737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04900" imgH="431800" progId="Equation.DSMT4">
                  <p:embed/>
                </p:oleObj>
              </mc:Choice>
              <mc:Fallback>
                <p:oleObj name="Equation" r:id="rId8" imgW="1104900" imgH="431800" progId="Equation.DSMT4">
                  <p:embed/>
                  <p:pic>
                    <p:nvPicPr>
                      <p:cNvPr id="87075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9813" y="5280025"/>
                        <a:ext cx="1582737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76" name="Object 36"/>
          <p:cNvGraphicFramePr>
            <a:graphicFrameLocks noChangeAspect="1"/>
          </p:cNvGraphicFramePr>
          <p:nvPr/>
        </p:nvGraphicFramePr>
        <p:xfrm>
          <a:off x="3905250" y="5280025"/>
          <a:ext cx="1509713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54100" imgH="431800" progId="Equation.DSMT4">
                  <p:embed/>
                </p:oleObj>
              </mc:Choice>
              <mc:Fallback>
                <p:oleObj name="Equation" r:id="rId10" imgW="1054100" imgH="431800" progId="Equation.DSMT4">
                  <p:embed/>
                  <p:pic>
                    <p:nvPicPr>
                      <p:cNvPr id="87076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05250" y="5280025"/>
                        <a:ext cx="1509713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77" name="Object 37"/>
          <p:cNvGraphicFramePr>
            <a:graphicFrameLocks noChangeAspect="1"/>
          </p:cNvGraphicFramePr>
          <p:nvPr/>
        </p:nvGraphicFramePr>
        <p:xfrm>
          <a:off x="5413375" y="5280025"/>
          <a:ext cx="1746250" cy="6175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8671" imgH="431613" progId="Equation.DSMT4">
                  <p:embed/>
                </p:oleObj>
              </mc:Choice>
              <mc:Fallback>
                <p:oleObj name="Equation" r:id="rId12" imgW="1218671" imgH="431613" progId="Equation.DSMT4">
                  <p:embed/>
                  <p:pic>
                    <p:nvPicPr>
                      <p:cNvPr id="87077" name="Object 3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3375" y="5280025"/>
                        <a:ext cx="1746250" cy="6175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7078" name="Object 38"/>
          <p:cNvGraphicFramePr>
            <a:graphicFrameLocks noChangeAspect="1"/>
          </p:cNvGraphicFramePr>
          <p:nvPr/>
        </p:nvGraphicFramePr>
        <p:xfrm>
          <a:off x="1592263" y="5940425"/>
          <a:ext cx="3490912" cy="563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438400" imgH="393700" progId="Equation.DSMT4">
                  <p:embed/>
                </p:oleObj>
              </mc:Choice>
              <mc:Fallback>
                <p:oleObj name="Equation" r:id="rId14" imgW="2438400" imgH="393700" progId="Equation.DSMT4">
                  <p:embed/>
                  <p:pic>
                    <p:nvPicPr>
                      <p:cNvPr id="87078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92263" y="5940425"/>
                        <a:ext cx="3490912" cy="563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5075" name="Text Box 3"/>
          <p:cNvSpPr txBox="1">
            <a:spLocks noChangeArrowheads="1"/>
          </p:cNvSpPr>
          <p:nvPr/>
        </p:nvSpPr>
        <p:spPr bwMode="auto">
          <a:xfrm>
            <a:off x="974725" y="1665288"/>
            <a:ext cx="710247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latin typeface="Tahoma" panose="020B0604030504040204" pitchFamily="34" charset="0"/>
              </a:rPr>
              <a:t>Exercícios</a:t>
            </a:r>
          </a:p>
          <a:p>
            <a:pPr eaLnBrk="1" hangingPunct="1">
              <a:spcBef>
                <a:spcPct val="0"/>
              </a:spcBef>
              <a:buFontTx/>
              <a:buNone/>
            </a:pPr>
            <a:endParaRPr lang="pt-BR" altLang="pt-BR" sz="1600" dirty="0">
              <a:latin typeface="Tahoma" panose="020B0604030504040204" pitchFamily="34" charset="0"/>
            </a:endParaRPr>
          </a:p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600" dirty="0">
                <a:solidFill>
                  <a:srgbClr val="FF3300"/>
                </a:solidFill>
                <a:latin typeface="Tahoma" panose="020B0604030504040204" pitchFamily="34" charset="0"/>
              </a:rPr>
              <a:t>3)</a:t>
            </a:r>
            <a:r>
              <a:rPr lang="pt-BR" altLang="pt-BR" sz="1600" dirty="0">
                <a:latin typeface="Tahoma" panose="020B0604030504040204" pitchFamily="34" charset="0"/>
              </a:rPr>
              <a:t> </a:t>
            </a:r>
          </a:p>
        </p:txBody>
      </p:sp>
      <p:sp>
        <p:nvSpPr>
          <p:cNvPr id="38" name="Text Box 11"/>
          <p:cNvSpPr txBox="1">
            <a:spLocks noChangeArrowheads="1"/>
          </p:cNvSpPr>
          <p:nvPr/>
        </p:nvSpPr>
        <p:spPr bwMode="auto">
          <a:xfrm>
            <a:off x="0" y="6596063"/>
            <a:ext cx="5241925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spcBef>
                <a:spcPct val="20000"/>
              </a:spcBef>
              <a:buChar char="•"/>
              <a:defRPr sz="2800">
                <a:solidFill>
                  <a:schemeClr val="tx1"/>
                </a:solidFill>
                <a:latin typeface="Comic Sans MS" pitchFamily="66" charset="0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400">
                <a:solidFill>
                  <a:schemeClr val="tx1"/>
                </a:solidFill>
                <a:latin typeface="Comic Sans MS" pitchFamily="66" charset="0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000">
                <a:solidFill>
                  <a:schemeClr val="tx1"/>
                </a:solidFill>
                <a:latin typeface="Comic Sans MS" pitchFamily="66" charset="0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Comic Sans MS" pitchFamily="66" charset="0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Comic Sans MS" pitchFamily="66" charset="0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lang="pt-BR" altLang="pt-BR" sz="1100" dirty="0">
                <a:latin typeface="Tahoma" panose="020B0604030504040204" pitchFamily="34" charset="0"/>
              </a:rPr>
              <a:t>(ver exemplo2 em revisao_probabilidade.xlsx e </a:t>
            </a:r>
            <a:r>
              <a:rPr lang="pt-BR" altLang="pt-BR" sz="1100" dirty="0" err="1">
                <a:latin typeface="Tahoma" panose="020B0604030504040204" pitchFamily="34" charset="0"/>
              </a:rPr>
              <a:t>revisao_probabilidade.r</a:t>
            </a:r>
            <a:r>
              <a:rPr lang="pt-BR" altLang="pt-BR" sz="1100" dirty="0">
                <a:latin typeface="Tahoma" panose="020B0604030504040204" pitchFamily="34" charset="0"/>
              </a:rPr>
              <a:t>)</a:t>
            </a:r>
          </a:p>
        </p:txBody>
      </p:sp>
      <p:sp>
        <p:nvSpPr>
          <p:cNvPr id="2" name="Espaço Reservado para Número de Slide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E1D8261A-9A3D-4988-B463-D6EA8E257B2D}" type="slidenum">
              <a:rPr lang="pt-BR"/>
              <a:pPr>
                <a:defRPr/>
              </a:pPr>
              <a:t>42</a:t>
            </a:fld>
            <a:endParaRPr lang="pt-BR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8|0.9|3.6|3.9|9.9|15.9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3.9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6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5|18|14.7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7.2|21.6|17.4|20|19.9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9.9|6.7|18.4|12.9|6.8|15.3|12.6|4.2|3.6|8.2|7.8|2.8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3.5|11.1|7.9|7.4|3.4|6.5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6.5|8.7|8.4|15.7|5.9|10|9|13.1|18.1|18.5|13.6|10.1|11.6|6.8|23.4|7.3|10.2|12.2|15.8|11.4|12.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4|0.6|3.4|8.3|14|11.1|44.4|23.2|21.5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3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6|61.7|23.4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2.2|1.6|13|24.9|23.6|14.4|26.8|15.7|13.2|7.7|20.4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1.9|23.9|6.8|5.4|3.9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8.3|9.4|7.1|11.7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0.5|6.4|21.3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0.5|2.4|34.4|7.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7.9|9.6|8.7|3.2|24.4|45.1|29.2|35"/>
</p:tagLst>
</file>

<file path=ppt/theme/theme1.xml><?xml version="1.0" encoding="utf-8"?>
<a:theme xmlns:a="http://schemas.openxmlformats.org/drawingml/2006/main" name="Estrutura padrão">
  <a:themeElements>
    <a:clrScheme name="Estrutura padrão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Estrutura padrão">
      <a:majorFont>
        <a:latin typeface="Comic Sans MS"/>
        <a:ea typeface=""/>
        <a:cs typeface=""/>
      </a:majorFont>
      <a:minorFont>
        <a:latin typeface="Comic Sans MS"/>
        <a:ea typeface=""/>
        <a:cs typeface="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strutura padrão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strutura padrão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strutura padrão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4474</TotalTime>
  <Words>1624</Words>
  <Application>Microsoft Office PowerPoint</Application>
  <PresentationFormat>Apresentação na tela (4:3)</PresentationFormat>
  <Paragraphs>397</Paragraphs>
  <Slides>42</Slides>
  <Notes>0</Notes>
  <HiddenSlides>0</HiddenSlides>
  <MMClips>0</MMClips>
  <ScaleCrop>false</ScaleCrop>
  <HeadingPairs>
    <vt:vector size="8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Servidores OLE inseridos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51" baseType="lpstr">
      <vt:lpstr>Arial Unicode MS</vt:lpstr>
      <vt:lpstr>Calibri</vt:lpstr>
      <vt:lpstr>Comic Sans MS</vt:lpstr>
      <vt:lpstr>Dice</vt:lpstr>
      <vt:lpstr>SymbolProp BT</vt:lpstr>
      <vt:lpstr>Tahoma</vt:lpstr>
      <vt:lpstr>Times New Roman</vt:lpstr>
      <vt:lpstr>Estrutura padrão</vt:lpstr>
      <vt:lpstr>Equation</vt:lpstr>
      <vt:lpstr>Apresentação do PowerPoint</vt:lpstr>
      <vt:lpstr>Frequência Absoluta e Relativa</vt:lpstr>
      <vt:lpstr>Frequência Absoluta e Relativa</vt:lpstr>
      <vt:lpstr>Frequência Absoluta e Relativa</vt:lpstr>
      <vt:lpstr>Frequência Absoluta e Relativa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</vt:lpstr>
      <vt:lpstr>Probabilidade Total</vt:lpstr>
      <vt:lpstr>Probabilidade Total</vt:lpstr>
      <vt:lpstr>Probabilidade</vt:lpstr>
      <vt:lpstr>Probabilidade</vt:lpstr>
      <vt:lpstr>Teorema de Bayes</vt:lpstr>
      <vt:lpstr>Probabilidade</vt:lpstr>
      <vt:lpstr>Probabilidade</vt:lpstr>
      <vt:lpstr>Probabilidade</vt:lpstr>
      <vt:lpstr>Probabilidade</vt:lpstr>
      <vt:lpstr>Técnicas de Contagem</vt:lpstr>
      <vt:lpstr>Técnicas de Contagem</vt:lpstr>
      <vt:lpstr>Probabilidade</vt:lpstr>
      <vt:lpstr>Probabilidade</vt:lpstr>
      <vt:lpstr>Probabilidade</vt:lpstr>
      <vt:lpstr>Probabilidade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Probabilidade</dc:title>
  <dc:creator>Camilo Daleles Rennó, DPI/INPE</dc:creator>
  <cp:lastModifiedBy>Camilo Daleles Rennó</cp:lastModifiedBy>
  <cp:revision>190</cp:revision>
  <dcterms:created xsi:type="dcterms:W3CDTF">2003-03-18T00:57:51Z</dcterms:created>
  <dcterms:modified xsi:type="dcterms:W3CDTF">2025-06-11T16:53:59Z</dcterms:modified>
</cp:coreProperties>
</file>