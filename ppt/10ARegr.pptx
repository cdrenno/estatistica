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40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6"/>
  </p:notesMasterIdLst>
  <p:handoutMasterIdLst>
    <p:handoutMasterId r:id="rId107"/>
  </p:handoutMasterIdLst>
  <p:sldIdLst>
    <p:sldId id="419" r:id="rId2"/>
    <p:sldId id="479" r:id="rId3"/>
    <p:sldId id="396" r:id="rId4"/>
    <p:sldId id="456" r:id="rId5"/>
    <p:sldId id="454" r:id="rId6"/>
    <p:sldId id="397" r:id="rId7"/>
    <p:sldId id="453" r:id="rId8"/>
    <p:sldId id="455" r:id="rId9"/>
    <p:sldId id="398" r:id="rId10"/>
    <p:sldId id="399" r:id="rId11"/>
    <p:sldId id="510" r:id="rId12"/>
    <p:sldId id="450" r:id="rId13"/>
    <p:sldId id="467" r:id="rId14"/>
    <p:sldId id="395" r:id="rId15"/>
    <p:sldId id="532" r:id="rId16"/>
    <p:sldId id="401" r:id="rId17"/>
    <p:sldId id="402" r:id="rId18"/>
    <p:sldId id="457" r:id="rId19"/>
    <p:sldId id="403" r:id="rId20"/>
    <p:sldId id="404" r:id="rId21"/>
    <p:sldId id="418" r:id="rId22"/>
    <p:sldId id="408" r:id="rId23"/>
    <p:sldId id="458" r:id="rId24"/>
    <p:sldId id="421" r:id="rId25"/>
    <p:sldId id="422" r:id="rId26"/>
    <p:sldId id="423" r:id="rId27"/>
    <p:sldId id="409" r:id="rId28"/>
    <p:sldId id="490" r:id="rId29"/>
    <p:sldId id="410" r:id="rId30"/>
    <p:sldId id="480" r:id="rId31"/>
    <p:sldId id="417" r:id="rId32"/>
    <p:sldId id="498" r:id="rId33"/>
    <p:sldId id="497" r:id="rId34"/>
    <p:sldId id="448" r:id="rId35"/>
    <p:sldId id="412" r:id="rId36"/>
    <p:sldId id="511" r:id="rId37"/>
    <p:sldId id="413" r:id="rId38"/>
    <p:sldId id="415" r:id="rId39"/>
    <p:sldId id="425" r:id="rId40"/>
    <p:sldId id="431" r:id="rId41"/>
    <p:sldId id="439" r:id="rId42"/>
    <p:sldId id="440" r:id="rId43"/>
    <p:sldId id="428" r:id="rId44"/>
    <p:sldId id="430" r:id="rId45"/>
    <p:sldId id="441" r:id="rId46"/>
    <p:sldId id="449" r:id="rId47"/>
    <p:sldId id="432" r:id="rId48"/>
    <p:sldId id="459" r:id="rId49"/>
    <p:sldId id="433" r:id="rId50"/>
    <p:sldId id="460" r:id="rId51"/>
    <p:sldId id="496" r:id="rId52"/>
    <p:sldId id="482" r:id="rId53"/>
    <p:sldId id="491" r:id="rId54"/>
    <p:sldId id="483" r:id="rId55"/>
    <p:sldId id="481" r:id="rId56"/>
    <p:sldId id="462" r:id="rId57"/>
    <p:sldId id="492" r:id="rId58"/>
    <p:sldId id="512" r:id="rId59"/>
    <p:sldId id="424" r:id="rId60"/>
    <p:sldId id="484" r:id="rId61"/>
    <p:sldId id="434" r:id="rId62"/>
    <p:sldId id="514" r:id="rId63"/>
    <p:sldId id="515" r:id="rId64"/>
    <p:sldId id="435" r:id="rId65"/>
    <p:sldId id="437" r:id="rId66"/>
    <p:sldId id="438" r:id="rId67"/>
    <p:sldId id="469" r:id="rId68"/>
    <p:sldId id="442" r:id="rId69"/>
    <p:sldId id="446" r:id="rId70"/>
    <p:sldId id="443" r:id="rId71"/>
    <p:sldId id="444" r:id="rId72"/>
    <p:sldId id="485" r:id="rId73"/>
    <p:sldId id="517" r:id="rId74"/>
    <p:sldId id="463" r:id="rId75"/>
    <p:sldId id="486" r:id="rId76"/>
    <p:sldId id="464" r:id="rId77"/>
    <p:sldId id="488" r:id="rId78"/>
    <p:sldId id="500" r:id="rId79"/>
    <p:sldId id="465" r:id="rId80"/>
    <p:sldId id="519" r:id="rId81"/>
    <p:sldId id="518" r:id="rId82"/>
    <p:sldId id="466" r:id="rId83"/>
    <p:sldId id="473" r:id="rId84"/>
    <p:sldId id="489" r:id="rId85"/>
    <p:sldId id="474" r:id="rId86"/>
    <p:sldId id="520" r:id="rId87"/>
    <p:sldId id="477" r:id="rId88"/>
    <p:sldId id="521" r:id="rId89"/>
    <p:sldId id="522" r:id="rId90"/>
    <p:sldId id="523" r:id="rId91"/>
    <p:sldId id="524" r:id="rId92"/>
    <p:sldId id="525" r:id="rId93"/>
    <p:sldId id="526" r:id="rId94"/>
    <p:sldId id="531" r:id="rId95"/>
    <p:sldId id="528" r:id="rId96"/>
    <p:sldId id="529" r:id="rId97"/>
    <p:sldId id="530" r:id="rId98"/>
    <p:sldId id="475" r:id="rId99"/>
    <p:sldId id="505" r:id="rId100"/>
    <p:sldId id="495" r:id="rId101"/>
    <p:sldId id="509" r:id="rId102"/>
    <p:sldId id="494" r:id="rId103"/>
    <p:sldId id="501" r:id="rId104"/>
    <p:sldId id="502" r:id="rId105"/>
  </p:sldIdLst>
  <p:sldSz cx="9144000" cy="6858000" type="screen4x3"/>
  <p:notesSz cx="9926638" cy="6797675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5050"/>
    <a:srgbClr val="FF9999"/>
    <a:srgbClr val="3B3B3B"/>
    <a:srgbClr val="C0C0C0"/>
    <a:srgbClr val="00FF00"/>
    <a:srgbClr val="EAEAEA"/>
    <a:srgbClr val="0000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395F93-D822-4910-8FC4-84E46116445A}" v="397" dt="2025-07-21T16:34:14.0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77" autoAdjust="0"/>
    <p:restoredTop sz="94714" autoAdjust="0"/>
  </p:normalViewPr>
  <p:slideViewPr>
    <p:cSldViewPr>
      <p:cViewPr varScale="1">
        <p:scale>
          <a:sx n="52" d="100"/>
          <a:sy n="52" d="100"/>
        </p:scale>
        <p:origin x="1064" y="2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86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microsoft.com/office/2016/11/relationships/changesInfo" Target="changesInfos/changesInfo1.xml"/><Relationship Id="rId16" Type="http://schemas.openxmlformats.org/officeDocument/2006/relationships/slide" Target="slides/slide15.xml"/><Relationship Id="rId107" Type="http://schemas.openxmlformats.org/officeDocument/2006/relationships/handoutMaster" Target="handoutMasters/handoutMaster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microsoft.com/office/2015/10/relationships/revisionInfo" Target="revisionInfo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viewProps" Target="view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ableStyles" Target="tableStyle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2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B4395F93-D822-4910-8FC4-84E46116445A}"/>
    <pc:docChg chg="custSel addSld modSld">
      <pc:chgData name="Camilo Daleles Rennó" userId="eac9aab033b2f962" providerId="LiveId" clId="{B4395F93-D822-4910-8FC4-84E46116445A}" dt="2025-07-21T16:34:14.084" v="714"/>
      <pc:docMkLst>
        <pc:docMk/>
      </pc:docMkLst>
      <pc:sldChg chg="addSp delSp modSp mod modAnim">
        <pc:chgData name="Camilo Daleles Rennó" userId="eac9aab033b2f962" providerId="LiveId" clId="{B4395F93-D822-4910-8FC4-84E46116445A}" dt="2025-07-18T16:03:30.782" v="420"/>
        <pc:sldMkLst>
          <pc:docMk/>
          <pc:sldMk cId="0" sldId="395"/>
        </pc:sldMkLst>
        <pc:spChg chg="add mod">
          <ac:chgData name="Camilo Daleles Rennó" userId="eac9aab033b2f962" providerId="LiveId" clId="{B4395F93-D822-4910-8FC4-84E46116445A}" dt="2025-07-18T16:02:32.669" v="407" actId="1036"/>
          <ac:spMkLst>
            <pc:docMk/>
            <pc:sldMk cId="0" sldId="395"/>
            <ac:spMk id="6" creationId="{31B84A46-41D6-B3CC-38D6-62C9545A84D4}"/>
          </ac:spMkLst>
        </pc:spChg>
        <pc:spChg chg="add mod">
          <ac:chgData name="Camilo Daleles Rennó" userId="eac9aab033b2f962" providerId="LiveId" clId="{B4395F93-D822-4910-8FC4-84E46116445A}" dt="2025-07-18T16:02:42.567" v="408" actId="1582"/>
          <ac:spMkLst>
            <pc:docMk/>
            <pc:sldMk cId="0" sldId="395"/>
            <ac:spMk id="7" creationId="{86082709-9CE1-58E9-CCC4-B4E26A81E2FA}"/>
          </ac:spMkLst>
        </pc:spChg>
        <pc:spChg chg="add mod">
          <ac:chgData name="Camilo Daleles Rennó" userId="eac9aab033b2f962" providerId="LiveId" clId="{B4395F93-D822-4910-8FC4-84E46116445A}" dt="2025-07-18T16:03:23.525" v="418" actId="1076"/>
          <ac:spMkLst>
            <pc:docMk/>
            <pc:sldMk cId="0" sldId="395"/>
            <ac:spMk id="12" creationId="{72656C04-4277-E6CA-10C7-B4A2672F7187}"/>
          </ac:spMkLst>
        </pc:spChg>
        <pc:spChg chg="mod">
          <ac:chgData name="Camilo Daleles Rennó" userId="eac9aab033b2f962" providerId="LiveId" clId="{B4395F93-D822-4910-8FC4-84E46116445A}" dt="2025-07-18T16:02:09.128" v="391" actId="14100"/>
          <ac:spMkLst>
            <pc:docMk/>
            <pc:sldMk cId="0" sldId="395"/>
            <ac:spMk id="30738" creationId="{00000000-0000-0000-0000-000000000000}"/>
          </ac:spMkLst>
        </pc:spChg>
        <pc:picChg chg="add mod">
          <ac:chgData name="Camilo Daleles Rennó" userId="eac9aab033b2f962" providerId="LiveId" clId="{B4395F93-D822-4910-8FC4-84E46116445A}" dt="2025-07-18T16:02:32.669" v="407" actId="1036"/>
          <ac:picMkLst>
            <pc:docMk/>
            <pc:sldMk cId="0" sldId="395"/>
            <ac:picMk id="5" creationId="{A6A8EABF-7540-C098-2DDD-E38527C29899}"/>
          </ac:picMkLst>
        </pc:picChg>
      </pc:sldChg>
      <pc:sldChg chg="modSp modAnim">
        <pc:chgData name="Camilo Daleles Rennó" userId="eac9aab033b2f962" providerId="LiveId" clId="{B4395F93-D822-4910-8FC4-84E46116445A}" dt="2025-07-18T16:10:42.076" v="619"/>
        <pc:sldMkLst>
          <pc:docMk/>
          <pc:sldMk cId="0" sldId="401"/>
        </pc:sldMkLst>
        <pc:spChg chg="mod">
          <ac:chgData name="Camilo Daleles Rennó" userId="eac9aab033b2f962" providerId="LiveId" clId="{B4395F93-D822-4910-8FC4-84E46116445A}" dt="2025-07-18T16:10:24.359" v="618" actId="207"/>
          <ac:spMkLst>
            <pc:docMk/>
            <pc:sldMk cId="0" sldId="401"/>
            <ac:spMk id="14339" creationId="{00000000-0000-0000-0000-000000000000}"/>
          </ac:spMkLst>
        </pc:spChg>
      </pc:sldChg>
      <pc:sldChg chg="modSp">
        <pc:chgData name="Camilo Daleles Rennó" userId="eac9aab033b2f962" providerId="LiveId" clId="{B4395F93-D822-4910-8FC4-84E46116445A}" dt="2025-07-18T16:26:46.975" v="620" actId="207"/>
        <pc:sldMkLst>
          <pc:docMk/>
          <pc:sldMk cId="0" sldId="421"/>
        </pc:sldMkLst>
        <pc:spChg chg="mod">
          <ac:chgData name="Camilo Daleles Rennó" userId="eac9aab033b2f962" providerId="LiveId" clId="{B4395F93-D822-4910-8FC4-84E46116445A}" dt="2025-07-18T16:26:46.975" v="620" actId="207"/>
          <ac:spMkLst>
            <pc:docMk/>
            <pc:sldMk cId="0" sldId="421"/>
            <ac:spMk id="111" creationId="{00000000-0000-0000-0000-000000000000}"/>
          </ac:spMkLst>
        </pc:spChg>
      </pc:sldChg>
      <pc:sldChg chg="addSp delSp modSp mod delAnim modAnim">
        <pc:chgData name="Camilo Daleles Rennó" userId="eac9aab033b2f962" providerId="LiveId" clId="{B4395F93-D822-4910-8FC4-84E46116445A}" dt="2025-07-21T16:32:25.313" v="707"/>
        <pc:sldMkLst>
          <pc:docMk/>
          <pc:sldMk cId="0" sldId="422"/>
        </pc:sldMkLst>
        <pc:spChg chg="add mod">
          <ac:chgData name="Camilo Daleles Rennó" userId="eac9aab033b2f962" providerId="LiveId" clId="{B4395F93-D822-4910-8FC4-84E46116445A}" dt="2025-07-21T16:24:47.662" v="632" actId="164"/>
          <ac:spMkLst>
            <pc:docMk/>
            <pc:sldMk cId="0" sldId="422"/>
            <ac:spMk id="3" creationId="{57ADBC3C-CB1D-E331-DDF0-B6B20B0DF057}"/>
          </ac:spMkLst>
        </pc:spChg>
        <pc:spChg chg="add mod">
          <ac:chgData name="Camilo Daleles Rennó" userId="eac9aab033b2f962" providerId="LiveId" clId="{B4395F93-D822-4910-8FC4-84E46116445A}" dt="2025-07-21T16:24:47.662" v="632" actId="164"/>
          <ac:spMkLst>
            <pc:docMk/>
            <pc:sldMk cId="0" sldId="422"/>
            <ac:spMk id="5" creationId="{2304BEFA-6F56-40EC-B963-106AEBD4A217}"/>
          </ac:spMkLst>
        </pc:spChg>
        <pc:spChg chg="add mod">
          <ac:chgData name="Camilo Daleles Rennó" userId="eac9aab033b2f962" providerId="LiveId" clId="{B4395F93-D822-4910-8FC4-84E46116445A}" dt="2025-07-21T16:31:55.561" v="704" actId="164"/>
          <ac:spMkLst>
            <pc:docMk/>
            <pc:sldMk cId="0" sldId="422"/>
            <ac:spMk id="8" creationId="{D57D9BA4-45E7-38D2-411C-D55BAE806CB5}"/>
          </ac:spMkLst>
        </pc:spChg>
        <pc:grpChg chg="add del mod">
          <ac:chgData name="Camilo Daleles Rennó" userId="eac9aab033b2f962" providerId="LiveId" clId="{B4395F93-D822-4910-8FC4-84E46116445A}" dt="2025-07-21T16:28:32.078" v="669" actId="478"/>
          <ac:grpSpMkLst>
            <pc:docMk/>
            <pc:sldMk cId="0" sldId="422"/>
            <ac:grpSpMk id="6" creationId="{60E0ECE3-40AE-E3B0-451F-2152D29B7B82}"/>
          </ac:grpSpMkLst>
        </pc:grpChg>
        <pc:grpChg chg="del">
          <ac:chgData name="Camilo Daleles Rennó" userId="eac9aab033b2f962" providerId="LiveId" clId="{B4395F93-D822-4910-8FC4-84E46116445A}" dt="2025-07-21T16:28:34.403" v="670" actId="478"/>
          <ac:grpSpMkLst>
            <pc:docMk/>
            <pc:sldMk cId="0" sldId="422"/>
            <ac:grpSpMk id="10" creationId="{00000000-0000-0000-0000-000000000000}"/>
          </ac:grpSpMkLst>
        </pc:grpChg>
        <pc:grpChg chg="del">
          <ac:chgData name="Camilo Daleles Rennó" userId="eac9aab033b2f962" providerId="LiveId" clId="{B4395F93-D822-4910-8FC4-84E46116445A}" dt="2025-07-21T16:25:17.079" v="636" actId="478"/>
          <ac:grpSpMkLst>
            <pc:docMk/>
            <pc:sldMk cId="0" sldId="422"/>
            <ac:grpSpMk id="11" creationId="{00000000-0000-0000-0000-000000000000}"/>
          </ac:grpSpMkLst>
        </pc:grpChg>
        <pc:grpChg chg="add mod">
          <ac:chgData name="Camilo Daleles Rennó" userId="eac9aab033b2f962" providerId="LiveId" clId="{B4395F93-D822-4910-8FC4-84E46116445A}" dt="2025-07-21T16:31:55.561" v="704" actId="164"/>
          <ac:grpSpMkLst>
            <pc:docMk/>
            <pc:sldMk cId="0" sldId="422"/>
            <ac:grpSpMk id="13" creationId="{CEC9ADCA-140B-A324-5D82-FEBAE42886E3}"/>
          </ac:grpSpMkLst>
        </pc:grpChg>
        <pc:cxnChg chg="add mod">
          <ac:chgData name="Camilo Daleles Rennó" userId="eac9aab033b2f962" providerId="LiveId" clId="{B4395F93-D822-4910-8FC4-84E46116445A}" dt="2025-07-21T16:31:55.561" v="704" actId="164"/>
          <ac:cxnSpMkLst>
            <pc:docMk/>
            <pc:sldMk cId="0" sldId="422"/>
            <ac:cxnSpMk id="12" creationId="{2254E54B-DD46-194B-DB82-8D7F20B1F4CE}"/>
          </ac:cxnSpMkLst>
        </pc:cxnChg>
      </pc:sldChg>
      <pc:sldChg chg="addSp delSp modSp mod modAnim">
        <pc:chgData name="Camilo Daleles Rennó" userId="eac9aab033b2f962" providerId="LiveId" clId="{B4395F93-D822-4910-8FC4-84E46116445A}" dt="2025-07-21T16:34:14.084" v="714"/>
        <pc:sldMkLst>
          <pc:docMk/>
          <pc:sldMk cId="0" sldId="423"/>
        </pc:sldMkLst>
        <pc:spChg chg="mod">
          <ac:chgData name="Camilo Daleles Rennó" userId="eac9aab033b2f962" providerId="LiveId" clId="{B4395F93-D822-4910-8FC4-84E46116445A}" dt="2025-07-21T16:25:53.355" v="638"/>
          <ac:spMkLst>
            <pc:docMk/>
            <pc:sldMk cId="0" sldId="423"/>
            <ac:spMk id="7" creationId="{792C0E82-C5F9-DAE4-50B2-4381C2D61621}"/>
          </ac:spMkLst>
        </pc:spChg>
        <pc:spChg chg="mod">
          <ac:chgData name="Camilo Daleles Rennó" userId="eac9aab033b2f962" providerId="LiveId" clId="{B4395F93-D822-4910-8FC4-84E46116445A}" dt="2025-07-21T16:25:53.355" v="638"/>
          <ac:spMkLst>
            <pc:docMk/>
            <pc:sldMk cId="0" sldId="423"/>
            <ac:spMk id="8" creationId="{FA20E16C-0ABB-134C-5681-C1F0C8AAABF0}"/>
          </ac:spMkLst>
        </pc:spChg>
        <pc:grpChg chg="add mod">
          <ac:chgData name="Camilo Daleles Rennó" userId="eac9aab033b2f962" providerId="LiveId" clId="{B4395F93-D822-4910-8FC4-84E46116445A}" dt="2025-07-21T16:25:53.355" v="638"/>
          <ac:grpSpMkLst>
            <pc:docMk/>
            <pc:sldMk cId="0" sldId="423"/>
            <ac:grpSpMk id="6" creationId="{894AA367-32D8-896D-863D-EA90C7057C5A}"/>
          </ac:grpSpMkLst>
        </pc:grpChg>
        <pc:grpChg chg="del">
          <ac:chgData name="Camilo Daleles Rennó" userId="eac9aab033b2f962" providerId="LiveId" clId="{B4395F93-D822-4910-8FC4-84E46116445A}" dt="2025-07-21T16:25:52.380" v="637" actId="478"/>
          <ac:grpSpMkLst>
            <pc:docMk/>
            <pc:sldMk cId="0" sldId="423"/>
            <ac:grpSpMk id="20485" creationId="{00000000-0000-0000-0000-000000000000}"/>
          </ac:grpSpMkLst>
        </pc:grpChg>
        <pc:graphicFrameChg chg="mod">
          <ac:chgData name="Camilo Daleles Rennó" userId="eac9aab033b2f962" providerId="LiveId" clId="{B4395F93-D822-4910-8FC4-84E46116445A}" dt="2025-07-21T16:27:04.320" v="668" actId="1038"/>
          <ac:graphicFrameMkLst>
            <pc:docMk/>
            <pc:sldMk cId="0" sldId="423"/>
            <ac:graphicFrameMk id="20493" creationId="{00000000-0000-0000-0000-000000000000}"/>
          </ac:graphicFrameMkLst>
        </pc:graphicFrameChg>
        <pc:graphicFrameChg chg="mod">
          <ac:chgData name="Camilo Daleles Rennó" userId="eac9aab033b2f962" providerId="LiveId" clId="{B4395F93-D822-4910-8FC4-84E46116445A}" dt="2025-07-21T16:26:50.804" v="658" actId="1037"/>
          <ac:graphicFrameMkLst>
            <pc:docMk/>
            <pc:sldMk cId="0" sldId="423"/>
            <ac:graphicFrameMk id="20494" creationId="{00000000-0000-0000-0000-000000000000}"/>
          </ac:graphicFrameMkLst>
        </pc:graphicFrameChg>
        <pc:graphicFrameChg chg="mod">
          <ac:chgData name="Camilo Daleles Rennó" userId="eac9aab033b2f962" providerId="LiveId" clId="{B4395F93-D822-4910-8FC4-84E46116445A}" dt="2025-07-21T16:26:53.898" v="663" actId="1037"/>
          <ac:graphicFrameMkLst>
            <pc:docMk/>
            <pc:sldMk cId="0" sldId="423"/>
            <ac:graphicFrameMk id="20495" creationId="{00000000-0000-0000-0000-000000000000}"/>
          </ac:graphicFrameMkLst>
        </pc:graphicFrameChg>
      </pc:sldChg>
      <pc:sldChg chg="delSp modSp mod modAnim">
        <pc:chgData name="Camilo Daleles Rennó" userId="eac9aab033b2f962" providerId="LiveId" clId="{B4395F93-D822-4910-8FC4-84E46116445A}" dt="2025-07-18T14:36:17.444" v="124" actId="1036"/>
        <pc:sldMkLst>
          <pc:docMk/>
          <pc:sldMk cId="2525275106" sldId="450"/>
        </pc:sldMkLst>
        <pc:spChg chg="mod">
          <ac:chgData name="Camilo Daleles Rennó" userId="eac9aab033b2f962" providerId="LiveId" clId="{B4395F93-D822-4910-8FC4-84E46116445A}" dt="2025-07-18T14:36:17.444" v="124" actId="1036"/>
          <ac:spMkLst>
            <pc:docMk/>
            <pc:sldMk cId="2525275106" sldId="450"/>
            <ac:spMk id="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6:17.444" v="124" actId="1036"/>
          <ac:spMkLst>
            <pc:docMk/>
            <pc:sldMk cId="2525275106" sldId="450"/>
            <ac:spMk id="80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6:17.444" v="124" actId="1036"/>
          <ac:spMkLst>
            <pc:docMk/>
            <pc:sldMk cId="2525275106" sldId="450"/>
            <ac:spMk id="81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3:07.781" v="70" actId="1037"/>
          <ac:spMkLst>
            <pc:docMk/>
            <pc:sldMk cId="2525275106" sldId="450"/>
            <ac:spMk id="84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2:49.859" v="19" actId="1035"/>
          <ac:spMkLst>
            <pc:docMk/>
            <pc:sldMk cId="2525275106" sldId="450"/>
            <ac:spMk id="86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3:20.887" v="105" actId="1038"/>
          <ac:spMkLst>
            <pc:docMk/>
            <pc:sldMk cId="2525275106" sldId="450"/>
            <ac:spMk id="89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3:02.054" v="51" actId="1036"/>
          <ac:spMkLst>
            <pc:docMk/>
            <pc:sldMk cId="2525275106" sldId="450"/>
            <ac:spMk id="91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3:12.989" v="85" actId="1036"/>
          <ac:spMkLst>
            <pc:docMk/>
            <pc:sldMk cId="2525275106" sldId="450"/>
            <ac:spMk id="92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6:17.444" v="124" actId="1036"/>
          <ac:spMkLst>
            <pc:docMk/>
            <pc:sldMk cId="2525275106" sldId="450"/>
            <ac:spMk id="107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09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10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12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13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1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16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17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18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5:14.233" v="113" actId="478"/>
          <ac:spMkLst>
            <pc:docMk/>
            <pc:sldMk cId="2525275106" sldId="450"/>
            <ac:spMk id="122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4:26.982" v="111" actId="167"/>
          <ac:spMkLst>
            <pc:docMk/>
            <pc:sldMk cId="2525275106" sldId="450"/>
            <ac:spMk id="124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4:26.982" v="111" actId="167"/>
          <ac:spMkLst>
            <pc:docMk/>
            <pc:sldMk cId="2525275106" sldId="450"/>
            <ac:spMk id="12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6:17.444" v="124" actId="1036"/>
          <ac:spMkLst>
            <pc:docMk/>
            <pc:sldMk cId="2525275106" sldId="450"/>
            <ac:spMk id="127" creationId="{00000000-0000-0000-0000-000000000000}"/>
          </ac:spMkLst>
        </pc:spChg>
      </pc:sldChg>
      <pc:sldChg chg="modSp mod modAnim">
        <pc:chgData name="Camilo Daleles Rennó" userId="eac9aab033b2f962" providerId="LiveId" clId="{B4395F93-D822-4910-8FC4-84E46116445A}" dt="2025-07-18T14:38:29.290" v="141" actId="20577"/>
        <pc:sldMkLst>
          <pc:docMk/>
          <pc:sldMk cId="1609920171" sldId="467"/>
        </pc:sldMkLst>
        <pc:spChg chg="mod">
          <ac:chgData name="Camilo Daleles Rennó" userId="eac9aab033b2f962" providerId="LiveId" clId="{B4395F93-D822-4910-8FC4-84E46116445A}" dt="2025-07-18T14:36:31.344" v="130" actId="1035"/>
          <ac:spMkLst>
            <pc:docMk/>
            <pc:sldMk cId="1609920171" sldId="467"/>
            <ac:spMk id="86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6:31.344" v="130" actId="1035"/>
          <ac:spMkLst>
            <pc:docMk/>
            <pc:sldMk cId="1609920171" sldId="467"/>
            <ac:spMk id="87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1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21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23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29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31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3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37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39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44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01.907" v="138" actId="1582"/>
          <ac:spMkLst>
            <pc:docMk/>
            <pc:sldMk cId="1609920171" sldId="467"/>
            <ac:spMk id="145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6:31.344" v="130" actId="1035"/>
          <ac:spMkLst>
            <pc:docMk/>
            <pc:sldMk cId="1609920171" sldId="467"/>
            <ac:spMk id="148" creationId="{00000000-0000-0000-0000-000000000000}"/>
          </ac:spMkLst>
        </pc:spChg>
        <pc:spChg chg="mod">
          <ac:chgData name="Camilo Daleles Rennó" userId="eac9aab033b2f962" providerId="LiveId" clId="{B4395F93-D822-4910-8FC4-84E46116445A}" dt="2025-07-18T14:38:29.290" v="141" actId="20577"/>
          <ac:spMkLst>
            <pc:docMk/>
            <pc:sldMk cId="1609920171" sldId="467"/>
            <ac:spMk id="201" creationId="{00000000-0000-0000-0000-000000000000}"/>
          </ac:spMkLst>
        </pc:spChg>
      </pc:sldChg>
      <pc:sldChg chg="delSp modSp add mod modAnim">
        <pc:chgData name="Camilo Daleles Rennó" userId="eac9aab033b2f962" providerId="LiveId" clId="{B4395F93-D822-4910-8FC4-84E46116445A}" dt="2025-07-18T16:08:54.370" v="617"/>
        <pc:sldMkLst>
          <pc:docMk/>
          <pc:sldMk cId="4172960779" sldId="532"/>
        </pc:sldMkLst>
        <pc:spChg chg="mod">
          <ac:chgData name="Camilo Daleles Rennó" userId="eac9aab033b2f962" providerId="LiveId" clId="{B4395F93-D822-4910-8FC4-84E46116445A}" dt="2025-07-18T16:08:43.773" v="615"/>
          <ac:spMkLst>
            <pc:docMk/>
            <pc:sldMk cId="4172960779" sldId="532"/>
            <ac:spMk id="10" creationId="{7CD8D5AD-1685-AF14-7549-7A78011E99FE}"/>
          </ac:spMkLst>
        </pc:spChg>
      </pc:sldChg>
    </pc:docChg>
  </pc:docChgLst>
  <pc:docChgLst>
    <pc:chgData name="Camilo Daleles Rennó" userId="eac9aab033b2f962" providerId="LiveId" clId="{7B18CCBE-38A4-4C31-BBF5-0DCBAB53CE3A}"/>
    <pc:docChg chg="undo redo custSel addSld delSld modSld">
      <pc:chgData name="Camilo Daleles Rennó" userId="eac9aab033b2f962" providerId="LiveId" clId="{7B18CCBE-38A4-4C31-BBF5-0DCBAB53CE3A}" dt="2025-05-26T01:33:26.333" v="1220" actId="20577"/>
      <pc:docMkLst>
        <pc:docMk/>
      </pc:docMkLst>
      <pc:sldChg chg="addSp delSp modSp mod delAnim modAnim">
        <pc:chgData name="Camilo Daleles Rennó" userId="eac9aab033b2f962" providerId="LiveId" clId="{7B18CCBE-38A4-4C31-BBF5-0DCBAB53CE3A}" dt="2025-05-24T22:41:22.348" v="974" actId="6549"/>
        <pc:sldMkLst>
          <pc:docMk/>
          <pc:sldMk cId="0" sldId="424"/>
        </pc:sldMkLst>
        <pc:spChg chg="mod">
          <ac:chgData name="Camilo Daleles Rennó" userId="eac9aab033b2f962" providerId="LiveId" clId="{7B18CCBE-38A4-4C31-BBF5-0DCBAB53CE3A}" dt="2025-05-23T20:42:37.069" v="230" actId="20577"/>
          <ac:spMkLst>
            <pc:docMk/>
            <pc:sldMk cId="0" sldId="424"/>
            <ac:spMk id="29698" creationId="{00000000-0000-0000-0000-000000000000}"/>
          </ac:spMkLst>
        </pc:spChg>
        <pc:spChg chg="mod">
          <ac:chgData name="Camilo Daleles Rennó" userId="eac9aab033b2f962" providerId="LiveId" clId="{7B18CCBE-38A4-4C31-BBF5-0DCBAB53CE3A}" dt="2025-05-24T22:41:22.348" v="974" actId="6549"/>
          <ac:spMkLst>
            <pc:docMk/>
            <pc:sldMk cId="0" sldId="424"/>
            <ac:spMk id="41987" creationId="{00000000-0000-0000-0000-000000000000}"/>
          </ac:spMkLst>
        </pc:spChg>
      </pc:sldChg>
      <pc:sldChg chg="modSp mod">
        <pc:chgData name="Camilo Daleles Rennó" userId="eac9aab033b2f962" providerId="LiveId" clId="{7B18CCBE-38A4-4C31-BBF5-0DCBAB53CE3A}" dt="2025-05-23T20:32:51.812" v="27"/>
        <pc:sldMkLst>
          <pc:docMk/>
          <pc:sldMk cId="0" sldId="434"/>
        </pc:sldMkLst>
        <pc:spChg chg="mod">
          <ac:chgData name="Camilo Daleles Rennó" userId="eac9aab033b2f962" providerId="LiveId" clId="{7B18CCBE-38A4-4C31-BBF5-0DCBAB53CE3A}" dt="2025-05-23T20:32:51.812" v="27"/>
          <ac:spMkLst>
            <pc:docMk/>
            <pc:sldMk cId="0" sldId="434"/>
            <ac:spMk id="29698" creationId="{00000000-0000-0000-0000-000000000000}"/>
          </ac:spMkLst>
        </pc:spChg>
      </pc:sldChg>
      <pc:sldChg chg="modSp mod">
        <pc:chgData name="Camilo Daleles Rennó" userId="eac9aab033b2f962" providerId="LiveId" clId="{7B18CCBE-38A4-4C31-BBF5-0DCBAB53CE3A}" dt="2025-05-23T20:32:54.706" v="28"/>
        <pc:sldMkLst>
          <pc:docMk/>
          <pc:sldMk cId="0" sldId="435"/>
        </pc:sldMkLst>
        <pc:spChg chg="mod">
          <ac:chgData name="Camilo Daleles Rennó" userId="eac9aab033b2f962" providerId="LiveId" clId="{7B18CCBE-38A4-4C31-BBF5-0DCBAB53CE3A}" dt="2025-05-23T20:32:54.706" v="28"/>
          <ac:spMkLst>
            <pc:docMk/>
            <pc:sldMk cId="0" sldId="435"/>
            <ac:spMk id="29698" creationId="{00000000-0000-0000-0000-000000000000}"/>
          </ac:spMkLst>
        </pc:spChg>
      </pc:sldChg>
      <pc:sldChg chg="modSp mod">
        <pc:chgData name="Camilo Daleles Rennó" userId="eac9aab033b2f962" providerId="LiveId" clId="{7B18CCBE-38A4-4C31-BBF5-0DCBAB53CE3A}" dt="2025-05-23T20:32:59.483" v="29"/>
        <pc:sldMkLst>
          <pc:docMk/>
          <pc:sldMk cId="0" sldId="437"/>
        </pc:sldMkLst>
        <pc:spChg chg="mod">
          <ac:chgData name="Camilo Daleles Rennó" userId="eac9aab033b2f962" providerId="LiveId" clId="{7B18CCBE-38A4-4C31-BBF5-0DCBAB53CE3A}" dt="2025-05-23T20:32:59.483" v="29"/>
          <ac:spMkLst>
            <pc:docMk/>
            <pc:sldMk cId="0" sldId="437"/>
            <ac:spMk id="29698" creationId="{00000000-0000-0000-0000-000000000000}"/>
          </ac:spMkLst>
        </pc:spChg>
      </pc:sldChg>
      <pc:sldChg chg="modSp mod">
        <pc:chgData name="Camilo Daleles Rennó" userId="eac9aab033b2f962" providerId="LiveId" clId="{7B18CCBE-38A4-4C31-BBF5-0DCBAB53CE3A}" dt="2025-05-23T20:33:02.502" v="30"/>
        <pc:sldMkLst>
          <pc:docMk/>
          <pc:sldMk cId="0" sldId="438"/>
        </pc:sldMkLst>
        <pc:spChg chg="mod">
          <ac:chgData name="Camilo Daleles Rennó" userId="eac9aab033b2f962" providerId="LiveId" clId="{7B18CCBE-38A4-4C31-BBF5-0DCBAB53CE3A}" dt="2025-05-23T20:33:02.502" v="30"/>
          <ac:spMkLst>
            <pc:docMk/>
            <pc:sldMk cId="0" sldId="438"/>
            <ac:spMk id="29698" creationId="{00000000-0000-0000-0000-000000000000}"/>
          </ac:spMkLst>
        </pc:spChg>
      </pc:sldChg>
      <pc:sldChg chg="modSp">
        <pc:chgData name="Camilo Daleles Rennó" userId="eac9aab033b2f962" providerId="LiveId" clId="{7B18CCBE-38A4-4C31-BBF5-0DCBAB53CE3A}" dt="2025-05-24T22:45:08.335" v="975" actId="20577"/>
        <pc:sldMkLst>
          <pc:docMk/>
          <pc:sldMk cId="3722366375" sldId="463"/>
        </pc:sldMkLst>
        <pc:spChg chg="mod">
          <ac:chgData name="Camilo Daleles Rennó" userId="eac9aab033b2f962" providerId="LiveId" clId="{7B18CCBE-38A4-4C31-BBF5-0DCBAB53CE3A}" dt="2025-05-24T22:45:08.335" v="975" actId="20577"/>
          <ac:spMkLst>
            <pc:docMk/>
            <pc:sldMk cId="3722366375" sldId="463"/>
            <ac:spMk id="12" creationId="{00000000-0000-0000-0000-000000000000}"/>
          </ac:spMkLst>
        </pc:spChg>
      </pc:sldChg>
      <pc:sldChg chg="modSp mod">
        <pc:chgData name="Camilo Daleles Rennó" userId="eac9aab033b2f962" providerId="LiveId" clId="{7B18CCBE-38A4-4C31-BBF5-0DCBAB53CE3A}" dt="2025-05-23T20:33:06.017" v="31"/>
        <pc:sldMkLst>
          <pc:docMk/>
          <pc:sldMk cId="530881568" sldId="469"/>
        </pc:sldMkLst>
      </pc:sldChg>
      <pc:sldChg chg="modSp mod">
        <pc:chgData name="Camilo Daleles Rennó" userId="eac9aab033b2f962" providerId="LiveId" clId="{7B18CCBE-38A4-4C31-BBF5-0DCBAB53CE3A}" dt="2025-05-23T20:33:09.551" v="32"/>
        <pc:sldMkLst>
          <pc:docMk/>
          <pc:sldMk cId="266070383" sldId="470"/>
        </pc:sldMkLst>
      </pc:sldChg>
      <pc:sldChg chg="modSp mod">
        <pc:chgData name="Camilo Daleles Rennó" userId="eac9aab033b2f962" providerId="LiveId" clId="{7B18CCBE-38A4-4C31-BBF5-0DCBAB53CE3A}" dt="2025-05-23T20:33:13.311" v="33"/>
        <pc:sldMkLst>
          <pc:docMk/>
          <pc:sldMk cId="3631533554" sldId="471"/>
        </pc:sldMkLst>
      </pc:sldChg>
      <pc:sldChg chg="modSp mod">
        <pc:chgData name="Camilo Daleles Rennó" userId="eac9aab033b2f962" providerId="LiveId" clId="{7B18CCBE-38A4-4C31-BBF5-0DCBAB53CE3A}" dt="2025-05-23T20:33:16.575" v="34"/>
        <pc:sldMkLst>
          <pc:docMk/>
          <pc:sldMk cId="1987218552" sldId="472"/>
        </pc:sldMkLst>
      </pc:sldChg>
      <pc:sldChg chg="addSp delSp modSp mod delAnim modAnim">
        <pc:chgData name="Camilo Daleles Rennó" userId="eac9aab033b2f962" providerId="LiveId" clId="{7B18CCBE-38A4-4C31-BBF5-0DCBAB53CE3A}" dt="2025-05-26T01:33:26.333" v="1220" actId="20577"/>
        <pc:sldMkLst>
          <pc:docMk/>
          <pc:sldMk cId="1652618145" sldId="484"/>
        </pc:sldMkLst>
        <pc:spChg chg="add mod">
          <ac:chgData name="Camilo Daleles Rennó" userId="eac9aab033b2f962" providerId="LiveId" clId="{7B18CCBE-38A4-4C31-BBF5-0DCBAB53CE3A}" dt="2025-05-26T01:33:26.333" v="1220" actId="20577"/>
          <ac:spMkLst>
            <pc:docMk/>
            <pc:sldMk cId="1652618145" sldId="484"/>
            <ac:spMk id="13" creationId="{5D5D80E9-AA0F-014D-FC48-57C5EB2F3ECC}"/>
          </ac:spMkLst>
        </pc:spChg>
        <pc:spChg chg="mod">
          <ac:chgData name="Camilo Daleles Rennó" userId="eac9aab033b2f962" providerId="LiveId" clId="{7B18CCBE-38A4-4C31-BBF5-0DCBAB53CE3A}" dt="2025-05-23T21:16:18.281" v="690" actId="13926"/>
          <ac:spMkLst>
            <pc:docMk/>
            <pc:sldMk cId="1652618145" sldId="484"/>
            <ac:spMk id="29698" creationId="{00000000-0000-0000-0000-000000000000}"/>
          </ac:spMkLst>
        </pc:spChg>
      </pc:sldChg>
      <pc:sldChg chg="add">
        <pc:chgData name="Camilo Daleles Rennó" userId="eac9aab033b2f962" providerId="LiveId" clId="{7B18CCBE-38A4-4C31-BBF5-0DCBAB53CE3A}" dt="2025-05-24T22:24:39.700" v="737"/>
        <pc:sldMkLst>
          <pc:docMk/>
          <pc:sldMk cId="2929379055" sldId="492"/>
        </pc:sldMkLst>
      </pc:sldChg>
      <pc:sldChg chg="modSp del mod">
        <pc:chgData name="Camilo Daleles Rennó" userId="eac9aab033b2f962" providerId="LiveId" clId="{7B18CCBE-38A4-4C31-BBF5-0DCBAB53CE3A}" dt="2025-05-24T22:24:32.068" v="736" actId="2696"/>
        <pc:sldMkLst>
          <pc:docMk/>
          <pc:sldMk cId="3910568169" sldId="492"/>
        </pc:sldMkLst>
      </pc:sldChg>
      <pc:sldChg chg="modSp mod">
        <pc:chgData name="Camilo Daleles Rennó" userId="eac9aab033b2f962" providerId="LiveId" clId="{7B18CCBE-38A4-4C31-BBF5-0DCBAB53CE3A}" dt="2025-05-24T22:48:34.115" v="992"/>
        <pc:sldMkLst>
          <pc:docMk/>
          <pc:sldMk cId="394351401" sldId="494"/>
        </pc:sldMkLst>
        <pc:spChg chg="mod">
          <ac:chgData name="Camilo Daleles Rennó" userId="eac9aab033b2f962" providerId="LiveId" clId="{7B18CCBE-38A4-4C31-BBF5-0DCBAB53CE3A}" dt="2025-05-24T22:48:34.115" v="992"/>
          <ac:spMkLst>
            <pc:docMk/>
            <pc:sldMk cId="394351401" sldId="494"/>
            <ac:spMk id="2" creationId="{00000000-0000-0000-0000-000000000000}"/>
          </ac:spMkLst>
        </pc:spChg>
        <pc:spChg chg="mod">
          <ac:chgData name="Camilo Daleles Rennó" userId="eac9aab033b2f962" providerId="LiveId" clId="{7B18CCBE-38A4-4C31-BBF5-0DCBAB53CE3A}" dt="2025-05-24T22:47:23.883" v="978"/>
          <ac:spMkLst>
            <pc:docMk/>
            <pc:sldMk cId="394351401" sldId="494"/>
            <ac:spMk id="5" creationId="{00000000-0000-0000-0000-000000000000}"/>
          </ac:spMkLst>
        </pc:spChg>
      </pc:sldChg>
      <pc:sldChg chg="del">
        <pc:chgData name="Camilo Daleles Rennó" userId="eac9aab033b2f962" providerId="LiveId" clId="{7B18CCBE-38A4-4C31-BBF5-0DCBAB53CE3A}" dt="2025-05-24T22:24:32.068" v="736" actId="2696"/>
        <pc:sldMkLst>
          <pc:docMk/>
          <pc:sldMk cId="2490181600" sldId="512"/>
        </pc:sldMkLst>
      </pc:sldChg>
      <pc:sldChg chg="add">
        <pc:chgData name="Camilo Daleles Rennó" userId="eac9aab033b2f962" providerId="LiveId" clId="{7B18CCBE-38A4-4C31-BBF5-0DCBAB53CE3A}" dt="2025-05-24T22:24:39.700" v="737"/>
        <pc:sldMkLst>
          <pc:docMk/>
          <pc:sldMk cId="4249832417" sldId="512"/>
        </pc:sldMkLst>
      </pc:sldChg>
      <pc:sldChg chg="addSp delSp modSp add del mod delAnim modAnim">
        <pc:chgData name="Camilo Daleles Rennó" userId="eac9aab033b2f962" providerId="LiveId" clId="{7B18CCBE-38A4-4C31-BBF5-0DCBAB53CE3A}" dt="2025-05-23T21:16:27.348" v="691" actId="47"/>
        <pc:sldMkLst>
          <pc:docMk/>
          <pc:sldMk cId="1148592632" sldId="513"/>
        </pc:sldMkLst>
      </pc:sldChg>
      <pc:sldChg chg="add del">
        <pc:chgData name="Camilo Daleles Rennó" userId="eac9aab033b2f962" providerId="LiveId" clId="{7B18CCBE-38A4-4C31-BBF5-0DCBAB53CE3A}" dt="2025-05-23T20:48:58.728" v="633" actId="47"/>
        <pc:sldMkLst>
          <pc:docMk/>
          <pc:sldMk cId="1229672621" sldId="514"/>
        </pc:sldMkLst>
      </pc:sldChg>
      <pc:sldChg chg="add">
        <pc:chgData name="Camilo Daleles Rennó" userId="eac9aab033b2f962" providerId="LiveId" clId="{7B18CCBE-38A4-4C31-BBF5-0DCBAB53CE3A}" dt="2025-05-23T20:50:19.690" v="639" actId="2890"/>
        <pc:sldMkLst>
          <pc:docMk/>
          <pc:sldMk cId="2802904438" sldId="514"/>
        </pc:sldMkLst>
      </pc:sldChg>
    </pc:docChg>
  </pc:docChgLst>
  <pc:docChgLst>
    <pc:chgData name="Camilo Daleles Rennó" userId="eac9aab033b2f962" providerId="LiveId" clId="{BCA953E3-DBA3-498E-9253-65CB93F084E0}"/>
    <pc:docChg chg="modSld">
      <pc:chgData name="Camilo Daleles Rennó" userId="eac9aab033b2f962" providerId="LiveId" clId="{BCA953E3-DBA3-498E-9253-65CB93F084E0}" dt="2025-05-07T16:24:12.355" v="1" actId="20577"/>
      <pc:docMkLst>
        <pc:docMk/>
      </pc:docMkLst>
      <pc:sldChg chg="modSp mod">
        <pc:chgData name="Camilo Daleles Rennó" userId="eac9aab033b2f962" providerId="LiveId" clId="{BCA953E3-DBA3-498E-9253-65CB93F084E0}" dt="2025-05-07T16:24:12.355" v="1" actId="20577"/>
        <pc:sldMkLst>
          <pc:docMk/>
          <pc:sldMk cId="0" sldId="419"/>
        </pc:sldMkLst>
        <pc:spChg chg="mod">
          <ac:chgData name="Camilo Daleles Rennó" userId="eac9aab033b2f962" providerId="LiveId" clId="{BCA953E3-DBA3-498E-9253-65CB93F084E0}" dt="2025-05-07T16:24:12.355" v="1" actId="20577"/>
          <ac:spMkLst>
            <pc:docMk/>
            <pc:sldMk cId="0" sldId="419"/>
            <ac:spMk id="3074" creationId="{00000000-0000-0000-0000-000000000000}"/>
          </ac:spMkLst>
        </pc:spChg>
      </pc:sldChg>
    </pc:docChg>
  </pc:docChgLst>
  <pc:docChgLst>
    <pc:chgData name="Camilo Daleles Rennó" userId="eac9aab033b2f962" providerId="LiveId" clId="{D7099861-E3C6-4262-8ED6-A0A90ABF714A}"/>
    <pc:docChg chg="undo redo custSel addSld delSld modSld sldOrd">
      <pc:chgData name="Camilo Daleles Rennó" userId="eac9aab033b2f962" providerId="LiveId" clId="{D7099861-E3C6-4262-8ED6-A0A90ABF714A}" dt="2025-06-09T13:14:41.893" v="7809" actId="20577"/>
      <pc:docMkLst>
        <pc:docMk/>
      </pc:docMkLst>
      <pc:sldChg chg="addSp delSp modSp mod">
        <pc:chgData name="Camilo Daleles Rennó" userId="eac9aab033b2f962" providerId="LiveId" clId="{D7099861-E3C6-4262-8ED6-A0A90ABF714A}" dt="2025-06-09T13:14:41.893" v="7809" actId="20577"/>
        <pc:sldMkLst>
          <pc:docMk/>
          <pc:sldMk cId="0" sldId="419"/>
        </pc:sldMkLst>
        <pc:spChg chg="add mod">
          <ac:chgData name="Camilo Daleles Rennó" userId="eac9aab033b2f962" providerId="LiveId" clId="{D7099861-E3C6-4262-8ED6-A0A90ABF714A}" dt="2025-05-23T14:10:36.357" v="1"/>
          <ac:spMkLst>
            <pc:docMk/>
            <pc:sldMk cId="0" sldId="419"/>
            <ac:spMk id="2" creationId="{C804E013-879B-64F7-5879-5307BB00AFE4}"/>
          </ac:spMkLst>
        </pc:spChg>
        <pc:spChg chg="mod">
          <ac:chgData name="Camilo Daleles Rennó" userId="eac9aab033b2f962" providerId="LiveId" clId="{D7099861-E3C6-4262-8ED6-A0A90ABF714A}" dt="2025-06-09T13:14:41.893" v="7809" actId="20577"/>
          <ac:spMkLst>
            <pc:docMk/>
            <pc:sldMk cId="0" sldId="419"/>
            <ac:spMk id="3074" creationId="{00000000-0000-0000-0000-000000000000}"/>
          </ac:spMkLst>
        </pc:spChg>
      </pc:sldChg>
      <pc:sldChg chg="modSp mod">
        <pc:chgData name="Camilo Daleles Rennó" userId="eac9aab033b2f962" providerId="LiveId" clId="{D7099861-E3C6-4262-8ED6-A0A90ABF714A}" dt="2025-05-26T14:56:26.334" v="3008" actId="207"/>
        <pc:sldMkLst>
          <pc:docMk/>
          <pc:sldMk cId="0" sldId="421"/>
        </pc:sldMkLst>
        <pc:spChg chg="mod">
          <ac:chgData name="Camilo Daleles Rennó" userId="eac9aab033b2f962" providerId="LiveId" clId="{D7099861-E3C6-4262-8ED6-A0A90ABF714A}" dt="2025-05-26T14:56:26.334" v="3008" actId="207"/>
          <ac:spMkLst>
            <pc:docMk/>
            <pc:sldMk cId="0" sldId="421"/>
            <ac:spMk id="74" creationId="{00000000-0000-0000-0000-000000000000}"/>
          </ac:spMkLst>
        </pc:spChg>
      </pc:sldChg>
      <pc:sldChg chg="modSp mod">
        <pc:chgData name="Camilo Daleles Rennó" userId="eac9aab033b2f962" providerId="LiveId" clId="{D7099861-E3C6-4262-8ED6-A0A90ABF714A}" dt="2025-05-26T13:31:38.429" v="2592" actId="20577"/>
        <pc:sldMkLst>
          <pc:docMk/>
          <pc:sldMk cId="0" sldId="424"/>
        </pc:sldMkLst>
        <pc:spChg chg="mod">
          <ac:chgData name="Camilo Daleles Rennó" userId="eac9aab033b2f962" providerId="LiveId" clId="{D7099861-E3C6-4262-8ED6-A0A90ABF714A}" dt="2025-05-26T13:31:38.429" v="2592" actId="20577"/>
          <ac:spMkLst>
            <pc:docMk/>
            <pc:sldMk cId="0" sldId="424"/>
            <ac:spMk id="41987" creationId="{00000000-0000-0000-0000-000000000000}"/>
          </ac:spMkLst>
        </pc:spChg>
      </pc:sldChg>
      <pc:sldChg chg="addSp delSp modSp mod ord addAnim delAnim modAnim">
        <pc:chgData name="Camilo Daleles Rennó" userId="eac9aab033b2f962" providerId="LiveId" clId="{D7099861-E3C6-4262-8ED6-A0A90ABF714A}" dt="2025-05-26T13:23:06.084" v="2519" actId="20577"/>
        <pc:sldMkLst>
          <pc:docMk/>
          <pc:sldMk cId="0" sldId="434"/>
        </pc:sldMkLst>
        <pc:spChg chg="add mod">
          <ac:chgData name="Camilo Daleles Rennó" userId="eac9aab033b2f962" providerId="LiveId" clId="{D7099861-E3C6-4262-8ED6-A0A90ABF714A}" dt="2025-05-26T13:16:13.900" v="2425" actId="14100"/>
          <ac:spMkLst>
            <pc:docMk/>
            <pc:sldMk cId="0" sldId="434"/>
            <ac:spMk id="11" creationId="{8A00A86B-CD2B-C783-5EDE-4BC942CDAD9F}"/>
          </ac:spMkLst>
        </pc:spChg>
        <pc:spChg chg="mod">
          <ac:chgData name="Camilo Daleles Rennó" userId="eac9aab033b2f962" providerId="LiveId" clId="{D7099861-E3C6-4262-8ED6-A0A90ABF714A}" dt="2025-05-26T13:14:19.403" v="2404" actId="1036"/>
          <ac:spMkLst>
            <pc:docMk/>
            <pc:sldMk cId="0" sldId="434"/>
            <ac:spMk id="19" creationId="{D21C4DA3-9B38-ECE0-D58F-50CDF9C51840}"/>
          </ac:spMkLst>
        </pc:spChg>
        <pc:spChg chg="mod">
          <ac:chgData name="Camilo Daleles Rennó" userId="eac9aab033b2f962" providerId="LiveId" clId="{D7099861-E3C6-4262-8ED6-A0A90ABF714A}" dt="2025-05-26T13:14:19.403" v="2404" actId="1036"/>
          <ac:spMkLst>
            <pc:docMk/>
            <pc:sldMk cId="0" sldId="434"/>
            <ac:spMk id="20" creationId="{1DB446EA-9AA3-3296-2329-16A9DFB582CB}"/>
          </ac:spMkLst>
        </pc:spChg>
        <pc:spChg chg="mod">
          <ac:chgData name="Camilo Daleles Rennó" userId="eac9aab033b2f962" providerId="LiveId" clId="{D7099861-E3C6-4262-8ED6-A0A90ABF714A}" dt="2025-05-26T13:15:00.247" v="2418" actId="1037"/>
          <ac:spMkLst>
            <pc:docMk/>
            <pc:sldMk cId="0" sldId="434"/>
            <ac:spMk id="22" creationId="{DAA6C0A2-5FFC-1DF4-16F5-129CAC7025CA}"/>
          </ac:spMkLst>
        </pc:spChg>
        <pc:spChg chg="mod">
          <ac:chgData name="Camilo Daleles Rennó" userId="eac9aab033b2f962" providerId="LiveId" clId="{D7099861-E3C6-4262-8ED6-A0A90ABF714A}" dt="2025-05-26T12:38:51.001" v="2312"/>
          <ac:spMkLst>
            <pc:docMk/>
            <pc:sldMk cId="0" sldId="434"/>
            <ac:spMk id="29698" creationId="{00000000-0000-0000-0000-000000000000}"/>
          </ac:spMkLst>
        </pc:spChg>
        <pc:grpChg chg="add mod">
          <ac:chgData name="Camilo Daleles Rennó" userId="eac9aab033b2f962" providerId="LiveId" clId="{D7099861-E3C6-4262-8ED6-A0A90ABF714A}" dt="2025-05-26T13:14:19.403" v="2404" actId="1036"/>
          <ac:grpSpMkLst>
            <pc:docMk/>
            <pc:sldMk cId="0" sldId="434"/>
            <ac:grpSpMk id="18" creationId="{07DEBE1B-AF89-6919-2403-D0135C52343E}"/>
          </ac:grpSpMkLst>
        </pc:grpChg>
        <pc:graphicFrameChg chg="add mod modGraphic">
          <ac:chgData name="Camilo Daleles Rennó" userId="eac9aab033b2f962" providerId="LiveId" clId="{D7099861-E3C6-4262-8ED6-A0A90ABF714A}" dt="2025-05-26T13:05:58.208" v="2334" actId="554"/>
          <ac:graphicFrameMkLst>
            <pc:docMk/>
            <pc:sldMk cId="0" sldId="434"/>
            <ac:graphicFrameMk id="5" creationId="{2B785813-F5B5-B5D6-65AF-CA6CEAB06B03}"/>
          </ac:graphicFrameMkLst>
        </pc:graphicFrameChg>
        <pc:graphicFrameChg chg="add mod modGraphic">
          <ac:chgData name="Camilo Daleles Rennó" userId="eac9aab033b2f962" providerId="LiveId" clId="{D7099861-E3C6-4262-8ED6-A0A90ABF714A}" dt="2025-05-26T13:17:08.628" v="2438" actId="58"/>
          <ac:graphicFrameMkLst>
            <pc:docMk/>
            <pc:sldMk cId="0" sldId="434"/>
            <ac:graphicFrameMk id="7" creationId="{5F48AFBB-D193-0580-A8CF-569B849671F4}"/>
          </ac:graphicFrameMkLst>
        </pc:graphicFrameChg>
        <pc:graphicFrameChg chg="add mod modGraphic">
          <ac:chgData name="Camilo Daleles Rennó" userId="eac9aab033b2f962" providerId="LiveId" clId="{D7099861-E3C6-4262-8ED6-A0A90ABF714A}" dt="2025-05-26T13:18:06.430" v="2478" actId="20577"/>
          <ac:graphicFrameMkLst>
            <pc:docMk/>
            <pc:sldMk cId="0" sldId="434"/>
            <ac:graphicFrameMk id="14" creationId="{BABE41BA-DA7A-36BC-DBA4-B51AEF0291D3}"/>
          </ac:graphicFrameMkLst>
        </pc:graphicFrameChg>
        <pc:graphicFrameChg chg="add mod modGraphic">
          <ac:chgData name="Camilo Daleles Rennó" userId="eac9aab033b2f962" providerId="LiveId" clId="{D7099861-E3C6-4262-8ED6-A0A90ABF714A}" dt="2025-05-26T13:23:06.084" v="2519" actId="20577"/>
          <ac:graphicFrameMkLst>
            <pc:docMk/>
            <pc:sldMk cId="0" sldId="434"/>
            <ac:graphicFrameMk id="15" creationId="{15A2B26C-23D8-7BEF-CE09-B22C0F4216F5}"/>
          </ac:graphicFrameMkLst>
        </pc:graphicFrameChg>
        <pc:picChg chg="add mod ord">
          <ac:chgData name="Camilo Daleles Rennó" userId="eac9aab033b2f962" providerId="LiveId" clId="{D7099861-E3C6-4262-8ED6-A0A90ABF714A}" dt="2025-05-26T13:20:11.486" v="2499" actId="167"/>
          <ac:picMkLst>
            <pc:docMk/>
            <pc:sldMk cId="0" sldId="434"/>
            <ac:picMk id="25" creationId="{1E4E3290-E570-F1F9-AD0B-886292E307C4}"/>
          </ac:picMkLst>
        </pc:picChg>
        <pc:picChg chg="add mod ord">
          <ac:chgData name="Camilo Daleles Rennó" userId="eac9aab033b2f962" providerId="LiveId" clId="{D7099861-E3C6-4262-8ED6-A0A90ABF714A}" dt="2025-05-26T13:20:11.486" v="2499" actId="167"/>
          <ac:picMkLst>
            <pc:docMk/>
            <pc:sldMk cId="0" sldId="434"/>
            <ac:picMk id="26" creationId="{E34490C7-582F-8166-643D-2BCDBE5DEFF7}"/>
          </ac:picMkLst>
        </pc:picChg>
      </pc:sldChg>
      <pc:sldChg chg="modSp mod">
        <pc:chgData name="Camilo Daleles Rennó" userId="eac9aab033b2f962" providerId="LiveId" clId="{D7099861-E3C6-4262-8ED6-A0A90ABF714A}" dt="2025-05-26T12:36:38.019" v="2305"/>
        <pc:sldMkLst>
          <pc:docMk/>
          <pc:sldMk cId="0" sldId="435"/>
        </pc:sldMkLst>
        <pc:spChg chg="mod">
          <ac:chgData name="Camilo Daleles Rennó" userId="eac9aab033b2f962" providerId="LiveId" clId="{D7099861-E3C6-4262-8ED6-A0A90ABF714A}" dt="2025-05-26T12:36:38.019" v="2305"/>
          <ac:spMkLst>
            <pc:docMk/>
            <pc:sldMk cId="0" sldId="435"/>
            <ac:spMk id="29698" creationId="{00000000-0000-0000-0000-000000000000}"/>
          </ac:spMkLst>
        </pc:spChg>
      </pc:sldChg>
      <pc:sldChg chg="modSp mod">
        <pc:chgData name="Camilo Daleles Rennó" userId="eac9aab033b2f962" providerId="LiveId" clId="{D7099861-E3C6-4262-8ED6-A0A90ABF714A}" dt="2025-05-26T12:36:44.916" v="2306"/>
        <pc:sldMkLst>
          <pc:docMk/>
          <pc:sldMk cId="0" sldId="437"/>
        </pc:sldMkLst>
        <pc:spChg chg="mod">
          <ac:chgData name="Camilo Daleles Rennó" userId="eac9aab033b2f962" providerId="LiveId" clId="{D7099861-E3C6-4262-8ED6-A0A90ABF714A}" dt="2025-05-26T12:36:44.916" v="2306"/>
          <ac:spMkLst>
            <pc:docMk/>
            <pc:sldMk cId="0" sldId="437"/>
            <ac:spMk id="29698" creationId="{00000000-0000-0000-0000-000000000000}"/>
          </ac:spMkLst>
        </pc:spChg>
      </pc:sldChg>
      <pc:sldChg chg="modSp mod">
        <pc:chgData name="Camilo Daleles Rennó" userId="eac9aab033b2f962" providerId="LiveId" clId="{D7099861-E3C6-4262-8ED6-A0A90ABF714A}" dt="2025-05-26T14:01:56.329" v="2907" actId="20577"/>
        <pc:sldMkLst>
          <pc:docMk/>
          <pc:sldMk cId="0" sldId="438"/>
        </pc:sldMkLst>
        <pc:spChg chg="mod">
          <ac:chgData name="Camilo Daleles Rennó" userId="eac9aab033b2f962" providerId="LiveId" clId="{D7099861-E3C6-4262-8ED6-A0A90ABF714A}" dt="2025-05-26T12:36:51.602" v="2307"/>
          <ac:spMkLst>
            <pc:docMk/>
            <pc:sldMk cId="0" sldId="438"/>
            <ac:spMk id="29698" creationId="{00000000-0000-0000-0000-000000000000}"/>
          </ac:spMkLst>
        </pc:spChg>
        <pc:graphicFrameChg chg="mod modGraphic">
          <ac:chgData name="Camilo Daleles Rennó" userId="eac9aab033b2f962" providerId="LiveId" clId="{D7099861-E3C6-4262-8ED6-A0A90ABF714A}" dt="2025-05-26T14:01:56.329" v="2907" actId="20577"/>
          <ac:graphicFrameMkLst>
            <pc:docMk/>
            <pc:sldMk cId="0" sldId="438"/>
            <ac:graphicFrameMk id="11" creationId="{00000000-0000-0000-0000-000000000000}"/>
          </ac:graphicFrameMkLst>
        </pc:graphicFrameChg>
      </pc:sldChg>
      <pc:sldChg chg="modSp">
        <pc:chgData name="Camilo Daleles Rennó" userId="eac9aab033b2f962" providerId="LiveId" clId="{D7099861-E3C6-4262-8ED6-A0A90ABF714A}" dt="2025-05-27T10:55:51.602" v="3480" actId="20577"/>
        <pc:sldMkLst>
          <pc:docMk/>
          <pc:sldMk cId="0" sldId="442"/>
        </pc:sldMkLst>
        <pc:spChg chg="mod">
          <ac:chgData name="Camilo Daleles Rennó" userId="eac9aab033b2f962" providerId="LiveId" clId="{D7099861-E3C6-4262-8ED6-A0A90ABF714A}" dt="2025-05-27T10:55:49.107" v="3479" actId="20577"/>
          <ac:spMkLst>
            <pc:docMk/>
            <pc:sldMk cId="0" sldId="442"/>
            <ac:spMk id="12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0:55:51.602" v="3480" actId="20577"/>
          <ac:spMkLst>
            <pc:docMk/>
            <pc:sldMk cId="0" sldId="442"/>
            <ac:spMk id="15" creationId="{00000000-0000-0000-0000-000000000000}"/>
          </ac:spMkLst>
        </pc:spChg>
      </pc:sldChg>
      <pc:sldChg chg="modSp">
        <pc:chgData name="Camilo Daleles Rennó" userId="eac9aab033b2f962" providerId="LiveId" clId="{D7099861-E3C6-4262-8ED6-A0A90ABF714A}" dt="2025-05-27T10:55:37.808" v="3477" actId="20577"/>
        <pc:sldMkLst>
          <pc:docMk/>
          <pc:sldMk cId="0" sldId="443"/>
        </pc:sldMkLst>
        <pc:spChg chg="mod">
          <ac:chgData name="Camilo Daleles Rennó" userId="eac9aab033b2f962" providerId="LiveId" clId="{D7099861-E3C6-4262-8ED6-A0A90ABF714A}" dt="2025-05-27T10:55:37.808" v="3477" actId="20577"/>
          <ac:spMkLst>
            <pc:docMk/>
            <pc:sldMk cId="0" sldId="443"/>
            <ac:spMk id="12" creationId="{00000000-0000-0000-0000-000000000000}"/>
          </ac:spMkLst>
        </pc:spChg>
      </pc:sldChg>
      <pc:sldChg chg="addSp delSp modSp mod delAnim modAnim">
        <pc:chgData name="Camilo Daleles Rennó" userId="eac9aab033b2f962" providerId="LiveId" clId="{D7099861-E3C6-4262-8ED6-A0A90ABF714A}" dt="2025-05-27T10:57:04.960" v="3486" actId="6549"/>
        <pc:sldMkLst>
          <pc:docMk/>
          <pc:sldMk cId="0" sldId="444"/>
        </pc:sldMkLst>
        <pc:spChg chg="add mod">
          <ac:chgData name="Camilo Daleles Rennó" userId="eac9aab033b2f962" providerId="LiveId" clId="{D7099861-E3C6-4262-8ED6-A0A90ABF714A}" dt="2025-05-27T10:49:53.778" v="3125" actId="164"/>
          <ac:spMkLst>
            <pc:docMk/>
            <pc:sldMk cId="0" sldId="444"/>
            <ac:spMk id="2" creationId="{95B56C3A-B05A-1527-9AA7-1803D6073378}"/>
          </ac:spMkLst>
        </pc:spChg>
        <pc:spChg chg="add mod">
          <ac:chgData name="Camilo Daleles Rennó" userId="eac9aab033b2f962" providerId="LiveId" clId="{D7099861-E3C6-4262-8ED6-A0A90ABF714A}" dt="2025-05-27T10:57:04.960" v="3486" actId="6549"/>
          <ac:spMkLst>
            <pc:docMk/>
            <pc:sldMk cId="0" sldId="444"/>
            <ac:spMk id="6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0:55:25.124" v="3470" actId="20577"/>
          <ac:spMkLst>
            <pc:docMk/>
            <pc:sldMk cId="0" sldId="444"/>
            <ac:spMk id="12" creationId="{00000000-0000-0000-0000-000000000000}"/>
          </ac:spMkLst>
        </pc:spChg>
        <pc:grpChg chg="add mod">
          <ac:chgData name="Camilo Daleles Rennó" userId="eac9aab033b2f962" providerId="LiveId" clId="{D7099861-E3C6-4262-8ED6-A0A90ABF714A}" dt="2025-05-27T10:49:53.778" v="3125" actId="164"/>
          <ac:grpSpMkLst>
            <pc:docMk/>
            <pc:sldMk cId="0" sldId="444"/>
            <ac:grpSpMk id="17" creationId="{DD6F8BBF-88DE-B8B3-2B06-4A33B63DDAB2}"/>
          </ac:grpSpMkLst>
        </pc:grpChg>
        <pc:cxnChg chg="add mod">
          <ac:chgData name="Camilo Daleles Rennó" userId="eac9aab033b2f962" providerId="LiveId" clId="{D7099861-E3C6-4262-8ED6-A0A90ABF714A}" dt="2025-05-27T10:49:53.778" v="3125" actId="164"/>
          <ac:cxnSpMkLst>
            <pc:docMk/>
            <pc:sldMk cId="0" sldId="444"/>
            <ac:cxnSpMk id="15" creationId="{BA96984B-BA13-738A-0E4A-F93B51816B91}"/>
          </ac:cxnSpMkLst>
        </pc:cxnChg>
      </pc:sldChg>
      <pc:sldChg chg="modSp">
        <pc:chgData name="Camilo Daleles Rennó" userId="eac9aab033b2f962" providerId="LiveId" clId="{D7099861-E3C6-4262-8ED6-A0A90ABF714A}" dt="2025-05-27T10:55:44.290" v="3478" actId="20577"/>
        <pc:sldMkLst>
          <pc:docMk/>
          <pc:sldMk cId="0" sldId="446"/>
        </pc:sldMkLst>
        <pc:spChg chg="mod">
          <ac:chgData name="Camilo Daleles Rennó" userId="eac9aab033b2f962" providerId="LiveId" clId="{D7099861-E3C6-4262-8ED6-A0A90ABF714A}" dt="2025-05-27T10:55:44.290" v="3478" actId="20577"/>
          <ac:spMkLst>
            <pc:docMk/>
            <pc:sldMk cId="0" sldId="446"/>
            <ac:spMk id="13" creationId="{00000000-0000-0000-0000-000000000000}"/>
          </ac:spMkLst>
        </pc:spChg>
      </pc:sldChg>
      <pc:sldChg chg="modSp mod">
        <pc:chgData name="Camilo Daleles Rennó" userId="eac9aab033b2f962" providerId="LiveId" clId="{D7099861-E3C6-4262-8ED6-A0A90ABF714A}" dt="2025-05-26T14:56:19.096" v="3007" actId="207"/>
        <pc:sldMkLst>
          <pc:docMk/>
          <pc:sldMk cId="2607812271" sldId="458"/>
        </pc:sldMkLst>
        <pc:spChg chg="mod">
          <ac:chgData name="Camilo Daleles Rennó" userId="eac9aab033b2f962" providerId="LiveId" clId="{D7099861-E3C6-4262-8ED6-A0A90ABF714A}" dt="2025-05-26T14:56:19.096" v="3007" actId="207"/>
          <ac:spMkLst>
            <pc:docMk/>
            <pc:sldMk cId="2607812271" sldId="458"/>
            <ac:spMk id="84" creationId="{00000000-0000-0000-0000-000000000000}"/>
          </ac:spMkLst>
        </pc:spChg>
      </pc:sldChg>
      <pc:sldChg chg="modSp modAnim">
        <pc:chgData name="Camilo Daleles Rennó" userId="eac9aab033b2f962" providerId="LiveId" clId="{D7099861-E3C6-4262-8ED6-A0A90ABF714A}" dt="2025-05-27T11:55:31.380" v="3630"/>
        <pc:sldMkLst>
          <pc:docMk/>
          <pc:sldMk cId="3722366375" sldId="463"/>
        </pc:sldMkLst>
        <pc:spChg chg="mod">
          <ac:chgData name="Camilo Daleles Rennó" userId="eac9aab033b2f962" providerId="LiveId" clId="{D7099861-E3C6-4262-8ED6-A0A90ABF714A}" dt="2025-05-27T11:51:16.084" v="3629" actId="20577"/>
          <ac:spMkLst>
            <pc:docMk/>
            <pc:sldMk cId="3722366375" sldId="463"/>
            <ac:spMk id="5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1:50:41.541" v="3619" actId="20577"/>
          <ac:spMkLst>
            <pc:docMk/>
            <pc:sldMk cId="3722366375" sldId="463"/>
            <ac:spMk id="12" creationId="{00000000-0000-0000-0000-000000000000}"/>
          </ac:spMkLst>
        </pc:spChg>
      </pc:sldChg>
      <pc:sldChg chg="modAnim">
        <pc:chgData name="Camilo Daleles Rennó" userId="eac9aab033b2f962" providerId="LiveId" clId="{D7099861-E3C6-4262-8ED6-A0A90ABF714A}" dt="2025-05-27T12:02:05.731" v="3632"/>
        <pc:sldMkLst>
          <pc:docMk/>
          <pc:sldMk cId="460678212" sldId="464"/>
        </pc:sldMkLst>
      </pc:sldChg>
      <pc:sldChg chg="modSp mod">
        <pc:chgData name="Camilo Daleles Rennó" userId="eac9aab033b2f962" providerId="LiveId" clId="{D7099861-E3C6-4262-8ED6-A0A90ABF714A}" dt="2025-05-27T12:04:47.966" v="3635" actId="13926"/>
        <pc:sldMkLst>
          <pc:docMk/>
          <pc:sldMk cId="1541286594" sldId="465"/>
        </pc:sldMkLst>
        <pc:spChg chg="mod">
          <ac:chgData name="Camilo Daleles Rennó" userId="eac9aab033b2f962" providerId="LiveId" clId="{D7099861-E3C6-4262-8ED6-A0A90ABF714A}" dt="2025-05-27T12:04:47.966" v="3635" actId="13926"/>
          <ac:spMkLst>
            <pc:docMk/>
            <pc:sldMk cId="1541286594" sldId="465"/>
            <ac:spMk id="11" creationId="{00000000-0000-0000-0000-000000000000}"/>
          </ac:spMkLst>
        </pc:spChg>
      </pc:sldChg>
      <pc:sldChg chg="addSp delSp modSp mod modAnim">
        <pc:chgData name="Camilo Daleles Rennó" userId="eac9aab033b2f962" providerId="LiveId" clId="{D7099861-E3C6-4262-8ED6-A0A90ABF714A}" dt="2025-05-27T12:41:26.092" v="3879"/>
        <pc:sldMkLst>
          <pc:docMk/>
          <pc:sldMk cId="2433945951" sldId="466"/>
        </pc:sldMkLst>
        <pc:spChg chg="mod">
          <ac:chgData name="Camilo Daleles Rennó" userId="eac9aab033b2f962" providerId="LiveId" clId="{D7099861-E3C6-4262-8ED6-A0A90ABF714A}" dt="2025-05-27T12:40:41.460" v="3876" actId="1035"/>
          <ac:spMkLst>
            <pc:docMk/>
            <pc:sldMk cId="2433945951" sldId="466"/>
            <ac:spMk id="13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2:40:41.460" v="3876" actId="1035"/>
          <ac:spMkLst>
            <pc:docMk/>
            <pc:sldMk cId="2433945951" sldId="466"/>
            <ac:spMk id="14" creationId="{00000000-0000-0000-0000-000000000000}"/>
          </ac:spMkLst>
        </pc:spChg>
        <pc:picChg chg="add mod ord">
          <ac:chgData name="Camilo Daleles Rennó" userId="eac9aab033b2f962" providerId="LiveId" clId="{D7099861-E3C6-4262-8ED6-A0A90ABF714A}" dt="2025-05-27T12:34:32.330" v="3763" actId="552"/>
          <ac:picMkLst>
            <pc:docMk/>
            <pc:sldMk cId="2433945951" sldId="466"/>
            <ac:picMk id="2" creationId="{FEAEE3AC-7AA1-7536-D7E0-0B3D64A472C4}"/>
          </ac:picMkLst>
        </pc:picChg>
        <pc:picChg chg="add mod ord">
          <ac:chgData name="Camilo Daleles Rennó" userId="eac9aab033b2f962" providerId="LiveId" clId="{D7099861-E3C6-4262-8ED6-A0A90ABF714A}" dt="2025-05-27T12:34:41.744" v="3766" actId="1036"/>
          <ac:picMkLst>
            <pc:docMk/>
            <pc:sldMk cId="2433945951" sldId="466"/>
            <ac:picMk id="5" creationId="{E1AFDFC6-EA0B-3E17-4FA6-B5682F0E70CA}"/>
          </ac:picMkLst>
        </pc:picChg>
        <pc:picChg chg="add mod ord">
          <ac:chgData name="Camilo Daleles Rennó" userId="eac9aab033b2f962" providerId="LiveId" clId="{D7099861-E3C6-4262-8ED6-A0A90ABF714A}" dt="2025-05-27T12:40:41.460" v="3876" actId="1035"/>
          <ac:picMkLst>
            <pc:docMk/>
            <pc:sldMk cId="2433945951" sldId="466"/>
            <ac:picMk id="6" creationId="{519720DB-4FED-6E54-0D16-818B27894474}"/>
          </ac:picMkLst>
        </pc:picChg>
      </pc:sldChg>
      <pc:sldChg chg="addSp delSp modSp mod modAnim">
        <pc:chgData name="Camilo Daleles Rennó" userId="eac9aab033b2f962" providerId="LiveId" clId="{D7099861-E3C6-4262-8ED6-A0A90ABF714A}" dt="2025-05-26T14:00:54.703" v="2903" actId="554"/>
        <pc:sldMkLst>
          <pc:docMk/>
          <pc:sldMk cId="530881568" sldId="469"/>
        </pc:sldMkLst>
        <pc:spChg chg="add mod">
          <ac:chgData name="Camilo Daleles Rennó" userId="eac9aab033b2f962" providerId="LiveId" clId="{D7099861-E3C6-4262-8ED6-A0A90ABF714A}" dt="2025-05-26T13:31:02.418" v="2564" actId="20577"/>
          <ac:spMkLst>
            <pc:docMk/>
            <pc:sldMk cId="530881568" sldId="469"/>
            <ac:spMk id="7" creationId="{96DF6D08-9579-168A-FE3A-F8007AEAED13}"/>
          </ac:spMkLst>
        </pc:spChg>
        <pc:spChg chg="add mod">
          <ac:chgData name="Camilo Daleles Rennó" userId="eac9aab033b2f962" providerId="LiveId" clId="{D7099861-E3C6-4262-8ED6-A0A90ABF714A}" dt="2025-05-26T13:42:19.447" v="2653" actId="1038"/>
          <ac:spMkLst>
            <pc:docMk/>
            <pc:sldMk cId="530881568" sldId="469"/>
            <ac:spMk id="22" creationId="{644484AE-3948-85F8-ED83-A11BBF03EFF9}"/>
          </ac:spMkLst>
        </pc:spChg>
        <pc:spChg chg="mod">
          <ac:chgData name="Camilo Daleles Rennó" userId="eac9aab033b2f962" providerId="LiveId" clId="{D7099861-E3C6-4262-8ED6-A0A90ABF714A}" dt="2025-05-26T13:41:02.973" v="2637" actId="1037"/>
          <ac:spMkLst>
            <pc:docMk/>
            <pc:sldMk cId="530881568" sldId="469"/>
            <ac:spMk id="26" creationId="{ACB28AA8-EEF8-4FF9-6925-6AC510320ECB}"/>
          </ac:spMkLst>
        </pc:spChg>
        <pc:spChg chg="mod">
          <ac:chgData name="Camilo Daleles Rennó" userId="eac9aab033b2f962" providerId="LiveId" clId="{D7099861-E3C6-4262-8ED6-A0A90ABF714A}" dt="2025-05-26T13:41:02.973" v="2637" actId="1037"/>
          <ac:spMkLst>
            <pc:docMk/>
            <pc:sldMk cId="530881568" sldId="469"/>
            <ac:spMk id="27" creationId="{9BA6BFE0-E11C-0178-BDB3-1BBA9E22D7E3}"/>
          </ac:spMkLst>
        </pc:spChg>
        <pc:spChg chg="add mod">
          <ac:chgData name="Camilo Daleles Rennó" userId="eac9aab033b2f962" providerId="LiveId" clId="{D7099861-E3C6-4262-8ED6-A0A90ABF714A}" dt="2025-05-26T13:49:46.158" v="2867" actId="14100"/>
          <ac:spMkLst>
            <pc:docMk/>
            <pc:sldMk cId="530881568" sldId="469"/>
            <ac:spMk id="28" creationId="{EE0C8DF6-E120-BB7C-D3AA-FEDCE3E9D8D4}"/>
          </ac:spMkLst>
        </pc:spChg>
        <pc:grpChg chg="add mod">
          <ac:chgData name="Camilo Daleles Rennó" userId="eac9aab033b2f962" providerId="LiveId" clId="{D7099861-E3C6-4262-8ED6-A0A90ABF714A}" dt="2025-05-26T13:41:02.973" v="2637" actId="1037"/>
          <ac:grpSpMkLst>
            <pc:docMk/>
            <pc:sldMk cId="530881568" sldId="469"/>
            <ac:grpSpMk id="25" creationId="{ABE9BB83-BA61-0BC3-66A1-B13F12561AA6}"/>
          </ac:grpSpMkLst>
        </pc:grpChg>
        <pc:graphicFrameChg chg="add mod">
          <ac:chgData name="Camilo Daleles Rennó" userId="eac9aab033b2f962" providerId="LiveId" clId="{D7099861-E3C6-4262-8ED6-A0A90ABF714A}" dt="2025-05-26T14:00:22.024" v="2892" actId="20577"/>
          <ac:graphicFrameMkLst>
            <pc:docMk/>
            <pc:sldMk cId="530881568" sldId="469"/>
            <ac:graphicFrameMk id="8" creationId="{E3B3EC85-B1FA-A986-9DF7-036354E22075}"/>
          </ac:graphicFrameMkLst>
        </pc:graphicFrameChg>
        <pc:graphicFrameChg chg="add mod modGraphic">
          <ac:chgData name="Camilo Daleles Rennó" userId="eac9aab033b2f962" providerId="LiveId" clId="{D7099861-E3C6-4262-8ED6-A0A90ABF714A}" dt="2025-05-26T14:00:41.274" v="2900" actId="20577"/>
          <ac:graphicFrameMkLst>
            <pc:docMk/>
            <pc:sldMk cId="530881568" sldId="469"/>
            <ac:graphicFrameMk id="21" creationId="{F45789E5-8CE0-1281-4FE2-78F5A99220AA}"/>
          </ac:graphicFrameMkLst>
        </pc:graphicFrameChg>
        <pc:graphicFrameChg chg="add mod modGraphic">
          <ac:chgData name="Camilo Daleles Rennó" userId="eac9aab033b2f962" providerId="LiveId" clId="{D7099861-E3C6-4262-8ED6-A0A90ABF714A}" dt="2025-05-26T13:47:20.300" v="2776" actId="20577"/>
          <ac:graphicFrameMkLst>
            <pc:docMk/>
            <pc:sldMk cId="530881568" sldId="469"/>
            <ac:graphicFrameMk id="23" creationId="{B9AFC298-9074-82ED-035D-CAAB37B479E4}"/>
          </ac:graphicFrameMkLst>
        </pc:graphicFrameChg>
        <pc:graphicFrameChg chg="add mod modGraphic">
          <ac:chgData name="Camilo Daleles Rennó" userId="eac9aab033b2f962" providerId="LiveId" clId="{D7099861-E3C6-4262-8ED6-A0A90ABF714A}" dt="2025-05-26T13:49:39.853" v="2866" actId="20577"/>
          <ac:graphicFrameMkLst>
            <pc:docMk/>
            <pc:sldMk cId="530881568" sldId="469"/>
            <ac:graphicFrameMk id="24" creationId="{593F91A4-DA96-728E-716A-63DB30D54589}"/>
          </ac:graphicFrameMkLst>
        </pc:graphicFrameChg>
        <pc:picChg chg="add mod">
          <ac:chgData name="Camilo Daleles Rennó" userId="eac9aab033b2f962" providerId="LiveId" clId="{D7099861-E3C6-4262-8ED6-A0A90ABF714A}" dt="2025-05-26T14:00:54.703" v="2903" actId="554"/>
          <ac:picMkLst>
            <pc:docMk/>
            <pc:sldMk cId="530881568" sldId="469"/>
            <ac:picMk id="9" creationId="{1141176F-6751-E989-32EE-25216B0F7ADE}"/>
          </ac:picMkLst>
        </pc:picChg>
        <pc:picChg chg="add mod">
          <ac:chgData name="Camilo Daleles Rennó" userId="eac9aab033b2f962" providerId="LiveId" clId="{D7099861-E3C6-4262-8ED6-A0A90ABF714A}" dt="2025-05-26T14:00:54.703" v="2903" actId="554"/>
          <ac:picMkLst>
            <pc:docMk/>
            <pc:sldMk cId="530881568" sldId="469"/>
            <ac:picMk id="29" creationId="{6A4C2F01-8891-E190-9682-7E037446A783}"/>
          </ac:picMkLst>
        </pc:picChg>
        <pc:cxnChg chg="add mod topLvl">
          <ac:chgData name="Camilo Daleles Rennó" userId="eac9aab033b2f962" providerId="LiveId" clId="{D7099861-E3C6-4262-8ED6-A0A90ABF714A}" dt="2025-05-26T13:58:27.677" v="2883" actId="165"/>
          <ac:cxnSpMkLst>
            <pc:docMk/>
            <pc:sldMk cId="530881568" sldId="469"/>
            <ac:cxnSpMk id="11" creationId="{B0369D4E-6729-4524-CB35-A135D64F6B00}"/>
          </ac:cxnSpMkLst>
        </pc:cxnChg>
        <pc:cxnChg chg="add mod topLvl">
          <ac:chgData name="Camilo Daleles Rennó" userId="eac9aab033b2f962" providerId="LiveId" clId="{D7099861-E3C6-4262-8ED6-A0A90ABF714A}" dt="2025-05-26T13:58:27.677" v="2883" actId="165"/>
          <ac:cxnSpMkLst>
            <pc:docMk/>
            <pc:sldMk cId="530881568" sldId="469"/>
            <ac:cxnSpMk id="15" creationId="{8B0B1850-9897-B8AC-4CA7-E62830775997}"/>
          </ac:cxnSpMkLst>
        </pc:cxnChg>
        <pc:cxnChg chg="add mod">
          <ac:chgData name="Camilo Daleles Rennó" userId="eac9aab033b2f962" providerId="LiveId" clId="{D7099861-E3C6-4262-8ED6-A0A90ABF714A}" dt="2025-05-26T13:42:41.854" v="2699" actId="14100"/>
          <ac:cxnSpMkLst>
            <pc:docMk/>
            <pc:sldMk cId="530881568" sldId="469"/>
            <ac:cxnSpMk id="20" creationId="{2950F74F-4BF5-72F5-8D00-7953FF582D45}"/>
          </ac:cxnSpMkLst>
        </pc:cxnChg>
      </pc:sldChg>
      <pc:sldChg chg="del">
        <pc:chgData name="Camilo Daleles Rennó" userId="eac9aab033b2f962" providerId="LiveId" clId="{D7099861-E3C6-4262-8ED6-A0A90ABF714A}" dt="2025-05-26T13:31:57.195" v="2593" actId="47"/>
        <pc:sldMkLst>
          <pc:docMk/>
          <pc:sldMk cId="266070383" sldId="470"/>
        </pc:sldMkLst>
      </pc:sldChg>
      <pc:sldChg chg="del">
        <pc:chgData name="Camilo Daleles Rennó" userId="eac9aab033b2f962" providerId="LiveId" clId="{D7099861-E3C6-4262-8ED6-A0A90ABF714A}" dt="2025-05-26T13:31:58.697" v="2594" actId="47"/>
        <pc:sldMkLst>
          <pc:docMk/>
          <pc:sldMk cId="3631533554" sldId="471"/>
        </pc:sldMkLst>
      </pc:sldChg>
      <pc:sldChg chg="del">
        <pc:chgData name="Camilo Daleles Rennó" userId="eac9aab033b2f962" providerId="LiveId" clId="{D7099861-E3C6-4262-8ED6-A0A90ABF714A}" dt="2025-05-26T13:32:01.053" v="2595" actId="47"/>
        <pc:sldMkLst>
          <pc:docMk/>
          <pc:sldMk cId="1987218552" sldId="472"/>
        </pc:sldMkLst>
      </pc:sldChg>
      <pc:sldChg chg="modSp mod modAnim">
        <pc:chgData name="Camilo Daleles Rennó" userId="eac9aab033b2f962" providerId="LiveId" clId="{D7099861-E3C6-4262-8ED6-A0A90ABF714A}" dt="2025-05-27T15:20:02.568" v="6324" actId="6549"/>
        <pc:sldMkLst>
          <pc:docMk/>
          <pc:sldMk cId="1223779497" sldId="474"/>
        </pc:sldMkLst>
        <pc:spChg chg="mod">
          <ac:chgData name="Camilo Daleles Rennó" userId="eac9aab033b2f962" providerId="LiveId" clId="{D7099861-E3C6-4262-8ED6-A0A90ABF714A}" dt="2025-05-27T15:20:02.568" v="6324" actId="6549"/>
          <ac:spMkLst>
            <pc:docMk/>
            <pc:sldMk cId="1223779497" sldId="474"/>
            <ac:spMk id="13" creationId="{00000000-0000-0000-0000-000000000000}"/>
          </ac:spMkLst>
        </pc:spChg>
        <pc:grpChg chg="mod">
          <ac:chgData name="Camilo Daleles Rennó" userId="eac9aab033b2f962" providerId="LiveId" clId="{D7099861-E3C6-4262-8ED6-A0A90ABF714A}" dt="2025-05-27T15:17:08.697" v="6273" actId="1035"/>
          <ac:grpSpMkLst>
            <pc:docMk/>
            <pc:sldMk cId="1223779497" sldId="474"/>
            <ac:grpSpMk id="5" creationId="{00000000-0000-0000-0000-000000000000}"/>
          </ac:grpSpMkLst>
        </pc:grpChg>
      </pc:sldChg>
      <pc:sldChg chg="addSp delSp modSp mod delAnim modAnim">
        <pc:chgData name="Camilo Daleles Rennó" userId="eac9aab033b2f962" providerId="LiveId" clId="{D7099861-E3C6-4262-8ED6-A0A90ABF714A}" dt="2025-05-28T13:46:02.121" v="7761"/>
        <pc:sldMkLst>
          <pc:docMk/>
          <pc:sldMk cId="2642643378" sldId="475"/>
        </pc:sldMkLst>
        <pc:spChg chg="add mod">
          <ac:chgData name="Camilo Daleles Rennó" userId="eac9aab033b2f962" providerId="LiveId" clId="{D7099861-E3C6-4262-8ED6-A0A90ABF714A}" dt="2025-05-28T13:01:46.429" v="7740" actId="552"/>
          <ac:spMkLst>
            <pc:docMk/>
            <pc:sldMk cId="2642643378" sldId="475"/>
            <ac:spMk id="6" creationId="{E006721B-3938-6A23-0F67-FA1B7056876E}"/>
          </ac:spMkLst>
        </pc:spChg>
        <pc:spChg chg="add mod">
          <ac:chgData name="Camilo Daleles Rennó" userId="eac9aab033b2f962" providerId="LiveId" clId="{D7099861-E3C6-4262-8ED6-A0A90ABF714A}" dt="2025-05-28T12:57:48.961" v="7689" actId="554"/>
          <ac:spMkLst>
            <pc:docMk/>
            <pc:sldMk cId="2642643378" sldId="475"/>
            <ac:spMk id="9" creationId="{CBFEF73B-7907-743E-A4D5-01F57BD2119B}"/>
          </ac:spMkLst>
        </pc:spChg>
        <pc:spChg chg="add mod">
          <ac:chgData name="Camilo Daleles Rennó" userId="eac9aab033b2f962" providerId="LiveId" clId="{D7099861-E3C6-4262-8ED6-A0A90ABF714A}" dt="2025-05-28T13:44:43.654" v="7745" actId="1035"/>
          <ac:spMkLst>
            <pc:docMk/>
            <pc:sldMk cId="2642643378" sldId="475"/>
            <ac:spMk id="10" creationId="{C7A18336-E3A9-8C38-9605-296FC9CE7ACE}"/>
          </ac:spMkLst>
        </pc:spChg>
        <pc:spChg chg="add mod">
          <ac:chgData name="Camilo Daleles Rennó" userId="eac9aab033b2f962" providerId="LiveId" clId="{D7099861-E3C6-4262-8ED6-A0A90ABF714A}" dt="2025-05-28T13:44:43.654" v="7745" actId="1035"/>
          <ac:spMkLst>
            <pc:docMk/>
            <pc:sldMk cId="2642643378" sldId="475"/>
            <ac:spMk id="11" creationId="{5202DF44-1FA3-0026-D1F1-383CA97305B5}"/>
          </ac:spMkLst>
        </pc:spChg>
        <pc:spChg chg="add mod">
          <ac:chgData name="Camilo Daleles Rennó" userId="eac9aab033b2f962" providerId="LiveId" clId="{D7099861-E3C6-4262-8ED6-A0A90ABF714A}" dt="2025-05-28T13:44:57.135" v="7750" actId="552"/>
          <ac:spMkLst>
            <pc:docMk/>
            <pc:sldMk cId="2642643378" sldId="475"/>
            <ac:spMk id="12" creationId="{714E4B12-20D9-65A8-0D49-FAE966EED79B}"/>
          </ac:spMkLst>
        </pc:spChg>
        <pc:spChg chg="mod">
          <ac:chgData name="Camilo Daleles Rennó" userId="eac9aab033b2f962" providerId="LiveId" clId="{D7099861-E3C6-4262-8ED6-A0A90ABF714A}" dt="2025-05-28T13:44:57.135" v="7750" actId="552"/>
          <ac:spMkLst>
            <pc:docMk/>
            <pc:sldMk cId="2642643378" sldId="475"/>
            <ac:spMk id="13" creationId="{00000000-0000-0000-0000-000000000000}"/>
          </ac:spMkLst>
        </pc:spChg>
        <pc:picChg chg="add mod modCrop">
          <ac:chgData name="Camilo Daleles Rennó" userId="eac9aab033b2f962" providerId="LiveId" clId="{D7099861-E3C6-4262-8ED6-A0A90ABF714A}" dt="2025-05-28T13:44:43.654" v="7745" actId="1035"/>
          <ac:picMkLst>
            <pc:docMk/>
            <pc:sldMk cId="2642643378" sldId="475"/>
            <ac:picMk id="4" creationId="{B67586B6-19F7-0F75-D12E-4FA9CEBF0E59}"/>
          </ac:picMkLst>
        </pc:picChg>
        <pc:picChg chg="add mod modCrop">
          <ac:chgData name="Camilo Daleles Rennó" userId="eac9aab033b2f962" providerId="LiveId" clId="{D7099861-E3C6-4262-8ED6-A0A90ABF714A}" dt="2025-05-28T13:44:43.654" v="7745" actId="1035"/>
          <ac:picMkLst>
            <pc:docMk/>
            <pc:sldMk cId="2642643378" sldId="475"/>
            <ac:picMk id="5" creationId="{9B6650B8-4D29-6C72-24A6-9C3C2B9D6C1E}"/>
          </ac:picMkLst>
        </pc:picChg>
      </pc:sldChg>
      <pc:sldChg chg="del">
        <pc:chgData name="Camilo Daleles Rennó" userId="eac9aab033b2f962" providerId="LiveId" clId="{D7099861-E3C6-4262-8ED6-A0A90ABF714A}" dt="2025-05-27T13:03:00.832" v="4298" actId="47"/>
        <pc:sldMkLst>
          <pc:docMk/>
          <pc:sldMk cId="987601761" sldId="476"/>
        </pc:sldMkLst>
      </pc:sldChg>
      <pc:sldChg chg="addSp delSp modSp mod delAnim modAnim">
        <pc:chgData name="Camilo Daleles Rennó" userId="eac9aab033b2f962" providerId="LiveId" clId="{D7099861-E3C6-4262-8ED6-A0A90ABF714A}" dt="2025-05-27T15:02:51.811" v="5795" actId="20577"/>
        <pc:sldMkLst>
          <pc:docMk/>
          <pc:sldMk cId="1211256686" sldId="477"/>
        </pc:sldMkLst>
        <pc:spChg chg="mod">
          <ac:chgData name="Camilo Daleles Rennó" userId="eac9aab033b2f962" providerId="LiveId" clId="{D7099861-E3C6-4262-8ED6-A0A90ABF714A}" dt="2025-05-27T15:02:07.544" v="5771" actId="1036"/>
          <ac:spMkLst>
            <pc:docMk/>
            <pc:sldMk cId="1211256686" sldId="477"/>
            <ac:spMk id="2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2:53:03.052" v="3990" actId="1036"/>
          <ac:spMkLst>
            <pc:docMk/>
            <pc:sldMk cId="1211256686" sldId="477"/>
            <ac:spMk id="4" creationId="{00000000-0000-0000-0000-000000000000}"/>
          </ac:spMkLst>
        </pc:spChg>
        <pc:spChg chg="add mod">
          <ac:chgData name="Camilo Daleles Rennó" userId="eac9aab033b2f962" providerId="LiveId" clId="{D7099861-E3C6-4262-8ED6-A0A90ABF714A}" dt="2025-05-27T12:55:20.734" v="4044" actId="1036"/>
          <ac:spMkLst>
            <pc:docMk/>
            <pc:sldMk cId="1211256686" sldId="477"/>
            <ac:spMk id="9" creationId="{D52550CB-B836-3D59-2116-8E9B5AE91F09}"/>
          </ac:spMkLst>
        </pc:spChg>
        <pc:spChg chg="add mod">
          <ac:chgData name="Camilo Daleles Rennó" userId="eac9aab033b2f962" providerId="LiveId" clId="{D7099861-E3C6-4262-8ED6-A0A90ABF714A}" dt="2025-05-27T15:02:51.811" v="5795" actId="20577"/>
          <ac:spMkLst>
            <pc:docMk/>
            <pc:sldMk cId="1211256686" sldId="477"/>
            <ac:spMk id="10" creationId="{066AEBDF-0F6C-C1C4-E340-9E38581E0B00}"/>
          </ac:spMkLst>
        </pc:spChg>
        <pc:spChg chg="mod">
          <ac:chgData name="Camilo Daleles Rennó" userId="eac9aab033b2f962" providerId="LiveId" clId="{D7099861-E3C6-4262-8ED6-A0A90ABF714A}" dt="2025-05-27T13:00:55.575" v="4201" actId="552"/>
          <ac:spMkLst>
            <pc:docMk/>
            <pc:sldMk cId="1211256686" sldId="477"/>
            <ac:spMk id="13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5:01:59.013" v="5763" actId="14100"/>
          <ac:spMkLst>
            <pc:docMk/>
            <pc:sldMk cId="1211256686" sldId="477"/>
            <ac:spMk id="16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2:53:08.656" v="3995" actId="1035"/>
          <ac:spMkLst>
            <pc:docMk/>
            <pc:sldMk cId="1211256686" sldId="477"/>
            <ac:spMk id="19" creationId="{00000000-0000-0000-0000-000000000000}"/>
          </ac:spMkLst>
        </pc:spChg>
        <pc:grpChg chg="add mod ord">
          <ac:chgData name="Camilo Daleles Rennó" userId="eac9aab033b2f962" providerId="LiveId" clId="{D7099861-E3C6-4262-8ED6-A0A90ABF714A}" dt="2025-05-27T12:51:50.675" v="3952" actId="1035"/>
          <ac:grpSpMkLst>
            <pc:docMk/>
            <pc:sldMk cId="1211256686" sldId="477"/>
            <ac:grpSpMk id="8" creationId="{B322592A-F3FA-A144-FC07-C4669E06AD6A}"/>
          </ac:grpSpMkLst>
        </pc:grpChg>
        <pc:picChg chg="add mod ord modCrop">
          <ac:chgData name="Camilo Daleles Rennó" userId="eac9aab033b2f962" providerId="LiveId" clId="{D7099861-E3C6-4262-8ED6-A0A90ABF714A}" dt="2025-05-27T12:51:45.088" v="3944" actId="164"/>
          <ac:picMkLst>
            <pc:docMk/>
            <pc:sldMk cId="1211256686" sldId="477"/>
            <ac:picMk id="5" creationId="{6735C126-C2F2-83F5-36A0-DD9A07D6141F}"/>
          </ac:picMkLst>
        </pc:picChg>
        <pc:picChg chg="add mod ord modCrop">
          <ac:chgData name="Camilo Daleles Rennó" userId="eac9aab033b2f962" providerId="LiveId" clId="{D7099861-E3C6-4262-8ED6-A0A90ABF714A}" dt="2025-05-27T12:51:45.088" v="3944" actId="164"/>
          <ac:picMkLst>
            <pc:docMk/>
            <pc:sldMk cId="1211256686" sldId="477"/>
            <ac:picMk id="6" creationId="{4560D5AE-C87C-31A0-CE4F-0B850510A8B7}"/>
          </ac:picMkLst>
        </pc:picChg>
        <pc:picChg chg="add mod modCrop">
          <ac:chgData name="Camilo Daleles Rennó" userId="eac9aab033b2f962" providerId="LiveId" clId="{D7099861-E3C6-4262-8ED6-A0A90ABF714A}" dt="2025-05-27T12:51:45.088" v="3944" actId="164"/>
          <ac:picMkLst>
            <pc:docMk/>
            <pc:sldMk cId="1211256686" sldId="477"/>
            <ac:picMk id="7" creationId="{E70C059E-F5CF-C6C0-C5A9-20B04854B1D6}"/>
          </ac:picMkLst>
        </pc:picChg>
      </pc:sldChg>
      <pc:sldChg chg="addSp modSp del modAnim">
        <pc:chgData name="Camilo Daleles Rennó" userId="eac9aab033b2f962" providerId="LiveId" clId="{D7099861-E3C6-4262-8ED6-A0A90ABF714A}" dt="2025-05-27T12:32:45.618" v="3732" actId="47"/>
        <pc:sldMkLst>
          <pc:docMk/>
          <pc:sldMk cId="528632400" sldId="478"/>
        </pc:sldMkLst>
      </pc:sldChg>
      <pc:sldChg chg="addSp delSp modSp mod modAnim">
        <pc:chgData name="Camilo Daleles Rennó" userId="eac9aab033b2f962" providerId="LiveId" clId="{D7099861-E3C6-4262-8ED6-A0A90ABF714A}" dt="2025-05-26T12:31:29.993" v="1985" actId="20577"/>
        <pc:sldMkLst>
          <pc:docMk/>
          <pc:sldMk cId="1652618145" sldId="484"/>
        </pc:sldMkLst>
        <pc:spChg chg="add mod">
          <ac:chgData name="Camilo Daleles Rennó" userId="eac9aab033b2f962" providerId="LiveId" clId="{D7099861-E3C6-4262-8ED6-A0A90ABF714A}" dt="2025-05-26T12:30:02.349" v="1962" actId="1036"/>
          <ac:spMkLst>
            <pc:docMk/>
            <pc:sldMk cId="1652618145" sldId="484"/>
            <ac:spMk id="11" creationId="{F1DBDD6E-E58A-CD65-CF92-A34E0EF670B9}"/>
          </ac:spMkLst>
        </pc:spChg>
        <pc:spChg chg="mod">
          <ac:chgData name="Camilo Daleles Rennó" userId="eac9aab033b2f962" providerId="LiveId" clId="{D7099861-E3C6-4262-8ED6-A0A90ABF714A}" dt="2025-05-26T12:31:29.993" v="1985" actId="20577"/>
          <ac:spMkLst>
            <pc:docMk/>
            <pc:sldMk cId="1652618145" sldId="484"/>
            <ac:spMk id="13" creationId="{5D5D80E9-AA0F-014D-FC48-57C5EB2F3ECC}"/>
          </ac:spMkLst>
        </pc:spChg>
        <pc:spChg chg="mod">
          <ac:chgData name="Camilo Daleles Rennó" userId="eac9aab033b2f962" providerId="LiveId" clId="{D7099861-E3C6-4262-8ED6-A0A90ABF714A}" dt="2025-05-26T12:30:40.388" v="1964" actId="13926"/>
          <ac:spMkLst>
            <pc:docMk/>
            <pc:sldMk cId="1652618145" sldId="484"/>
            <ac:spMk id="29698" creationId="{00000000-0000-0000-0000-000000000000}"/>
          </ac:spMkLst>
        </pc:spChg>
        <pc:graphicFrameChg chg="add mod modGraphic">
          <ac:chgData name="Camilo Daleles Rennó" userId="eac9aab033b2f962" providerId="LiveId" clId="{D7099861-E3C6-4262-8ED6-A0A90ABF714A}" dt="2025-05-26T12:30:02.349" v="1962" actId="1036"/>
          <ac:graphicFrameMkLst>
            <pc:docMk/>
            <pc:sldMk cId="1652618145" sldId="484"/>
            <ac:graphicFrameMk id="9" creationId="{1EF2EB5F-18DF-3EA5-EEDE-5E31EB35AAF0}"/>
          </ac:graphicFrameMkLst>
        </pc:graphicFrameChg>
      </pc:sldChg>
      <pc:sldChg chg="modSp">
        <pc:chgData name="Camilo Daleles Rennó" userId="eac9aab033b2f962" providerId="LiveId" clId="{D7099861-E3C6-4262-8ED6-A0A90ABF714A}" dt="2025-05-27T10:55:21.522" v="3468" actId="20577"/>
        <pc:sldMkLst>
          <pc:docMk/>
          <pc:sldMk cId="1769088258" sldId="485"/>
        </pc:sldMkLst>
        <pc:spChg chg="mod">
          <ac:chgData name="Camilo Daleles Rennó" userId="eac9aab033b2f962" providerId="LiveId" clId="{D7099861-E3C6-4262-8ED6-A0A90ABF714A}" dt="2025-05-27T10:52:50.607" v="3231" actId="20577"/>
          <ac:spMkLst>
            <pc:docMk/>
            <pc:sldMk cId="1769088258" sldId="485"/>
            <ac:spMk id="10" creationId="{00000000-0000-0000-0000-000000000000}"/>
          </ac:spMkLst>
        </pc:spChg>
        <pc:spChg chg="mod">
          <ac:chgData name="Camilo Daleles Rennó" userId="eac9aab033b2f962" providerId="LiveId" clId="{D7099861-E3C6-4262-8ED6-A0A90ABF714A}" dt="2025-05-27T10:55:21.522" v="3468" actId="20577"/>
          <ac:spMkLst>
            <pc:docMk/>
            <pc:sldMk cId="1769088258" sldId="485"/>
            <ac:spMk id="12" creationId="{00000000-0000-0000-0000-000000000000}"/>
          </ac:spMkLst>
        </pc:spChg>
      </pc:sldChg>
      <pc:sldChg chg="modAnim">
        <pc:chgData name="Camilo Daleles Rennó" userId="eac9aab033b2f962" providerId="LiveId" clId="{D7099861-E3C6-4262-8ED6-A0A90ABF714A}" dt="2025-05-27T11:55:39.780" v="3631"/>
        <pc:sldMkLst>
          <pc:docMk/>
          <pc:sldMk cId="1622549568" sldId="486"/>
        </pc:sldMkLst>
      </pc:sldChg>
      <pc:sldChg chg="del">
        <pc:chgData name="Camilo Daleles Rennó" userId="eac9aab033b2f962" providerId="LiveId" clId="{D7099861-E3C6-4262-8ED6-A0A90ABF714A}" dt="2025-05-28T13:46:25.983" v="7763" actId="47"/>
        <pc:sldMkLst>
          <pc:docMk/>
          <pc:sldMk cId="3576855445" sldId="487"/>
        </pc:sldMkLst>
      </pc:sldChg>
      <pc:sldChg chg="modAnim">
        <pc:chgData name="Camilo Daleles Rennó" userId="eac9aab033b2f962" providerId="LiveId" clId="{D7099861-E3C6-4262-8ED6-A0A90ABF714A}" dt="2025-05-27T12:02:58.354" v="3633"/>
        <pc:sldMkLst>
          <pc:docMk/>
          <pc:sldMk cId="423556055" sldId="488"/>
        </pc:sldMkLst>
      </pc:sldChg>
      <pc:sldChg chg="addSp delSp modSp mod modAnim">
        <pc:chgData name="Camilo Daleles Rennó" userId="eac9aab033b2f962" providerId="LiveId" clId="{D7099861-E3C6-4262-8ED6-A0A90ABF714A}" dt="2025-05-23T15:47:54.213" v="454" actId="6549"/>
        <pc:sldMkLst>
          <pc:docMk/>
          <pc:sldMk cId="3910568169" sldId="492"/>
        </pc:sldMkLst>
      </pc:sldChg>
      <pc:sldChg chg="del">
        <pc:chgData name="Camilo Daleles Rennó" userId="eac9aab033b2f962" providerId="LiveId" clId="{D7099861-E3C6-4262-8ED6-A0A90ABF714A}" dt="2025-05-27T12:39:27.627" v="3859" actId="47"/>
        <pc:sldMkLst>
          <pc:docMk/>
          <pc:sldMk cId="4142557752" sldId="503"/>
        </pc:sldMkLst>
      </pc:sldChg>
      <pc:sldChg chg="del">
        <pc:chgData name="Camilo Daleles Rennó" userId="eac9aab033b2f962" providerId="LiveId" clId="{D7099861-E3C6-4262-8ED6-A0A90ABF714A}" dt="2025-05-28T13:46:27" v="7764" actId="47"/>
        <pc:sldMkLst>
          <pc:docMk/>
          <pc:sldMk cId="2015319734" sldId="504"/>
        </pc:sldMkLst>
      </pc:sldChg>
      <pc:sldChg chg="modSp modAnim">
        <pc:chgData name="Camilo Daleles Rennó" userId="eac9aab033b2f962" providerId="LiveId" clId="{D7099861-E3C6-4262-8ED6-A0A90ABF714A}" dt="2025-05-28T13:49:22.240" v="7796" actId="20577"/>
        <pc:sldMkLst>
          <pc:docMk/>
          <pc:sldMk cId="3690953235" sldId="505"/>
        </pc:sldMkLst>
        <pc:spChg chg="mod">
          <ac:chgData name="Camilo Daleles Rennó" userId="eac9aab033b2f962" providerId="LiveId" clId="{D7099861-E3C6-4262-8ED6-A0A90ABF714A}" dt="2025-05-28T13:49:16.787" v="7792" actId="20577"/>
          <ac:spMkLst>
            <pc:docMk/>
            <pc:sldMk cId="3690953235" sldId="505"/>
            <ac:spMk id="3" creationId="{00000000-0000-0000-0000-000000000000}"/>
          </ac:spMkLst>
        </pc:spChg>
      </pc:sldChg>
      <pc:sldChg chg="modSp mod">
        <pc:chgData name="Camilo Daleles Rennó" userId="eac9aab033b2f962" providerId="LiveId" clId="{D7099861-E3C6-4262-8ED6-A0A90ABF714A}" dt="2025-05-28T13:51:04.138" v="7797"/>
        <pc:sldMkLst>
          <pc:docMk/>
          <pc:sldMk cId="111514759" sldId="509"/>
        </pc:sldMkLst>
        <pc:spChg chg="mod">
          <ac:chgData name="Camilo Daleles Rennó" userId="eac9aab033b2f962" providerId="LiveId" clId="{D7099861-E3C6-4262-8ED6-A0A90ABF714A}" dt="2025-05-28T13:51:04.138" v="7797"/>
          <ac:spMkLst>
            <pc:docMk/>
            <pc:sldMk cId="111514759" sldId="509"/>
            <ac:spMk id="36" creationId="{00000000-0000-0000-0000-000000000000}"/>
          </ac:spMkLst>
        </pc:spChg>
      </pc:sldChg>
      <pc:sldChg chg="addSp delSp modSp add mod delAnim modAnim">
        <pc:chgData name="Camilo Daleles Rennó" userId="eac9aab033b2f962" providerId="LiveId" clId="{D7099861-E3C6-4262-8ED6-A0A90ABF714A}" dt="2025-05-23T17:10:58.027" v="1614"/>
        <pc:sldMkLst>
          <pc:docMk/>
          <pc:sldMk cId="2490181600" sldId="512"/>
        </pc:sldMkLst>
      </pc:sldChg>
      <pc:sldChg chg="modSp mod">
        <pc:chgData name="Camilo Daleles Rennó" userId="eac9aab033b2f962" providerId="LiveId" clId="{D7099861-E3C6-4262-8ED6-A0A90ABF714A}" dt="2025-05-26T12:36:05.564" v="2303" actId="404"/>
        <pc:sldMkLst>
          <pc:docMk/>
          <pc:sldMk cId="2802904438" sldId="514"/>
        </pc:sldMkLst>
        <pc:spChg chg="mod">
          <ac:chgData name="Camilo Daleles Rennó" userId="eac9aab033b2f962" providerId="LiveId" clId="{D7099861-E3C6-4262-8ED6-A0A90ABF714A}" dt="2025-05-26T12:35:40.918" v="2300" actId="1036"/>
          <ac:spMkLst>
            <pc:docMk/>
            <pc:sldMk cId="2802904438" sldId="514"/>
            <ac:spMk id="3" creationId="{C65D2FFA-9D57-82B3-4864-296A259B02C5}"/>
          </ac:spMkLst>
        </pc:spChg>
        <pc:spChg chg="mod">
          <ac:chgData name="Camilo Daleles Rennó" userId="eac9aab033b2f962" providerId="LiveId" clId="{D7099861-E3C6-4262-8ED6-A0A90ABF714A}" dt="2025-05-26T12:35:32.643" v="2294" actId="20577"/>
          <ac:spMkLst>
            <pc:docMk/>
            <pc:sldMk cId="2802904438" sldId="514"/>
            <ac:spMk id="8" creationId="{844F88B7-A106-CA88-3426-03E9B2F47967}"/>
          </ac:spMkLst>
        </pc:spChg>
        <pc:spChg chg="mod">
          <ac:chgData name="Camilo Daleles Rennó" userId="eac9aab033b2f962" providerId="LiveId" clId="{D7099861-E3C6-4262-8ED6-A0A90ABF714A}" dt="2025-05-26T12:36:05.564" v="2303" actId="404"/>
          <ac:spMkLst>
            <pc:docMk/>
            <pc:sldMk cId="2802904438" sldId="514"/>
            <ac:spMk id="10" creationId="{893F5BE7-87EC-2594-9281-C674DE8E1B3D}"/>
          </ac:spMkLst>
        </pc:spChg>
        <pc:spChg chg="mod">
          <ac:chgData name="Camilo Daleles Rennó" userId="eac9aab033b2f962" providerId="LiveId" clId="{D7099861-E3C6-4262-8ED6-A0A90ABF714A}" dt="2025-05-26T12:32:59.470" v="2046" actId="20577"/>
          <ac:spMkLst>
            <pc:docMk/>
            <pc:sldMk cId="2802904438" sldId="514"/>
            <ac:spMk id="29698" creationId="{1EBE1CE0-72CA-B7E5-FD61-841DD3BEF870}"/>
          </ac:spMkLst>
        </pc:spChg>
        <pc:grpChg chg="mod">
          <ac:chgData name="Camilo Daleles Rennó" userId="eac9aab033b2f962" providerId="LiveId" clId="{D7099861-E3C6-4262-8ED6-A0A90ABF714A}" dt="2025-05-26T12:35:40.918" v="2300" actId="1036"/>
          <ac:grpSpMkLst>
            <pc:docMk/>
            <pc:sldMk cId="2802904438" sldId="514"/>
            <ac:grpSpMk id="7" creationId="{8BBE3CD1-C956-E950-03C6-10718775F437}"/>
          </ac:grpSpMkLst>
        </pc:grpChg>
        <pc:graphicFrameChg chg="mod">
          <ac:chgData name="Camilo Daleles Rennó" userId="eac9aab033b2f962" providerId="LiveId" clId="{D7099861-E3C6-4262-8ED6-A0A90ABF714A}" dt="2025-05-26T12:35:40.918" v="2300" actId="1036"/>
          <ac:graphicFrameMkLst>
            <pc:docMk/>
            <pc:sldMk cId="2802904438" sldId="514"/>
            <ac:graphicFrameMk id="4" creationId="{7FC872F2-4593-F48B-7776-5C2CE153C451}"/>
          </ac:graphicFrameMkLst>
        </pc:graphicFrameChg>
        <pc:graphicFrameChg chg="mod">
          <ac:chgData name="Camilo Daleles Rennó" userId="eac9aab033b2f962" providerId="LiveId" clId="{D7099861-E3C6-4262-8ED6-A0A90ABF714A}" dt="2025-05-26T12:35:40.918" v="2300" actId="1036"/>
          <ac:graphicFrameMkLst>
            <pc:docMk/>
            <pc:sldMk cId="2802904438" sldId="514"/>
            <ac:graphicFrameMk id="6" creationId="{5256C124-CF74-664D-2E09-89D853579A2E}"/>
          </ac:graphicFrameMkLst>
        </pc:graphicFrameChg>
        <pc:graphicFrameChg chg="mod">
          <ac:chgData name="Camilo Daleles Rennó" userId="eac9aab033b2f962" providerId="LiveId" clId="{D7099861-E3C6-4262-8ED6-A0A90ABF714A}" dt="2025-05-26T12:35:40.918" v="2300" actId="1036"/>
          <ac:graphicFrameMkLst>
            <pc:docMk/>
            <pc:sldMk cId="2802904438" sldId="514"/>
            <ac:graphicFrameMk id="34905" creationId="{18F3B684-C9AC-EDA9-E979-E5668CE01D46}"/>
          </ac:graphicFrameMkLst>
        </pc:graphicFrameChg>
        <pc:graphicFrameChg chg="mod">
          <ac:chgData name="Camilo Daleles Rennó" userId="eac9aab033b2f962" providerId="LiveId" clId="{D7099861-E3C6-4262-8ED6-A0A90ABF714A}" dt="2025-05-26T12:35:40.918" v="2300" actId="1036"/>
          <ac:graphicFrameMkLst>
            <pc:docMk/>
            <pc:sldMk cId="2802904438" sldId="514"/>
            <ac:graphicFrameMk id="34906" creationId="{67A80668-F21B-1651-B5A9-8DA888B44D2D}"/>
          </ac:graphicFrameMkLst>
        </pc:graphicFrameChg>
      </pc:sldChg>
      <pc:sldChg chg="add">
        <pc:chgData name="Camilo Daleles Rennó" userId="eac9aab033b2f962" providerId="LiveId" clId="{D7099861-E3C6-4262-8ED6-A0A90ABF714A}" dt="2025-05-26T12:38:36.659" v="2309" actId="2890"/>
        <pc:sldMkLst>
          <pc:docMk/>
          <pc:sldMk cId="1313264045" sldId="515"/>
        </pc:sldMkLst>
      </pc:sldChg>
      <pc:sldChg chg="addSp delSp modSp add del mod delAnim modAnim">
        <pc:chgData name="Camilo Daleles Rennó" userId="eac9aab033b2f962" providerId="LiveId" clId="{D7099861-E3C6-4262-8ED6-A0A90ABF714A}" dt="2025-05-28T12:15:05.326" v="7582" actId="47"/>
        <pc:sldMkLst>
          <pc:docMk/>
          <pc:sldMk cId="599519976" sldId="516"/>
        </pc:sldMkLst>
      </pc:sldChg>
      <pc:sldChg chg="add del">
        <pc:chgData name="Camilo Daleles Rennó" userId="eac9aab033b2f962" providerId="LiveId" clId="{D7099861-E3C6-4262-8ED6-A0A90ABF714A}" dt="2025-05-26T13:40:34.804" v="2619" actId="47"/>
        <pc:sldMkLst>
          <pc:docMk/>
          <pc:sldMk cId="2325993101" sldId="516"/>
        </pc:sldMkLst>
      </pc:sldChg>
      <pc:sldChg chg="addSp delSp modSp add mod delAnim modAnim">
        <pc:chgData name="Camilo Daleles Rennó" userId="eac9aab033b2f962" providerId="LiveId" clId="{D7099861-E3C6-4262-8ED6-A0A90ABF714A}" dt="2025-05-27T11:07:53.140" v="3615" actId="6549"/>
        <pc:sldMkLst>
          <pc:docMk/>
          <pc:sldMk cId="622133178" sldId="517"/>
        </pc:sldMkLst>
        <pc:spChg chg="mod">
          <ac:chgData name="Camilo Daleles Rennó" userId="eac9aab033b2f962" providerId="LiveId" clId="{D7099861-E3C6-4262-8ED6-A0A90ABF714A}" dt="2025-05-27T11:07:41.540" v="3612" actId="20577"/>
          <ac:spMkLst>
            <pc:docMk/>
            <pc:sldMk cId="622133178" sldId="517"/>
            <ac:spMk id="12" creationId="{0B0C73B7-B87D-CA59-7D07-E3CEA4E9EF7D}"/>
          </ac:spMkLst>
        </pc:spChg>
      </pc:sldChg>
      <pc:sldChg chg="addSp delSp modSp add mod">
        <pc:chgData name="Camilo Daleles Rennó" userId="eac9aab033b2f962" providerId="LiveId" clId="{D7099861-E3C6-4262-8ED6-A0A90ABF714A}" dt="2025-05-27T12:32:25.470" v="3731" actId="1076"/>
        <pc:sldMkLst>
          <pc:docMk/>
          <pc:sldMk cId="3880459281" sldId="518"/>
        </pc:sldMkLst>
        <pc:spChg chg="mod">
          <ac:chgData name="Camilo Daleles Rennó" userId="eac9aab033b2f962" providerId="LiveId" clId="{D7099861-E3C6-4262-8ED6-A0A90ABF714A}" dt="2025-05-27T12:32:25.470" v="3731" actId="1076"/>
          <ac:spMkLst>
            <pc:docMk/>
            <pc:sldMk cId="3880459281" sldId="518"/>
            <ac:spMk id="2" creationId="{44372119-006A-DCB0-9CD3-BABEB1DAADEA}"/>
          </ac:spMkLst>
        </pc:spChg>
        <pc:spChg chg="mod">
          <ac:chgData name="Camilo Daleles Rennó" userId="eac9aab033b2f962" providerId="LiveId" clId="{D7099861-E3C6-4262-8ED6-A0A90ABF714A}" dt="2025-05-27T12:32:20.327" v="3730" actId="14100"/>
          <ac:spMkLst>
            <pc:docMk/>
            <pc:sldMk cId="3880459281" sldId="518"/>
            <ac:spMk id="7" creationId="{322FE518-4FD8-5E70-5955-6E5060C276CD}"/>
          </ac:spMkLst>
        </pc:spChg>
        <pc:grpChg chg="add mod ord">
          <ac:chgData name="Camilo Daleles Rennó" userId="eac9aab033b2f962" providerId="LiveId" clId="{D7099861-E3C6-4262-8ED6-A0A90ABF714A}" dt="2025-05-27T12:31:59.596" v="3726" actId="1037"/>
          <ac:grpSpMkLst>
            <pc:docMk/>
            <pc:sldMk cId="3880459281" sldId="518"/>
            <ac:grpSpMk id="19" creationId="{8B613DB3-4E83-9F09-7D6E-825EC0CB7ACA}"/>
          </ac:grpSpMkLst>
        </pc:grpChg>
        <pc:picChg chg="add mod ord topLvl">
          <ac:chgData name="Camilo Daleles Rennó" userId="eac9aab033b2f962" providerId="LiveId" clId="{D7099861-E3C6-4262-8ED6-A0A90ABF714A}" dt="2025-05-27T12:31:40.073" v="3721" actId="164"/>
          <ac:picMkLst>
            <pc:docMk/>
            <pc:sldMk cId="3880459281" sldId="518"/>
            <ac:picMk id="12" creationId="{E1E86B90-8C99-FCA9-9681-B397DADC4994}"/>
          </ac:picMkLst>
        </pc:picChg>
        <pc:picChg chg="add mod ord topLvl">
          <ac:chgData name="Camilo Daleles Rennó" userId="eac9aab033b2f962" providerId="LiveId" clId="{D7099861-E3C6-4262-8ED6-A0A90ABF714A}" dt="2025-05-27T12:31:40.073" v="3721" actId="164"/>
          <ac:picMkLst>
            <pc:docMk/>
            <pc:sldMk cId="3880459281" sldId="518"/>
            <ac:picMk id="13" creationId="{5804376B-091C-7259-8368-586FA0C09788}"/>
          </ac:picMkLst>
        </pc:picChg>
        <pc:picChg chg="add mod ord topLvl">
          <ac:chgData name="Camilo Daleles Rennó" userId="eac9aab033b2f962" providerId="LiveId" clId="{D7099861-E3C6-4262-8ED6-A0A90ABF714A}" dt="2025-05-27T12:31:40.073" v="3721" actId="164"/>
          <ac:picMkLst>
            <pc:docMk/>
            <pc:sldMk cId="3880459281" sldId="518"/>
            <ac:picMk id="14" creationId="{6EFFC29B-1638-396D-6B68-8276064F843F}"/>
          </ac:picMkLst>
        </pc:picChg>
        <pc:picChg chg="add mod ord topLvl">
          <ac:chgData name="Camilo Daleles Rennó" userId="eac9aab033b2f962" providerId="LiveId" clId="{D7099861-E3C6-4262-8ED6-A0A90ABF714A}" dt="2025-05-27T12:31:40.073" v="3721" actId="164"/>
          <ac:picMkLst>
            <pc:docMk/>
            <pc:sldMk cId="3880459281" sldId="518"/>
            <ac:picMk id="15" creationId="{2CAADF29-9123-6C18-E363-EAE0D64DB2D2}"/>
          </ac:picMkLst>
        </pc:picChg>
        <pc:picChg chg="add mod ord topLvl">
          <ac:chgData name="Camilo Daleles Rennó" userId="eac9aab033b2f962" providerId="LiveId" clId="{D7099861-E3C6-4262-8ED6-A0A90ABF714A}" dt="2025-05-27T12:31:40.073" v="3721" actId="164"/>
          <ac:picMkLst>
            <pc:docMk/>
            <pc:sldMk cId="3880459281" sldId="518"/>
            <ac:picMk id="16" creationId="{575697AB-8B3B-81B0-AB02-6038DF71221C}"/>
          </ac:picMkLst>
        </pc:picChg>
      </pc:sldChg>
      <pc:sldChg chg="addSp delSp modSp add mod modAnim">
        <pc:chgData name="Camilo Daleles Rennó" userId="eac9aab033b2f962" providerId="LiveId" clId="{D7099861-E3C6-4262-8ED6-A0A90ABF714A}" dt="2025-05-28T11:46:58.301" v="7033" actId="20577"/>
        <pc:sldMkLst>
          <pc:docMk/>
          <pc:sldMk cId="3039368511" sldId="519"/>
        </pc:sldMkLst>
        <pc:spChg chg="mod">
          <ac:chgData name="Camilo Daleles Rennó" userId="eac9aab033b2f962" providerId="LiveId" clId="{D7099861-E3C6-4262-8ED6-A0A90ABF714A}" dt="2025-05-27T12:38:19.167" v="3837" actId="1038"/>
          <ac:spMkLst>
            <pc:docMk/>
            <pc:sldMk cId="3039368511" sldId="519"/>
            <ac:spMk id="6" creationId="{10D1345C-06B8-31F4-9228-2439303612AA}"/>
          </ac:spMkLst>
        </pc:spChg>
        <pc:spChg chg="mod">
          <ac:chgData name="Camilo Daleles Rennó" userId="eac9aab033b2f962" providerId="LiveId" clId="{D7099861-E3C6-4262-8ED6-A0A90ABF714A}" dt="2025-05-28T11:46:58.301" v="7033" actId="20577"/>
          <ac:spMkLst>
            <pc:docMk/>
            <pc:sldMk cId="3039368511" sldId="519"/>
            <ac:spMk id="8" creationId="{6089D4CE-7666-2AD5-D487-67AC9B6A9C56}"/>
          </ac:spMkLst>
        </pc:spChg>
        <pc:spChg chg="mod">
          <ac:chgData name="Camilo Daleles Rennó" userId="eac9aab033b2f962" providerId="LiveId" clId="{D7099861-E3C6-4262-8ED6-A0A90ABF714A}" dt="2025-05-27T12:38:13.254" v="3827" actId="554"/>
          <ac:spMkLst>
            <pc:docMk/>
            <pc:sldMk cId="3039368511" sldId="519"/>
            <ac:spMk id="16" creationId="{02F1A488-FC55-72E4-8676-DB2CCB055A71}"/>
          </ac:spMkLst>
        </pc:spChg>
        <pc:spChg chg="mod">
          <ac:chgData name="Camilo Daleles Rennó" userId="eac9aab033b2f962" providerId="LiveId" clId="{D7099861-E3C6-4262-8ED6-A0A90ABF714A}" dt="2025-05-27T12:38:25.021" v="3850" actId="1037"/>
          <ac:spMkLst>
            <pc:docMk/>
            <pc:sldMk cId="3039368511" sldId="519"/>
            <ac:spMk id="17" creationId="{2468F44B-9B29-EB33-4EA6-A06FF49A3038}"/>
          </ac:spMkLst>
        </pc:spChg>
        <pc:picChg chg="add mod ord">
          <ac:chgData name="Camilo Daleles Rennó" userId="eac9aab033b2f962" providerId="LiveId" clId="{D7099861-E3C6-4262-8ED6-A0A90ABF714A}" dt="2025-05-27T12:37:36.800" v="3818" actId="1037"/>
          <ac:picMkLst>
            <pc:docMk/>
            <pc:sldMk cId="3039368511" sldId="519"/>
            <ac:picMk id="2" creationId="{AF405F50-872E-041E-88E1-803C2152A855}"/>
          </ac:picMkLst>
        </pc:picChg>
      </pc:sldChg>
      <pc:sldChg chg="addSp delSp modSp add mod modAnim">
        <pc:chgData name="Camilo Daleles Rennó" userId="eac9aab033b2f962" providerId="LiveId" clId="{D7099861-E3C6-4262-8ED6-A0A90ABF714A}" dt="2025-05-27T14:43:13.149" v="5756"/>
        <pc:sldMkLst>
          <pc:docMk/>
          <pc:sldMk cId="1781879038" sldId="520"/>
        </pc:sldMkLst>
        <pc:spChg chg="mod">
          <ac:chgData name="Camilo Daleles Rennó" userId="eac9aab033b2f962" providerId="LiveId" clId="{D7099861-E3C6-4262-8ED6-A0A90ABF714A}" dt="2025-05-27T12:46:35.710" v="3901" actId="114"/>
          <ac:spMkLst>
            <pc:docMk/>
            <pc:sldMk cId="1781879038" sldId="520"/>
            <ac:spMk id="4" creationId="{047A83A6-2181-99BF-02CC-D5FF6F79F7EF}"/>
          </ac:spMkLst>
        </pc:spChg>
        <pc:picChg chg="add mod ord">
          <ac:chgData name="Camilo Daleles Rennó" userId="eac9aab033b2f962" providerId="LiveId" clId="{D7099861-E3C6-4262-8ED6-A0A90ABF714A}" dt="2025-05-27T12:45:34.211" v="3887" actId="14100"/>
          <ac:picMkLst>
            <pc:docMk/>
            <pc:sldMk cId="1781879038" sldId="520"/>
            <ac:picMk id="2" creationId="{3A35053D-BBD5-54D1-7039-6F4A08C50116}"/>
          </ac:picMkLst>
        </pc:picChg>
      </pc:sldChg>
      <pc:sldChg chg="addSp delSp modSp add mod delAnim modAnim">
        <pc:chgData name="Camilo Daleles Rennó" userId="eac9aab033b2f962" providerId="LiveId" clId="{D7099861-E3C6-4262-8ED6-A0A90ABF714A}" dt="2025-05-27T13:04:37.450" v="4312" actId="20577"/>
        <pc:sldMkLst>
          <pc:docMk/>
          <pc:sldMk cId="2183297962" sldId="521"/>
        </pc:sldMkLst>
        <pc:spChg chg="mod">
          <ac:chgData name="Camilo Daleles Rennó" userId="eac9aab033b2f962" providerId="LiveId" clId="{D7099861-E3C6-4262-8ED6-A0A90ABF714A}" dt="2025-05-27T12:56:26.600" v="4060" actId="20577"/>
          <ac:spMkLst>
            <pc:docMk/>
            <pc:sldMk cId="2183297962" sldId="521"/>
            <ac:spMk id="9" creationId="{DFCC9260-3D9A-B473-B0F1-EE4FD5D351EB}"/>
          </ac:spMkLst>
        </pc:spChg>
        <pc:spChg chg="mod">
          <ac:chgData name="Camilo Daleles Rennó" userId="eac9aab033b2f962" providerId="LiveId" clId="{D7099861-E3C6-4262-8ED6-A0A90ABF714A}" dt="2025-05-27T12:56:21.608" v="4056"/>
          <ac:spMkLst>
            <pc:docMk/>
            <pc:sldMk cId="2183297962" sldId="521"/>
            <ac:spMk id="13" creationId="{9787A5FA-878D-D953-F9C3-CFD0B330970D}"/>
          </ac:spMkLst>
        </pc:spChg>
        <pc:spChg chg="add mod">
          <ac:chgData name="Camilo Daleles Rennó" userId="eac9aab033b2f962" providerId="LiveId" clId="{D7099861-E3C6-4262-8ED6-A0A90ABF714A}" dt="2025-05-27T13:03:19.917" v="4299"/>
          <ac:spMkLst>
            <pc:docMk/>
            <pc:sldMk cId="2183297962" sldId="521"/>
            <ac:spMk id="14" creationId="{95CB2218-B5BD-F561-0B35-ABDD51D401F8}"/>
          </ac:spMkLst>
        </pc:spChg>
        <pc:spChg chg="add mod">
          <ac:chgData name="Camilo Daleles Rennó" userId="eac9aab033b2f962" providerId="LiveId" clId="{D7099861-E3C6-4262-8ED6-A0A90ABF714A}" dt="2025-05-27T13:03:39.057" v="4301" actId="1076"/>
          <ac:spMkLst>
            <pc:docMk/>
            <pc:sldMk cId="2183297962" sldId="521"/>
            <ac:spMk id="15" creationId="{AD169937-979C-92B6-EE6A-CAD2E336F886}"/>
          </ac:spMkLst>
        </pc:spChg>
        <pc:spChg chg="add mod">
          <ac:chgData name="Camilo Daleles Rennó" userId="eac9aab033b2f962" providerId="LiveId" clId="{D7099861-E3C6-4262-8ED6-A0A90ABF714A}" dt="2025-05-27T13:04:37.450" v="4312" actId="20577"/>
          <ac:spMkLst>
            <pc:docMk/>
            <pc:sldMk cId="2183297962" sldId="521"/>
            <ac:spMk id="20" creationId="{51FF1067-7C0C-EEE1-85E1-DA728BF92B7D}"/>
          </ac:spMkLst>
        </pc:spChg>
        <pc:grpChg chg="add mod ord">
          <ac:chgData name="Camilo Daleles Rennó" userId="eac9aab033b2f962" providerId="LiveId" clId="{D7099861-E3C6-4262-8ED6-A0A90ABF714A}" dt="2025-05-27T12:58:49.165" v="4077" actId="167"/>
          <ac:grpSpMkLst>
            <pc:docMk/>
            <pc:sldMk cId="2183297962" sldId="521"/>
            <ac:grpSpMk id="12" creationId="{B354E9CE-E385-9BCA-09B3-CB50DD996C2B}"/>
          </ac:grpSpMkLst>
        </pc:grpChg>
        <pc:picChg chg="add mod modCrop">
          <ac:chgData name="Camilo Daleles Rennó" userId="eac9aab033b2f962" providerId="LiveId" clId="{D7099861-E3C6-4262-8ED6-A0A90ABF714A}" dt="2025-05-27T12:58:32.295" v="4072" actId="164"/>
          <ac:picMkLst>
            <pc:docMk/>
            <pc:sldMk cId="2183297962" sldId="521"/>
            <ac:picMk id="10" creationId="{F4B504E6-6D2D-D93A-038A-3C342184A2CF}"/>
          </ac:picMkLst>
        </pc:picChg>
        <pc:picChg chg="add mod modCrop">
          <ac:chgData name="Camilo Daleles Rennó" userId="eac9aab033b2f962" providerId="LiveId" clId="{D7099861-E3C6-4262-8ED6-A0A90ABF714A}" dt="2025-05-27T12:58:32.295" v="4072" actId="164"/>
          <ac:picMkLst>
            <pc:docMk/>
            <pc:sldMk cId="2183297962" sldId="521"/>
            <ac:picMk id="11" creationId="{221CD1C4-21C3-C08A-0428-B7C980B6F204}"/>
          </ac:picMkLst>
        </pc:picChg>
      </pc:sldChg>
      <pc:sldChg chg="add del">
        <pc:chgData name="Camilo Daleles Rennó" userId="eac9aab033b2f962" providerId="LiveId" clId="{D7099861-E3C6-4262-8ED6-A0A90ABF714A}" dt="2025-05-27T12:55:55.267" v="4053" actId="47"/>
        <pc:sldMkLst>
          <pc:docMk/>
          <pc:sldMk cId="2530450825" sldId="521"/>
        </pc:sldMkLst>
      </pc:sldChg>
      <pc:sldChg chg="addSp delSp modSp add mod ord delAnim modAnim">
        <pc:chgData name="Camilo Daleles Rennó" userId="eac9aab033b2f962" providerId="LiveId" clId="{D7099861-E3C6-4262-8ED6-A0A90ABF714A}" dt="2025-05-27T15:57:24.657" v="6893" actId="20577"/>
        <pc:sldMkLst>
          <pc:docMk/>
          <pc:sldMk cId="2454846490" sldId="522"/>
        </pc:sldMkLst>
        <pc:spChg chg="mod">
          <ac:chgData name="Camilo Daleles Rennó" userId="eac9aab033b2f962" providerId="LiveId" clId="{D7099861-E3C6-4262-8ED6-A0A90ABF714A}" dt="2025-05-27T13:52:04.788" v="4899"/>
          <ac:spMkLst>
            <pc:docMk/>
            <pc:sldMk cId="2454846490" sldId="522"/>
            <ac:spMk id="8" creationId="{5A7E99E2-3B97-891F-6608-3E6643012241}"/>
          </ac:spMkLst>
        </pc:spChg>
        <pc:spChg chg="mod">
          <ac:chgData name="Camilo Daleles Rennó" userId="eac9aab033b2f962" providerId="LiveId" clId="{D7099861-E3C6-4262-8ED6-A0A90ABF714A}" dt="2025-05-27T13:53:00.826" v="4980" actId="1038"/>
          <ac:spMkLst>
            <pc:docMk/>
            <pc:sldMk cId="2454846490" sldId="522"/>
            <ac:spMk id="9" creationId="{457EF28E-FDF1-6BAD-A3A8-C64B3E70584F}"/>
          </ac:spMkLst>
        </pc:spChg>
        <pc:spChg chg="add mod">
          <ac:chgData name="Camilo Daleles Rennó" userId="eac9aab033b2f962" providerId="LiveId" clId="{D7099861-E3C6-4262-8ED6-A0A90ABF714A}" dt="2025-05-27T13:55:31.520" v="5034" actId="122"/>
          <ac:spMkLst>
            <pc:docMk/>
            <pc:sldMk cId="2454846490" sldId="522"/>
            <ac:spMk id="10" creationId="{5533E5E2-CA9A-0972-A599-03040C46DBE2}"/>
          </ac:spMkLst>
        </pc:spChg>
        <pc:spChg chg="mod">
          <ac:chgData name="Camilo Daleles Rennó" userId="eac9aab033b2f962" providerId="LiveId" clId="{D7099861-E3C6-4262-8ED6-A0A90ABF714A}" dt="2025-05-27T15:56:26.428" v="6871"/>
          <ac:spMkLst>
            <pc:docMk/>
            <pc:sldMk cId="2454846490" sldId="522"/>
            <ac:spMk id="13" creationId="{EA947565-6564-15C3-80A7-CFBE65D5A79F}"/>
          </ac:spMkLst>
        </pc:spChg>
        <pc:grpChg chg="add mod">
          <ac:chgData name="Camilo Daleles Rennó" userId="eac9aab033b2f962" providerId="LiveId" clId="{D7099861-E3C6-4262-8ED6-A0A90ABF714A}" dt="2025-05-27T15:04:05.697" v="5809" actId="1035"/>
          <ac:grpSpMkLst>
            <pc:docMk/>
            <pc:sldMk cId="2454846490" sldId="522"/>
            <ac:grpSpMk id="4" creationId="{44302E9E-8BD0-C674-07F8-52B3A2F37B4F}"/>
          </ac:grpSpMkLst>
        </pc:grpChg>
        <pc:graphicFrameChg chg="add mod modGraphic">
          <ac:chgData name="Camilo Daleles Rennó" userId="eac9aab033b2f962" providerId="LiveId" clId="{D7099861-E3C6-4262-8ED6-A0A90ABF714A}" dt="2025-05-27T15:57:24.657" v="6893" actId="20577"/>
          <ac:graphicFrameMkLst>
            <pc:docMk/>
            <pc:sldMk cId="2454846490" sldId="522"/>
            <ac:graphicFrameMk id="2" creationId="{3C0E796E-8597-953B-A5D2-89CC575FCBA1}"/>
          </ac:graphicFrameMkLst>
        </pc:graphicFrameChg>
      </pc:sldChg>
      <pc:sldChg chg="addSp modSp add mod modAnim">
        <pc:chgData name="Camilo Daleles Rennó" userId="eac9aab033b2f962" providerId="LiveId" clId="{D7099861-E3C6-4262-8ED6-A0A90ABF714A}" dt="2025-05-27T15:18:01.889" v="6290" actId="179"/>
        <pc:sldMkLst>
          <pc:docMk/>
          <pc:sldMk cId="1274607946" sldId="523"/>
        </pc:sldMkLst>
        <pc:spChg chg="mod">
          <ac:chgData name="Camilo Daleles Rennó" userId="eac9aab033b2f962" providerId="LiveId" clId="{D7099861-E3C6-4262-8ED6-A0A90ABF714A}" dt="2025-05-27T13:58:32.713" v="5079" actId="571"/>
          <ac:spMkLst>
            <pc:docMk/>
            <pc:sldMk cId="1274607946" sldId="523"/>
            <ac:spMk id="4" creationId="{E8DBF2C3-FCA3-A127-B3F6-0DF9FC59403B}"/>
          </ac:spMkLst>
        </pc:spChg>
        <pc:spChg chg="mod">
          <ac:chgData name="Camilo Daleles Rennó" userId="eac9aab033b2f962" providerId="LiveId" clId="{D7099861-E3C6-4262-8ED6-A0A90ABF714A}" dt="2025-05-27T14:06:23.172" v="5280" actId="1035"/>
          <ac:spMkLst>
            <pc:docMk/>
            <pc:sldMk cId="1274607946" sldId="523"/>
            <ac:spMk id="7" creationId="{87F90118-B067-AE67-4536-944758237546}"/>
          </ac:spMkLst>
        </pc:spChg>
        <pc:spChg chg="mod">
          <ac:chgData name="Camilo Daleles Rennó" userId="eac9aab033b2f962" providerId="LiveId" clId="{D7099861-E3C6-4262-8ED6-A0A90ABF714A}" dt="2025-05-27T13:59:01.242" v="5133" actId="1038"/>
          <ac:spMkLst>
            <pc:docMk/>
            <pc:sldMk cId="1274607946" sldId="523"/>
            <ac:spMk id="8" creationId="{F185DC6B-446B-BC4D-F6AE-6A0CAAD799D8}"/>
          </ac:spMkLst>
        </pc:spChg>
        <pc:spChg chg="mod">
          <ac:chgData name="Camilo Daleles Rennó" userId="eac9aab033b2f962" providerId="LiveId" clId="{D7099861-E3C6-4262-8ED6-A0A90ABF714A}" dt="2025-05-27T15:18:01.889" v="6290" actId="179"/>
          <ac:spMkLst>
            <pc:docMk/>
            <pc:sldMk cId="1274607946" sldId="523"/>
            <ac:spMk id="13" creationId="{EA1848FF-6E29-BDEF-F0BF-9A5BF4840DCE}"/>
          </ac:spMkLst>
        </pc:spChg>
        <pc:grpChg chg="add mod">
          <ac:chgData name="Camilo Daleles Rennó" userId="eac9aab033b2f962" providerId="LiveId" clId="{D7099861-E3C6-4262-8ED6-A0A90ABF714A}" dt="2025-05-27T13:58:35.510" v="5087" actId="1037"/>
          <ac:grpSpMkLst>
            <pc:docMk/>
            <pc:sldMk cId="1274607946" sldId="523"/>
            <ac:grpSpMk id="2" creationId="{A1B04F0A-4D1B-BECC-441B-8E3B9F970C60}"/>
          </ac:grpSpMkLst>
        </pc:grpChg>
        <pc:grpChg chg="mod">
          <ac:chgData name="Camilo Daleles Rennó" userId="eac9aab033b2f962" providerId="LiveId" clId="{D7099861-E3C6-4262-8ED6-A0A90ABF714A}" dt="2025-05-27T15:17:25.885" v="6288" actId="1035"/>
          <ac:grpSpMkLst>
            <pc:docMk/>
            <pc:sldMk cId="1274607946" sldId="523"/>
            <ac:grpSpMk id="5" creationId="{83B217E6-105F-3427-5FB0-B2D49AE5823C}"/>
          </ac:grpSpMkLst>
        </pc:grpChg>
      </pc:sldChg>
      <pc:sldChg chg="addSp delSp modSp add mod delAnim modAnim">
        <pc:chgData name="Camilo Daleles Rennó" userId="eac9aab033b2f962" providerId="LiveId" clId="{D7099861-E3C6-4262-8ED6-A0A90ABF714A}" dt="2025-05-27T14:43:00.571" v="5755"/>
        <pc:sldMkLst>
          <pc:docMk/>
          <pc:sldMk cId="3655051650" sldId="524"/>
        </pc:sldMkLst>
        <pc:spChg chg="mod">
          <ac:chgData name="Camilo Daleles Rennó" userId="eac9aab033b2f962" providerId="LiveId" clId="{D7099861-E3C6-4262-8ED6-A0A90ABF714A}" dt="2025-05-27T14:13:36.345" v="5365" actId="20577"/>
          <ac:spMkLst>
            <pc:docMk/>
            <pc:sldMk cId="3655051650" sldId="524"/>
            <ac:spMk id="4" creationId="{A60BE3C0-2EDE-0BA7-84FC-AD6CFDFBDBC9}"/>
          </ac:spMkLst>
        </pc:spChg>
        <pc:spChg chg="mod">
          <ac:chgData name="Camilo Daleles Rennó" userId="eac9aab033b2f962" providerId="LiveId" clId="{D7099861-E3C6-4262-8ED6-A0A90ABF714A}" dt="2025-05-27T14:10:59.150" v="5327" actId="20577"/>
          <ac:spMkLst>
            <pc:docMk/>
            <pc:sldMk cId="3655051650" sldId="524"/>
            <ac:spMk id="12" creationId="{0A733B55-9242-A897-F60C-36E2F6E3993E}"/>
          </ac:spMkLst>
        </pc:spChg>
        <pc:spChg chg="mod">
          <ac:chgData name="Camilo Daleles Rennó" userId="eac9aab033b2f962" providerId="LiveId" clId="{D7099861-E3C6-4262-8ED6-A0A90ABF714A}" dt="2025-05-27T14:11:59.036" v="5334" actId="14100"/>
          <ac:spMkLst>
            <pc:docMk/>
            <pc:sldMk cId="3655051650" sldId="524"/>
            <ac:spMk id="13" creationId="{7B3D4C9A-83FD-6DC6-803B-6E9A261E1760}"/>
          </ac:spMkLst>
        </pc:spChg>
        <pc:picChg chg="add mod ord">
          <ac:chgData name="Camilo Daleles Rennó" userId="eac9aab033b2f962" providerId="LiveId" clId="{D7099861-E3C6-4262-8ED6-A0A90ABF714A}" dt="2025-05-27T14:12:47.303" v="5345" actId="167"/>
          <ac:picMkLst>
            <pc:docMk/>
            <pc:sldMk cId="3655051650" sldId="524"/>
            <ac:picMk id="8" creationId="{0B12599A-D784-0A9C-771A-D5BF135EB009}"/>
          </ac:picMkLst>
        </pc:picChg>
      </pc:sldChg>
      <pc:sldChg chg="addSp delSp modSp add mod delAnim modAnim">
        <pc:chgData name="Camilo Daleles Rennó" userId="eac9aab033b2f962" providerId="LiveId" clId="{D7099861-E3C6-4262-8ED6-A0A90ABF714A}" dt="2025-05-27T15:08:53.439" v="5843"/>
        <pc:sldMkLst>
          <pc:docMk/>
          <pc:sldMk cId="2795986662" sldId="525"/>
        </pc:sldMkLst>
        <pc:spChg chg="mod">
          <ac:chgData name="Camilo Daleles Rennó" userId="eac9aab033b2f962" providerId="LiveId" clId="{D7099861-E3C6-4262-8ED6-A0A90ABF714A}" dt="2025-05-27T15:05:39.544" v="5816" actId="1076"/>
          <ac:spMkLst>
            <pc:docMk/>
            <pc:sldMk cId="2795986662" sldId="525"/>
            <ac:spMk id="10" creationId="{C4FC2706-EA95-1660-8F2B-2CB3E4FCE66A}"/>
          </ac:spMkLst>
        </pc:spChg>
        <pc:spChg chg="mod">
          <ac:chgData name="Camilo Daleles Rennó" userId="eac9aab033b2f962" providerId="LiveId" clId="{D7099861-E3C6-4262-8ED6-A0A90ABF714A}" dt="2025-05-27T15:05:34.071" v="5815" actId="20577"/>
          <ac:spMkLst>
            <pc:docMk/>
            <pc:sldMk cId="2795986662" sldId="525"/>
            <ac:spMk id="13" creationId="{01F45150-BE27-F79F-D002-7630AAE2514B}"/>
          </ac:spMkLst>
        </pc:spChg>
        <pc:spChg chg="mod">
          <ac:chgData name="Camilo Daleles Rennó" userId="eac9aab033b2f962" providerId="LiveId" clId="{D7099861-E3C6-4262-8ED6-A0A90ABF714A}" dt="2025-05-27T14:25:35.409" v="5541" actId="1037"/>
          <ac:spMkLst>
            <pc:docMk/>
            <pc:sldMk cId="2795986662" sldId="525"/>
            <ac:spMk id="16" creationId="{4A19069D-DB84-BB7C-1A29-17561B874064}"/>
          </ac:spMkLst>
        </pc:spChg>
        <pc:spChg chg="add mod">
          <ac:chgData name="Camilo Daleles Rennó" userId="eac9aab033b2f962" providerId="LiveId" clId="{D7099861-E3C6-4262-8ED6-A0A90ABF714A}" dt="2025-05-27T14:26:37.348" v="5591" actId="1035"/>
          <ac:spMkLst>
            <pc:docMk/>
            <pc:sldMk cId="2795986662" sldId="525"/>
            <ac:spMk id="20" creationId="{17A37961-2C82-A856-8713-0429530FCAE5}"/>
          </ac:spMkLst>
        </pc:spChg>
        <pc:spChg chg="add mod">
          <ac:chgData name="Camilo Daleles Rennó" userId="eac9aab033b2f962" providerId="LiveId" clId="{D7099861-E3C6-4262-8ED6-A0A90ABF714A}" dt="2025-05-27T14:27:41.179" v="5631" actId="1035"/>
          <ac:spMkLst>
            <pc:docMk/>
            <pc:sldMk cId="2795986662" sldId="525"/>
            <ac:spMk id="21" creationId="{DFBF72E8-E476-14F6-384D-40C78C9949AE}"/>
          </ac:spMkLst>
        </pc:spChg>
        <pc:spChg chg="add mod">
          <ac:chgData name="Camilo Daleles Rennó" userId="eac9aab033b2f962" providerId="LiveId" clId="{D7099861-E3C6-4262-8ED6-A0A90ABF714A}" dt="2025-05-27T14:27:33.425" v="5624" actId="1035"/>
          <ac:spMkLst>
            <pc:docMk/>
            <pc:sldMk cId="2795986662" sldId="525"/>
            <ac:spMk id="22" creationId="{9ED11FE4-7A14-894E-0E8D-68D7A504E088}"/>
          </ac:spMkLst>
        </pc:spChg>
        <pc:spChg chg="add mod">
          <ac:chgData name="Camilo Daleles Rennó" userId="eac9aab033b2f962" providerId="LiveId" clId="{D7099861-E3C6-4262-8ED6-A0A90ABF714A}" dt="2025-05-27T15:08:37.390" v="5842" actId="1035"/>
          <ac:spMkLst>
            <pc:docMk/>
            <pc:sldMk cId="2795986662" sldId="525"/>
            <ac:spMk id="26" creationId="{B3ACF7A5-0513-AA89-5E70-B38E6F8573BA}"/>
          </ac:spMkLst>
        </pc:spChg>
        <pc:picChg chg="add mod ord modCrop">
          <ac:chgData name="Camilo Daleles Rennó" userId="eac9aab033b2f962" providerId="LiveId" clId="{D7099861-E3C6-4262-8ED6-A0A90ABF714A}" dt="2025-05-27T14:24:30.584" v="5509" actId="1036"/>
          <ac:picMkLst>
            <pc:docMk/>
            <pc:sldMk cId="2795986662" sldId="525"/>
            <ac:picMk id="11" creationId="{E6A45762-C1EA-6ADF-5C5E-E7EA384C8795}"/>
          </ac:picMkLst>
        </pc:picChg>
        <pc:picChg chg="add mod ord modCrop">
          <ac:chgData name="Camilo Daleles Rennó" userId="eac9aab033b2f962" providerId="LiveId" clId="{D7099861-E3C6-4262-8ED6-A0A90ABF714A}" dt="2025-05-27T14:24:30.584" v="5509" actId="1036"/>
          <ac:picMkLst>
            <pc:docMk/>
            <pc:sldMk cId="2795986662" sldId="525"/>
            <ac:picMk id="12" creationId="{D959973F-0646-48B0-9869-587CB71ED42E}"/>
          </ac:picMkLst>
        </pc:picChg>
        <pc:picChg chg="add mod ord modCrop">
          <ac:chgData name="Camilo Daleles Rennó" userId="eac9aab033b2f962" providerId="LiveId" clId="{D7099861-E3C6-4262-8ED6-A0A90ABF714A}" dt="2025-05-27T14:24:30.584" v="5509" actId="1036"/>
          <ac:picMkLst>
            <pc:docMk/>
            <pc:sldMk cId="2795986662" sldId="525"/>
            <ac:picMk id="14" creationId="{381D8216-8447-2777-D807-334EE5EF2D39}"/>
          </ac:picMkLst>
        </pc:picChg>
        <pc:picChg chg="add mod ord modCrop">
          <ac:chgData name="Camilo Daleles Rennó" userId="eac9aab033b2f962" providerId="LiveId" clId="{D7099861-E3C6-4262-8ED6-A0A90ABF714A}" dt="2025-05-27T14:24:30.584" v="5509" actId="1036"/>
          <ac:picMkLst>
            <pc:docMk/>
            <pc:sldMk cId="2795986662" sldId="525"/>
            <ac:picMk id="15" creationId="{A821B81C-C74B-FE0B-28F3-16B4B27B99EE}"/>
          </ac:picMkLst>
        </pc:picChg>
        <pc:picChg chg="add mod ord modCrop">
          <ac:chgData name="Camilo Daleles Rennó" userId="eac9aab033b2f962" providerId="LiveId" clId="{D7099861-E3C6-4262-8ED6-A0A90ABF714A}" dt="2025-05-27T15:08:30.103" v="5839" actId="167"/>
          <ac:picMkLst>
            <pc:docMk/>
            <pc:sldMk cId="2795986662" sldId="525"/>
            <ac:picMk id="27" creationId="{F908CE16-5099-D847-D1F4-99D6323B095E}"/>
          </ac:picMkLst>
        </pc:picChg>
      </pc:sldChg>
      <pc:sldChg chg="add del">
        <pc:chgData name="Camilo Daleles Rennó" userId="eac9aab033b2f962" providerId="LiveId" clId="{D7099861-E3C6-4262-8ED6-A0A90ABF714A}" dt="2025-05-27T15:09:13.215" v="5844" actId="47"/>
        <pc:sldMkLst>
          <pc:docMk/>
          <pc:sldMk cId="1898243992" sldId="526"/>
        </pc:sldMkLst>
      </pc:sldChg>
      <pc:sldChg chg="addSp delSp modSp add mod delAnim modAnim">
        <pc:chgData name="Camilo Daleles Rennó" userId="eac9aab033b2f962" providerId="LiveId" clId="{D7099861-E3C6-4262-8ED6-A0A90ABF714A}" dt="2025-05-28T11:59:50.641" v="7120" actId="1038"/>
        <pc:sldMkLst>
          <pc:docMk/>
          <pc:sldMk cId="2246392105" sldId="526"/>
        </pc:sldMkLst>
        <pc:spChg chg="mod">
          <ac:chgData name="Camilo Daleles Rennó" userId="eac9aab033b2f962" providerId="LiveId" clId="{D7099861-E3C6-4262-8ED6-A0A90ABF714A}" dt="2025-05-27T15:23:25.385" v="6398"/>
          <ac:spMkLst>
            <pc:docMk/>
            <pc:sldMk cId="2246392105" sldId="526"/>
            <ac:spMk id="7" creationId="{1567DD31-948F-E6DB-9817-92CAA7D80C4A}"/>
          </ac:spMkLst>
        </pc:spChg>
        <pc:spChg chg="mod">
          <ac:chgData name="Camilo Daleles Rennó" userId="eac9aab033b2f962" providerId="LiveId" clId="{D7099861-E3C6-4262-8ED6-A0A90ABF714A}" dt="2025-05-28T11:59:50.641" v="7120" actId="1038"/>
          <ac:spMkLst>
            <pc:docMk/>
            <pc:sldMk cId="2246392105" sldId="526"/>
            <ac:spMk id="11" creationId="{5F317AC3-1258-8D97-86CF-ED7CA0EFA218}"/>
          </ac:spMkLst>
        </pc:spChg>
        <pc:spChg chg="mod">
          <ac:chgData name="Camilo Daleles Rennó" userId="eac9aab033b2f962" providerId="LiveId" clId="{D7099861-E3C6-4262-8ED6-A0A90ABF714A}" dt="2025-05-28T11:59:25.113" v="7099" actId="20577"/>
          <ac:spMkLst>
            <pc:docMk/>
            <pc:sldMk cId="2246392105" sldId="526"/>
            <ac:spMk id="13" creationId="{A3CE55EE-E1A4-C513-5430-9DB576883828}"/>
          </ac:spMkLst>
        </pc:spChg>
        <pc:grpChg chg="add mod">
          <ac:chgData name="Camilo Daleles Rennó" userId="eac9aab033b2f962" providerId="LiveId" clId="{D7099861-E3C6-4262-8ED6-A0A90ABF714A}" dt="2025-05-28T11:59:31.320" v="7100" actId="1076"/>
          <ac:grpSpMkLst>
            <pc:docMk/>
            <pc:sldMk cId="2246392105" sldId="526"/>
            <ac:grpSpMk id="6" creationId="{F72868E4-4E30-102F-CC7F-5B86E85762AC}"/>
          </ac:grpSpMkLst>
        </pc:grpChg>
      </pc:sldChg>
      <pc:sldChg chg="modSp add del mod">
        <pc:chgData name="Camilo Daleles Rennó" userId="eac9aab033b2f962" providerId="LiveId" clId="{D7099861-E3C6-4262-8ED6-A0A90ABF714A}" dt="2025-05-27T15:24:14.844" v="6426" actId="47"/>
        <pc:sldMkLst>
          <pc:docMk/>
          <pc:sldMk cId="2894555431" sldId="527"/>
        </pc:sldMkLst>
      </pc:sldChg>
      <pc:sldChg chg="addSp delSp modSp add mod delAnim modAnim">
        <pc:chgData name="Camilo Daleles Rennó" userId="eac9aab033b2f962" providerId="LiveId" clId="{D7099861-E3C6-4262-8ED6-A0A90ABF714A}" dt="2025-05-27T15:38:35.445" v="6693"/>
        <pc:sldMkLst>
          <pc:docMk/>
          <pc:sldMk cId="3821510120" sldId="528"/>
        </pc:sldMkLst>
        <pc:spChg chg="mod">
          <ac:chgData name="Camilo Daleles Rennó" userId="eac9aab033b2f962" providerId="LiveId" clId="{D7099861-E3C6-4262-8ED6-A0A90ABF714A}" dt="2025-05-27T15:26:56.931" v="6479" actId="20577"/>
          <ac:spMkLst>
            <pc:docMk/>
            <pc:sldMk cId="3821510120" sldId="528"/>
            <ac:spMk id="12" creationId="{D573DEB3-54BC-B5FC-3EFB-97DEA16A0BAB}"/>
          </ac:spMkLst>
        </pc:spChg>
        <pc:spChg chg="mod">
          <ac:chgData name="Camilo Daleles Rennó" userId="eac9aab033b2f962" providerId="LiveId" clId="{D7099861-E3C6-4262-8ED6-A0A90ABF714A}" dt="2025-05-27T15:27:19.275" v="6488" actId="14100"/>
          <ac:spMkLst>
            <pc:docMk/>
            <pc:sldMk cId="3821510120" sldId="528"/>
            <ac:spMk id="13" creationId="{3EC6BB00-541B-7F68-D051-1818517324A3}"/>
          </ac:spMkLst>
        </pc:spChg>
        <pc:picChg chg="add mod ord">
          <ac:chgData name="Camilo Daleles Rennó" userId="eac9aab033b2f962" providerId="LiveId" clId="{D7099861-E3C6-4262-8ED6-A0A90ABF714A}" dt="2025-05-27T15:27:55.028" v="6495" actId="167"/>
          <ac:picMkLst>
            <pc:docMk/>
            <pc:sldMk cId="3821510120" sldId="528"/>
            <ac:picMk id="2" creationId="{F6EF8A88-A56E-9D62-C26B-9C8E2328A5FD}"/>
          </ac:picMkLst>
        </pc:picChg>
      </pc:sldChg>
      <pc:sldChg chg="addSp delSp modSp add mod delAnim">
        <pc:chgData name="Camilo Daleles Rennó" userId="eac9aab033b2f962" providerId="LiveId" clId="{D7099861-E3C6-4262-8ED6-A0A90ABF714A}" dt="2025-05-27T15:37:22.684" v="6685" actId="1076"/>
        <pc:sldMkLst>
          <pc:docMk/>
          <pc:sldMk cId="3051156699" sldId="529"/>
        </pc:sldMkLst>
        <pc:spChg chg="mod">
          <ac:chgData name="Camilo Daleles Rennó" userId="eac9aab033b2f962" providerId="LiveId" clId="{D7099861-E3C6-4262-8ED6-A0A90ABF714A}" dt="2025-05-27T15:37:22.684" v="6685" actId="1076"/>
          <ac:spMkLst>
            <pc:docMk/>
            <pc:sldMk cId="3051156699" sldId="529"/>
            <ac:spMk id="10" creationId="{28F85F78-0839-896D-34A9-3B96E857E2F6}"/>
          </ac:spMkLst>
        </pc:spChg>
        <pc:spChg chg="mod">
          <ac:chgData name="Camilo Daleles Rennó" userId="eac9aab033b2f962" providerId="LiveId" clId="{D7099861-E3C6-4262-8ED6-A0A90ABF714A}" dt="2025-05-27T15:29:16.897" v="6512" actId="6549"/>
          <ac:spMkLst>
            <pc:docMk/>
            <pc:sldMk cId="3051156699" sldId="529"/>
            <ac:spMk id="13" creationId="{1A583AE0-64A5-22FC-E1B5-28763DEC7DBC}"/>
          </ac:spMkLst>
        </pc:spChg>
        <pc:spChg chg="mod">
          <ac:chgData name="Camilo Daleles Rennó" userId="eac9aab033b2f962" providerId="LiveId" clId="{D7099861-E3C6-4262-8ED6-A0A90ABF714A}" dt="2025-05-27T15:34:07.946" v="6575" actId="20577"/>
          <ac:spMkLst>
            <pc:docMk/>
            <pc:sldMk cId="3051156699" sldId="529"/>
            <ac:spMk id="26" creationId="{FECD45DF-D8DA-CA77-3CA3-2A59D40FE145}"/>
          </ac:spMkLst>
        </pc:spChg>
        <pc:picChg chg="add mod ord modCrop">
          <ac:chgData name="Camilo Daleles Rennó" userId="eac9aab033b2f962" providerId="LiveId" clId="{D7099861-E3C6-4262-8ED6-A0A90ABF714A}" dt="2025-05-27T15:32:59.880" v="6554" actId="1037"/>
          <ac:picMkLst>
            <pc:docMk/>
            <pc:sldMk cId="3051156699" sldId="529"/>
            <ac:picMk id="5" creationId="{68E2A7A6-01B8-DD3F-756E-6820F8934277}"/>
          </ac:picMkLst>
        </pc:picChg>
        <pc:picChg chg="add mod ord modCrop">
          <ac:chgData name="Camilo Daleles Rennó" userId="eac9aab033b2f962" providerId="LiveId" clId="{D7099861-E3C6-4262-8ED6-A0A90ABF714A}" dt="2025-05-27T15:32:44.166" v="6544" actId="1035"/>
          <ac:picMkLst>
            <pc:docMk/>
            <pc:sldMk cId="3051156699" sldId="529"/>
            <ac:picMk id="6" creationId="{D157CFB2-4515-CED5-EDBC-D0746D63091F}"/>
          </ac:picMkLst>
        </pc:picChg>
        <pc:picChg chg="add mod ord modCrop">
          <ac:chgData name="Camilo Daleles Rennó" userId="eac9aab033b2f962" providerId="LiveId" clId="{D7099861-E3C6-4262-8ED6-A0A90ABF714A}" dt="2025-05-27T15:32:44.166" v="6544" actId="1035"/>
          <ac:picMkLst>
            <pc:docMk/>
            <pc:sldMk cId="3051156699" sldId="529"/>
            <ac:picMk id="7" creationId="{8C803EE6-B4D8-0304-9485-233FEADC1208}"/>
          </ac:picMkLst>
        </pc:picChg>
        <pc:picChg chg="mod ord topLvl modCrop">
          <ac:chgData name="Camilo Daleles Rennó" userId="eac9aab033b2f962" providerId="LiveId" clId="{D7099861-E3C6-4262-8ED6-A0A90ABF714A}" dt="2025-05-27T15:36:30.187" v="6659" actId="732"/>
          <ac:picMkLst>
            <pc:docMk/>
            <pc:sldMk cId="3051156699" sldId="529"/>
            <ac:picMk id="17" creationId="{7A091FBE-0496-4B46-8EE0-4EC3235BD726}"/>
          </ac:picMkLst>
        </pc:picChg>
        <pc:picChg chg="mod ord topLvl">
          <ac:chgData name="Camilo Daleles Rennó" userId="eac9aab033b2f962" providerId="LiveId" clId="{D7099861-E3C6-4262-8ED6-A0A90ABF714A}" dt="2025-05-27T15:36:20.647" v="6657" actId="167"/>
          <ac:picMkLst>
            <pc:docMk/>
            <pc:sldMk cId="3051156699" sldId="529"/>
            <ac:picMk id="18" creationId="{D03754DA-742E-0BAD-C9AF-5B9B29180555}"/>
          </ac:picMkLst>
        </pc:picChg>
      </pc:sldChg>
      <pc:sldChg chg="addSp delSp modSp add mod delAnim modAnim">
        <pc:chgData name="Camilo Daleles Rennó" userId="eac9aab033b2f962" providerId="LiveId" clId="{D7099861-E3C6-4262-8ED6-A0A90ABF714A}" dt="2025-05-28T12:14:55.774" v="7581" actId="20577"/>
        <pc:sldMkLst>
          <pc:docMk/>
          <pc:sldMk cId="3891002280" sldId="530"/>
        </pc:sldMkLst>
        <pc:spChg chg="add mod">
          <ac:chgData name="Camilo Daleles Rennó" userId="eac9aab033b2f962" providerId="LiveId" clId="{D7099861-E3C6-4262-8ED6-A0A90ABF714A}" dt="2025-05-28T12:14:55.774" v="7581" actId="20577"/>
          <ac:spMkLst>
            <pc:docMk/>
            <pc:sldMk cId="3891002280" sldId="530"/>
            <ac:spMk id="4" creationId="{49541D6E-94DF-6496-FC3A-6EB4A4B8C0D4}"/>
          </ac:spMkLst>
        </pc:spChg>
        <pc:spChg chg="mod">
          <ac:chgData name="Camilo Daleles Rennó" userId="eac9aab033b2f962" providerId="LiveId" clId="{D7099861-E3C6-4262-8ED6-A0A90ABF714A}" dt="2025-05-28T12:03:39.992" v="7131" actId="552"/>
          <ac:spMkLst>
            <pc:docMk/>
            <pc:sldMk cId="3891002280" sldId="530"/>
            <ac:spMk id="13" creationId="{4D96E2A6-E72E-9F4F-416C-A7F3E0A08888}"/>
          </ac:spMkLst>
        </pc:spChg>
        <pc:graphicFrameChg chg="add mod modGraphic">
          <ac:chgData name="Camilo Daleles Rennó" userId="eac9aab033b2f962" providerId="LiveId" clId="{D7099861-E3C6-4262-8ED6-A0A90ABF714A}" dt="2025-05-28T12:03:25.165" v="7129" actId="1076"/>
          <ac:graphicFrameMkLst>
            <pc:docMk/>
            <pc:sldMk cId="3891002280" sldId="530"/>
            <ac:graphicFrameMk id="2" creationId="{ECCF0682-5E4F-1CC1-85B9-968BAB0442AF}"/>
          </ac:graphicFrameMkLst>
        </pc:graphicFrameChg>
      </pc:sldChg>
      <pc:sldChg chg="modSp add mod">
        <pc:chgData name="Camilo Daleles Rennó" userId="eac9aab033b2f962" providerId="LiveId" clId="{D7099861-E3C6-4262-8ED6-A0A90ABF714A}" dt="2025-05-28T12:00:20.109" v="7128" actId="1035"/>
        <pc:sldMkLst>
          <pc:docMk/>
          <pc:sldMk cId="974391704" sldId="531"/>
        </pc:sldMkLst>
        <pc:spChg chg="mod">
          <ac:chgData name="Camilo Daleles Rennó" userId="eac9aab033b2f962" providerId="LiveId" clId="{D7099861-E3C6-4262-8ED6-A0A90ABF714A}" dt="2025-05-28T12:00:12.507" v="7121" actId="6549"/>
          <ac:spMkLst>
            <pc:docMk/>
            <pc:sldMk cId="974391704" sldId="531"/>
            <ac:spMk id="13" creationId="{AD7F17B7-9BBB-5E76-956C-2E9CC1B25109}"/>
          </ac:spMkLst>
        </pc:spChg>
        <pc:grpChg chg="mod">
          <ac:chgData name="Camilo Daleles Rennó" userId="eac9aab033b2f962" providerId="LiveId" clId="{D7099861-E3C6-4262-8ED6-A0A90ABF714A}" dt="2025-05-28T12:00:20.109" v="7128" actId="1035"/>
          <ac:grpSpMkLst>
            <pc:docMk/>
            <pc:sldMk cId="974391704" sldId="531"/>
            <ac:grpSpMk id="6" creationId="{231235EE-D5F4-7F43-53B1-4B2AABFCF8E5}"/>
          </ac:grpSpMkLst>
        </pc:grpChg>
      </pc:sldChg>
      <pc:sldChg chg="add del">
        <pc:chgData name="Camilo Daleles Rennó" userId="eac9aab033b2f962" providerId="LiveId" clId="{D7099861-E3C6-4262-8ED6-A0A90ABF714A}" dt="2025-05-28T13:46:07.096" v="7762" actId="47"/>
        <pc:sldMkLst>
          <pc:docMk/>
          <pc:sldMk cId="3263418496" sldId="532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478">
              <a:noFill/>
            </a:ln>
          </c:spPr>
          <c:marker>
            <c:spPr>
              <a:solidFill>
                <a:srgbClr val="FF0000"/>
              </a:solidFill>
              <a:ln>
                <a:solidFill>
                  <a:srgbClr val="FF0000"/>
                </a:solidFill>
              </a:ln>
            </c:spPr>
          </c:marker>
          <c:xVal>
            <c:numRef>
              <c:f>Plan4!$B$3:$B$12</c:f>
              <c:numCache>
                <c:formatCode>0.00</c:formatCode>
                <c:ptCount val="10"/>
                <c:pt idx="0">
                  <c:v>0.74916685553151707</c:v>
                </c:pt>
                <c:pt idx="1">
                  <c:v>2.4678267260426079</c:v>
                </c:pt>
                <c:pt idx="2">
                  <c:v>4.3882806003809423</c:v>
                </c:pt>
                <c:pt idx="3">
                  <c:v>6.1888007182695972</c:v>
                </c:pt>
                <c:pt idx="4">
                  <c:v>7.3756889978084761</c:v>
                </c:pt>
                <c:pt idx="5">
                  <c:v>8.4747685818987275</c:v>
                </c:pt>
                <c:pt idx="6">
                  <c:v>9.9404155061705772</c:v>
                </c:pt>
                <c:pt idx="7">
                  <c:v>11.141759321306267</c:v>
                </c:pt>
                <c:pt idx="8">
                  <c:v>12.949463043930399</c:v>
                </c:pt>
                <c:pt idx="9">
                  <c:v>14.746692799939598</c:v>
                </c:pt>
              </c:numCache>
            </c:numRef>
          </c:xVal>
          <c:yVal>
            <c:numRef>
              <c:f>Plan4!$A$3:$A$12</c:f>
              <c:numCache>
                <c:formatCode>0.00</c:formatCode>
                <c:ptCount val="10"/>
                <c:pt idx="0">
                  <c:v>11.399522782434834</c:v>
                </c:pt>
                <c:pt idx="1">
                  <c:v>17.687249812815779</c:v>
                </c:pt>
                <c:pt idx="2">
                  <c:v>27.481011000948932</c:v>
                </c:pt>
                <c:pt idx="3">
                  <c:v>32.654802928735755</c:v>
                </c:pt>
                <c:pt idx="4">
                  <c:v>39.464313009036808</c:v>
                </c:pt>
                <c:pt idx="5">
                  <c:v>39.732446124201005</c:v>
                </c:pt>
                <c:pt idx="6">
                  <c:v>48.760845482245287</c:v>
                </c:pt>
                <c:pt idx="7">
                  <c:v>53.300513200671013</c:v>
                </c:pt>
                <c:pt idx="8">
                  <c:v>60.707503057382397</c:v>
                </c:pt>
                <c:pt idx="9">
                  <c:v>65.64593305518072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FA1-4F6D-96F1-CBF3658FD3EE}"/>
            </c:ext>
          </c:extLst>
        </c:ser>
        <c:ser>
          <c:idx val="1"/>
          <c:order val="1"/>
          <c:spPr>
            <a:ln w="28478">
              <a:noFill/>
            </a:ln>
          </c:spPr>
          <c:xVal>
            <c:numRef>
              <c:f>Plan4!$E$3:$E$14</c:f>
              <c:numCache>
                <c:formatCode>0.00</c:formatCode>
                <c:ptCount val="12"/>
                <c:pt idx="0">
                  <c:v>9.0098787011014703E-2</c:v>
                </c:pt>
                <c:pt idx="1">
                  <c:v>1.5300565685326701</c:v>
                </c:pt>
                <c:pt idx="2">
                  <c:v>3.1901673549466087</c:v>
                </c:pt>
                <c:pt idx="3">
                  <c:v>5.1293205912812345</c:v>
                </c:pt>
                <c:pt idx="4">
                  <c:v>6.9686401894709427</c:v>
                </c:pt>
                <c:pt idx="5">
                  <c:v>8.1100531645856471</c:v>
                </c:pt>
                <c:pt idx="6">
                  <c:v>9.5339088035612516</c:v>
                </c:pt>
                <c:pt idx="7">
                  <c:v>11.080250383938415</c:v>
                </c:pt>
                <c:pt idx="8">
                  <c:v>12.361692574946362</c:v>
                </c:pt>
                <c:pt idx="9">
                  <c:v>13.6423589298516</c:v>
                </c:pt>
                <c:pt idx="10">
                  <c:v>14.3</c:v>
                </c:pt>
                <c:pt idx="11" formatCode="General">
                  <c:v>14.96</c:v>
                </c:pt>
              </c:numCache>
            </c:numRef>
          </c:xVal>
          <c:yVal>
            <c:numRef>
              <c:f>Plan4!$D$3:$D$14</c:f>
              <c:numCache>
                <c:formatCode>0.00</c:formatCode>
                <c:ptCount val="12"/>
                <c:pt idx="0">
                  <c:v>4.1686024455429465</c:v>
                </c:pt>
                <c:pt idx="1">
                  <c:v>8.9194522746339313</c:v>
                </c:pt>
                <c:pt idx="2">
                  <c:v>16.227932272946077</c:v>
                </c:pt>
                <c:pt idx="3">
                  <c:v>23.282952588412961</c:v>
                </c:pt>
                <c:pt idx="4">
                  <c:v>34.332298924297774</c:v>
                </c:pt>
                <c:pt idx="5">
                  <c:v>35.933428898909483</c:v>
                </c:pt>
                <c:pt idx="6">
                  <c:v>44.534815560571836</c:v>
                </c:pt>
                <c:pt idx="7">
                  <c:v>48.568863967738899</c:v>
                </c:pt>
                <c:pt idx="8">
                  <c:v>53.366592515508131</c:v>
                </c:pt>
                <c:pt idx="9">
                  <c:v>58.114553265677976</c:v>
                </c:pt>
                <c:pt idx="10" formatCode="General">
                  <c:v>63.21</c:v>
                </c:pt>
                <c:pt idx="11" formatCode="General">
                  <c:v>64.67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FA1-4F6D-96F1-CBF3658FD3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17376688"/>
        <c:axId val="617366496"/>
      </c:scatterChart>
      <c:valAx>
        <c:axId val="617376688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X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 rot="0" vert="horz"/>
          <a:lstStyle/>
          <a:p>
            <a:pPr>
              <a:defRPr sz="999" b="0" i="0" u="none" strike="noStrike" baseline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endParaRPr lang="pt-BR"/>
          </a:p>
        </c:txPr>
        <c:crossAx val="617366496"/>
        <c:crosses val="autoZero"/>
        <c:crossBetween val="midCat"/>
      </c:valAx>
      <c:valAx>
        <c:axId val="617366496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Y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pt-BR"/>
          </a:p>
        </c:txPr>
        <c:crossAx val="617376688"/>
        <c:crosses val="autoZero"/>
        <c:crossBetween val="midCat"/>
        <c:majorUnit val="20"/>
      </c:valAx>
      <c:spPr>
        <a:noFill/>
        <a:ln w="25373">
          <a:noFill/>
        </a:ln>
      </c:spPr>
    </c:plotArea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432">
              <a:noFill/>
            </a:ln>
          </c:spPr>
          <c:marker>
            <c:symbol val="none"/>
          </c:marker>
          <c:trendline>
            <c:trendlineType val="linear"/>
            <c:dispRSqr val="0"/>
            <c:dispEq val="0"/>
          </c:trendline>
          <c:xVal>
            <c:numRef>
              <c:f>Plan4!$B$3:$B$12</c:f>
              <c:numCache>
                <c:formatCode>0.00</c:formatCode>
                <c:ptCount val="10"/>
                <c:pt idx="0">
                  <c:v>0.74916685553151707</c:v>
                </c:pt>
                <c:pt idx="1">
                  <c:v>2.4678267260426079</c:v>
                </c:pt>
                <c:pt idx="2">
                  <c:v>4.3882806003809423</c:v>
                </c:pt>
                <c:pt idx="3">
                  <c:v>6.1888007182695972</c:v>
                </c:pt>
                <c:pt idx="4">
                  <c:v>7.3756889978084761</c:v>
                </c:pt>
                <c:pt idx="5">
                  <c:v>8.4747685818987275</c:v>
                </c:pt>
                <c:pt idx="6">
                  <c:v>9.9404155061705772</c:v>
                </c:pt>
                <c:pt idx="7">
                  <c:v>11.141759321306267</c:v>
                </c:pt>
                <c:pt idx="8">
                  <c:v>12.949463043930399</c:v>
                </c:pt>
                <c:pt idx="9">
                  <c:v>14.746692799939598</c:v>
                </c:pt>
              </c:numCache>
            </c:numRef>
          </c:xVal>
          <c:yVal>
            <c:numRef>
              <c:f>Plan4!$A$3:$A$12</c:f>
              <c:numCache>
                <c:formatCode>0.00</c:formatCode>
                <c:ptCount val="10"/>
                <c:pt idx="0">
                  <c:v>11.399522782434834</c:v>
                </c:pt>
                <c:pt idx="1">
                  <c:v>17.687249812815779</c:v>
                </c:pt>
                <c:pt idx="2">
                  <c:v>27.481011000948932</c:v>
                </c:pt>
                <c:pt idx="3">
                  <c:v>32.654802928735755</c:v>
                </c:pt>
                <c:pt idx="4">
                  <c:v>39.464313009036808</c:v>
                </c:pt>
                <c:pt idx="5">
                  <c:v>39.732446124201005</c:v>
                </c:pt>
                <c:pt idx="6">
                  <c:v>48.760845482245287</c:v>
                </c:pt>
                <c:pt idx="7">
                  <c:v>53.300513200671013</c:v>
                </c:pt>
                <c:pt idx="8">
                  <c:v>60.707503057382397</c:v>
                </c:pt>
                <c:pt idx="9">
                  <c:v>65.64593305518072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01D-4662-B356-A6ABDA608310}"/>
            </c:ext>
          </c:extLst>
        </c:ser>
        <c:ser>
          <c:idx val="1"/>
          <c:order val="1"/>
          <c:spPr>
            <a:ln w="28432">
              <a:noFill/>
            </a:ln>
          </c:spPr>
          <c:marker>
            <c:symbol val="none"/>
          </c:marker>
          <c:trendline>
            <c:trendlineType val="linear"/>
            <c:dispRSqr val="0"/>
            <c:dispEq val="0"/>
          </c:trendline>
          <c:xVal>
            <c:numRef>
              <c:f>Plan4!$E$3:$E$14</c:f>
              <c:numCache>
                <c:formatCode>0.00</c:formatCode>
                <c:ptCount val="12"/>
                <c:pt idx="0">
                  <c:v>9.0098787011014703E-2</c:v>
                </c:pt>
                <c:pt idx="1">
                  <c:v>1.5300565685326701</c:v>
                </c:pt>
                <c:pt idx="2">
                  <c:v>3.1901673549466087</c:v>
                </c:pt>
                <c:pt idx="3">
                  <c:v>5.1293205912812345</c:v>
                </c:pt>
                <c:pt idx="4">
                  <c:v>6.9686401894709427</c:v>
                </c:pt>
                <c:pt idx="5">
                  <c:v>8.1100531645856471</c:v>
                </c:pt>
                <c:pt idx="6">
                  <c:v>9.5339088035612516</c:v>
                </c:pt>
                <c:pt idx="7">
                  <c:v>11.080250383938415</c:v>
                </c:pt>
                <c:pt idx="8">
                  <c:v>12.361692574946362</c:v>
                </c:pt>
                <c:pt idx="9">
                  <c:v>13.6423589298516</c:v>
                </c:pt>
                <c:pt idx="10">
                  <c:v>14.3</c:v>
                </c:pt>
                <c:pt idx="11" formatCode="General">
                  <c:v>14.96</c:v>
                </c:pt>
              </c:numCache>
            </c:numRef>
          </c:xVal>
          <c:yVal>
            <c:numRef>
              <c:f>Plan4!$D$3:$D$14</c:f>
              <c:numCache>
                <c:formatCode>0.00</c:formatCode>
                <c:ptCount val="12"/>
                <c:pt idx="0">
                  <c:v>4.1686024455429465</c:v>
                </c:pt>
                <c:pt idx="1">
                  <c:v>8.9194522746339313</c:v>
                </c:pt>
                <c:pt idx="2">
                  <c:v>16.227932272946077</c:v>
                </c:pt>
                <c:pt idx="3">
                  <c:v>23.282952588412961</c:v>
                </c:pt>
                <c:pt idx="4">
                  <c:v>34.332298924297774</c:v>
                </c:pt>
                <c:pt idx="5">
                  <c:v>35.933428898909483</c:v>
                </c:pt>
                <c:pt idx="6">
                  <c:v>44.534815560571836</c:v>
                </c:pt>
                <c:pt idx="7">
                  <c:v>48.568863967738899</c:v>
                </c:pt>
                <c:pt idx="8">
                  <c:v>53.366592515508131</c:v>
                </c:pt>
                <c:pt idx="9">
                  <c:v>58.114553265677976</c:v>
                </c:pt>
                <c:pt idx="10" formatCode="General">
                  <c:v>63.21</c:v>
                </c:pt>
                <c:pt idx="11" formatCode="General">
                  <c:v>64.67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201D-4662-B356-A6ABDA6083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17368456"/>
        <c:axId val="617371592"/>
      </c:scatterChart>
      <c:valAx>
        <c:axId val="61736845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X</a:t>
                </a:r>
              </a:p>
            </c:rich>
          </c:tx>
          <c:layout>
            <c:manualLayout>
              <c:xMode val="edge"/>
              <c:yMode val="edge"/>
              <c:x val="0.81084335388309015"/>
              <c:y val="0.87868035482906404"/>
            </c:manualLayout>
          </c:layout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 rot="0" vert="horz"/>
          <a:lstStyle/>
          <a:p>
            <a:pPr>
              <a:defRPr sz="999" b="0" i="0" u="none" strike="noStrike" baseline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endParaRPr lang="pt-BR"/>
          </a:p>
        </c:txPr>
        <c:crossAx val="617371592"/>
        <c:crosses val="autoZero"/>
        <c:crossBetween val="midCat"/>
      </c:valAx>
      <c:valAx>
        <c:axId val="617371592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Y</a:t>
                </a:r>
              </a:p>
            </c:rich>
          </c:tx>
          <c:layout>
            <c:manualLayout>
              <c:xMode val="edge"/>
              <c:yMode val="edge"/>
              <c:x val="3.5859936112637082E-2"/>
              <c:y val="0.57195654340675772"/>
            </c:manualLayout>
          </c:layout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pt-BR"/>
          </a:p>
        </c:txPr>
        <c:crossAx val="617368456"/>
        <c:crosses val="autoZero"/>
        <c:crossBetween val="midCat"/>
        <c:majorUnit val="20"/>
      </c:valAx>
      <c:spPr>
        <a:noFill/>
        <a:ln w="25371">
          <a:noFill/>
        </a:ln>
      </c:spPr>
    </c:plotArea>
    <c:plotVisOnly val="1"/>
    <c:dispBlanksAs val="gap"/>
    <c:showDLblsOverMax val="0"/>
  </c:chart>
  <c:spPr>
    <a:ln>
      <a:noFill/>
    </a:ln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432">
              <a:noFill/>
            </a:ln>
          </c:spPr>
          <c:marker>
            <c:symbol val="none"/>
          </c:marker>
          <c:trendline>
            <c:trendlineType val="linear"/>
            <c:dispRSqr val="0"/>
            <c:dispEq val="0"/>
          </c:trendline>
          <c:xVal>
            <c:numRef>
              <c:f>Plan4!$B$3:$B$12</c:f>
              <c:numCache>
                <c:formatCode>0.00</c:formatCode>
                <c:ptCount val="10"/>
                <c:pt idx="0">
                  <c:v>0.74916685553151707</c:v>
                </c:pt>
                <c:pt idx="1">
                  <c:v>2.4678267260426079</c:v>
                </c:pt>
                <c:pt idx="2">
                  <c:v>4.3882806003809423</c:v>
                </c:pt>
                <c:pt idx="3">
                  <c:v>6.1888007182695972</c:v>
                </c:pt>
                <c:pt idx="4">
                  <c:v>7.3756889978084761</c:v>
                </c:pt>
                <c:pt idx="5">
                  <c:v>8.4747685818987275</c:v>
                </c:pt>
                <c:pt idx="6">
                  <c:v>9.9404155061705772</c:v>
                </c:pt>
                <c:pt idx="7">
                  <c:v>11.141759321306267</c:v>
                </c:pt>
                <c:pt idx="8">
                  <c:v>12.949463043930399</c:v>
                </c:pt>
                <c:pt idx="9">
                  <c:v>14.746692799939598</c:v>
                </c:pt>
              </c:numCache>
            </c:numRef>
          </c:xVal>
          <c:yVal>
            <c:numRef>
              <c:f>Plan4!$A$3:$A$12</c:f>
              <c:numCache>
                <c:formatCode>0.00</c:formatCode>
                <c:ptCount val="10"/>
                <c:pt idx="0">
                  <c:v>11.399522782434834</c:v>
                </c:pt>
                <c:pt idx="1">
                  <c:v>17.687249812815779</c:v>
                </c:pt>
                <c:pt idx="2">
                  <c:v>27.481011000948932</c:v>
                </c:pt>
                <c:pt idx="3">
                  <c:v>32.654802928735755</c:v>
                </c:pt>
                <c:pt idx="4">
                  <c:v>39.464313009036808</c:v>
                </c:pt>
                <c:pt idx="5">
                  <c:v>39.732446124201005</c:v>
                </c:pt>
                <c:pt idx="6">
                  <c:v>48.760845482245287</c:v>
                </c:pt>
                <c:pt idx="7">
                  <c:v>53.300513200671013</c:v>
                </c:pt>
                <c:pt idx="8">
                  <c:v>60.707503057382397</c:v>
                </c:pt>
                <c:pt idx="9">
                  <c:v>65.64593305518072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01D-4662-B356-A6ABDA608310}"/>
            </c:ext>
          </c:extLst>
        </c:ser>
        <c:ser>
          <c:idx val="1"/>
          <c:order val="1"/>
          <c:spPr>
            <a:ln w="28432">
              <a:noFill/>
            </a:ln>
          </c:spPr>
          <c:marker>
            <c:symbol val="none"/>
          </c:marker>
          <c:trendline>
            <c:trendlineType val="linear"/>
            <c:dispRSqr val="0"/>
            <c:dispEq val="0"/>
          </c:trendline>
          <c:xVal>
            <c:numRef>
              <c:f>Plan4!$E$3:$E$14</c:f>
              <c:numCache>
                <c:formatCode>0.00</c:formatCode>
                <c:ptCount val="12"/>
                <c:pt idx="0">
                  <c:v>9.0098787011014703E-2</c:v>
                </c:pt>
                <c:pt idx="1">
                  <c:v>1.5300565685326701</c:v>
                </c:pt>
                <c:pt idx="2">
                  <c:v>3.1901673549466087</c:v>
                </c:pt>
                <c:pt idx="3">
                  <c:v>5.1293205912812345</c:v>
                </c:pt>
                <c:pt idx="4">
                  <c:v>6.9686401894709427</c:v>
                </c:pt>
                <c:pt idx="5">
                  <c:v>8.1100531645856471</c:v>
                </c:pt>
                <c:pt idx="6">
                  <c:v>9.5339088035612516</c:v>
                </c:pt>
                <c:pt idx="7">
                  <c:v>11.080250383938415</c:v>
                </c:pt>
                <c:pt idx="8">
                  <c:v>12.361692574946362</c:v>
                </c:pt>
                <c:pt idx="9">
                  <c:v>13.6423589298516</c:v>
                </c:pt>
                <c:pt idx="10">
                  <c:v>14.3</c:v>
                </c:pt>
                <c:pt idx="11" formatCode="General">
                  <c:v>14.96</c:v>
                </c:pt>
              </c:numCache>
            </c:numRef>
          </c:xVal>
          <c:yVal>
            <c:numRef>
              <c:f>Plan4!$D$3:$D$14</c:f>
              <c:numCache>
                <c:formatCode>0.00</c:formatCode>
                <c:ptCount val="12"/>
                <c:pt idx="0">
                  <c:v>4.1686024455429465</c:v>
                </c:pt>
                <c:pt idx="1">
                  <c:v>8.9194522746339313</c:v>
                </c:pt>
                <c:pt idx="2">
                  <c:v>16.227932272946077</c:v>
                </c:pt>
                <c:pt idx="3">
                  <c:v>23.282952588412961</c:v>
                </c:pt>
                <c:pt idx="4">
                  <c:v>34.332298924297774</c:v>
                </c:pt>
                <c:pt idx="5">
                  <c:v>35.933428898909483</c:v>
                </c:pt>
                <c:pt idx="6">
                  <c:v>44.534815560571836</c:v>
                </c:pt>
                <c:pt idx="7">
                  <c:v>48.568863967738899</c:v>
                </c:pt>
                <c:pt idx="8">
                  <c:v>53.366592515508131</c:v>
                </c:pt>
                <c:pt idx="9">
                  <c:v>58.114553265677976</c:v>
                </c:pt>
                <c:pt idx="10" formatCode="General">
                  <c:v>63.21</c:v>
                </c:pt>
                <c:pt idx="11" formatCode="General">
                  <c:v>64.67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201D-4662-B356-A6ABDA6083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17368456"/>
        <c:axId val="617371592"/>
      </c:scatterChart>
      <c:valAx>
        <c:axId val="61736845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X</a:t>
                </a:r>
              </a:p>
            </c:rich>
          </c:tx>
          <c:layout>
            <c:manualLayout>
              <c:xMode val="edge"/>
              <c:yMode val="edge"/>
              <c:x val="0.81084335388309015"/>
              <c:y val="0.87868035482906404"/>
            </c:manualLayout>
          </c:layout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 rot="0" vert="horz"/>
          <a:lstStyle/>
          <a:p>
            <a:pPr>
              <a:defRPr sz="999" b="0" i="0" u="none" strike="noStrike" baseline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endParaRPr lang="pt-BR"/>
          </a:p>
        </c:txPr>
        <c:crossAx val="617371592"/>
        <c:crosses val="autoZero"/>
        <c:crossBetween val="midCat"/>
      </c:valAx>
      <c:valAx>
        <c:axId val="617371592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Y</a:t>
                </a:r>
              </a:p>
            </c:rich>
          </c:tx>
          <c:layout>
            <c:manualLayout>
              <c:xMode val="edge"/>
              <c:yMode val="edge"/>
              <c:x val="3.5859936112637082E-2"/>
              <c:y val="0.57195654340675772"/>
            </c:manualLayout>
          </c:layout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pt-BR"/>
          </a:p>
        </c:txPr>
        <c:crossAx val="617368456"/>
        <c:crosses val="autoZero"/>
        <c:crossBetween val="midCat"/>
        <c:majorUnit val="20"/>
      </c:valAx>
      <c:spPr>
        <a:noFill/>
        <a:ln w="25371">
          <a:noFill/>
        </a:ln>
      </c:spPr>
    </c:plotArea>
    <c:plotVisOnly val="1"/>
    <c:dispBlanksAs val="gap"/>
    <c:showDLblsOverMax val="0"/>
  </c:chart>
  <c:spPr>
    <a:ln>
      <a:noFill/>
    </a:ln>
  </c:sp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7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2798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8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612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9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2798" y="6456612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0EED6066-450E-4681-AC19-6384283F980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3972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2798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63900" y="509588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66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664" y="3228895"/>
            <a:ext cx="7941310" cy="30589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1966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612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2798" y="6456612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FB19880D-50CC-47B0-843C-A461C105B3E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332792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AA8067-C26A-46F1-BB19-8372C1A6904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1319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19068705-8CD4-4201-A137-3B41D5C67048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39962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C36DF8-CA86-4029-9A90-6C89F4053A3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0157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AE15C8-DDA8-4396-9F1A-7E8ABA17575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21159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5DAF273-BCCF-4EEB-861E-00EBAD858C0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2778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23C1A3-04ED-45E5-8B36-27B1680BD04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0496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70AB3F7-85E2-40D5-B369-7851739AD66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2663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6AA85C0-A071-407B-B44B-3BA4B52EE68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2513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1823EC-FBAE-451F-A4A0-FD7CE4AA226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9941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F7C671E-DFCB-4D1F-B539-2B718F3FCFB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8089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C5329C-72D2-474A-9924-C1842BF8ABE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8260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ítulo 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abela 2"/>
          <p:cNvSpPr>
            <a:spLocks noGrp="1"/>
          </p:cNvSpPr>
          <p:nvPr>
            <p:ph type="tbl" idx="1"/>
          </p:nvPr>
        </p:nvSpPr>
        <p:spPr>
          <a:xfrm>
            <a:off x="685800" y="1447800"/>
            <a:ext cx="7772400" cy="4648200"/>
          </a:xfrm>
        </p:spPr>
        <p:txBody>
          <a:bodyPr/>
          <a:lstStyle/>
          <a:p>
            <a:pPr lvl="0"/>
            <a:endParaRPr lang="pt-B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15334DB-52E5-4B34-A6BB-58ABEB50DB6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4259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ítulo, text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277813"/>
            <a:ext cx="9144000" cy="703262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sz="half" idx="1"/>
          </p:nvPr>
        </p:nvSpPr>
        <p:spPr>
          <a:xfrm>
            <a:off x="457200" y="1268413"/>
            <a:ext cx="4038600" cy="4862512"/>
          </a:xfrm>
        </p:spPr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268413"/>
            <a:ext cx="4038600" cy="4862512"/>
          </a:xfrm>
        </p:spPr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82E9F5DD-92D4-41FD-9147-B464E99D4B9D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73468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CF10CBEA-BF6F-45DE-B6F6-B406F0A4407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05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6" r:id="rId13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drenno.github.io/Estatistica/" TargetMode="External"/><Relationship Id="rId2" Type="http://schemas.openxmlformats.org/officeDocument/2006/relationships/hyperlink" Target="http://urlib.net/8JMKD2USNRW34T/4D6DMD2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7" Type="http://schemas.openxmlformats.org/officeDocument/2006/relationships/image" Target="../media/image9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8.wmf"/><Relationship Id="rId4" Type="http://schemas.openxmlformats.org/officeDocument/2006/relationships/oleObject" Target="../embeddings/oleObject2.bin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3" Type="http://schemas.openxmlformats.org/officeDocument/2006/relationships/image" Target="../media/image10.wmf"/><Relationship Id="rId7" Type="http://schemas.openxmlformats.org/officeDocument/2006/relationships/image" Target="../media/image12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11.w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13.w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17.w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wmf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5.png"/><Relationship Id="rId5" Type="http://schemas.openxmlformats.org/officeDocument/2006/relationships/image" Target="../media/image49.png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.bin"/><Relationship Id="rId13" Type="http://schemas.openxmlformats.org/officeDocument/2006/relationships/image" Target="../media/image23.wmf"/><Relationship Id="rId3" Type="http://schemas.openxmlformats.org/officeDocument/2006/relationships/image" Target="../media/image18.wmf"/><Relationship Id="rId7" Type="http://schemas.openxmlformats.org/officeDocument/2006/relationships/image" Target="../media/image20.wmf"/><Relationship Id="rId12" Type="http://schemas.openxmlformats.org/officeDocument/2006/relationships/oleObject" Target="../embeddings/oleObject14.bin"/><Relationship Id="rId2" Type="http://schemas.openxmlformats.org/officeDocument/2006/relationships/oleObject" Target="../embeddings/oleObject9.bin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1.bin"/><Relationship Id="rId11" Type="http://schemas.openxmlformats.org/officeDocument/2006/relationships/image" Target="../media/image22.wmf"/><Relationship Id="rId5" Type="http://schemas.openxmlformats.org/officeDocument/2006/relationships/image" Target="../media/image19.wmf"/><Relationship Id="rId15" Type="http://schemas.openxmlformats.org/officeDocument/2006/relationships/image" Target="../media/image24.wmf"/><Relationship Id="rId10" Type="http://schemas.openxmlformats.org/officeDocument/2006/relationships/oleObject" Target="../embeddings/oleObject13.bin"/><Relationship Id="rId4" Type="http://schemas.openxmlformats.org/officeDocument/2006/relationships/oleObject" Target="../embeddings/oleObject10.bin"/><Relationship Id="rId9" Type="http://schemas.openxmlformats.org/officeDocument/2006/relationships/image" Target="../media/image21.wmf"/><Relationship Id="rId14" Type="http://schemas.openxmlformats.org/officeDocument/2006/relationships/oleObject" Target="../embeddings/oleObject15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2" Type="http://schemas.openxmlformats.org/officeDocument/2006/relationships/oleObject" Target="../embeddings/oleObject16.bin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0.bin"/><Relationship Id="rId13" Type="http://schemas.openxmlformats.org/officeDocument/2006/relationships/oleObject" Target="../embeddings/oleObject23.bin"/><Relationship Id="rId18" Type="http://schemas.openxmlformats.org/officeDocument/2006/relationships/image" Target="../media/image32.wmf"/><Relationship Id="rId3" Type="http://schemas.openxmlformats.org/officeDocument/2006/relationships/image" Target="../media/image26.wmf"/><Relationship Id="rId7" Type="http://schemas.openxmlformats.org/officeDocument/2006/relationships/image" Target="../media/image28.wmf"/><Relationship Id="rId12" Type="http://schemas.openxmlformats.org/officeDocument/2006/relationships/image" Target="../media/image30.wmf"/><Relationship Id="rId17" Type="http://schemas.openxmlformats.org/officeDocument/2006/relationships/oleObject" Target="../embeddings/oleObject24.bin"/><Relationship Id="rId2" Type="http://schemas.openxmlformats.org/officeDocument/2006/relationships/oleObject" Target="../embeddings/oleObject17.bin"/><Relationship Id="rId16" Type="http://schemas.openxmlformats.org/officeDocument/2006/relationships/image" Target="../media/image25.wmf"/><Relationship Id="rId20" Type="http://schemas.openxmlformats.org/officeDocument/2006/relationships/image" Target="../media/image69.png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9.bin"/><Relationship Id="rId11" Type="http://schemas.openxmlformats.org/officeDocument/2006/relationships/oleObject" Target="../embeddings/oleObject22.bin"/><Relationship Id="rId5" Type="http://schemas.openxmlformats.org/officeDocument/2006/relationships/image" Target="../media/image27.wmf"/><Relationship Id="rId15" Type="http://schemas.openxmlformats.org/officeDocument/2006/relationships/oleObject" Target="../embeddings/oleObject16.bin"/><Relationship Id="rId10" Type="http://schemas.openxmlformats.org/officeDocument/2006/relationships/oleObject" Target="../embeddings/oleObject21.bin"/><Relationship Id="rId19" Type="http://schemas.openxmlformats.org/officeDocument/2006/relationships/image" Target="../media/image68.png"/><Relationship Id="rId4" Type="http://schemas.openxmlformats.org/officeDocument/2006/relationships/oleObject" Target="../embeddings/oleObject18.bin"/><Relationship Id="rId9" Type="http://schemas.openxmlformats.org/officeDocument/2006/relationships/image" Target="../media/image29.wmf"/><Relationship Id="rId14" Type="http://schemas.openxmlformats.org/officeDocument/2006/relationships/image" Target="../media/image31.w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8.bin"/><Relationship Id="rId13" Type="http://schemas.openxmlformats.org/officeDocument/2006/relationships/image" Target="../media/image38.wmf"/><Relationship Id="rId18" Type="http://schemas.openxmlformats.org/officeDocument/2006/relationships/image" Target="../media/image40.wmf"/><Relationship Id="rId3" Type="http://schemas.openxmlformats.org/officeDocument/2006/relationships/image" Target="../media/image33.wmf"/><Relationship Id="rId21" Type="http://schemas.openxmlformats.org/officeDocument/2006/relationships/oleObject" Target="../embeddings/oleObject35.bin"/><Relationship Id="rId7" Type="http://schemas.openxmlformats.org/officeDocument/2006/relationships/image" Target="../media/image35.wmf"/><Relationship Id="rId12" Type="http://schemas.openxmlformats.org/officeDocument/2006/relationships/oleObject" Target="../embeddings/oleObject30.bin"/><Relationship Id="rId17" Type="http://schemas.openxmlformats.org/officeDocument/2006/relationships/oleObject" Target="../embeddings/oleObject33.bin"/><Relationship Id="rId2" Type="http://schemas.openxmlformats.org/officeDocument/2006/relationships/oleObject" Target="../embeddings/oleObject25.bin"/><Relationship Id="rId16" Type="http://schemas.openxmlformats.org/officeDocument/2006/relationships/oleObject" Target="../embeddings/oleObject32.bin"/><Relationship Id="rId20" Type="http://schemas.openxmlformats.org/officeDocument/2006/relationships/image" Target="../media/image41.wmf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27.bin"/><Relationship Id="rId11" Type="http://schemas.openxmlformats.org/officeDocument/2006/relationships/image" Target="../media/image37.wmf"/><Relationship Id="rId24" Type="http://schemas.openxmlformats.org/officeDocument/2006/relationships/image" Target="../media/image81.png"/><Relationship Id="rId5" Type="http://schemas.openxmlformats.org/officeDocument/2006/relationships/image" Target="../media/image34.wmf"/><Relationship Id="rId15" Type="http://schemas.openxmlformats.org/officeDocument/2006/relationships/image" Target="../media/image39.wmf"/><Relationship Id="rId23" Type="http://schemas.openxmlformats.org/officeDocument/2006/relationships/image" Target="../media/image80.png"/><Relationship Id="rId10" Type="http://schemas.openxmlformats.org/officeDocument/2006/relationships/oleObject" Target="../embeddings/oleObject29.bin"/><Relationship Id="rId19" Type="http://schemas.openxmlformats.org/officeDocument/2006/relationships/oleObject" Target="../embeddings/oleObject34.bin"/><Relationship Id="rId4" Type="http://schemas.openxmlformats.org/officeDocument/2006/relationships/oleObject" Target="../embeddings/oleObject26.bin"/><Relationship Id="rId9" Type="http://schemas.openxmlformats.org/officeDocument/2006/relationships/image" Target="../media/image36.emf"/><Relationship Id="rId14" Type="http://schemas.openxmlformats.org/officeDocument/2006/relationships/oleObject" Target="../embeddings/oleObject31.bin"/><Relationship Id="rId22" Type="http://schemas.openxmlformats.org/officeDocument/2006/relationships/image" Target="../media/image42.wmf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wmf"/><Relationship Id="rId13" Type="http://schemas.openxmlformats.org/officeDocument/2006/relationships/oleObject" Target="../embeddings/oleObject41.bin"/><Relationship Id="rId18" Type="http://schemas.openxmlformats.org/officeDocument/2006/relationships/image" Target="../media/image51.wmf"/><Relationship Id="rId3" Type="http://schemas.openxmlformats.org/officeDocument/2006/relationships/image" Target="../media/image43.wmf"/><Relationship Id="rId7" Type="http://schemas.openxmlformats.org/officeDocument/2006/relationships/oleObject" Target="../embeddings/oleObject38.bin"/><Relationship Id="rId12" Type="http://schemas.openxmlformats.org/officeDocument/2006/relationships/image" Target="../media/image48.wmf"/><Relationship Id="rId17" Type="http://schemas.openxmlformats.org/officeDocument/2006/relationships/oleObject" Target="../embeddings/oleObject43.bin"/><Relationship Id="rId2" Type="http://schemas.openxmlformats.org/officeDocument/2006/relationships/oleObject" Target="../embeddings/oleObject36.bin"/><Relationship Id="rId16" Type="http://schemas.openxmlformats.org/officeDocument/2006/relationships/image" Target="../media/image50.wmf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5.wmf"/><Relationship Id="rId11" Type="http://schemas.openxmlformats.org/officeDocument/2006/relationships/oleObject" Target="../embeddings/oleObject40.bin"/><Relationship Id="rId5" Type="http://schemas.openxmlformats.org/officeDocument/2006/relationships/image" Target="../media/image44.wmf"/><Relationship Id="rId15" Type="http://schemas.openxmlformats.org/officeDocument/2006/relationships/oleObject" Target="../embeddings/oleObject42.bin"/><Relationship Id="rId10" Type="http://schemas.openxmlformats.org/officeDocument/2006/relationships/image" Target="../media/image47.wmf"/><Relationship Id="rId4" Type="http://schemas.openxmlformats.org/officeDocument/2006/relationships/oleObject" Target="../embeddings/oleObject37.bin"/><Relationship Id="rId9" Type="http://schemas.openxmlformats.org/officeDocument/2006/relationships/oleObject" Target="../embeddings/oleObject39.bin"/><Relationship Id="rId14" Type="http://schemas.openxmlformats.org/officeDocument/2006/relationships/image" Target="../media/image49.w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4.png"/><Relationship Id="rId4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3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7.bin"/><Relationship Id="rId3" Type="http://schemas.openxmlformats.org/officeDocument/2006/relationships/image" Target="../media/image60.wmf"/><Relationship Id="rId7" Type="http://schemas.openxmlformats.org/officeDocument/2006/relationships/image" Target="../media/image62.wmf"/><Relationship Id="rId2" Type="http://schemas.openxmlformats.org/officeDocument/2006/relationships/oleObject" Target="../embeddings/oleObject44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46.bin"/><Relationship Id="rId11" Type="http://schemas.openxmlformats.org/officeDocument/2006/relationships/image" Target="../media/image65.png"/><Relationship Id="rId5" Type="http://schemas.openxmlformats.org/officeDocument/2006/relationships/image" Target="../media/image61.wmf"/><Relationship Id="rId10" Type="http://schemas.openxmlformats.org/officeDocument/2006/relationships/image" Target="../media/image64.png"/><Relationship Id="rId4" Type="http://schemas.openxmlformats.org/officeDocument/2006/relationships/oleObject" Target="../embeddings/oleObject45.bin"/><Relationship Id="rId9" Type="http://schemas.openxmlformats.org/officeDocument/2006/relationships/image" Target="../media/image63.wmf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7.bin"/><Relationship Id="rId3" Type="http://schemas.openxmlformats.org/officeDocument/2006/relationships/image" Target="../media/image66.wmf"/><Relationship Id="rId7" Type="http://schemas.openxmlformats.org/officeDocument/2006/relationships/image" Target="../media/image68.wmf"/><Relationship Id="rId2" Type="http://schemas.openxmlformats.org/officeDocument/2006/relationships/oleObject" Target="../embeddings/oleObject48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50.bin"/><Relationship Id="rId11" Type="http://schemas.openxmlformats.org/officeDocument/2006/relationships/image" Target="../media/image71.png"/><Relationship Id="rId5" Type="http://schemas.openxmlformats.org/officeDocument/2006/relationships/image" Target="../media/image67.wmf"/><Relationship Id="rId10" Type="http://schemas.openxmlformats.org/officeDocument/2006/relationships/image" Target="../media/image70.png"/><Relationship Id="rId4" Type="http://schemas.openxmlformats.org/officeDocument/2006/relationships/oleObject" Target="../embeddings/oleObject49.bin"/><Relationship Id="rId9" Type="http://schemas.openxmlformats.org/officeDocument/2006/relationships/image" Target="../media/image63.wmf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3.bin"/><Relationship Id="rId3" Type="http://schemas.openxmlformats.org/officeDocument/2006/relationships/image" Target="../media/image72.wmf"/><Relationship Id="rId7" Type="http://schemas.openxmlformats.org/officeDocument/2006/relationships/image" Target="../media/image75.wmf"/><Relationship Id="rId2" Type="http://schemas.openxmlformats.org/officeDocument/2006/relationships/oleObject" Target="../embeddings/oleObject51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52.bin"/><Relationship Id="rId5" Type="http://schemas.openxmlformats.org/officeDocument/2006/relationships/image" Target="../media/image74.wmf"/><Relationship Id="rId10" Type="http://schemas.openxmlformats.org/officeDocument/2006/relationships/image" Target="../media/image77.wmf"/><Relationship Id="rId4" Type="http://schemas.openxmlformats.org/officeDocument/2006/relationships/image" Target="../media/image73.wmf"/><Relationship Id="rId9" Type="http://schemas.openxmlformats.org/officeDocument/2006/relationships/image" Target="../media/image76.wmf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wmf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7.bin"/><Relationship Id="rId13" Type="http://schemas.openxmlformats.org/officeDocument/2006/relationships/image" Target="../media/image84.wmf"/><Relationship Id="rId3" Type="http://schemas.openxmlformats.org/officeDocument/2006/relationships/image" Target="../media/image79.wmf"/><Relationship Id="rId7" Type="http://schemas.openxmlformats.org/officeDocument/2006/relationships/image" Target="../media/image81.wmf"/><Relationship Id="rId12" Type="http://schemas.openxmlformats.org/officeDocument/2006/relationships/oleObject" Target="../embeddings/oleObject59.bin"/><Relationship Id="rId2" Type="http://schemas.openxmlformats.org/officeDocument/2006/relationships/oleObject" Target="../embeddings/oleObject54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56.bin"/><Relationship Id="rId11" Type="http://schemas.openxmlformats.org/officeDocument/2006/relationships/image" Target="../media/image83.wmf"/><Relationship Id="rId5" Type="http://schemas.openxmlformats.org/officeDocument/2006/relationships/image" Target="../media/image80.wmf"/><Relationship Id="rId10" Type="http://schemas.openxmlformats.org/officeDocument/2006/relationships/oleObject" Target="../embeddings/oleObject58.bin"/><Relationship Id="rId4" Type="http://schemas.openxmlformats.org/officeDocument/2006/relationships/oleObject" Target="../embeddings/oleObject55.bin"/><Relationship Id="rId9" Type="http://schemas.openxmlformats.org/officeDocument/2006/relationships/image" Target="../media/image82.wmf"/><Relationship Id="rId14" Type="http://schemas.openxmlformats.org/officeDocument/2006/relationships/image" Target="../media/image123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3.bin"/><Relationship Id="rId13" Type="http://schemas.openxmlformats.org/officeDocument/2006/relationships/image" Target="../media/image90.wmf"/><Relationship Id="rId3" Type="http://schemas.openxmlformats.org/officeDocument/2006/relationships/image" Target="../media/image85.wmf"/><Relationship Id="rId7" Type="http://schemas.openxmlformats.org/officeDocument/2006/relationships/image" Target="../media/image87.wmf"/><Relationship Id="rId12" Type="http://schemas.openxmlformats.org/officeDocument/2006/relationships/oleObject" Target="../embeddings/oleObject65.bin"/><Relationship Id="rId2" Type="http://schemas.openxmlformats.org/officeDocument/2006/relationships/oleObject" Target="../embeddings/oleObject60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62.bin"/><Relationship Id="rId11" Type="http://schemas.openxmlformats.org/officeDocument/2006/relationships/image" Target="../media/image89.wmf"/><Relationship Id="rId5" Type="http://schemas.openxmlformats.org/officeDocument/2006/relationships/image" Target="../media/image86.wmf"/><Relationship Id="rId15" Type="http://schemas.openxmlformats.org/officeDocument/2006/relationships/image" Target="../media/image91.wmf"/><Relationship Id="rId10" Type="http://schemas.openxmlformats.org/officeDocument/2006/relationships/oleObject" Target="../embeddings/oleObject64.bin"/><Relationship Id="rId4" Type="http://schemas.openxmlformats.org/officeDocument/2006/relationships/oleObject" Target="../embeddings/oleObject61.bin"/><Relationship Id="rId9" Type="http://schemas.openxmlformats.org/officeDocument/2006/relationships/image" Target="../media/image88.wmf"/><Relationship Id="rId14" Type="http://schemas.openxmlformats.org/officeDocument/2006/relationships/oleObject" Target="../embeddings/oleObject66.bin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wmf"/><Relationship Id="rId2" Type="http://schemas.openxmlformats.org/officeDocument/2006/relationships/oleObject" Target="../embeddings/oleObject67.bin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wmf"/><Relationship Id="rId2" Type="http://schemas.openxmlformats.org/officeDocument/2006/relationships/oleObject" Target="../embeddings/oleObject68.bin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2.bin"/><Relationship Id="rId13" Type="http://schemas.openxmlformats.org/officeDocument/2006/relationships/image" Target="../media/image99.wmf"/><Relationship Id="rId18" Type="http://schemas.openxmlformats.org/officeDocument/2006/relationships/oleObject" Target="../embeddings/oleObject77.bin"/><Relationship Id="rId26" Type="http://schemas.openxmlformats.org/officeDocument/2006/relationships/image" Target="../media/image145.png"/><Relationship Id="rId3" Type="http://schemas.openxmlformats.org/officeDocument/2006/relationships/image" Target="../media/image94.wmf"/><Relationship Id="rId21" Type="http://schemas.openxmlformats.org/officeDocument/2006/relationships/image" Target="../media/image103.wmf"/><Relationship Id="rId7" Type="http://schemas.openxmlformats.org/officeDocument/2006/relationships/image" Target="../media/image96.wmf"/><Relationship Id="rId12" Type="http://schemas.openxmlformats.org/officeDocument/2006/relationships/oleObject" Target="../embeddings/oleObject74.bin"/><Relationship Id="rId17" Type="http://schemas.openxmlformats.org/officeDocument/2006/relationships/image" Target="../media/image101.wmf"/><Relationship Id="rId25" Type="http://schemas.openxmlformats.org/officeDocument/2006/relationships/image" Target="../media/image105.wmf"/><Relationship Id="rId2" Type="http://schemas.openxmlformats.org/officeDocument/2006/relationships/oleObject" Target="../embeddings/oleObject69.bin"/><Relationship Id="rId16" Type="http://schemas.openxmlformats.org/officeDocument/2006/relationships/oleObject" Target="../embeddings/oleObject76.bin"/><Relationship Id="rId20" Type="http://schemas.openxmlformats.org/officeDocument/2006/relationships/oleObject" Target="../embeddings/oleObject78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71.bin"/><Relationship Id="rId11" Type="http://schemas.openxmlformats.org/officeDocument/2006/relationships/image" Target="../media/image98.wmf"/><Relationship Id="rId24" Type="http://schemas.openxmlformats.org/officeDocument/2006/relationships/oleObject" Target="../embeddings/oleObject80.bin"/><Relationship Id="rId5" Type="http://schemas.openxmlformats.org/officeDocument/2006/relationships/image" Target="../media/image95.wmf"/><Relationship Id="rId15" Type="http://schemas.openxmlformats.org/officeDocument/2006/relationships/image" Target="../media/image100.wmf"/><Relationship Id="rId23" Type="http://schemas.openxmlformats.org/officeDocument/2006/relationships/image" Target="../media/image104.wmf"/><Relationship Id="rId10" Type="http://schemas.openxmlformats.org/officeDocument/2006/relationships/oleObject" Target="../embeddings/oleObject73.bin"/><Relationship Id="rId19" Type="http://schemas.openxmlformats.org/officeDocument/2006/relationships/image" Target="../media/image102.wmf"/><Relationship Id="rId4" Type="http://schemas.openxmlformats.org/officeDocument/2006/relationships/oleObject" Target="../embeddings/oleObject70.bin"/><Relationship Id="rId9" Type="http://schemas.openxmlformats.org/officeDocument/2006/relationships/image" Target="../media/image97.wmf"/><Relationship Id="rId14" Type="http://schemas.openxmlformats.org/officeDocument/2006/relationships/oleObject" Target="../embeddings/oleObject75.bin"/><Relationship Id="rId22" Type="http://schemas.openxmlformats.org/officeDocument/2006/relationships/oleObject" Target="../embeddings/oleObject79.bin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4.bin"/><Relationship Id="rId13" Type="http://schemas.openxmlformats.org/officeDocument/2006/relationships/image" Target="../media/image110.wmf"/><Relationship Id="rId18" Type="http://schemas.openxmlformats.org/officeDocument/2006/relationships/oleObject" Target="../embeddings/oleObject31.bin"/><Relationship Id="rId26" Type="http://schemas.openxmlformats.org/officeDocument/2006/relationships/image" Target="../media/image156.png"/><Relationship Id="rId3" Type="http://schemas.openxmlformats.org/officeDocument/2006/relationships/image" Target="../media/image106.wmf"/><Relationship Id="rId21" Type="http://schemas.openxmlformats.org/officeDocument/2006/relationships/image" Target="../media/image113.wmf"/><Relationship Id="rId7" Type="http://schemas.openxmlformats.org/officeDocument/2006/relationships/image" Target="../media/image108.wmf"/><Relationship Id="rId12" Type="http://schemas.openxmlformats.org/officeDocument/2006/relationships/oleObject" Target="../embeddings/oleObject85.bin"/><Relationship Id="rId17" Type="http://schemas.openxmlformats.org/officeDocument/2006/relationships/image" Target="../media/image112.wmf"/><Relationship Id="rId25" Type="http://schemas.openxmlformats.org/officeDocument/2006/relationships/image" Target="../media/image115.wmf"/><Relationship Id="rId2" Type="http://schemas.openxmlformats.org/officeDocument/2006/relationships/oleObject" Target="../embeddings/oleObject81.bin"/><Relationship Id="rId16" Type="http://schemas.openxmlformats.org/officeDocument/2006/relationships/oleObject" Target="../embeddings/oleObject87.bin"/><Relationship Id="rId20" Type="http://schemas.openxmlformats.org/officeDocument/2006/relationships/oleObject" Target="../embeddings/oleObject88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83.bin"/><Relationship Id="rId11" Type="http://schemas.openxmlformats.org/officeDocument/2006/relationships/image" Target="../media/image109.wmf"/><Relationship Id="rId24" Type="http://schemas.openxmlformats.org/officeDocument/2006/relationships/oleObject" Target="../embeddings/oleObject90.bin"/><Relationship Id="rId5" Type="http://schemas.openxmlformats.org/officeDocument/2006/relationships/image" Target="../media/image107.wmf"/><Relationship Id="rId15" Type="http://schemas.openxmlformats.org/officeDocument/2006/relationships/image" Target="../media/image111.emf"/><Relationship Id="rId23" Type="http://schemas.openxmlformats.org/officeDocument/2006/relationships/image" Target="../media/image114.wmf"/><Relationship Id="rId10" Type="http://schemas.openxmlformats.org/officeDocument/2006/relationships/oleObject" Target="../embeddings/oleObject84.bin"/><Relationship Id="rId19" Type="http://schemas.openxmlformats.org/officeDocument/2006/relationships/image" Target="../media/image39.wmf"/><Relationship Id="rId4" Type="http://schemas.openxmlformats.org/officeDocument/2006/relationships/oleObject" Target="../embeddings/oleObject82.bin"/><Relationship Id="rId9" Type="http://schemas.openxmlformats.org/officeDocument/2006/relationships/image" Target="../media/image41.wmf"/><Relationship Id="rId14" Type="http://schemas.openxmlformats.org/officeDocument/2006/relationships/oleObject" Target="../embeddings/oleObject86.bin"/><Relationship Id="rId22" Type="http://schemas.openxmlformats.org/officeDocument/2006/relationships/oleObject" Target="../embeddings/oleObject89.bin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wmf"/><Relationship Id="rId2" Type="http://schemas.openxmlformats.org/officeDocument/2006/relationships/oleObject" Target="../embeddings/oleObject91.bin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19.png"/><Relationship Id="rId5" Type="http://schemas.openxmlformats.org/officeDocument/2006/relationships/image" Target="../media/image118.png"/><Relationship Id="rId4" Type="http://schemas.openxmlformats.org/officeDocument/2006/relationships/image" Target="../media/image11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wmf"/><Relationship Id="rId2" Type="http://schemas.openxmlformats.org/officeDocument/2006/relationships/oleObject" Target="../embeddings/oleObject91.bin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20.wmf"/><Relationship Id="rId4" Type="http://schemas.openxmlformats.org/officeDocument/2006/relationships/oleObject" Target="../embeddings/oleObject92.bin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wmf"/><Relationship Id="rId13" Type="http://schemas.openxmlformats.org/officeDocument/2006/relationships/oleObject" Target="../embeddings/oleObject98.bin"/><Relationship Id="rId18" Type="http://schemas.openxmlformats.org/officeDocument/2006/relationships/image" Target="../media/image128.wmf"/><Relationship Id="rId3" Type="http://schemas.openxmlformats.org/officeDocument/2006/relationships/image" Target="../media/image121.wmf"/><Relationship Id="rId21" Type="http://schemas.openxmlformats.org/officeDocument/2006/relationships/oleObject" Target="../embeddings/oleObject102.bin"/><Relationship Id="rId7" Type="http://schemas.openxmlformats.org/officeDocument/2006/relationships/oleObject" Target="../embeddings/oleObject95.bin"/><Relationship Id="rId12" Type="http://schemas.openxmlformats.org/officeDocument/2006/relationships/image" Target="../media/image125.wmf"/><Relationship Id="rId17" Type="http://schemas.openxmlformats.org/officeDocument/2006/relationships/oleObject" Target="../embeddings/oleObject100.bin"/><Relationship Id="rId2" Type="http://schemas.openxmlformats.org/officeDocument/2006/relationships/oleObject" Target="../embeddings/oleObject93.bin"/><Relationship Id="rId16" Type="http://schemas.openxmlformats.org/officeDocument/2006/relationships/image" Target="../media/image127.wmf"/><Relationship Id="rId20" Type="http://schemas.openxmlformats.org/officeDocument/2006/relationships/image" Target="../media/image129.wmf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2.wmf"/><Relationship Id="rId11" Type="http://schemas.openxmlformats.org/officeDocument/2006/relationships/oleObject" Target="../embeddings/oleObject97.bin"/><Relationship Id="rId5" Type="http://schemas.openxmlformats.org/officeDocument/2006/relationships/oleObject" Target="../embeddings/oleObject94.bin"/><Relationship Id="rId15" Type="http://schemas.openxmlformats.org/officeDocument/2006/relationships/oleObject" Target="../embeddings/oleObject99.bin"/><Relationship Id="rId10" Type="http://schemas.openxmlformats.org/officeDocument/2006/relationships/image" Target="../media/image124.wmf"/><Relationship Id="rId19" Type="http://schemas.openxmlformats.org/officeDocument/2006/relationships/oleObject" Target="../embeddings/oleObject101.bin"/><Relationship Id="rId4" Type="http://schemas.openxmlformats.org/officeDocument/2006/relationships/image" Target="../media/image17.wmf"/><Relationship Id="rId9" Type="http://schemas.openxmlformats.org/officeDocument/2006/relationships/oleObject" Target="../embeddings/oleObject96.bin"/><Relationship Id="rId14" Type="http://schemas.openxmlformats.org/officeDocument/2006/relationships/image" Target="../media/image126.wmf"/><Relationship Id="rId22" Type="http://schemas.openxmlformats.org/officeDocument/2006/relationships/image" Target="../media/image130.w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wmf"/><Relationship Id="rId2" Type="http://schemas.openxmlformats.org/officeDocument/2006/relationships/oleObject" Target="../embeddings/oleObject103.bin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7.bin"/><Relationship Id="rId3" Type="http://schemas.openxmlformats.org/officeDocument/2006/relationships/image" Target="../media/image132.wmf"/><Relationship Id="rId7" Type="http://schemas.openxmlformats.org/officeDocument/2006/relationships/image" Target="../media/image134.wmf"/><Relationship Id="rId2" Type="http://schemas.openxmlformats.org/officeDocument/2006/relationships/oleObject" Target="../embeddings/oleObject104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06.bin"/><Relationship Id="rId11" Type="http://schemas.openxmlformats.org/officeDocument/2006/relationships/image" Target="../media/image136.wmf"/><Relationship Id="rId5" Type="http://schemas.openxmlformats.org/officeDocument/2006/relationships/image" Target="../media/image133.wmf"/><Relationship Id="rId10" Type="http://schemas.openxmlformats.org/officeDocument/2006/relationships/oleObject" Target="../embeddings/oleObject108.bin"/><Relationship Id="rId4" Type="http://schemas.openxmlformats.org/officeDocument/2006/relationships/oleObject" Target="../embeddings/oleObject105.bin"/><Relationship Id="rId9" Type="http://schemas.openxmlformats.org/officeDocument/2006/relationships/image" Target="../media/image135.wmf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1.bin"/><Relationship Id="rId3" Type="http://schemas.openxmlformats.org/officeDocument/2006/relationships/image" Target="../media/image131.wmf"/><Relationship Id="rId7" Type="http://schemas.openxmlformats.org/officeDocument/2006/relationships/image" Target="../media/image138.wmf"/><Relationship Id="rId2" Type="http://schemas.openxmlformats.org/officeDocument/2006/relationships/oleObject" Target="../embeddings/oleObject103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10.bin"/><Relationship Id="rId5" Type="http://schemas.openxmlformats.org/officeDocument/2006/relationships/image" Target="../media/image137.wmf"/><Relationship Id="rId4" Type="http://schemas.openxmlformats.org/officeDocument/2006/relationships/oleObject" Target="../embeddings/oleObject109.bin"/><Relationship Id="rId9" Type="http://schemas.openxmlformats.org/officeDocument/2006/relationships/image" Target="../media/image139.wmf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wmf"/><Relationship Id="rId2" Type="http://schemas.openxmlformats.org/officeDocument/2006/relationships/oleObject" Target="../embeddings/oleObject103.bin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3.png"/><Relationship Id="rId7" Type="http://schemas.openxmlformats.org/officeDocument/2006/relationships/image" Target="../media/image186.png"/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1.wmf"/><Relationship Id="rId5" Type="http://schemas.openxmlformats.org/officeDocument/2006/relationships/oleObject" Target="../embeddings/oleObject103.bin"/><Relationship Id="rId4" Type="http://schemas.openxmlformats.org/officeDocument/2006/relationships/image" Target="../media/image184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3.bin"/><Relationship Id="rId3" Type="http://schemas.openxmlformats.org/officeDocument/2006/relationships/image" Target="../media/image188.png"/><Relationship Id="rId7" Type="http://schemas.openxmlformats.org/officeDocument/2006/relationships/image" Target="../media/image192.png"/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91.png"/><Relationship Id="rId5" Type="http://schemas.openxmlformats.org/officeDocument/2006/relationships/image" Target="../media/image190.png"/><Relationship Id="rId4" Type="http://schemas.openxmlformats.org/officeDocument/2006/relationships/image" Target="../media/image189.png"/><Relationship Id="rId9" Type="http://schemas.openxmlformats.org/officeDocument/2006/relationships/image" Target="../media/image141.w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3.bin"/><Relationship Id="rId2" Type="http://schemas.openxmlformats.org/officeDocument/2006/relationships/image" Target="../media/image19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1.w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wmf"/><Relationship Id="rId2" Type="http://schemas.openxmlformats.org/officeDocument/2006/relationships/oleObject" Target="../embeddings/oleObject103.bin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2.bin"/><Relationship Id="rId7" Type="http://schemas.openxmlformats.org/officeDocument/2006/relationships/image" Target="../media/image200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4.wmf"/><Relationship Id="rId5" Type="http://schemas.openxmlformats.org/officeDocument/2006/relationships/oleObject" Target="../embeddings/oleObject113.bin"/><Relationship Id="rId4" Type="http://schemas.openxmlformats.org/officeDocument/2006/relationships/image" Target="../media/image143.wmf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42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6.png"/><Relationship Id="rId5" Type="http://schemas.openxmlformats.org/officeDocument/2006/relationships/image" Target="../media/image1460.png"/><Relationship Id="rId4" Type="http://schemas.openxmlformats.org/officeDocument/2006/relationships/image" Target="../media/image14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7" Type="http://schemas.openxmlformats.org/officeDocument/2006/relationships/image" Target="../media/image150.png"/><Relationship Id="rId2" Type="http://schemas.openxmlformats.org/officeDocument/2006/relationships/image" Target="../media/image142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6.png"/><Relationship Id="rId5" Type="http://schemas.openxmlformats.org/officeDocument/2006/relationships/image" Target="../media/image149.png"/><Relationship Id="rId4" Type="http://schemas.openxmlformats.org/officeDocument/2006/relationships/image" Target="../media/image148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6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.png"/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94.png"/><Relationship Id="rId4" Type="http://schemas.openxmlformats.org/officeDocument/2006/relationships/image" Target="../media/image185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0.xml"/><Relationship Id="rId3" Type="http://schemas.openxmlformats.org/officeDocument/2006/relationships/oleObject" Target="../embeddings/oleObject114.bin"/><Relationship Id="rId7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50.wmf"/><Relationship Id="rId5" Type="http://schemas.openxmlformats.org/officeDocument/2006/relationships/oleObject" Target="../embeddings/oleObject115.bin"/><Relationship Id="rId10" Type="http://schemas.openxmlformats.org/officeDocument/2006/relationships/image" Target="../media/image158.png"/><Relationship Id="rId4" Type="http://schemas.openxmlformats.org/officeDocument/2006/relationships/image" Target="../media/image149.wmf"/><Relationship Id="rId9" Type="http://schemas.openxmlformats.org/officeDocument/2006/relationships/image" Target="../media/image157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9.bin"/><Relationship Id="rId13" Type="http://schemas.openxmlformats.org/officeDocument/2006/relationships/image" Target="../media/image156.wmf"/><Relationship Id="rId3" Type="http://schemas.openxmlformats.org/officeDocument/2006/relationships/image" Target="../media/image151.wmf"/><Relationship Id="rId7" Type="http://schemas.openxmlformats.org/officeDocument/2006/relationships/image" Target="../media/image153.wmf"/><Relationship Id="rId12" Type="http://schemas.openxmlformats.org/officeDocument/2006/relationships/oleObject" Target="../embeddings/oleObject121.bin"/><Relationship Id="rId2" Type="http://schemas.openxmlformats.org/officeDocument/2006/relationships/oleObject" Target="../embeddings/oleObject116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18.bin"/><Relationship Id="rId11" Type="http://schemas.openxmlformats.org/officeDocument/2006/relationships/image" Target="../media/image155.wmf"/><Relationship Id="rId5" Type="http://schemas.openxmlformats.org/officeDocument/2006/relationships/image" Target="../media/image152.wmf"/><Relationship Id="rId10" Type="http://schemas.openxmlformats.org/officeDocument/2006/relationships/oleObject" Target="../embeddings/oleObject120.bin"/><Relationship Id="rId4" Type="http://schemas.openxmlformats.org/officeDocument/2006/relationships/oleObject" Target="../embeddings/oleObject117.bin"/><Relationship Id="rId9" Type="http://schemas.openxmlformats.org/officeDocument/2006/relationships/image" Target="../media/image154.w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wmf"/><Relationship Id="rId2" Type="http://schemas.openxmlformats.org/officeDocument/2006/relationships/oleObject" Target="../embeddings/oleObject116.bin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wmf"/><Relationship Id="rId2" Type="http://schemas.openxmlformats.org/officeDocument/2006/relationships/oleObject" Target="../embeddings/oleObject116.bin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wmf"/><Relationship Id="rId2" Type="http://schemas.openxmlformats.org/officeDocument/2006/relationships/oleObject" Target="../embeddings/oleObject122.bin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20.png"/><Relationship Id="rId5" Type="http://schemas.openxmlformats.org/officeDocument/2006/relationships/image" Target="../media/image219.png"/><Relationship Id="rId4" Type="http://schemas.openxmlformats.org/officeDocument/2006/relationships/image" Target="../media/image15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7" Type="http://schemas.openxmlformats.org/officeDocument/2006/relationships/image" Target="../media/image161.png"/><Relationship Id="rId2" Type="http://schemas.openxmlformats.org/officeDocument/2006/relationships/image" Target="../media/image20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9.png"/><Relationship Id="rId5" Type="http://schemas.openxmlformats.org/officeDocument/2006/relationships/image" Target="../media/image208.png"/><Relationship Id="rId4" Type="http://schemas.openxmlformats.org/officeDocument/2006/relationships/image" Target="../media/image207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wmf"/><Relationship Id="rId2" Type="http://schemas.openxmlformats.org/officeDocument/2006/relationships/oleObject" Target="../embeddings/oleObject123.bin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7.bin"/><Relationship Id="rId3" Type="http://schemas.openxmlformats.org/officeDocument/2006/relationships/image" Target="../media/image163.wmf"/><Relationship Id="rId7" Type="http://schemas.openxmlformats.org/officeDocument/2006/relationships/image" Target="../media/image165.wmf"/><Relationship Id="rId2" Type="http://schemas.openxmlformats.org/officeDocument/2006/relationships/oleObject" Target="../embeddings/oleObject124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26.bin"/><Relationship Id="rId11" Type="http://schemas.openxmlformats.org/officeDocument/2006/relationships/image" Target="../media/image167.wmf"/><Relationship Id="rId5" Type="http://schemas.openxmlformats.org/officeDocument/2006/relationships/image" Target="../media/image164.wmf"/><Relationship Id="rId10" Type="http://schemas.openxmlformats.org/officeDocument/2006/relationships/oleObject" Target="../embeddings/oleObject128.bin"/><Relationship Id="rId4" Type="http://schemas.openxmlformats.org/officeDocument/2006/relationships/oleObject" Target="../embeddings/oleObject125.bin"/><Relationship Id="rId9" Type="http://schemas.openxmlformats.org/officeDocument/2006/relationships/image" Target="../media/image166.wmf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0.png"/><Relationship Id="rId7" Type="http://schemas.openxmlformats.org/officeDocument/2006/relationships/image" Target="../media/image172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1.png"/><Relationship Id="rId5" Type="http://schemas.openxmlformats.org/officeDocument/2006/relationships/image" Target="../media/image170.wmf"/><Relationship Id="rId4" Type="http://schemas.openxmlformats.org/officeDocument/2006/relationships/oleObject" Target="../embeddings/oleObject129.bin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30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5.wmf"/><Relationship Id="rId4" Type="http://schemas.openxmlformats.org/officeDocument/2006/relationships/oleObject" Target="../embeddings/oleObject107.bin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2.bin"/><Relationship Id="rId3" Type="http://schemas.openxmlformats.org/officeDocument/2006/relationships/image" Target="../media/image173.wmf"/><Relationship Id="rId7" Type="http://schemas.openxmlformats.org/officeDocument/2006/relationships/image" Target="../media/image174.wmf"/><Relationship Id="rId2" Type="http://schemas.openxmlformats.org/officeDocument/2006/relationships/oleObject" Target="../embeddings/oleObject130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31.bin"/><Relationship Id="rId5" Type="http://schemas.openxmlformats.org/officeDocument/2006/relationships/image" Target="../media/image120.wmf"/><Relationship Id="rId10" Type="http://schemas.openxmlformats.org/officeDocument/2006/relationships/image" Target="../media/image245.png"/><Relationship Id="rId4" Type="http://schemas.openxmlformats.org/officeDocument/2006/relationships/oleObject" Target="../embeddings/oleObject92.bin"/><Relationship Id="rId9" Type="http://schemas.openxmlformats.org/officeDocument/2006/relationships/image" Target="../media/image175.wmf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6.png"/><Relationship Id="rId2" Type="http://schemas.openxmlformats.org/officeDocument/2006/relationships/image" Target="../media/image19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99.png"/><Relationship Id="rId5" Type="http://schemas.openxmlformats.org/officeDocument/2006/relationships/image" Target="../media/image198.png"/><Relationship Id="rId4" Type="http://schemas.openxmlformats.org/officeDocument/2006/relationships/image" Target="../media/image197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2.png"/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9.png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13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6.png"/><Relationship Id="rId2" Type="http://schemas.openxmlformats.org/officeDocument/2006/relationships/image" Target="../media/image204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2.pn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1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13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5.png"/><Relationship Id="rId2" Type="http://schemas.openxmlformats.org/officeDocument/2006/relationships/image" Target="../media/image214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8.png"/><Relationship Id="rId5" Type="http://schemas.openxmlformats.org/officeDocument/2006/relationships/image" Target="../media/image217.png"/><Relationship Id="rId4" Type="http://schemas.openxmlformats.org/officeDocument/2006/relationships/image" Target="../media/image216.png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1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3.png"/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26.png"/><Relationship Id="rId5" Type="http://schemas.openxmlformats.org/officeDocument/2006/relationships/image" Target="../media/image225.png"/><Relationship Id="rId4" Type="http://schemas.openxmlformats.org/officeDocument/2006/relationships/image" Target="../media/image224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9.png"/><Relationship Id="rId2" Type="http://schemas.openxmlformats.org/officeDocument/2006/relationships/image" Target="../media/image228.png"/><Relationship Id="rId1" Type="http://schemas.openxmlformats.org/officeDocument/2006/relationships/slideLayout" Target="../slideLayouts/slideLayout13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7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33.png"/><Relationship Id="rId4" Type="http://schemas.openxmlformats.org/officeDocument/2006/relationships/image" Target="../media/image232.png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6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1.png"/><Relationship Id="rId2" Type="http://schemas.openxmlformats.org/officeDocument/2006/relationships/image" Target="../media/image261.png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9.png"/><Relationship Id="rId3" Type="http://schemas.openxmlformats.org/officeDocument/2006/relationships/image" Target="../media/image234.png"/><Relationship Id="rId7" Type="http://schemas.openxmlformats.org/officeDocument/2006/relationships/image" Target="../media/image268.png"/><Relationship Id="rId2" Type="http://schemas.openxmlformats.org/officeDocument/2006/relationships/image" Target="../media/image2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7.png"/><Relationship Id="rId5" Type="http://schemas.openxmlformats.org/officeDocument/2006/relationships/image" Target="../media/image266.png"/><Relationship Id="rId4" Type="http://schemas.openxmlformats.org/officeDocument/2006/relationships/image" Target="../media/image2120.png"/><Relationship Id="rId9" Type="http://schemas.openxmlformats.org/officeDocument/2006/relationships/image" Target="../media/image2130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5.png"/><Relationship Id="rId2" Type="http://schemas.openxmlformats.org/officeDocument/2006/relationships/image" Target="../media/image2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5.png"/><Relationship Id="rId5" Type="http://schemas.openxmlformats.org/officeDocument/2006/relationships/image" Target="../media/image236.png"/><Relationship Id="rId4" Type="http://schemas.openxmlformats.org/officeDocument/2006/relationships/image" Target="../media/image273.png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Análise de Regressão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804E013-879B-64F7-5879-5307BB00AF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984" y="5903913"/>
            <a:ext cx="4487416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 algn="l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 err="1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Bibdigital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do INPE</a:t>
            </a:r>
            <a:r>
              <a:rPr lang="pt-BR" sz="1200" kern="0" dirty="0">
                <a:latin typeface="Arial Unicode MS" pitchFamily="34" charset="-128"/>
              </a:rPr>
              <a:t> ou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pt-BR" sz="1200" kern="0" dirty="0">
              <a:solidFill>
                <a:schemeClr val="accent2"/>
              </a:solidFill>
              <a:latin typeface="Arial Unicode MS" pitchFamily="34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Relacionamento entre Variáveis</a:t>
            </a:r>
            <a:endParaRPr lang="pt-BR" dirty="0"/>
          </a:p>
        </p:txBody>
      </p:sp>
      <p:grpSp>
        <p:nvGrpSpPr>
          <p:cNvPr id="5123" name="Group 37"/>
          <p:cNvGrpSpPr>
            <a:grpSpLocks/>
          </p:cNvGrpSpPr>
          <p:nvPr/>
        </p:nvGrpSpPr>
        <p:grpSpPr bwMode="auto">
          <a:xfrm>
            <a:off x="914400" y="1501676"/>
            <a:ext cx="1563688" cy="2138363"/>
            <a:chOff x="576" y="1872"/>
            <a:chExt cx="985" cy="1347"/>
          </a:xfrm>
        </p:grpSpPr>
        <p:sp>
          <p:nvSpPr>
            <p:cNvPr id="5128" name="Rectangle 38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129" name="Text Box 39"/>
            <p:cNvSpPr txBox="1">
              <a:spLocks noChangeArrowheads="1"/>
            </p:cNvSpPr>
            <p:nvPr/>
          </p:nvSpPr>
          <p:spPr bwMode="auto">
            <a:xfrm>
              <a:off x="1296" y="2928"/>
              <a:ext cx="26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endParaRPr lang="pt-BR" altLang="pt-BR" sz="2400" i="1">
                <a:latin typeface="Times New Roman" charset="0"/>
              </a:endParaRPr>
            </a:p>
          </p:txBody>
        </p:sp>
      </p:grpSp>
      <p:sp>
        <p:nvSpPr>
          <p:cNvPr id="5124" name="Line 48"/>
          <p:cNvSpPr>
            <a:spLocks noChangeShapeType="1"/>
          </p:cNvSpPr>
          <p:nvPr/>
        </p:nvSpPr>
        <p:spPr bwMode="auto">
          <a:xfrm>
            <a:off x="1981200" y="2035076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125" name="Text Box 49"/>
          <p:cNvSpPr txBox="1">
            <a:spLocks noChangeArrowheads="1"/>
          </p:cNvSpPr>
          <p:nvPr/>
        </p:nvSpPr>
        <p:spPr bwMode="auto">
          <a:xfrm>
            <a:off x="2554288" y="1854101"/>
            <a:ext cx="98135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atributos</a:t>
            </a:r>
          </a:p>
        </p:txBody>
      </p:sp>
      <p:sp>
        <p:nvSpPr>
          <p:cNvPr id="5126" name="Text Box 64"/>
          <p:cNvSpPr txBox="1">
            <a:spLocks noChangeArrowheads="1"/>
          </p:cNvSpPr>
          <p:nvPr/>
        </p:nvSpPr>
        <p:spPr bwMode="auto">
          <a:xfrm>
            <a:off x="3708400" y="1412776"/>
            <a:ext cx="4967288" cy="15273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44500" indent="-4445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qualquer tipo de estudo, há sempre a necessidade de se focar em um ou mais atributos (características) dos elementos que compõem esta população (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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652CC4-27B0-48CE-BE62-1E2281540BC2}" type="slidenum">
              <a:rPr lang="pt-BR"/>
              <a:pPr>
                <a:defRPr/>
              </a:pPr>
              <a:t>2</a:t>
            </a:fld>
            <a:endParaRPr lang="pt-BR" dirty="0"/>
          </a:p>
        </p:txBody>
      </p:sp>
      <p:pic>
        <p:nvPicPr>
          <p:cNvPr id="58371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85" y="4207993"/>
            <a:ext cx="1640229" cy="20642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Retângulo 14"/>
          <p:cNvSpPr/>
          <p:nvPr/>
        </p:nvSpPr>
        <p:spPr>
          <a:xfrm>
            <a:off x="1763688" y="3960492"/>
            <a:ext cx="2744662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atributos quantitativos:</a:t>
            </a:r>
          </a:p>
          <a:p>
            <a:r>
              <a:rPr lang="pt-BR" dirty="0">
                <a:latin typeface="Tahoma" panose="020B0604030504040204" pitchFamily="34" charset="0"/>
              </a:rPr>
              <a:t>. altura total</a:t>
            </a:r>
          </a:p>
          <a:p>
            <a:r>
              <a:rPr lang="pt-BR" dirty="0">
                <a:latin typeface="Tahoma" panose="020B0604030504040204" pitchFamily="34" charset="0"/>
              </a:rPr>
              <a:t>. diâmetro da copa</a:t>
            </a:r>
          </a:p>
          <a:p>
            <a:r>
              <a:rPr lang="pt-BR" dirty="0">
                <a:latin typeface="Tahoma" panose="020B0604030504040204" pitchFamily="34" charset="0"/>
              </a:rPr>
              <a:t>. diâmetro do tronco (DAP)</a:t>
            </a:r>
          </a:p>
          <a:p>
            <a:r>
              <a:rPr lang="pt-BR" dirty="0">
                <a:latin typeface="Tahoma" panose="020B0604030504040204" pitchFamily="34" charset="0"/>
              </a:rPr>
              <a:t>. biomassa</a:t>
            </a:r>
          </a:p>
          <a:p>
            <a:r>
              <a:rPr lang="pt-BR" dirty="0">
                <a:latin typeface="Tahoma" panose="020B0604030504040204" pitchFamily="34" charset="0"/>
              </a:rPr>
              <a:t>. </a:t>
            </a:r>
            <a:r>
              <a:rPr lang="pt-BR" dirty="0" err="1">
                <a:latin typeface="Tahoma" panose="020B0604030504040204" pitchFamily="34" charset="0"/>
              </a:rPr>
              <a:t>etc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4788024" y="4349422"/>
            <a:ext cx="417646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dirty="0">
                <a:latin typeface="Tahoma" panose="020B0604030504040204" pitchFamily="34" charset="0"/>
              </a:rPr>
              <a:t>Quando adquiridas sobre o mesmo indivíduo, estas variáveis guardam alguma relação entre si?</a:t>
            </a:r>
          </a:p>
          <a:p>
            <a:pPr marL="185738" indent="-185738"/>
            <a:endParaRPr lang="pt-BR" dirty="0">
              <a:latin typeface="Tahoma" panose="020B0604030504040204" pitchFamily="34" charset="0"/>
            </a:endParaRPr>
          </a:p>
          <a:p>
            <a:pPr marL="185738" indent="-185738"/>
            <a:r>
              <a:rPr lang="pt-BR" dirty="0">
                <a:latin typeface="Tahoma" panose="020B0604030504040204" pitchFamily="34" charset="0"/>
              </a:rPr>
              <a:t>Há como aproveitar o conhecimento dessas relações em estudos dessa população?</a:t>
            </a:r>
          </a:p>
        </p:txBody>
      </p:sp>
      <p:sp>
        <p:nvSpPr>
          <p:cNvPr id="14" name="Retângulo 13"/>
          <p:cNvSpPr/>
          <p:nvPr/>
        </p:nvSpPr>
        <p:spPr>
          <a:xfrm>
            <a:off x="1811996" y="5719831"/>
            <a:ext cx="2425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Estes atributos constituem as variáveis em estudo.</a:t>
            </a:r>
          </a:p>
        </p:txBody>
      </p:sp>
    </p:spTree>
    <p:extLst>
      <p:ext uri="{BB962C8B-B14F-4D97-AF65-F5344CB8AC3E}">
        <p14:creationId xmlns:p14="http://schemas.microsoft.com/office/powerpoint/2010/main" val="1249859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3" grpId="0" build="p"/>
      <p:bldP spid="1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33" name="Grupo 9232"/>
          <p:cNvGrpSpPr/>
          <p:nvPr/>
        </p:nvGrpSpPr>
        <p:grpSpPr>
          <a:xfrm>
            <a:off x="1140694" y="4238074"/>
            <a:ext cx="6815682" cy="1783214"/>
            <a:chOff x="827584" y="3861048"/>
            <a:chExt cx="7427788" cy="1943362"/>
          </a:xfrm>
        </p:grpSpPr>
        <p:pic>
          <p:nvPicPr>
            <p:cNvPr id="56324" name="Picture 4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94621" y="3861048"/>
              <a:ext cx="2093714" cy="19433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56327" name="Picture 7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61658" y="3861048"/>
              <a:ext cx="2093714" cy="193887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56326" name="Picture 6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7584" y="3861048"/>
              <a:ext cx="2093714" cy="19433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cxnSp>
        <p:nvCxnSpPr>
          <p:cNvPr id="9228" name="Conector reto 9227"/>
          <p:cNvCxnSpPr/>
          <p:nvPr/>
        </p:nvCxnSpPr>
        <p:spPr bwMode="auto">
          <a:xfrm>
            <a:off x="6613302" y="4598207"/>
            <a:ext cx="1173267" cy="10638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30" name="Conector reto 9229"/>
          <p:cNvCxnSpPr/>
          <p:nvPr/>
        </p:nvCxnSpPr>
        <p:spPr bwMode="auto">
          <a:xfrm flipV="1">
            <a:off x="1606132" y="4437966"/>
            <a:ext cx="1262754" cy="8948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graphicFrame>
        <p:nvGraphicFramePr>
          <p:cNvPr id="9226" name="Tabela 92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2915201"/>
              </p:ext>
            </p:extLst>
          </p:nvPr>
        </p:nvGraphicFramePr>
        <p:xfrm>
          <a:off x="4467046" y="1412776"/>
          <a:ext cx="1231900" cy="428625"/>
        </p:xfrm>
        <a:graphic>
          <a:graphicData uri="http://schemas.openxmlformats.org/drawingml/2006/table">
            <a:tbl>
              <a:tblPr/>
              <a:tblGrid>
                <a:gridCol w="674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217" name="Tabela 92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064281"/>
              </p:ext>
            </p:extLst>
          </p:nvPr>
        </p:nvGraphicFramePr>
        <p:xfrm>
          <a:off x="4467046" y="1412776"/>
          <a:ext cx="2908302" cy="428625"/>
        </p:xfrm>
        <a:graphic>
          <a:graphicData uri="http://schemas.openxmlformats.org/drawingml/2006/table">
            <a:tbl>
              <a:tblPr/>
              <a:tblGrid>
                <a:gridCol w="67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W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Z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18,9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143,2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224" name="Tabela 92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0152773"/>
              </p:ext>
            </p:extLst>
          </p:nvPr>
        </p:nvGraphicFramePr>
        <p:xfrm>
          <a:off x="4467046" y="1412776"/>
          <a:ext cx="2908302" cy="2324100"/>
        </p:xfrm>
        <a:graphic>
          <a:graphicData uri="http://schemas.openxmlformats.org/drawingml/2006/table">
            <a:tbl>
              <a:tblPr/>
              <a:tblGrid>
                <a:gridCol w="67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W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Z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18,9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143,2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31,5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138,6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22,2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19,2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21,3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0,07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141,2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27,0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141,5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33,6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15,9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0,86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Relacionamento entre Variáveis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7544" y="5924872"/>
            <a:ext cx="8229600" cy="960512"/>
          </a:xfrm>
        </p:spPr>
        <p:txBody>
          <a:bodyPr/>
          <a:lstStyle/>
          <a:p>
            <a:pPr marL="355600" indent="-355600" eaLnBrk="1" hangingPunct="1">
              <a:buFontTx/>
              <a:buNone/>
            </a:pPr>
            <a:r>
              <a:rPr lang="pt-BR" altLang="pt-BR" sz="1600" dirty="0">
                <a:cs typeface="Times New Roman" charset="0"/>
              </a:rPr>
              <a:t>Muitos estudos buscam entender as relações de dependência entre variáveis de modo a construir modelos que permitam prever o comportamento de uma variável conhecendo-se os valores de outra ou outras variáveis</a:t>
            </a:r>
          </a:p>
          <a:p>
            <a:pPr marL="457200" indent="-457200" eaLnBrk="1" hangingPunct="1">
              <a:buFontTx/>
              <a:buNone/>
            </a:pPr>
            <a:endParaRPr lang="pt-BR" altLang="pt-BR" sz="1600" dirty="0">
              <a:cs typeface="Times New Roman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3</a:t>
            </a:fld>
            <a:endParaRPr lang="pt-BR"/>
          </a:p>
        </p:txBody>
      </p:sp>
      <p:grpSp>
        <p:nvGrpSpPr>
          <p:cNvPr id="31" name="Grupo 30"/>
          <p:cNvGrpSpPr/>
          <p:nvPr/>
        </p:nvGrpSpPr>
        <p:grpSpPr>
          <a:xfrm>
            <a:off x="1989960" y="1687939"/>
            <a:ext cx="1861960" cy="1862909"/>
            <a:chOff x="853893" y="1710107"/>
            <a:chExt cx="1861960" cy="1862909"/>
          </a:xfrm>
        </p:grpSpPr>
        <p:sp>
          <p:nvSpPr>
            <p:cNvPr id="184" name="Retângulo 121"/>
            <p:cNvSpPr>
              <a:spLocks noChangeArrowheads="1"/>
            </p:cNvSpPr>
            <p:nvPr/>
          </p:nvSpPr>
          <p:spPr bwMode="auto">
            <a:xfrm>
              <a:off x="1511055" y="1710107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5" name="Retângulo 120"/>
            <p:cNvSpPr>
              <a:spLocks noChangeArrowheads="1"/>
            </p:cNvSpPr>
            <p:nvPr/>
          </p:nvSpPr>
          <p:spPr bwMode="auto">
            <a:xfrm>
              <a:off x="1292001" y="1929273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6" name="Retângulo 119"/>
            <p:cNvSpPr>
              <a:spLocks noChangeArrowheads="1"/>
            </p:cNvSpPr>
            <p:nvPr/>
          </p:nvSpPr>
          <p:spPr bwMode="auto">
            <a:xfrm>
              <a:off x="1072947" y="2148439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7" name="Retângulo 117"/>
            <p:cNvSpPr>
              <a:spLocks noChangeArrowheads="1"/>
            </p:cNvSpPr>
            <p:nvPr/>
          </p:nvSpPr>
          <p:spPr bwMode="auto">
            <a:xfrm>
              <a:off x="853893" y="2367604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cxnSp>
        <p:nvCxnSpPr>
          <p:cNvPr id="26" name="Conector reto 25"/>
          <p:cNvCxnSpPr/>
          <p:nvPr/>
        </p:nvCxnSpPr>
        <p:spPr bwMode="auto">
          <a:xfrm flipV="1">
            <a:off x="1986639" y="1484784"/>
            <a:ext cx="1242036" cy="12579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dash"/>
            <a:round/>
            <a:headEnd type="none" w="med" len="med"/>
            <a:tailEnd type="triangle" w="lg" len="lg"/>
          </a:ln>
          <a:effectLst/>
        </p:spPr>
      </p:cxnSp>
      <p:sp>
        <p:nvSpPr>
          <p:cNvPr id="233" name="Retângulo 122"/>
          <p:cNvSpPr>
            <a:spLocks noChangeArrowheads="1"/>
          </p:cNvSpPr>
          <p:nvPr/>
        </p:nvSpPr>
        <p:spPr bwMode="auto">
          <a:xfrm>
            <a:off x="2362492" y="2284826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45" name="Retângulo 122"/>
          <p:cNvSpPr>
            <a:spLocks noChangeArrowheads="1"/>
          </p:cNvSpPr>
          <p:nvPr/>
        </p:nvSpPr>
        <p:spPr bwMode="auto">
          <a:xfrm>
            <a:off x="2585232" y="2067134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48" name="Retângulo 122"/>
          <p:cNvSpPr>
            <a:spLocks noChangeArrowheads="1"/>
          </p:cNvSpPr>
          <p:nvPr/>
        </p:nvSpPr>
        <p:spPr bwMode="auto">
          <a:xfrm>
            <a:off x="2807972" y="1845568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88" name="Retângulo 122"/>
          <p:cNvSpPr>
            <a:spLocks noChangeArrowheads="1"/>
          </p:cNvSpPr>
          <p:nvPr/>
        </p:nvSpPr>
        <p:spPr bwMode="auto">
          <a:xfrm>
            <a:off x="2153820" y="2509380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9" name="Grupo 28"/>
          <p:cNvGrpSpPr/>
          <p:nvPr/>
        </p:nvGrpSpPr>
        <p:grpSpPr>
          <a:xfrm>
            <a:off x="2209014" y="2564602"/>
            <a:ext cx="741560" cy="822302"/>
            <a:chOff x="1072947" y="2586770"/>
            <a:chExt cx="741560" cy="822302"/>
          </a:xfrm>
        </p:grpSpPr>
        <p:sp>
          <p:nvSpPr>
            <p:cNvPr id="189" name="Retângulo 123"/>
            <p:cNvSpPr>
              <a:spLocks noChangeArrowheads="1"/>
            </p:cNvSpPr>
            <p:nvPr/>
          </p:nvSpPr>
          <p:spPr bwMode="auto">
            <a:xfrm>
              <a:off x="1455861" y="2750713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0" name="Retângulo 125"/>
            <p:cNvSpPr>
              <a:spLocks noChangeArrowheads="1"/>
            </p:cNvSpPr>
            <p:nvPr/>
          </p:nvSpPr>
          <p:spPr bwMode="auto">
            <a:xfrm>
              <a:off x="1251409" y="3079462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1" name="Retângulo 126"/>
            <p:cNvSpPr>
              <a:spLocks noChangeArrowheads="1"/>
            </p:cNvSpPr>
            <p:nvPr/>
          </p:nvSpPr>
          <p:spPr bwMode="auto">
            <a:xfrm>
              <a:off x="1292001" y="2765323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2" name="Retângulo 127"/>
            <p:cNvSpPr>
              <a:spLocks noChangeArrowheads="1"/>
            </p:cNvSpPr>
            <p:nvPr/>
          </p:nvSpPr>
          <p:spPr bwMode="auto">
            <a:xfrm>
              <a:off x="1730109" y="2984489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3" name="Retângulo 128"/>
            <p:cNvSpPr>
              <a:spLocks noChangeArrowheads="1"/>
            </p:cNvSpPr>
            <p:nvPr/>
          </p:nvSpPr>
          <p:spPr bwMode="auto">
            <a:xfrm>
              <a:off x="1525657" y="3313237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4" name="Retângulo 129"/>
            <p:cNvSpPr>
              <a:spLocks noChangeArrowheads="1"/>
            </p:cNvSpPr>
            <p:nvPr/>
          </p:nvSpPr>
          <p:spPr bwMode="auto">
            <a:xfrm>
              <a:off x="1759313" y="3353850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6" name="Retângulo 131"/>
            <p:cNvSpPr>
              <a:spLocks noChangeArrowheads="1"/>
            </p:cNvSpPr>
            <p:nvPr/>
          </p:nvSpPr>
          <p:spPr bwMode="auto">
            <a:xfrm>
              <a:off x="1730109" y="2586770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7" name="Retângulo 132"/>
            <p:cNvSpPr>
              <a:spLocks noChangeArrowheads="1"/>
            </p:cNvSpPr>
            <p:nvPr/>
          </p:nvSpPr>
          <p:spPr bwMode="auto">
            <a:xfrm>
              <a:off x="1072947" y="3298628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9" name="Retângulo 127"/>
            <p:cNvSpPr>
              <a:spLocks noChangeArrowheads="1"/>
            </p:cNvSpPr>
            <p:nvPr/>
          </p:nvSpPr>
          <p:spPr bwMode="auto">
            <a:xfrm>
              <a:off x="1525657" y="3050785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9216" name="CaixaDeTexto 9215"/>
          <p:cNvSpPr txBox="1"/>
          <p:nvPr/>
        </p:nvSpPr>
        <p:spPr>
          <a:xfrm>
            <a:off x="2917544" y="235411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70" name="CaixaDeTexto 269"/>
          <p:cNvSpPr txBox="1"/>
          <p:nvPr/>
        </p:nvSpPr>
        <p:spPr>
          <a:xfrm>
            <a:off x="3144186" y="2122356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271" name="CaixaDeTexto 270"/>
          <p:cNvSpPr txBox="1"/>
          <p:nvPr/>
        </p:nvSpPr>
        <p:spPr>
          <a:xfrm>
            <a:off x="3319960" y="1907105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</a:p>
        </p:txBody>
      </p:sp>
      <p:sp>
        <p:nvSpPr>
          <p:cNvPr id="272" name="CaixaDeTexto 271"/>
          <p:cNvSpPr txBox="1"/>
          <p:nvPr/>
        </p:nvSpPr>
        <p:spPr>
          <a:xfrm>
            <a:off x="3582294" y="1687939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</a:p>
        </p:txBody>
      </p:sp>
      <p:grpSp>
        <p:nvGrpSpPr>
          <p:cNvPr id="9237" name="Grupo 9236"/>
          <p:cNvGrpSpPr/>
          <p:nvPr/>
        </p:nvGrpSpPr>
        <p:grpSpPr>
          <a:xfrm>
            <a:off x="7463246" y="1497184"/>
            <a:ext cx="1573250" cy="461665"/>
            <a:chOff x="7307205" y="1650709"/>
            <a:chExt cx="1573250" cy="461665"/>
          </a:xfrm>
        </p:grpSpPr>
        <p:sp>
          <p:nvSpPr>
            <p:cNvPr id="9234" name="Retângulo 9233"/>
            <p:cNvSpPr/>
            <p:nvPr/>
          </p:nvSpPr>
          <p:spPr>
            <a:xfrm>
              <a:off x="7652234" y="1650709"/>
              <a:ext cx="122822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sz="1200" dirty="0">
                  <a:latin typeface="Tahoma" panose="020B0604030504040204" pitchFamily="34" charset="0"/>
                  <a:cs typeface="Times New Roman" charset="0"/>
                </a:rPr>
                <a:t>mesma posição</a:t>
              </a:r>
            </a:p>
            <a:p>
              <a:pPr algn="ctr"/>
              <a:r>
                <a:rPr lang="pt-BR" altLang="pt-BR" sz="1200" dirty="0">
                  <a:latin typeface="Tahoma" panose="020B0604030504040204" pitchFamily="34" charset="0"/>
                  <a:cs typeface="Times New Roman" charset="0"/>
                </a:rPr>
                <a:t>geográfica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  <p:cxnSp>
          <p:nvCxnSpPr>
            <p:cNvPr id="9236" name="Conector de seta reta 9235"/>
            <p:cNvCxnSpPr/>
            <p:nvPr/>
          </p:nvCxnSpPr>
          <p:spPr bwMode="auto">
            <a:xfrm flipH="1">
              <a:off x="7307205" y="1881541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lg" len="lg"/>
            </a:ln>
            <a:effectLst/>
          </p:spPr>
        </p:cxnSp>
      </p:grpSp>
      <p:sp>
        <p:nvSpPr>
          <p:cNvPr id="2" name="Retângulo 1"/>
          <p:cNvSpPr/>
          <p:nvPr/>
        </p:nvSpPr>
        <p:spPr>
          <a:xfrm>
            <a:off x="177279" y="1787332"/>
            <a:ext cx="1874441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altLang="pt-BR" dirty="0">
                <a:latin typeface="Tahoma" panose="020B0604030504040204" pitchFamily="34" charset="0"/>
                <a:cs typeface="Times New Roman" charset="0"/>
              </a:rPr>
              <a:t>Em imagens ou mapas, o relacionamento aparece pela posição geográfica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4" name="Retângulo 43"/>
          <p:cNvSpPr/>
          <p:nvPr/>
        </p:nvSpPr>
        <p:spPr>
          <a:xfrm>
            <a:off x="3347864" y="3882534"/>
            <a:ext cx="255831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 algn="ctr"/>
            <a:r>
              <a:rPr lang="pt-BR" altLang="pt-BR" dirty="0">
                <a:latin typeface="Tahoma" panose="020B0604030504040204" pitchFamily="34" charset="0"/>
                <a:cs typeface="Times New Roman" charset="0"/>
              </a:rPr>
              <a:t>Diagrama de dispersão</a:t>
            </a:r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  <p:bldP spid="233" grpId="0" animBg="1"/>
      <p:bldP spid="245" grpId="0" animBg="1"/>
      <p:bldP spid="248" grpId="0" animBg="1"/>
      <p:bldP spid="188" grpId="0" animBg="1"/>
      <p:bldP spid="4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Relacionamento entre Variáveis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4</a:t>
            </a:fld>
            <a:endParaRPr lang="pt-BR"/>
          </a:p>
        </p:txBody>
      </p:sp>
      <p:sp>
        <p:nvSpPr>
          <p:cNvPr id="19" name="Rectangle 3"/>
          <p:cNvSpPr txBox="1">
            <a:spLocks noChangeArrowheads="1"/>
          </p:cNvSpPr>
          <p:nvPr/>
        </p:nvSpPr>
        <p:spPr bwMode="auto">
          <a:xfrm>
            <a:off x="467544" y="1556792"/>
            <a:ext cx="6336704" cy="356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457200" indent="-457200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  <a:cs typeface="Times New Roman" charset="0"/>
              </a:rPr>
              <a:t>Por exemplo:</a:t>
            </a:r>
          </a:p>
        </p:txBody>
      </p:sp>
      <p:grpSp>
        <p:nvGrpSpPr>
          <p:cNvPr id="9223" name="Grupo 9222"/>
          <p:cNvGrpSpPr/>
          <p:nvPr/>
        </p:nvGrpSpPr>
        <p:grpSpPr>
          <a:xfrm>
            <a:off x="6737208" y="4118512"/>
            <a:ext cx="1955024" cy="1193149"/>
            <a:chOff x="7109409" y="4797152"/>
            <a:chExt cx="1955024" cy="1193149"/>
          </a:xfrm>
        </p:grpSpPr>
        <p:cxnSp>
          <p:nvCxnSpPr>
            <p:cNvPr id="5" name="Conector reto 4"/>
            <p:cNvCxnSpPr/>
            <p:nvPr/>
          </p:nvCxnSpPr>
          <p:spPr bwMode="auto">
            <a:xfrm>
              <a:off x="7380312" y="4797152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9220" name="Conector reto 9219"/>
            <p:cNvCxnSpPr/>
            <p:nvPr/>
          </p:nvCxnSpPr>
          <p:spPr bwMode="auto">
            <a:xfrm>
              <a:off x="7380312" y="5711552"/>
              <a:ext cx="1440160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9221" name="CaixaDeTexto 9220"/>
            <p:cNvSpPr txBox="1"/>
            <p:nvPr/>
          </p:nvSpPr>
          <p:spPr>
            <a:xfrm rot="16200000">
              <a:off x="7074624" y="5115852"/>
              <a:ext cx="3465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IV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6" name="CaixaDeTexto 135"/>
            <p:cNvSpPr txBox="1"/>
            <p:nvPr/>
          </p:nvSpPr>
          <p:spPr>
            <a:xfrm>
              <a:off x="8493443" y="5713302"/>
              <a:ext cx="57099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tempo</a:t>
              </a:r>
            </a:p>
          </p:txBody>
        </p:sp>
        <p:sp>
          <p:nvSpPr>
            <p:cNvPr id="9222" name="Forma livre 9221"/>
            <p:cNvSpPr/>
            <p:nvPr/>
          </p:nvSpPr>
          <p:spPr bwMode="auto">
            <a:xfrm>
              <a:off x="7492621" y="5063319"/>
              <a:ext cx="1105469" cy="451270"/>
            </a:xfrm>
            <a:custGeom>
              <a:avLst/>
              <a:gdLst>
                <a:gd name="connsiteX0" fmla="*/ 0 w 1105469"/>
                <a:gd name="connsiteY0" fmla="*/ 0 h 451270"/>
                <a:gd name="connsiteX1" fmla="*/ 0 w 1105469"/>
                <a:gd name="connsiteY1" fmla="*/ 0 h 451270"/>
                <a:gd name="connsiteX2" fmla="*/ 95534 w 1105469"/>
                <a:gd name="connsiteY2" fmla="*/ 68239 h 451270"/>
                <a:gd name="connsiteX3" fmla="*/ 136478 w 1105469"/>
                <a:gd name="connsiteY3" fmla="*/ 109182 h 451270"/>
                <a:gd name="connsiteX4" fmla="*/ 259307 w 1105469"/>
                <a:gd name="connsiteY4" fmla="*/ 177421 h 451270"/>
                <a:gd name="connsiteX5" fmla="*/ 341194 w 1105469"/>
                <a:gd name="connsiteY5" fmla="*/ 232012 h 451270"/>
                <a:gd name="connsiteX6" fmla="*/ 382137 w 1105469"/>
                <a:gd name="connsiteY6" fmla="*/ 272956 h 451270"/>
                <a:gd name="connsiteX7" fmla="*/ 464024 w 1105469"/>
                <a:gd name="connsiteY7" fmla="*/ 300251 h 451270"/>
                <a:gd name="connsiteX8" fmla="*/ 586854 w 1105469"/>
                <a:gd name="connsiteY8" fmla="*/ 354842 h 451270"/>
                <a:gd name="connsiteX9" fmla="*/ 709683 w 1105469"/>
                <a:gd name="connsiteY9" fmla="*/ 395785 h 451270"/>
                <a:gd name="connsiteX10" fmla="*/ 941695 w 1105469"/>
                <a:gd name="connsiteY10" fmla="*/ 423081 h 451270"/>
                <a:gd name="connsiteX11" fmla="*/ 1050878 w 1105469"/>
                <a:gd name="connsiteY11" fmla="*/ 450377 h 451270"/>
                <a:gd name="connsiteX12" fmla="*/ 1105469 w 1105469"/>
                <a:gd name="connsiteY12" fmla="*/ 450377 h 451270"/>
                <a:gd name="connsiteX13" fmla="*/ 1091821 w 1105469"/>
                <a:gd name="connsiteY13" fmla="*/ 450377 h 45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05469" h="451270">
                  <a:moveTo>
                    <a:pt x="0" y="0"/>
                  </a:moveTo>
                  <a:lnTo>
                    <a:pt x="0" y="0"/>
                  </a:lnTo>
                  <a:cubicBezTo>
                    <a:pt x="31845" y="22746"/>
                    <a:pt x="64975" y="43792"/>
                    <a:pt x="95534" y="68239"/>
                  </a:cubicBezTo>
                  <a:cubicBezTo>
                    <a:pt x="110606" y="80296"/>
                    <a:pt x="121243" y="97332"/>
                    <a:pt x="136478" y="109182"/>
                  </a:cubicBezTo>
                  <a:cubicBezTo>
                    <a:pt x="206873" y="163934"/>
                    <a:pt x="197530" y="156830"/>
                    <a:pt x="259307" y="177421"/>
                  </a:cubicBezTo>
                  <a:cubicBezTo>
                    <a:pt x="286603" y="195618"/>
                    <a:pt x="317997" y="208815"/>
                    <a:pt x="341194" y="232012"/>
                  </a:cubicBezTo>
                  <a:cubicBezTo>
                    <a:pt x="354842" y="245660"/>
                    <a:pt x="365265" y="263583"/>
                    <a:pt x="382137" y="272956"/>
                  </a:cubicBezTo>
                  <a:cubicBezTo>
                    <a:pt x="407288" y="286929"/>
                    <a:pt x="464024" y="300251"/>
                    <a:pt x="464024" y="300251"/>
                  </a:cubicBezTo>
                  <a:cubicBezTo>
                    <a:pt x="528908" y="343508"/>
                    <a:pt x="489405" y="322359"/>
                    <a:pt x="586854" y="354842"/>
                  </a:cubicBezTo>
                  <a:lnTo>
                    <a:pt x="709683" y="395785"/>
                  </a:lnTo>
                  <a:cubicBezTo>
                    <a:pt x="735545" y="404405"/>
                    <a:pt x="936558" y="422567"/>
                    <a:pt x="941695" y="423081"/>
                  </a:cubicBezTo>
                  <a:cubicBezTo>
                    <a:pt x="984217" y="437255"/>
                    <a:pt x="1001471" y="444887"/>
                    <a:pt x="1050878" y="450377"/>
                  </a:cubicBezTo>
                  <a:cubicBezTo>
                    <a:pt x="1068964" y="452387"/>
                    <a:pt x="1087272" y="450377"/>
                    <a:pt x="1105469" y="450377"/>
                  </a:cubicBezTo>
                  <a:lnTo>
                    <a:pt x="1091821" y="450377"/>
                  </a:lnTo>
                </a:path>
              </a:pathLst>
            </a:cu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17" name="Grupo 16"/>
          <p:cNvGrpSpPr/>
          <p:nvPr/>
        </p:nvGrpSpPr>
        <p:grpSpPr>
          <a:xfrm>
            <a:off x="6749791" y="2594376"/>
            <a:ext cx="1730603" cy="1152205"/>
            <a:chOff x="6749791" y="3482880"/>
            <a:chExt cx="1730603" cy="1152205"/>
          </a:xfrm>
        </p:grpSpPr>
        <p:cxnSp>
          <p:nvCxnSpPr>
            <p:cNvPr id="173" name="Conector reto 172"/>
            <p:cNvCxnSpPr/>
            <p:nvPr/>
          </p:nvCxnSpPr>
          <p:spPr bwMode="auto">
            <a:xfrm>
              <a:off x="7020693" y="3482880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174" name="Conector reto 173"/>
            <p:cNvCxnSpPr/>
            <p:nvPr/>
          </p:nvCxnSpPr>
          <p:spPr bwMode="auto">
            <a:xfrm>
              <a:off x="7020693" y="4397280"/>
              <a:ext cx="1440160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175" name="CaixaDeTexto 174"/>
            <p:cNvSpPr txBox="1"/>
            <p:nvPr/>
          </p:nvSpPr>
          <p:spPr>
            <a:xfrm rot="16200000">
              <a:off x="6485776" y="3801580"/>
              <a:ext cx="8050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  <a:cs typeface="Times New Roman" panose="02020603050405020304" pitchFamily="18" charset="0"/>
                </a:rPr>
                <a:t>Umidade</a:t>
              </a:r>
            </a:p>
          </p:txBody>
        </p:sp>
        <p:sp>
          <p:nvSpPr>
            <p:cNvPr id="176" name="CaixaDeTexto 175"/>
            <p:cNvSpPr txBox="1"/>
            <p:nvPr/>
          </p:nvSpPr>
          <p:spPr>
            <a:xfrm>
              <a:off x="8133824" y="4358086"/>
              <a:ext cx="3465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IV</a:t>
              </a:r>
            </a:p>
          </p:txBody>
        </p:sp>
        <p:grpSp>
          <p:nvGrpSpPr>
            <p:cNvPr id="104" name="Grupo 103"/>
            <p:cNvGrpSpPr/>
            <p:nvPr/>
          </p:nvGrpSpPr>
          <p:grpSpPr>
            <a:xfrm>
              <a:off x="7054974" y="3645024"/>
              <a:ext cx="1132887" cy="720080"/>
              <a:chOff x="7054937" y="2660337"/>
              <a:chExt cx="1132887" cy="720080"/>
            </a:xfrm>
          </p:grpSpPr>
          <p:grpSp>
            <p:nvGrpSpPr>
              <p:cNvPr id="108" name="Grupo 107"/>
              <p:cNvGrpSpPr/>
              <p:nvPr/>
            </p:nvGrpSpPr>
            <p:grpSpPr>
              <a:xfrm>
                <a:off x="7101622" y="2948369"/>
                <a:ext cx="108000" cy="108000"/>
                <a:chOff x="7101622" y="2948369"/>
                <a:chExt cx="108000" cy="108000"/>
              </a:xfrm>
            </p:grpSpPr>
            <p:cxnSp>
              <p:nvCxnSpPr>
                <p:cNvPr id="211" name="Conector reto 210"/>
                <p:cNvCxnSpPr/>
                <p:nvPr/>
              </p:nvCxnSpPr>
              <p:spPr bwMode="auto">
                <a:xfrm>
                  <a:off x="7155622" y="294836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12" name="Conector reto 211"/>
                <p:cNvCxnSpPr/>
                <p:nvPr/>
              </p:nvCxnSpPr>
              <p:spPr bwMode="auto">
                <a:xfrm rot="5400000">
                  <a:off x="7155622" y="294836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09" name="Grupo 108"/>
              <p:cNvGrpSpPr/>
              <p:nvPr/>
            </p:nvGrpSpPr>
            <p:grpSpPr>
              <a:xfrm>
                <a:off x="7236245" y="3272417"/>
                <a:ext cx="108000" cy="108000"/>
                <a:chOff x="7236245" y="3272417"/>
                <a:chExt cx="108000" cy="108000"/>
              </a:xfrm>
            </p:grpSpPr>
            <p:cxnSp>
              <p:nvCxnSpPr>
                <p:cNvPr id="209" name="Conector reto 208"/>
                <p:cNvCxnSpPr/>
                <p:nvPr/>
              </p:nvCxnSpPr>
              <p:spPr bwMode="auto">
                <a:xfrm>
                  <a:off x="7290245" y="327241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10" name="Conector reto 209"/>
                <p:cNvCxnSpPr/>
                <p:nvPr/>
              </p:nvCxnSpPr>
              <p:spPr bwMode="auto">
                <a:xfrm rot="5400000">
                  <a:off x="7290245" y="327241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0" name="Grupo 109"/>
              <p:cNvGrpSpPr/>
              <p:nvPr/>
            </p:nvGrpSpPr>
            <p:grpSpPr>
              <a:xfrm>
                <a:off x="7265290" y="2876361"/>
                <a:ext cx="108000" cy="108000"/>
                <a:chOff x="7265290" y="2876361"/>
                <a:chExt cx="108000" cy="108000"/>
              </a:xfrm>
            </p:grpSpPr>
            <p:cxnSp>
              <p:nvCxnSpPr>
                <p:cNvPr id="207" name="Conector reto 206"/>
                <p:cNvCxnSpPr/>
                <p:nvPr/>
              </p:nvCxnSpPr>
              <p:spPr bwMode="auto">
                <a:xfrm>
                  <a:off x="7319290" y="2876361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8" name="Conector reto 207"/>
                <p:cNvCxnSpPr/>
                <p:nvPr/>
              </p:nvCxnSpPr>
              <p:spPr bwMode="auto">
                <a:xfrm rot="5400000">
                  <a:off x="7319290" y="2876361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1" name="Grupo 110"/>
              <p:cNvGrpSpPr/>
              <p:nvPr/>
            </p:nvGrpSpPr>
            <p:grpSpPr>
              <a:xfrm>
                <a:off x="8025824" y="2984385"/>
                <a:ext cx="108000" cy="108000"/>
                <a:chOff x="8025824" y="2984385"/>
                <a:chExt cx="108000" cy="108000"/>
              </a:xfrm>
            </p:grpSpPr>
            <p:cxnSp>
              <p:nvCxnSpPr>
                <p:cNvPr id="205" name="Conector reto 204"/>
                <p:cNvCxnSpPr/>
                <p:nvPr/>
              </p:nvCxnSpPr>
              <p:spPr bwMode="auto">
                <a:xfrm>
                  <a:off x="8079824" y="2984385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" name="Conector reto 205"/>
                <p:cNvCxnSpPr/>
                <p:nvPr/>
              </p:nvCxnSpPr>
              <p:spPr bwMode="auto">
                <a:xfrm rot="5400000">
                  <a:off x="8079824" y="2984385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2" name="Grupo 111"/>
              <p:cNvGrpSpPr/>
              <p:nvPr/>
            </p:nvGrpSpPr>
            <p:grpSpPr>
              <a:xfrm>
                <a:off x="7971824" y="2912377"/>
                <a:ext cx="108000" cy="108000"/>
                <a:chOff x="7971824" y="2912377"/>
                <a:chExt cx="108000" cy="108000"/>
              </a:xfrm>
            </p:grpSpPr>
            <p:cxnSp>
              <p:nvCxnSpPr>
                <p:cNvPr id="203" name="Conector reto 202"/>
                <p:cNvCxnSpPr/>
                <p:nvPr/>
              </p:nvCxnSpPr>
              <p:spPr bwMode="auto">
                <a:xfrm>
                  <a:off x="8025824" y="291237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" name="Conector reto 203"/>
                <p:cNvCxnSpPr/>
                <p:nvPr/>
              </p:nvCxnSpPr>
              <p:spPr bwMode="auto">
                <a:xfrm rot="5400000">
                  <a:off x="8025824" y="291237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3" name="Grupo 112"/>
              <p:cNvGrpSpPr/>
              <p:nvPr/>
            </p:nvGrpSpPr>
            <p:grpSpPr>
              <a:xfrm>
                <a:off x="8079824" y="3164393"/>
                <a:ext cx="108000" cy="108000"/>
                <a:chOff x="8079824" y="3164393"/>
                <a:chExt cx="108000" cy="108000"/>
              </a:xfrm>
            </p:grpSpPr>
            <p:cxnSp>
              <p:nvCxnSpPr>
                <p:cNvPr id="201" name="Conector reto 200"/>
                <p:cNvCxnSpPr/>
                <p:nvPr/>
              </p:nvCxnSpPr>
              <p:spPr bwMode="auto">
                <a:xfrm>
                  <a:off x="8133824" y="316439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2" name="Conector reto 201"/>
                <p:cNvCxnSpPr/>
                <p:nvPr/>
              </p:nvCxnSpPr>
              <p:spPr bwMode="auto">
                <a:xfrm rot="5400000">
                  <a:off x="8133824" y="316439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4" name="Grupo 113"/>
              <p:cNvGrpSpPr/>
              <p:nvPr/>
            </p:nvGrpSpPr>
            <p:grpSpPr>
              <a:xfrm>
                <a:off x="7632532" y="2984385"/>
                <a:ext cx="108000" cy="108000"/>
                <a:chOff x="7632532" y="2984385"/>
                <a:chExt cx="108000" cy="108000"/>
              </a:xfrm>
            </p:grpSpPr>
            <p:cxnSp>
              <p:nvCxnSpPr>
                <p:cNvPr id="199" name="Conector reto 198"/>
                <p:cNvCxnSpPr/>
                <p:nvPr/>
              </p:nvCxnSpPr>
              <p:spPr bwMode="auto">
                <a:xfrm>
                  <a:off x="7686532" y="2984385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0" name="Conector reto 199"/>
                <p:cNvCxnSpPr/>
                <p:nvPr/>
              </p:nvCxnSpPr>
              <p:spPr bwMode="auto">
                <a:xfrm rot="5400000">
                  <a:off x="7686532" y="2984385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5" name="Grupo 114"/>
              <p:cNvGrpSpPr/>
              <p:nvPr/>
            </p:nvGrpSpPr>
            <p:grpSpPr>
              <a:xfrm>
                <a:off x="7579124" y="2804353"/>
                <a:ext cx="108000" cy="108000"/>
                <a:chOff x="7579124" y="2804353"/>
                <a:chExt cx="108000" cy="108000"/>
              </a:xfrm>
            </p:grpSpPr>
            <p:cxnSp>
              <p:nvCxnSpPr>
                <p:cNvPr id="197" name="Conector reto 196"/>
                <p:cNvCxnSpPr/>
                <p:nvPr/>
              </p:nvCxnSpPr>
              <p:spPr bwMode="auto">
                <a:xfrm>
                  <a:off x="7633124" y="280435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98" name="Conector reto 197"/>
                <p:cNvCxnSpPr/>
                <p:nvPr/>
              </p:nvCxnSpPr>
              <p:spPr bwMode="auto">
                <a:xfrm rot="5400000">
                  <a:off x="7633124" y="280435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6" name="Grupo 115"/>
              <p:cNvGrpSpPr/>
              <p:nvPr/>
            </p:nvGrpSpPr>
            <p:grpSpPr>
              <a:xfrm>
                <a:off x="8013242" y="2768361"/>
                <a:ext cx="108000" cy="108000"/>
                <a:chOff x="8079824" y="2808667"/>
                <a:chExt cx="108000" cy="108000"/>
              </a:xfrm>
            </p:grpSpPr>
            <p:cxnSp>
              <p:nvCxnSpPr>
                <p:cNvPr id="195" name="Conector reto 194"/>
                <p:cNvCxnSpPr/>
                <p:nvPr/>
              </p:nvCxnSpPr>
              <p:spPr bwMode="auto">
                <a:xfrm>
                  <a:off x="8133824" y="280866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96" name="Conector reto 195"/>
                <p:cNvCxnSpPr/>
                <p:nvPr/>
              </p:nvCxnSpPr>
              <p:spPr bwMode="auto">
                <a:xfrm rot="5400000">
                  <a:off x="8133824" y="280866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7" name="Grupo 116"/>
              <p:cNvGrpSpPr/>
              <p:nvPr/>
            </p:nvGrpSpPr>
            <p:grpSpPr>
              <a:xfrm>
                <a:off x="7673154" y="2876361"/>
                <a:ext cx="108000" cy="108000"/>
                <a:chOff x="7971824" y="2588883"/>
                <a:chExt cx="108000" cy="108000"/>
              </a:xfrm>
            </p:grpSpPr>
            <p:cxnSp>
              <p:nvCxnSpPr>
                <p:cNvPr id="193" name="Conector reto 192"/>
                <p:cNvCxnSpPr/>
                <p:nvPr/>
              </p:nvCxnSpPr>
              <p:spPr bwMode="auto">
                <a:xfrm>
                  <a:off x="8025824" y="258888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94" name="Conector reto 193"/>
                <p:cNvCxnSpPr/>
                <p:nvPr/>
              </p:nvCxnSpPr>
              <p:spPr bwMode="auto">
                <a:xfrm rot="5400000">
                  <a:off x="8025824" y="258888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8" name="Grupo 117"/>
              <p:cNvGrpSpPr/>
              <p:nvPr/>
            </p:nvGrpSpPr>
            <p:grpSpPr>
              <a:xfrm>
                <a:off x="7714572" y="3128401"/>
                <a:ext cx="108000" cy="108000"/>
                <a:chOff x="8079824" y="2881229"/>
                <a:chExt cx="108000" cy="108000"/>
              </a:xfrm>
            </p:grpSpPr>
            <p:cxnSp>
              <p:nvCxnSpPr>
                <p:cNvPr id="171" name="Conector reto 170"/>
                <p:cNvCxnSpPr/>
                <p:nvPr/>
              </p:nvCxnSpPr>
              <p:spPr bwMode="auto">
                <a:xfrm>
                  <a:off x="8133824" y="288122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72" name="Conector reto 171"/>
                <p:cNvCxnSpPr/>
                <p:nvPr/>
              </p:nvCxnSpPr>
              <p:spPr bwMode="auto">
                <a:xfrm rot="5400000">
                  <a:off x="8133824" y="288122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9" name="Grupo 118"/>
              <p:cNvGrpSpPr/>
              <p:nvPr/>
            </p:nvGrpSpPr>
            <p:grpSpPr>
              <a:xfrm>
                <a:off x="7223668" y="3020377"/>
                <a:ext cx="108000" cy="108000"/>
                <a:chOff x="8079824" y="2570899"/>
                <a:chExt cx="108000" cy="108000"/>
              </a:xfrm>
            </p:grpSpPr>
            <p:cxnSp>
              <p:nvCxnSpPr>
                <p:cNvPr id="165" name="Conector reto 164"/>
                <p:cNvCxnSpPr/>
                <p:nvPr/>
              </p:nvCxnSpPr>
              <p:spPr bwMode="auto">
                <a:xfrm>
                  <a:off x="8133824" y="257089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8" name="Conector reto 167"/>
                <p:cNvCxnSpPr/>
                <p:nvPr/>
              </p:nvCxnSpPr>
              <p:spPr bwMode="auto">
                <a:xfrm rot="5400000">
                  <a:off x="8133824" y="257089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0" name="Grupo 119"/>
              <p:cNvGrpSpPr/>
              <p:nvPr/>
            </p:nvGrpSpPr>
            <p:grpSpPr>
              <a:xfrm>
                <a:off x="7319290" y="3272417"/>
                <a:ext cx="108000" cy="108000"/>
                <a:chOff x="8079824" y="2768939"/>
                <a:chExt cx="108000" cy="108000"/>
              </a:xfrm>
            </p:grpSpPr>
            <p:cxnSp>
              <p:nvCxnSpPr>
                <p:cNvPr id="159" name="Conector reto 158"/>
                <p:cNvCxnSpPr/>
                <p:nvPr/>
              </p:nvCxnSpPr>
              <p:spPr bwMode="auto">
                <a:xfrm>
                  <a:off x="8133824" y="276893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2" name="Conector reto 161"/>
                <p:cNvCxnSpPr/>
                <p:nvPr/>
              </p:nvCxnSpPr>
              <p:spPr bwMode="auto">
                <a:xfrm rot="5400000">
                  <a:off x="8133824" y="276893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1" name="Grupo 120"/>
              <p:cNvGrpSpPr/>
              <p:nvPr/>
            </p:nvGrpSpPr>
            <p:grpSpPr>
              <a:xfrm>
                <a:off x="7373290" y="2732345"/>
                <a:ext cx="108000" cy="108000"/>
                <a:chOff x="8079824" y="2462216"/>
                <a:chExt cx="108000" cy="108000"/>
              </a:xfrm>
            </p:grpSpPr>
            <p:cxnSp>
              <p:nvCxnSpPr>
                <p:cNvPr id="153" name="Conector reto 152"/>
                <p:cNvCxnSpPr/>
                <p:nvPr/>
              </p:nvCxnSpPr>
              <p:spPr bwMode="auto">
                <a:xfrm>
                  <a:off x="8133824" y="2462216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6" name="Conector reto 155"/>
                <p:cNvCxnSpPr/>
                <p:nvPr/>
              </p:nvCxnSpPr>
              <p:spPr bwMode="auto">
                <a:xfrm rot="5400000">
                  <a:off x="8133824" y="2462216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2" name="Grupo 121"/>
              <p:cNvGrpSpPr/>
              <p:nvPr/>
            </p:nvGrpSpPr>
            <p:grpSpPr>
              <a:xfrm>
                <a:off x="7340871" y="2804353"/>
                <a:ext cx="108000" cy="108000"/>
                <a:chOff x="8079824" y="2387402"/>
                <a:chExt cx="108000" cy="108000"/>
              </a:xfrm>
            </p:grpSpPr>
            <p:cxnSp>
              <p:nvCxnSpPr>
                <p:cNvPr id="149" name="Conector reto 148"/>
                <p:cNvCxnSpPr/>
                <p:nvPr/>
              </p:nvCxnSpPr>
              <p:spPr bwMode="auto">
                <a:xfrm>
                  <a:off x="8133824" y="238740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0" name="Conector reto 149"/>
                <p:cNvCxnSpPr/>
                <p:nvPr/>
              </p:nvCxnSpPr>
              <p:spPr bwMode="auto">
                <a:xfrm rot="5400000">
                  <a:off x="8133824" y="238740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3" name="Grupo 122"/>
              <p:cNvGrpSpPr/>
              <p:nvPr/>
            </p:nvGrpSpPr>
            <p:grpSpPr>
              <a:xfrm>
                <a:off x="7054937" y="2732345"/>
                <a:ext cx="108000" cy="108000"/>
                <a:chOff x="8079824" y="2071827"/>
                <a:chExt cx="108000" cy="108000"/>
              </a:xfrm>
            </p:grpSpPr>
            <p:cxnSp>
              <p:nvCxnSpPr>
                <p:cNvPr id="146" name="Conector reto 145"/>
                <p:cNvCxnSpPr/>
                <p:nvPr/>
              </p:nvCxnSpPr>
              <p:spPr bwMode="auto">
                <a:xfrm>
                  <a:off x="8133824" y="207182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7" name="Conector reto 146"/>
                <p:cNvCxnSpPr/>
                <p:nvPr/>
              </p:nvCxnSpPr>
              <p:spPr bwMode="auto">
                <a:xfrm rot="5400000">
                  <a:off x="8133824" y="207182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4" name="Grupo 123"/>
              <p:cNvGrpSpPr/>
              <p:nvPr/>
            </p:nvGrpSpPr>
            <p:grpSpPr>
              <a:xfrm>
                <a:off x="7863824" y="2696353"/>
                <a:ext cx="108000" cy="108000"/>
                <a:chOff x="7632532" y="2900781"/>
                <a:chExt cx="108000" cy="108000"/>
              </a:xfrm>
            </p:grpSpPr>
            <p:cxnSp>
              <p:nvCxnSpPr>
                <p:cNvPr id="144" name="Conector reto 143"/>
                <p:cNvCxnSpPr/>
                <p:nvPr/>
              </p:nvCxnSpPr>
              <p:spPr bwMode="auto">
                <a:xfrm>
                  <a:off x="7686532" y="2900781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5" name="Conector reto 144"/>
                <p:cNvCxnSpPr/>
                <p:nvPr/>
              </p:nvCxnSpPr>
              <p:spPr bwMode="auto">
                <a:xfrm rot="5400000">
                  <a:off x="7686532" y="2900781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5" name="Grupo 124"/>
              <p:cNvGrpSpPr/>
              <p:nvPr/>
            </p:nvGrpSpPr>
            <p:grpSpPr>
              <a:xfrm>
                <a:off x="7829494" y="2912377"/>
                <a:ext cx="108000" cy="108000"/>
                <a:chOff x="7632532" y="2934002"/>
                <a:chExt cx="108000" cy="108000"/>
              </a:xfrm>
            </p:grpSpPr>
            <p:cxnSp>
              <p:nvCxnSpPr>
                <p:cNvPr id="139" name="Conector reto 138"/>
                <p:cNvCxnSpPr/>
                <p:nvPr/>
              </p:nvCxnSpPr>
              <p:spPr bwMode="auto">
                <a:xfrm>
                  <a:off x="7686532" y="293400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3" name="Conector reto 142"/>
                <p:cNvCxnSpPr/>
                <p:nvPr/>
              </p:nvCxnSpPr>
              <p:spPr bwMode="auto">
                <a:xfrm rot="5400000">
                  <a:off x="7686532" y="293400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6" name="Grupo 125"/>
              <p:cNvGrpSpPr/>
              <p:nvPr/>
            </p:nvGrpSpPr>
            <p:grpSpPr>
              <a:xfrm>
                <a:off x="7394871" y="3056393"/>
                <a:ext cx="108000" cy="108000"/>
                <a:chOff x="7632532" y="2919343"/>
                <a:chExt cx="108000" cy="108000"/>
              </a:xfrm>
            </p:grpSpPr>
            <p:cxnSp>
              <p:nvCxnSpPr>
                <p:cNvPr id="137" name="Conector reto 136"/>
                <p:cNvCxnSpPr/>
                <p:nvPr/>
              </p:nvCxnSpPr>
              <p:spPr bwMode="auto">
                <a:xfrm>
                  <a:off x="7686532" y="291934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8" name="Conector reto 137"/>
                <p:cNvCxnSpPr/>
                <p:nvPr/>
              </p:nvCxnSpPr>
              <p:spPr bwMode="auto">
                <a:xfrm rot="5400000">
                  <a:off x="7686532" y="291934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7" name="Grupo 126"/>
              <p:cNvGrpSpPr/>
              <p:nvPr/>
            </p:nvGrpSpPr>
            <p:grpSpPr>
              <a:xfrm>
                <a:off x="7735413" y="2660337"/>
                <a:ext cx="108000" cy="108000"/>
                <a:chOff x="7632532" y="2619147"/>
                <a:chExt cx="108000" cy="108000"/>
              </a:xfrm>
            </p:grpSpPr>
            <p:cxnSp>
              <p:nvCxnSpPr>
                <p:cNvPr id="134" name="Conector reto 133"/>
                <p:cNvCxnSpPr/>
                <p:nvPr/>
              </p:nvCxnSpPr>
              <p:spPr bwMode="auto">
                <a:xfrm>
                  <a:off x="7686532" y="261914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5" name="Conector reto 134"/>
                <p:cNvCxnSpPr/>
                <p:nvPr/>
              </p:nvCxnSpPr>
              <p:spPr bwMode="auto">
                <a:xfrm rot="5400000">
                  <a:off x="7686532" y="261914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8" name="Grupo 127"/>
              <p:cNvGrpSpPr/>
              <p:nvPr/>
            </p:nvGrpSpPr>
            <p:grpSpPr>
              <a:xfrm>
                <a:off x="7211457" y="3200409"/>
                <a:ext cx="108000" cy="108000"/>
                <a:chOff x="7632532" y="2824876"/>
                <a:chExt cx="108000" cy="108000"/>
              </a:xfrm>
            </p:grpSpPr>
            <p:cxnSp>
              <p:nvCxnSpPr>
                <p:cNvPr id="132" name="Conector reto 131"/>
                <p:cNvCxnSpPr/>
                <p:nvPr/>
              </p:nvCxnSpPr>
              <p:spPr bwMode="auto">
                <a:xfrm>
                  <a:off x="7686532" y="2824876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3" name="Conector reto 132"/>
                <p:cNvCxnSpPr/>
                <p:nvPr/>
              </p:nvCxnSpPr>
              <p:spPr bwMode="auto">
                <a:xfrm rot="5400000">
                  <a:off x="7686532" y="2824876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9" name="Grupo 128"/>
              <p:cNvGrpSpPr/>
              <p:nvPr/>
            </p:nvGrpSpPr>
            <p:grpSpPr>
              <a:xfrm>
                <a:off x="7918928" y="3128401"/>
                <a:ext cx="108000" cy="108000"/>
                <a:chOff x="7632532" y="3290613"/>
                <a:chExt cx="108000" cy="108000"/>
              </a:xfrm>
            </p:grpSpPr>
            <p:cxnSp>
              <p:nvCxnSpPr>
                <p:cNvPr id="130" name="Conector reto 129"/>
                <p:cNvCxnSpPr/>
                <p:nvPr/>
              </p:nvCxnSpPr>
              <p:spPr bwMode="auto">
                <a:xfrm>
                  <a:off x="7686532" y="329061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1" name="Conector reto 130"/>
                <p:cNvCxnSpPr/>
                <p:nvPr/>
              </p:nvCxnSpPr>
              <p:spPr bwMode="auto">
                <a:xfrm rot="5400000">
                  <a:off x="7686532" y="329061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</p:grpSp>
      </p:grpSp>
      <p:sp>
        <p:nvSpPr>
          <p:cNvPr id="14" name="Retângulo 13"/>
          <p:cNvSpPr/>
          <p:nvPr/>
        </p:nvSpPr>
        <p:spPr>
          <a:xfrm>
            <a:off x="467544" y="5652537"/>
            <a:ext cx="663407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eaLnBrk="1" hangingPunct="1">
              <a:buFontTx/>
              <a:buNone/>
            </a:pPr>
            <a:r>
              <a:rPr lang="pt-BR" altLang="pt-BR" kern="0" dirty="0">
                <a:latin typeface="Tahoma" panose="020B0604030504040204" pitchFamily="34" charset="0"/>
                <a:cs typeface="Times New Roman" charset="0"/>
              </a:rPr>
              <a:t>Quanto à biomassa, espera-se que tenha havido uma diminuição</a:t>
            </a:r>
          </a:p>
          <a:p>
            <a:pPr marL="457200" indent="-457200" eaLnBrk="1" hangingPunct="1">
              <a:buFontTx/>
              <a:buNone/>
            </a:pPr>
            <a:r>
              <a:rPr lang="pt-BR" altLang="pt-BR" kern="0" dirty="0">
                <a:latin typeface="Tahoma" panose="020B0604030504040204" pitchFamily="34" charset="0"/>
                <a:cs typeface="Times New Roman" charset="0"/>
              </a:rPr>
              <a:t>Quanto à umidade, nada podemos afirmar</a:t>
            </a:r>
          </a:p>
        </p:txBody>
      </p:sp>
      <p:sp>
        <p:nvSpPr>
          <p:cNvPr id="15" name="Retângulo 14"/>
          <p:cNvSpPr/>
          <p:nvPr/>
        </p:nvSpPr>
        <p:spPr>
          <a:xfrm>
            <a:off x="465338" y="4046155"/>
            <a:ext cx="5906862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/>
            <a:r>
              <a:rPr lang="pt-BR" altLang="pt-BR" kern="0" dirty="0">
                <a:latin typeface="Tahoma" panose="020B0604030504040204" pitchFamily="34" charset="0"/>
                <a:cs typeface="Times New Roman" charset="0"/>
              </a:rPr>
              <a:t>Se observarmos uma diminuição do valor deste índice de vegetação ao longo do tempo, o que podemos concluir quanto à mudança na biomassa da vegetação e na umidade superficial do solo deste lugar?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467544" y="1964432"/>
            <a:ext cx="590465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/>
            <a:r>
              <a:rPr lang="pt-BR" altLang="pt-BR" kern="0" dirty="0">
                <a:latin typeface="Tahoma" panose="020B0604030504040204" pitchFamily="34" charset="0"/>
                <a:cs typeface="Times New Roman" charset="0"/>
              </a:rPr>
              <a:t>Considere que um determinado índice de vegetação (IV) apresenta valores baixos para vegetações com pequena biomassa e apresenta valores altos para vegetações com grande biomassa. Por outro lado, este mesmo índice não tem qualquer relação com a umidade superficial do solo.</a:t>
            </a: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20" name="Grupo 19"/>
          <p:cNvGrpSpPr/>
          <p:nvPr/>
        </p:nvGrpSpPr>
        <p:grpSpPr>
          <a:xfrm>
            <a:off x="6749791" y="1611083"/>
            <a:ext cx="1730603" cy="1151820"/>
            <a:chOff x="6749791" y="2499587"/>
            <a:chExt cx="1730603" cy="1151820"/>
          </a:xfrm>
        </p:grpSpPr>
        <p:cxnSp>
          <p:nvCxnSpPr>
            <p:cNvPr id="140" name="Conector reto 139"/>
            <p:cNvCxnSpPr/>
            <p:nvPr/>
          </p:nvCxnSpPr>
          <p:spPr bwMode="auto">
            <a:xfrm>
              <a:off x="7020693" y="2499587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141" name="Conector reto 140"/>
            <p:cNvCxnSpPr/>
            <p:nvPr/>
          </p:nvCxnSpPr>
          <p:spPr bwMode="auto">
            <a:xfrm>
              <a:off x="7020693" y="3413987"/>
              <a:ext cx="1440160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142" name="CaixaDeTexto 141"/>
            <p:cNvSpPr txBox="1"/>
            <p:nvPr/>
          </p:nvSpPr>
          <p:spPr>
            <a:xfrm rot="16200000">
              <a:off x="6471349" y="2818287"/>
              <a:ext cx="83388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  <a:cs typeface="Times New Roman" panose="02020603050405020304" pitchFamily="18" charset="0"/>
                </a:rPr>
                <a:t>Biomassa</a:t>
              </a:r>
              <a:endParaRPr lang="pt-BR" dirty="0">
                <a:latin typeface="Tahoma" panose="020B0604030504040204" pitchFamily="34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8" name="Grupo 17"/>
            <p:cNvGrpSpPr/>
            <p:nvPr/>
          </p:nvGrpSpPr>
          <p:grpSpPr>
            <a:xfrm>
              <a:off x="7054937" y="2564904"/>
              <a:ext cx="1132887" cy="808824"/>
              <a:chOff x="7054937" y="2564904"/>
              <a:chExt cx="1132887" cy="808824"/>
            </a:xfrm>
          </p:grpSpPr>
          <p:grpSp>
            <p:nvGrpSpPr>
              <p:cNvPr id="2" name="Grupo 1"/>
              <p:cNvGrpSpPr/>
              <p:nvPr/>
            </p:nvGrpSpPr>
            <p:grpSpPr>
              <a:xfrm>
                <a:off x="7101622" y="3093368"/>
                <a:ext cx="108000" cy="108000"/>
                <a:chOff x="7101622" y="3093368"/>
                <a:chExt cx="108000" cy="108000"/>
              </a:xfrm>
            </p:grpSpPr>
            <p:cxnSp>
              <p:nvCxnSpPr>
                <p:cNvPr id="9225" name="Conector reto 9224"/>
                <p:cNvCxnSpPr/>
                <p:nvPr/>
              </p:nvCxnSpPr>
              <p:spPr bwMode="auto">
                <a:xfrm>
                  <a:off x="7155622" y="3093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8" name="Conector reto 147"/>
                <p:cNvCxnSpPr/>
                <p:nvPr/>
              </p:nvCxnSpPr>
              <p:spPr bwMode="auto">
                <a:xfrm rot="5400000">
                  <a:off x="7155622" y="3093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6" name="Grupo 5"/>
              <p:cNvGrpSpPr/>
              <p:nvPr/>
            </p:nvGrpSpPr>
            <p:grpSpPr>
              <a:xfrm>
                <a:off x="7236245" y="3201368"/>
                <a:ext cx="108000" cy="108000"/>
                <a:chOff x="7236245" y="3201368"/>
                <a:chExt cx="108000" cy="108000"/>
              </a:xfrm>
            </p:grpSpPr>
            <p:cxnSp>
              <p:nvCxnSpPr>
                <p:cNvPr id="151" name="Conector reto 150"/>
                <p:cNvCxnSpPr/>
                <p:nvPr/>
              </p:nvCxnSpPr>
              <p:spPr bwMode="auto">
                <a:xfrm>
                  <a:off x="7290245" y="3201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2" name="Conector reto 151"/>
                <p:cNvCxnSpPr/>
                <p:nvPr/>
              </p:nvCxnSpPr>
              <p:spPr bwMode="auto">
                <a:xfrm rot="5400000">
                  <a:off x="7290245" y="3201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4" name="Grupo 3"/>
              <p:cNvGrpSpPr/>
              <p:nvPr/>
            </p:nvGrpSpPr>
            <p:grpSpPr>
              <a:xfrm>
                <a:off x="7265290" y="2985368"/>
                <a:ext cx="108000" cy="108000"/>
                <a:chOff x="7265290" y="2985368"/>
                <a:chExt cx="108000" cy="108000"/>
              </a:xfrm>
            </p:grpSpPr>
            <p:cxnSp>
              <p:nvCxnSpPr>
                <p:cNvPr id="154" name="Conector reto 153"/>
                <p:cNvCxnSpPr/>
                <p:nvPr/>
              </p:nvCxnSpPr>
              <p:spPr bwMode="auto">
                <a:xfrm>
                  <a:off x="7319290" y="2985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5" name="Conector reto 154"/>
                <p:cNvCxnSpPr/>
                <p:nvPr/>
              </p:nvCxnSpPr>
              <p:spPr bwMode="auto">
                <a:xfrm rot="5400000">
                  <a:off x="7319290" y="2985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0" name="Grupo 9"/>
              <p:cNvGrpSpPr/>
              <p:nvPr/>
            </p:nvGrpSpPr>
            <p:grpSpPr>
              <a:xfrm>
                <a:off x="8025824" y="2755322"/>
                <a:ext cx="108000" cy="108000"/>
                <a:chOff x="8025824" y="2755322"/>
                <a:chExt cx="108000" cy="108000"/>
              </a:xfrm>
            </p:grpSpPr>
            <p:cxnSp>
              <p:nvCxnSpPr>
                <p:cNvPr id="157" name="Conector reto 156"/>
                <p:cNvCxnSpPr/>
                <p:nvPr/>
              </p:nvCxnSpPr>
              <p:spPr bwMode="auto">
                <a:xfrm>
                  <a:off x="8079824" y="275532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8" name="Conector reto 157"/>
                <p:cNvCxnSpPr/>
                <p:nvPr/>
              </p:nvCxnSpPr>
              <p:spPr bwMode="auto">
                <a:xfrm rot="5400000">
                  <a:off x="8079824" y="275532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9" name="Grupo 8"/>
              <p:cNvGrpSpPr/>
              <p:nvPr/>
            </p:nvGrpSpPr>
            <p:grpSpPr>
              <a:xfrm>
                <a:off x="7971824" y="2659210"/>
                <a:ext cx="108000" cy="108000"/>
                <a:chOff x="7971824" y="2659210"/>
                <a:chExt cx="108000" cy="108000"/>
              </a:xfrm>
            </p:grpSpPr>
            <p:cxnSp>
              <p:nvCxnSpPr>
                <p:cNvPr id="160" name="Conector reto 159"/>
                <p:cNvCxnSpPr/>
                <p:nvPr/>
              </p:nvCxnSpPr>
              <p:spPr bwMode="auto">
                <a:xfrm>
                  <a:off x="8025824" y="2659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1" name="Conector reto 160"/>
                <p:cNvCxnSpPr/>
                <p:nvPr/>
              </p:nvCxnSpPr>
              <p:spPr bwMode="auto">
                <a:xfrm rot="5400000">
                  <a:off x="8025824" y="2659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" name="Grupo 10"/>
              <p:cNvGrpSpPr/>
              <p:nvPr/>
            </p:nvGrpSpPr>
            <p:grpSpPr>
              <a:xfrm>
                <a:off x="8079824" y="2605210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163" name="Conector reto 162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4" name="Conector reto 163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8" name="Grupo 7"/>
              <p:cNvGrpSpPr/>
              <p:nvPr/>
            </p:nvGrpSpPr>
            <p:grpSpPr>
              <a:xfrm>
                <a:off x="7632532" y="2769332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166" name="Conector reto 165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7" name="Conector reto 166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" name="Grupo 6"/>
              <p:cNvGrpSpPr/>
              <p:nvPr/>
            </p:nvGrpSpPr>
            <p:grpSpPr>
              <a:xfrm>
                <a:off x="7579124" y="2918522"/>
                <a:ext cx="108000" cy="108000"/>
                <a:chOff x="7579124" y="2918522"/>
                <a:chExt cx="108000" cy="108000"/>
              </a:xfrm>
            </p:grpSpPr>
            <p:cxnSp>
              <p:nvCxnSpPr>
                <p:cNvPr id="169" name="Conector reto 168"/>
                <p:cNvCxnSpPr/>
                <p:nvPr/>
              </p:nvCxnSpPr>
              <p:spPr bwMode="auto">
                <a:xfrm>
                  <a:off x="7633124" y="291852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70" name="Conector reto 169"/>
                <p:cNvCxnSpPr/>
                <p:nvPr/>
              </p:nvCxnSpPr>
              <p:spPr bwMode="auto">
                <a:xfrm rot="5400000">
                  <a:off x="7633124" y="291852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61" name="Grupo 60"/>
              <p:cNvGrpSpPr/>
              <p:nvPr/>
            </p:nvGrpSpPr>
            <p:grpSpPr>
              <a:xfrm>
                <a:off x="8013242" y="2564904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62" name="Conector reto 61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3" name="Conector reto 62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64" name="Grupo 63"/>
              <p:cNvGrpSpPr/>
              <p:nvPr/>
            </p:nvGrpSpPr>
            <p:grpSpPr>
              <a:xfrm>
                <a:off x="7673154" y="2946688"/>
                <a:ext cx="108000" cy="108000"/>
                <a:chOff x="7971824" y="2659210"/>
                <a:chExt cx="108000" cy="108000"/>
              </a:xfrm>
            </p:grpSpPr>
            <p:cxnSp>
              <p:nvCxnSpPr>
                <p:cNvPr id="65" name="Conector reto 64"/>
                <p:cNvCxnSpPr/>
                <p:nvPr/>
              </p:nvCxnSpPr>
              <p:spPr bwMode="auto">
                <a:xfrm>
                  <a:off x="8025824" y="2659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6" name="Conector reto 65"/>
                <p:cNvCxnSpPr/>
                <p:nvPr/>
              </p:nvCxnSpPr>
              <p:spPr bwMode="auto">
                <a:xfrm rot="5400000">
                  <a:off x="8025824" y="2659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67" name="Grupo 66"/>
              <p:cNvGrpSpPr/>
              <p:nvPr/>
            </p:nvGrpSpPr>
            <p:grpSpPr>
              <a:xfrm>
                <a:off x="7714572" y="2852382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68" name="Conector reto 67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9" name="Conector reto 68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0" name="Grupo 69"/>
              <p:cNvGrpSpPr/>
              <p:nvPr/>
            </p:nvGrpSpPr>
            <p:grpSpPr>
              <a:xfrm>
                <a:off x="7223668" y="3054688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71" name="Conector reto 70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2" name="Conector reto 71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3" name="Grupo 72"/>
              <p:cNvGrpSpPr/>
              <p:nvPr/>
            </p:nvGrpSpPr>
            <p:grpSpPr>
              <a:xfrm>
                <a:off x="7319290" y="3108688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74" name="Conector reto 73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5" name="Conector reto 74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6" name="Grupo 75"/>
              <p:cNvGrpSpPr/>
              <p:nvPr/>
            </p:nvGrpSpPr>
            <p:grpSpPr>
              <a:xfrm>
                <a:off x="7373290" y="2875339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77" name="Conector reto 76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8" name="Conector reto 77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9" name="Grupo 78"/>
              <p:cNvGrpSpPr/>
              <p:nvPr/>
            </p:nvGrpSpPr>
            <p:grpSpPr>
              <a:xfrm>
                <a:off x="7340871" y="3022161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80" name="Conector reto 79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1" name="Conector reto 80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82" name="Grupo 81"/>
              <p:cNvGrpSpPr/>
              <p:nvPr/>
            </p:nvGrpSpPr>
            <p:grpSpPr>
              <a:xfrm>
                <a:off x="7054937" y="3265728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83" name="Conector reto 82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4" name="Conector reto 83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85" name="Grupo 84"/>
              <p:cNvGrpSpPr/>
              <p:nvPr/>
            </p:nvGrpSpPr>
            <p:grpSpPr>
              <a:xfrm>
                <a:off x="7863824" y="2564904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86" name="Conector reto 85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7" name="Conector reto 86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88" name="Grupo 87"/>
              <p:cNvGrpSpPr/>
              <p:nvPr/>
            </p:nvGrpSpPr>
            <p:grpSpPr>
              <a:xfrm>
                <a:off x="7829494" y="2747707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89" name="Conector reto 88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0" name="Conector reto 89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91" name="Grupo 90"/>
              <p:cNvGrpSpPr/>
              <p:nvPr/>
            </p:nvGrpSpPr>
            <p:grpSpPr>
              <a:xfrm>
                <a:off x="7394871" y="2906382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92" name="Conector reto 91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3" name="Conector reto 92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94" name="Grupo 93"/>
              <p:cNvGrpSpPr/>
              <p:nvPr/>
            </p:nvGrpSpPr>
            <p:grpSpPr>
              <a:xfrm>
                <a:off x="7735413" y="2810522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95" name="Conector reto 94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6" name="Conector reto 95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97" name="Grupo 96"/>
              <p:cNvGrpSpPr/>
              <p:nvPr/>
            </p:nvGrpSpPr>
            <p:grpSpPr>
              <a:xfrm>
                <a:off x="7211457" y="3144865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98" name="Conector reto 97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9" name="Conector reto 98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00" name="Grupo 99"/>
              <p:cNvGrpSpPr/>
              <p:nvPr/>
            </p:nvGrpSpPr>
            <p:grpSpPr>
              <a:xfrm>
                <a:off x="7918928" y="2607120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101" name="Conector reto 100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2" name="Conector reto 101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</p:grpSp>
        <p:sp>
          <p:nvSpPr>
            <p:cNvPr id="177" name="CaixaDeTexto 176"/>
            <p:cNvSpPr txBox="1"/>
            <p:nvPr/>
          </p:nvSpPr>
          <p:spPr>
            <a:xfrm>
              <a:off x="8133824" y="3374408"/>
              <a:ext cx="3465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IV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381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/>
      <p:bldP spid="14" grpId="0" build="p"/>
      <p:bldP spid="15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Relação funcional x Relação estatística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676400"/>
            <a:ext cx="8229600" cy="1752600"/>
          </a:xfrm>
        </p:spPr>
        <p:txBody>
          <a:bodyPr/>
          <a:lstStyle/>
          <a:p>
            <a:pPr marL="457200" indent="-457200" eaLnBrk="1" hangingPunct="1">
              <a:buFontTx/>
              <a:buNone/>
            </a:pPr>
            <a:r>
              <a:rPr lang="pt-BR" altLang="pt-BR" sz="1600" dirty="0">
                <a:cs typeface="Times New Roman" charset="0"/>
              </a:rPr>
              <a:t>As variáveis podem possuir dois tipos de relações:</a:t>
            </a:r>
          </a:p>
          <a:p>
            <a:pPr marL="457200" indent="-457200" eaLnBrk="1" hangingPunct="1">
              <a:buClr>
                <a:srgbClr val="FF0000"/>
              </a:buClr>
              <a:buFontTx/>
              <a:buAutoNum type="arabicParenR"/>
            </a:pPr>
            <a:r>
              <a:rPr lang="pt-BR" altLang="pt-BR" sz="1600" dirty="0">
                <a:solidFill>
                  <a:srgbClr val="FF0000"/>
                </a:solidFill>
                <a:cs typeface="Times New Roman" charset="0"/>
              </a:rPr>
              <a:t>Funcional: </a:t>
            </a:r>
            <a:r>
              <a:rPr lang="pt-BR" altLang="pt-BR" sz="1600" dirty="0">
                <a:cs typeface="Times New Roman" charset="0"/>
              </a:rPr>
              <a:t>a relação é expressa por uma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 fórmula matemática:  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Y 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=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f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)</a:t>
            </a:r>
          </a:p>
          <a:p>
            <a:pPr marL="457200" indent="-457200" eaLnBrk="1" hangingPunct="1">
              <a:buFontTx/>
              <a:buNone/>
            </a:pPr>
            <a:r>
              <a:rPr lang="pt-BR" altLang="pt-BR" sz="1600" dirty="0" err="1">
                <a:solidFill>
                  <a:srgbClr val="000000"/>
                </a:solidFill>
                <a:cs typeface="Times New Roman" charset="0"/>
              </a:rPr>
              <a:t>Ex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: relação entre o perímetro 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) e o lado 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L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) de um quadrado</a:t>
            </a:r>
          </a:p>
        </p:txBody>
      </p:sp>
      <p:sp>
        <p:nvSpPr>
          <p:cNvPr id="7" name="Retângulo 6"/>
          <p:cNvSpPr/>
          <p:nvPr/>
        </p:nvSpPr>
        <p:spPr>
          <a:xfrm>
            <a:off x="1500188" y="5292497"/>
            <a:ext cx="624016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spcBef>
                <a:spcPct val="20000"/>
              </a:spcBef>
              <a:buClr>
                <a:srgbClr val="666600"/>
              </a:buClr>
              <a:defRPr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Todos os pontos caem perfeitamente sobre a linha que representa a relação funcional entre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L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 e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</a:t>
            </a:fld>
            <a:endParaRPr lang="pt-BR"/>
          </a:p>
        </p:txBody>
      </p:sp>
      <p:grpSp>
        <p:nvGrpSpPr>
          <p:cNvPr id="10" name="Grupo 10"/>
          <p:cNvGrpSpPr>
            <a:grpSpLocks/>
          </p:cNvGrpSpPr>
          <p:nvPr/>
        </p:nvGrpSpPr>
        <p:grpSpPr bwMode="auto">
          <a:xfrm>
            <a:off x="2501422" y="2996952"/>
            <a:ext cx="4070828" cy="2093366"/>
            <a:chOff x="2501671" y="3429000"/>
            <a:chExt cx="4070593" cy="2093789"/>
          </a:xfrm>
        </p:grpSpPr>
        <p:pic>
          <p:nvPicPr>
            <p:cNvPr id="11" name="Picture 8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641" t="4887" r="2914" b="21803"/>
            <a:stretch>
              <a:fillRect/>
            </a:stretch>
          </p:blipFill>
          <p:spPr bwMode="auto">
            <a:xfrm>
              <a:off x="2857488" y="3429000"/>
              <a:ext cx="3714776" cy="18573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Retângulo 7"/>
            <p:cNvSpPr>
              <a:spLocks noChangeArrowheads="1"/>
            </p:cNvSpPr>
            <p:nvPr/>
          </p:nvSpPr>
          <p:spPr bwMode="auto">
            <a:xfrm>
              <a:off x="3682086" y="5214950"/>
              <a:ext cx="1991136" cy="30783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000000"/>
                  </a:solidFill>
                  <a:latin typeface="Tahoma" panose="020B0604030504040204" pitchFamily="34" charset="0"/>
                  <a:cs typeface="Times New Roman" charset="0"/>
                </a:rPr>
                <a:t>Lado do Quadrado (</a:t>
              </a:r>
              <a:r>
                <a:rPr lang="pt-BR" altLang="pt-BR" sz="1400" i="1" dirty="0">
                  <a:solidFill>
                    <a:srgbClr val="000000"/>
                  </a:solidFill>
                  <a:latin typeface="Times New Roman" charset="0"/>
                  <a:cs typeface="Times New Roman" charset="0"/>
                </a:rPr>
                <a:t>L</a:t>
              </a:r>
              <a:r>
                <a:rPr lang="pt-BR" altLang="pt-BR" sz="1400" dirty="0">
                  <a:solidFill>
                    <a:srgbClr val="000000"/>
                  </a:solidFill>
                  <a:latin typeface="Tahoma" panose="020B0604030504040204" pitchFamily="34" charset="0"/>
                  <a:cs typeface="Times New Roman" charset="0"/>
                </a:rPr>
                <a:t>)</a:t>
              </a: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3" name="Retângulo 8"/>
            <p:cNvSpPr>
              <a:spLocks noChangeArrowheads="1"/>
            </p:cNvSpPr>
            <p:nvPr/>
          </p:nvSpPr>
          <p:spPr bwMode="auto">
            <a:xfrm rot="16200000">
              <a:off x="2032594" y="4076886"/>
              <a:ext cx="1245914" cy="3077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000000"/>
                  </a:solidFill>
                  <a:latin typeface="Tahoma" panose="020B0604030504040204" pitchFamily="34" charset="0"/>
                  <a:cs typeface="Times New Roman" charset="0"/>
                </a:rPr>
                <a:t>Perímetro (</a:t>
              </a:r>
              <a:r>
                <a:rPr lang="pt-BR" altLang="pt-BR" sz="1400" i="1" dirty="0">
                  <a:solidFill>
                    <a:srgbClr val="000000"/>
                  </a:solidFill>
                  <a:latin typeface="Times New Roman" charset="0"/>
                  <a:cs typeface="Times New Roman" charset="0"/>
                </a:rPr>
                <a:t>P</a:t>
              </a:r>
              <a:r>
                <a:rPr lang="pt-BR" altLang="pt-BR" sz="1400" dirty="0">
                  <a:solidFill>
                    <a:srgbClr val="000000"/>
                  </a:solidFill>
                  <a:latin typeface="Tahoma" panose="020B0604030504040204" pitchFamily="34" charset="0"/>
                  <a:cs typeface="Times New Roman" charset="0"/>
                </a:rPr>
                <a:t>)</a:t>
              </a:r>
              <a:endParaRPr lang="pt-BR" altLang="pt-BR" sz="14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71885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63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2699201"/>
            <a:ext cx="4895850" cy="2998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Relação funcional x Relação estatística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676400"/>
            <a:ext cx="8638728" cy="1968500"/>
          </a:xfrm>
        </p:spPr>
        <p:txBody>
          <a:bodyPr/>
          <a:lstStyle/>
          <a:p>
            <a:pPr marL="457200" indent="-457200" eaLnBrk="1" hangingPunct="1">
              <a:buClr>
                <a:srgbClr val="FF0000"/>
              </a:buClr>
              <a:buFontTx/>
              <a:buAutoNum type="arabicParenR" startAt="2"/>
            </a:pPr>
            <a:r>
              <a:rPr lang="pt-BR" altLang="pt-BR" sz="1600" dirty="0">
                <a:solidFill>
                  <a:srgbClr val="FF0000"/>
                </a:solidFill>
              </a:rPr>
              <a:t>Estatística: </a:t>
            </a:r>
            <a:r>
              <a:rPr lang="pt-BR" altLang="pt-BR" sz="1600" dirty="0">
                <a:solidFill>
                  <a:srgbClr val="000000"/>
                </a:solidFill>
              </a:rPr>
              <a:t>não há uma relação perfeita como no caso da relação funcional.</a:t>
            </a:r>
            <a:endParaRPr lang="pt-BR" altLang="pt-BR" sz="1600" i="1" dirty="0">
              <a:solidFill>
                <a:srgbClr val="000000"/>
              </a:solidFill>
              <a:latin typeface="Times New Roman" charset="0"/>
              <a:cs typeface="Times New Roman" charset="0"/>
              <a:sym typeface="Symbol" pitchFamily="18" charset="2"/>
            </a:endParaRPr>
          </a:p>
          <a:p>
            <a:pPr marL="457200" indent="-457200" eaLnBrk="1" hangingPunct="1"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</a:rPr>
              <a:t>	As observações em geral não caem exatamente na linha que descreve a relação.</a:t>
            </a:r>
            <a:endParaRPr lang="pt-BR" altLang="pt-BR" sz="1600" dirty="0">
              <a:solidFill>
                <a:srgbClr val="000000"/>
              </a:solidFill>
              <a:cs typeface="Times New Roman" charset="0"/>
            </a:endParaRPr>
          </a:p>
          <a:p>
            <a:pPr marL="457200" indent="-457200" eaLnBrk="1" hangingPunct="1">
              <a:buFontTx/>
              <a:buNone/>
            </a:pPr>
            <a:r>
              <a:rPr lang="pt-BR" altLang="pt-BR" sz="1600" dirty="0" err="1">
                <a:solidFill>
                  <a:srgbClr val="000000"/>
                </a:solidFill>
                <a:cs typeface="Times New Roman" charset="0"/>
              </a:rPr>
              <a:t>Ex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: relação entre transparência da água e a </a:t>
            </a:r>
            <a:r>
              <a:rPr lang="pt-BR" altLang="pt-BR" sz="1600" dirty="0" err="1">
                <a:solidFill>
                  <a:srgbClr val="000000"/>
                </a:solidFill>
                <a:cs typeface="Times New Roman" charset="0"/>
              </a:rPr>
              <a:t>reflectância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 na banda 3 TM5</a:t>
            </a:r>
          </a:p>
          <a:p>
            <a:pPr marL="457200" indent="-457200" eaLnBrk="1" hangingPunct="1">
              <a:buFontTx/>
              <a:buNone/>
            </a:pPr>
            <a:endParaRPr lang="pt-BR" altLang="pt-BR" sz="1600" i="1" dirty="0">
              <a:solidFill>
                <a:srgbClr val="000000"/>
              </a:solidFill>
              <a:cs typeface="Times New Roman" charset="0"/>
            </a:endParaRPr>
          </a:p>
          <a:p>
            <a:pPr marL="457200" indent="-457200" algn="ctr" eaLnBrk="1" hangingPunct="1">
              <a:buFontTx/>
              <a:buNone/>
            </a:pPr>
            <a:endParaRPr lang="pt-BR" altLang="pt-BR" sz="1600" dirty="0">
              <a:solidFill>
                <a:srgbClr val="000000"/>
              </a:solidFill>
              <a:cs typeface="Times New Roman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B62611-E48A-4978-B482-1B708AF3AEFE}" type="slidenum">
              <a:rPr lang="pt-BR"/>
              <a:pPr>
                <a:defRPr/>
              </a:pPr>
              <a:t>6</a:t>
            </a:fld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2267744" y="5755322"/>
            <a:ext cx="4895844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73050" indent="-273050"/>
            <a:r>
              <a:rPr lang="pt-BR" altLang="pt-BR" sz="1000" dirty="0">
                <a:latin typeface="Tahoma" panose="020B0604030504040204" pitchFamily="34" charset="0"/>
              </a:rPr>
              <a:t>Fonte: Adaptado de Santos, F.C.; Pereira Filho, W.; </a:t>
            </a:r>
            <a:r>
              <a:rPr lang="pt-BR" altLang="pt-BR" sz="1000" dirty="0" err="1">
                <a:latin typeface="Tahoma" panose="020B0604030504040204" pitchFamily="34" charset="0"/>
              </a:rPr>
              <a:t>Toniolo</a:t>
            </a:r>
            <a:r>
              <a:rPr lang="pt-BR" altLang="pt-BR" sz="1000" dirty="0">
                <a:latin typeface="Tahoma" panose="020B0604030504040204" pitchFamily="34" charset="0"/>
              </a:rPr>
              <a:t>, G.R.. Transparência associada à </a:t>
            </a:r>
            <a:r>
              <a:rPr lang="pt-BR" altLang="pt-BR" sz="1000" dirty="0" err="1">
                <a:latin typeface="Tahoma" panose="020B0604030504040204" pitchFamily="34" charset="0"/>
              </a:rPr>
              <a:t>reflectância</a:t>
            </a:r>
            <a:r>
              <a:rPr lang="pt-BR" altLang="pt-BR" sz="1000" dirty="0">
                <a:latin typeface="Tahoma" panose="020B0604030504040204" pitchFamily="34" charset="0"/>
              </a:rPr>
              <a:t> da água do reservatório Passo Real. In: XVII SBSR, 2015. p. 6653-6659</a:t>
            </a:r>
            <a:endParaRPr lang="pt-BR" sz="1000" dirty="0">
              <a:latin typeface="Tahoma" panose="020B0604030504040204" pitchFamily="34" charset="0"/>
            </a:endParaRPr>
          </a:p>
        </p:txBody>
      </p:sp>
      <p:sp>
        <p:nvSpPr>
          <p:cNvPr id="2" name="Forma livre 1"/>
          <p:cNvSpPr/>
          <p:nvPr/>
        </p:nvSpPr>
        <p:spPr bwMode="auto">
          <a:xfrm>
            <a:off x="3598826" y="3101546"/>
            <a:ext cx="3073822" cy="1742302"/>
          </a:xfrm>
          <a:custGeom>
            <a:avLst/>
            <a:gdLst>
              <a:gd name="connsiteX0" fmla="*/ 0 w 3200400"/>
              <a:gd name="connsiteY0" fmla="*/ 0 h 1742302"/>
              <a:gd name="connsiteX1" fmla="*/ 1322173 w 3200400"/>
              <a:gd name="connsiteY1" fmla="*/ 1037967 h 1742302"/>
              <a:gd name="connsiteX2" fmla="*/ 3200400 w 3200400"/>
              <a:gd name="connsiteY2" fmla="*/ 1742302 h 1742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00400" h="1742302">
                <a:moveTo>
                  <a:pt x="0" y="0"/>
                </a:moveTo>
                <a:cubicBezTo>
                  <a:pt x="394386" y="373791"/>
                  <a:pt x="788773" y="747583"/>
                  <a:pt x="1322173" y="1037967"/>
                </a:cubicBezTo>
                <a:cubicBezTo>
                  <a:pt x="1855573" y="1328351"/>
                  <a:pt x="2527986" y="1535326"/>
                  <a:pt x="3200400" y="1742302"/>
                </a:cubicBezTo>
              </a:path>
            </a:pathLst>
          </a:custGeom>
          <a:noFill/>
          <a:ln w="9525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  <p:bldP spid="4" grpId="0"/>
      <p:bldP spid="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Grau de Relacionamento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130187-937B-4537-AC3E-E8A87C43E105}" type="slidenum">
              <a:rPr lang="pt-BR"/>
              <a:pPr>
                <a:defRPr/>
              </a:pPr>
              <a:t>7</a:t>
            </a:fld>
            <a:endParaRPr lang="pt-BR"/>
          </a:p>
        </p:txBody>
      </p:sp>
      <p:sp>
        <p:nvSpPr>
          <p:cNvPr id="89" name="Retângulo 88"/>
          <p:cNvSpPr/>
          <p:nvPr/>
        </p:nvSpPr>
        <p:spPr>
          <a:xfrm>
            <a:off x="381027" y="4530606"/>
            <a:ext cx="843944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/>
            <a:r>
              <a:rPr lang="pt-BR" dirty="0">
                <a:latin typeface="Tahoma" panose="020B0604030504040204" pitchFamily="34" charset="0"/>
              </a:rPr>
              <a:t>Como caracterizar o grau de relacionamento (ou associação)  entre pares de variáveis?</a:t>
            </a:r>
          </a:p>
        </p:txBody>
      </p:sp>
      <p:sp>
        <p:nvSpPr>
          <p:cNvPr id="5" name="AutoShape 11" descr="Resultado de imagem para sample covariance formula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74" name="Group 30"/>
          <p:cNvGrpSpPr>
            <a:grpSpLocks/>
          </p:cNvGrpSpPr>
          <p:nvPr/>
        </p:nvGrpSpPr>
        <p:grpSpPr bwMode="auto">
          <a:xfrm>
            <a:off x="609600" y="1541586"/>
            <a:ext cx="2533650" cy="2103438"/>
            <a:chOff x="384" y="1162"/>
            <a:chExt cx="1596" cy="1325"/>
          </a:xfrm>
        </p:grpSpPr>
        <p:sp>
          <p:nvSpPr>
            <p:cNvPr id="75" name="Oval 15"/>
            <p:cNvSpPr>
              <a:spLocks noChangeArrowheads="1"/>
            </p:cNvSpPr>
            <p:nvPr/>
          </p:nvSpPr>
          <p:spPr bwMode="auto">
            <a:xfrm>
              <a:off x="1202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6" name="Oval 16"/>
            <p:cNvSpPr>
              <a:spLocks noChangeArrowheads="1"/>
            </p:cNvSpPr>
            <p:nvPr/>
          </p:nvSpPr>
          <p:spPr bwMode="auto">
            <a:xfrm>
              <a:off x="903" y="191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7" name="Oval 17"/>
            <p:cNvSpPr>
              <a:spLocks noChangeArrowheads="1"/>
            </p:cNvSpPr>
            <p:nvPr/>
          </p:nvSpPr>
          <p:spPr bwMode="auto">
            <a:xfrm>
              <a:off x="1202" y="17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8" name="Oval 18"/>
            <p:cNvSpPr>
              <a:spLocks noChangeArrowheads="1"/>
            </p:cNvSpPr>
            <p:nvPr/>
          </p:nvSpPr>
          <p:spPr bwMode="auto">
            <a:xfrm>
              <a:off x="1579" y="125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1" name="Oval 19"/>
            <p:cNvSpPr>
              <a:spLocks noChangeArrowheads="1"/>
            </p:cNvSpPr>
            <p:nvPr/>
          </p:nvSpPr>
          <p:spPr bwMode="auto">
            <a:xfrm>
              <a:off x="1383" y="143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" name="Oval 20"/>
            <p:cNvSpPr>
              <a:spLocks noChangeArrowheads="1"/>
            </p:cNvSpPr>
            <p:nvPr/>
          </p:nvSpPr>
          <p:spPr bwMode="auto">
            <a:xfrm>
              <a:off x="1014" y="177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5" name="Oval 21"/>
            <p:cNvSpPr>
              <a:spLocks noChangeArrowheads="1"/>
            </p:cNvSpPr>
            <p:nvPr/>
          </p:nvSpPr>
          <p:spPr bwMode="auto">
            <a:xfrm>
              <a:off x="727" y="20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6" name="Oval 22"/>
            <p:cNvSpPr>
              <a:spLocks noChangeArrowheads="1"/>
            </p:cNvSpPr>
            <p:nvPr/>
          </p:nvSpPr>
          <p:spPr bwMode="auto">
            <a:xfrm>
              <a:off x="793" y="188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7" name="Oval 23"/>
            <p:cNvSpPr>
              <a:spLocks noChangeArrowheads="1"/>
            </p:cNvSpPr>
            <p:nvPr/>
          </p:nvSpPr>
          <p:spPr bwMode="auto">
            <a:xfrm>
              <a:off x="1338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" name="Oval 24"/>
            <p:cNvSpPr>
              <a:spLocks noChangeArrowheads="1"/>
            </p:cNvSpPr>
            <p:nvPr/>
          </p:nvSpPr>
          <p:spPr bwMode="auto">
            <a:xfrm>
              <a:off x="1403" y="1567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3" name="Group 29"/>
            <p:cNvGrpSpPr>
              <a:grpSpLocks/>
            </p:cNvGrpSpPr>
            <p:nvPr/>
          </p:nvGrpSpPr>
          <p:grpSpPr bwMode="auto">
            <a:xfrm>
              <a:off x="384" y="1162"/>
              <a:ext cx="1596" cy="1325"/>
              <a:chOff x="1239" y="1162"/>
              <a:chExt cx="1596" cy="1325"/>
            </a:xfrm>
          </p:grpSpPr>
          <p:sp>
            <p:nvSpPr>
              <p:cNvPr id="94" name="Rectangle 25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Rectangle 26"/>
              <p:cNvSpPr>
                <a:spLocks noChangeArrowheads="1"/>
              </p:cNvSpPr>
              <p:nvPr/>
            </p:nvSpPr>
            <p:spPr bwMode="auto">
              <a:xfrm rot="-5400000">
                <a:off x="1277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Freeform 28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115" name="Group 62"/>
          <p:cNvGrpSpPr>
            <a:grpSpLocks/>
          </p:cNvGrpSpPr>
          <p:nvPr/>
        </p:nvGrpSpPr>
        <p:grpSpPr bwMode="auto">
          <a:xfrm>
            <a:off x="5867400" y="1541586"/>
            <a:ext cx="2532063" cy="2103438"/>
            <a:chOff x="3696" y="1162"/>
            <a:chExt cx="1595" cy="1325"/>
          </a:xfrm>
        </p:grpSpPr>
        <p:sp>
          <p:nvSpPr>
            <p:cNvPr id="116" name="Oval 48"/>
            <p:cNvSpPr>
              <a:spLocks noChangeArrowheads="1"/>
            </p:cNvSpPr>
            <p:nvPr/>
          </p:nvSpPr>
          <p:spPr bwMode="auto">
            <a:xfrm>
              <a:off x="4512" y="143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7" name="Oval 49"/>
            <p:cNvSpPr>
              <a:spLocks noChangeArrowheads="1"/>
            </p:cNvSpPr>
            <p:nvPr/>
          </p:nvSpPr>
          <p:spPr bwMode="auto">
            <a:xfrm>
              <a:off x="4604" y="193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8" name="Oval 50"/>
            <p:cNvSpPr>
              <a:spLocks noChangeArrowheads="1"/>
            </p:cNvSpPr>
            <p:nvPr/>
          </p:nvSpPr>
          <p:spPr bwMode="auto">
            <a:xfrm>
              <a:off x="4694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9" name="Oval 51"/>
            <p:cNvSpPr>
              <a:spLocks noChangeArrowheads="1"/>
            </p:cNvSpPr>
            <p:nvPr/>
          </p:nvSpPr>
          <p:spPr bwMode="auto">
            <a:xfrm>
              <a:off x="4876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0" name="Oval 52"/>
            <p:cNvSpPr>
              <a:spLocks noChangeArrowheads="1"/>
            </p:cNvSpPr>
            <p:nvPr/>
          </p:nvSpPr>
          <p:spPr bwMode="auto">
            <a:xfrm>
              <a:off x="4740" y="1480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1" name="Oval 53"/>
            <p:cNvSpPr>
              <a:spLocks noChangeArrowheads="1"/>
            </p:cNvSpPr>
            <p:nvPr/>
          </p:nvSpPr>
          <p:spPr bwMode="auto">
            <a:xfrm>
              <a:off x="4461" y="172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2" name="Oval 54"/>
            <p:cNvSpPr>
              <a:spLocks noChangeArrowheads="1"/>
            </p:cNvSpPr>
            <p:nvPr/>
          </p:nvSpPr>
          <p:spPr bwMode="auto">
            <a:xfrm>
              <a:off x="4286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" name="Oval 55"/>
            <p:cNvSpPr>
              <a:spLocks noChangeArrowheads="1"/>
            </p:cNvSpPr>
            <p:nvPr/>
          </p:nvSpPr>
          <p:spPr bwMode="auto">
            <a:xfrm>
              <a:off x="4331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4" name="Oval 56"/>
            <p:cNvSpPr>
              <a:spLocks noChangeArrowheads="1"/>
            </p:cNvSpPr>
            <p:nvPr/>
          </p:nvSpPr>
          <p:spPr bwMode="auto">
            <a:xfrm>
              <a:off x="4876" y="175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5" name="Oval 57"/>
            <p:cNvSpPr>
              <a:spLocks noChangeArrowheads="1"/>
            </p:cNvSpPr>
            <p:nvPr/>
          </p:nvSpPr>
          <p:spPr bwMode="auto">
            <a:xfrm>
              <a:off x="4604" y="1661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126" name="Group 58"/>
            <p:cNvGrpSpPr>
              <a:grpSpLocks/>
            </p:cNvGrpSpPr>
            <p:nvPr/>
          </p:nvGrpSpPr>
          <p:grpSpPr bwMode="auto">
            <a:xfrm>
              <a:off x="3696" y="1162"/>
              <a:ext cx="1595" cy="1325"/>
              <a:chOff x="1240" y="1162"/>
              <a:chExt cx="1595" cy="1325"/>
            </a:xfrm>
          </p:grpSpPr>
          <p:sp>
            <p:nvSpPr>
              <p:cNvPr id="127" name="Rectangle 59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8" name="Rectangle 60"/>
              <p:cNvSpPr>
                <a:spLocks noChangeArrowheads="1"/>
              </p:cNvSpPr>
              <p:nvPr/>
            </p:nvSpPr>
            <p:spPr bwMode="auto">
              <a:xfrm rot="-5400000">
                <a:off x="1278" y="1654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9" name="Freeform 61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33" name="Line 93"/>
          <p:cNvSpPr>
            <a:spLocks noChangeShapeType="1"/>
          </p:cNvSpPr>
          <p:nvPr/>
        </p:nvSpPr>
        <p:spPr bwMode="auto">
          <a:xfrm flipV="1">
            <a:off x="1125538" y="1786061"/>
            <a:ext cx="1511300" cy="12239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none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1" name="Grupo 10"/>
          <p:cNvGrpSpPr/>
          <p:nvPr/>
        </p:nvGrpSpPr>
        <p:grpSpPr>
          <a:xfrm>
            <a:off x="3263900" y="1541586"/>
            <a:ext cx="2532063" cy="2103438"/>
            <a:chOff x="3263900" y="1412875"/>
            <a:chExt cx="2532063" cy="2103438"/>
          </a:xfrm>
        </p:grpSpPr>
        <p:grpSp>
          <p:nvGrpSpPr>
            <p:cNvPr id="111" name="Group 42"/>
            <p:cNvGrpSpPr>
              <a:grpSpLocks/>
            </p:cNvGrpSpPr>
            <p:nvPr/>
          </p:nvGrpSpPr>
          <p:grpSpPr bwMode="auto">
            <a:xfrm>
              <a:off x="3263900" y="1412875"/>
              <a:ext cx="2532063" cy="2103438"/>
              <a:chOff x="1240" y="1162"/>
              <a:chExt cx="1595" cy="1325"/>
            </a:xfrm>
          </p:grpSpPr>
          <p:sp>
            <p:nvSpPr>
              <p:cNvPr id="112" name="Rectangle 43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Rectangle 44"/>
              <p:cNvSpPr>
                <a:spLocks noChangeArrowheads="1"/>
              </p:cNvSpPr>
              <p:nvPr/>
            </p:nvSpPr>
            <p:spPr bwMode="auto">
              <a:xfrm rot="-5400000">
                <a:off x="1278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Freeform 45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8" name="Oval 32"/>
            <p:cNvSpPr>
              <a:spLocks noChangeArrowheads="1"/>
            </p:cNvSpPr>
            <p:nvPr/>
          </p:nvSpPr>
          <p:spPr bwMode="auto">
            <a:xfrm flipH="1">
              <a:off x="4643438" y="19177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9" name="Oval 33"/>
            <p:cNvSpPr>
              <a:spLocks noChangeArrowheads="1"/>
            </p:cNvSpPr>
            <p:nvPr/>
          </p:nvSpPr>
          <p:spPr bwMode="auto">
            <a:xfrm flipH="1">
              <a:off x="4643438" y="2636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0" name="Oval 34"/>
            <p:cNvSpPr>
              <a:spLocks noChangeArrowheads="1"/>
            </p:cNvSpPr>
            <p:nvPr/>
          </p:nvSpPr>
          <p:spPr bwMode="auto">
            <a:xfrm flipH="1">
              <a:off x="4425950" y="24209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1" name="Oval 35"/>
            <p:cNvSpPr>
              <a:spLocks noChangeArrowheads="1"/>
            </p:cNvSpPr>
            <p:nvPr/>
          </p:nvSpPr>
          <p:spPr bwMode="auto">
            <a:xfrm flipH="1">
              <a:off x="3779838" y="1844675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5" name="Oval 36"/>
            <p:cNvSpPr>
              <a:spLocks noChangeArrowheads="1"/>
            </p:cNvSpPr>
            <p:nvPr/>
          </p:nvSpPr>
          <p:spPr bwMode="auto">
            <a:xfrm flipH="1">
              <a:off x="4213225" y="1701800"/>
              <a:ext cx="42863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6" name="Oval 37"/>
            <p:cNvSpPr>
              <a:spLocks noChangeArrowheads="1"/>
            </p:cNvSpPr>
            <p:nvPr/>
          </p:nvSpPr>
          <p:spPr bwMode="auto">
            <a:xfrm flipH="1">
              <a:off x="4724400" y="2382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7" name="Oval 38"/>
            <p:cNvSpPr>
              <a:spLocks noChangeArrowheads="1"/>
            </p:cNvSpPr>
            <p:nvPr/>
          </p:nvSpPr>
          <p:spPr bwMode="auto">
            <a:xfrm flipH="1">
              <a:off x="5180013" y="2763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8" name="Oval 39"/>
            <p:cNvSpPr>
              <a:spLocks noChangeArrowheads="1"/>
            </p:cNvSpPr>
            <p:nvPr/>
          </p:nvSpPr>
          <p:spPr bwMode="auto">
            <a:xfrm flipH="1">
              <a:off x="5075238" y="23495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9" name="Oval 40"/>
            <p:cNvSpPr>
              <a:spLocks noChangeArrowheads="1"/>
            </p:cNvSpPr>
            <p:nvPr/>
          </p:nvSpPr>
          <p:spPr bwMode="auto">
            <a:xfrm flipH="1">
              <a:off x="4140200" y="21336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0" name="Oval 41"/>
            <p:cNvSpPr>
              <a:spLocks noChangeArrowheads="1"/>
            </p:cNvSpPr>
            <p:nvPr/>
          </p:nvSpPr>
          <p:spPr bwMode="auto">
            <a:xfrm flipH="1">
              <a:off x="4427538" y="2060575"/>
              <a:ext cx="44450" cy="5556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34" name="Line 94"/>
          <p:cNvSpPr>
            <a:spLocks noChangeShapeType="1"/>
          </p:cNvSpPr>
          <p:nvPr/>
        </p:nvSpPr>
        <p:spPr bwMode="auto">
          <a:xfrm flipH="1" flipV="1">
            <a:off x="3883025" y="1757486"/>
            <a:ext cx="1368425" cy="1295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arrow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3184216" y="5178678"/>
            <a:ext cx="277556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Covariância</a:t>
            </a:r>
          </a:p>
          <a:p>
            <a:pPr algn="ctr"/>
            <a:r>
              <a:rPr 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Coeficiente de Correlação</a:t>
            </a:r>
            <a:endParaRPr lang="pt-BR" sz="1800" dirty="0">
              <a:latin typeface="Tahoma" panose="020B0604030504040204" pitchFamily="34" charset="0"/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1043609" y="3780329"/>
            <a:ext cx="188630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Relação direta ou positiva</a:t>
            </a:r>
          </a:p>
        </p:txBody>
      </p:sp>
      <p:sp>
        <p:nvSpPr>
          <p:cNvPr id="135" name="Retângulo 134"/>
          <p:cNvSpPr/>
          <p:nvPr/>
        </p:nvSpPr>
        <p:spPr>
          <a:xfrm>
            <a:off x="3696317" y="3780329"/>
            <a:ext cx="188630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Relação inversa ou negativa</a:t>
            </a:r>
          </a:p>
        </p:txBody>
      </p:sp>
      <p:sp>
        <p:nvSpPr>
          <p:cNvPr id="136" name="Retângulo 135"/>
          <p:cNvSpPr/>
          <p:nvPr/>
        </p:nvSpPr>
        <p:spPr>
          <a:xfrm>
            <a:off x="6299817" y="3780329"/>
            <a:ext cx="188630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Ausência de relação</a:t>
            </a:r>
          </a:p>
        </p:txBody>
      </p:sp>
    </p:spTree>
    <p:extLst>
      <p:ext uri="{BB962C8B-B14F-4D97-AF65-F5344CB8AC3E}">
        <p14:creationId xmlns:p14="http://schemas.microsoft.com/office/powerpoint/2010/main" val="1178319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/>
      <p:bldP spid="133" grpId="0" animBg="1"/>
      <p:bldP spid="134" grpId="0" animBg="1"/>
      <p:bldP spid="12" grpId="0"/>
      <p:bldP spid="16" grpId="0"/>
      <p:bldP spid="135" grpId="0"/>
      <p:bldP spid="1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Covariância</a:t>
            </a:r>
          </a:p>
        </p:txBody>
      </p:sp>
      <p:sp>
        <p:nvSpPr>
          <p:cNvPr id="11353" name="Text Box 89"/>
          <p:cNvSpPr txBox="1">
            <a:spLocks noChangeArrowheads="1"/>
          </p:cNvSpPr>
          <p:nvPr/>
        </p:nvSpPr>
        <p:spPr bwMode="auto">
          <a:xfrm>
            <a:off x="962982" y="3666268"/>
            <a:ext cx="1178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 err="1">
                <a:latin typeface="Times New Roman" charset="0"/>
                <a:cs typeface="Times New Roman" charset="0"/>
              </a:rPr>
              <a:t>Cov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(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,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) &gt; 0</a:t>
            </a:r>
          </a:p>
        </p:txBody>
      </p:sp>
      <p:sp>
        <p:nvSpPr>
          <p:cNvPr id="11355" name="Text Box 91"/>
          <p:cNvSpPr txBox="1">
            <a:spLocks noChangeArrowheads="1"/>
          </p:cNvSpPr>
          <p:nvPr/>
        </p:nvSpPr>
        <p:spPr bwMode="auto">
          <a:xfrm>
            <a:off x="6655310" y="3684503"/>
            <a:ext cx="117514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 err="1">
                <a:latin typeface="Times New Roman" charset="0"/>
                <a:cs typeface="Times New Roman" charset="0"/>
              </a:rPr>
              <a:t>Cov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(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,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) = 0</a:t>
            </a:r>
          </a:p>
        </p:txBody>
      </p:sp>
      <p:sp>
        <p:nvSpPr>
          <p:cNvPr id="11356" name="Text Box 92"/>
          <p:cNvSpPr txBox="1">
            <a:spLocks noChangeArrowheads="1"/>
          </p:cNvSpPr>
          <p:nvPr/>
        </p:nvSpPr>
        <p:spPr bwMode="auto">
          <a:xfrm>
            <a:off x="4315672" y="3685484"/>
            <a:ext cx="114379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 err="1">
                <a:latin typeface="Times New Roman" charset="0"/>
                <a:cs typeface="Times New Roman" charset="0"/>
              </a:rPr>
              <a:t>Cov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(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,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) &lt; 0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130187-937B-4537-AC3E-E8A87C43E105}" type="slidenum">
              <a:rPr lang="pt-BR"/>
              <a:pPr>
                <a:defRPr/>
              </a:pPr>
              <a:t>8</a:t>
            </a:fld>
            <a:endParaRPr lang="pt-BR"/>
          </a:p>
        </p:txBody>
      </p:sp>
      <p:sp>
        <p:nvSpPr>
          <p:cNvPr id="89" name="Retângulo 88"/>
          <p:cNvSpPr/>
          <p:nvPr/>
        </p:nvSpPr>
        <p:spPr>
          <a:xfrm>
            <a:off x="453035" y="5592142"/>
            <a:ext cx="822342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/>
            <a:r>
              <a:rPr lang="pt-BR" dirty="0">
                <a:latin typeface="Tahoma" panose="020B0604030504040204" pitchFamily="34" charset="0"/>
              </a:rPr>
              <a:t>Quanto maior a covariância (em módulo), mais próximos estarão os pontos entorno da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reta</a:t>
            </a:r>
            <a:r>
              <a:rPr lang="pt-BR" dirty="0">
                <a:latin typeface="Tahoma" panose="020B0604030504040204" pitchFamily="34" charset="0"/>
              </a:rPr>
              <a:t> que representa a tendência principal da nuvem de pontos</a:t>
            </a:r>
          </a:p>
          <a:p>
            <a:pPr marL="355600" indent="-355600"/>
            <a:r>
              <a:rPr lang="pt-BR" dirty="0">
                <a:latin typeface="Tahoma" panose="020B0604030504040204" pitchFamily="34" charset="0"/>
              </a:rPr>
              <a:t>Uma limitação da covariância é que seu valor calculado depende diretamente das unidades de medida, dificultando a comparação entre covariâncias.</a:t>
            </a:r>
          </a:p>
        </p:txBody>
      </p:sp>
      <p:sp>
        <p:nvSpPr>
          <p:cNvPr id="5" name="AutoShape 11" descr="Resultado de imagem para sample covariance formula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7" name="Grupo 6"/>
          <p:cNvGrpSpPr/>
          <p:nvPr/>
        </p:nvGrpSpPr>
        <p:grpSpPr>
          <a:xfrm>
            <a:off x="307975" y="1340768"/>
            <a:ext cx="8512497" cy="2232248"/>
            <a:chOff x="307975" y="3370640"/>
            <a:chExt cx="8512497" cy="2232248"/>
          </a:xfrm>
        </p:grpSpPr>
        <p:grpSp>
          <p:nvGrpSpPr>
            <p:cNvPr id="3" name="Grupo 2"/>
            <p:cNvGrpSpPr/>
            <p:nvPr/>
          </p:nvGrpSpPr>
          <p:grpSpPr>
            <a:xfrm>
              <a:off x="453035" y="3844241"/>
              <a:ext cx="3660375" cy="766990"/>
              <a:chOff x="-538201" y="4710135"/>
              <a:chExt cx="3660375" cy="766990"/>
            </a:xfrm>
          </p:grpSpPr>
          <p:graphicFrame>
            <p:nvGraphicFramePr>
              <p:cNvPr id="79" name="Object 6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63142127"/>
                  </p:ext>
                </p:extLst>
              </p:nvPr>
            </p:nvGraphicFramePr>
            <p:xfrm>
              <a:off x="-184786" y="4959157"/>
              <a:ext cx="3306960" cy="51796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" imgW="2755800" imgH="431640" progId="Equation.DSMT4">
                      <p:embed/>
                    </p:oleObj>
                  </mc:Choice>
                  <mc:Fallback>
                    <p:oleObj name="Equation" r:id="rId2" imgW="2755800" imgH="431640" progId="Equation.DSMT4">
                      <p:embed/>
                      <p:pic>
                        <p:nvPicPr>
                          <p:cNvPr id="79" name="Object 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-184786" y="4959157"/>
                            <a:ext cx="3306960" cy="51796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80" name="Text Box 16"/>
              <p:cNvSpPr txBox="1">
                <a:spLocks noChangeArrowheads="1"/>
              </p:cNvSpPr>
              <p:nvPr/>
            </p:nvSpPr>
            <p:spPr bwMode="auto">
              <a:xfrm>
                <a:off x="-538201" y="4710135"/>
                <a:ext cx="143295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solidFill>
                      <a:srgbClr val="FF3300"/>
                    </a:solidFill>
                    <a:latin typeface="Tahoma" panose="020B0604030504040204" pitchFamily="34" charset="0"/>
                  </a:rPr>
                  <a:t>v.a</a:t>
                </a:r>
                <a:r>
                  <a:rPr lang="pt-BR" altLang="pt-BR" sz="1600" dirty="0">
                    <a:solidFill>
                      <a:srgbClr val="FF3300"/>
                    </a:solidFill>
                    <a:latin typeface="Tahoma" panose="020B0604030504040204" pitchFamily="34" charset="0"/>
                  </a:rPr>
                  <a:t>. discretas:</a:t>
                </a:r>
              </a:p>
            </p:txBody>
          </p:sp>
        </p:grpSp>
        <p:grpSp>
          <p:nvGrpSpPr>
            <p:cNvPr id="4" name="Grupo 3"/>
            <p:cNvGrpSpPr/>
            <p:nvPr/>
          </p:nvGrpSpPr>
          <p:grpSpPr>
            <a:xfrm>
              <a:off x="453035" y="4666784"/>
              <a:ext cx="3319116" cy="811600"/>
              <a:chOff x="-538201" y="5382550"/>
              <a:chExt cx="3319116" cy="811600"/>
            </a:xfrm>
          </p:grpSpPr>
          <p:graphicFrame>
            <p:nvGraphicFramePr>
              <p:cNvPr id="83" name="Object 1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53387791"/>
                  </p:ext>
                </p:extLst>
              </p:nvPr>
            </p:nvGraphicFramePr>
            <p:xfrm>
              <a:off x="-175261" y="5630390"/>
              <a:ext cx="2956176" cy="56376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2463480" imgH="469800" progId="Equation.DSMT4">
                      <p:embed/>
                    </p:oleObj>
                  </mc:Choice>
                  <mc:Fallback>
                    <p:oleObj name="Equation" r:id="rId4" imgW="2463480" imgH="469800" progId="Equation.DSMT4">
                      <p:embed/>
                      <p:pic>
                        <p:nvPicPr>
                          <p:cNvPr id="83" name="Object 1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-175261" y="5630390"/>
                            <a:ext cx="2956176" cy="56376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84" name="Text Box 16"/>
              <p:cNvSpPr txBox="1">
                <a:spLocks noChangeArrowheads="1"/>
              </p:cNvSpPr>
              <p:nvPr/>
            </p:nvSpPr>
            <p:spPr bwMode="auto">
              <a:xfrm>
                <a:off x="-538201" y="5382550"/>
                <a:ext cx="150874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solidFill>
                      <a:srgbClr val="FF3300"/>
                    </a:solidFill>
                    <a:latin typeface="Tahoma" panose="020B0604030504040204" pitchFamily="34" charset="0"/>
                  </a:rPr>
                  <a:t>v.a</a:t>
                </a:r>
                <a:r>
                  <a:rPr lang="pt-BR" altLang="pt-BR" sz="1600" dirty="0">
                    <a:solidFill>
                      <a:srgbClr val="FF3300"/>
                    </a:solidFill>
                    <a:latin typeface="Tahoma" panose="020B0604030504040204" pitchFamily="34" charset="0"/>
                  </a:rPr>
                  <a:t>. contínuas:</a:t>
                </a:r>
              </a:p>
            </p:txBody>
          </p:sp>
        </p:grpSp>
        <p:graphicFrame>
          <p:nvGraphicFramePr>
            <p:cNvPr id="88" name="Object 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34705101"/>
                </p:ext>
              </p:extLst>
            </p:nvPr>
          </p:nvGraphicFramePr>
          <p:xfrm>
            <a:off x="5867400" y="4302564"/>
            <a:ext cx="1920240" cy="73137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600200" imgH="609480" progId="Equation.DSMT4">
                    <p:embed/>
                  </p:oleObj>
                </mc:Choice>
                <mc:Fallback>
                  <p:oleObj name="Equation" r:id="rId6" imgW="1600200" imgH="609480" progId="Equation.DSMT4">
                    <p:embed/>
                    <p:pic>
                      <p:nvPicPr>
                        <p:cNvPr id="88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867400" y="4302564"/>
                          <a:ext cx="1920240" cy="73137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0" name="Text Box 16"/>
            <p:cNvSpPr txBox="1">
              <a:spLocks noChangeArrowheads="1"/>
            </p:cNvSpPr>
            <p:nvPr/>
          </p:nvSpPr>
          <p:spPr bwMode="auto">
            <a:xfrm>
              <a:off x="5220072" y="3438880"/>
              <a:ext cx="360040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Covariância amostral</a:t>
              </a:r>
            </a:p>
          </p:txBody>
        </p:sp>
        <p:sp>
          <p:nvSpPr>
            <p:cNvPr id="91" name="Text Box 16"/>
            <p:cNvSpPr txBox="1">
              <a:spLocks noChangeArrowheads="1"/>
            </p:cNvSpPr>
            <p:nvPr/>
          </p:nvSpPr>
          <p:spPr bwMode="auto">
            <a:xfrm>
              <a:off x="307975" y="3438880"/>
              <a:ext cx="4912097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Covariância populacional</a:t>
              </a:r>
            </a:p>
          </p:txBody>
        </p:sp>
        <p:grpSp>
          <p:nvGrpSpPr>
            <p:cNvPr id="14" name="Grupo 13"/>
            <p:cNvGrpSpPr/>
            <p:nvPr/>
          </p:nvGrpSpPr>
          <p:grpSpPr>
            <a:xfrm>
              <a:off x="307975" y="3370640"/>
              <a:ext cx="4914000" cy="2232248"/>
              <a:chOff x="307975" y="3288752"/>
              <a:chExt cx="4914000" cy="2232248"/>
            </a:xfrm>
          </p:grpSpPr>
          <p:sp>
            <p:nvSpPr>
              <p:cNvPr id="6" name="Retângulo 5"/>
              <p:cNvSpPr/>
              <p:nvPr/>
            </p:nvSpPr>
            <p:spPr bwMode="auto">
              <a:xfrm>
                <a:off x="307976" y="3288752"/>
                <a:ext cx="4912096" cy="2232248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9" name="Conector reto 8"/>
              <p:cNvCxnSpPr/>
              <p:nvPr/>
            </p:nvCxnSpPr>
            <p:spPr bwMode="auto">
              <a:xfrm>
                <a:off x="307975" y="3717032"/>
                <a:ext cx="4914000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3" name="Conector reto 12"/>
              <p:cNvCxnSpPr/>
              <p:nvPr/>
            </p:nvCxnSpPr>
            <p:spPr bwMode="auto">
              <a:xfrm>
                <a:off x="307975" y="4584896"/>
                <a:ext cx="4912097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102" name="Grupo 101"/>
            <p:cNvGrpSpPr/>
            <p:nvPr/>
          </p:nvGrpSpPr>
          <p:grpSpPr>
            <a:xfrm>
              <a:off x="5220072" y="3370640"/>
              <a:ext cx="3600400" cy="2232248"/>
              <a:chOff x="307975" y="3288752"/>
              <a:chExt cx="4914000" cy="2232248"/>
            </a:xfrm>
          </p:grpSpPr>
          <p:sp>
            <p:nvSpPr>
              <p:cNvPr id="103" name="Retângulo 102"/>
              <p:cNvSpPr/>
              <p:nvPr/>
            </p:nvSpPr>
            <p:spPr bwMode="auto">
              <a:xfrm>
                <a:off x="307976" y="3288752"/>
                <a:ext cx="4912096" cy="2232248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104" name="Conector reto 103"/>
              <p:cNvCxnSpPr/>
              <p:nvPr/>
            </p:nvCxnSpPr>
            <p:spPr bwMode="auto">
              <a:xfrm>
                <a:off x="307975" y="3717032"/>
                <a:ext cx="4914000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</p:grpSp>
      <p:sp>
        <p:nvSpPr>
          <p:cNvPr id="15" name="CaixaDeTexto 14"/>
          <p:cNvSpPr txBox="1"/>
          <p:nvPr/>
        </p:nvSpPr>
        <p:spPr>
          <a:xfrm>
            <a:off x="6186044" y="4982112"/>
            <a:ext cx="20583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 e </a:t>
            </a:r>
            <a:r>
              <a:rPr lang="pt-BR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 são independentes!</a:t>
            </a:r>
          </a:p>
        </p:txBody>
      </p:sp>
      <p:grpSp>
        <p:nvGrpSpPr>
          <p:cNvPr id="74" name="Group 30"/>
          <p:cNvGrpSpPr>
            <a:grpSpLocks/>
          </p:cNvGrpSpPr>
          <p:nvPr/>
        </p:nvGrpSpPr>
        <p:grpSpPr bwMode="auto">
          <a:xfrm>
            <a:off x="605524" y="3699616"/>
            <a:ext cx="2172497" cy="1807018"/>
            <a:chOff x="381" y="1162"/>
            <a:chExt cx="1599" cy="1330"/>
          </a:xfrm>
        </p:grpSpPr>
        <p:sp>
          <p:nvSpPr>
            <p:cNvPr id="75" name="Oval 15"/>
            <p:cNvSpPr>
              <a:spLocks noChangeArrowheads="1"/>
            </p:cNvSpPr>
            <p:nvPr/>
          </p:nvSpPr>
          <p:spPr bwMode="auto">
            <a:xfrm>
              <a:off x="1202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76" name="Oval 16"/>
            <p:cNvSpPr>
              <a:spLocks noChangeArrowheads="1"/>
            </p:cNvSpPr>
            <p:nvPr/>
          </p:nvSpPr>
          <p:spPr bwMode="auto">
            <a:xfrm>
              <a:off x="903" y="191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77" name="Oval 17"/>
            <p:cNvSpPr>
              <a:spLocks noChangeArrowheads="1"/>
            </p:cNvSpPr>
            <p:nvPr/>
          </p:nvSpPr>
          <p:spPr bwMode="auto">
            <a:xfrm>
              <a:off x="1202" y="17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78" name="Oval 18"/>
            <p:cNvSpPr>
              <a:spLocks noChangeArrowheads="1"/>
            </p:cNvSpPr>
            <p:nvPr/>
          </p:nvSpPr>
          <p:spPr bwMode="auto">
            <a:xfrm>
              <a:off x="1579" y="125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1" name="Oval 19"/>
            <p:cNvSpPr>
              <a:spLocks noChangeArrowheads="1"/>
            </p:cNvSpPr>
            <p:nvPr/>
          </p:nvSpPr>
          <p:spPr bwMode="auto">
            <a:xfrm>
              <a:off x="1383" y="143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2" name="Oval 20"/>
            <p:cNvSpPr>
              <a:spLocks noChangeArrowheads="1"/>
            </p:cNvSpPr>
            <p:nvPr/>
          </p:nvSpPr>
          <p:spPr bwMode="auto">
            <a:xfrm>
              <a:off x="1014" y="177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5" name="Oval 21"/>
            <p:cNvSpPr>
              <a:spLocks noChangeArrowheads="1"/>
            </p:cNvSpPr>
            <p:nvPr/>
          </p:nvSpPr>
          <p:spPr bwMode="auto">
            <a:xfrm>
              <a:off x="727" y="20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6" name="Oval 22"/>
            <p:cNvSpPr>
              <a:spLocks noChangeArrowheads="1"/>
            </p:cNvSpPr>
            <p:nvPr/>
          </p:nvSpPr>
          <p:spPr bwMode="auto">
            <a:xfrm>
              <a:off x="793" y="188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7" name="Oval 23"/>
            <p:cNvSpPr>
              <a:spLocks noChangeArrowheads="1"/>
            </p:cNvSpPr>
            <p:nvPr/>
          </p:nvSpPr>
          <p:spPr bwMode="auto">
            <a:xfrm>
              <a:off x="1338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92" name="Oval 24"/>
            <p:cNvSpPr>
              <a:spLocks noChangeArrowheads="1"/>
            </p:cNvSpPr>
            <p:nvPr/>
          </p:nvSpPr>
          <p:spPr bwMode="auto">
            <a:xfrm>
              <a:off x="1403" y="1567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grpSp>
          <p:nvGrpSpPr>
            <p:cNvPr id="93" name="Group 29"/>
            <p:cNvGrpSpPr>
              <a:grpSpLocks/>
            </p:cNvGrpSpPr>
            <p:nvPr/>
          </p:nvGrpSpPr>
          <p:grpSpPr bwMode="auto">
            <a:xfrm>
              <a:off x="381" y="1162"/>
              <a:ext cx="1599" cy="1330"/>
              <a:chOff x="1236" y="1162"/>
              <a:chExt cx="1599" cy="1330"/>
            </a:xfrm>
          </p:grpSpPr>
          <p:sp>
            <p:nvSpPr>
              <p:cNvPr id="94" name="Rectangle 25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8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X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Rectangle 26"/>
              <p:cNvSpPr>
                <a:spLocks noChangeArrowheads="1"/>
              </p:cNvSpPr>
              <p:nvPr/>
            </p:nvSpPr>
            <p:spPr bwMode="auto">
              <a:xfrm rot="16200000">
                <a:off x="1276" y="1653"/>
                <a:ext cx="80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Y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Freeform 28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14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97" name="Group 62"/>
          <p:cNvGrpSpPr>
            <a:grpSpLocks/>
          </p:cNvGrpSpPr>
          <p:nvPr/>
        </p:nvGrpSpPr>
        <p:grpSpPr bwMode="auto">
          <a:xfrm>
            <a:off x="5863324" y="3699616"/>
            <a:ext cx="2171139" cy="1807018"/>
            <a:chOff x="3693" y="1162"/>
            <a:chExt cx="1598" cy="1330"/>
          </a:xfrm>
        </p:grpSpPr>
        <p:sp>
          <p:nvSpPr>
            <p:cNvPr id="98" name="Oval 48"/>
            <p:cNvSpPr>
              <a:spLocks noChangeArrowheads="1"/>
            </p:cNvSpPr>
            <p:nvPr/>
          </p:nvSpPr>
          <p:spPr bwMode="auto">
            <a:xfrm>
              <a:off x="4512" y="143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99" name="Oval 49"/>
            <p:cNvSpPr>
              <a:spLocks noChangeArrowheads="1"/>
            </p:cNvSpPr>
            <p:nvPr/>
          </p:nvSpPr>
          <p:spPr bwMode="auto">
            <a:xfrm>
              <a:off x="4604" y="193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0" name="Oval 50"/>
            <p:cNvSpPr>
              <a:spLocks noChangeArrowheads="1"/>
            </p:cNvSpPr>
            <p:nvPr/>
          </p:nvSpPr>
          <p:spPr bwMode="auto">
            <a:xfrm>
              <a:off x="4694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1" name="Oval 51"/>
            <p:cNvSpPr>
              <a:spLocks noChangeArrowheads="1"/>
            </p:cNvSpPr>
            <p:nvPr/>
          </p:nvSpPr>
          <p:spPr bwMode="auto">
            <a:xfrm>
              <a:off x="4876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5" name="Oval 52"/>
            <p:cNvSpPr>
              <a:spLocks noChangeArrowheads="1"/>
            </p:cNvSpPr>
            <p:nvPr/>
          </p:nvSpPr>
          <p:spPr bwMode="auto">
            <a:xfrm>
              <a:off x="4740" y="1480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6" name="Oval 53"/>
            <p:cNvSpPr>
              <a:spLocks noChangeArrowheads="1"/>
            </p:cNvSpPr>
            <p:nvPr/>
          </p:nvSpPr>
          <p:spPr bwMode="auto">
            <a:xfrm>
              <a:off x="4461" y="172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7" name="Oval 54"/>
            <p:cNvSpPr>
              <a:spLocks noChangeArrowheads="1"/>
            </p:cNvSpPr>
            <p:nvPr/>
          </p:nvSpPr>
          <p:spPr bwMode="auto">
            <a:xfrm>
              <a:off x="4286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8" name="Oval 55"/>
            <p:cNvSpPr>
              <a:spLocks noChangeArrowheads="1"/>
            </p:cNvSpPr>
            <p:nvPr/>
          </p:nvSpPr>
          <p:spPr bwMode="auto">
            <a:xfrm>
              <a:off x="4331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9" name="Oval 56"/>
            <p:cNvSpPr>
              <a:spLocks noChangeArrowheads="1"/>
            </p:cNvSpPr>
            <p:nvPr/>
          </p:nvSpPr>
          <p:spPr bwMode="auto">
            <a:xfrm>
              <a:off x="4876" y="175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10" name="Oval 57"/>
            <p:cNvSpPr>
              <a:spLocks noChangeArrowheads="1"/>
            </p:cNvSpPr>
            <p:nvPr/>
          </p:nvSpPr>
          <p:spPr bwMode="auto">
            <a:xfrm>
              <a:off x="4604" y="1661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grpSp>
          <p:nvGrpSpPr>
            <p:cNvPr id="111" name="Group 58"/>
            <p:cNvGrpSpPr>
              <a:grpSpLocks/>
            </p:cNvGrpSpPr>
            <p:nvPr/>
          </p:nvGrpSpPr>
          <p:grpSpPr bwMode="auto">
            <a:xfrm>
              <a:off x="3693" y="1162"/>
              <a:ext cx="1598" cy="1330"/>
              <a:chOff x="1237" y="1162"/>
              <a:chExt cx="1598" cy="1330"/>
            </a:xfrm>
          </p:grpSpPr>
          <p:sp>
            <p:nvSpPr>
              <p:cNvPr id="112" name="Rectangle 59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8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X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Rectangle 60"/>
              <p:cNvSpPr>
                <a:spLocks noChangeArrowheads="1"/>
              </p:cNvSpPr>
              <p:nvPr/>
            </p:nvSpPr>
            <p:spPr bwMode="auto">
              <a:xfrm rot="16200000">
                <a:off x="1277" y="1652"/>
                <a:ext cx="80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Y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Freeform 61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14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15" name="Line 93"/>
          <p:cNvSpPr>
            <a:spLocks noChangeShapeType="1"/>
          </p:cNvSpPr>
          <p:nvPr/>
        </p:nvSpPr>
        <p:spPr bwMode="auto">
          <a:xfrm flipV="1">
            <a:off x="1084594" y="3889498"/>
            <a:ext cx="1293444" cy="10475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none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sz="1400" dirty="0">
              <a:latin typeface="Tahoma" panose="020B0604030504040204" pitchFamily="34" charset="0"/>
            </a:endParaRPr>
          </a:p>
        </p:txBody>
      </p:sp>
      <p:grpSp>
        <p:nvGrpSpPr>
          <p:cNvPr id="116" name="Grupo 115"/>
          <p:cNvGrpSpPr/>
          <p:nvPr/>
        </p:nvGrpSpPr>
        <p:grpSpPr>
          <a:xfrm>
            <a:off x="3259824" y="3699616"/>
            <a:ext cx="2171139" cy="1807019"/>
            <a:chOff x="3259138" y="1412875"/>
            <a:chExt cx="2536826" cy="2111376"/>
          </a:xfrm>
        </p:grpSpPr>
        <p:grpSp>
          <p:nvGrpSpPr>
            <p:cNvPr id="117" name="Group 42"/>
            <p:cNvGrpSpPr>
              <a:grpSpLocks/>
            </p:cNvGrpSpPr>
            <p:nvPr/>
          </p:nvGrpSpPr>
          <p:grpSpPr bwMode="auto">
            <a:xfrm>
              <a:off x="3259138" y="1412875"/>
              <a:ext cx="2536826" cy="2111376"/>
              <a:chOff x="1237" y="1162"/>
              <a:chExt cx="1598" cy="1330"/>
            </a:xfrm>
          </p:grpSpPr>
          <p:sp>
            <p:nvSpPr>
              <p:cNvPr id="128" name="Rectangle 43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8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X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9" name="Rectangle 44"/>
              <p:cNvSpPr>
                <a:spLocks noChangeArrowheads="1"/>
              </p:cNvSpPr>
              <p:nvPr/>
            </p:nvSpPr>
            <p:spPr bwMode="auto">
              <a:xfrm rot="16200000">
                <a:off x="1277" y="1653"/>
                <a:ext cx="80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Y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0" name="Freeform 45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14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18" name="Oval 32"/>
            <p:cNvSpPr>
              <a:spLocks noChangeArrowheads="1"/>
            </p:cNvSpPr>
            <p:nvPr/>
          </p:nvSpPr>
          <p:spPr bwMode="auto">
            <a:xfrm flipH="1">
              <a:off x="4643438" y="19177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19" name="Oval 33"/>
            <p:cNvSpPr>
              <a:spLocks noChangeArrowheads="1"/>
            </p:cNvSpPr>
            <p:nvPr/>
          </p:nvSpPr>
          <p:spPr bwMode="auto">
            <a:xfrm flipH="1">
              <a:off x="4643438" y="2636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0" name="Oval 34"/>
            <p:cNvSpPr>
              <a:spLocks noChangeArrowheads="1"/>
            </p:cNvSpPr>
            <p:nvPr/>
          </p:nvSpPr>
          <p:spPr bwMode="auto">
            <a:xfrm flipH="1">
              <a:off x="4425950" y="24209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1" name="Oval 35"/>
            <p:cNvSpPr>
              <a:spLocks noChangeArrowheads="1"/>
            </p:cNvSpPr>
            <p:nvPr/>
          </p:nvSpPr>
          <p:spPr bwMode="auto">
            <a:xfrm flipH="1">
              <a:off x="3779838" y="1844675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2" name="Oval 36"/>
            <p:cNvSpPr>
              <a:spLocks noChangeArrowheads="1"/>
            </p:cNvSpPr>
            <p:nvPr/>
          </p:nvSpPr>
          <p:spPr bwMode="auto">
            <a:xfrm flipH="1">
              <a:off x="4213225" y="1701800"/>
              <a:ext cx="42863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3" name="Oval 37"/>
            <p:cNvSpPr>
              <a:spLocks noChangeArrowheads="1"/>
            </p:cNvSpPr>
            <p:nvPr/>
          </p:nvSpPr>
          <p:spPr bwMode="auto">
            <a:xfrm flipH="1">
              <a:off x="4724400" y="2382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4" name="Oval 38"/>
            <p:cNvSpPr>
              <a:spLocks noChangeArrowheads="1"/>
            </p:cNvSpPr>
            <p:nvPr/>
          </p:nvSpPr>
          <p:spPr bwMode="auto">
            <a:xfrm flipH="1">
              <a:off x="5180013" y="2763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5" name="Oval 39"/>
            <p:cNvSpPr>
              <a:spLocks noChangeArrowheads="1"/>
            </p:cNvSpPr>
            <p:nvPr/>
          </p:nvSpPr>
          <p:spPr bwMode="auto">
            <a:xfrm flipH="1">
              <a:off x="5075238" y="23495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6" name="Oval 40"/>
            <p:cNvSpPr>
              <a:spLocks noChangeArrowheads="1"/>
            </p:cNvSpPr>
            <p:nvPr/>
          </p:nvSpPr>
          <p:spPr bwMode="auto">
            <a:xfrm flipH="1">
              <a:off x="4140200" y="21336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7" name="Oval 41"/>
            <p:cNvSpPr>
              <a:spLocks noChangeArrowheads="1"/>
            </p:cNvSpPr>
            <p:nvPr/>
          </p:nvSpPr>
          <p:spPr bwMode="auto">
            <a:xfrm flipH="1">
              <a:off x="4427538" y="2060575"/>
              <a:ext cx="44450" cy="5556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</p:grpSp>
      <p:sp>
        <p:nvSpPr>
          <p:cNvPr id="131" name="Line 94"/>
          <p:cNvSpPr>
            <a:spLocks noChangeShapeType="1"/>
          </p:cNvSpPr>
          <p:nvPr/>
        </p:nvSpPr>
        <p:spPr bwMode="auto">
          <a:xfrm flipH="1" flipV="1">
            <a:off x="3855728" y="3956460"/>
            <a:ext cx="1171165" cy="110866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arrow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sz="14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205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53" grpId="0"/>
      <p:bldP spid="11355" grpId="0"/>
      <p:bldP spid="11356" grpId="0"/>
      <p:bldP spid="89" grpId="0" build="p"/>
      <p:bldP spid="15" grpId="0"/>
      <p:bldP spid="115" grpId="0" animBg="1"/>
      <p:bldP spid="1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grpSp>
        <p:nvGrpSpPr>
          <p:cNvPr id="8195" name="Group 30"/>
          <p:cNvGrpSpPr>
            <a:grpSpLocks/>
          </p:cNvGrpSpPr>
          <p:nvPr/>
        </p:nvGrpSpPr>
        <p:grpSpPr bwMode="auto">
          <a:xfrm>
            <a:off x="609600" y="1412875"/>
            <a:ext cx="2533650" cy="2103438"/>
            <a:chOff x="384" y="1162"/>
            <a:chExt cx="1596" cy="1325"/>
          </a:xfrm>
        </p:grpSpPr>
        <p:sp>
          <p:nvSpPr>
            <p:cNvPr id="8255" name="Oval 15"/>
            <p:cNvSpPr>
              <a:spLocks noChangeArrowheads="1"/>
            </p:cNvSpPr>
            <p:nvPr/>
          </p:nvSpPr>
          <p:spPr bwMode="auto">
            <a:xfrm>
              <a:off x="1202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6" name="Oval 16"/>
            <p:cNvSpPr>
              <a:spLocks noChangeArrowheads="1"/>
            </p:cNvSpPr>
            <p:nvPr/>
          </p:nvSpPr>
          <p:spPr bwMode="auto">
            <a:xfrm>
              <a:off x="903" y="191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7" name="Oval 17"/>
            <p:cNvSpPr>
              <a:spLocks noChangeArrowheads="1"/>
            </p:cNvSpPr>
            <p:nvPr/>
          </p:nvSpPr>
          <p:spPr bwMode="auto">
            <a:xfrm>
              <a:off x="1202" y="17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8" name="Oval 18"/>
            <p:cNvSpPr>
              <a:spLocks noChangeArrowheads="1"/>
            </p:cNvSpPr>
            <p:nvPr/>
          </p:nvSpPr>
          <p:spPr bwMode="auto">
            <a:xfrm>
              <a:off x="1579" y="125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9" name="Oval 19"/>
            <p:cNvSpPr>
              <a:spLocks noChangeArrowheads="1"/>
            </p:cNvSpPr>
            <p:nvPr/>
          </p:nvSpPr>
          <p:spPr bwMode="auto">
            <a:xfrm>
              <a:off x="1383" y="143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0" name="Oval 20"/>
            <p:cNvSpPr>
              <a:spLocks noChangeArrowheads="1"/>
            </p:cNvSpPr>
            <p:nvPr/>
          </p:nvSpPr>
          <p:spPr bwMode="auto">
            <a:xfrm>
              <a:off x="1014" y="177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1" name="Oval 21"/>
            <p:cNvSpPr>
              <a:spLocks noChangeArrowheads="1"/>
            </p:cNvSpPr>
            <p:nvPr/>
          </p:nvSpPr>
          <p:spPr bwMode="auto">
            <a:xfrm>
              <a:off x="727" y="20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2" name="Oval 22"/>
            <p:cNvSpPr>
              <a:spLocks noChangeArrowheads="1"/>
            </p:cNvSpPr>
            <p:nvPr/>
          </p:nvSpPr>
          <p:spPr bwMode="auto">
            <a:xfrm>
              <a:off x="793" y="188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3" name="Oval 23"/>
            <p:cNvSpPr>
              <a:spLocks noChangeArrowheads="1"/>
            </p:cNvSpPr>
            <p:nvPr/>
          </p:nvSpPr>
          <p:spPr bwMode="auto">
            <a:xfrm>
              <a:off x="1338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4" name="Oval 24"/>
            <p:cNvSpPr>
              <a:spLocks noChangeArrowheads="1"/>
            </p:cNvSpPr>
            <p:nvPr/>
          </p:nvSpPr>
          <p:spPr bwMode="auto">
            <a:xfrm>
              <a:off x="1403" y="1567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8265" name="Group 29"/>
            <p:cNvGrpSpPr>
              <a:grpSpLocks/>
            </p:cNvGrpSpPr>
            <p:nvPr/>
          </p:nvGrpSpPr>
          <p:grpSpPr bwMode="auto">
            <a:xfrm>
              <a:off x="384" y="1162"/>
              <a:ext cx="1596" cy="1325"/>
              <a:chOff x="1239" y="1162"/>
              <a:chExt cx="1596" cy="1325"/>
            </a:xfrm>
          </p:grpSpPr>
          <p:sp>
            <p:nvSpPr>
              <p:cNvPr id="8266" name="Rectangle 25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7" name="Rectangle 26"/>
              <p:cNvSpPr>
                <a:spLocks noChangeArrowheads="1"/>
              </p:cNvSpPr>
              <p:nvPr/>
            </p:nvSpPr>
            <p:spPr bwMode="auto">
              <a:xfrm rot="-5400000">
                <a:off x="1277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8" name="Freeform 28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8196" name="Group 46"/>
          <p:cNvGrpSpPr>
            <a:grpSpLocks/>
          </p:cNvGrpSpPr>
          <p:nvPr/>
        </p:nvGrpSpPr>
        <p:grpSpPr bwMode="auto">
          <a:xfrm>
            <a:off x="3263900" y="1412875"/>
            <a:ext cx="2532063" cy="2103438"/>
            <a:chOff x="2064" y="1162"/>
            <a:chExt cx="1595" cy="1325"/>
          </a:xfrm>
        </p:grpSpPr>
        <p:sp>
          <p:nvSpPr>
            <p:cNvPr id="8241" name="Oval 32"/>
            <p:cNvSpPr>
              <a:spLocks noChangeArrowheads="1"/>
            </p:cNvSpPr>
            <p:nvPr/>
          </p:nvSpPr>
          <p:spPr bwMode="auto">
            <a:xfrm>
              <a:off x="2744" y="148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2" name="Oval 33"/>
            <p:cNvSpPr>
              <a:spLocks noChangeArrowheads="1"/>
            </p:cNvSpPr>
            <p:nvPr/>
          </p:nvSpPr>
          <p:spPr bwMode="auto">
            <a:xfrm>
              <a:off x="2744" y="193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3" name="Oval 34"/>
            <p:cNvSpPr>
              <a:spLocks noChangeArrowheads="1"/>
            </p:cNvSpPr>
            <p:nvPr/>
          </p:nvSpPr>
          <p:spPr bwMode="auto">
            <a:xfrm>
              <a:off x="2881" y="17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4" name="Oval 35"/>
            <p:cNvSpPr>
              <a:spLocks noChangeArrowheads="1"/>
            </p:cNvSpPr>
            <p:nvPr/>
          </p:nvSpPr>
          <p:spPr bwMode="auto">
            <a:xfrm>
              <a:off x="3288" y="143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5" name="Oval 36"/>
            <p:cNvSpPr>
              <a:spLocks noChangeArrowheads="1"/>
            </p:cNvSpPr>
            <p:nvPr/>
          </p:nvSpPr>
          <p:spPr bwMode="auto">
            <a:xfrm>
              <a:off x="3016" y="134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6" name="Oval 37"/>
            <p:cNvSpPr>
              <a:spLocks noChangeArrowheads="1"/>
            </p:cNvSpPr>
            <p:nvPr/>
          </p:nvSpPr>
          <p:spPr bwMode="auto">
            <a:xfrm>
              <a:off x="2693" y="177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7" name="Oval 38"/>
            <p:cNvSpPr>
              <a:spLocks noChangeArrowheads="1"/>
            </p:cNvSpPr>
            <p:nvPr/>
          </p:nvSpPr>
          <p:spPr bwMode="auto">
            <a:xfrm>
              <a:off x="2406" y="20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8" name="Oval 39"/>
            <p:cNvSpPr>
              <a:spLocks noChangeArrowheads="1"/>
            </p:cNvSpPr>
            <p:nvPr/>
          </p:nvSpPr>
          <p:spPr bwMode="auto">
            <a:xfrm>
              <a:off x="2472" y="175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9" name="Oval 40"/>
            <p:cNvSpPr>
              <a:spLocks noChangeArrowheads="1"/>
            </p:cNvSpPr>
            <p:nvPr/>
          </p:nvSpPr>
          <p:spPr bwMode="auto">
            <a:xfrm>
              <a:off x="3061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0" name="Oval 41"/>
            <p:cNvSpPr>
              <a:spLocks noChangeArrowheads="1"/>
            </p:cNvSpPr>
            <p:nvPr/>
          </p:nvSpPr>
          <p:spPr bwMode="auto">
            <a:xfrm>
              <a:off x="2880" y="1570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8251" name="Group 42"/>
            <p:cNvGrpSpPr>
              <a:grpSpLocks/>
            </p:cNvGrpSpPr>
            <p:nvPr/>
          </p:nvGrpSpPr>
          <p:grpSpPr bwMode="auto">
            <a:xfrm>
              <a:off x="2064" y="1162"/>
              <a:ext cx="1595" cy="1325"/>
              <a:chOff x="1240" y="1162"/>
              <a:chExt cx="1595" cy="1325"/>
            </a:xfrm>
          </p:grpSpPr>
          <p:sp>
            <p:nvSpPr>
              <p:cNvPr id="8252" name="Rectangle 43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3" name="Rectangle 44"/>
              <p:cNvSpPr>
                <a:spLocks noChangeArrowheads="1"/>
              </p:cNvSpPr>
              <p:nvPr/>
            </p:nvSpPr>
            <p:spPr bwMode="auto">
              <a:xfrm rot="-5400000">
                <a:off x="1278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4" name="Freeform 45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8197" name="Group 62"/>
          <p:cNvGrpSpPr>
            <a:grpSpLocks/>
          </p:cNvGrpSpPr>
          <p:nvPr/>
        </p:nvGrpSpPr>
        <p:grpSpPr bwMode="auto">
          <a:xfrm>
            <a:off x="5867400" y="1412875"/>
            <a:ext cx="2532063" cy="2103438"/>
            <a:chOff x="3696" y="1162"/>
            <a:chExt cx="1595" cy="1325"/>
          </a:xfrm>
        </p:grpSpPr>
        <p:sp>
          <p:nvSpPr>
            <p:cNvPr id="8227" name="Oval 48"/>
            <p:cNvSpPr>
              <a:spLocks noChangeArrowheads="1"/>
            </p:cNvSpPr>
            <p:nvPr/>
          </p:nvSpPr>
          <p:spPr bwMode="auto">
            <a:xfrm>
              <a:off x="4512" y="143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8" name="Oval 49"/>
            <p:cNvSpPr>
              <a:spLocks noChangeArrowheads="1"/>
            </p:cNvSpPr>
            <p:nvPr/>
          </p:nvSpPr>
          <p:spPr bwMode="auto">
            <a:xfrm>
              <a:off x="4604" y="193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9" name="Oval 50"/>
            <p:cNvSpPr>
              <a:spLocks noChangeArrowheads="1"/>
            </p:cNvSpPr>
            <p:nvPr/>
          </p:nvSpPr>
          <p:spPr bwMode="auto">
            <a:xfrm>
              <a:off x="4694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0" name="Oval 51"/>
            <p:cNvSpPr>
              <a:spLocks noChangeArrowheads="1"/>
            </p:cNvSpPr>
            <p:nvPr/>
          </p:nvSpPr>
          <p:spPr bwMode="auto">
            <a:xfrm>
              <a:off x="4876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1" name="Oval 52"/>
            <p:cNvSpPr>
              <a:spLocks noChangeArrowheads="1"/>
            </p:cNvSpPr>
            <p:nvPr/>
          </p:nvSpPr>
          <p:spPr bwMode="auto">
            <a:xfrm>
              <a:off x="4740" y="1480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2" name="Oval 53"/>
            <p:cNvSpPr>
              <a:spLocks noChangeArrowheads="1"/>
            </p:cNvSpPr>
            <p:nvPr/>
          </p:nvSpPr>
          <p:spPr bwMode="auto">
            <a:xfrm>
              <a:off x="4461" y="172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3" name="Oval 54"/>
            <p:cNvSpPr>
              <a:spLocks noChangeArrowheads="1"/>
            </p:cNvSpPr>
            <p:nvPr/>
          </p:nvSpPr>
          <p:spPr bwMode="auto">
            <a:xfrm>
              <a:off x="4286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4" name="Oval 55"/>
            <p:cNvSpPr>
              <a:spLocks noChangeArrowheads="1"/>
            </p:cNvSpPr>
            <p:nvPr/>
          </p:nvSpPr>
          <p:spPr bwMode="auto">
            <a:xfrm>
              <a:off x="4331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5" name="Oval 56"/>
            <p:cNvSpPr>
              <a:spLocks noChangeArrowheads="1"/>
            </p:cNvSpPr>
            <p:nvPr/>
          </p:nvSpPr>
          <p:spPr bwMode="auto">
            <a:xfrm>
              <a:off x="4876" y="175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6" name="Oval 57"/>
            <p:cNvSpPr>
              <a:spLocks noChangeArrowheads="1"/>
            </p:cNvSpPr>
            <p:nvPr/>
          </p:nvSpPr>
          <p:spPr bwMode="auto">
            <a:xfrm>
              <a:off x="4604" y="1661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8237" name="Group 58"/>
            <p:cNvGrpSpPr>
              <a:grpSpLocks/>
            </p:cNvGrpSpPr>
            <p:nvPr/>
          </p:nvGrpSpPr>
          <p:grpSpPr bwMode="auto">
            <a:xfrm>
              <a:off x="3696" y="1162"/>
              <a:ext cx="1595" cy="1325"/>
              <a:chOff x="1240" y="1162"/>
              <a:chExt cx="1595" cy="1325"/>
            </a:xfrm>
          </p:grpSpPr>
          <p:sp>
            <p:nvSpPr>
              <p:cNvPr id="8238" name="Rectangle 59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9" name="Rectangle 60"/>
              <p:cNvSpPr>
                <a:spLocks noChangeArrowheads="1"/>
              </p:cNvSpPr>
              <p:nvPr/>
            </p:nvSpPr>
            <p:spPr bwMode="auto">
              <a:xfrm rot="-5400000">
                <a:off x="1278" y="1654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0" name="Freeform 61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8" name="Group 79"/>
          <p:cNvGrpSpPr>
            <a:grpSpLocks/>
          </p:cNvGrpSpPr>
          <p:nvPr/>
        </p:nvGrpSpPr>
        <p:grpSpPr bwMode="auto">
          <a:xfrm>
            <a:off x="609600" y="4221163"/>
            <a:ext cx="2533650" cy="2103437"/>
            <a:chOff x="384" y="2659"/>
            <a:chExt cx="1596" cy="1325"/>
          </a:xfrm>
        </p:grpSpPr>
        <p:sp>
          <p:nvSpPr>
            <p:cNvPr id="8213" name="Oval 64"/>
            <p:cNvSpPr>
              <a:spLocks noChangeArrowheads="1"/>
            </p:cNvSpPr>
            <p:nvPr/>
          </p:nvSpPr>
          <p:spPr bwMode="auto">
            <a:xfrm flipH="1">
              <a:off x="1216" y="31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4" name="Oval 65"/>
            <p:cNvSpPr>
              <a:spLocks noChangeArrowheads="1"/>
            </p:cNvSpPr>
            <p:nvPr/>
          </p:nvSpPr>
          <p:spPr bwMode="auto">
            <a:xfrm flipH="1">
              <a:off x="1515" y="349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5" name="Oval 66"/>
            <p:cNvSpPr>
              <a:spLocks noChangeArrowheads="1"/>
            </p:cNvSpPr>
            <p:nvPr/>
          </p:nvSpPr>
          <p:spPr bwMode="auto">
            <a:xfrm flipH="1">
              <a:off x="1216" y="337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6" name="Oval 67"/>
            <p:cNvSpPr>
              <a:spLocks noChangeArrowheads="1"/>
            </p:cNvSpPr>
            <p:nvPr/>
          </p:nvSpPr>
          <p:spPr bwMode="auto">
            <a:xfrm flipH="1">
              <a:off x="839" y="284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7" name="Oval 68"/>
            <p:cNvSpPr>
              <a:spLocks noChangeArrowheads="1"/>
            </p:cNvSpPr>
            <p:nvPr/>
          </p:nvSpPr>
          <p:spPr bwMode="auto">
            <a:xfrm flipH="1">
              <a:off x="1036" y="3015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8" name="Oval 69"/>
            <p:cNvSpPr>
              <a:spLocks noChangeArrowheads="1"/>
            </p:cNvSpPr>
            <p:nvPr/>
          </p:nvSpPr>
          <p:spPr bwMode="auto">
            <a:xfrm flipH="1">
              <a:off x="1404" y="335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9" name="Oval 70"/>
            <p:cNvSpPr>
              <a:spLocks noChangeArrowheads="1"/>
            </p:cNvSpPr>
            <p:nvPr/>
          </p:nvSpPr>
          <p:spPr bwMode="auto">
            <a:xfrm flipH="1">
              <a:off x="1691" y="359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0" name="Oval 71"/>
            <p:cNvSpPr>
              <a:spLocks noChangeArrowheads="1"/>
            </p:cNvSpPr>
            <p:nvPr/>
          </p:nvSpPr>
          <p:spPr bwMode="auto">
            <a:xfrm flipH="1">
              <a:off x="1625" y="346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1" name="Oval 72"/>
            <p:cNvSpPr>
              <a:spLocks noChangeArrowheads="1"/>
            </p:cNvSpPr>
            <p:nvPr/>
          </p:nvSpPr>
          <p:spPr bwMode="auto">
            <a:xfrm flipH="1">
              <a:off x="1080" y="31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2" name="Oval 73"/>
            <p:cNvSpPr>
              <a:spLocks noChangeArrowheads="1"/>
            </p:cNvSpPr>
            <p:nvPr/>
          </p:nvSpPr>
          <p:spPr bwMode="auto">
            <a:xfrm flipH="1">
              <a:off x="1015" y="3148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8223" name="Group 74"/>
            <p:cNvGrpSpPr>
              <a:grpSpLocks/>
            </p:cNvGrpSpPr>
            <p:nvPr/>
          </p:nvGrpSpPr>
          <p:grpSpPr bwMode="auto">
            <a:xfrm>
              <a:off x="384" y="2659"/>
              <a:ext cx="1596" cy="1325"/>
              <a:chOff x="1239" y="1162"/>
              <a:chExt cx="1596" cy="1325"/>
            </a:xfrm>
          </p:grpSpPr>
          <p:sp>
            <p:nvSpPr>
              <p:cNvPr id="8224" name="Rectangle 75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25" name="Rectangle 76"/>
              <p:cNvSpPr>
                <a:spLocks noChangeArrowheads="1"/>
              </p:cNvSpPr>
              <p:nvPr/>
            </p:nvSpPr>
            <p:spPr bwMode="auto">
              <a:xfrm rot="-5400000">
                <a:off x="1277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26" name="Freeform 77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1346" name="Rectangle 82"/>
          <p:cNvSpPr>
            <a:spLocks noChangeArrowheads="1"/>
          </p:cNvSpPr>
          <p:nvPr/>
        </p:nvSpPr>
        <p:spPr bwMode="auto">
          <a:xfrm>
            <a:off x="3563938" y="3579813"/>
            <a:ext cx="503054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Coeficiente de Correlação </a:t>
            </a:r>
            <a:r>
              <a:rPr lang="pt-BR" altLang="pt-BR" sz="1600" dirty="0">
                <a:latin typeface="Tahoma" panose="020B0604030504040204" pitchFamily="34" charset="0"/>
              </a:rPr>
              <a:t>(de Pearson)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mede o grau de relação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linear</a:t>
            </a:r>
            <a:r>
              <a:rPr lang="pt-BR" altLang="pt-BR" sz="1600" dirty="0">
                <a:latin typeface="Tahoma" panose="020B0604030504040204" pitchFamily="34" charset="0"/>
              </a:rPr>
              <a:t> entre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Y</a:t>
            </a:r>
          </a:p>
        </p:txBody>
      </p:sp>
      <p:graphicFrame>
        <p:nvGraphicFramePr>
          <p:cNvPr id="11347" name="Object 83"/>
          <p:cNvGraphicFramePr>
            <a:graphicFrameLocks noChangeAspect="1"/>
          </p:cNvGraphicFramePr>
          <p:nvPr/>
        </p:nvGraphicFramePr>
        <p:xfrm>
          <a:off x="3255963" y="4475163"/>
          <a:ext cx="1584325" cy="546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20800" imgH="457200" progId="Equation.DSMT4">
                  <p:embed/>
                </p:oleObj>
              </mc:Choice>
              <mc:Fallback>
                <p:oleObj name="Equation" r:id="rId2" imgW="1320800" imgH="457200" progId="Equation.DSMT4">
                  <p:embed/>
                  <p:pic>
                    <p:nvPicPr>
                      <p:cNvPr id="11347" name="Object 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55963" y="4475163"/>
                        <a:ext cx="1584325" cy="546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50" name="Object 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99891226"/>
              </p:ext>
            </p:extLst>
          </p:nvPr>
        </p:nvGraphicFramePr>
        <p:xfrm>
          <a:off x="3225800" y="5157788"/>
          <a:ext cx="2257425" cy="1065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79560" imgH="888840" progId="Equation.DSMT4">
                  <p:embed/>
                </p:oleObj>
              </mc:Choice>
              <mc:Fallback>
                <p:oleObj name="Equation" r:id="rId4" imgW="1879560" imgH="888840" progId="Equation.DSMT4">
                  <p:embed/>
                  <p:pic>
                    <p:nvPicPr>
                      <p:cNvPr id="11350" name="Object 8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25800" y="5157788"/>
                        <a:ext cx="2257425" cy="1065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51" name="Object 87"/>
          <p:cNvGraphicFramePr>
            <a:graphicFrameLocks noChangeAspect="1"/>
          </p:cNvGraphicFramePr>
          <p:nvPr/>
        </p:nvGraphicFramePr>
        <p:xfrm>
          <a:off x="5722938" y="4624388"/>
          <a:ext cx="752475" cy="198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22030" imgH="165028" progId="Equation.DSMT4">
                  <p:embed/>
                </p:oleObj>
              </mc:Choice>
              <mc:Fallback>
                <p:oleObj name="Equation" r:id="rId6" imgW="622030" imgH="165028" progId="Equation.DSMT4">
                  <p:embed/>
                  <p:pic>
                    <p:nvPicPr>
                      <p:cNvPr id="11351" name="Object 8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22938" y="4624388"/>
                        <a:ext cx="752475" cy="198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52" name="Object 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96567363"/>
              </p:ext>
            </p:extLst>
          </p:nvPr>
        </p:nvGraphicFramePr>
        <p:xfrm>
          <a:off x="5626100" y="5151438"/>
          <a:ext cx="3284538" cy="1201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730240" imgH="1002960" progId="Equation.DSMT4">
                  <p:embed/>
                </p:oleObj>
              </mc:Choice>
              <mc:Fallback>
                <p:oleObj name="Equation" r:id="rId8" imgW="2730240" imgH="1002960" progId="Equation.DSMT4">
                  <p:embed/>
                  <p:pic>
                    <p:nvPicPr>
                      <p:cNvPr id="11352" name="Object 8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26100" y="5151438"/>
                        <a:ext cx="3284538" cy="1201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53" name="Text Box 89"/>
          <p:cNvSpPr txBox="1">
            <a:spLocks noChangeArrowheads="1"/>
          </p:cNvSpPr>
          <p:nvPr/>
        </p:nvSpPr>
        <p:spPr bwMode="auto">
          <a:xfrm>
            <a:off x="1979613" y="2636838"/>
            <a:ext cx="80168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= 0,9</a:t>
            </a:r>
          </a:p>
        </p:txBody>
      </p:sp>
      <p:sp>
        <p:nvSpPr>
          <p:cNvPr id="11354" name="Text Box 90"/>
          <p:cNvSpPr txBox="1">
            <a:spLocks noChangeArrowheads="1"/>
          </p:cNvSpPr>
          <p:nvPr/>
        </p:nvSpPr>
        <p:spPr bwMode="auto">
          <a:xfrm>
            <a:off x="4643438" y="2636838"/>
            <a:ext cx="80168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= 0,3</a:t>
            </a:r>
          </a:p>
        </p:txBody>
      </p:sp>
      <p:sp>
        <p:nvSpPr>
          <p:cNvPr id="11355" name="Text Box 91"/>
          <p:cNvSpPr txBox="1">
            <a:spLocks noChangeArrowheads="1"/>
          </p:cNvSpPr>
          <p:nvPr/>
        </p:nvSpPr>
        <p:spPr bwMode="auto">
          <a:xfrm>
            <a:off x="7451725" y="2708275"/>
            <a:ext cx="6302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= 0</a:t>
            </a:r>
          </a:p>
        </p:txBody>
      </p:sp>
      <p:sp>
        <p:nvSpPr>
          <p:cNvPr id="11356" name="Text Box 92"/>
          <p:cNvSpPr txBox="1">
            <a:spLocks noChangeArrowheads="1"/>
          </p:cNvSpPr>
          <p:nvPr/>
        </p:nvSpPr>
        <p:spPr bwMode="auto">
          <a:xfrm>
            <a:off x="1042988" y="5516563"/>
            <a:ext cx="9350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= - 0,9</a:t>
            </a:r>
          </a:p>
        </p:txBody>
      </p:sp>
      <p:sp>
        <p:nvSpPr>
          <p:cNvPr id="11357" name="Line 93"/>
          <p:cNvSpPr>
            <a:spLocks noChangeShapeType="1"/>
          </p:cNvSpPr>
          <p:nvPr/>
        </p:nvSpPr>
        <p:spPr bwMode="auto">
          <a:xfrm flipV="1">
            <a:off x="1125538" y="1657350"/>
            <a:ext cx="1511300" cy="12239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1358" name="Line 94"/>
          <p:cNvSpPr>
            <a:spLocks noChangeShapeType="1"/>
          </p:cNvSpPr>
          <p:nvPr/>
        </p:nvSpPr>
        <p:spPr bwMode="auto">
          <a:xfrm flipV="1">
            <a:off x="3779838" y="1628775"/>
            <a:ext cx="1368425" cy="1295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1359" name="Line 95"/>
          <p:cNvSpPr>
            <a:spLocks noChangeShapeType="1"/>
          </p:cNvSpPr>
          <p:nvPr/>
        </p:nvSpPr>
        <p:spPr bwMode="auto">
          <a:xfrm>
            <a:off x="1284288" y="4633913"/>
            <a:ext cx="1511300" cy="12239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75" name="Elipse 74"/>
          <p:cNvSpPr>
            <a:spLocks noChangeArrowheads="1"/>
          </p:cNvSpPr>
          <p:nvPr/>
        </p:nvSpPr>
        <p:spPr bwMode="auto">
          <a:xfrm>
            <a:off x="3643313" y="4406900"/>
            <a:ext cx="1071562" cy="357188"/>
          </a:xfrm>
          <a:prstGeom prst="ellipse">
            <a:avLst/>
          </a:prstGeom>
          <a:noFill/>
          <a:ln w="19050" algn="ctr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130187-937B-4537-AC3E-E8A87C43E105}" type="slidenum">
              <a:rPr lang="pt-BR"/>
              <a:pPr>
                <a:defRPr/>
              </a:pPr>
              <a:t>9</a:t>
            </a:fld>
            <a:endParaRPr lang="pt-BR"/>
          </a:p>
        </p:txBody>
      </p:sp>
      <p:sp>
        <p:nvSpPr>
          <p:cNvPr id="77" name="Rectangle 82"/>
          <p:cNvSpPr>
            <a:spLocks noChangeArrowheads="1"/>
          </p:cNvSpPr>
          <p:nvPr/>
        </p:nvSpPr>
        <p:spPr bwMode="auto">
          <a:xfrm>
            <a:off x="6516216" y="4553832"/>
            <a:ext cx="153118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(adimensional)</a:t>
            </a:r>
            <a:endParaRPr lang="pt-BR" altLang="pt-BR" sz="1600" i="1" dirty="0">
              <a:latin typeface="Times New Roman" charset="0"/>
              <a:cs typeface="Times New Roman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46" grpId="0" build="p"/>
      <p:bldP spid="11353" grpId="0"/>
      <p:bldP spid="11354" grpId="0"/>
      <p:bldP spid="11355" grpId="0"/>
      <p:bldP spid="11356" grpId="0"/>
      <p:bldP spid="11357" grpId="0" animBg="1"/>
      <p:bldP spid="11358" grpId="0" animBg="1"/>
      <p:bldP spid="11359" grpId="0" animBg="1"/>
      <p:bldP spid="75" grpId="0" animBg="1"/>
      <p:bldP spid="77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8554F5B-1625-4E3A-B6E3-A97282658F01}" type="slidenum">
              <a:rPr lang="pt-BR"/>
              <a:pPr>
                <a:defRPr/>
              </a:pPr>
              <a:t>10</a:t>
            </a:fld>
            <a:endParaRPr lang="pt-BR"/>
          </a:p>
        </p:txBody>
      </p:sp>
      <p:sp>
        <p:nvSpPr>
          <p:cNvPr id="14" name="Retângulo 2"/>
          <p:cNvSpPr>
            <a:spLocks noChangeArrowheads="1"/>
          </p:cNvSpPr>
          <p:nvPr/>
        </p:nvSpPr>
        <p:spPr bwMode="auto">
          <a:xfrm>
            <a:off x="179512" y="6624687"/>
            <a:ext cx="70987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700" dirty="0">
                <a:latin typeface="Tahoma" panose="020B0604030504040204" pitchFamily="34" charset="0"/>
              </a:rPr>
              <a:t>*Fonte: Souza e Guimarães et al. (2005)  - </a:t>
            </a:r>
            <a:r>
              <a:rPr lang="pt-BR" sz="700" dirty="0">
                <a:latin typeface="Tahoma" panose="020B0604030504040204" pitchFamily="34" charset="0"/>
              </a:rPr>
              <a:t>http://marte.sid.inpe.br/col/ltid.inpe.br/sbsr/2004/11.20.17.44/doc/2665.pdf</a:t>
            </a:r>
            <a:endParaRPr lang="pt-BR" sz="8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700" dirty="0">
              <a:latin typeface="Tahoma" panose="020B0604030504040204" pitchFamily="34" charset="0"/>
            </a:endParaRPr>
          </a:p>
        </p:txBody>
      </p:sp>
      <p:sp>
        <p:nvSpPr>
          <p:cNvPr id="23" name="Retângulo 22"/>
          <p:cNvSpPr/>
          <p:nvPr/>
        </p:nvSpPr>
        <p:spPr bwMode="auto">
          <a:xfrm>
            <a:off x="313899" y="1700805"/>
            <a:ext cx="5347902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5" name="Retângulo 44"/>
          <p:cNvSpPr/>
          <p:nvPr/>
        </p:nvSpPr>
        <p:spPr bwMode="auto">
          <a:xfrm rot="5400000">
            <a:off x="3795447" y="3313578"/>
            <a:ext cx="3585579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6" name="Retângulo 45"/>
          <p:cNvSpPr/>
          <p:nvPr/>
        </p:nvSpPr>
        <p:spPr bwMode="auto">
          <a:xfrm rot="5400000">
            <a:off x="-1392314" y="3389351"/>
            <a:ext cx="3585579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pic>
        <p:nvPicPr>
          <p:cNvPr id="12493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4" t="2395" r="1328" b="1718"/>
          <a:stretch/>
        </p:blipFill>
        <p:spPr bwMode="auto">
          <a:xfrm>
            <a:off x="313899" y="1600200"/>
            <a:ext cx="6476139" cy="46214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upo 3"/>
          <p:cNvGrpSpPr/>
          <p:nvPr/>
        </p:nvGrpSpPr>
        <p:grpSpPr>
          <a:xfrm>
            <a:off x="313899" y="2060845"/>
            <a:ext cx="5824394" cy="4160782"/>
            <a:chOff x="313899" y="2060845"/>
            <a:chExt cx="5824394" cy="4160782"/>
          </a:xfrm>
        </p:grpSpPr>
        <p:sp>
          <p:nvSpPr>
            <p:cNvPr id="2" name="Retângulo 1"/>
            <p:cNvSpPr/>
            <p:nvPr/>
          </p:nvSpPr>
          <p:spPr bwMode="auto">
            <a:xfrm>
              <a:off x="313899" y="2060845"/>
              <a:ext cx="657701" cy="4160782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3" name="Retângulo 52"/>
            <p:cNvSpPr/>
            <p:nvPr/>
          </p:nvSpPr>
          <p:spPr bwMode="auto">
            <a:xfrm>
              <a:off x="959736" y="2510205"/>
              <a:ext cx="657701" cy="3711422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3" name="Retângulo 62"/>
            <p:cNvSpPr/>
            <p:nvPr/>
          </p:nvSpPr>
          <p:spPr bwMode="auto">
            <a:xfrm>
              <a:off x="1605573" y="2997843"/>
              <a:ext cx="657701" cy="3223783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4" name="Retângulo 63"/>
            <p:cNvSpPr/>
            <p:nvPr/>
          </p:nvSpPr>
          <p:spPr bwMode="auto">
            <a:xfrm>
              <a:off x="2251410" y="3437681"/>
              <a:ext cx="657701" cy="2783945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5" name="Retângulo 64"/>
            <p:cNvSpPr/>
            <p:nvPr/>
          </p:nvSpPr>
          <p:spPr bwMode="auto">
            <a:xfrm>
              <a:off x="2897247" y="3912243"/>
              <a:ext cx="657701" cy="2309383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6" name="Retângulo 65"/>
            <p:cNvSpPr/>
            <p:nvPr/>
          </p:nvSpPr>
          <p:spPr bwMode="auto">
            <a:xfrm>
              <a:off x="3543084" y="4363657"/>
              <a:ext cx="657701" cy="185797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7" name="Retângulo 66"/>
            <p:cNvSpPr/>
            <p:nvPr/>
          </p:nvSpPr>
          <p:spPr bwMode="auto">
            <a:xfrm>
              <a:off x="4188921" y="4815067"/>
              <a:ext cx="657701" cy="1406559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8" name="Retângulo 67"/>
            <p:cNvSpPr/>
            <p:nvPr/>
          </p:nvSpPr>
          <p:spPr bwMode="auto">
            <a:xfrm>
              <a:off x="4834758" y="5289630"/>
              <a:ext cx="657701" cy="931996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9" name="Retângulo 68"/>
            <p:cNvSpPr/>
            <p:nvPr/>
          </p:nvSpPr>
          <p:spPr bwMode="auto">
            <a:xfrm>
              <a:off x="5480592" y="5764192"/>
              <a:ext cx="657701" cy="457434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0" name="Grupo 69"/>
          <p:cNvGrpSpPr/>
          <p:nvPr/>
        </p:nvGrpSpPr>
        <p:grpSpPr>
          <a:xfrm>
            <a:off x="3553987" y="3887765"/>
            <a:ext cx="1942545" cy="1399312"/>
            <a:chOff x="3153527" y="4361336"/>
            <a:chExt cx="2503549" cy="1501118"/>
          </a:xfrm>
        </p:grpSpPr>
        <p:sp>
          <p:nvSpPr>
            <p:cNvPr id="71" name="Retângulo 70"/>
            <p:cNvSpPr/>
            <p:nvPr/>
          </p:nvSpPr>
          <p:spPr bwMode="auto">
            <a:xfrm>
              <a:off x="4829074" y="4363753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2" name="Retângulo 71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3" name="Retângulo 72"/>
            <p:cNvSpPr/>
            <p:nvPr/>
          </p:nvSpPr>
          <p:spPr bwMode="auto">
            <a:xfrm>
              <a:off x="4829075" y="5358455"/>
              <a:ext cx="828001" cy="503999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4" name="Grupo 73"/>
          <p:cNvGrpSpPr/>
          <p:nvPr/>
        </p:nvGrpSpPr>
        <p:grpSpPr>
          <a:xfrm>
            <a:off x="977590" y="2038370"/>
            <a:ext cx="5815083" cy="4187367"/>
            <a:chOff x="3153527" y="4361336"/>
            <a:chExt cx="7494477" cy="4492020"/>
          </a:xfrm>
        </p:grpSpPr>
        <p:sp>
          <p:nvSpPr>
            <p:cNvPr id="75" name="Retângulo 74"/>
            <p:cNvSpPr/>
            <p:nvPr/>
          </p:nvSpPr>
          <p:spPr bwMode="auto">
            <a:xfrm>
              <a:off x="9819999" y="4363753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6" name="Retângulo 75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7" name="Retângulo 76"/>
            <p:cNvSpPr/>
            <p:nvPr/>
          </p:nvSpPr>
          <p:spPr bwMode="auto">
            <a:xfrm>
              <a:off x="9820002" y="8349356"/>
              <a:ext cx="828002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8" name="Grupo 77"/>
          <p:cNvGrpSpPr/>
          <p:nvPr/>
        </p:nvGrpSpPr>
        <p:grpSpPr>
          <a:xfrm>
            <a:off x="1623844" y="2491676"/>
            <a:ext cx="4526722" cy="3256200"/>
            <a:chOff x="3153527" y="4361336"/>
            <a:chExt cx="5834036" cy="3493106"/>
          </a:xfrm>
        </p:grpSpPr>
        <p:sp>
          <p:nvSpPr>
            <p:cNvPr id="79" name="Retângulo 78"/>
            <p:cNvSpPr/>
            <p:nvPr/>
          </p:nvSpPr>
          <p:spPr bwMode="auto">
            <a:xfrm>
              <a:off x="8159558" y="4363753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0" name="Retângulo 79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1" name="Retângulo 80"/>
            <p:cNvSpPr/>
            <p:nvPr/>
          </p:nvSpPr>
          <p:spPr bwMode="auto">
            <a:xfrm>
              <a:off x="8159561" y="7350442"/>
              <a:ext cx="828002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82" name="CaixaDeTexto 81"/>
          <p:cNvSpPr txBox="1"/>
          <p:nvPr/>
        </p:nvSpPr>
        <p:spPr>
          <a:xfrm>
            <a:off x="323528" y="3540151"/>
            <a:ext cx="24676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2563" indent="-182563"/>
            <a:r>
              <a:rPr lang="pt-BR" sz="1400" dirty="0">
                <a:latin typeface="Tahoma" panose="020B0604030504040204" pitchFamily="34" charset="0"/>
              </a:rPr>
              <a:t>Relação entre EVI, NDVI e frações do modelo de mistura (vegetação, solo e sombra) em 2 datas</a:t>
            </a:r>
          </a:p>
        </p:txBody>
      </p:sp>
      <p:sp>
        <p:nvSpPr>
          <p:cNvPr id="83" name="CaixaDeTexto 82"/>
          <p:cNvSpPr txBox="1"/>
          <p:nvPr/>
        </p:nvSpPr>
        <p:spPr>
          <a:xfrm>
            <a:off x="323528" y="4829653"/>
            <a:ext cx="38653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2563" indent="-182563"/>
            <a:r>
              <a:rPr lang="pt-BR" sz="1400" dirty="0">
                <a:latin typeface="Tahoma" panose="020B0604030504040204" pitchFamily="34" charset="0"/>
              </a:rPr>
              <a:t>É fundamental analisar o </a:t>
            </a:r>
            <a:r>
              <a:rPr 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gráfico de dispersão </a:t>
            </a:r>
            <a:r>
              <a:rPr lang="pt-BR" sz="1400" dirty="0">
                <a:latin typeface="Tahoma" panose="020B0604030504040204" pitchFamily="34" charset="0"/>
              </a:rPr>
              <a:t>para verificar se a relação é linear e os pontos estão bem distribuídos!</a:t>
            </a:r>
          </a:p>
        </p:txBody>
      </p:sp>
      <p:grpSp>
        <p:nvGrpSpPr>
          <p:cNvPr id="84" name="Grupo 83"/>
          <p:cNvGrpSpPr/>
          <p:nvPr/>
        </p:nvGrpSpPr>
        <p:grpSpPr>
          <a:xfrm>
            <a:off x="4202056" y="4357094"/>
            <a:ext cx="1942545" cy="1399312"/>
            <a:chOff x="3153527" y="4361336"/>
            <a:chExt cx="2503549" cy="1501118"/>
          </a:xfrm>
        </p:grpSpPr>
        <p:sp>
          <p:nvSpPr>
            <p:cNvPr id="85" name="Retângulo 84"/>
            <p:cNvSpPr/>
            <p:nvPr/>
          </p:nvSpPr>
          <p:spPr bwMode="auto">
            <a:xfrm>
              <a:off x="4829074" y="4363753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6" name="Retângulo 85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7" name="Retângulo 86"/>
            <p:cNvSpPr/>
            <p:nvPr/>
          </p:nvSpPr>
          <p:spPr bwMode="auto">
            <a:xfrm>
              <a:off x="4829075" y="5358455"/>
              <a:ext cx="828001" cy="503999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8554F5B-1625-4E3A-B6E3-A97282658F01}" type="slidenum">
              <a:rPr lang="pt-BR"/>
              <a:pPr>
                <a:defRPr/>
              </a:pPr>
              <a:t>11</a:t>
            </a:fld>
            <a:endParaRPr lang="pt-BR"/>
          </a:p>
        </p:txBody>
      </p:sp>
      <p:sp>
        <p:nvSpPr>
          <p:cNvPr id="14" name="Retângulo 2"/>
          <p:cNvSpPr>
            <a:spLocks noChangeArrowheads="1"/>
          </p:cNvSpPr>
          <p:nvPr/>
        </p:nvSpPr>
        <p:spPr bwMode="auto">
          <a:xfrm>
            <a:off x="179512" y="6624687"/>
            <a:ext cx="70987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700" dirty="0">
                <a:latin typeface="Tahoma" panose="020B0604030504040204" pitchFamily="34" charset="0"/>
              </a:rPr>
              <a:t>*Fonte: Souza e Guimarães et al. (2005)  - </a:t>
            </a:r>
            <a:r>
              <a:rPr lang="pt-BR" sz="700" dirty="0">
                <a:latin typeface="Tahoma" panose="020B0604030504040204" pitchFamily="34" charset="0"/>
              </a:rPr>
              <a:t>http://marte.sid.inpe.br/col/ltid.inpe.br/sbsr/2004/11.20.17.44/doc/2665.pdf</a:t>
            </a:r>
            <a:endParaRPr lang="pt-BR" sz="8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700" dirty="0">
              <a:latin typeface="Tahoma" panose="020B0604030504040204" pitchFamily="34" charset="0"/>
            </a:endParaRPr>
          </a:p>
        </p:txBody>
      </p:sp>
      <p:sp>
        <p:nvSpPr>
          <p:cNvPr id="23" name="Retângulo 22"/>
          <p:cNvSpPr/>
          <p:nvPr/>
        </p:nvSpPr>
        <p:spPr bwMode="auto">
          <a:xfrm>
            <a:off x="313899" y="1700805"/>
            <a:ext cx="5347902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5" name="Retângulo 44"/>
          <p:cNvSpPr/>
          <p:nvPr/>
        </p:nvSpPr>
        <p:spPr bwMode="auto">
          <a:xfrm rot="5400000">
            <a:off x="3795447" y="3313578"/>
            <a:ext cx="3585579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6" name="Retângulo 45"/>
          <p:cNvSpPr/>
          <p:nvPr/>
        </p:nvSpPr>
        <p:spPr bwMode="auto">
          <a:xfrm rot="5400000">
            <a:off x="-1392314" y="3389351"/>
            <a:ext cx="3585579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pic>
        <p:nvPicPr>
          <p:cNvPr id="12493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4" t="2395" r="1328" b="1718"/>
          <a:stretch/>
        </p:blipFill>
        <p:spPr bwMode="auto">
          <a:xfrm>
            <a:off x="313899" y="1600200"/>
            <a:ext cx="6476139" cy="46214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0" name="Grupo 69"/>
          <p:cNvGrpSpPr/>
          <p:nvPr/>
        </p:nvGrpSpPr>
        <p:grpSpPr>
          <a:xfrm>
            <a:off x="3553987" y="3887765"/>
            <a:ext cx="1942545" cy="1399312"/>
            <a:chOff x="3153527" y="4361336"/>
            <a:chExt cx="2503549" cy="1501118"/>
          </a:xfrm>
        </p:grpSpPr>
        <p:sp>
          <p:nvSpPr>
            <p:cNvPr id="71" name="Retângulo 70"/>
            <p:cNvSpPr/>
            <p:nvPr/>
          </p:nvSpPr>
          <p:spPr bwMode="auto">
            <a:xfrm>
              <a:off x="4829074" y="4363753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2" name="Retângulo 71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3" name="Retângulo 72"/>
            <p:cNvSpPr/>
            <p:nvPr/>
          </p:nvSpPr>
          <p:spPr bwMode="auto">
            <a:xfrm>
              <a:off x="4829075" y="5358455"/>
              <a:ext cx="828001" cy="503999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8" name="Retângulo 37"/>
            <p:cNvSpPr/>
            <p:nvPr/>
          </p:nvSpPr>
          <p:spPr bwMode="auto">
            <a:xfrm>
              <a:off x="3174940" y="5357028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4" name="Grupo 73"/>
          <p:cNvGrpSpPr/>
          <p:nvPr/>
        </p:nvGrpSpPr>
        <p:grpSpPr>
          <a:xfrm>
            <a:off x="977590" y="2038370"/>
            <a:ext cx="5815083" cy="4188342"/>
            <a:chOff x="3153527" y="4361336"/>
            <a:chExt cx="7494477" cy="4493066"/>
          </a:xfrm>
        </p:grpSpPr>
        <p:sp>
          <p:nvSpPr>
            <p:cNvPr id="75" name="Retângulo 74"/>
            <p:cNvSpPr/>
            <p:nvPr/>
          </p:nvSpPr>
          <p:spPr bwMode="auto">
            <a:xfrm>
              <a:off x="9819999" y="4363753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6" name="Retângulo 75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7" name="Retângulo 76"/>
            <p:cNvSpPr/>
            <p:nvPr/>
          </p:nvSpPr>
          <p:spPr bwMode="auto">
            <a:xfrm>
              <a:off x="9820002" y="8349356"/>
              <a:ext cx="828002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4" name="Retângulo 53"/>
            <p:cNvSpPr/>
            <p:nvPr/>
          </p:nvSpPr>
          <p:spPr bwMode="auto">
            <a:xfrm>
              <a:off x="3153686" y="8350402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8" name="Grupo 77"/>
          <p:cNvGrpSpPr/>
          <p:nvPr/>
        </p:nvGrpSpPr>
        <p:grpSpPr>
          <a:xfrm>
            <a:off x="1620048" y="2491675"/>
            <a:ext cx="4530518" cy="3263890"/>
            <a:chOff x="3148635" y="4361336"/>
            <a:chExt cx="5838928" cy="3501356"/>
          </a:xfrm>
        </p:grpSpPr>
        <p:sp>
          <p:nvSpPr>
            <p:cNvPr id="79" name="Retângulo 78"/>
            <p:cNvSpPr/>
            <p:nvPr/>
          </p:nvSpPr>
          <p:spPr bwMode="auto">
            <a:xfrm>
              <a:off x="8159558" y="4363753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0" name="Retângulo 79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1" name="Retângulo 80"/>
            <p:cNvSpPr/>
            <p:nvPr/>
          </p:nvSpPr>
          <p:spPr bwMode="auto">
            <a:xfrm>
              <a:off x="8159561" y="7350442"/>
              <a:ext cx="828002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2" name="Retângulo 51"/>
            <p:cNvSpPr/>
            <p:nvPr/>
          </p:nvSpPr>
          <p:spPr bwMode="auto">
            <a:xfrm>
              <a:off x="3148635" y="7358692"/>
              <a:ext cx="827999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84" name="Grupo 83"/>
          <p:cNvGrpSpPr/>
          <p:nvPr/>
        </p:nvGrpSpPr>
        <p:grpSpPr>
          <a:xfrm>
            <a:off x="4202056" y="4357093"/>
            <a:ext cx="1942545" cy="1399801"/>
            <a:chOff x="3153527" y="4361336"/>
            <a:chExt cx="2503549" cy="1501643"/>
          </a:xfrm>
        </p:grpSpPr>
        <p:sp>
          <p:nvSpPr>
            <p:cNvPr id="85" name="Retângulo 84"/>
            <p:cNvSpPr/>
            <p:nvPr/>
          </p:nvSpPr>
          <p:spPr bwMode="auto">
            <a:xfrm>
              <a:off x="4829074" y="4363753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6" name="Retângulo 85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7" name="Retângulo 86"/>
            <p:cNvSpPr/>
            <p:nvPr/>
          </p:nvSpPr>
          <p:spPr bwMode="auto">
            <a:xfrm>
              <a:off x="4829075" y="5358455"/>
              <a:ext cx="828001" cy="503999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1" name="Retângulo 50"/>
            <p:cNvSpPr/>
            <p:nvPr/>
          </p:nvSpPr>
          <p:spPr bwMode="auto">
            <a:xfrm>
              <a:off x="3167710" y="5358979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0873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Rectangle 119"/>
          <p:cNvSpPr>
            <a:spLocks noChangeArrowheads="1"/>
          </p:cNvSpPr>
          <p:nvPr/>
        </p:nvSpPr>
        <p:spPr bwMode="auto">
          <a:xfrm>
            <a:off x="5852790" y="6219690"/>
            <a:ext cx="439738" cy="2444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t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>
                <a:latin typeface="Times New Roman" charset="0"/>
                <a:sym typeface="Symbol" pitchFamily="18" charset="2"/>
              </a:rPr>
              <a:t></a:t>
            </a:r>
            <a:r>
              <a:rPr lang="pt-BR" altLang="pt-BR" sz="1600" b="1" i="1">
                <a:latin typeface="Times New Roman" charset="0"/>
              </a:rPr>
              <a:t>X</a:t>
            </a:r>
          </a:p>
        </p:txBody>
      </p:sp>
      <p:sp>
        <p:nvSpPr>
          <p:cNvPr id="125" name="Rectangle 120"/>
          <p:cNvSpPr>
            <a:spLocks noChangeArrowheads="1"/>
          </p:cNvSpPr>
          <p:nvPr/>
        </p:nvSpPr>
        <p:spPr bwMode="auto">
          <a:xfrm rot="16200000">
            <a:off x="4839965" y="5340215"/>
            <a:ext cx="428625" cy="2444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t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dirty="0">
                <a:latin typeface="Times New Roman" charset="0"/>
                <a:sym typeface="Symbol" pitchFamily="18" charset="2"/>
              </a:rPr>
              <a:t></a:t>
            </a:r>
            <a:r>
              <a:rPr lang="pt-BR" altLang="pt-BR" sz="1600" b="1" i="1" dirty="0">
                <a:latin typeface="Times New Roman" charset="0"/>
              </a:rPr>
              <a:t>Y</a:t>
            </a:r>
          </a:p>
        </p:txBody>
      </p:sp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sp>
        <p:nvSpPr>
          <p:cNvPr id="4100" name="Text Box 66"/>
          <p:cNvSpPr txBox="1">
            <a:spLocks noChangeArrowheads="1"/>
          </p:cNvSpPr>
          <p:nvPr/>
        </p:nvSpPr>
        <p:spPr bwMode="auto">
          <a:xfrm>
            <a:off x="468313" y="1340768"/>
            <a:ext cx="7924800" cy="9541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 eaLnBrk="0" hangingPunct="0">
              <a:spcBef>
                <a:spcPct val="50000"/>
              </a:spcBef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Interpretações errôneas do coeficiente de correlação</a:t>
            </a:r>
          </a:p>
          <a:p>
            <a:pPr marL="177800" indent="-17780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Um alto coeficiente de correlação (em módulo) nem sempre indica que a equação de regressão estimada está bem ajustada aos dados. </a:t>
            </a:r>
          </a:p>
        </p:txBody>
      </p:sp>
      <p:grpSp>
        <p:nvGrpSpPr>
          <p:cNvPr id="2" name="Group 115"/>
          <p:cNvGrpSpPr>
            <a:grpSpLocks noChangeAspect="1"/>
          </p:cNvGrpSpPr>
          <p:nvPr/>
        </p:nvGrpSpPr>
        <p:grpSpPr bwMode="auto">
          <a:xfrm>
            <a:off x="1544240" y="2422500"/>
            <a:ext cx="2093913" cy="1779588"/>
            <a:chOff x="339" y="1797"/>
            <a:chExt cx="1597" cy="1357"/>
          </a:xfrm>
        </p:grpSpPr>
        <p:sp>
          <p:nvSpPr>
            <p:cNvPr id="9283" name="Oval 70"/>
            <p:cNvSpPr>
              <a:spLocks noChangeAspect="1" noChangeArrowheads="1"/>
            </p:cNvSpPr>
            <p:nvPr/>
          </p:nvSpPr>
          <p:spPr bwMode="auto">
            <a:xfrm>
              <a:off x="930" y="238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84" name="Oval 71"/>
            <p:cNvSpPr>
              <a:spLocks noChangeAspect="1" noChangeArrowheads="1"/>
            </p:cNvSpPr>
            <p:nvPr/>
          </p:nvSpPr>
          <p:spPr bwMode="auto">
            <a:xfrm>
              <a:off x="1535" y="189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85" name="Oval 74"/>
            <p:cNvSpPr>
              <a:spLocks noChangeAspect="1" noChangeArrowheads="1"/>
            </p:cNvSpPr>
            <p:nvPr/>
          </p:nvSpPr>
          <p:spPr bwMode="auto">
            <a:xfrm>
              <a:off x="683" y="264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86" name="Oval 77"/>
            <p:cNvSpPr>
              <a:spLocks noChangeAspect="1" noChangeArrowheads="1"/>
            </p:cNvSpPr>
            <p:nvPr/>
          </p:nvSpPr>
          <p:spPr bwMode="auto">
            <a:xfrm>
              <a:off x="1359" y="2202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287" name="Group 78"/>
            <p:cNvGrpSpPr>
              <a:grpSpLocks noChangeAspect="1"/>
            </p:cNvGrpSpPr>
            <p:nvPr/>
          </p:nvGrpSpPr>
          <p:grpSpPr bwMode="auto">
            <a:xfrm>
              <a:off x="339" y="1797"/>
              <a:ext cx="1597" cy="1357"/>
              <a:chOff x="1238" y="1162"/>
              <a:chExt cx="1597" cy="1357"/>
            </a:xfrm>
          </p:grpSpPr>
          <p:sp>
            <p:nvSpPr>
              <p:cNvPr id="9288" name="Rectangle 79"/>
              <p:cNvSpPr>
                <a:spLocks noChangeAspect="1" noChangeArrowheads="1"/>
              </p:cNvSpPr>
              <p:nvPr/>
            </p:nvSpPr>
            <p:spPr bwMode="auto">
              <a:xfrm>
                <a:off x="2064" y="2333"/>
                <a:ext cx="103" cy="1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9" name="Rectangle 80"/>
              <p:cNvSpPr>
                <a:spLocks noChangeAspect="1" noChangeArrowheads="1"/>
              </p:cNvSpPr>
              <p:nvPr/>
            </p:nvSpPr>
            <p:spPr bwMode="auto">
              <a:xfrm rot="-5400000">
                <a:off x="1283" y="1630"/>
                <a:ext cx="95" cy="1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0" name="Freeform 81"/>
              <p:cNvSpPr>
                <a:spLocks noChangeAspect="1"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4" name="Group 114"/>
          <p:cNvGrpSpPr>
            <a:grpSpLocks noChangeAspect="1"/>
          </p:cNvGrpSpPr>
          <p:nvPr/>
        </p:nvGrpSpPr>
        <p:grpSpPr bwMode="auto">
          <a:xfrm>
            <a:off x="3554474" y="2368525"/>
            <a:ext cx="2169653" cy="1833563"/>
            <a:chOff x="1872" y="1797"/>
            <a:chExt cx="1598" cy="1351"/>
          </a:xfrm>
        </p:grpSpPr>
        <p:sp>
          <p:nvSpPr>
            <p:cNvPr id="9269" name="Oval 83"/>
            <p:cNvSpPr>
              <a:spLocks noChangeAspect="1" noChangeArrowheads="1"/>
            </p:cNvSpPr>
            <p:nvPr/>
          </p:nvSpPr>
          <p:spPr bwMode="auto">
            <a:xfrm>
              <a:off x="2925" y="197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0" name="Oval 84"/>
            <p:cNvSpPr>
              <a:spLocks noChangeAspect="1" noChangeArrowheads="1"/>
            </p:cNvSpPr>
            <p:nvPr/>
          </p:nvSpPr>
          <p:spPr bwMode="auto">
            <a:xfrm>
              <a:off x="2393" y="254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1" name="Oval 85"/>
            <p:cNvSpPr>
              <a:spLocks noChangeAspect="1" noChangeArrowheads="1"/>
            </p:cNvSpPr>
            <p:nvPr/>
          </p:nvSpPr>
          <p:spPr bwMode="auto">
            <a:xfrm>
              <a:off x="2290" y="265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2" name="Oval 86"/>
            <p:cNvSpPr>
              <a:spLocks noChangeAspect="1" noChangeArrowheads="1"/>
            </p:cNvSpPr>
            <p:nvPr/>
          </p:nvSpPr>
          <p:spPr bwMode="auto">
            <a:xfrm>
              <a:off x="3069" y="189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3" name="Oval 87"/>
            <p:cNvSpPr>
              <a:spLocks noChangeAspect="1" noChangeArrowheads="1"/>
            </p:cNvSpPr>
            <p:nvPr/>
          </p:nvSpPr>
          <p:spPr bwMode="auto">
            <a:xfrm>
              <a:off x="2971" y="1888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4" name="Oval 88"/>
            <p:cNvSpPr>
              <a:spLocks noChangeAspect="1" noChangeArrowheads="1"/>
            </p:cNvSpPr>
            <p:nvPr/>
          </p:nvSpPr>
          <p:spPr bwMode="auto">
            <a:xfrm>
              <a:off x="2336" y="261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5" name="Oval 89"/>
            <p:cNvSpPr>
              <a:spLocks noChangeAspect="1" noChangeArrowheads="1"/>
            </p:cNvSpPr>
            <p:nvPr/>
          </p:nvSpPr>
          <p:spPr bwMode="auto">
            <a:xfrm>
              <a:off x="2217" y="264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6" name="Oval 90"/>
            <p:cNvSpPr>
              <a:spLocks noChangeAspect="1" noChangeArrowheads="1"/>
            </p:cNvSpPr>
            <p:nvPr/>
          </p:nvSpPr>
          <p:spPr bwMode="auto">
            <a:xfrm>
              <a:off x="2283" y="252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7" name="Oval 91"/>
            <p:cNvSpPr>
              <a:spLocks noChangeAspect="1" noChangeArrowheads="1"/>
            </p:cNvSpPr>
            <p:nvPr/>
          </p:nvSpPr>
          <p:spPr bwMode="auto">
            <a:xfrm>
              <a:off x="2971" y="202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8" name="Oval 92"/>
            <p:cNvSpPr>
              <a:spLocks noChangeAspect="1" noChangeArrowheads="1"/>
            </p:cNvSpPr>
            <p:nvPr/>
          </p:nvSpPr>
          <p:spPr bwMode="auto">
            <a:xfrm>
              <a:off x="3016" y="1979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279" name="Group 93"/>
            <p:cNvGrpSpPr>
              <a:grpSpLocks noChangeAspect="1"/>
            </p:cNvGrpSpPr>
            <p:nvPr/>
          </p:nvGrpSpPr>
          <p:grpSpPr bwMode="auto">
            <a:xfrm>
              <a:off x="1872" y="1797"/>
              <a:ext cx="1598" cy="1351"/>
              <a:chOff x="1237" y="1162"/>
              <a:chExt cx="1598" cy="1351"/>
            </a:xfrm>
          </p:grpSpPr>
          <p:sp>
            <p:nvSpPr>
              <p:cNvPr id="9280" name="Rectangle 94"/>
              <p:cNvSpPr>
                <a:spLocks noChangeAspect="1" noChangeArrowheads="1"/>
              </p:cNvSpPr>
              <p:nvPr/>
            </p:nvSpPr>
            <p:spPr bwMode="auto">
              <a:xfrm>
                <a:off x="2064" y="2333"/>
                <a:ext cx="100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1" name="Rectangle 95"/>
              <p:cNvSpPr>
                <a:spLocks noChangeAspect="1" noChangeArrowheads="1"/>
              </p:cNvSpPr>
              <p:nvPr/>
            </p:nvSpPr>
            <p:spPr bwMode="auto">
              <a:xfrm rot="16200000">
                <a:off x="1282" y="1634"/>
                <a:ext cx="92" cy="1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2" name="Freeform 96"/>
              <p:cNvSpPr>
                <a:spLocks noChangeAspect="1"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2404" name="Oval 116"/>
          <p:cNvSpPr>
            <a:spLocks noChangeArrowheads="1"/>
          </p:cNvSpPr>
          <p:nvPr/>
        </p:nvSpPr>
        <p:spPr bwMode="auto">
          <a:xfrm>
            <a:off x="4011215" y="3324200"/>
            <a:ext cx="296863" cy="295275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405" name="Oval 117"/>
          <p:cNvSpPr>
            <a:spLocks noChangeArrowheads="1"/>
          </p:cNvSpPr>
          <p:nvPr/>
        </p:nvSpPr>
        <p:spPr bwMode="auto">
          <a:xfrm>
            <a:off x="4952603" y="2457425"/>
            <a:ext cx="296862" cy="295275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8" name="Group 139"/>
          <p:cNvGrpSpPr>
            <a:grpSpLocks/>
          </p:cNvGrpSpPr>
          <p:nvPr/>
        </p:nvGrpSpPr>
        <p:grpSpPr bwMode="auto">
          <a:xfrm>
            <a:off x="2410172" y="4625107"/>
            <a:ext cx="2170113" cy="1833563"/>
            <a:chOff x="2785" y="1821"/>
            <a:chExt cx="1367" cy="1155"/>
          </a:xfrm>
        </p:grpSpPr>
        <p:sp>
          <p:nvSpPr>
            <p:cNvPr id="9241" name="Oval 123"/>
            <p:cNvSpPr>
              <a:spLocks noChangeAspect="1" noChangeArrowheads="1"/>
            </p:cNvSpPr>
            <p:nvPr/>
          </p:nvSpPr>
          <p:spPr bwMode="auto">
            <a:xfrm>
              <a:off x="3297" y="2296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2" name="Oval 124"/>
            <p:cNvSpPr>
              <a:spLocks noChangeAspect="1" noChangeArrowheads="1"/>
            </p:cNvSpPr>
            <p:nvPr/>
          </p:nvSpPr>
          <p:spPr bwMode="auto">
            <a:xfrm>
              <a:off x="3143" y="2523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3" name="Oval 125"/>
            <p:cNvSpPr>
              <a:spLocks noChangeAspect="1" noChangeArrowheads="1"/>
            </p:cNvSpPr>
            <p:nvPr/>
          </p:nvSpPr>
          <p:spPr bwMode="auto">
            <a:xfrm>
              <a:off x="3238" y="2387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4" name="Oval 126"/>
            <p:cNvSpPr>
              <a:spLocks noChangeAspect="1" noChangeArrowheads="1"/>
            </p:cNvSpPr>
            <p:nvPr/>
          </p:nvSpPr>
          <p:spPr bwMode="auto">
            <a:xfrm>
              <a:off x="3787" y="2205"/>
              <a:ext cx="23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5" name="Oval 127"/>
            <p:cNvSpPr>
              <a:spLocks noChangeAspect="1" noChangeArrowheads="1"/>
            </p:cNvSpPr>
            <p:nvPr/>
          </p:nvSpPr>
          <p:spPr bwMode="auto">
            <a:xfrm>
              <a:off x="3651" y="2205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6" name="Oval 128"/>
            <p:cNvSpPr>
              <a:spLocks noChangeAspect="1" noChangeArrowheads="1"/>
            </p:cNvSpPr>
            <p:nvPr/>
          </p:nvSpPr>
          <p:spPr bwMode="auto">
            <a:xfrm>
              <a:off x="3197" y="2478"/>
              <a:ext cx="23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7" name="Oval 129"/>
            <p:cNvSpPr>
              <a:spLocks noChangeAspect="1" noChangeArrowheads="1"/>
            </p:cNvSpPr>
            <p:nvPr/>
          </p:nvSpPr>
          <p:spPr bwMode="auto">
            <a:xfrm>
              <a:off x="2987" y="2721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8" name="Oval 130"/>
            <p:cNvSpPr>
              <a:spLocks noChangeAspect="1" noChangeArrowheads="1"/>
            </p:cNvSpPr>
            <p:nvPr/>
          </p:nvSpPr>
          <p:spPr bwMode="auto">
            <a:xfrm>
              <a:off x="3065" y="2630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9" name="Oval 131"/>
            <p:cNvSpPr>
              <a:spLocks noChangeAspect="1" noChangeArrowheads="1"/>
            </p:cNvSpPr>
            <p:nvPr/>
          </p:nvSpPr>
          <p:spPr bwMode="auto">
            <a:xfrm>
              <a:off x="3414" y="2222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50" name="Oval 132"/>
            <p:cNvSpPr>
              <a:spLocks noChangeAspect="1" noChangeArrowheads="1"/>
            </p:cNvSpPr>
            <p:nvPr/>
          </p:nvSpPr>
          <p:spPr bwMode="auto">
            <a:xfrm>
              <a:off x="3515" y="2251"/>
              <a:ext cx="24" cy="30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251" name="Group 133"/>
            <p:cNvGrpSpPr>
              <a:grpSpLocks noChangeAspect="1"/>
            </p:cNvGrpSpPr>
            <p:nvPr/>
          </p:nvGrpSpPr>
          <p:grpSpPr bwMode="auto">
            <a:xfrm>
              <a:off x="2785" y="1821"/>
              <a:ext cx="1367" cy="1155"/>
              <a:chOff x="1237" y="1162"/>
              <a:chExt cx="1598" cy="1351"/>
            </a:xfrm>
          </p:grpSpPr>
          <p:sp>
            <p:nvSpPr>
              <p:cNvPr id="9252" name="Rectangle 134"/>
              <p:cNvSpPr>
                <a:spLocks noChangeAspect="1" noChangeArrowheads="1"/>
              </p:cNvSpPr>
              <p:nvPr/>
            </p:nvSpPr>
            <p:spPr bwMode="auto">
              <a:xfrm>
                <a:off x="2064" y="2333"/>
                <a:ext cx="100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3" name="Rectangle 135"/>
              <p:cNvSpPr>
                <a:spLocks noChangeAspect="1" noChangeArrowheads="1"/>
              </p:cNvSpPr>
              <p:nvPr/>
            </p:nvSpPr>
            <p:spPr bwMode="auto">
              <a:xfrm rot="16200000">
                <a:off x="1282" y="1634"/>
                <a:ext cx="92" cy="1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4" name="Freeform 136"/>
              <p:cNvSpPr>
                <a:spLocks noChangeAspect="1"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2428" name="Line 140"/>
          <p:cNvSpPr>
            <a:spLocks noChangeShapeType="1"/>
          </p:cNvSpPr>
          <p:nvPr/>
        </p:nvSpPr>
        <p:spPr bwMode="auto">
          <a:xfrm flipV="1">
            <a:off x="1976040" y="2595538"/>
            <a:ext cx="1208088" cy="10318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0" name="Group 143"/>
          <p:cNvGrpSpPr>
            <a:grpSpLocks/>
          </p:cNvGrpSpPr>
          <p:nvPr/>
        </p:nvGrpSpPr>
        <p:grpSpPr bwMode="auto">
          <a:xfrm>
            <a:off x="1976040" y="2330425"/>
            <a:ext cx="1223963" cy="1368425"/>
            <a:chOff x="476" y="1797"/>
            <a:chExt cx="771" cy="862"/>
          </a:xfrm>
        </p:grpSpPr>
        <p:sp>
          <p:nvSpPr>
            <p:cNvPr id="9239" name="Freeform 141"/>
            <p:cNvSpPr>
              <a:spLocks/>
            </p:cNvSpPr>
            <p:nvPr/>
          </p:nvSpPr>
          <p:spPr bwMode="auto">
            <a:xfrm>
              <a:off x="476" y="1827"/>
              <a:ext cx="771" cy="832"/>
            </a:xfrm>
            <a:custGeom>
              <a:avLst/>
              <a:gdLst>
                <a:gd name="T0" fmla="*/ 0 w 771"/>
                <a:gd name="T1" fmla="*/ 832 h 832"/>
                <a:gd name="T2" fmla="*/ 91 w 771"/>
                <a:gd name="T3" fmla="*/ 424 h 832"/>
                <a:gd name="T4" fmla="*/ 408 w 771"/>
                <a:gd name="T5" fmla="*/ 741 h 832"/>
                <a:gd name="T6" fmla="*/ 680 w 771"/>
                <a:gd name="T7" fmla="*/ 15 h 832"/>
                <a:gd name="T8" fmla="*/ 771 w 771"/>
                <a:gd name="T9" fmla="*/ 651 h 83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71"/>
                <a:gd name="T16" fmla="*/ 0 h 832"/>
                <a:gd name="T17" fmla="*/ 771 w 771"/>
                <a:gd name="T18" fmla="*/ 832 h 83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71" h="832">
                  <a:moveTo>
                    <a:pt x="0" y="832"/>
                  </a:moveTo>
                  <a:cubicBezTo>
                    <a:pt x="11" y="635"/>
                    <a:pt x="23" y="439"/>
                    <a:pt x="91" y="424"/>
                  </a:cubicBezTo>
                  <a:cubicBezTo>
                    <a:pt x="159" y="409"/>
                    <a:pt x="310" y="809"/>
                    <a:pt x="408" y="741"/>
                  </a:cubicBezTo>
                  <a:cubicBezTo>
                    <a:pt x="506" y="673"/>
                    <a:pt x="620" y="30"/>
                    <a:pt x="680" y="15"/>
                  </a:cubicBezTo>
                  <a:cubicBezTo>
                    <a:pt x="740" y="0"/>
                    <a:pt x="755" y="325"/>
                    <a:pt x="771" y="651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9240" name="Text Box 142"/>
            <p:cNvSpPr txBox="1">
              <a:spLocks noChangeArrowheads="1"/>
            </p:cNvSpPr>
            <p:nvPr/>
          </p:nvSpPr>
          <p:spPr bwMode="auto">
            <a:xfrm>
              <a:off x="793" y="1797"/>
              <a:ext cx="17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2432" name="Line 144"/>
          <p:cNvSpPr>
            <a:spLocks noChangeShapeType="1"/>
          </p:cNvSpPr>
          <p:nvPr/>
        </p:nvSpPr>
        <p:spPr bwMode="auto">
          <a:xfrm flipV="1">
            <a:off x="3920728" y="2401863"/>
            <a:ext cx="1439862" cy="12969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1" name="Group 147"/>
          <p:cNvGrpSpPr>
            <a:grpSpLocks/>
          </p:cNvGrpSpPr>
          <p:nvPr/>
        </p:nvGrpSpPr>
        <p:grpSpPr bwMode="auto">
          <a:xfrm>
            <a:off x="4423965" y="3122588"/>
            <a:ext cx="863600" cy="338137"/>
            <a:chOff x="2018" y="2296"/>
            <a:chExt cx="544" cy="213"/>
          </a:xfrm>
        </p:grpSpPr>
        <p:sp>
          <p:nvSpPr>
            <p:cNvPr id="9237" name="AutoShape 145"/>
            <p:cNvSpPr>
              <a:spLocks/>
            </p:cNvSpPr>
            <p:nvPr/>
          </p:nvSpPr>
          <p:spPr bwMode="auto">
            <a:xfrm rot="2731348">
              <a:off x="2267" y="2092"/>
              <a:ext cx="46" cy="544"/>
            </a:xfrm>
            <a:prstGeom prst="rightBrace">
              <a:avLst>
                <a:gd name="adj1" fmla="val 98551"/>
                <a:gd name="adj2" fmla="val 51102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8" name="Text Box 146"/>
            <p:cNvSpPr txBox="1">
              <a:spLocks noChangeArrowheads="1"/>
            </p:cNvSpPr>
            <p:nvPr/>
          </p:nvSpPr>
          <p:spPr bwMode="auto">
            <a:xfrm>
              <a:off x="2290" y="2296"/>
              <a:ext cx="17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2436" name="Line 148"/>
          <p:cNvSpPr>
            <a:spLocks noChangeShapeType="1"/>
          </p:cNvSpPr>
          <p:nvPr/>
        </p:nvSpPr>
        <p:spPr bwMode="auto">
          <a:xfrm flipV="1">
            <a:off x="2705448" y="5091832"/>
            <a:ext cx="1223962" cy="1008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438" name="Freeform 150"/>
          <p:cNvSpPr>
            <a:spLocks/>
          </p:cNvSpPr>
          <p:nvPr/>
        </p:nvSpPr>
        <p:spPr bwMode="auto">
          <a:xfrm>
            <a:off x="2772123" y="5234707"/>
            <a:ext cx="1228725" cy="869950"/>
          </a:xfrm>
          <a:custGeom>
            <a:avLst/>
            <a:gdLst>
              <a:gd name="T0" fmla="*/ 0 w 774"/>
              <a:gd name="T1" fmla="*/ 2147483647 h 548"/>
              <a:gd name="T2" fmla="*/ 2147483647 w 774"/>
              <a:gd name="T3" fmla="*/ 2147483647 h 548"/>
              <a:gd name="T4" fmla="*/ 2147483647 w 774"/>
              <a:gd name="T5" fmla="*/ 0 h 548"/>
              <a:gd name="T6" fmla="*/ 0 60000 65536"/>
              <a:gd name="T7" fmla="*/ 0 60000 65536"/>
              <a:gd name="T8" fmla="*/ 0 60000 65536"/>
              <a:gd name="T9" fmla="*/ 0 w 774"/>
              <a:gd name="T10" fmla="*/ 0 h 548"/>
              <a:gd name="T11" fmla="*/ 774 w 774"/>
              <a:gd name="T12" fmla="*/ 548 h 54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774" h="548">
                <a:moveTo>
                  <a:pt x="0" y="548"/>
                </a:moveTo>
                <a:cubicBezTo>
                  <a:pt x="52" y="479"/>
                  <a:pt x="175" y="227"/>
                  <a:pt x="304" y="136"/>
                </a:cubicBezTo>
                <a:cubicBezTo>
                  <a:pt x="433" y="45"/>
                  <a:pt x="599" y="22"/>
                  <a:pt x="774" y="0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8554F5B-1625-4E3A-B6E3-A97282658F01}" type="slidenum">
              <a:rPr lang="pt-BR"/>
              <a:pPr>
                <a:defRPr/>
              </a:pPr>
              <a:t>12</a:t>
            </a:fld>
            <a:endParaRPr lang="pt-BR" dirty="0"/>
          </a:p>
        </p:txBody>
      </p:sp>
      <p:grpSp>
        <p:nvGrpSpPr>
          <p:cNvPr id="76" name="Group 143"/>
          <p:cNvGrpSpPr>
            <a:grpSpLocks/>
          </p:cNvGrpSpPr>
          <p:nvPr/>
        </p:nvGrpSpPr>
        <p:grpSpPr bwMode="auto">
          <a:xfrm>
            <a:off x="4159646" y="2601887"/>
            <a:ext cx="958850" cy="892175"/>
            <a:chOff x="476" y="1968"/>
            <a:chExt cx="604" cy="562"/>
          </a:xfrm>
        </p:grpSpPr>
        <p:sp>
          <p:nvSpPr>
            <p:cNvPr id="77" name="Freeform 141"/>
            <p:cNvSpPr>
              <a:spLocks/>
            </p:cNvSpPr>
            <p:nvPr/>
          </p:nvSpPr>
          <p:spPr bwMode="auto">
            <a:xfrm>
              <a:off x="476" y="1968"/>
              <a:ext cx="604" cy="562"/>
            </a:xfrm>
            <a:custGeom>
              <a:avLst/>
              <a:gdLst>
                <a:gd name="T0" fmla="*/ 0 w 771"/>
                <a:gd name="T1" fmla="*/ 832 h 832"/>
                <a:gd name="T2" fmla="*/ 91 w 771"/>
                <a:gd name="T3" fmla="*/ 424 h 832"/>
                <a:gd name="T4" fmla="*/ 408 w 771"/>
                <a:gd name="T5" fmla="*/ 741 h 832"/>
                <a:gd name="T6" fmla="*/ 680 w 771"/>
                <a:gd name="T7" fmla="*/ 15 h 832"/>
                <a:gd name="T8" fmla="*/ 771 w 771"/>
                <a:gd name="T9" fmla="*/ 651 h 83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71"/>
                <a:gd name="T16" fmla="*/ 0 h 832"/>
                <a:gd name="T17" fmla="*/ 771 w 771"/>
                <a:gd name="T18" fmla="*/ 832 h 832"/>
                <a:gd name="connsiteX0" fmla="*/ 0 w 8820"/>
                <a:gd name="connsiteY0" fmla="*/ 9820 h 9820"/>
                <a:gd name="connsiteX1" fmla="*/ 1180 w 8820"/>
                <a:gd name="connsiteY1" fmla="*/ 4916 h 9820"/>
                <a:gd name="connsiteX2" fmla="*/ 5292 w 8820"/>
                <a:gd name="connsiteY2" fmla="*/ 8726 h 9820"/>
                <a:gd name="connsiteX3" fmla="*/ 8820 w 8820"/>
                <a:gd name="connsiteY3" fmla="*/ 0 h 9820"/>
                <a:gd name="connsiteX0" fmla="*/ 0 w 10000"/>
                <a:gd name="connsiteY0" fmla="*/ 10000 h 10000"/>
                <a:gd name="connsiteX1" fmla="*/ 1338 w 10000"/>
                <a:gd name="connsiteY1" fmla="*/ 5006 h 10000"/>
                <a:gd name="connsiteX2" fmla="*/ 6446 w 10000"/>
                <a:gd name="connsiteY2" fmla="*/ 6165 h 10000"/>
                <a:gd name="connsiteX3" fmla="*/ 10000 w 10000"/>
                <a:gd name="connsiteY3" fmla="*/ 0 h 10000"/>
                <a:gd name="connsiteX0" fmla="*/ 0 w 8885"/>
                <a:gd name="connsiteY0" fmla="*/ 8454 h 8454"/>
                <a:gd name="connsiteX1" fmla="*/ 1338 w 8885"/>
                <a:gd name="connsiteY1" fmla="*/ 3460 h 8454"/>
                <a:gd name="connsiteX2" fmla="*/ 6446 w 8885"/>
                <a:gd name="connsiteY2" fmla="*/ 4619 h 8454"/>
                <a:gd name="connsiteX3" fmla="*/ 8885 w 8885"/>
                <a:gd name="connsiteY3" fmla="*/ 0 h 8454"/>
                <a:gd name="connsiteX0" fmla="*/ 0 w 10000"/>
                <a:gd name="connsiteY0" fmla="*/ 8135 h 8135"/>
                <a:gd name="connsiteX1" fmla="*/ 1506 w 10000"/>
                <a:gd name="connsiteY1" fmla="*/ 4093 h 8135"/>
                <a:gd name="connsiteX2" fmla="*/ 7255 w 10000"/>
                <a:gd name="connsiteY2" fmla="*/ 5464 h 8135"/>
                <a:gd name="connsiteX3" fmla="*/ 10000 w 10000"/>
                <a:gd name="connsiteY3" fmla="*/ 0 h 8135"/>
                <a:gd name="connsiteX0" fmla="*/ 0 w 10000"/>
                <a:gd name="connsiteY0" fmla="*/ 10000 h 10000"/>
                <a:gd name="connsiteX1" fmla="*/ 1506 w 10000"/>
                <a:gd name="connsiteY1" fmla="*/ 5031 h 10000"/>
                <a:gd name="connsiteX2" fmla="*/ 7255 w 10000"/>
                <a:gd name="connsiteY2" fmla="*/ 6717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1506 w 10000"/>
                <a:gd name="connsiteY1" fmla="*/ 5031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1506 w 10000"/>
                <a:gd name="connsiteY1" fmla="*/ 5031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2677 w 10000"/>
                <a:gd name="connsiteY1" fmla="*/ 4986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2677 w 10000"/>
                <a:gd name="connsiteY1" fmla="*/ 4986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2677 w 10000"/>
                <a:gd name="connsiteY1" fmla="*/ 4986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2677 w 10000"/>
                <a:gd name="connsiteY1" fmla="*/ 4986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00" h="10000">
                  <a:moveTo>
                    <a:pt x="0" y="10000"/>
                  </a:moveTo>
                  <a:cubicBezTo>
                    <a:pt x="307" y="6359"/>
                    <a:pt x="1364" y="5046"/>
                    <a:pt x="2677" y="4986"/>
                  </a:cubicBezTo>
                  <a:cubicBezTo>
                    <a:pt x="3990" y="4926"/>
                    <a:pt x="5868" y="6874"/>
                    <a:pt x="6879" y="6942"/>
                  </a:cubicBezTo>
                  <a:cubicBezTo>
                    <a:pt x="7890" y="7010"/>
                    <a:pt x="8882" y="3864"/>
                    <a:pt x="10000" y="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78" name="Text Box 142"/>
            <p:cNvSpPr txBox="1">
              <a:spLocks noChangeArrowheads="1"/>
            </p:cNvSpPr>
            <p:nvPr/>
          </p:nvSpPr>
          <p:spPr bwMode="auto">
            <a:xfrm>
              <a:off x="547" y="2050"/>
              <a:ext cx="17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5" name="Retângulo 4"/>
          <p:cNvSpPr/>
          <p:nvPr/>
        </p:nvSpPr>
        <p:spPr>
          <a:xfrm>
            <a:off x="2112085" y="4162518"/>
            <a:ext cx="116538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Poucos pontos</a:t>
            </a:r>
          </a:p>
        </p:txBody>
      </p:sp>
      <p:sp>
        <p:nvSpPr>
          <p:cNvPr id="80" name="Retângulo 79"/>
          <p:cNvSpPr/>
          <p:nvPr/>
        </p:nvSpPr>
        <p:spPr>
          <a:xfrm>
            <a:off x="4050945" y="4162518"/>
            <a:ext cx="138852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Grupos de pontos</a:t>
            </a:r>
          </a:p>
        </p:txBody>
      </p:sp>
      <p:sp>
        <p:nvSpPr>
          <p:cNvPr id="81" name="Retângulo 80"/>
          <p:cNvSpPr/>
          <p:nvPr/>
        </p:nvSpPr>
        <p:spPr>
          <a:xfrm>
            <a:off x="2808247" y="6419100"/>
            <a:ext cx="158306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Relação quase linear</a:t>
            </a:r>
          </a:p>
        </p:txBody>
      </p:sp>
      <p:grpSp>
        <p:nvGrpSpPr>
          <p:cNvPr id="83" name="Group 114"/>
          <p:cNvGrpSpPr>
            <a:grpSpLocks noChangeAspect="1"/>
          </p:cNvGrpSpPr>
          <p:nvPr/>
        </p:nvGrpSpPr>
        <p:grpSpPr bwMode="auto">
          <a:xfrm>
            <a:off x="5721412" y="2361237"/>
            <a:ext cx="2169653" cy="1833563"/>
            <a:chOff x="1872" y="1797"/>
            <a:chExt cx="1598" cy="1351"/>
          </a:xfrm>
        </p:grpSpPr>
        <p:sp>
          <p:nvSpPr>
            <p:cNvPr id="84" name="Oval 83"/>
            <p:cNvSpPr>
              <a:spLocks noChangeAspect="1" noChangeArrowheads="1"/>
            </p:cNvSpPr>
            <p:nvPr/>
          </p:nvSpPr>
          <p:spPr bwMode="auto">
            <a:xfrm>
              <a:off x="2438" y="258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5" name="Oval 84"/>
            <p:cNvSpPr>
              <a:spLocks noChangeAspect="1" noChangeArrowheads="1"/>
            </p:cNvSpPr>
            <p:nvPr/>
          </p:nvSpPr>
          <p:spPr bwMode="auto">
            <a:xfrm>
              <a:off x="2393" y="254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6" name="Oval 85"/>
            <p:cNvSpPr>
              <a:spLocks noChangeAspect="1" noChangeArrowheads="1"/>
            </p:cNvSpPr>
            <p:nvPr/>
          </p:nvSpPr>
          <p:spPr bwMode="auto">
            <a:xfrm>
              <a:off x="2290" y="263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7" name="Oval 86"/>
            <p:cNvSpPr>
              <a:spLocks noChangeAspect="1" noChangeArrowheads="1"/>
            </p:cNvSpPr>
            <p:nvPr/>
          </p:nvSpPr>
          <p:spPr bwMode="auto">
            <a:xfrm>
              <a:off x="3069" y="189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9" name="Oval 88"/>
            <p:cNvSpPr>
              <a:spLocks noChangeAspect="1" noChangeArrowheads="1"/>
            </p:cNvSpPr>
            <p:nvPr/>
          </p:nvSpPr>
          <p:spPr bwMode="auto">
            <a:xfrm>
              <a:off x="2364" y="260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0" name="Oval 89"/>
            <p:cNvSpPr>
              <a:spLocks noChangeAspect="1" noChangeArrowheads="1"/>
            </p:cNvSpPr>
            <p:nvPr/>
          </p:nvSpPr>
          <p:spPr bwMode="auto">
            <a:xfrm>
              <a:off x="2217" y="264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1" name="Oval 90"/>
            <p:cNvSpPr>
              <a:spLocks noChangeAspect="1" noChangeArrowheads="1"/>
            </p:cNvSpPr>
            <p:nvPr/>
          </p:nvSpPr>
          <p:spPr bwMode="auto">
            <a:xfrm>
              <a:off x="2482" y="252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" name="Oval 91"/>
            <p:cNvSpPr>
              <a:spLocks noChangeAspect="1" noChangeArrowheads="1"/>
            </p:cNvSpPr>
            <p:nvPr/>
          </p:nvSpPr>
          <p:spPr bwMode="auto">
            <a:xfrm>
              <a:off x="2334" y="255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3" name="Oval 92"/>
            <p:cNvSpPr>
              <a:spLocks noChangeAspect="1" noChangeArrowheads="1"/>
            </p:cNvSpPr>
            <p:nvPr/>
          </p:nvSpPr>
          <p:spPr bwMode="auto">
            <a:xfrm>
              <a:off x="2262" y="2580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4" name="Group 93"/>
            <p:cNvGrpSpPr>
              <a:grpSpLocks noChangeAspect="1"/>
            </p:cNvGrpSpPr>
            <p:nvPr/>
          </p:nvGrpSpPr>
          <p:grpSpPr bwMode="auto">
            <a:xfrm>
              <a:off x="1872" y="1797"/>
              <a:ext cx="1598" cy="1351"/>
              <a:chOff x="1237" y="1162"/>
              <a:chExt cx="1598" cy="1351"/>
            </a:xfrm>
          </p:grpSpPr>
          <p:sp>
            <p:nvSpPr>
              <p:cNvPr id="95" name="Rectangle 94"/>
              <p:cNvSpPr>
                <a:spLocks noChangeAspect="1" noChangeArrowheads="1"/>
              </p:cNvSpPr>
              <p:nvPr/>
            </p:nvSpPr>
            <p:spPr bwMode="auto">
              <a:xfrm>
                <a:off x="2064" y="2333"/>
                <a:ext cx="100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Rectangle 95"/>
              <p:cNvSpPr>
                <a:spLocks noChangeAspect="1" noChangeArrowheads="1"/>
              </p:cNvSpPr>
              <p:nvPr/>
            </p:nvSpPr>
            <p:spPr bwMode="auto">
              <a:xfrm rot="16200000">
                <a:off x="1282" y="1634"/>
                <a:ext cx="92" cy="1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7" name="Freeform 96"/>
              <p:cNvSpPr>
                <a:spLocks noChangeAspect="1"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00" name="Line 144"/>
          <p:cNvSpPr>
            <a:spLocks noChangeShapeType="1"/>
          </p:cNvSpPr>
          <p:nvPr/>
        </p:nvSpPr>
        <p:spPr bwMode="auto">
          <a:xfrm flipV="1">
            <a:off x="6087666" y="2394575"/>
            <a:ext cx="1439862" cy="12969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07" name="Retângulo 106"/>
          <p:cNvSpPr/>
          <p:nvPr/>
        </p:nvSpPr>
        <p:spPr>
          <a:xfrm>
            <a:off x="6054127" y="4155230"/>
            <a:ext cx="171604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Ponto de alavancagem</a:t>
            </a:r>
          </a:p>
          <a:p>
            <a:pPr algn="ctr"/>
            <a:r>
              <a:rPr lang="pt-BR" sz="1200" dirty="0">
                <a:latin typeface="Tahoma" panose="020B0604030504040204" pitchFamily="34" charset="0"/>
              </a:rPr>
              <a:t>(</a:t>
            </a:r>
            <a:r>
              <a:rPr lang="pt-BR" sz="1200" i="1" dirty="0" err="1">
                <a:latin typeface="Tahoma" panose="020B0604030504040204" pitchFamily="34" charset="0"/>
              </a:rPr>
              <a:t>leverage</a:t>
            </a:r>
            <a:r>
              <a:rPr lang="pt-BR" sz="12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108" name="Group 151"/>
          <p:cNvGrpSpPr>
            <a:grpSpLocks/>
          </p:cNvGrpSpPr>
          <p:nvPr/>
        </p:nvGrpSpPr>
        <p:grpSpPr bwMode="auto">
          <a:xfrm>
            <a:off x="5200327" y="4625840"/>
            <a:ext cx="1909763" cy="1538287"/>
            <a:chOff x="4263" y="1830"/>
            <a:chExt cx="1203" cy="969"/>
          </a:xfrm>
        </p:grpSpPr>
        <p:sp>
          <p:nvSpPr>
            <p:cNvPr id="109" name="Oval 98"/>
            <p:cNvSpPr>
              <a:spLocks noChangeAspect="1" noChangeArrowheads="1"/>
            </p:cNvSpPr>
            <p:nvPr/>
          </p:nvSpPr>
          <p:spPr bwMode="auto">
            <a:xfrm>
              <a:off x="4641" y="2341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0" name="Oval 99"/>
            <p:cNvSpPr>
              <a:spLocks noChangeAspect="1" noChangeArrowheads="1"/>
            </p:cNvSpPr>
            <p:nvPr/>
          </p:nvSpPr>
          <p:spPr bwMode="auto">
            <a:xfrm>
              <a:off x="4457" y="2538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1" name="Oval 100"/>
            <p:cNvSpPr>
              <a:spLocks noChangeAspect="1" noChangeArrowheads="1"/>
            </p:cNvSpPr>
            <p:nvPr/>
          </p:nvSpPr>
          <p:spPr bwMode="auto">
            <a:xfrm>
              <a:off x="4552" y="2408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" name="Oval 101"/>
            <p:cNvSpPr>
              <a:spLocks noChangeAspect="1" noChangeArrowheads="1"/>
            </p:cNvSpPr>
            <p:nvPr/>
          </p:nvSpPr>
          <p:spPr bwMode="auto">
            <a:xfrm>
              <a:off x="5102" y="1995"/>
              <a:ext cx="23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3" name="Oval 102"/>
            <p:cNvSpPr>
              <a:spLocks noChangeAspect="1" noChangeArrowheads="1"/>
            </p:cNvSpPr>
            <p:nvPr/>
          </p:nvSpPr>
          <p:spPr bwMode="auto">
            <a:xfrm>
              <a:off x="4954" y="2087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4" name="Oval 103"/>
            <p:cNvSpPr>
              <a:spLocks noChangeAspect="1" noChangeArrowheads="1"/>
            </p:cNvSpPr>
            <p:nvPr/>
          </p:nvSpPr>
          <p:spPr bwMode="auto">
            <a:xfrm>
              <a:off x="4511" y="2460"/>
              <a:ext cx="23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5" name="Oval 104"/>
            <p:cNvSpPr>
              <a:spLocks noChangeAspect="1" noChangeArrowheads="1"/>
            </p:cNvSpPr>
            <p:nvPr/>
          </p:nvSpPr>
          <p:spPr bwMode="auto">
            <a:xfrm>
              <a:off x="4301" y="2713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6" name="Oval 105"/>
            <p:cNvSpPr>
              <a:spLocks noChangeAspect="1" noChangeArrowheads="1"/>
            </p:cNvSpPr>
            <p:nvPr/>
          </p:nvSpPr>
          <p:spPr bwMode="auto">
            <a:xfrm>
              <a:off x="4379" y="2616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7" name="Oval 106"/>
            <p:cNvSpPr>
              <a:spLocks noChangeAspect="1" noChangeArrowheads="1"/>
            </p:cNvSpPr>
            <p:nvPr/>
          </p:nvSpPr>
          <p:spPr bwMode="auto">
            <a:xfrm>
              <a:off x="4728" y="2260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8" name="Oval 107"/>
            <p:cNvSpPr>
              <a:spLocks noChangeAspect="1" noChangeArrowheads="1"/>
            </p:cNvSpPr>
            <p:nvPr/>
          </p:nvSpPr>
          <p:spPr bwMode="auto">
            <a:xfrm>
              <a:off x="4806" y="2176"/>
              <a:ext cx="24" cy="30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2" name="Freeform 111"/>
            <p:cNvSpPr>
              <a:spLocks noChangeAspect="1"/>
            </p:cNvSpPr>
            <p:nvPr/>
          </p:nvSpPr>
          <p:spPr bwMode="auto">
            <a:xfrm>
              <a:off x="4263" y="1830"/>
              <a:ext cx="1203" cy="969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303 h 1179"/>
                <a:gd name="T4" fmla="*/ 43509 w 1271"/>
                <a:gd name="T5" fmla="*/ 303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23" name="Object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17258445"/>
              </p:ext>
            </p:extLst>
          </p:nvPr>
        </p:nvGraphicFramePr>
        <p:xfrm>
          <a:off x="6635886" y="5261695"/>
          <a:ext cx="1825625" cy="546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24000" imgH="457200" progId="Equation.DSMT4">
                  <p:embed/>
                </p:oleObj>
              </mc:Choice>
              <mc:Fallback>
                <p:oleObj name="Equation" r:id="rId2" imgW="1524000" imgH="457200" progId="Equation.DSMT4">
                  <p:embed/>
                  <p:pic>
                    <p:nvPicPr>
                      <p:cNvPr id="123" name="Object 1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35886" y="5261695"/>
                        <a:ext cx="1825625" cy="546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6" name="Line 149"/>
          <p:cNvSpPr>
            <a:spLocks noChangeShapeType="1"/>
          </p:cNvSpPr>
          <p:nvPr/>
        </p:nvSpPr>
        <p:spPr bwMode="auto">
          <a:xfrm flipV="1">
            <a:off x="5309865" y="4840152"/>
            <a:ext cx="1171575" cy="1173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7" name="Retângulo 126"/>
          <p:cNvSpPr/>
          <p:nvPr/>
        </p:nvSpPr>
        <p:spPr>
          <a:xfrm>
            <a:off x="5315102" y="6405545"/>
            <a:ext cx="162897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Variáveis cumulativas</a:t>
            </a:r>
          </a:p>
        </p:txBody>
      </p:sp>
    </p:spTree>
    <p:extLst>
      <p:ext uri="{BB962C8B-B14F-4D97-AF65-F5344CB8AC3E}">
        <p14:creationId xmlns:p14="http://schemas.microsoft.com/office/powerpoint/2010/main" val="2525275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" grpId="0" animBg="1"/>
      <p:bldP spid="125" grpId="0" animBg="1"/>
      <p:bldP spid="12404" grpId="0" animBg="1"/>
      <p:bldP spid="12405" grpId="0" animBg="1"/>
      <p:bldP spid="12428" grpId="0" animBg="1"/>
      <p:bldP spid="12432" grpId="0" animBg="1"/>
      <p:bldP spid="12436" grpId="0" animBg="1"/>
      <p:bldP spid="12438" grpId="0" animBg="1"/>
      <p:bldP spid="5" grpId="0"/>
      <p:bldP spid="80" grpId="0"/>
      <p:bldP spid="81" grpId="0"/>
      <p:bldP spid="100" grpId="0" animBg="1"/>
      <p:bldP spid="107" grpId="0"/>
      <p:bldP spid="126" grpId="0" animBg="1"/>
      <p:bldP spid="12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sp>
        <p:nvSpPr>
          <p:cNvPr id="23555" name="Text Box 3"/>
          <p:cNvSpPr txBox="1">
            <a:spLocks noChangeArrowheads="1"/>
          </p:cNvSpPr>
          <p:nvPr/>
        </p:nvSpPr>
        <p:spPr bwMode="auto">
          <a:xfrm>
            <a:off x="468313" y="1484784"/>
            <a:ext cx="7924800" cy="9541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 eaLnBrk="0" hangingPunct="0">
              <a:spcBef>
                <a:spcPct val="50000"/>
              </a:spcBef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Interpretações errônea do coeficiente de correlação</a:t>
            </a:r>
          </a:p>
          <a:p>
            <a:pPr marL="285750" indent="-28575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Um coeficiente de correlação próximo de zero nem sempre indica que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i="1" dirty="0">
                <a:latin typeface="Tahoma" panose="020B0604030504040204" pitchFamily="34" charset="0"/>
              </a:rPr>
              <a:t> </a:t>
            </a:r>
            <a:r>
              <a:rPr lang="pt-BR" dirty="0">
                <a:latin typeface="Tahoma" panose="020B0604030504040204" pitchFamily="34" charset="0"/>
              </a:rPr>
              <a:t>e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 não são relacionadas.</a:t>
            </a:r>
          </a:p>
        </p:txBody>
      </p:sp>
      <p:grpSp>
        <p:nvGrpSpPr>
          <p:cNvPr id="2" name="Group 36"/>
          <p:cNvGrpSpPr>
            <a:grpSpLocks/>
          </p:cNvGrpSpPr>
          <p:nvPr/>
        </p:nvGrpSpPr>
        <p:grpSpPr bwMode="auto">
          <a:xfrm>
            <a:off x="661251" y="2573011"/>
            <a:ext cx="2117517" cy="1817323"/>
            <a:chOff x="550" y="1797"/>
            <a:chExt cx="1613" cy="1354"/>
          </a:xfrm>
        </p:grpSpPr>
        <p:sp>
          <p:nvSpPr>
            <p:cNvPr id="10311" name="Oval 5"/>
            <p:cNvSpPr>
              <a:spLocks noChangeArrowheads="1"/>
            </p:cNvSpPr>
            <p:nvPr/>
          </p:nvSpPr>
          <p:spPr bwMode="auto">
            <a:xfrm>
              <a:off x="1165" y="216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2" name="Oval 6"/>
            <p:cNvSpPr>
              <a:spLocks noChangeArrowheads="1"/>
            </p:cNvSpPr>
            <p:nvPr/>
          </p:nvSpPr>
          <p:spPr bwMode="auto">
            <a:xfrm>
              <a:off x="984" y="262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3" name="Oval 7"/>
            <p:cNvSpPr>
              <a:spLocks noChangeArrowheads="1"/>
            </p:cNvSpPr>
            <p:nvPr/>
          </p:nvSpPr>
          <p:spPr bwMode="auto">
            <a:xfrm>
              <a:off x="984" y="243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4" name="Oval 8"/>
            <p:cNvSpPr>
              <a:spLocks noChangeArrowheads="1"/>
            </p:cNvSpPr>
            <p:nvPr/>
          </p:nvSpPr>
          <p:spPr bwMode="auto">
            <a:xfrm>
              <a:off x="1738" y="27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5" name="Oval 9"/>
            <p:cNvSpPr>
              <a:spLocks noChangeArrowheads="1"/>
            </p:cNvSpPr>
            <p:nvPr/>
          </p:nvSpPr>
          <p:spPr bwMode="auto">
            <a:xfrm>
              <a:off x="1566" y="2217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6" name="Oval 10"/>
            <p:cNvSpPr>
              <a:spLocks noChangeArrowheads="1"/>
            </p:cNvSpPr>
            <p:nvPr/>
          </p:nvSpPr>
          <p:spPr bwMode="auto">
            <a:xfrm>
              <a:off x="1047" y="229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7" name="Oval 11"/>
            <p:cNvSpPr>
              <a:spLocks noChangeArrowheads="1"/>
            </p:cNvSpPr>
            <p:nvPr/>
          </p:nvSpPr>
          <p:spPr bwMode="auto">
            <a:xfrm>
              <a:off x="1718" y="252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8" name="Oval 12"/>
            <p:cNvSpPr>
              <a:spLocks noChangeArrowheads="1"/>
            </p:cNvSpPr>
            <p:nvPr/>
          </p:nvSpPr>
          <p:spPr bwMode="auto">
            <a:xfrm>
              <a:off x="893" y="27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9" name="Oval 13"/>
            <p:cNvSpPr>
              <a:spLocks noChangeArrowheads="1"/>
            </p:cNvSpPr>
            <p:nvPr/>
          </p:nvSpPr>
          <p:spPr bwMode="auto">
            <a:xfrm>
              <a:off x="1301" y="197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20" name="Oval 14"/>
            <p:cNvSpPr>
              <a:spLocks noChangeArrowheads="1"/>
            </p:cNvSpPr>
            <p:nvPr/>
          </p:nvSpPr>
          <p:spPr bwMode="auto">
            <a:xfrm>
              <a:off x="1392" y="2067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10321" name="Group 15"/>
            <p:cNvGrpSpPr>
              <a:grpSpLocks/>
            </p:cNvGrpSpPr>
            <p:nvPr/>
          </p:nvGrpSpPr>
          <p:grpSpPr bwMode="auto">
            <a:xfrm>
              <a:off x="550" y="1797"/>
              <a:ext cx="1613" cy="1354"/>
              <a:chOff x="1222" y="1162"/>
              <a:chExt cx="1613" cy="1354"/>
            </a:xfrm>
          </p:grpSpPr>
          <p:sp>
            <p:nvSpPr>
              <p:cNvPr id="10323" name="Rectangle 16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104" cy="1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4" name="Rectangle 17"/>
              <p:cNvSpPr>
                <a:spLocks noChangeArrowheads="1"/>
              </p:cNvSpPr>
              <p:nvPr/>
            </p:nvSpPr>
            <p:spPr bwMode="auto">
              <a:xfrm rot="16200000">
                <a:off x="1269" y="1638"/>
                <a:ext cx="93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5" name="Freeform 18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0322" name="Oval 35"/>
            <p:cNvSpPr>
              <a:spLocks noChangeArrowheads="1"/>
            </p:cNvSpPr>
            <p:nvPr/>
          </p:nvSpPr>
          <p:spPr bwMode="auto">
            <a:xfrm>
              <a:off x="1610" y="247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68"/>
          <p:cNvGrpSpPr>
            <a:grpSpLocks/>
          </p:cNvGrpSpPr>
          <p:nvPr/>
        </p:nvGrpSpPr>
        <p:grpSpPr bwMode="auto">
          <a:xfrm>
            <a:off x="3227258" y="2568075"/>
            <a:ext cx="2158954" cy="1817008"/>
            <a:chOff x="2132" y="1797"/>
            <a:chExt cx="1610" cy="1355"/>
          </a:xfrm>
        </p:grpSpPr>
        <p:grpSp>
          <p:nvGrpSpPr>
            <p:cNvPr id="10285" name="Group 37"/>
            <p:cNvGrpSpPr>
              <a:grpSpLocks/>
            </p:cNvGrpSpPr>
            <p:nvPr/>
          </p:nvGrpSpPr>
          <p:grpSpPr bwMode="auto">
            <a:xfrm>
              <a:off x="2132" y="1797"/>
              <a:ext cx="1610" cy="1355"/>
              <a:chOff x="2049" y="1162"/>
              <a:chExt cx="1610" cy="1355"/>
            </a:xfrm>
          </p:grpSpPr>
          <p:sp>
            <p:nvSpPr>
              <p:cNvPr id="10297" name="Oval 38"/>
              <p:cNvSpPr>
                <a:spLocks noChangeArrowheads="1"/>
              </p:cNvSpPr>
              <p:nvPr/>
            </p:nvSpPr>
            <p:spPr bwMode="auto">
              <a:xfrm>
                <a:off x="2744" y="1480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8" name="Oval 39"/>
              <p:cNvSpPr>
                <a:spLocks noChangeArrowheads="1"/>
              </p:cNvSpPr>
              <p:nvPr/>
            </p:nvSpPr>
            <p:spPr bwMode="auto">
              <a:xfrm>
                <a:off x="2744" y="193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9" name="Oval 40"/>
              <p:cNvSpPr>
                <a:spLocks noChangeArrowheads="1"/>
              </p:cNvSpPr>
              <p:nvPr/>
            </p:nvSpPr>
            <p:spPr bwMode="auto">
              <a:xfrm>
                <a:off x="2881" y="1797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0" name="Oval 41"/>
              <p:cNvSpPr>
                <a:spLocks noChangeArrowheads="1"/>
              </p:cNvSpPr>
              <p:nvPr/>
            </p:nvSpPr>
            <p:spPr bwMode="auto">
              <a:xfrm>
                <a:off x="3288" y="1434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1" name="Oval 42"/>
              <p:cNvSpPr>
                <a:spLocks noChangeArrowheads="1"/>
              </p:cNvSpPr>
              <p:nvPr/>
            </p:nvSpPr>
            <p:spPr bwMode="auto">
              <a:xfrm>
                <a:off x="3016" y="1344"/>
                <a:ext cx="27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2" name="Oval 43"/>
              <p:cNvSpPr>
                <a:spLocks noChangeArrowheads="1"/>
              </p:cNvSpPr>
              <p:nvPr/>
            </p:nvSpPr>
            <p:spPr bwMode="auto">
              <a:xfrm>
                <a:off x="2693" y="177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3" name="Oval 44"/>
              <p:cNvSpPr>
                <a:spLocks noChangeArrowheads="1"/>
              </p:cNvSpPr>
              <p:nvPr/>
            </p:nvSpPr>
            <p:spPr bwMode="auto">
              <a:xfrm>
                <a:off x="2406" y="201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4" name="Oval 45"/>
              <p:cNvSpPr>
                <a:spLocks noChangeArrowheads="1"/>
              </p:cNvSpPr>
              <p:nvPr/>
            </p:nvSpPr>
            <p:spPr bwMode="auto">
              <a:xfrm>
                <a:off x="2472" y="1752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5" name="Oval 46"/>
              <p:cNvSpPr>
                <a:spLocks noChangeArrowheads="1"/>
              </p:cNvSpPr>
              <p:nvPr/>
            </p:nvSpPr>
            <p:spPr bwMode="auto">
              <a:xfrm>
                <a:off x="3061" y="1616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6" name="Oval 47"/>
              <p:cNvSpPr>
                <a:spLocks noChangeArrowheads="1"/>
              </p:cNvSpPr>
              <p:nvPr/>
            </p:nvSpPr>
            <p:spPr bwMode="auto">
              <a:xfrm>
                <a:off x="2880" y="1570"/>
                <a:ext cx="28" cy="35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10307" name="Group 48"/>
              <p:cNvGrpSpPr>
                <a:grpSpLocks/>
              </p:cNvGrpSpPr>
              <p:nvPr/>
            </p:nvGrpSpPr>
            <p:grpSpPr bwMode="auto">
              <a:xfrm>
                <a:off x="2049" y="1162"/>
                <a:ext cx="1610" cy="1355"/>
                <a:chOff x="1225" y="1162"/>
                <a:chExt cx="1610" cy="1355"/>
              </a:xfrm>
            </p:grpSpPr>
            <p:sp>
              <p:nvSpPr>
                <p:cNvPr id="10308" name="Rectangle 49"/>
                <p:cNvSpPr>
                  <a:spLocks noChangeArrowheads="1"/>
                </p:cNvSpPr>
                <p:nvPr/>
              </p:nvSpPr>
              <p:spPr bwMode="auto">
                <a:xfrm>
                  <a:off x="2064" y="2333"/>
                  <a:ext cx="102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b="1" i="1" dirty="0">
                      <a:latin typeface="Times New Roman" charset="0"/>
                    </a:rPr>
                    <a:t>X</a:t>
                  </a:r>
                  <a:endParaRPr lang="pt-BR" altLang="pt-BR" sz="1600" i="1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309" name="Rectangle 50"/>
                <p:cNvSpPr>
                  <a:spLocks noChangeArrowheads="1"/>
                </p:cNvSpPr>
                <p:nvPr/>
              </p:nvSpPr>
              <p:spPr bwMode="auto">
                <a:xfrm rot="16200000">
                  <a:off x="1270" y="1640"/>
                  <a:ext cx="93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b="1" i="1" dirty="0">
                      <a:latin typeface="Times New Roman" charset="0"/>
                    </a:rPr>
                    <a:t>Y</a:t>
                  </a:r>
                  <a:endParaRPr lang="pt-BR" altLang="pt-BR" sz="1600" i="1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310" name="Freeform 51"/>
                <p:cNvSpPr>
                  <a:spLocks/>
                </p:cNvSpPr>
                <p:nvPr/>
              </p:nvSpPr>
              <p:spPr bwMode="auto">
                <a:xfrm>
                  <a:off x="1429" y="1162"/>
                  <a:ext cx="1406" cy="1134"/>
                </a:xfrm>
                <a:custGeom>
                  <a:avLst/>
                  <a:gdLst>
                    <a:gd name="T0" fmla="*/ 0 w 1271"/>
                    <a:gd name="T1" fmla="*/ 0 h 1179"/>
                    <a:gd name="T2" fmla="*/ 0 w 1271"/>
                    <a:gd name="T3" fmla="*/ 303 h 1179"/>
                    <a:gd name="T4" fmla="*/ 43509 w 1271"/>
                    <a:gd name="T5" fmla="*/ 303 h 1179"/>
                    <a:gd name="T6" fmla="*/ 0 60000 65536"/>
                    <a:gd name="T7" fmla="*/ 0 60000 65536"/>
                    <a:gd name="T8" fmla="*/ 0 60000 65536"/>
                    <a:gd name="T9" fmla="*/ 0 w 1271"/>
                    <a:gd name="T10" fmla="*/ 0 h 1179"/>
                    <a:gd name="T11" fmla="*/ 1271 w 1271"/>
                    <a:gd name="T12" fmla="*/ 1179 h 1179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271" h="1179">
                      <a:moveTo>
                        <a:pt x="0" y="0"/>
                      </a:moveTo>
                      <a:lnTo>
                        <a:pt x="0" y="1179"/>
                      </a:lnTo>
                      <a:lnTo>
                        <a:pt x="1271" y="1179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grpSp>
          <p:nvGrpSpPr>
            <p:cNvPr id="10286" name="Group 67"/>
            <p:cNvGrpSpPr>
              <a:grpSpLocks/>
            </p:cNvGrpSpPr>
            <p:nvPr/>
          </p:nvGrpSpPr>
          <p:grpSpPr bwMode="auto">
            <a:xfrm flipH="1">
              <a:off x="2378" y="2047"/>
              <a:ext cx="910" cy="703"/>
              <a:chOff x="4084" y="2024"/>
              <a:chExt cx="910" cy="703"/>
            </a:xfrm>
          </p:grpSpPr>
          <p:sp>
            <p:nvSpPr>
              <p:cNvPr id="10287" name="Oval 53"/>
              <p:cNvSpPr>
                <a:spLocks noChangeArrowheads="1"/>
              </p:cNvSpPr>
              <p:nvPr/>
            </p:nvSpPr>
            <p:spPr bwMode="auto">
              <a:xfrm>
                <a:off x="4422" y="2160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88" name="Oval 54"/>
              <p:cNvSpPr>
                <a:spLocks noChangeArrowheads="1"/>
              </p:cNvSpPr>
              <p:nvPr/>
            </p:nvSpPr>
            <p:spPr bwMode="auto">
              <a:xfrm>
                <a:off x="4422" y="261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89" name="Oval 55"/>
              <p:cNvSpPr>
                <a:spLocks noChangeArrowheads="1"/>
              </p:cNvSpPr>
              <p:nvPr/>
            </p:nvSpPr>
            <p:spPr bwMode="auto">
              <a:xfrm>
                <a:off x="4559" y="2477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0" name="Oval 56"/>
              <p:cNvSpPr>
                <a:spLocks noChangeArrowheads="1"/>
              </p:cNvSpPr>
              <p:nvPr/>
            </p:nvSpPr>
            <p:spPr bwMode="auto">
              <a:xfrm>
                <a:off x="4966" y="2114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1" name="Oval 57"/>
              <p:cNvSpPr>
                <a:spLocks noChangeArrowheads="1"/>
              </p:cNvSpPr>
              <p:nvPr/>
            </p:nvSpPr>
            <p:spPr bwMode="auto">
              <a:xfrm>
                <a:off x="4694" y="2024"/>
                <a:ext cx="27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2" name="Oval 58"/>
              <p:cNvSpPr>
                <a:spLocks noChangeArrowheads="1"/>
              </p:cNvSpPr>
              <p:nvPr/>
            </p:nvSpPr>
            <p:spPr bwMode="auto">
              <a:xfrm>
                <a:off x="4371" y="245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3" name="Oval 59"/>
              <p:cNvSpPr>
                <a:spLocks noChangeArrowheads="1"/>
              </p:cNvSpPr>
              <p:nvPr/>
            </p:nvSpPr>
            <p:spPr bwMode="auto">
              <a:xfrm>
                <a:off x="4084" y="269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4" name="Oval 60"/>
              <p:cNvSpPr>
                <a:spLocks noChangeArrowheads="1"/>
              </p:cNvSpPr>
              <p:nvPr/>
            </p:nvSpPr>
            <p:spPr bwMode="auto">
              <a:xfrm>
                <a:off x="4150" y="2432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5" name="Oval 61"/>
              <p:cNvSpPr>
                <a:spLocks noChangeArrowheads="1"/>
              </p:cNvSpPr>
              <p:nvPr/>
            </p:nvSpPr>
            <p:spPr bwMode="auto">
              <a:xfrm>
                <a:off x="4739" y="2296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6" name="Oval 62"/>
              <p:cNvSpPr>
                <a:spLocks noChangeArrowheads="1"/>
              </p:cNvSpPr>
              <p:nvPr/>
            </p:nvSpPr>
            <p:spPr bwMode="auto">
              <a:xfrm>
                <a:off x="4558" y="2250"/>
                <a:ext cx="28" cy="35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8" name="Group 129"/>
          <p:cNvGrpSpPr>
            <a:grpSpLocks/>
          </p:cNvGrpSpPr>
          <p:nvPr/>
        </p:nvGrpSpPr>
        <p:grpSpPr bwMode="auto">
          <a:xfrm>
            <a:off x="5634263" y="2407196"/>
            <a:ext cx="1681571" cy="1319510"/>
            <a:chOff x="3908" y="1480"/>
            <a:chExt cx="1254" cy="984"/>
          </a:xfrm>
        </p:grpSpPr>
        <p:sp>
          <p:nvSpPr>
            <p:cNvPr id="10271" name="Oval 71"/>
            <p:cNvSpPr>
              <a:spLocks noChangeArrowheads="1"/>
            </p:cNvSpPr>
            <p:nvPr/>
          </p:nvSpPr>
          <p:spPr bwMode="auto">
            <a:xfrm>
              <a:off x="4432" y="1697"/>
              <a:ext cx="20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2" name="Oval 72"/>
            <p:cNvSpPr>
              <a:spLocks noChangeArrowheads="1"/>
            </p:cNvSpPr>
            <p:nvPr/>
          </p:nvSpPr>
          <p:spPr bwMode="auto">
            <a:xfrm>
              <a:off x="4432" y="2007"/>
              <a:ext cx="20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3" name="Oval 73"/>
            <p:cNvSpPr>
              <a:spLocks noChangeArrowheads="1"/>
            </p:cNvSpPr>
            <p:nvPr/>
          </p:nvSpPr>
          <p:spPr bwMode="auto">
            <a:xfrm>
              <a:off x="4526" y="1914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4" name="Oval 74"/>
            <p:cNvSpPr>
              <a:spLocks noChangeArrowheads="1"/>
            </p:cNvSpPr>
            <p:nvPr/>
          </p:nvSpPr>
          <p:spPr bwMode="auto">
            <a:xfrm>
              <a:off x="4804" y="1666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5" name="Oval 75"/>
            <p:cNvSpPr>
              <a:spLocks noChangeArrowheads="1"/>
            </p:cNvSpPr>
            <p:nvPr/>
          </p:nvSpPr>
          <p:spPr bwMode="auto">
            <a:xfrm>
              <a:off x="4618" y="1604"/>
              <a:ext cx="19" cy="2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6" name="Oval 76"/>
            <p:cNvSpPr>
              <a:spLocks noChangeArrowheads="1"/>
            </p:cNvSpPr>
            <p:nvPr/>
          </p:nvSpPr>
          <p:spPr bwMode="auto">
            <a:xfrm>
              <a:off x="4398" y="1897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7" name="Oval 77"/>
            <p:cNvSpPr>
              <a:spLocks noChangeArrowheads="1"/>
            </p:cNvSpPr>
            <p:nvPr/>
          </p:nvSpPr>
          <p:spPr bwMode="auto">
            <a:xfrm>
              <a:off x="4202" y="2061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8" name="Oval 78"/>
            <p:cNvSpPr>
              <a:spLocks noChangeArrowheads="1"/>
            </p:cNvSpPr>
            <p:nvPr/>
          </p:nvSpPr>
          <p:spPr bwMode="auto">
            <a:xfrm>
              <a:off x="4247" y="1883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9" name="Oval 79"/>
            <p:cNvSpPr>
              <a:spLocks noChangeArrowheads="1"/>
            </p:cNvSpPr>
            <p:nvPr/>
          </p:nvSpPr>
          <p:spPr bwMode="auto">
            <a:xfrm>
              <a:off x="4649" y="1790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0" name="Oval 80"/>
            <p:cNvSpPr>
              <a:spLocks noChangeArrowheads="1"/>
            </p:cNvSpPr>
            <p:nvPr/>
          </p:nvSpPr>
          <p:spPr bwMode="auto">
            <a:xfrm>
              <a:off x="4525" y="1759"/>
              <a:ext cx="19" cy="2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1" name="Rectangle 82"/>
            <p:cNvSpPr>
              <a:spLocks noChangeArrowheads="1"/>
            </p:cNvSpPr>
            <p:nvPr/>
          </p:nvSpPr>
          <p:spPr bwMode="auto">
            <a:xfrm>
              <a:off x="4531" y="2280"/>
              <a:ext cx="102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0282" name="Rectangle 83"/>
            <p:cNvSpPr>
              <a:spLocks noChangeArrowheads="1"/>
            </p:cNvSpPr>
            <p:nvPr/>
          </p:nvSpPr>
          <p:spPr bwMode="auto">
            <a:xfrm rot="16200000">
              <a:off x="3953" y="1764"/>
              <a:ext cx="93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0283" name="Freeform 84"/>
            <p:cNvSpPr>
              <a:spLocks/>
            </p:cNvSpPr>
            <p:nvPr/>
          </p:nvSpPr>
          <p:spPr bwMode="auto">
            <a:xfrm>
              <a:off x="4097" y="1480"/>
              <a:ext cx="960" cy="774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1 h 1179"/>
                <a:gd name="T4" fmla="*/ 2 w 1271"/>
                <a:gd name="T5" fmla="*/ 1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84" name="Text Box 123"/>
            <p:cNvSpPr txBox="1">
              <a:spLocks noChangeArrowheads="1"/>
            </p:cNvSpPr>
            <p:nvPr/>
          </p:nvSpPr>
          <p:spPr bwMode="auto">
            <a:xfrm>
              <a:off x="4942" y="1765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A</a:t>
              </a:r>
            </a:p>
          </p:txBody>
        </p:sp>
      </p:grpSp>
      <p:grpSp>
        <p:nvGrpSpPr>
          <p:cNvPr id="9" name="Group 130"/>
          <p:cNvGrpSpPr>
            <a:grpSpLocks/>
          </p:cNvGrpSpPr>
          <p:nvPr/>
        </p:nvGrpSpPr>
        <p:grpSpPr bwMode="auto">
          <a:xfrm>
            <a:off x="5632004" y="3775348"/>
            <a:ext cx="1672184" cy="1319510"/>
            <a:chOff x="3908" y="2523"/>
            <a:chExt cx="1247" cy="984"/>
          </a:xfrm>
        </p:grpSpPr>
        <p:sp>
          <p:nvSpPr>
            <p:cNvPr id="10256" name="Rectangle 109"/>
            <p:cNvSpPr>
              <a:spLocks noChangeArrowheads="1"/>
            </p:cNvSpPr>
            <p:nvPr/>
          </p:nvSpPr>
          <p:spPr bwMode="auto">
            <a:xfrm>
              <a:off x="4531" y="3323"/>
              <a:ext cx="102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0257" name="Rectangle 110"/>
            <p:cNvSpPr>
              <a:spLocks noChangeArrowheads="1"/>
            </p:cNvSpPr>
            <p:nvPr/>
          </p:nvSpPr>
          <p:spPr bwMode="auto">
            <a:xfrm rot="16200000">
              <a:off x="3953" y="2807"/>
              <a:ext cx="93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0258" name="Freeform 111"/>
            <p:cNvSpPr>
              <a:spLocks/>
            </p:cNvSpPr>
            <p:nvPr/>
          </p:nvSpPr>
          <p:spPr bwMode="auto">
            <a:xfrm>
              <a:off x="4097" y="2523"/>
              <a:ext cx="960" cy="774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1 h 1179"/>
                <a:gd name="T4" fmla="*/ 2 w 1271"/>
                <a:gd name="T5" fmla="*/ 1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0259" name="Group 112"/>
            <p:cNvGrpSpPr>
              <a:grpSpLocks/>
            </p:cNvGrpSpPr>
            <p:nvPr/>
          </p:nvGrpSpPr>
          <p:grpSpPr bwMode="auto">
            <a:xfrm flipH="1">
              <a:off x="4126" y="2694"/>
              <a:ext cx="621" cy="480"/>
              <a:chOff x="4084" y="2024"/>
              <a:chExt cx="910" cy="703"/>
            </a:xfrm>
          </p:grpSpPr>
          <p:sp>
            <p:nvSpPr>
              <p:cNvPr id="10261" name="Oval 113"/>
              <p:cNvSpPr>
                <a:spLocks noChangeArrowheads="1"/>
              </p:cNvSpPr>
              <p:nvPr/>
            </p:nvSpPr>
            <p:spPr bwMode="auto">
              <a:xfrm>
                <a:off x="4422" y="2160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2" name="Oval 114"/>
              <p:cNvSpPr>
                <a:spLocks noChangeArrowheads="1"/>
              </p:cNvSpPr>
              <p:nvPr/>
            </p:nvSpPr>
            <p:spPr bwMode="auto">
              <a:xfrm>
                <a:off x="4422" y="2613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3" name="Oval 115"/>
              <p:cNvSpPr>
                <a:spLocks noChangeArrowheads="1"/>
              </p:cNvSpPr>
              <p:nvPr/>
            </p:nvSpPr>
            <p:spPr bwMode="auto">
              <a:xfrm>
                <a:off x="4559" y="2477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4" name="Oval 116"/>
              <p:cNvSpPr>
                <a:spLocks noChangeArrowheads="1"/>
              </p:cNvSpPr>
              <p:nvPr/>
            </p:nvSpPr>
            <p:spPr bwMode="auto">
              <a:xfrm>
                <a:off x="4966" y="2114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5" name="Oval 117"/>
              <p:cNvSpPr>
                <a:spLocks noChangeArrowheads="1"/>
              </p:cNvSpPr>
              <p:nvPr/>
            </p:nvSpPr>
            <p:spPr bwMode="auto">
              <a:xfrm>
                <a:off x="4694" y="2024"/>
                <a:ext cx="27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6" name="Oval 118"/>
              <p:cNvSpPr>
                <a:spLocks noChangeArrowheads="1"/>
              </p:cNvSpPr>
              <p:nvPr/>
            </p:nvSpPr>
            <p:spPr bwMode="auto">
              <a:xfrm>
                <a:off x="4371" y="2453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7" name="Oval 119"/>
              <p:cNvSpPr>
                <a:spLocks noChangeArrowheads="1"/>
              </p:cNvSpPr>
              <p:nvPr/>
            </p:nvSpPr>
            <p:spPr bwMode="auto">
              <a:xfrm>
                <a:off x="4084" y="2693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8" name="Oval 120"/>
              <p:cNvSpPr>
                <a:spLocks noChangeArrowheads="1"/>
              </p:cNvSpPr>
              <p:nvPr/>
            </p:nvSpPr>
            <p:spPr bwMode="auto">
              <a:xfrm>
                <a:off x="4150" y="2432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9" name="Oval 121"/>
              <p:cNvSpPr>
                <a:spLocks noChangeArrowheads="1"/>
              </p:cNvSpPr>
              <p:nvPr/>
            </p:nvSpPr>
            <p:spPr bwMode="auto">
              <a:xfrm>
                <a:off x="4739" y="2296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70" name="Oval 122"/>
              <p:cNvSpPr>
                <a:spLocks noChangeArrowheads="1"/>
              </p:cNvSpPr>
              <p:nvPr/>
            </p:nvSpPr>
            <p:spPr bwMode="auto">
              <a:xfrm>
                <a:off x="4558" y="2250"/>
                <a:ext cx="28" cy="35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0260" name="Text Box 124"/>
            <p:cNvSpPr txBox="1">
              <a:spLocks noChangeArrowheads="1"/>
            </p:cNvSpPr>
            <p:nvPr/>
          </p:nvSpPr>
          <p:spPr bwMode="auto">
            <a:xfrm>
              <a:off x="4943" y="2791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B</a:t>
              </a:r>
            </a:p>
          </p:txBody>
        </p:sp>
      </p:grpSp>
      <p:sp>
        <p:nvSpPr>
          <p:cNvPr id="13439" name="Line 127"/>
          <p:cNvSpPr>
            <a:spLocks noChangeShapeType="1"/>
          </p:cNvSpPr>
          <p:nvPr/>
        </p:nvSpPr>
        <p:spPr bwMode="auto">
          <a:xfrm flipV="1">
            <a:off x="5054999" y="2903316"/>
            <a:ext cx="461949" cy="130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0" name="Line 128"/>
          <p:cNvSpPr>
            <a:spLocks noChangeShapeType="1"/>
          </p:cNvSpPr>
          <p:nvPr/>
        </p:nvSpPr>
        <p:spPr bwMode="auto">
          <a:xfrm>
            <a:off x="5054997" y="3449904"/>
            <a:ext cx="460800" cy="30439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3" name="Line 131"/>
          <p:cNvSpPr>
            <a:spLocks noChangeShapeType="1"/>
          </p:cNvSpPr>
          <p:nvPr/>
        </p:nvSpPr>
        <p:spPr bwMode="auto">
          <a:xfrm>
            <a:off x="1043087" y="3451574"/>
            <a:ext cx="144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4" name="Line 132"/>
          <p:cNvSpPr>
            <a:spLocks noChangeShapeType="1"/>
          </p:cNvSpPr>
          <p:nvPr/>
        </p:nvSpPr>
        <p:spPr bwMode="auto">
          <a:xfrm flipV="1">
            <a:off x="3628230" y="3325884"/>
            <a:ext cx="1260000" cy="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5" name="Line 133"/>
          <p:cNvSpPr>
            <a:spLocks noChangeShapeType="1"/>
          </p:cNvSpPr>
          <p:nvPr/>
        </p:nvSpPr>
        <p:spPr bwMode="auto">
          <a:xfrm flipV="1">
            <a:off x="6043224" y="2492852"/>
            <a:ext cx="791170" cy="7308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6" name="Line 134"/>
          <p:cNvSpPr>
            <a:spLocks noChangeShapeType="1"/>
          </p:cNvSpPr>
          <p:nvPr/>
        </p:nvSpPr>
        <p:spPr bwMode="auto">
          <a:xfrm>
            <a:off x="5998897" y="3982821"/>
            <a:ext cx="791170" cy="7308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7" name="Freeform 135"/>
          <p:cNvSpPr>
            <a:spLocks/>
          </p:cNvSpPr>
          <p:nvPr/>
        </p:nvSpPr>
        <p:spPr bwMode="auto">
          <a:xfrm>
            <a:off x="1087800" y="2884316"/>
            <a:ext cx="1206844" cy="1102203"/>
          </a:xfrm>
          <a:custGeom>
            <a:avLst/>
            <a:gdLst>
              <a:gd name="T0" fmla="*/ 0 w 862"/>
              <a:gd name="T1" fmla="*/ 2147483647 h 771"/>
              <a:gd name="T2" fmla="*/ 2147483647 w 862"/>
              <a:gd name="T3" fmla="*/ 0 h 771"/>
              <a:gd name="T4" fmla="*/ 2147483647 w 862"/>
              <a:gd name="T5" fmla="*/ 2147483647 h 771"/>
              <a:gd name="T6" fmla="*/ 0 60000 65536"/>
              <a:gd name="T7" fmla="*/ 0 60000 65536"/>
              <a:gd name="T8" fmla="*/ 0 60000 65536"/>
              <a:gd name="T9" fmla="*/ 0 w 862"/>
              <a:gd name="T10" fmla="*/ 0 h 771"/>
              <a:gd name="T11" fmla="*/ 862 w 862"/>
              <a:gd name="T12" fmla="*/ 771 h 771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62" h="771">
                <a:moveTo>
                  <a:pt x="0" y="771"/>
                </a:moveTo>
                <a:cubicBezTo>
                  <a:pt x="155" y="385"/>
                  <a:pt x="310" y="0"/>
                  <a:pt x="454" y="0"/>
                </a:cubicBezTo>
                <a:cubicBezTo>
                  <a:pt x="598" y="0"/>
                  <a:pt x="730" y="385"/>
                  <a:pt x="862" y="771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6" name="Retângulo 85"/>
          <p:cNvSpPr/>
          <p:nvPr/>
        </p:nvSpPr>
        <p:spPr>
          <a:xfrm>
            <a:off x="1149079" y="4361635"/>
            <a:ext cx="143077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Relação não linear</a:t>
            </a:r>
          </a:p>
        </p:txBody>
      </p:sp>
      <p:sp>
        <p:nvSpPr>
          <p:cNvPr id="87" name="Retângulo 86"/>
          <p:cNvSpPr/>
          <p:nvPr/>
        </p:nvSpPr>
        <p:spPr>
          <a:xfrm>
            <a:off x="3419872" y="4312305"/>
            <a:ext cx="20970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Mistura de grupos com relações diferentes</a:t>
            </a:r>
          </a:p>
        </p:txBody>
      </p:sp>
      <p:grpSp>
        <p:nvGrpSpPr>
          <p:cNvPr id="92" name="Group 112"/>
          <p:cNvGrpSpPr>
            <a:grpSpLocks/>
          </p:cNvGrpSpPr>
          <p:nvPr/>
        </p:nvGrpSpPr>
        <p:grpSpPr bwMode="auto">
          <a:xfrm flipH="1">
            <a:off x="3553588" y="2906680"/>
            <a:ext cx="1223323" cy="941240"/>
            <a:chOff x="4088" y="2028"/>
            <a:chExt cx="906" cy="688"/>
          </a:xfrm>
          <a:solidFill>
            <a:srgbClr val="FF0000"/>
          </a:solidFill>
        </p:grpSpPr>
        <p:sp>
          <p:nvSpPr>
            <p:cNvPr id="94" name="Oval 113"/>
            <p:cNvSpPr>
              <a:spLocks noChangeArrowheads="1"/>
            </p:cNvSpPr>
            <p:nvPr/>
          </p:nvSpPr>
          <p:spPr bwMode="auto">
            <a:xfrm>
              <a:off x="4422" y="2159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5" name="Oval 114"/>
            <p:cNvSpPr>
              <a:spLocks noChangeArrowheads="1"/>
            </p:cNvSpPr>
            <p:nvPr/>
          </p:nvSpPr>
          <p:spPr bwMode="auto">
            <a:xfrm>
              <a:off x="4422" y="2605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6" name="Oval 115"/>
            <p:cNvSpPr>
              <a:spLocks noChangeArrowheads="1"/>
            </p:cNvSpPr>
            <p:nvPr/>
          </p:nvSpPr>
          <p:spPr bwMode="auto">
            <a:xfrm>
              <a:off x="4559" y="2474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7" name="Oval 116"/>
            <p:cNvSpPr>
              <a:spLocks noChangeArrowheads="1"/>
            </p:cNvSpPr>
            <p:nvPr/>
          </p:nvSpPr>
          <p:spPr bwMode="auto">
            <a:xfrm>
              <a:off x="4967" y="2114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8" name="Oval 117"/>
            <p:cNvSpPr>
              <a:spLocks noChangeArrowheads="1"/>
            </p:cNvSpPr>
            <p:nvPr/>
          </p:nvSpPr>
          <p:spPr bwMode="auto">
            <a:xfrm>
              <a:off x="4693" y="2028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9" name="Oval 118"/>
            <p:cNvSpPr>
              <a:spLocks noChangeArrowheads="1"/>
            </p:cNvSpPr>
            <p:nvPr/>
          </p:nvSpPr>
          <p:spPr bwMode="auto">
            <a:xfrm>
              <a:off x="4369" y="2450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0" name="Oval 119"/>
            <p:cNvSpPr>
              <a:spLocks noChangeArrowheads="1"/>
            </p:cNvSpPr>
            <p:nvPr/>
          </p:nvSpPr>
          <p:spPr bwMode="auto">
            <a:xfrm>
              <a:off x="4088" y="2682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1" name="Oval 120"/>
            <p:cNvSpPr>
              <a:spLocks noChangeArrowheads="1"/>
            </p:cNvSpPr>
            <p:nvPr/>
          </p:nvSpPr>
          <p:spPr bwMode="auto">
            <a:xfrm>
              <a:off x="4151" y="2429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" name="Oval 121"/>
            <p:cNvSpPr>
              <a:spLocks noChangeArrowheads="1"/>
            </p:cNvSpPr>
            <p:nvPr/>
          </p:nvSpPr>
          <p:spPr bwMode="auto">
            <a:xfrm>
              <a:off x="4739" y="2293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" name="Oval 122"/>
            <p:cNvSpPr>
              <a:spLocks noChangeArrowheads="1"/>
            </p:cNvSpPr>
            <p:nvPr/>
          </p:nvSpPr>
          <p:spPr bwMode="auto">
            <a:xfrm>
              <a:off x="4559" y="2250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upo 2"/>
          <p:cNvGrpSpPr/>
          <p:nvPr/>
        </p:nvGrpSpPr>
        <p:grpSpPr>
          <a:xfrm>
            <a:off x="2042294" y="5182935"/>
            <a:ext cx="756726" cy="529476"/>
            <a:chOff x="1907704" y="5412651"/>
            <a:chExt cx="756726" cy="529476"/>
          </a:xfrm>
          <a:noFill/>
        </p:grpSpPr>
        <p:sp>
          <p:nvSpPr>
            <p:cNvPr id="115" name="Oval 72"/>
            <p:cNvSpPr>
              <a:spLocks noChangeArrowheads="1"/>
            </p:cNvSpPr>
            <p:nvPr/>
          </p:nvSpPr>
          <p:spPr bwMode="auto">
            <a:xfrm>
              <a:off x="2097406" y="5833715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7" name="Oval 74"/>
            <p:cNvSpPr>
              <a:spLocks noChangeArrowheads="1"/>
            </p:cNvSpPr>
            <p:nvPr/>
          </p:nvSpPr>
          <p:spPr bwMode="auto">
            <a:xfrm>
              <a:off x="2628430" y="5413993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8" name="Oval 75"/>
            <p:cNvSpPr>
              <a:spLocks noChangeArrowheads="1"/>
            </p:cNvSpPr>
            <p:nvPr/>
          </p:nvSpPr>
          <p:spPr bwMode="auto">
            <a:xfrm>
              <a:off x="2521153" y="5412651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0" name="Oval 77"/>
            <p:cNvSpPr>
              <a:spLocks noChangeArrowheads="1"/>
            </p:cNvSpPr>
            <p:nvPr/>
          </p:nvSpPr>
          <p:spPr bwMode="auto">
            <a:xfrm>
              <a:off x="1963311" y="5906127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1" name="Oval 78"/>
            <p:cNvSpPr>
              <a:spLocks noChangeArrowheads="1"/>
            </p:cNvSpPr>
            <p:nvPr/>
          </p:nvSpPr>
          <p:spPr bwMode="auto">
            <a:xfrm>
              <a:off x="2023654" y="577471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2" name="Oval 79"/>
            <p:cNvSpPr>
              <a:spLocks noChangeArrowheads="1"/>
            </p:cNvSpPr>
            <p:nvPr/>
          </p:nvSpPr>
          <p:spPr bwMode="auto">
            <a:xfrm>
              <a:off x="2562723" y="5542725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" name="Oval 80"/>
            <p:cNvSpPr>
              <a:spLocks noChangeArrowheads="1"/>
            </p:cNvSpPr>
            <p:nvPr/>
          </p:nvSpPr>
          <p:spPr bwMode="auto">
            <a:xfrm>
              <a:off x="2396443" y="5501154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9" name="Oval 74"/>
            <p:cNvSpPr>
              <a:spLocks noChangeArrowheads="1"/>
            </p:cNvSpPr>
            <p:nvPr/>
          </p:nvSpPr>
          <p:spPr bwMode="auto">
            <a:xfrm>
              <a:off x="2195736" y="5782806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1" name="Oval 74"/>
            <p:cNvSpPr>
              <a:spLocks noChangeArrowheads="1"/>
            </p:cNvSpPr>
            <p:nvPr/>
          </p:nvSpPr>
          <p:spPr bwMode="auto">
            <a:xfrm>
              <a:off x="2123728" y="5733256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" name="Oval 74"/>
            <p:cNvSpPr>
              <a:spLocks noChangeArrowheads="1"/>
            </p:cNvSpPr>
            <p:nvPr/>
          </p:nvSpPr>
          <p:spPr bwMode="auto">
            <a:xfrm>
              <a:off x="2458290" y="5589240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5" name="Oval 74"/>
            <p:cNvSpPr>
              <a:spLocks noChangeArrowheads="1"/>
            </p:cNvSpPr>
            <p:nvPr/>
          </p:nvSpPr>
          <p:spPr bwMode="auto">
            <a:xfrm>
              <a:off x="2483768" y="5486390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6" name="Oval 74"/>
            <p:cNvSpPr>
              <a:spLocks noChangeArrowheads="1"/>
            </p:cNvSpPr>
            <p:nvPr/>
          </p:nvSpPr>
          <p:spPr bwMode="auto">
            <a:xfrm>
              <a:off x="1954234" y="5805264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7" name="Oval 74"/>
            <p:cNvSpPr>
              <a:spLocks noChangeArrowheads="1"/>
            </p:cNvSpPr>
            <p:nvPr/>
          </p:nvSpPr>
          <p:spPr bwMode="auto">
            <a:xfrm>
              <a:off x="2026242" y="587727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8" name="Oval 74"/>
            <p:cNvSpPr>
              <a:spLocks noChangeArrowheads="1"/>
            </p:cNvSpPr>
            <p:nvPr/>
          </p:nvSpPr>
          <p:spPr bwMode="auto">
            <a:xfrm>
              <a:off x="1907704" y="587727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9" name="Oval 74"/>
            <p:cNvSpPr>
              <a:spLocks noChangeArrowheads="1"/>
            </p:cNvSpPr>
            <p:nvPr/>
          </p:nvSpPr>
          <p:spPr bwMode="auto">
            <a:xfrm>
              <a:off x="2555776" y="5486390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1" name="Oval 74"/>
            <p:cNvSpPr>
              <a:spLocks noChangeArrowheads="1"/>
            </p:cNvSpPr>
            <p:nvPr/>
          </p:nvSpPr>
          <p:spPr bwMode="auto">
            <a:xfrm>
              <a:off x="2492152" y="551723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4" name="Oval 74"/>
            <p:cNvSpPr>
              <a:spLocks noChangeArrowheads="1"/>
            </p:cNvSpPr>
            <p:nvPr/>
          </p:nvSpPr>
          <p:spPr bwMode="auto">
            <a:xfrm>
              <a:off x="2090800" y="577681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5" name="Oval 74"/>
            <p:cNvSpPr>
              <a:spLocks noChangeArrowheads="1"/>
            </p:cNvSpPr>
            <p:nvPr/>
          </p:nvSpPr>
          <p:spPr bwMode="auto">
            <a:xfrm>
              <a:off x="2007068" y="582871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6" name="Oval 74"/>
            <p:cNvSpPr>
              <a:spLocks noChangeArrowheads="1"/>
            </p:cNvSpPr>
            <p:nvPr/>
          </p:nvSpPr>
          <p:spPr bwMode="auto">
            <a:xfrm>
              <a:off x="2393056" y="5564128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upo 6"/>
          <p:cNvGrpSpPr/>
          <p:nvPr/>
        </p:nvGrpSpPr>
        <p:grpSpPr>
          <a:xfrm>
            <a:off x="1569325" y="4897310"/>
            <a:ext cx="1540512" cy="1318993"/>
            <a:chOff x="1569325" y="4897310"/>
            <a:chExt cx="1540512" cy="1318993"/>
          </a:xfrm>
        </p:grpSpPr>
        <p:sp>
          <p:nvSpPr>
            <p:cNvPr id="124" name="Rectangle 82"/>
            <p:cNvSpPr>
              <a:spLocks noChangeArrowheads="1"/>
            </p:cNvSpPr>
            <p:nvPr/>
          </p:nvSpPr>
          <p:spPr bwMode="auto">
            <a:xfrm>
              <a:off x="2404489" y="5970082"/>
              <a:ext cx="136256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25" name="Rectangle 83"/>
            <p:cNvSpPr>
              <a:spLocks noChangeArrowheads="1"/>
            </p:cNvSpPr>
            <p:nvPr/>
          </p:nvSpPr>
          <p:spPr bwMode="auto">
            <a:xfrm rot="16200000">
              <a:off x="1629919" y="5278403"/>
              <a:ext cx="125034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26" name="Freeform 84"/>
            <p:cNvSpPr>
              <a:spLocks/>
            </p:cNvSpPr>
            <p:nvPr/>
          </p:nvSpPr>
          <p:spPr bwMode="auto">
            <a:xfrm>
              <a:off x="1822509" y="4897310"/>
              <a:ext cx="1287328" cy="1037907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1 h 1179"/>
                <a:gd name="T4" fmla="*/ 2 w 1271"/>
                <a:gd name="T5" fmla="*/ 1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5" name="Grupo 4"/>
            <p:cNvGrpSpPr/>
            <p:nvPr/>
          </p:nvGrpSpPr>
          <p:grpSpPr>
            <a:xfrm>
              <a:off x="2302970" y="5329101"/>
              <a:ext cx="265404" cy="213251"/>
              <a:chOff x="2168380" y="5558817"/>
              <a:chExt cx="265404" cy="213251"/>
            </a:xfrm>
          </p:grpSpPr>
          <p:sp>
            <p:nvSpPr>
              <p:cNvPr id="114" name="Oval 71"/>
              <p:cNvSpPr>
                <a:spLocks noChangeArrowheads="1"/>
              </p:cNvSpPr>
              <p:nvPr/>
            </p:nvSpPr>
            <p:spPr bwMode="auto">
              <a:xfrm>
                <a:off x="2271732" y="5558817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6" name="Oval 73"/>
              <p:cNvSpPr>
                <a:spLocks noChangeArrowheads="1"/>
              </p:cNvSpPr>
              <p:nvPr/>
            </p:nvSpPr>
            <p:spPr bwMode="auto">
              <a:xfrm>
                <a:off x="2397784" y="5709005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9" name="Oval 76"/>
              <p:cNvSpPr>
                <a:spLocks noChangeArrowheads="1"/>
              </p:cNvSpPr>
              <p:nvPr/>
            </p:nvSpPr>
            <p:spPr bwMode="auto">
              <a:xfrm>
                <a:off x="2226140" y="5686209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8" name="Oval 74"/>
              <p:cNvSpPr>
                <a:spLocks noChangeArrowheads="1"/>
              </p:cNvSpPr>
              <p:nvPr/>
            </p:nvSpPr>
            <p:spPr bwMode="auto">
              <a:xfrm>
                <a:off x="2386282" y="563040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0" name="Oval 74"/>
              <p:cNvSpPr>
                <a:spLocks noChangeArrowheads="1"/>
              </p:cNvSpPr>
              <p:nvPr/>
            </p:nvSpPr>
            <p:spPr bwMode="auto">
              <a:xfrm>
                <a:off x="2314274" y="566124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2" name="Oval 74"/>
              <p:cNvSpPr>
                <a:spLocks noChangeArrowheads="1"/>
              </p:cNvSpPr>
              <p:nvPr/>
            </p:nvSpPr>
            <p:spPr bwMode="auto">
              <a:xfrm>
                <a:off x="2276128" y="573325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4" name="Oval 74"/>
              <p:cNvSpPr>
                <a:spLocks noChangeArrowheads="1"/>
              </p:cNvSpPr>
              <p:nvPr/>
            </p:nvSpPr>
            <p:spPr bwMode="auto">
              <a:xfrm>
                <a:off x="2195736" y="563040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0" name="Oval 74"/>
              <p:cNvSpPr>
                <a:spLocks noChangeArrowheads="1"/>
              </p:cNvSpPr>
              <p:nvPr/>
            </p:nvSpPr>
            <p:spPr bwMode="auto">
              <a:xfrm>
                <a:off x="2339752" y="558924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2" name="Oval 74"/>
              <p:cNvSpPr>
                <a:spLocks noChangeArrowheads="1"/>
              </p:cNvSpPr>
              <p:nvPr/>
            </p:nvSpPr>
            <p:spPr bwMode="auto">
              <a:xfrm>
                <a:off x="2168380" y="570199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3" name="Oval 74"/>
              <p:cNvSpPr>
                <a:spLocks noChangeArrowheads="1"/>
              </p:cNvSpPr>
              <p:nvPr/>
            </p:nvSpPr>
            <p:spPr bwMode="auto">
              <a:xfrm>
                <a:off x="2262160" y="562441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7" name="Oval 74"/>
              <p:cNvSpPr>
                <a:spLocks noChangeArrowheads="1"/>
              </p:cNvSpPr>
              <p:nvPr/>
            </p:nvSpPr>
            <p:spPr bwMode="auto">
              <a:xfrm>
                <a:off x="2208296" y="573606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48" name="Retângulo 147"/>
          <p:cNvSpPr/>
          <p:nvPr/>
        </p:nvSpPr>
        <p:spPr>
          <a:xfrm>
            <a:off x="1814073" y="6142090"/>
            <a:ext cx="13394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Amostragem não</a:t>
            </a:r>
          </a:p>
          <a:p>
            <a:pPr algn="ctr"/>
            <a:r>
              <a:rPr lang="pt-BR" sz="1200" dirty="0">
                <a:latin typeface="Tahoma" panose="020B0604030504040204" pitchFamily="34" charset="0"/>
              </a:rPr>
              <a:t>representativa</a:t>
            </a:r>
          </a:p>
        </p:txBody>
      </p:sp>
      <p:sp>
        <p:nvSpPr>
          <p:cNvPr id="149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68554F5B-1625-4E3A-B6E3-A97282658F01}" type="slidenum">
              <a:rPr lang="pt-BR"/>
              <a:pPr>
                <a:defRPr/>
              </a:pPr>
              <a:t>13</a:t>
            </a:fld>
            <a:endParaRPr lang="pt-BR" dirty="0"/>
          </a:p>
        </p:txBody>
      </p:sp>
      <p:cxnSp>
        <p:nvCxnSpPr>
          <p:cNvPr id="11" name="Conector reto 10"/>
          <p:cNvCxnSpPr>
            <a:endCxn id="117" idx="7"/>
          </p:cNvCxnSpPr>
          <p:nvPr/>
        </p:nvCxnSpPr>
        <p:spPr bwMode="auto">
          <a:xfrm flipV="1">
            <a:off x="1995037" y="5189549"/>
            <a:ext cx="798711" cy="52286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85" name="Grupo 184"/>
          <p:cNvGrpSpPr/>
          <p:nvPr/>
        </p:nvGrpSpPr>
        <p:grpSpPr>
          <a:xfrm>
            <a:off x="4170466" y="4896456"/>
            <a:ext cx="1540512" cy="1318993"/>
            <a:chOff x="1569325" y="4897310"/>
            <a:chExt cx="1540512" cy="1318993"/>
          </a:xfrm>
        </p:grpSpPr>
        <p:sp>
          <p:nvSpPr>
            <p:cNvPr id="186" name="Rectangle 82"/>
            <p:cNvSpPr>
              <a:spLocks noChangeArrowheads="1"/>
            </p:cNvSpPr>
            <p:nvPr/>
          </p:nvSpPr>
          <p:spPr bwMode="auto">
            <a:xfrm>
              <a:off x="2404489" y="5970082"/>
              <a:ext cx="136256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87" name="Rectangle 83"/>
            <p:cNvSpPr>
              <a:spLocks noChangeArrowheads="1"/>
            </p:cNvSpPr>
            <p:nvPr/>
          </p:nvSpPr>
          <p:spPr bwMode="auto">
            <a:xfrm rot="16200000">
              <a:off x="1629919" y="5278403"/>
              <a:ext cx="125034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88" name="Freeform 84"/>
            <p:cNvSpPr>
              <a:spLocks/>
            </p:cNvSpPr>
            <p:nvPr/>
          </p:nvSpPr>
          <p:spPr bwMode="auto">
            <a:xfrm>
              <a:off x="1822509" y="4897310"/>
              <a:ext cx="1287328" cy="1037907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1 h 1179"/>
                <a:gd name="T4" fmla="*/ 2 w 1271"/>
                <a:gd name="T5" fmla="*/ 1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89" name="Grupo 188"/>
            <p:cNvGrpSpPr/>
            <p:nvPr/>
          </p:nvGrpSpPr>
          <p:grpSpPr>
            <a:xfrm>
              <a:off x="2078875" y="5233683"/>
              <a:ext cx="792080" cy="572435"/>
              <a:chOff x="1944285" y="5463399"/>
              <a:chExt cx="792080" cy="572435"/>
            </a:xfrm>
          </p:grpSpPr>
          <p:sp>
            <p:nvSpPr>
              <p:cNvPr id="190" name="Oval 71"/>
              <p:cNvSpPr>
                <a:spLocks noChangeArrowheads="1"/>
              </p:cNvSpPr>
              <p:nvPr/>
            </p:nvSpPr>
            <p:spPr bwMode="auto">
              <a:xfrm>
                <a:off x="2052293" y="575535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1" name="Oval 73"/>
              <p:cNvSpPr>
                <a:spLocks noChangeArrowheads="1"/>
              </p:cNvSpPr>
              <p:nvPr/>
            </p:nvSpPr>
            <p:spPr bwMode="auto">
              <a:xfrm>
                <a:off x="2448341" y="553177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2" name="Oval 76"/>
              <p:cNvSpPr>
                <a:spLocks noChangeArrowheads="1"/>
              </p:cNvSpPr>
              <p:nvPr/>
            </p:nvSpPr>
            <p:spPr bwMode="auto">
              <a:xfrm>
                <a:off x="2226140" y="5686209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3" name="Oval 74"/>
              <p:cNvSpPr>
                <a:spLocks noChangeArrowheads="1"/>
              </p:cNvSpPr>
              <p:nvPr/>
            </p:nvSpPr>
            <p:spPr bwMode="auto">
              <a:xfrm>
                <a:off x="2508890" y="5463399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" name="Oval 74"/>
              <p:cNvSpPr>
                <a:spLocks noChangeArrowheads="1"/>
              </p:cNvSpPr>
              <p:nvPr/>
            </p:nvSpPr>
            <p:spPr bwMode="auto">
              <a:xfrm>
                <a:off x="2314274" y="566124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" name="Oval 74"/>
              <p:cNvSpPr>
                <a:spLocks noChangeArrowheads="1"/>
              </p:cNvSpPr>
              <p:nvPr/>
            </p:nvSpPr>
            <p:spPr bwMode="auto">
              <a:xfrm>
                <a:off x="1944285" y="589181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6" name="Oval 74"/>
              <p:cNvSpPr>
                <a:spLocks noChangeArrowheads="1"/>
              </p:cNvSpPr>
              <p:nvPr/>
            </p:nvSpPr>
            <p:spPr bwMode="auto">
              <a:xfrm>
                <a:off x="2137672" y="575506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7" name="Oval 74"/>
              <p:cNvSpPr>
                <a:spLocks noChangeArrowheads="1"/>
              </p:cNvSpPr>
              <p:nvPr/>
            </p:nvSpPr>
            <p:spPr bwMode="auto">
              <a:xfrm>
                <a:off x="2339752" y="558924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8" name="Oval 74"/>
              <p:cNvSpPr>
                <a:spLocks noChangeArrowheads="1"/>
              </p:cNvSpPr>
              <p:nvPr/>
            </p:nvSpPr>
            <p:spPr bwMode="auto">
              <a:xfrm>
                <a:off x="2268317" y="599983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9" name="Oval 74"/>
              <p:cNvSpPr>
                <a:spLocks noChangeArrowheads="1"/>
              </p:cNvSpPr>
              <p:nvPr/>
            </p:nvSpPr>
            <p:spPr bwMode="auto">
              <a:xfrm>
                <a:off x="2700365" y="585581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0" name="Oval 74"/>
              <p:cNvSpPr>
                <a:spLocks noChangeArrowheads="1"/>
              </p:cNvSpPr>
              <p:nvPr/>
            </p:nvSpPr>
            <p:spPr bwMode="auto">
              <a:xfrm>
                <a:off x="2005688" y="582010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01" name="Retângulo 200"/>
          <p:cNvSpPr/>
          <p:nvPr/>
        </p:nvSpPr>
        <p:spPr>
          <a:xfrm>
            <a:off x="4081667" y="6141236"/>
            <a:ext cx="200651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Presença de </a:t>
            </a:r>
            <a:r>
              <a:rPr lang="pt-BR" sz="1200" dirty="0" err="1">
                <a:latin typeface="Tahoma" panose="020B0604030504040204" pitchFamily="34" charset="0"/>
              </a:rPr>
              <a:t>outliers</a:t>
            </a:r>
            <a:endParaRPr lang="pt-BR" sz="1200" dirty="0">
              <a:latin typeface="Tahoma" panose="020B0604030504040204" pitchFamily="34" charset="0"/>
            </a:endParaRPr>
          </a:p>
          <a:p>
            <a:pPr algn="ctr"/>
            <a:r>
              <a:rPr lang="pt-BR" sz="1200" dirty="0">
                <a:latin typeface="Tahoma" panose="020B0604030504040204" pitchFamily="34" charset="0"/>
              </a:rPr>
              <a:t>ou pontos de alavancagem</a:t>
            </a:r>
          </a:p>
        </p:txBody>
      </p:sp>
      <p:cxnSp>
        <p:nvCxnSpPr>
          <p:cNvPr id="202" name="Conector reto 201"/>
          <p:cNvCxnSpPr/>
          <p:nvPr/>
        </p:nvCxnSpPr>
        <p:spPr bwMode="auto">
          <a:xfrm flipV="1">
            <a:off x="4655388" y="5515290"/>
            <a:ext cx="864000" cy="10995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609920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439" grpId="0" animBg="1"/>
      <p:bldP spid="13440" grpId="0" animBg="1"/>
      <p:bldP spid="13443" grpId="0" animBg="1"/>
      <p:bldP spid="13444" grpId="0" animBg="1"/>
      <p:bldP spid="13445" grpId="0" animBg="1"/>
      <p:bldP spid="13446" grpId="0" animBg="1"/>
      <p:bldP spid="13447" grpId="0" animBg="1"/>
      <p:bldP spid="86" grpId="0"/>
      <p:bldP spid="87" grpId="0"/>
      <p:bldP spid="148" grpId="0"/>
      <p:bldP spid="20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8" name="Text Box 18"/>
          <p:cNvSpPr txBox="1">
            <a:spLocks noChangeArrowheads="1"/>
          </p:cNvSpPr>
          <p:nvPr/>
        </p:nvSpPr>
        <p:spPr bwMode="auto">
          <a:xfrm>
            <a:off x="755576" y="1565549"/>
            <a:ext cx="7632848" cy="1519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8775" indent="-358775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como determinar qual a função que melhor descreve a relação entre variáveis estudadas?</a:t>
            </a:r>
          </a:p>
          <a:p>
            <a:pPr marL="358775" indent="-358775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possível obter estimativas “confiáveis” de uma variável conhecendo-se o valor de outras variáveis?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79CD28-78FA-407F-A4F3-134BA6092B9D}" type="slidenum">
              <a:rPr lang="pt-BR"/>
              <a:pPr>
                <a:defRPr/>
              </a:pPr>
              <a:t>14</a:t>
            </a:fld>
            <a:endParaRPr lang="pt-BR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A6A8EABF-7540-C098-2DDD-E38527C298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3131249"/>
            <a:ext cx="4895850" cy="2998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31B84A46-41D6-B3CC-38D6-62C9545A84D4}"/>
              </a:ext>
            </a:extLst>
          </p:cNvPr>
          <p:cNvSpPr/>
          <p:nvPr/>
        </p:nvSpPr>
        <p:spPr>
          <a:xfrm>
            <a:off x="2267744" y="6187370"/>
            <a:ext cx="4895844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73050" indent="-273050"/>
            <a:r>
              <a:rPr lang="pt-BR" altLang="pt-BR" sz="1000" dirty="0">
                <a:latin typeface="Tahoma" panose="020B0604030504040204" pitchFamily="34" charset="0"/>
              </a:rPr>
              <a:t>Fonte: Adaptado de Santos, F.C.; Pereira Filho, W.; </a:t>
            </a:r>
            <a:r>
              <a:rPr lang="pt-BR" altLang="pt-BR" sz="1000" dirty="0" err="1">
                <a:latin typeface="Tahoma" panose="020B0604030504040204" pitchFamily="34" charset="0"/>
              </a:rPr>
              <a:t>Toniolo</a:t>
            </a:r>
            <a:r>
              <a:rPr lang="pt-BR" altLang="pt-BR" sz="1000" dirty="0">
                <a:latin typeface="Tahoma" panose="020B0604030504040204" pitchFamily="34" charset="0"/>
              </a:rPr>
              <a:t>, G.R.. Transparência associada à </a:t>
            </a:r>
            <a:r>
              <a:rPr lang="pt-BR" altLang="pt-BR" sz="1000" dirty="0" err="1">
                <a:latin typeface="Tahoma" panose="020B0604030504040204" pitchFamily="34" charset="0"/>
              </a:rPr>
              <a:t>reflectância</a:t>
            </a:r>
            <a:r>
              <a:rPr lang="pt-BR" altLang="pt-BR" sz="1000" dirty="0">
                <a:latin typeface="Tahoma" panose="020B0604030504040204" pitchFamily="34" charset="0"/>
              </a:rPr>
              <a:t> da água do reservatório Passo Real. In: XVII SBSR, 2015. p. 6653-6659</a:t>
            </a:r>
            <a:endParaRPr lang="pt-BR" sz="1000" dirty="0">
              <a:latin typeface="Tahoma" panose="020B0604030504040204" pitchFamily="34" charset="0"/>
            </a:endParaRPr>
          </a:p>
        </p:txBody>
      </p:sp>
      <p:sp>
        <p:nvSpPr>
          <p:cNvPr id="7" name="Forma livre 1">
            <a:extLst>
              <a:ext uri="{FF2B5EF4-FFF2-40B4-BE49-F238E27FC236}">
                <a16:creationId xmlns:a16="http://schemas.microsoft.com/office/drawing/2014/main" id="{86082709-9CE1-58E9-CCC4-B4E26A81E2FA}"/>
              </a:ext>
            </a:extLst>
          </p:cNvPr>
          <p:cNvSpPr/>
          <p:nvPr/>
        </p:nvSpPr>
        <p:spPr bwMode="auto">
          <a:xfrm>
            <a:off x="3598826" y="3533594"/>
            <a:ext cx="3073822" cy="1742302"/>
          </a:xfrm>
          <a:custGeom>
            <a:avLst/>
            <a:gdLst>
              <a:gd name="connsiteX0" fmla="*/ 0 w 3200400"/>
              <a:gd name="connsiteY0" fmla="*/ 0 h 1742302"/>
              <a:gd name="connsiteX1" fmla="*/ 1322173 w 3200400"/>
              <a:gd name="connsiteY1" fmla="*/ 1037967 h 1742302"/>
              <a:gd name="connsiteX2" fmla="*/ 3200400 w 3200400"/>
              <a:gd name="connsiteY2" fmla="*/ 1742302 h 1742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00400" h="1742302">
                <a:moveTo>
                  <a:pt x="0" y="0"/>
                </a:moveTo>
                <a:cubicBezTo>
                  <a:pt x="394386" y="373791"/>
                  <a:pt x="788773" y="747583"/>
                  <a:pt x="1322173" y="1037967"/>
                </a:cubicBezTo>
                <a:cubicBezTo>
                  <a:pt x="1855573" y="1328351"/>
                  <a:pt x="2527986" y="1535326"/>
                  <a:pt x="3200400" y="1742302"/>
                </a:cubicBezTo>
              </a:path>
            </a:pathLst>
          </a:custGeom>
          <a:noFill/>
          <a:ln w="28575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2656C04-4277-E6CA-10C7-B4A2672F7187}"/>
              </a:ext>
            </a:extLst>
          </p:cNvPr>
          <p:cNvSpPr txBox="1"/>
          <p:nvPr/>
        </p:nvSpPr>
        <p:spPr>
          <a:xfrm>
            <a:off x="5292080" y="4221088"/>
            <a:ext cx="3977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altLang="pt-BR" sz="2800" dirty="0">
                <a:solidFill>
                  <a:srgbClr val="FF0000"/>
                </a:solidFill>
                <a:latin typeface="Tahoma" panose="020B0604030504040204" pitchFamily="34" charset="0"/>
              </a:rPr>
              <a:t>?</a:t>
            </a:r>
            <a:endParaRPr lang="pt-BR" sz="28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B8C79-C007-BB52-403C-FDCA0D2BF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8" name="Text Box 18">
            <a:extLst>
              <a:ext uri="{FF2B5EF4-FFF2-40B4-BE49-F238E27FC236}">
                <a16:creationId xmlns:a16="http://schemas.microsoft.com/office/drawing/2014/main" id="{764DF8A0-2016-5A81-822E-E407ECF698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1565549"/>
            <a:ext cx="835342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“Método estatístico que utiliza a relação entre duas ou mais variáveis para que uma variável possa ser estimada (ou predita) a partir da outra ou das outras”</a:t>
            </a:r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55AE08E9-5791-9628-F113-81C38AC8D2A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</a:t>
            </a:r>
          </a:p>
        </p:txBody>
      </p:sp>
      <p:sp>
        <p:nvSpPr>
          <p:cNvPr id="5126" name="Text Box 21">
            <a:extLst>
              <a:ext uri="{FF2B5EF4-FFF2-40B4-BE49-F238E27FC236}">
                <a16:creationId xmlns:a16="http://schemas.microsoft.com/office/drawing/2014/main" id="{8CEC653D-173F-9667-DF86-2761AD09B5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3175" y="6554788"/>
            <a:ext cx="59055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 err="1">
                <a:latin typeface="Tahoma" panose="020B0604030504040204" pitchFamily="34" charset="0"/>
              </a:rPr>
              <a:t>Neter</a:t>
            </a:r>
            <a:r>
              <a:rPr lang="pt-BR" altLang="pt-BR" sz="1400" dirty="0">
                <a:latin typeface="Tahoma" panose="020B0604030504040204" pitchFamily="34" charset="0"/>
              </a:rPr>
              <a:t>, J, et al, </a:t>
            </a:r>
            <a:r>
              <a:rPr lang="pt-BR" altLang="pt-BR" sz="1400" dirty="0" err="1">
                <a:latin typeface="Tahoma" panose="020B0604030504040204" pitchFamily="34" charset="0"/>
              </a:rPr>
              <a:t>Applied</a:t>
            </a:r>
            <a:r>
              <a:rPr lang="pt-BR" altLang="pt-BR" sz="1400" dirty="0">
                <a:latin typeface="Tahoma" panose="020B0604030504040204" pitchFamily="34" charset="0"/>
              </a:rPr>
              <a:t> Linear </a:t>
            </a:r>
            <a:r>
              <a:rPr lang="pt-BR" altLang="pt-BR" sz="1400" dirty="0" err="1">
                <a:latin typeface="Tahoma" panose="020B0604030504040204" pitchFamily="34" charset="0"/>
              </a:rPr>
              <a:t>Statistical</a:t>
            </a:r>
            <a:r>
              <a:rPr lang="pt-BR" altLang="pt-BR" sz="1400" dirty="0">
                <a:latin typeface="Tahoma" panose="020B0604030504040204" pitchFamily="34" charset="0"/>
              </a:rPr>
              <a:t> </a:t>
            </a:r>
            <a:r>
              <a:rPr lang="pt-BR" altLang="pt-BR" sz="1400" dirty="0" err="1">
                <a:latin typeface="Tahoma" panose="020B0604030504040204" pitchFamily="34" charset="0"/>
              </a:rPr>
              <a:t>Models</a:t>
            </a:r>
            <a:r>
              <a:rPr lang="pt-BR" altLang="pt-BR" sz="1400" dirty="0">
                <a:latin typeface="Tahoma" panose="020B0604030504040204" pitchFamily="34" charset="0"/>
              </a:rPr>
              <a:t>, McGraw Hill, 1996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B4619925-A3E4-5F21-44BA-CA303F29B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79CD28-78FA-407F-A4F3-134BA6092B9D}" type="slidenum">
              <a:rPr lang="pt-BR"/>
              <a:pPr>
                <a:defRPr/>
              </a:pPr>
              <a:t>15</a:t>
            </a:fld>
            <a:endParaRPr lang="pt-BR"/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7CD8D5AD-1685-AF14-7549-7A78011E9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305" y="2708920"/>
            <a:ext cx="7810127" cy="22629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271463" indent="-271463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Na análise de regressão, a variável a ser estimada é chamada de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dependente (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)</a:t>
            </a:r>
            <a:r>
              <a:rPr lang="pt-BR" altLang="pt-BR" sz="1600" dirty="0">
                <a:latin typeface="Tahoma" panose="020B0604030504040204" pitchFamily="34" charset="0"/>
              </a:rPr>
              <a:t> e as variáveis que vão explicar essa variável são chamadas de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independentes (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)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  <a:p>
            <a:pPr marL="271463" indent="-271463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271463" indent="-271463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existência de uma relação estatística entre a variável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dependente 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e a variável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independente 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não implica que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realmente dependa de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, ou que exista uma relação de causa-efeito entre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72960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Análise de Regressão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251520" y="1659864"/>
            <a:ext cx="8712968" cy="29392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eaLnBrk="0" hangingPunct="0">
              <a:spcBef>
                <a:spcPct val="50000"/>
              </a:spcBef>
              <a:defRPr/>
            </a:pPr>
            <a:r>
              <a:rPr lang="pt-BR" dirty="0">
                <a:latin typeface="Tahoma" panose="020B0604030504040204" pitchFamily="34" charset="0"/>
              </a:rPr>
              <a:t>Para que serve uma análise de regressão?</a:t>
            </a:r>
          </a:p>
          <a:p>
            <a:pPr eaLnBrk="0" hangingPunct="0">
              <a:spcBef>
                <a:spcPct val="50000"/>
              </a:spcBef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177800" indent="-17780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Encontrar as variáveis mais relevantes que se relacionam com a variável dependente (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  <a:p>
            <a:pPr marL="177800" indent="-17780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Encontrar a função que descreve como uma ou mais variáveis se relacionam com a variável dependente (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) e estimar os parâmetros que definem esta função (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equação ajustada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  <a:p>
            <a:pPr marL="177800" indent="-17780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Usar a equação ajustada para prever valores da variável dependente (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  <a:p>
            <a:pPr marL="342900" indent="-342900" eaLnBrk="0" hangingPunct="0">
              <a:spcBef>
                <a:spcPct val="50000"/>
              </a:spcBef>
              <a:defRPr/>
            </a:pPr>
            <a:endParaRPr lang="pt-BR" sz="1800" dirty="0">
              <a:latin typeface="Tahoma" panose="020B0604030504040204" pitchFamily="34" charset="0"/>
            </a:endParaRPr>
          </a:p>
          <a:p>
            <a:pPr marL="342900" indent="-342900" algn="ctr" eaLnBrk="0" hangingPunct="0">
              <a:spcBef>
                <a:spcPct val="50000"/>
              </a:spcBef>
              <a:defRPr/>
            </a:pPr>
            <a:r>
              <a:rPr lang="pt-BR" sz="2000" dirty="0">
                <a:solidFill>
                  <a:srgbClr val="FF0000"/>
                </a:solidFill>
                <a:latin typeface="Tahoma" panose="020B0604030504040204" pitchFamily="34" charset="0"/>
              </a:rPr>
              <a:t>Regressão Linear Simples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144BA4-CFF7-47B7-9F7F-0A0883599F2E}" type="slidenum">
              <a:rPr lang="pt-BR"/>
              <a:pPr>
                <a:defRPr/>
              </a:pPr>
              <a:t>16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814388" y="3323078"/>
            <a:ext cx="4211637" cy="3462219"/>
            <a:chOff x="814388" y="3323078"/>
            <a:chExt cx="4211637" cy="3462219"/>
          </a:xfrm>
        </p:grpSpPr>
        <p:pic>
          <p:nvPicPr>
            <p:cNvPr id="12393" name="Picture 105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0879" y="3323078"/>
              <a:ext cx="3425588" cy="30843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296" name="Text Box 34"/>
            <p:cNvSpPr txBox="1">
              <a:spLocks noChangeArrowheads="1"/>
            </p:cNvSpPr>
            <p:nvPr/>
          </p:nvSpPr>
          <p:spPr bwMode="auto">
            <a:xfrm>
              <a:off x="4702175" y="6418585"/>
              <a:ext cx="3238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</a:p>
          </p:txBody>
        </p:sp>
        <p:sp>
          <p:nvSpPr>
            <p:cNvPr id="12297" name="Text Box 35"/>
            <p:cNvSpPr txBox="1">
              <a:spLocks noChangeArrowheads="1"/>
            </p:cNvSpPr>
            <p:nvPr/>
          </p:nvSpPr>
          <p:spPr bwMode="auto">
            <a:xfrm>
              <a:off x="814388" y="3977010"/>
              <a:ext cx="311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Y</a:t>
              </a:r>
            </a:p>
          </p:txBody>
        </p:sp>
        <p:sp>
          <p:nvSpPr>
            <p:cNvPr id="12299" name="Line 41"/>
            <p:cNvSpPr>
              <a:spLocks noChangeShapeType="1"/>
            </p:cNvSpPr>
            <p:nvPr/>
          </p:nvSpPr>
          <p:spPr bwMode="auto">
            <a:xfrm>
              <a:off x="1136650" y="6334447"/>
              <a:ext cx="36925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0" name="Line 42"/>
            <p:cNvSpPr>
              <a:spLocks noChangeShapeType="1"/>
            </p:cNvSpPr>
            <p:nvPr/>
          </p:nvSpPr>
          <p:spPr bwMode="auto">
            <a:xfrm flipV="1">
              <a:off x="1136650" y="3707135"/>
              <a:ext cx="0" cy="26273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Simples</a:t>
            </a:r>
          </a:p>
        </p:txBody>
      </p:sp>
      <p:sp>
        <p:nvSpPr>
          <p:cNvPr id="15399" name="Line 39"/>
          <p:cNvSpPr>
            <a:spLocks noChangeShapeType="1"/>
          </p:cNvSpPr>
          <p:nvPr/>
        </p:nvSpPr>
        <p:spPr bwMode="auto">
          <a:xfrm flipV="1">
            <a:off x="1131888" y="4186560"/>
            <a:ext cx="3233737" cy="125253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407" name="Rectangle 47"/>
              <p:cNvSpPr>
                <a:spLocks noChangeArrowheads="1"/>
              </p:cNvSpPr>
              <p:nvPr/>
            </p:nvSpPr>
            <p:spPr bwMode="auto">
              <a:xfrm>
                <a:off x="4599384" y="3957960"/>
                <a:ext cx="3429000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200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𝐸</m:t>
                          </m:r>
                          <m:d>
                            <m:dPr>
                              <m:ctrlPr>
                                <a:rPr lang="pt-BR" altLang="pt-BR" sz="20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altLang="pt-BR" sz="2000" i="1">
                                      <a:latin typeface="Cambria Math" panose="02040503050406030204" pitchFamily="18" charset="0"/>
                                      <a:ea typeface="Cambria Math"/>
                                      <a:sym typeface="Symbol" pitchFamily="18" charset="2"/>
                                    </a:rPr>
                                  </m:ctrlPr>
                                </m:sSubPr>
                                <m:e>
                                  <m:r>
                                    <a:rPr lang="pt-BR" altLang="pt-BR" sz="2000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altLang="pt-BR" sz="2000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20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2000" i="1" baseline="-250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15407" name="Rectangle 4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99384" y="3957960"/>
                <a:ext cx="3429000" cy="400110"/>
              </a:xfrm>
              <a:prstGeom prst="rect">
                <a:avLst/>
              </a:prstGeom>
              <a:blipFill rotWithShape="1">
                <a:blip r:embed="rId3"/>
                <a:stretch>
                  <a:fillRect b="-1515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Espaço Reservado para Número de Slid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8CFA9B6-0F88-4304-A378-795B21144094}" type="slidenum">
              <a:rPr lang="pt-BR"/>
              <a:pPr>
                <a:defRPr/>
              </a:pPr>
              <a:t>17</a:t>
            </a:fld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5026025" y="4472129"/>
            <a:ext cx="350641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2563" indent="-182563"/>
            <a:r>
              <a:rPr lang="pt-BR" dirty="0">
                <a:latin typeface="Tahoma" panose="020B0604030504040204" pitchFamily="34" charset="0"/>
              </a:rPr>
              <a:t>A reta representa o valor médio da variável dependente (</a:t>
            </a:r>
            <a:r>
              <a:rPr lang="pt-BR" i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) para todos os níveis da variável independente (</a:t>
            </a:r>
            <a:r>
              <a:rPr lang="pt-BR" i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X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 Box 3"/>
              <p:cNvSpPr txBox="1">
                <a:spLocks noChangeArrowheads="1"/>
              </p:cNvSpPr>
              <p:nvPr/>
            </p:nvSpPr>
            <p:spPr bwMode="auto">
              <a:xfrm>
                <a:off x="251520" y="1377049"/>
                <a:ext cx="8712968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342900" indent="-342900" algn="ctr" eaLnBrk="0" hangingPunct="0">
                  <a:spcBef>
                    <a:spcPct val="50000"/>
                  </a:spcBef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80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18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  <m:r>
                        <a:rPr lang="pt-BR" altLang="pt-BR" sz="1800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1800" b="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8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6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520" y="1377049"/>
                <a:ext cx="8712968" cy="369332"/>
              </a:xfrm>
              <a:prstGeom prst="rect">
                <a:avLst/>
              </a:prstGeom>
              <a:blipFill rotWithShape="1">
                <a:blip r:embed="rId4"/>
                <a:stretch>
                  <a:fillRect b="-15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upo 10"/>
          <p:cNvGrpSpPr>
            <a:grpSpLocks/>
          </p:cNvGrpSpPr>
          <p:nvPr/>
        </p:nvGrpSpPr>
        <p:grpSpPr bwMode="auto">
          <a:xfrm>
            <a:off x="5131559" y="1179300"/>
            <a:ext cx="3832929" cy="5370145"/>
            <a:chOff x="4981467" y="4214818"/>
            <a:chExt cx="3831164" cy="5367923"/>
          </a:xfrm>
        </p:grpSpPr>
        <p:sp>
          <p:nvSpPr>
            <p:cNvPr id="29" name="Arco 28"/>
            <p:cNvSpPr/>
            <p:nvPr/>
          </p:nvSpPr>
          <p:spPr bwMode="auto">
            <a:xfrm>
              <a:off x="4981467" y="4214818"/>
              <a:ext cx="1276482" cy="1257419"/>
            </a:xfrm>
            <a:prstGeom prst="arc">
              <a:avLst>
                <a:gd name="adj1" fmla="val 5269980"/>
                <a:gd name="adj2" fmla="val 11034734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" name="CaixaDeTexto 7"/>
            <p:cNvSpPr txBox="1">
              <a:spLocks noChangeArrowheads="1"/>
            </p:cNvSpPr>
            <p:nvPr/>
          </p:nvSpPr>
          <p:spPr bwMode="auto">
            <a:xfrm>
              <a:off x="5421398" y="5331774"/>
              <a:ext cx="2243490" cy="5230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    variável independente*</a:t>
              </a:r>
              <a:endPara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(variável explicativa)</a:t>
              </a:r>
            </a:p>
          </p:txBody>
        </p:sp>
        <p:sp>
          <p:nvSpPr>
            <p:cNvPr id="41" name="CaixaDeTexto 7"/>
            <p:cNvSpPr txBox="1">
              <a:spLocks noChangeArrowheads="1"/>
            </p:cNvSpPr>
            <p:nvPr/>
          </p:nvSpPr>
          <p:spPr bwMode="auto">
            <a:xfrm>
              <a:off x="5067816" y="8982825"/>
              <a:ext cx="3744815" cy="5999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marL="123825" indent="-123825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latin typeface="Tahoma" panose="020B0604030504040204" pitchFamily="34" charset="0"/>
                </a:rPr>
                <a:t>* na regressão clássica, a </a:t>
              </a: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variável independente</a:t>
              </a:r>
              <a:r>
                <a:rPr lang="pt-BR" altLang="pt-BR" sz="1100" dirty="0">
                  <a:latin typeface="Tahoma" panose="020B0604030504040204" pitchFamily="34" charset="0"/>
                </a:rPr>
                <a:t> não é considerada uma variável aleatória, ou seja, supõe-se que seus  </a:t>
              </a: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valores são fixos conhecidos</a:t>
              </a:r>
            </a:p>
          </p:txBody>
        </p:sp>
      </p:grpSp>
      <p:grpSp>
        <p:nvGrpSpPr>
          <p:cNvPr id="31" name="Grupo 9"/>
          <p:cNvGrpSpPr>
            <a:grpSpLocks/>
          </p:cNvGrpSpPr>
          <p:nvPr/>
        </p:nvGrpSpPr>
        <p:grpSpPr bwMode="auto">
          <a:xfrm>
            <a:off x="5596830" y="1520621"/>
            <a:ext cx="2219296" cy="751867"/>
            <a:chOff x="5446150" y="4625081"/>
            <a:chExt cx="2219781" cy="751067"/>
          </a:xfrm>
        </p:grpSpPr>
        <p:sp>
          <p:nvSpPr>
            <p:cNvPr id="32" name="Arco 31"/>
            <p:cNvSpPr/>
            <p:nvPr/>
          </p:nvSpPr>
          <p:spPr bwMode="auto">
            <a:xfrm>
              <a:off x="5446150" y="4625081"/>
              <a:ext cx="559467" cy="395577"/>
            </a:xfrm>
            <a:prstGeom prst="arc">
              <a:avLst>
                <a:gd name="adj1" fmla="val 5269980"/>
                <a:gd name="adj2" fmla="val 10754393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3" name="CaixaDeTexto 8"/>
            <p:cNvSpPr txBox="1">
              <a:spLocks noChangeArrowheads="1"/>
            </p:cNvSpPr>
            <p:nvPr/>
          </p:nvSpPr>
          <p:spPr bwMode="auto">
            <a:xfrm>
              <a:off x="5699899" y="4853487"/>
              <a:ext cx="1966032" cy="5226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componente aleatório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(erro ou resíduo)</a:t>
              </a:r>
            </a:p>
          </p:txBody>
        </p:sp>
      </p:grpSp>
      <p:grpSp>
        <p:nvGrpSpPr>
          <p:cNvPr id="34" name="Grupo 11"/>
          <p:cNvGrpSpPr>
            <a:grpSpLocks/>
          </p:cNvGrpSpPr>
          <p:nvPr/>
        </p:nvGrpSpPr>
        <p:grpSpPr bwMode="auto">
          <a:xfrm>
            <a:off x="3858613" y="507736"/>
            <a:ext cx="3791446" cy="2857885"/>
            <a:chOff x="3690445" y="2971752"/>
            <a:chExt cx="3791475" cy="2857211"/>
          </a:xfrm>
        </p:grpSpPr>
        <p:sp>
          <p:nvSpPr>
            <p:cNvPr id="35" name="Arco 34"/>
            <p:cNvSpPr/>
            <p:nvPr/>
          </p:nvSpPr>
          <p:spPr bwMode="auto">
            <a:xfrm>
              <a:off x="3690445" y="2971752"/>
              <a:ext cx="3791475" cy="2487408"/>
            </a:xfrm>
            <a:prstGeom prst="arc">
              <a:avLst>
                <a:gd name="adj1" fmla="val 5269980"/>
                <a:gd name="adj2" fmla="val 10754393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6" name="CaixaDeTexto 13"/>
            <p:cNvSpPr txBox="1">
              <a:spLocks noChangeArrowheads="1"/>
            </p:cNvSpPr>
            <p:nvPr/>
          </p:nvSpPr>
          <p:spPr bwMode="auto">
            <a:xfrm>
              <a:off x="5585589" y="5305743"/>
              <a:ext cx="1850186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variável dependente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(variável resposta)</a:t>
              </a:r>
            </a:p>
          </p:txBody>
        </p:sp>
      </p:grpSp>
      <p:grpSp>
        <p:nvGrpSpPr>
          <p:cNvPr id="38" name="Grupo 37"/>
          <p:cNvGrpSpPr/>
          <p:nvPr/>
        </p:nvGrpSpPr>
        <p:grpSpPr>
          <a:xfrm>
            <a:off x="2195736" y="2849161"/>
            <a:ext cx="2084421" cy="625412"/>
            <a:chOff x="2051720" y="6182720"/>
            <a:chExt cx="2084421" cy="625412"/>
          </a:xfrm>
        </p:grpSpPr>
        <p:sp>
          <p:nvSpPr>
            <p:cNvPr id="39" name="Retângulo 38"/>
            <p:cNvSpPr/>
            <p:nvPr/>
          </p:nvSpPr>
          <p:spPr>
            <a:xfrm>
              <a:off x="2339752" y="6500355"/>
              <a:ext cx="1796389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400" dirty="0">
                  <a:latin typeface="Tahoma" panose="020B0604030504040204" pitchFamily="34" charset="0"/>
                </a:rPr>
                <a:t>erros independentes</a:t>
              </a:r>
            </a:p>
          </p:txBody>
        </p:sp>
        <p:sp>
          <p:nvSpPr>
            <p:cNvPr id="40" name="Arco 39"/>
            <p:cNvSpPr/>
            <p:nvPr/>
          </p:nvSpPr>
          <p:spPr bwMode="auto">
            <a:xfrm>
              <a:off x="2051720" y="6182720"/>
              <a:ext cx="559345" cy="466227"/>
            </a:xfrm>
            <a:prstGeom prst="arc">
              <a:avLst>
                <a:gd name="adj1" fmla="val 5269980"/>
                <a:gd name="adj2" fmla="val 10754393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7" name="CaixaDeTexto 8"/>
          <p:cNvSpPr txBox="1">
            <a:spLocks noChangeArrowheads="1"/>
          </p:cNvSpPr>
          <p:nvPr/>
        </p:nvSpPr>
        <p:spPr bwMode="auto">
          <a:xfrm>
            <a:off x="682136" y="1597722"/>
            <a:ext cx="166904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Pressuposições:</a:t>
            </a:r>
          </a:p>
        </p:txBody>
      </p:sp>
      <p:sp>
        <p:nvSpPr>
          <p:cNvPr id="3" name="Retângulo 2"/>
          <p:cNvSpPr/>
          <p:nvPr/>
        </p:nvSpPr>
        <p:spPr>
          <a:xfrm>
            <a:off x="5698731" y="3443068"/>
            <a:ext cx="288540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</a:t>
            </a:r>
            <a:r>
              <a:rPr lang="pt-BR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0</a:t>
            </a:r>
            <a:r>
              <a:rPr lang="pt-BR" i="1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 e </a:t>
            </a:r>
            <a:r>
              <a:rPr lang="pt-BR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</a:t>
            </a:r>
            <a:r>
              <a:rPr lang="pt-BR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pt-BR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 são parâmetros (fixos)</a:t>
            </a:r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675038" y="1811054"/>
                <a:ext cx="2789546" cy="14019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sz="1800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𝐸</m:t>
                      </m:r>
                      <m:d>
                        <m:dPr>
                          <m:ctrlPr>
                            <a:rPr lang="pt-BR" altLang="pt-BR" sz="1800" b="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sz="1800" b="0" i="1" smtClean="0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altLang="pt-BR" sz="1800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=0</m:t>
                      </m:r>
                    </m:oMath>
                  </m:oMathPara>
                </a14:m>
                <a:endParaRPr lang="pt-BR" altLang="pt-BR" sz="1800" b="0" dirty="0">
                  <a:latin typeface="Tahoma" panose="020B0604030504040204" pitchFamily="34" charset="0"/>
                  <a:ea typeface="Cambria Math"/>
                  <a:sym typeface="Symbol" pitchFamily="18" charset="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latin typeface="Cambria Math"/>
                        </a:rPr>
                        <m:t>𝑉𝑎𝑟</m:t>
                      </m:r>
                      <m:d>
                        <m:d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sz="1800" b="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pt-BR" sz="18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pt-BR" sz="1800" b="0" i="1" smtClean="0">
                              <a:latin typeface="Cambria Math"/>
                              <a:ea typeface="Cambria Math"/>
                            </a:rPr>
                            <m:t>𝜎</m:t>
                          </m:r>
                        </m:e>
                        <m:sup>
                          <m:r>
                            <a:rPr lang="pt-BR" sz="1800" b="0" i="1" smtClean="0"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latin typeface="Cambria Math"/>
                        </a:rPr>
                        <m:t>𝐶𝑜𝑣</m:t>
                      </m:r>
                      <m:d>
                        <m:d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𝑘</m:t>
                              </m:r>
                            </m:sub>
                          </m:s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pt-BR" sz="1800" b="0" i="1" smtClean="0">
                          <a:latin typeface="Cambria Math"/>
                        </a:rPr>
                        <m:t>=0       </m:t>
                      </m:r>
                      <m:r>
                        <a:rPr lang="pt-BR" sz="1800" b="0" i="1" smtClean="0">
                          <a:latin typeface="Cambria Math"/>
                          <a:ea typeface="Cambria Math"/>
                        </a:rPr>
                        <m:t>∀</m:t>
                      </m:r>
                      <m:r>
                        <a:rPr lang="pt-BR" sz="1800" b="0" i="1" smtClean="0">
                          <a:latin typeface="Cambria Math"/>
                          <a:ea typeface="Cambria Math"/>
                        </a:rPr>
                        <m:t>𝑘</m:t>
                      </m:r>
                      <m:r>
                        <a:rPr lang="pt-BR" sz="1800" b="0" i="1" smtClean="0">
                          <a:latin typeface="Cambria Math"/>
                          <a:ea typeface="Cambria Math"/>
                        </a:rPr>
                        <m:t>≠</m:t>
                      </m:r>
                      <m:r>
                        <a:rPr lang="pt-BR" sz="1800" b="0" i="1" smtClean="0">
                          <a:latin typeface="Cambria Math"/>
                          <a:ea typeface="Cambria Math"/>
                        </a:rPr>
                        <m:t>𝑗</m:t>
                      </m:r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038" y="1811054"/>
                <a:ext cx="2789546" cy="140192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99" grpId="0" animBg="1"/>
      <p:bldP spid="15407" grpId="0"/>
      <p:bldP spid="9" grpId="0"/>
      <p:bldP spid="37" grpId="0"/>
      <p:bldP spid="3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Simples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6274395" y="2518915"/>
            <a:ext cx="1177925" cy="1054101"/>
            <a:chOff x="3697" y="2135"/>
            <a:chExt cx="742" cy="664"/>
          </a:xfrm>
        </p:grpSpPr>
        <p:sp>
          <p:nvSpPr>
            <p:cNvPr id="10271" name="Text Box 8"/>
            <p:cNvSpPr txBox="1">
              <a:spLocks noChangeArrowheads="1"/>
            </p:cNvSpPr>
            <p:nvPr/>
          </p:nvSpPr>
          <p:spPr bwMode="auto">
            <a:xfrm>
              <a:off x="3697" y="2469"/>
              <a:ext cx="742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400" dirty="0">
                  <a:latin typeface="Tahoma" panose="020B0604030504040204" pitchFamily="34" charset="0"/>
                </a:rPr>
                <a:t>Inclinação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400" dirty="0">
                  <a:latin typeface="Tahoma" panose="020B0604030504040204" pitchFamily="34" charset="0"/>
                </a:rPr>
                <a:t>populacional</a:t>
              </a:r>
            </a:p>
          </p:txBody>
        </p:sp>
        <p:sp>
          <p:nvSpPr>
            <p:cNvPr id="12323" name="Line 9"/>
            <p:cNvSpPr>
              <a:spLocks noChangeShapeType="1"/>
            </p:cNvSpPr>
            <p:nvPr/>
          </p:nvSpPr>
          <p:spPr bwMode="auto">
            <a:xfrm>
              <a:off x="3697" y="2135"/>
              <a:ext cx="318" cy="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sz="14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4939257" y="2518915"/>
            <a:ext cx="1177925" cy="1054102"/>
            <a:chOff x="2890" y="2480"/>
            <a:chExt cx="742" cy="664"/>
          </a:xfrm>
        </p:grpSpPr>
        <p:sp>
          <p:nvSpPr>
            <p:cNvPr id="7" name="Text Box 11"/>
            <p:cNvSpPr txBox="1">
              <a:spLocks noChangeArrowheads="1"/>
            </p:cNvSpPr>
            <p:nvPr/>
          </p:nvSpPr>
          <p:spPr bwMode="auto">
            <a:xfrm>
              <a:off x="2890" y="2814"/>
              <a:ext cx="742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400" dirty="0">
                  <a:latin typeface="Tahoma" panose="020B0604030504040204" pitchFamily="34" charset="0"/>
                </a:rPr>
                <a:t>Intercepto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400" dirty="0">
                  <a:latin typeface="Tahoma" panose="020B0604030504040204" pitchFamily="34" charset="0"/>
                </a:rPr>
                <a:t>populacional</a:t>
              </a:r>
            </a:p>
          </p:txBody>
        </p:sp>
        <p:sp>
          <p:nvSpPr>
            <p:cNvPr id="12321" name="Line 12"/>
            <p:cNvSpPr>
              <a:spLocks noChangeShapeType="1"/>
            </p:cNvSpPr>
            <p:nvPr/>
          </p:nvSpPr>
          <p:spPr bwMode="auto">
            <a:xfrm flipH="1">
              <a:off x="3261" y="2480"/>
              <a:ext cx="97" cy="3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sz="1400" dirty="0">
                <a:latin typeface="Tahoma" panose="020B0604030504040204" pitchFamily="34" charset="0"/>
              </a:endParaRPr>
            </a:p>
          </p:txBody>
        </p:sp>
      </p:grpSp>
      <p:sp>
        <p:nvSpPr>
          <p:cNvPr id="12319" name="AutoShape 28"/>
          <p:cNvSpPr>
            <a:spLocks noChangeAspect="1" noChangeArrowheads="1"/>
          </p:cNvSpPr>
          <p:nvPr/>
        </p:nvSpPr>
        <p:spPr bwMode="auto">
          <a:xfrm>
            <a:off x="3462354" y="2276872"/>
            <a:ext cx="90488" cy="90488"/>
          </a:xfrm>
          <a:prstGeom prst="flowChartConnector">
            <a:avLst/>
          </a:prstGeom>
          <a:solidFill>
            <a:srgbClr val="FF99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5" name="Group 50"/>
          <p:cNvGrpSpPr>
            <a:grpSpLocks/>
          </p:cNvGrpSpPr>
          <p:nvPr/>
        </p:nvGrpSpPr>
        <p:grpSpPr bwMode="auto">
          <a:xfrm>
            <a:off x="3013078" y="2217748"/>
            <a:ext cx="587375" cy="523877"/>
            <a:chOff x="1603" y="1409"/>
            <a:chExt cx="370" cy="330"/>
          </a:xfrm>
        </p:grpSpPr>
        <p:sp>
          <p:nvSpPr>
            <p:cNvPr id="12311" name="Line 30"/>
            <p:cNvSpPr>
              <a:spLocks noChangeShapeType="1"/>
            </p:cNvSpPr>
            <p:nvPr/>
          </p:nvSpPr>
          <p:spPr bwMode="auto">
            <a:xfrm>
              <a:off x="1916" y="1491"/>
              <a:ext cx="0" cy="2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12" name="Text Box 32"/>
                <p:cNvSpPr txBox="1">
                  <a:spLocks noChangeArrowheads="1"/>
                </p:cNvSpPr>
                <p:nvPr/>
              </p:nvSpPr>
              <p:spPr bwMode="auto">
                <a:xfrm>
                  <a:off x="1603" y="1409"/>
                  <a:ext cx="370" cy="33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 baseline="-25000" dirty="0">
                      <a:latin typeface="Times New Roman" charset="0"/>
                      <a:cs typeface="Times New Roman" charset="0"/>
                      <a:sym typeface="Mathematica1" pitchFamily="2" charset="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pt-BR" altLang="pt-BR" dirty="0">
                      <a:latin typeface="Times New Roman" charset="0"/>
                      <a:cs typeface="Times New Roman" charset="0"/>
                      <a:sym typeface="Mathematica1" pitchFamily="2" charset="2"/>
                    </a:rPr>
                    <a:t>{</a:t>
                  </a:r>
                  <a:endParaRPr lang="pt-BR" altLang="pt-BR" sz="1600" baseline="-25000" dirty="0">
                    <a:latin typeface="Times New Roman" charset="0"/>
                    <a:cs typeface="Times New Roman" charset="0"/>
                    <a:sym typeface="Mathematica1" pitchFamily="2" charset="2"/>
                  </a:endParaRPr>
                </a:p>
              </p:txBody>
            </p:sp>
          </mc:Choice>
          <mc:Fallback xmlns="">
            <p:sp>
              <p:nvSpPr>
                <p:cNvPr id="12312" name="Text Box 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603" y="1409"/>
                  <a:ext cx="370" cy="330"/>
                </a:xfrm>
                <a:prstGeom prst="rect">
                  <a:avLst/>
                </a:prstGeom>
                <a:blipFill rotWithShape="1">
                  <a:blip r:embed="rId2"/>
                  <a:stretch>
                    <a:fillRect t="-11628" r="-16495" b="-31395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296" name="Text Box 34"/>
          <p:cNvSpPr txBox="1">
            <a:spLocks noChangeArrowheads="1"/>
          </p:cNvSpPr>
          <p:nvPr/>
        </p:nvSpPr>
        <p:spPr bwMode="auto">
          <a:xfrm>
            <a:off x="4702175" y="4583113"/>
            <a:ext cx="323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</a:p>
        </p:txBody>
      </p:sp>
      <p:sp>
        <p:nvSpPr>
          <p:cNvPr id="12297" name="Text Box 35"/>
          <p:cNvSpPr txBox="1">
            <a:spLocks noChangeArrowheads="1"/>
          </p:cNvSpPr>
          <p:nvPr/>
        </p:nvSpPr>
        <p:spPr bwMode="auto">
          <a:xfrm>
            <a:off x="814388" y="214153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Y</a:t>
            </a:r>
          </a:p>
        </p:txBody>
      </p:sp>
      <p:sp>
        <p:nvSpPr>
          <p:cNvPr id="12299" name="Line 41"/>
          <p:cNvSpPr>
            <a:spLocks noChangeShapeType="1"/>
          </p:cNvSpPr>
          <p:nvPr/>
        </p:nvSpPr>
        <p:spPr bwMode="auto">
          <a:xfrm>
            <a:off x="1136650" y="4498975"/>
            <a:ext cx="36925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300" name="Line 42"/>
          <p:cNvSpPr>
            <a:spLocks noChangeShapeType="1"/>
          </p:cNvSpPr>
          <p:nvPr/>
        </p:nvSpPr>
        <p:spPr bwMode="auto">
          <a:xfrm flipV="1">
            <a:off x="1136650" y="1871663"/>
            <a:ext cx="0" cy="2627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6" name="Group 48"/>
          <p:cNvGrpSpPr>
            <a:grpSpLocks/>
          </p:cNvGrpSpPr>
          <p:nvPr/>
        </p:nvGrpSpPr>
        <p:grpSpPr bwMode="auto">
          <a:xfrm>
            <a:off x="1731021" y="3080998"/>
            <a:ext cx="733425" cy="300038"/>
            <a:chOff x="1205" y="1828"/>
            <a:chExt cx="462" cy="189"/>
          </a:xfrm>
        </p:grpSpPr>
        <p:sp>
          <p:nvSpPr>
            <p:cNvPr id="12309" name="Line 37"/>
            <p:cNvSpPr>
              <a:spLocks noChangeShapeType="1"/>
            </p:cNvSpPr>
            <p:nvPr/>
          </p:nvSpPr>
          <p:spPr bwMode="auto">
            <a:xfrm flipV="1">
              <a:off x="1667" y="1828"/>
              <a:ext cx="0" cy="1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0" name="Line 43"/>
            <p:cNvSpPr>
              <a:spLocks noChangeShapeType="1"/>
            </p:cNvSpPr>
            <p:nvPr/>
          </p:nvSpPr>
          <p:spPr bwMode="auto">
            <a:xfrm>
              <a:off x="1205" y="2017"/>
              <a:ext cx="44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5404" name="Rectangle 44"/>
          <p:cNvSpPr>
            <a:spLocks noChangeArrowheads="1"/>
          </p:cNvSpPr>
          <p:nvPr/>
        </p:nvSpPr>
        <p:spPr bwMode="auto">
          <a:xfrm>
            <a:off x="764513" y="3413434"/>
            <a:ext cx="48122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latin typeface="Times New Roman" charset="0"/>
              </a:rPr>
              <a:t> </a:t>
            </a:r>
            <a:r>
              <a:rPr lang="pt-BR" altLang="pt-BR" sz="1600" i="1" dirty="0">
                <a:latin typeface="Symbol" pitchFamily="18" charset="2"/>
                <a:sym typeface="Mathematica1" pitchFamily="2" charset="2"/>
              </a:rPr>
              <a:t>b</a:t>
            </a:r>
            <a:r>
              <a:rPr lang="pt-BR" altLang="pt-BR" sz="1600" baseline="-25000" dirty="0">
                <a:latin typeface="Times New Roman" charset="0"/>
                <a:sym typeface="Mathematica1" pitchFamily="2" charset="2"/>
              </a:rPr>
              <a:t>0</a:t>
            </a:r>
            <a:r>
              <a:rPr lang="pt-BR" altLang="pt-BR" sz="1800" dirty="0">
                <a:latin typeface="Times New Roman" charset="0"/>
              </a:rPr>
              <a:t> </a:t>
            </a:r>
          </a:p>
        </p:txBody>
      </p:sp>
      <p:sp>
        <p:nvSpPr>
          <p:cNvPr id="15405" name="Rectangle 45"/>
          <p:cNvSpPr>
            <a:spLocks noChangeArrowheads="1"/>
          </p:cNvSpPr>
          <p:nvPr/>
        </p:nvSpPr>
        <p:spPr bwMode="auto">
          <a:xfrm>
            <a:off x="2411760" y="3183359"/>
            <a:ext cx="44275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latin typeface="Times New Roman" charset="0"/>
                <a:sym typeface="Mathematica1" pitchFamily="2" charset="2"/>
              </a:rPr>
              <a:t>1</a:t>
            </a:r>
            <a:r>
              <a:rPr lang="pt-BR" altLang="pt-BR" sz="2400" dirty="0">
                <a:latin typeface="Times New Roman" charset="0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>
                <a:spLocks noChangeArrowheads="1"/>
              </p:cNvSpPr>
              <p:nvPr/>
            </p:nvSpPr>
            <p:spPr bwMode="auto">
              <a:xfrm>
                <a:off x="682625" y="5373688"/>
                <a:ext cx="4572000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i="1" dirty="0">
                    <a:latin typeface="Tahoma" panose="020B0604030504040204" pitchFamily="34" charset="0"/>
                    <a:sym typeface="Symbol" pitchFamily="18" charset="2"/>
                  </a:rPr>
                  <a:t></a:t>
                </a:r>
                <a:r>
                  <a:rPr lang="pt-BR" altLang="pt-BR" sz="1800" baseline="-25000" dirty="0">
                    <a:latin typeface="Times New Roman" charset="0"/>
                    <a:cs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representa o valor de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/>
                        <a:ea typeface="Cambria Math"/>
                        <a:sym typeface="Symbol" pitchFamily="18" charset="2"/>
                      </a:rPr>
                      <m:t>𝐸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 pitchFamily="18" charset="2"/>
                      </a:rPr>
                      <m:t>=0</m:t>
                    </m:r>
                  </m:oMath>
                </a14:m>
                <a:endParaRPr lang="pt-BR" altLang="pt-BR" sz="1600" dirty="0">
                  <a:latin typeface="Times New Roman" charset="0"/>
                  <a:cs typeface="Times New Roman" charset="0"/>
                </a:endParaRPr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2625" y="5373688"/>
                <a:ext cx="4572000" cy="369332"/>
              </a:xfrm>
              <a:prstGeom prst="rect">
                <a:avLst/>
              </a:prstGeom>
              <a:blipFill>
                <a:blip r:embed="rId3"/>
                <a:stretch>
                  <a:fillRect l="-1200" t="-10000" b="-2666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tângulo 33"/>
              <p:cNvSpPr>
                <a:spLocks noChangeArrowheads="1"/>
              </p:cNvSpPr>
              <p:nvPr/>
            </p:nvSpPr>
            <p:spPr bwMode="auto">
              <a:xfrm>
                <a:off x="682625" y="5838825"/>
                <a:ext cx="4572000" cy="861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i="1" dirty="0">
                    <a:latin typeface="Tahoma" panose="020B0604030504040204" pitchFamily="34" charset="0"/>
                    <a:sym typeface="Symbol" pitchFamily="18" charset="2"/>
                  </a:rPr>
                  <a:t></a:t>
                </a:r>
                <a:r>
                  <a:rPr lang="pt-BR" altLang="pt-BR" sz="18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é o coeficiente angular da reta e representa o alteração em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/>
                        <a:ea typeface="Cambria Math"/>
                        <a:sym typeface="Symbol" pitchFamily="18" charset="2"/>
                      </a:rPr>
                      <m:t>𝐸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imes New Roman" charset="0"/>
                    <a:cs typeface="Times New Roman" charset="0"/>
                  </a:rPr>
                  <a:t>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é incrementado em uma unidade</a:t>
                </a:r>
                <a:endParaRPr lang="pt-BR" altLang="pt-BR" sz="1600" dirty="0">
                  <a:latin typeface="Times New Roman" charset="0"/>
                  <a:cs typeface="Times New Roman" charset="0"/>
                </a:endParaRPr>
              </a:p>
            </p:txBody>
          </p:sp>
        </mc:Choice>
        <mc:Fallback xmlns="">
          <p:sp>
            <p:nvSpPr>
              <p:cNvPr id="34" name="Retângulo 3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2625" y="5838825"/>
                <a:ext cx="4572000" cy="861774"/>
              </a:xfrm>
              <a:prstGeom prst="rect">
                <a:avLst/>
              </a:prstGeom>
              <a:blipFill>
                <a:blip r:embed="rId4"/>
                <a:stretch>
                  <a:fillRect l="-1200" t="-4255" r="-1467" b="-780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Espaço Reservado para Número de Slid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8CFA9B6-0F88-4304-A378-795B21144094}" type="slidenum">
              <a:rPr lang="pt-BR"/>
              <a:pPr>
                <a:defRPr/>
              </a:pPr>
              <a:t>18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47"/>
              <p:cNvSpPr>
                <a:spLocks noChangeArrowheads="1"/>
              </p:cNvSpPr>
              <p:nvPr/>
            </p:nvSpPr>
            <p:spPr bwMode="auto">
              <a:xfrm>
                <a:off x="4599384" y="2122488"/>
                <a:ext cx="3429000" cy="3929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𝐸</m:t>
                          </m:r>
                          <m:d>
                            <m:dPr>
                              <m:ctrlPr>
                                <a:rPr lang="pt-BR" altLang="pt-BR" sz="20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altLang="pt-BR" sz="2000" i="1">
                                      <a:latin typeface="Cambria Math" panose="02040503050406030204" pitchFamily="18" charset="0"/>
                                      <a:ea typeface="Cambria Math"/>
                                      <a:sym typeface="Symbol" pitchFamily="18" charset="2"/>
                                    </a:rPr>
                                  </m:ctrlPr>
                                </m:sSubPr>
                                <m:e>
                                  <m:r>
                                    <a:rPr lang="pt-BR" altLang="pt-BR" sz="2000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altLang="pt-BR" sz="2000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20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2000" i="1" baseline="-250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30" name="Rectangle 4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99384" y="2122488"/>
                <a:ext cx="3429000" cy="392993"/>
              </a:xfrm>
              <a:prstGeom prst="rect">
                <a:avLst/>
              </a:prstGeom>
              <a:blipFill rotWithShape="1">
                <a:blip r:embed="rId5"/>
                <a:stretch>
                  <a:fillRect b="-1692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Line 39"/>
          <p:cNvSpPr>
            <a:spLocks noChangeShapeType="1"/>
          </p:cNvSpPr>
          <p:nvPr/>
        </p:nvSpPr>
        <p:spPr bwMode="auto">
          <a:xfrm flipV="1">
            <a:off x="1619672" y="2351088"/>
            <a:ext cx="2745953" cy="106234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1" name="Grupo 10"/>
          <p:cNvGrpSpPr/>
          <p:nvPr/>
        </p:nvGrpSpPr>
        <p:grpSpPr>
          <a:xfrm>
            <a:off x="3332495" y="2671768"/>
            <a:ext cx="348172" cy="2193548"/>
            <a:chOff x="3332495" y="2671768"/>
            <a:chExt cx="348172" cy="2193548"/>
          </a:xfrm>
        </p:grpSpPr>
        <p:cxnSp>
          <p:nvCxnSpPr>
            <p:cNvPr id="10" name="Conector reto 9"/>
            <p:cNvCxnSpPr/>
            <p:nvPr/>
          </p:nvCxnSpPr>
          <p:spPr bwMode="auto">
            <a:xfrm>
              <a:off x="3507598" y="2671768"/>
              <a:ext cx="0" cy="1827207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5" name="Text Box 34"/>
            <p:cNvSpPr txBox="1">
              <a:spLocks noChangeArrowheads="1"/>
            </p:cNvSpPr>
            <p:nvPr/>
          </p:nvSpPr>
          <p:spPr bwMode="auto">
            <a:xfrm>
              <a:off x="3332495" y="4526762"/>
              <a:ext cx="348172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i="1" baseline="-25000" dirty="0">
                  <a:latin typeface="Times New Roman" charset="0"/>
                  <a:cs typeface="Times New Roman" charset="0"/>
                </a:rPr>
                <a:t>i</a:t>
              </a:r>
            </a:p>
          </p:txBody>
        </p:sp>
      </p:grpSp>
      <p:grpSp>
        <p:nvGrpSpPr>
          <p:cNvPr id="14" name="Grupo 13"/>
          <p:cNvGrpSpPr/>
          <p:nvPr/>
        </p:nvGrpSpPr>
        <p:grpSpPr>
          <a:xfrm>
            <a:off x="1370183" y="3026951"/>
            <a:ext cx="2193705" cy="707680"/>
            <a:chOff x="1370183" y="3026951"/>
            <a:chExt cx="2193705" cy="707680"/>
          </a:xfrm>
        </p:grpSpPr>
        <p:grpSp>
          <p:nvGrpSpPr>
            <p:cNvPr id="13" name="Grupo 12"/>
            <p:cNvGrpSpPr/>
            <p:nvPr/>
          </p:nvGrpSpPr>
          <p:grpSpPr>
            <a:xfrm>
              <a:off x="1370183" y="3026951"/>
              <a:ext cx="914271" cy="707680"/>
              <a:chOff x="1370183" y="3026951"/>
              <a:chExt cx="914271" cy="707680"/>
            </a:xfrm>
          </p:grpSpPr>
          <p:sp>
            <p:nvSpPr>
              <p:cNvPr id="9" name="Arco 8"/>
              <p:cNvSpPr/>
              <p:nvPr/>
            </p:nvSpPr>
            <p:spPr bwMode="auto">
              <a:xfrm>
                <a:off x="1370183" y="3026951"/>
                <a:ext cx="733425" cy="707680"/>
              </a:xfrm>
              <a:prstGeom prst="arc">
                <a:avLst>
                  <a:gd name="adj1" fmla="val 20300363"/>
                  <a:gd name="adj2" fmla="val 0"/>
                </a:avLst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" name="CaixaDeTexto 11"/>
              <p:cNvSpPr txBox="1"/>
              <p:nvPr/>
            </p:nvSpPr>
            <p:spPr>
              <a:xfrm>
                <a:off x="2019638" y="3151915"/>
                <a:ext cx="26481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200" i="1" dirty="0">
                    <a:latin typeface="Tahoma" panose="020B0604030504040204" pitchFamily="34" charset="0"/>
                    <a:sym typeface="Symbol"/>
                  </a:rPr>
                  <a:t></a:t>
                </a:r>
                <a:endParaRPr lang="pt-BR" sz="1200" i="1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3" name="Rectangle 45"/>
            <p:cNvSpPr>
              <a:spLocks noChangeArrowheads="1"/>
            </p:cNvSpPr>
            <p:nvPr/>
          </p:nvSpPr>
          <p:spPr bwMode="auto">
            <a:xfrm>
              <a:off x="2536043" y="3183359"/>
              <a:ext cx="1027845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 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= </a:t>
              </a:r>
              <a:r>
                <a:rPr lang="pt-BR" altLang="pt-BR" sz="1600" dirty="0" err="1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tan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(</a:t>
              </a:r>
              <a:r>
                <a:rPr lang="pt-BR" sz="1600" i="1" dirty="0">
                  <a:latin typeface="Tahoma" panose="020B0604030504040204" pitchFamily="34" charset="0"/>
                  <a:sym typeface="Symbol"/>
                </a:rPr>
                <a:t></a:t>
              </a:r>
              <a:r>
                <a:rPr lang="pt-BR" sz="16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)</a:t>
              </a:r>
              <a:r>
                <a:rPr lang="pt-BR" altLang="pt-BR" sz="2400" dirty="0">
                  <a:latin typeface="Times New Roman" charset="0"/>
                </a:rPr>
                <a:t> 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47"/>
              <p:cNvSpPr>
                <a:spLocks noChangeArrowheads="1"/>
              </p:cNvSpPr>
              <p:nvPr/>
            </p:nvSpPr>
            <p:spPr bwMode="auto">
              <a:xfrm>
                <a:off x="4932127" y="1663973"/>
                <a:ext cx="2401793" cy="3929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altLang="pt-BR" sz="20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20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altLang="pt-BR" sz="20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20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  <m:r>
                        <a:rPr lang="pt-BR" altLang="pt-BR" sz="20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2000" i="1" baseline="-250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36" name="Rectangle 4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32127" y="1663973"/>
                <a:ext cx="2401793" cy="392993"/>
              </a:xfrm>
              <a:prstGeom prst="rect">
                <a:avLst/>
              </a:prstGeom>
              <a:blipFill rotWithShape="1">
                <a:blip r:embed="rId6"/>
                <a:stretch>
                  <a:fillRect b="-1875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Line 39"/>
          <p:cNvSpPr>
            <a:spLocks noChangeShapeType="1"/>
          </p:cNvSpPr>
          <p:nvPr/>
        </p:nvSpPr>
        <p:spPr bwMode="auto">
          <a:xfrm flipV="1">
            <a:off x="1136650" y="3413434"/>
            <a:ext cx="483021" cy="184666"/>
          </a:xfrm>
          <a:prstGeom prst="line">
            <a:avLst/>
          </a:prstGeom>
          <a:noFill/>
          <a:ln w="28575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1384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19" grpId="0" animBg="1"/>
      <p:bldP spid="15404" grpId="0"/>
      <p:bldP spid="15405" grpId="0"/>
      <p:bldP spid="4" grpId="0"/>
      <p:bldP spid="34" grpId="0"/>
      <p:bldP spid="3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38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746125" y="1575296"/>
                <a:ext cx="8002588" cy="3827463"/>
              </a:xfrm>
            </p:spPr>
            <p:txBody>
              <a:bodyPr/>
              <a:lstStyle/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Em geral não se conhece os valores de </a:t>
                </a:r>
                <a:r>
                  <a:rPr lang="pt-BR" altLang="pt-BR" sz="1800" i="1" dirty="0">
                    <a:sym typeface="Symbol" pitchFamily="18" charset="2"/>
                  </a:rPr>
                  <a:t></a:t>
                </a:r>
                <a:r>
                  <a:rPr lang="pt-BR" altLang="pt-BR" sz="1800" baseline="-25000" dirty="0">
                    <a:latin typeface="Times New Roman" charset="0"/>
                    <a:cs typeface="Times New Roman" charset="0"/>
                    <a:sym typeface="Mathematica1" pitchFamily="2" charset="2"/>
                  </a:rPr>
                  <a:t>0</a:t>
                </a:r>
                <a:r>
                  <a:rPr lang="pt-BR" altLang="pt-BR" sz="1800" dirty="0">
                    <a:sym typeface="Mathematica1" pitchFamily="2" charset="2"/>
                  </a:rPr>
                  <a:t>, </a:t>
                </a:r>
                <a:r>
                  <a:rPr lang="pt-BR" altLang="pt-BR" sz="1800" i="1" dirty="0">
                    <a:sym typeface="Symbol" pitchFamily="18" charset="2"/>
                  </a:rPr>
                  <a:t></a:t>
                </a:r>
                <a:r>
                  <a:rPr lang="pt-BR" altLang="pt-BR" sz="18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600" dirty="0">
                    <a:latin typeface="Times New Roman" charset="0"/>
                    <a:cs typeface="Times New Roman" charset="0"/>
                  </a:rPr>
                  <a:t> </a:t>
                </a:r>
                <a:r>
                  <a:rPr lang="pt-BR" altLang="pt-BR" sz="1600" dirty="0"/>
                  <a:t>e </a:t>
                </a:r>
                <a:r>
                  <a:rPr lang="pt-BR" altLang="pt-BR" sz="1600" i="1" dirty="0">
                    <a:sym typeface="Symbol" pitchFamily="18" charset="2"/>
                  </a:rPr>
                  <a:t></a:t>
                </a:r>
                <a:r>
                  <a:rPr lang="pt-BR" altLang="pt-BR" sz="1600" baseline="30000" dirty="0">
                    <a:latin typeface="Times New Roman" charset="0"/>
                    <a:cs typeface="Times New Roman" charset="0"/>
                    <a:sym typeface="Symbol" pitchFamily="18" charset="2"/>
                  </a:rPr>
                  <a:t>2</a:t>
                </a:r>
                <a:r>
                  <a:rPr lang="pt-BR" altLang="pt-BR" sz="1600" dirty="0"/>
                  <a:t> 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Eles podem ser estimados através de dados obtidos por amostras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O método comumente utilizado na estimação dos parâmetros é o </a:t>
                </a:r>
                <a:r>
                  <a:rPr lang="pt-BR" altLang="pt-BR" sz="1600" dirty="0">
                    <a:solidFill>
                      <a:srgbClr val="FF0000"/>
                    </a:solidFill>
                  </a:rPr>
                  <a:t>método dos mínimos quadrados</a:t>
                </a:r>
                <a:r>
                  <a:rPr lang="pt-BR" altLang="pt-BR" sz="1600" dirty="0"/>
                  <a:t>, o qual considera os desvios quadráticos dos </a:t>
                </a: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600" i="1" baseline="-25000" dirty="0">
                    <a:latin typeface="Times New Roman" charset="0"/>
                    <a:cs typeface="Times New Roman" charset="0"/>
                  </a:rPr>
                  <a:t>i</a:t>
                </a:r>
                <a:r>
                  <a:rPr lang="pt-BR" altLang="pt-BR" sz="1600" i="1" dirty="0"/>
                  <a:t> </a:t>
                </a:r>
                <a:r>
                  <a:rPr lang="pt-BR" altLang="pt-BR" sz="1600" dirty="0"/>
                  <a:t> em relação a seu valor esperado:</a:t>
                </a:r>
              </a:p>
              <a:p>
                <a:pPr algn="ctr" eaLnBrk="1" hangingPunct="1">
                  <a:buFontTx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2000" b="0" i="1" smtClean="0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SupPr>
                      <m:e>
                        <m:r>
                          <a:rPr lang="pt-BR" altLang="pt-BR" sz="200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20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  <m:sup>
                        <m:r>
                          <a:rPr lang="pt-BR" altLang="pt-BR" sz="20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2</m:t>
                        </m:r>
                      </m:sup>
                    </m:sSubSup>
                    <m:r>
                      <a:rPr lang="pt-BR" altLang="pt-BR" sz="2000" b="0" i="1" smtClean="0">
                        <a:latin typeface="Cambria Math"/>
                        <a:ea typeface="Cambria Math"/>
                        <a:sym typeface="Symbol" pitchFamily="18" charset="2"/>
                      </a:rPr>
                      <m:t>=</m:t>
                    </m:r>
                    <m:sSup>
                      <m:sSupPr>
                        <m:ctrlPr>
                          <a:rPr lang="pt-BR" altLang="pt-BR" sz="2000" b="0" i="1" smtClean="0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altLang="pt-BR" sz="2000" b="0" i="1" smtClean="0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altLang="pt-BR" sz="20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−</m:t>
                            </m:r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𝐸</m:t>
                            </m:r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altLang="pt-BR" sz="20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pt-BR" altLang="pt-BR" sz="20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altLang="pt-BR" sz="2000" dirty="0">
                    <a:latin typeface="Times New Roman" charset="0"/>
                    <a:cs typeface="Times New Roman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20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SupPr>
                      <m:e>
                        <m:r>
                          <a:rPr lang="pt-BR" altLang="pt-BR" sz="20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                 </m:t>
                        </m:r>
                        <m:r>
                          <a:rPr lang="pt-BR" altLang="pt-BR" sz="20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20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  <m:sup>
                        <m:r>
                          <a:rPr lang="pt-BR" altLang="pt-BR" sz="20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2</m:t>
                        </m:r>
                      </m:sup>
                    </m:sSubSup>
                    <m:r>
                      <a:rPr lang="pt-BR" altLang="pt-BR" sz="2000" i="1">
                        <a:latin typeface="Cambria Math"/>
                        <a:ea typeface="Cambria Math"/>
                        <a:sym typeface="Symbol" pitchFamily="18" charset="2"/>
                      </a:rPr>
                      <m:t>=</m:t>
                    </m:r>
                    <m:sSup>
                      <m:sSupPr>
                        <m:ctrlPr>
                          <a:rPr lang="pt-BR" altLang="pt-BR" sz="20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altLang="pt-BR" sz="20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altLang="pt-BR" sz="20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−(</m:t>
                            </m:r>
                            <m:sSub>
                              <m:sSubPr>
                                <m:ctrlPr>
                                  <a:rPr lang="pt-BR" altLang="pt-BR" sz="2000" b="0" i="1" smtClean="0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altLang="pt-BR" sz="2000" b="0" i="1" smtClean="0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pt-BR" altLang="pt-BR" sz="2000" b="0" i="1" smtClean="0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pt-BR" altLang="pt-BR" sz="2000" b="0" i="1" smtClean="0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pt-BR" altLang="pt-BR" sz="20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2</m:t>
                        </m:r>
                      </m:sup>
                    </m:sSup>
                  </m:oMath>
                </a14:m>
                <a:endParaRPr lang="pt-BR" altLang="pt-BR" sz="2000" dirty="0">
                  <a:latin typeface="Times New Roman" charset="0"/>
                  <a:cs typeface="Times New Roman" charset="0"/>
                </a:endParaRPr>
              </a:p>
              <a:p>
                <a:pPr algn="ctr" eaLnBrk="1" hangingPunct="1">
                  <a:buFontTx/>
                  <a:buNone/>
                </a:pPr>
                <a:endParaRPr lang="pt-BR" altLang="pt-BR" sz="1600" dirty="0">
                  <a:latin typeface="Times New Roman" charset="0"/>
                  <a:cs typeface="Times New Roman" charset="0"/>
                </a:endParaRPr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Em particular, o método dos mínimos quadrados requer que consideremos a soma de </a:t>
                </a: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n</a:t>
                </a:r>
                <a:r>
                  <a:rPr lang="pt-BR" altLang="pt-BR" sz="1600" i="1" dirty="0"/>
                  <a:t> </a:t>
                </a:r>
                <a:r>
                  <a:rPr lang="pt-BR" altLang="pt-BR" sz="1600" dirty="0"/>
                  <a:t>desvios quadrados, denotado por </a:t>
                </a:r>
                <a:r>
                  <a:rPr lang="pt-BR" altLang="pt-BR" sz="1600" i="1" dirty="0"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charset="0"/>
                  </a:rPr>
                  <a:t>Q</a:t>
                </a:r>
                <a:r>
                  <a:rPr lang="pt-BR" altLang="pt-BR" sz="1600" dirty="0"/>
                  <a:t>:</a:t>
                </a:r>
              </a:p>
            </p:txBody>
          </p:sp>
        </mc:Choice>
        <mc:Fallback xmlns="">
          <p:sp>
            <p:nvSpPr>
              <p:cNvPr id="1638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46125" y="1575296"/>
                <a:ext cx="8002588" cy="3827463"/>
              </a:xfrm>
              <a:blipFill rotWithShape="1">
                <a:blip r:embed="rId2"/>
                <a:stretch>
                  <a:fillRect l="-381" t="-955" r="-9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Estimação dos parâmetros </a:t>
            </a:r>
            <a:r>
              <a:rPr 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  <a:sym typeface="Symbol"/>
              </a:rPr>
              <a:t></a:t>
            </a:r>
            <a:r>
              <a:rPr lang="pt-BR" sz="3200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  <a:sym typeface="Symbol"/>
              </a:rPr>
              <a:t>0</a:t>
            </a: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  <a:sym typeface="Symbol"/>
              </a:rPr>
              <a:t> e </a:t>
            </a:r>
            <a:r>
              <a:rPr 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sym typeface="Symbol"/>
              </a:rPr>
              <a:t></a:t>
            </a:r>
            <a:r>
              <a:rPr lang="pt-BR" sz="3200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endParaRPr lang="pt-BR" sz="3200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Times New Roman" pitchFamily="18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519AD16-41C9-45F7-B8C3-CEC7A4BBFC5D}" type="slidenum">
              <a:rPr lang="pt-BR"/>
              <a:pPr>
                <a:defRPr/>
              </a:pPr>
              <a:t>19</a:t>
            </a:fld>
            <a:endParaRPr lang="pt-BR"/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746125" y="5533008"/>
            <a:ext cx="8016875" cy="1136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De acordo com o método dos mínimos quadrados, os estimadores de </a:t>
            </a:r>
            <a:r>
              <a:rPr lang="pt-BR" altLang="pt-BR" sz="1800" i="1" kern="0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r>
              <a:rPr lang="pt-BR" altLang="pt-BR" sz="1600" kern="0" dirty="0">
                <a:latin typeface="Tahoma" panose="020B0604030504040204" pitchFamily="34" charset="0"/>
                <a:sym typeface="Mathematica1" pitchFamily="2" charset="2"/>
              </a:rPr>
              <a:t> e </a:t>
            </a:r>
            <a:r>
              <a:rPr lang="pt-BR" altLang="pt-BR" sz="1800" i="1" kern="0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 são aqueles, denotados por </a:t>
            </a:r>
            <a:r>
              <a:rPr lang="pt-BR" altLang="pt-BR" sz="1600" i="1" kern="0" dirty="0">
                <a:latin typeface="Times New Roman" charset="0"/>
                <a:cs typeface="Times New Roman" charset="0"/>
                <a:sym typeface="Mathematica1" pitchFamily="2" charset="2"/>
              </a:rPr>
              <a:t>b</a:t>
            </a:r>
            <a:r>
              <a:rPr lang="pt-BR" altLang="pt-BR" sz="1600" kern="0" baseline="-25000" dirty="0"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r>
              <a:rPr lang="pt-BR" altLang="pt-BR" sz="1600" i="1" kern="0" dirty="0">
                <a:latin typeface="Tahoma" panose="020B0604030504040204" pitchFamily="34" charset="0"/>
                <a:sym typeface="Mathematica1" pitchFamily="2" charset="2"/>
              </a:rPr>
              <a:t> </a:t>
            </a:r>
            <a:r>
              <a:rPr lang="pt-BR" altLang="pt-BR" sz="1600" kern="0" dirty="0">
                <a:latin typeface="Tahoma" panose="020B0604030504040204" pitchFamily="34" charset="0"/>
                <a:sym typeface="Mathematica1" pitchFamily="2" charset="2"/>
              </a:rPr>
              <a:t>e </a:t>
            </a:r>
            <a:r>
              <a:rPr lang="pt-BR" altLang="pt-BR" sz="1600" i="1" kern="0" dirty="0">
                <a:latin typeface="Times New Roman" charset="0"/>
                <a:cs typeface="Times New Roman" charset="0"/>
                <a:sym typeface="Mathematica1" pitchFamily="2" charset="2"/>
              </a:rPr>
              <a:t>b</a:t>
            </a:r>
            <a:r>
              <a:rPr lang="pt-BR" altLang="pt-BR" sz="1600" kern="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, que tornam mínimo o valor de </a:t>
            </a:r>
            <a:r>
              <a:rPr lang="pt-BR" altLang="pt-BR" sz="1600" i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charset="0"/>
              </a:rPr>
              <a:t>Q</a:t>
            </a:r>
            <a:r>
              <a:rPr lang="pt-BR" altLang="pt-BR" sz="1600" kern="0" dirty="0">
                <a:latin typeface="Tahoma" panose="020B0604030504040204" pitchFamily="34" charset="0"/>
              </a:rPr>
              <a:t>. Isso é feito derivando-se </a:t>
            </a:r>
            <a:r>
              <a:rPr lang="pt-BR" altLang="pt-BR" sz="1800" i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charset="0"/>
              </a:rPr>
              <a:t>Q</a:t>
            </a:r>
            <a:r>
              <a:rPr lang="pt-BR" altLang="pt-BR" sz="1600" kern="0" dirty="0">
                <a:latin typeface="Tahoma" panose="020B0604030504040204" pitchFamily="34" charset="0"/>
              </a:rPr>
              <a:t> em relação a </a:t>
            </a:r>
            <a:r>
              <a:rPr lang="pt-BR" altLang="pt-BR" sz="1800" i="1" kern="0" dirty="0">
                <a:solidFill>
                  <a:srgbClr val="000000"/>
                </a:solidFill>
                <a:latin typeface="Tahoma" panose="020B0604030504040204" pitchFamily="34" charset="0"/>
                <a:cs typeface="Arial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r>
              <a:rPr lang="pt-BR" alt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charset="0"/>
                <a:sym typeface="Mathematica1" pitchFamily="2" charset="2"/>
              </a:rPr>
              <a:t> e </a:t>
            </a:r>
            <a:r>
              <a:rPr lang="pt-BR" altLang="pt-BR" sz="1800" i="1" kern="0" dirty="0">
                <a:solidFill>
                  <a:srgbClr val="000000"/>
                </a:solidFill>
                <a:latin typeface="Tahoma" panose="020B0604030504040204" pitchFamily="34" charset="0"/>
                <a:cs typeface="Arial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1</a:t>
            </a:r>
            <a:r>
              <a:rPr lang="pt-BR" alt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charset="0"/>
              </a:rPr>
              <a:t> </a:t>
            </a:r>
            <a:r>
              <a:rPr lang="pt-BR" altLang="pt-BR" sz="1600" kern="0" dirty="0">
                <a:latin typeface="Tahoma" panose="020B0604030504040204" pitchFamily="34" charset="0"/>
              </a:rPr>
              <a:t>e igualando-se as expressões encontradas a zero.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/>
              <p:cNvSpPr txBox="1"/>
              <p:nvPr/>
            </p:nvSpPr>
            <p:spPr>
              <a:xfrm>
                <a:off x="2892117" y="4797439"/>
                <a:ext cx="3359766" cy="764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pt-BR" altLang="pt-BR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altLang="pt-BR" i="1">
                                      <a:latin typeface="Cambria Math" panose="02040503050406030204" pitchFamily="18" charset="0"/>
                                      <a:ea typeface="Cambria Math"/>
                                      <a:sym typeface="Symbol" pitchFamily="18" charset="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altLang="pt-BR" i="1">
                                          <a:latin typeface="Cambria Math" panose="02040503050406030204" pitchFamily="18" charset="0"/>
                                          <a:ea typeface="Cambria Math"/>
                                          <a:sym typeface="Symbol" pitchFamily="18" charset="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altLang="pt-BR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−(</m:t>
                                  </m:r>
                                  <m:sSub>
                                    <m:sSubPr>
                                      <m:ctrlPr>
                                        <a:rPr lang="pt-BR" altLang="pt-BR" i="1">
                                          <a:latin typeface="Cambria Math" panose="02040503050406030204" pitchFamily="18" charset="0"/>
                                          <a:ea typeface="Cambria Math"/>
                                          <a:sym typeface="Symbol" pitchFamily="18" charset="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pt-BR" altLang="pt-BR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pt-BR" altLang="pt-BR" i="1">
                                          <a:latin typeface="Cambria Math" panose="02040503050406030204" pitchFamily="18" charset="0"/>
                                          <a:ea typeface="Cambria Math"/>
                                          <a:sym typeface="Symbol" pitchFamily="18" charset="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altLang="pt-BR" i="1">
                                          <a:latin typeface="Cambria Math" panose="02040503050406030204" pitchFamily="18" charset="0"/>
                                          <a:ea typeface="Cambria Math"/>
                                          <a:sym typeface="Symbol" pitchFamily="18" charset="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altLang="pt-BR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altLang="pt-BR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" name="CaixaDeTexto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2117" y="4797439"/>
                <a:ext cx="3359766" cy="7645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build="p"/>
      <p:bldP spid="6" grpId="0" build="p"/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50"/>
          <p:cNvGrpSpPr>
            <a:grpSpLocks/>
          </p:cNvGrpSpPr>
          <p:nvPr/>
        </p:nvGrpSpPr>
        <p:grpSpPr bwMode="auto">
          <a:xfrm>
            <a:off x="4833719" y="1691313"/>
            <a:ext cx="328613" cy="338138"/>
            <a:chOff x="1706" y="1355"/>
            <a:chExt cx="207" cy="213"/>
          </a:xfrm>
        </p:grpSpPr>
        <p:sp>
          <p:nvSpPr>
            <p:cNvPr id="24" name="Line 30"/>
            <p:cNvSpPr>
              <a:spLocks noChangeShapeType="1"/>
            </p:cNvSpPr>
            <p:nvPr/>
          </p:nvSpPr>
          <p:spPr bwMode="auto">
            <a:xfrm>
              <a:off x="1913" y="1391"/>
              <a:ext cx="0" cy="1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5" name="Text Box 32"/>
            <p:cNvSpPr txBox="1">
              <a:spLocks noChangeArrowheads="1"/>
            </p:cNvSpPr>
            <p:nvPr/>
          </p:nvSpPr>
          <p:spPr bwMode="auto">
            <a:xfrm>
              <a:off x="1706" y="1355"/>
              <a:ext cx="19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e</a:t>
              </a:r>
              <a:r>
                <a:rPr lang="pt-BR" altLang="pt-BR" sz="1600" i="1" baseline="-25000" dirty="0">
                  <a:latin typeface="Times New Roman" charset="0"/>
                  <a:cs typeface="Times New Roman" charset="0"/>
                  <a:sym typeface="Mathematica1" pitchFamily="2" charset="2"/>
                </a:rPr>
                <a:t>i</a:t>
              </a:r>
            </a:p>
          </p:txBody>
        </p:sp>
      </p:grpSp>
      <p:grpSp>
        <p:nvGrpSpPr>
          <p:cNvPr id="3" name="Grupo 2"/>
          <p:cNvGrpSpPr/>
          <p:nvPr/>
        </p:nvGrpSpPr>
        <p:grpSpPr>
          <a:xfrm>
            <a:off x="2789216" y="1682328"/>
            <a:ext cx="2694612" cy="1969364"/>
            <a:chOff x="2789216" y="1682328"/>
            <a:chExt cx="2694612" cy="1969364"/>
          </a:xfrm>
        </p:grpSpPr>
        <p:sp>
          <p:nvSpPr>
            <p:cNvPr id="17" name="AutoShape 24"/>
            <p:cNvSpPr>
              <a:spLocks noChangeAspect="1" noChangeArrowheads="1"/>
            </p:cNvSpPr>
            <p:nvPr/>
          </p:nvSpPr>
          <p:spPr bwMode="auto">
            <a:xfrm>
              <a:off x="2789216" y="3344068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9" name="AutoShape 24"/>
            <p:cNvSpPr>
              <a:spLocks noChangeAspect="1" noChangeArrowheads="1"/>
            </p:cNvSpPr>
            <p:nvPr/>
          </p:nvSpPr>
          <p:spPr bwMode="auto">
            <a:xfrm>
              <a:off x="2825328" y="3561204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0" name="AutoShape 24"/>
            <p:cNvSpPr>
              <a:spLocks noChangeAspect="1" noChangeArrowheads="1"/>
            </p:cNvSpPr>
            <p:nvPr/>
          </p:nvSpPr>
          <p:spPr bwMode="auto">
            <a:xfrm>
              <a:off x="3560631" y="306896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" name="AutoShape 24"/>
            <p:cNvSpPr>
              <a:spLocks noChangeAspect="1" noChangeArrowheads="1"/>
            </p:cNvSpPr>
            <p:nvPr/>
          </p:nvSpPr>
          <p:spPr bwMode="auto">
            <a:xfrm>
              <a:off x="3081576" y="3555484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2" name="AutoShape 24"/>
            <p:cNvSpPr>
              <a:spLocks noChangeAspect="1" noChangeArrowheads="1"/>
            </p:cNvSpPr>
            <p:nvPr/>
          </p:nvSpPr>
          <p:spPr bwMode="auto">
            <a:xfrm>
              <a:off x="3266344" y="334890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3" name="AutoShape 24"/>
            <p:cNvSpPr>
              <a:spLocks noChangeAspect="1" noChangeArrowheads="1"/>
            </p:cNvSpPr>
            <p:nvPr/>
          </p:nvSpPr>
          <p:spPr bwMode="auto">
            <a:xfrm>
              <a:off x="3131840" y="3365084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4" name="AutoShape 24"/>
            <p:cNvSpPr>
              <a:spLocks noChangeAspect="1" noChangeArrowheads="1"/>
            </p:cNvSpPr>
            <p:nvPr/>
          </p:nvSpPr>
          <p:spPr bwMode="auto">
            <a:xfrm>
              <a:off x="3180449" y="3064352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5" name="AutoShape 24"/>
            <p:cNvSpPr>
              <a:spLocks noChangeAspect="1" noChangeArrowheads="1"/>
            </p:cNvSpPr>
            <p:nvPr/>
          </p:nvSpPr>
          <p:spPr bwMode="auto">
            <a:xfrm>
              <a:off x="3601232" y="270892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6" name="AutoShape 24"/>
            <p:cNvSpPr>
              <a:spLocks noChangeAspect="1" noChangeArrowheads="1"/>
            </p:cNvSpPr>
            <p:nvPr/>
          </p:nvSpPr>
          <p:spPr bwMode="auto">
            <a:xfrm>
              <a:off x="5117088" y="1703219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7" name="AutoShape 24"/>
            <p:cNvSpPr>
              <a:spLocks noChangeAspect="1" noChangeArrowheads="1"/>
            </p:cNvSpPr>
            <p:nvPr/>
          </p:nvSpPr>
          <p:spPr bwMode="auto">
            <a:xfrm>
              <a:off x="4067944" y="285188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8" name="AutoShape 24"/>
            <p:cNvSpPr>
              <a:spLocks noChangeAspect="1" noChangeArrowheads="1"/>
            </p:cNvSpPr>
            <p:nvPr/>
          </p:nvSpPr>
          <p:spPr bwMode="auto">
            <a:xfrm>
              <a:off x="3915836" y="2684644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9" name="AutoShape 24"/>
            <p:cNvSpPr>
              <a:spLocks noChangeAspect="1" noChangeArrowheads="1"/>
            </p:cNvSpPr>
            <p:nvPr/>
          </p:nvSpPr>
          <p:spPr bwMode="auto">
            <a:xfrm>
              <a:off x="5305578" y="2117876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0" name="AutoShape 24"/>
            <p:cNvSpPr>
              <a:spLocks noChangeAspect="1" noChangeArrowheads="1"/>
            </p:cNvSpPr>
            <p:nvPr/>
          </p:nvSpPr>
          <p:spPr bwMode="auto">
            <a:xfrm>
              <a:off x="4220636" y="2540628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1" name="AutoShape 24"/>
            <p:cNvSpPr>
              <a:spLocks noChangeAspect="1" noChangeArrowheads="1"/>
            </p:cNvSpPr>
            <p:nvPr/>
          </p:nvSpPr>
          <p:spPr bwMode="auto">
            <a:xfrm>
              <a:off x="3987844" y="242898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2" name="AutoShape 24"/>
            <p:cNvSpPr>
              <a:spLocks noChangeAspect="1" noChangeArrowheads="1"/>
            </p:cNvSpPr>
            <p:nvPr/>
          </p:nvSpPr>
          <p:spPr bwMode="auto">
            <a:xfrm>
              <a:off x="4345588" y="234888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3" name="AutoShape 24"/>
            <p:cNvSpPr>
              <a:spLocks noChangeAspect="1" noChangeArrowheads="1"/>
            </p:cNvSpPr>
            <p:nvPr/>
          </p:nvSpPr>
          <p:spPr bwMode="auto">
            <a:xfrm>
              <a:off x="4489896" y="2237232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4" name="AutoShape 24"/>
            <p:cNvSpPr>
              <a:spLocks noChangeAspect="1" noChangeArrowheads="1"/>
            </p:cNvSpPr>
            <p:nvPr/>
          </p:nvSpPr>
          <p:spPr bwMode="auto">
            <a:xfrm>
              <a:off x="4860032" y="2454368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5" name="AutoShape 24"/>
            <p:cNvSpPr>
              <a:spLocks noChangeAspect="1" noChangeArrowheads="1"/>
            </p:cNvSpPr>
            <p:nvPr/>
          </p:nvSpPr>
          <p:spPr bwMode="auto">
            <a:xfrm>
              <a:off x="4988156" y="2276872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6" name="AutoShape 24"/>
            <p:cNvSpPr>
              <a:spLocks noChangeAspect="1" noChangeArrowheads="1"/>
            </p:cNvSpPr>
            <p:nvPr/>
          </p:nvSpPr>
          <p:spPr bwMode="auto">
            <a:xfrm>
              <a:off x="4771840" y="206894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" name="AutoShape 24"/>
            <p:cNvSpPr>
              <a:spLocks noChangeAspect="1" noChangeArrowheads="1"/>
            </p:cNvSpPr>
            <p:nvPr/>
          </p:nvSpPr>
          <p:spPr bwMode="auto">
            <a:xfrm>
              <a:off x="5393340" y="1682328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4339" name="Rectangle 4"/>
          <p:cNvSpPr>
            <a:spLocks noChangeArrowheads="1"/>
          </p:cNvSpPr>
          <p:nvPr/>
        </p:nvSpPr>
        <p:spPr bwMode="auto">
          <a:xfrm>
            <a:off x="685800" y="4267200"/>
            <a:ext cx="7772400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just" eaLnBrk="1" hangingPunct="1">
              <a:buClr>
                <a:schemeClr val="bg2"/>
              </a:buClr>
              <a:buFontTx/>
              <a:buNone/>
            </a:pPr>
            <a:endParaRPr lang="en-US" altLang="pt-BR" sz="2000" dirty="0">
              <a:latin typeface="Tahoma" panose="020B0604030504040204" pitchFamily="34" charset="0"/>
            </a:endParaRPr>
          </a:p>
        </p:txBody>
      </p:sp>
      <p:sp>
        <p:nvSpPr>
          <p:cNvPr id="13" name="Rectangle 2"/>
          <p:cNvSpPr txBox="1"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Estimação dos parâmetros </a:t>
            </a:r>
            <a:r>
              <a:rPr 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sym typeface="Symbol"/>
              </a:rPr>
              <a:t></a:t>
            </a:r>
            <a:r>
              <a:rPr lang="pt-BR" sz="3200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sym typeface="Symbol"/>
              </a:rPr>
              <a:t> e </a:t>
            </a:r>
            <a:r>
              <a:rPr 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sym typeface="Symbol"/>
              </a:rPr>
              <a:t></a:t>
            </a:r>
            <a:r>
              <a:rPr lang="pt-BR" sz="3200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endParaRPr lang="pt-BR" sz="3200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cs typeface="Times New Roman" pitchFamily="18" charset="0"/>
            </a:endParaRPr>
          </a:p>
        </p:txBody>
      </p:sp>
      <p:sp>
        <p:nvSpPr>
          <p:cNvPr id="12" name="Text Box 24"/>
          <p:cNvSpPr txBox="1">
            <a:spLocks noChangeArrowheads="1"/>
          </p:cNvSpPr>
          <p:nvPr/>
        </p:nvSpPr>
        <p:spPr bwMode="auto">
          <a:xfrm>
            <a:off x="5580112" y="1800112"/>
            <a:ext cx="280410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(reta de regressão estimada)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D96C61-3F1E-4207-8ED7-4997CF47841B}" type="slidenum">
              <a:rPr lang="pt-BR"/>
              <a:pPr>
                <a:defRPr/>
              </a:pPr>
              <a:t>20</a:t>
            </a:fld>
            <a:endParaRPr lang="pt-BR"/>
          </a:p>
        </p:txBody>
      </p:sp>
      <p:sp>
        <p:nvSpPr>
          <p:cNvPr id="26" name="Text Box 34"/>
          <p:cNvSpPr txBox="1">
            <a:spLocks noChangeArrowheads="1"/>
          </p:cNvSpPr>
          <p:nvPr/>
        </p:nvSpPr>
        <p:spPr bwMode="auto">
          <a:xfrm>
            <a:off x="6359302" y="4142408"/>
            <a:ext cx="323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X</a:t>
            </a:r>
          </a:p>
        </p:txBody>
      </p:sp>
      <p:sp>
        <p:nvSpPr>
          <p:cNvPr id="27" name="Text Box 35"/>
          <p:cNvSpPr txBox="1">
            <a:spLocks noChangeArrowheads="1"/>
          </p:cNvSpPr>
          <p:nvPr/>
        </p:nvSpPr>
        <p:spPr bwMode="auto">
          <a:xfrm>
            <a:off x="2471515" y="170083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Y</a:t>
            </a:r>
          </a:p>
        </p:txBody>
      </p:sp>
      <p:sp>
        <p:nvSpPr>
          <p:cNvPr id="28" name="Line 39"/>
          <p:cNvSpPr>
            <a:spLocks noChangeShapeType="1"/>
          </p:cNvSpPr>
          <p:nvPr/>
        </p:nvSpPr>
        <p:spPr bwMode="auto">
          <a:xfrm flipV="1">
            <a:off x="2793777" y="1745283"/>
            <a:ext cx="2782889" cy="177164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9" name="Line 41"/>
          <p:cNvSpPr>
            <a:spLocks noChangeShapeType="1"/>
          </p:cNvSpPr>
          <p:nvPr/>
        </p:nvSpPr>
        <p:spPr bwMode="auto">
          <a:xfrm>
            <a:off x="2793777" y="4058270"/>
            <a:ext cx="36925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0" name="Line 42"/>
          <p:cNvSpPr>
            <a:spLocks noChangeShapeType="1"/>
          </p:cNvSpPr>
          <p:nvPr/>
        </p:nvSpPr>
        <p:spPr bwMode="auto">
          <a:xfrm flipV="1">
            <a:off x="2793777" y="1430958"/>
            <a:ext cx="0" cy="2627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4" name="Rectangle 44"/>
          <p:cNvSpPr>
            <a:spLocks noChangeArrowheads="1"/>
          </p:cNvSpPr>
          <p:nvPr/>
        </p:nvSpPr>
        <p:spPr bwMode="auto">
          <a:xfrm>
            <a:off x="2339752" y="3250343"/>
            <a:ext cx="56457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400" dirty="0">
                <a:latin typeface="Times New Roman" charset="0"/>
              </a:rPr>
              <a:t> </a:t>
            </a:r>
            <a:r>
              <a:rPr lang="pt-BR" altLang="pt-BR" sz="2000" i="1" dirty="0">
                <a:latin typeface="Times New Roman" panose="02020603050405020304" pitchFamily="18" charset="0"/>
                <a:cs typeface="Times New Roman" panose="02020603050405020304" pitchFamily="18" charset="0"/>
                <a:sym typeface="Mathematica1" pitchFamily="2" charset="2"/>
              </a:rPr>
              <a:t>b</a:t>
            </a:r>
            <a:r>
              <a:rPr lang="pt-BR" altLang="pt-BR" sz="2000" baseline="-25000" dirty="0">
                <a:latin typeface="Times New Roman" charset="0"/>
                <a:sym typeface="Mathematica1" pitchFamily="2" charset="2"/>
              </a:rPr>
              <a:t>0</a:t>
            </a:r>
            <a:r>
              <a:rPr lang="pt-BR" altLang="pt-BR" sz="2400" dirty="0">
                <a:latin typeface="Times New Roman" charset="0"/>
              </a:rPr>
              <a:t> </a:t>
            </a:r>
          </a:p>
        </p:txBody>
      </p:sp>
      <p:grpSp>
        <p:nvGrpSpPr>
          <p:cNvPr id="5" name="Grupo 4"/>
          <p:cNvGrpSpPr/>
          <p:nvPr/>
        </p:nvGrpSpPr>
        <p:grpSpPr>
          <a:xfrm>
            <a:off x="4047902" y="2259194"/>
            <a:ext cx="1214175" cy="698588"/>
            <a:chOff x="4047902" y="2259194"/>
            <a:chExt cx="1214175" cy="698588"/>
          </a:xfrm>
        </p:grpSpPr>
        <p:grpSp>
          <p:nvGrpSpPr>
            <p:cNvPr id="31" name="Group 48"/>
            <p:cNvGrpSpPr>
              <a:grpSpLocks/>
            </p:cNvGrpSpPr>
            <p:nvPr/>
          </p:nvGrpSpPr>
          <p:grpSpPr bwMode="auto">
            <a:xfrm>
              <a:off x="4047902" y="2259194"/>
              <a:ext cx="733425" cy="461732"/>
              <a:chOff x="1205" y="1828"/>
              <a:chExt cx="462" cy="189"/>
            </a:xfrm>
          </p:grpSpPr>
          <p:sp>
            <p:nvSpPr>
              <p:cNvPr id="32" name="Line 37"/>
              <p:cNvSpPr>
                <a:spLocks noChangeShapeType="1"/>
              </p:cNvSpPr>
              <p:nvPr/>
            </p:nvSpPr>
            <p:spPr bwMode="auto">
              <a:xfrm flipV="1">
                <a:off x="1667" y="1828"/>
                <a:ext cx="0" cy="1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3" name="Line 43"/>
              <p:cNvSpPr>
                <a:spLocks noChangeShapeType="1"/>
              </p:cNvSpPr>
              <p:nvPr/>
            </p:nvSpPr>
            <p:spPr bwMode="auto">
              <a:xfrm>
                <a:off x="1205" y="2017"/>
                <a:ext cx="44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5" name="Rectangle 45"/>
            <p:cNvSpPr>
              <a:spLocks noChangeArrowheads="1"/>
            </p:cNvSpPr>
            <p:nvPr/>
          </p:nvSpPr>
          <p:spPr bwMode="auto">
            <a:xfrm>
              <a:off x="4761619" y="2373007"/>
              <a:ext cx="500458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b</a:t>
              </a:r>
              <a:r>
                <a:rPr lang="pt-BR" altLang="pt-BR" sz="2000" baseline="-25000" dirty="0">
                  <a:latin typeface="Times New Roman" charset="0"/>
                  <a:sym typeface="Mathematica1" pitchFamily="2" charset="2"/>
                </a:rPr>
                <a:t>1</a:t>
              </a:r>
              <a:r>
                <a:rPr lang="pt-BR" altLang="pt-BR" sz="3200" dirty="0">
                  <a:latin typeface="Times New Roman" charset="0"/>
                </a:rPr>
                <a:t> </a:t>
              </a:r>
            </a:p>
          </p:txBody>
        </p:sp>
      </p:grpSp>
      <p:sp>
        <p:nvSpPr>
          <p:cNvPr id="7" name="Retângulo 6"/>
          <p:cNvSpPr/>
          <p:nvPr/>
        </p:nvSpPr>
        <p:spPr>
          <a:xfrm>
            <a:off x="4032448" y="4469050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355600" indent="-355600"/>
            <a:r>
              <a:rPr lang="pt-BR" altLang="pt-BR" sz="20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athematica1" pitchFamily="2" charset="2"/>
              </a:rPr>
              <a:t>b</a:t>
            </a:r>
            <a:r>
              <a:rPr lang="pt-BR" altLang="pt-BR" sz="2000" baseline="-25000" dirty="0">
                <a:solidFill>
                  <a:srgbClr val="000000"/>
                </a:solidFill>
                <a:latin typeface="Times New Roman" charset="0"/>
                <a:sym typeface="Mathematica1" pitchFamily="2" charset="2"/>
              </a:rPr>
              <a:t>0</a:t>
            </a:r>
            <a:r>
              <a:rPr lang="pt-BR" altLang="pt-BR" dirty="0">
                <a:latin typeface="Tahoma" panose="020B0604030504040204" pitchFamily="34" charset="0"/>
              </a:rPr>
              <a:t> e </a:t>
            </a:r>
            <a:r>
              <a:rPr lang="pt-BR" altLang="pt-BR" sz="20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athematica1" pitchFamily="2" charset="2"/>
              </a:rPr>
              <a:t>b</a:t>
            </a:r>
            <a:r>
              <a:rPr lang="pt-BR" altLang="pt-BR" sz="2000" baseline="-25000" dirty="0">
                <a:solidFill>
                  <a:srgbClr val="000000"/>
                </a:solidFill>
                <a:latin typeface="Times New Roman" charset="0"/>
                <a:sym typeface="Mathematica1" pitchFamily="2" charset="2"/>
              </a:rPr>
              <a:t>1</a:t>
            </a:r>
            <a:r>
              <a:rPr lang="pt-BR" altLang="pt-BR" dirty="0">
                <a:latin typeface="Tahoma" panose="020B0604030504040204" pitchFamily="34" charset="0"/>
              </a:rPr>
              <a:t> são </a:t>
            </a:r>
            <a:r>
              <a:rPr lang="pt-BR" altLang="pt-BR" dirty="0" err="1">
                <a:latin typeface="Tahoma" panose="020B0604030504040204" pitchFamily="34" charset="0"/>
              </a:rPr>
              <a:t>v.a</a:t>
            </a:r>
            <a:r>
              <a:rPr lang="pt-BR" altLang="pt-BR" dirty="0">
                <a:latin typeface="Tahoma" panose="020B0604030504040204" pitchFamily="34" charset="0"/>
              </a:rPr>
              <a:t>. </a:t>
            </a:r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(não independentes!) </a:t>
            </a:r>
            <a:r>
              <a:rPr lang="pt-BR" altLang="pt-BR" dirty="0">
                <a:latin typeface="Tahoma" panose="020B0604030504040204" pitchFamily="34" charset="0"/>
              </a:rPr>
              <a:t>e portanto variam de amostra para amostra</a:t>
            </a:r>
            <a:endParaRPr lang="pt-BR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/>
              <p:cNvSpPr txBox="1"/>
              <p:nvPr/>
            </p:nvSpPr>
            <p:spPr>
              <a:xfrm>
                <a:off x="5568207" y="1484784"/>
                <a:ext cx="1575303" cy="376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800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sz="1800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8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8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1800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8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8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1800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CaixaDeTexto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8207" y="1484784"/>
                <a:ext cx="1575303" cy="376770"/>
              </a:xfrm>
              <a:prstGeom prst="rect">
                <a:avLst/>
              </a:prstGeom>
              <a:blipFill>
                <a:blip r:embed="rId2"/>
                <a:stretch>
                  <a:fillRect b="-327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CaixaDeTexto 57"/>
              <p:cNvSpPr txBox="1"/>
              <p:nvPr/>
            </p:nvSpPr>
            <p:spPr>
              <a:xfrm>
                <a:off x="207452" y="4817657"/>
                <a:ext cx="3140219" cy="788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2000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000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sz="2000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000" b="0" i="1" smtClean="0">
                                  <a:latin typeface="Cambria Math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2000" b="0" i="1" smtClean="0">
                                      <a:latin typeface="Cambria Math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pt-B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</m:d>
                              <m:d>
                                <m:d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pt-BR" sz="2000" i="1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2000" i="1">
                                      <a:latin typeface="Cambria Math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000" i="1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sz="2000" i="1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000" i="1">
                                  <a:latin typeface="Cambria Math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000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sz="2000" i="1">
                                              <a:latin typeface="Cambria Math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sz="2000" i="1">
                                          <a:latin typeface="Cambria Math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000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pt-BR" sz="2000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8" name="CaixaDeTexto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52" y="4817657"/>
                <a:ext cx="3140219" cy="788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CaixaDeTexto 58"/>
              <p:cNvSpPr txBox="1"/>
              <p:nvPr/>
            </p:nvSpPr>
            <p:spPr>
              <a:xfrm>
                <a:off x="207452" y="6156915"/>
                <a:ext cx="172713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i="1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sz="2000" b="0" i="1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acc>
                        <m:accPr>
                          <m:chr m:val="̅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/>
                            </a:rPr>
                            <m:t>𝑋</m:t>
                          </m:r>
                        </m:e>
                      </m:acc>
                    </m:oMath>
                  </m:oMathPara>
                </a14:m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9" name="CaixaDeTexto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52" y="6156915"/>
                <a:ext cx="1727139" cy="400110"/>
              </a:xfrm>
              <a:prstGeom prst="rect">
                <a:avLst/>
              </a:prstGeom>
              <a:blipFill>
                <a:blip r:embed="rId4"/>
                <a:stretch>
                  <a:fillRect r="-12721" b="-30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CaixaDeTexto 59"/>
              <p:cNvSpPr txBox="1"/>
              <p:nvPr/>
            </p:nvSpPr>
            <p:spPr>
              <a:xfrm>
                <a:off x="4032448" y="5173161"/>
                <a:ext cx="148656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</a:rPr>
                            <m:t>𝐸</m:t>
                          </m:r>
                          <m:r>
                            <a:rPr lang="pt-BR" sz="2000" b="0" i="1" smtClean="0">
                              <a:latin typeface="Cambria Math"/>
                            </a:rPr>
                            <m:t>(</m:t>
                          </m:r>
                          <m:r>
                            <a:rPr lang="pt-BR" sz="200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0" name="CaixaDeTexto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2448" y="5173161"/>
                <a:ext cx="1486561" cy="400110"/>
              </a:xfrm>
              <a:prstGeom prst="rect">
                <a:avLst/>
              </a:prstGeom>
              <a:blipFill>
                <a:blip r:embed="rId5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CaixaDeTexto 60"/>
              <p:cNvSpPr txBox="1"/>
              <p:nvPr/>
            </p:nvSpPr>
            <p:spPr>
              <a:xfrm>
                <a:off x="4032448" y="5589240"/>
                <a:ext cx="14746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</a:rPr>
                            <m:t>𝐸</m:t>
                          </m:r>
                          <m:r>
                            <a:rPr lang="pt-BR" sz="2000" b="0" i="1" smtClean="0">
                              <a:latin typeface="Cambria Math"/>
                            </a:rPr>
                            <m:t>(</m:t>
                          </m:r>
                          <m:r>
                            <a:rPr lang="pt-BR" sz="200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2000" b="0" i="1" smtClean="0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1" name="CaixaDeTexto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2448" y="5589240"/>
                <a:ext cx="1474634" cy="400110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8"/>
          <p:cNvGrpSpPr/>
          <p:nvPr/>
        </p:nvGrpSpPr>
        <p:grpSpPr>
          <a:xfrm>
            <a:off x="4032448" y="6152747"/>
            <a:ext cx="3331885" cy="408445"/>
            <a:chOff x="4032448" y="6152747"/>
            <a:chExt cx="3331885" cy="408445"/>
          </a:xfrm>
        </p:grpSpPr>
        <p:sp>
          <p:nvSpPr>
            <p:cNvPr id="17432" name="Text Box 24"/>
            <p:cNvSpPr txBox="1">
              <a:spLocks noChangeArrowheads="1"/>
            </p:cNvSpPr>
            <p:nvPr/>
          </p:nvSpPr>
          <p:spPr bwMode="auto">
            <a:xfrm>
              <a:off x="5523508" y="6203652"/>
              <a:ext cx="184082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(resíduo amostral)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CaixaDeTexto 61"/>
                <p:cNvSpPr txBox="1"/>
                <p:nvPr/>
              </p:nvSpPr>
              <p:spPr>
                <a:xfrm>
                  <a:off x="4032448" y="6152747"/>
                  <a:ext cx="1493935" cy="40844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</a:rPr>
                              <m:t>𝑒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pt-BR" sz="2000" b="0" i="1" smtClean="0">
                            <a:latin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</a:rPr>
                              <m:t>𝑌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pt-BR" sz="2000" b="0" i="1" smtClean="0"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𝑌</m:t>
                                </m:r>
                              </m:e>
                            </m:acc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pt-BR" sz="20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2" name="CaixaDeTexto 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2448" y="6152747"/>
                  <a:ext cx="1493935" cy="408445"/>
                </a:xfrm>
                <a:prstGeom prst="rect">
                  <a:avLst/>
                </a:prstGeom>
                <a:blipFill>
                  <a:blip r:embed="rId7"/>
                  <a:stretch>
                    <a:fillRect t="-7463" r="-13821" b="-44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28" grpId="0" animBg="1"/>
      <p:bldP spid="34" grpId="0"/>
      <p:bldP spid="7" grpId="0"/>
      <p:bldP spid="8" grpId="0"/>
      <p:bldP spid="58" grpId="0"/>
      <p:bldP spid="59" grpId="0"/>
      <p:bldP spid="60" grpId="0"/>
      <p:bldP spid="6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911472" y="2808511"/>
                <a:ext cx="4826065" cy="764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b="0" i="1" smtClean="0">
                                              <a:latin typeface="Cambria Math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/>
                            </a:rPr>
                            <m:t>𝑖</m:t>
                          </m:r>
                          <m:r>
                            <a:rPr lang="pt-BR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/>
                            </a:rPr>
                            <m:t>𝑖</m:t>
                          </m:r>
                          <m:r>
                            <a:rPr lang="pt-BR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1472" y="2808511"/>
                <a:ext cx="4826065" cy="76450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2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2438" y="2439930"/>
            <a:ext cx="8291512" cy="423863"/>
          </a:xfrm>
        </p:spPr>
        <p:txBody>
          <a:bodyPr/>
          <a:lstStyle/>
          <a:p>
            <a:pPr eaLnBrk="1" hangingPunct="1">
              <a:lnSpc>
                <a:spcPct val="80000"/>
              </a:lnSpc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</a:rPr>
              <a:t>Soma dos quadrados dos erros ou resíduos (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SQE</a:t>
            </a:r>
            <a:r>
              <a:rPr lang="pt-BR" altLang="pt-BR" sz="1600" dirty="0">
                <a:solidFill>
                  <a:srgbClr val="FF0000"/>
                </a:solidFill>
              </a:rPr>
              <a:t>):</a:t>
            </a:r>
          </a:p>
        </p:txBody>
      </p:sp>
      <p:sp>
        <p:nvSpPr>
          <p:cNvPr id="8" name="Rectangle 5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Estimação da Variância do Erro (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</a:t>
            </a:r>
            <a:r>
              <a:rPr lang="pt-BR" baseline="30000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2</a:t>
            </a:r>
            <a:r>
              <a:rPr lang="pt-BR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tângulo 6"/>
              <p:cNvSpPr/>
              <p:nvPr/>
            </p:nvSpPr>
            <p:spPr bwMode="auto">
              <a:xfrm>
                <a:off x="452438" y="6017830"/>
                <a:ext cx="3909275" cy="28969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lnSpc>
                    <a:spcPct val="80000"/>
                  </a:lnSpc>
                  <a:spcBef>
                    <a:spcPct val="20000"/>
                  </a:spcBef>
                  <a:defRPr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Pode ser demonstrado que </a:t>
                </a:r>
                <a14:m>
                  <m:oMath xmlns:m="http://schemas.openxmlformats.org/officeDocument/2006/math">
                    <m:r>
                      <a:rPr lang="pt-BR" b="0" i="1" kern="0" smtClean="0">
                        <a:solidFill>
                          <a:srgbClr val="000000"/>
                        </a:solidFill>
                        <a:latin typeface="Cambria Math"/>
                        <a:cs typeface="+mn-cs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+mn-cs"/>
                          </a:rPr>
                          <m:t>𝑄𝑀𝐸</m:t>
                        </m:r>
                      </m:e>
                    </m:d>
                    <m:r>
                      <a:rPr lang="pt-BR" b="0" i="1" kern="0" smtClean="0">
                        <a:solidFill>
                          <a:srgbClr val="000000"/>
                        </a:solidFill>
                        <a:latin typeface="Cambria Math"/>
                        <a:cs typeface="+mn-cs"/>
                      </a:rPr>
                      <m:t>=</m:t>
                    </m:r>
                    <m:sSup>
                      <m:sSupPr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  <a:cs typeface="+mn-cs"/>
                          </a:rPr>
                        </m:ctrlPr>
                      </m:sSupPr>
                      <m:e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  <a:cs typeface="+mn-cs"/>
                          </a:rPr>
                          <m:t>𝜎</m:t>
                        </m:r>
                      </m:e>
                      <m:sup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+mn-cs"/>
                </a:endParaRPr>
              </a:p>
            </p:txBody>
          </p:sp>
        </mc:Choice>
        <mc:Fallback xmlns="">
          <p:sp>
            <p:nvSpPr>
              <p:cNvPr id="7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2438" y="6017830"/>
                <a:ext cx="3909275" cy="289695"/>
              </a:xfrm>
              <a:prstGeom prst="rect">
                <a:avLst/>
              </a:prstGeom>
              <a:blipFill>
                <a:blip r:embed="rId3"/>
                <a:stretch>
                  <a:fillRect l="-779" t="-22917" b="-25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tângulo 8"/>
          <p:cNvSpPr/>
          <p:nvPr/>
        </p:nvSpPr>
        <p:spPr>
          <a:xfrm>
            <a:off x="452438" y="4631168"/>
            <a:ext cx="8532440" cy="4878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Portanto, o estimador de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</a:t>
            </a:r>
            <a:r>
              <a:rPr lang="pt-BR" kern="0" baseline="30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Mathematica1" pitchFamily="2" charset="2"/>
              </a:rPr>
              <a:t>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, denominado de </a:t>
            </a: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+mn-cs"/>
              </a:rPr>
              <a:t>Quadrado Médio do Erro ou Resíduo (</a:t>
            </a:r>
            <a:r>
              <a:rPr lang="pt-BR" i="1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QME</a:t>
            </a: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+mn-cs"/>
              </a:rPr>
              <a:t>)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, é dado pela razão entre a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SQE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 e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– 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:</a:t>
            </a:r>
          </a:p>
        </p:txBody>
      </p:sp>
      <p:sp>
        <p:nvSpPr>
          <p:cNvPr id="10" name="Retângulo 9"/>
          <p:cNvSpPr/>
          <p:nvPr/>
        </p:nvSpPr>
        <p:spPr>
          <a:xfrm>
            <a:off x="452438" y="3972174"/>
            <a:ext cx="8075612" cy="487056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A soma dos quadrados dos erros tem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n – </a:t>
            </a:r>
            <a:r>
              <a:rPr lang="pt-BR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 graus de liberdade, pois 2 graus de liberdade foram perdidos por estimar </a:t>
            </a:r>
            <a:r>
              <a:rPr lang="pt-BR" i="1" kern="0" dirty="0">
                <a:solidFill>
                  <a:srgbClr val="000000"/>
                </a:solidFill>
                <a:latin typeface="Symbol" pitchFamily="18" charset="2"/>
                <a:cs typeface="+mn-cs"/>
              </a:rPr>
              <a:t>b</a:t>
            </a:r>
            <a:r>
              <a:rPr lang="pt-BR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0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 e </a:t>
            </a:r>
            <a:r>
              <a:rPr lang="pt-BR" i="1" kern="0" dirty="0">
                <a:solidFill>
                  <a:srgbClr val="000000"/>
                </a:solidFill>
                <a:latin typeface="Symbol" pitchFamily="18" charset="2"/>
                <a:cs typeface="+mn-cs"/>
              </a:rPr>
              <a:t>b</a:t>
            </a:r>
            <a:r>
              <a:rPr lang="pt-BR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ângulo 10"/>
              <p:cNvSpPr/>
              <p:nvPr/>
            </p:nvSpPr>
            <p:spPr bwMode="auto">
              <a:xfrm>
                <a:off x="452438" y="1484316"/>
                <a:ext cx="8296275" cy="783676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marL="342900" indent="-342900">
                  <a:lnSpc>
                    <a:spcPct val="90000"/>
                  </a:lnSpc>
                  <a:spcBef>
                    <a:spcPct val="20000"/>
                  </a:spcBef>
                  <a:defRPr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A variância dos erros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, denotada por </a:t>
                </a:r>
                <a:r>
                  <a:rPr lang="pt-BR" i="1" kern="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  <a:sym typeface="Symbol" pitchFamily="18" charset="2"/>
                  </a:rPr>
                  <a:t></a:t>
                </a:r>
                <a:r>
                  <a:rPr lang="pt-BR" kern="0" baseline="3000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  <a:sym typeface="Mathematica1" pitchFamily="2" charset="2"/>
                  </a:rPr>
                  <a:t>2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, é um parâmetro do modelo de regressão, e necessita ser estimada através dos desvios quadráticos de </a:t>
                </a:r>
                <a:r>
                  <a:rPr lang="pt-BR" i="1" dirty="0"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itchFamily="18" charset="0"/>
                  </a:rPr>
                  <a:t>Y</a:t>
                </a:r>
                <a:r>
                  <a:rPr lang="pt-BR" i="1" baseline="-25000" dirty="0"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itchFamily="18" charset="0"/>
                  </a:rPr>
                  <a:t>i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 em torno de sua própria média estimada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 kern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lang="pt-BR" b="0" i="1" kern="0" smtClean="0">
                                <a:solidFill>
                                  <a:srgbClr val="000000"/>
                                </a:solidFill>
                                <a:latin typeface="Cambria Math"/>
                                <a:cs typeface="+mn-cs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11" name="Retângulo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2438" y="1484316"/>
                <a:ext cx="8296275" cy="783676"/>
              </a:xfrm>
              <a:prstGeom prst="rect">
                <a:avLst/>
              </a:prstGeom>
              <a:blipFill>
                <a:blip r:embed="rId4"/>
                <a:stretch>
                  <a:fillRect l="-367" t="-5426" b="-62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CF13268-A7D0-4A25-9F50-3C6A0BA43FD6}" type="slidenum">
              <a:rPr lang="pt-BR"/>
              <a:pPr>
                <a:defRPr/>
              </a:pPr>
              <a:t>21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1911472" y="5290932"/>
                <a:ext cx="1443344" cy="5549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𝑆𝑄𝐸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1472" y="5290932"/>
                <a:ext cx="1443344" cy="5549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221" grpId="0" build="p"/>
      <p:bldP spid="7" grpId="0"/>
      <p:bldP spid="9" grpId="0"/>
      <p:bldP spid="10" grpId="0"/>
      <p:bldP spid="1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Inferência em Análise de Regressão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561" name="Rectangle 9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51520" y="1801490"/>
                <a:ext cx="8748464" cy="1987550"/>
              </a:xfrm>
              <a:noFill/>
            </p:spPr>
            <p:txBody>
              <a:bodyPr/>
              <a:lstStyle/>
              <a:p>
                <a:pPr marL="182563" indent="-182563">
                  <a:buNone/>
                </a:pPr>
                <a:r>
                  <a:rPr lang="pt-BR" altLang="pt-BR" sz="1600" dirty="0"/>
                  <a:t>Para a estimação dos parâmetros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altLang="pt-B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𝛽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altLang="pt-BR" sz="1600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i="1" smtClean="0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altLang="pt-BR" sz="1600" dirty="0"/>
                  <a:t>, foi adotado o método dos mínimos quadrados e para tanto foi considerado que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/>
                        <a:ea typeface="Cambria Math"/>
                        <a:sym typeface="Symbol" pitchFamily="18" charset="2"/>
                      </a:rPr>
                      <m:t>𝐸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altLang="pt-BR" sz="1600" i="1">
                        <a:latin typeface="Cambria Math"/>
                        <a:ea typeface="Cambria Math"/>
                        <a:sym typeface="Symbol" pitchFamily="18" charset="2"/>
                      </a:rPr>
                      <m:t>=0</m:t>
                    </m:r>
                  </m:oMath>
                </a14:m>
                <a:r>
                  <a:rPr lang="pt-BR" altLang="pt-BR" sz="1600" dirty="0">
                    <a:ea typeface="Cambria Math"/>
                    <a:sym typeface="Symbol" pitchFamily="18" charset="2"/>
                  </a:rPr>
                  <a:t>,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/>
                      </a:rPr>
                      <m:t>𝑉𝑎𝑟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sz="16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1600" dirty="0"/>
                  <a:t> e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/>
                      </a:rPr>
                      <m:t>𝐶𝑜𝑣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𝑘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pt-BR" sz="1600" i="1">
                        <a:latin typeface="Cambria Math"/>
                      </a:rPr>
                      <m:t>=0</m:t>
                    </m:r>
                    <m:r>
                      <a:rPr lang="pt-BR" sz="1600" b="0" i="1" smtClean="0">
                        <a:latin typeface="Cambria Math"/>
                      </a:rPr>
                      <m:t>   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∀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𝑘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≠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𝑗</m:t>
                    </m:r>
                  </m:oMath>
                </a14:m>
                <a:r>
                  <a:rPr lang="pt-BR" sz="1600" dirty="0"/>
                  <a:t>. Note que </a:t>
                </a:r>
                <a:r>
                  <a:rPr lang="pt-BR" altLang="pt-BR" sz="1600" dirty="0"/>
                  <a:t>nenhuma consideração foi feita a respeito da distribuição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altLang="pt-BR" sz="1600" dirty="0"/>
                  <a:t>.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/>
                  <a:t>Qualquer inferência que se faça a partir da equação ajustada utilizando-se uma amostra, deve pressupor a existência de uma distribuição associada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altLang="pt-BR" sz="1600" dirty="0"/>
                  <a:t>. A distribuição mais comum de ser adotada nesse caso é a </a:t>
                </a:r>
                <a:r>
                  <a:rPr lang="pt-BR" altLang="pt-BR" sz="1600" dirty="0">
                    <a:solidFill>
                      <a:srgbClr val="FF0000"/>
                    </a:solidFill>
                  </a:rPr>
                  <a:t>distribuição normal</a:t>
                </a:r>
                <a:r>
                  <a:rPr lang="pt-BR" altLang="pt-BR" sz="1600" dirty="0"/>
                  <a:t>, ou seja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i="1" dirty="0">
                  <a:cs typeface="Times New Roman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cs typeface="Times New Roman" charset="0"/>
                    <a:sym typeface="Symbol" pitchFamily="18" charset="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 pitchFamily="18" charset="2"/>
                      </a:rPr>
                      <m:t>~</m:t>
                    </m:r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dPr>
                      <m:e>
                        <m:r>
                          <a:rPr lang="pt-BR" altLang="pt-BR" sz="16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0,</m:t>
                        </m:r>
                        <m:sSup>
                          <m:sSup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pPr>
                          <m:e>
                            <m:r>
                              <a:rPr lang="pt-BR" altLang="pt-BR" sz="1600" b="0" i="1" smtClean="0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𝜎</m:t>
                            </m:r>
                          </m:e>
                          <m:sup>
                            <m:r>
                              <a:rPr lang="pt-BR" altLang="pt-BR" sz="1600" b="0" i="1" smtClean="0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altLang="pt-BR" sz="1600" i="1" baseline="30000" dirty="0">
                    <a:cs typeface="Times New Roman" charset="0"/>
                    <a:sym typeface="Mathematica1" pitchFamily="2" charset="2"/>
                  </a:rPr>
                  <a:t> </a:t>
                </a:r>
                <a:r>
                  <a:rPr lang="pt-BR" altLang="pt-BR" sz="1600" dirty="0">
                    <a:cs typeface="Times New Roman" charset="0"/>
                    <a:sym typeface="Mathematica1" pitchFamily="2" charset="2"/>
                  </a:rPr>
                  <a:t>e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/>
                      </a:rPr>
                      <m:t>𝐶𝑜𝑣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𝑘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pt-BR" sz="1600" i="1">
                        <a:latin typeface="Cambria Math"/>
                      </a:rPr>
                      <m:t>=0</m:t>
                    </m:r>
                    <m:r>
                      <a:rPr lang="pt-BR" sz="1600" b="0" i="1" smtClean="0">
                        <a:latin typeface="Cambria Math"/>
                      </a:rPr>
                      <m:t>  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∀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𝑘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≠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𝑗</m:t>
                    </m:r>
                  </m:oMath>
                </a14:m>
                <a:endParaRPr lang="pt-BR" altLang="pt-BR" sz="1600" dirty="0">
                  <a:cs typeface="Times New Roman" charset="0"/>
                  <a:sym typeface="Mathematica1" pitchFamily="2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/>
              </a:p>
            </p:txBody>
          </p:sp>
        </mc:Choice>
        <mc:Fallback xmlns="">
          <p:sp>
            <p:nvSpPr>
              <p:cNvPr id="23561" name="Rectangle 9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51520" y="1801490"/>
                <a:ext cx="8748464" cy="1987550"/>
              </a:xfrm>
              <a:blipFill>
                <a:blip r:embed="rId2"/>
                <a:stretch>
                  <a:fillRect l="-348" t="-920" r="-70" b="-214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563" name="Oval 11"/>
          <p:cNvSpPr>
            <a:spLocks noChangeArrowheads="1"/>
          </p:cNvSpPr>
          <p:nvPr/>
        </p:nvSpPr>
        <p:spPr bwMode="auto">
          <a:xfrm>
            <a:off x="639534" y="3612400"/>
            <a:ext cx="1094181" cy="7207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5" name="Grupo 4"/>
          <p:cNvGrpSpPr/>
          <p:nvPr/>
        </p:nvGrpSpPr>
        <p:grpSpPr>
          <a:xfrm>
            <a:off x="179512" y="4590277"/>
            <a:ext cx="6120680" cy="2234905"/>
            <a:chOff x="179512" y="4590277"/>
            <a:chExt cx="6120680" cy="22349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98" name="Rectangle 47"/>
                <p:cNvSpPr>
                  <a:spLocks noChangeArrowheads="1"/>
                </p:cNvSpPr>
                <p:nvPr/>
              </p:nvSpPr>
              <p:spPr bwMode="auto">
                <a:xfrm>
                  <a:off x="4069429" y="4950600"/>
                  <a:ext cx="2230763" cy="3629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8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pt-BR" altLang="pt-BR" sz="18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altLang="pt-BR" sz="1800" i="1">
                                        <a:latin typeface="Cambria Math" panose="02040503050406030204" pitchFamily="18" charset="0"/>
                                        <a:ea typeface="Cambria Math"/>
                                        <a:sym typeface="Symbol" pitchFamily="18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800" i="1">
                                        <a:latin typeface="Cambria Math"/>
                                        <a:ea typeface="Cambria Math"/>
                                        <a:sym typeface="Symbol" pitchFamily="18" charset="2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pt-BR" altLang="pt-BR" sz="1800" i="1">
                                        <a:latin typeface="Cambria Math"/>
                                        <a:ea typeface="Cambria Math"/>
                                        <a:sym typeface="Symbol" pitchFamily="18" charset="2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=</m:t>
                            </m:r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𝛽</m:t>
                            </m:r>
                          </m:e>
                          <m:sub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0</m:t>
                            </m:r>
                          </m:sub>
                        </m:sSub>
                        <m:r>
                          <a:rPr lang="pt-BR" altLang="pt-BR" sz="18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+</m:t>
                        </m:r>
                        <m:sSub>
                          <m:sSubPr>
                            <m:ctrlPr>
                              <a:rPr lang="pt-BR" altLang="pt-BR" sz="18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𝛽</m:t>
                            </m:r>
                          </m:e>
                          <m:sub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altLang="pt-BR" sz="18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pt-BR" altLang="pt-BR" sz="1800" i="1" baseline="-25000" dirty="0">
                    <a:latin typeface="Times New Roman" charset="0"/>
                  </a:endParaRPr>
                </a:p>
              </p:txBody>
            </p:sp>
          </mc:Choice>
          <mc:Fallback xmlns="">
            <p:sp>
              <p:nvSpPr>
                <p:cNvPr id="16398" name="Rectangle 4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069429" y="4950600"/>
                  <a:ext cx="2230763" cy="362984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 b="-1500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" name="Grupo 2"/>
            <p:cNvGrpSpPr/>
            <p:nvPr/>
          </p:nvGrpSpPr>
          <p:grpSpPr>
            <a:xfrm>
              <a:off x="179512" y="4590277"/>
              <a:ext cx="4138932" cy="2234905"/>
              <a:chOff x="719584" y="3766529"/>
              <a:chExt cx="5501193" cy="2970487"/>
            </a:xfrm>
          </p:grpSpPr>
          <p:cxnSp>
            <p:nvCxnSpPr>
              <p:cNvPr id="16392" name="Conector de seta reta 3"/>
              <p:cNvCxnSpPr>
                <a:cxnSpLocks noChangeShapeType="1"/>
              </p:cNvCxnSpPr>
              <p:nvPr/>
            </p:nvCxnSpPr>
            <p:spPr bwMode="auto">
              <a:xfrm flipV="1">
                <a:off x="719584" y="3910558"/>
                <a:ext cx="2376579" cy="2376474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393" name="Conector de seta reta 5"/>
              <p:cNvCxnSpPr>
                <a:cxnSpLocks noChangeShapeType="1"/>
              </p:cNvCxnSpPr>
              <p:nvPr/>
            </p:nvCxnSpPr>
            <p:spPr bwMode="auto">
              <a:xfrm>
                <a:off x="719584" y="6287032"/>
                <a:ext cx="5004664" cy="0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394" name="Conector reto 8"/>
              <p:cNvCxnSpPr>
                <a:cxnSpLocks noChangeShapeType="1"/>
              </p:cNvCxnSpPr>
              <p:nvPr/>
            </p:nvCxnSpPr>
            <p:spPr bwMode="auto">
              <a:xfrm flipV="1">
                <a:off x="1655812" y="4486673"/>
                <a:ext cx="4321053" cy="1368273"/>
              </a:xfrm>
              <a:prstGeom prst="line">
                <a:avLst/>
              </a:prstGeom>
              <a:noFill/>
              <a:ln w="28575" algn="ctr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16395" name="Grupo 11"/>
              <p:cNvGrpSpPr>
                <a:grpSpLocks/>
              </p:cNvGrpSpPr>
              <p:nvPr/>
            </p:nvGrpSpPr>
            <p:grpSpPr bwMode="auto">
              <a:xfrm>
                <a:off x="1703902" y="5159663"/>
                <a:ext cx="857364" cy="972509"/>
                <a:chOff x="3051810" y="4513977"/>
                <a:chExt cx="857250" cy="972423"/>
              </a:xfrm>
            </p:grpSpPr>
            <p:sp>
              <p:nvSpPr>
                <p:cNvPr id="16408" name="Forma livre 6"/>
                <p:cNvSpPr>
                  <a:spLocks/>
                </p:cNvSpPr>
                <p:nvPr/>
              </p:nvSpPr>
              <p:spPr bwMode="auto">
                <a:xfrm>
                  <a:off x="3051810" y="4514850"/>
                  <a:ext cx="857250" cy="971550"/>
                </a:xfrm>
                <a:custGeom>
                  <a:avLst/>
                  <a:gdLst>
                    <a:gd name="T0" fmla="*/ 0 w 857250"/>
                    <a:gd name="T1" fmla="*/ 971550 h 971550"/>
                    <a:gd name="T2" fmla="*/ 91440 w 857250"/>
                    <a:gd name="T3" fmla="*/ 880110 h 971550"/>
                    <a:gd name="T4" fmla="*/ 148590 w 857250"/>
                    <a:gd name="T5" fmla="*/ 777240 h 971550"/>
                    <a:gd name="T6" fmla="*/ 217170 w 857250"/>
                    <a:gd name="T7" fmla="*/ 640080 h 971550"/>
                    <a:gd name="T8" fmla="*/ 262890 w 857250"/>
                    <a:gd name="T9" fmla="*/ 468630 h 971550"/>
                    <a:gd name="T10" fmla="*/ 320040 w 857250"/>
                    <a:gd name="T11" fmla="*/ 297180 h 971550"/>
                    <a:gd name="T12" fmla="*/ 354330 w 857250"/>
                    <a:gd name="T13" fmla="*/ 160020 h 971550"/>
                    <a:gd name="T14" fmla="*/ 400050 w 857250"/>
                    <a:gd name="T15" fmla="*/ 68580 h 971550"/>
                    <a:gd name="T16" fmla="*/ 445770 w 857250"/>
                    <a:gd name="T17" fmla="*/ 11430 h 971550"/>
                    <a:gd name="T18" fmla="*/ 468630 w 857250"/>
                    <a:gd name="T19" fmla="*/ 0 h 971550"/>
                    <a:gd name="T20" fmla="*/ 537210 w 857250"/>
                    <a:gd name="T21" fmla="*/ 34290 h 971550"/>
                    <a:gd name="T22" fmla="*/ 594360 w 857250"/>
                    <a:gd name="T23" fmla="*/ 148590 h 971550"/>
                    <a:gd name="T24" fmla="*/ 674370 w 857250"/>
                    <a:gd name="T25" fmla="*/ 205740 h 971550"/>
                    <a:gd name="T26" fmla="*/ 754380 w 857250"/>
                    <a:gd name="T27" fmla="*/ 205740 h 971550"/>
                    <a:gd name="T28" fmla="*/ 857250 w 857250"/>
                    <a:gd name="T29" fmla="*/ 137160 h 971550"/>
                    <a:gd name="T30" fmla="*/ 857250 w 857250"/>
                    <a:gd name="T31" fmla="*/ 137160 h 971550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</a:gdLst>
                  <a:ahLst/>
                  <a:cxnLst>
                    <a:cxn ang="T32">
                      <a:pos x="T0" y="T1"/>
                    </a:cxn>
                    <a:cxn ang="T33">
                      <a:pos x="T2" y="T3"/>
                    </a:cxn>
                    <a:cxn ang="T34">
                      <a:pos x="T4" y="T5"/>
                    </a:cxn>
                    <a:cxn ang="T35">
                      <a:pos x="T6" y="T7"/>
                    </a:cxn>
                    <a:cxn ang="T36">
                      <a:pos x="T8" y="T9"/>
                    </a:cxn>
                    <a:cxn ang="T37">
                      <a:pos x="T10" y="T11"/>
                    </a:cxn>
                    <a:cxn ang="T38">
                      <a:pos x="T12" y="T13"/>
                    </a:cxn>
                    <a:cxn ang="T39">
                      <a:pos x="T14" y="T15"/>
                    </a:cxn>
                    <a:cxn ang="T40">
                      <a:pos x="T16" y="T17"/>
                    </a:cxn>
                    <a:cxn ang="T41">
                      <a:pos x="T18" y="T19"/>
                    </a:cxn>
                    <a:cxn ang="T42">
                      <a:pos x="T20" y="T21"/>
                    </a:cxn>
                    <a:cxn ang="T43">
                      <a:pos x="T22" y="T23"/>
                    </a:cxn>
                    <a:cxn ang="T44">
                      <a:pos x="T24" y="T25"/>
                    </a:cxn>
                    <a:cxn ang="T45">
                      <a:pos x="T26" y="T27"/>
                    </a:cxn>
                    <a:cxn ang="T46">
                      <a:pos x="T28" y="T29"/>
                    </a:cxn>
                    <a:cxn ang="T47">
                      <a:pos x="T30" y="T31"/>
                    </a:cxn>
                  </a:cxnLst>
                  <a:rect l="0" t="0" r="r" b="b"/>
                  <a:pathLst>
                    <a:path w="857250" h="971550">
                      <a:moveTo>
                        <a:pt x="0" y="971550"/>
                      </a:moveTo>
                      <a:lnTo>
                        <a:pt x="91440" y="880110"/>
                      </a:lnTo>
                      <a:lnTo>
                        <a:pt x="148590" y="777240"/>
                      </a:lnTo>
                      <a:lnTo>
                        <a:pt x="217170" y="640080"/>
                      </a:lnTo>
                      <a:lnTo>
                        <a:pt x="262890" y="468630"/>
                      </a:lnTo>
                      <a:lnTo>
                        <a:pt x="320040" y="297180"/>
                      </a:lnTo>
                      <a:lnTo>
                        <a:pt x="354330" y="160020"/>
                      </a:lnTo>
                      <a:lnTo>
                        <a:pt x="400050" y="68580"/>
                      </a:lnTo>
                      <a:lnTo>
                        <a:pt x="445770" y="11430"/>
                      </a:lnTo>
                      <a:lnTo>
                        <a:pt x="468630" y="0"/>
                      </a:lnTo>
                      <a:lnTo>
                        <a:pt x="537210" y="34290"/>
                      </a:lnTo>
                      <a:lnTo>
                        <a:pt x="594360" y="148590"/>
                      </a:lnTo>
                      <a:lnTo>
                        <a:pt x="674370" y="205740"/>
                      </a:lnTo>
                      <a:lnTo>
                        <a:pt x="754380" y="205740"/>
                      </a:lnTo>
                      <a:lnTo>
                        <a:pt x="857250" y="137160"/>
                      </a:lnTo>
                    </a:path>
                  </a:pathLst>
                </a:custGeom>
                <a:noFill/>
                <a:ln w="952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6409" name="Conector reto 10"/>
                <p:cNvCxnSpPr>
                  <a:cxnSpLocks noChangeShapeType="1"/>
                </p:cNvCxnSpPr>
                <p:nvPr/>
              </p:nvCxnSpPr>
              <p:spPr bwMode="auto">
                <a:xfrm flipH="1">
                  <a:off x="3513238" y="4513977"/>
                  <a:ext cx="0" cy="540000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pSp>
            <p:nvGrpSpPr>
              <p:cNvPr id="16396" name="Grupo 41"/>
              <p:cNvGrpSpPr>
                <a:grpSpLocks/>
              </p:cNvGrpSpPr>
              <p:nvPr/>
            </p:nvGrpSpPr>
            <p:grpSpPr bwMode="auto">
              <a:xfrm>
                <a:off x="3352502" y="4634759"/>
                <a:ext cx="857364" cy="972509"/>
                <a:chOff x="3051810" y="4513977"/>
                <a:chExt cx="857250" cy="972423"/>
              </a:xfrm>
            </p:grpSpPr>
            <p:sp>
              <p:nvSpPr>
                <p:cNvPr id="16406" name="Forma livre 42"/>
                <p:cNvSpPr>
                  <a:spLocks/>
                </p:cNvSpPr>
                <p:nvPr/>
              </p:nvSpPr>
              <p:spPr bwMode="auto">
                <a:xfrm>
                  <a:off x="3051810" y="4514850"/>
                  <a:ext cx="857250" cy="971550"/>
                </a:xfrm>
                <a:custGeom>
                  <a:avLst/>
                  <a:gdLst>
                    <a:gd name="T0" fmla="*/ 0 w 857250"/>
                    <a:gd name="T1" fmla="*/ 971550 h 971550"/>
                    <a:gd name="T2" fmla="*/ 91440 w 857250"/>
                    <a:gd name="T3" fmla="*/ 880110 h 971550"/>
                    <a:gd name="T4" fmla="*/ 148590 w 857250"/>
                    <a:gd name="T5" fmla="*/ 777240 h 971550"/>
                    <a:gd name="T6" fmla="*/ 217170 w 857250"/>
                    <a:gd name="T7" fmla="*/ 640080 h 971550"/>
                    <a:gd name="T8" fmla="*/ 262890 w 857250"/>
                    <a:gd name="T9" fmla="*/ 468630 h 971550"/>
                    <a:gd name="T10" fmla="*/ 320040 w 857250"/>
                    <a:gd name="T11" fmla="*/ 297180 h 971550"/>
                    <a:gd name="T12" fmla="*/ 354330 w 857250"/>
                    <a:gd name="T13" fmla="*/ 160020 h 971550"/>
                    <a:gd name="T14" fmla="*/ 400050 w 857250"/>
                    <a:gd name="T15" fmla="*/ 68580 h 971550"/>
                    <a:gd name="T16" fmla="*/ 445770 w 857250"/>
                    <a:gd name="T17" fmla="*/ 11430 h 971550"/>
                    <a:gd name="T18" fmla="*/ 468630 w 857250"/>
                    <a:gd name="T19" fmla="*/ 0 h 971550"/>
                    <a:gd name="T20" fmla="*/ 537210 w 857250"/>
                    <a:gd name="T21" fmla="*/ 34290 h 971550"/>
                    <a:gd name="T22" fmla="*/ 594360 w 857250"/>
                    <a:gd name="T23" fmla="*/ 148590 h 971550"/>
                    <a:gd name="T24" fmla="*/ 674370 w 857250"/>
                    <a:gd name="T25" fmla="*/ 205740 h 971550"/>
                    <a:gd name="T26" fmla="*/ 754380 w 857250"/>
                    <a:gd name="T27" fmla="*/ 205740 h 971550"/>
                    <a:gd name="T28" fmla="*/ 857250 w 857250"/>
                    <a:gd name="T29" fmla="*/ 137160 h 971550"/>
                    <a:gd name="T30" fmla="*/ 857250 w 857250"/>
                    <a:gd name="T31" fmla="*/ 137160 h 971550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</a:gdLst>
                  <a:ahLst/>
                  <a:cxnLst>
                    <a:cxn ang="T32">
                      <a:pos x="T0" y="T1"/>
                    </a:cxn>
                    <a:cxn ang="T33">
                      <a:pos x="T2" y="T3"/>
                    </a:cxn>
                    <a:cxn ang="T34">
                      <a:pos x="T4" y="T5"/>
                    </a:cxn>
                    <a:cxn ang="T35">
                      <a:pos x="T6" y="T7"/>
                    </a:cxn>
                    <a:cxn ang="T36">
                      <a:pos x="T8" y="T9"/>
                    </a:cxn>
                    <a:cxn ang="T37">
                      <a:pos x="T10" y="T11"/>
                    </a:cxn>
                    <a:cxn ang="T38">
                      <a:pos x="T12" y="T13"/>
                    </a:cxn>
                    <a:cxn ang="T39">
                      <a:pos x="T14" y="T15"/>
                    </a:cxn>
                    <a:cxn ang="T40">
                      <a:pos x="T16" y="T17"/>
                    </a:cxn>
                    <a:cxn ang="T41">
                      <a:pos x="T18" y="T19"/>
                    </a:cxn>
                    <a:cxn ang="T42">
                      <a:pos x="T20" y="T21"/>
                    </a:cxn>
                    <a:cxn ang="T43">
                      <a:pos x="T22" y="T23"/>
                    </a:cxn>
                    <a:cxn ang="T44">
                      <a:pos x="T24" y="T25"/>
                    </a:cxn>
                    <a:cxn ang="T45">
                      <a:pos x="T26" y="T27"/>
                    </a:cxn>
                    <a:cxn ang="T46">
                      <a:pos x="T28" y="T29"/>
                    </a:cxn>
                    <a:cxn ang="T47">
                      <a:pos x="T30" y="T31"/>
                    </a:cxn>
                  </a:cxnLst>
                  <a:rect l="0" t="0" r="r" b="b"/>
                  <a:pathLst>
                    <a:path w="857250" h="971550">
                      <a:moveTo>
                        <a:pt x="0" y="971550"/>
                      </a:moveTo>
                      <a:lnTo>
                        <a:pt x="91440" y="880110"/>
                      </a:lnTo>
                      <a:lnTo>
                        <a:pt x="148590" y="777240"/>
                      </a:lnTo>
                      <a:lnTo>
                        <a:pt x="217170" y="640080"/>
                      </a:lnTo>
                      <a:lnTo>
                        <a:pt x="262890" y="468630"/>
                      </a:lnTo>
                      <a:lnTo>
                        <a:pt x="320040" y="297180"/>
                      </a:lnTo>
                      <a:lnTo>
                        <a:pt x="354330" y="160020"/>
                      </a:lnTo>
                      <a:lnTo>
                        <a:pt x="400050" y="68580"/>
                      </a:lnTo>
                      <a:lnTo>
                        <a:pt x="445770" y="11430"/>
                      </a:lnTo>
                      <a:lnTo>
                        <a:pt x="468630" y="0"/>
                      </a:lnTo>
                      <a:lnTo>
                        <a:pt x="537210" y="34290"/>
                      </a:lnTo>
                      <a:lnTo>
                        <a:pt x="594360" y="148590"/>
                      </a:lnTo>
                      <a:lnTo>
                        <a:pt x="674370" y="205740"/>
                      </a:lnTo>
                      <a:lnTo>
                        <a:pt x="754380" y="205740"/>
                      </a:lnTo>
                      <a:lnTo>
                        <a:pt x="857250" y="137160"/>
                      </a:lnTo>
                    </a:path>
                  </a:pathLst>
                </a:custGeom>
                <a:noFill/>
                <a:ln w="952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6407" name="Conector reto 43"/>
                <p:cNvCxnSpPr>
                  <a:cxnSpLocks noChangeShapeType="1"/>
                </p:cNvCxnSpPr>
                <p:nvPr/>
              </p:nvCxnSpPr>
              <p:spPr bwMode="auto">
                <a:xfrm flipH="1">
                  <a:off x="3513238" y="4513977"/>
                  <a:ext cx="0" cy="540000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pSp>
            <p:nvGrpSpPr>
              <p:cNvPr id="16397" name="Grupo 44"/>
              <p:cNvGrpSpPr>
                <a:grpSpLocks/>
              </p:cNvGrpSpPr>
              <p:nvPr/>
            </p:nvGrpSpPr>
            <p:grpSpPr bwMode="auto">
              <a:xfrm>
                <a:off x="5050313" y="4093452"/>
                <a:ext cx="857364" cy="972509"/>
                <a:chOff x="3051810" y="4513977"/>
                <a:chExt cx="857250" cy="972423"/>
              </a:xfrm>
            </p:grpSpPr>
            <p:sp>
              <p:nvSpPr>
                <p:cNvPr id="16404" name="Forma livre 45"/>
                <p:cNvSpPr>
                  <a:spLocks/>
                </p:cNvSpPr>
                <p:nvPr/>
              </p:nvSpPr>
              <p:spPr bwMode="auto">
                <a:xfrm>
                  <a:off x="3051810" y="4514850"/>
                  <a:ext cx="857250" cy="971550"/>
                </a:xfrm>
                <a:custGeom>
                  <a:avLst/>
                  <a:gdLst>
                    <a:gd name="T0" fmla="*/ 0 w 857250"/>
                    <a:gd name="T1" fmla="*/ 971550 h 971550"/>
                    <a:gd name="T2" fmla="*/ 91440 w 857250"/>
                    <a:gd name="T3" fmla="*/ 880110 h 971550"/>
                    <a:gd name="T4" fmla="*/ 148590 w 857250"/>
                    <a:gd name="T5" fmla="*/ 777240 h 971550"/>
                    <a:gd name="T6" fmla="*/ 217170 w 857250"/>
                    <a:gd name="T7" fmla="*/ 640080 h 971550"/>
                    <a:gd name="T8" fmla="*/ 262890 w 857250"/>
                    <a:gd name="T9" fmla="*/ 468630 h 971550"/>
                    <a:gd name="T10" fmla="*/ 320040 w 857250"/>
                    <a:gd name="T11" fmla="*/ 297180 h 971550"/>
                    <a:gd name="T12" fmla="*/ 354330 w 857250"/>
                    <a:gd name="T13" fmla="*/ 160020 h 971550"/>
                    <a:gd name="T14" fmla="*/ 400050 w 857250"/>
                    <a:gd name="T15" fmla="*/ 68580 h 971550"/>
                    <a:gd name="T16" fmla="*/ 445770 w 857250"/>
                    <a:gd name="T17" fmla="*/ 11430 h 971550"/>
                    <a:gd name="T18" fmla="*/ 468630 w 857250"/>
                    <a:gd name="T19" fmla="*/ 0 h 971550"/>
                    <a:gd name="T20" fmla="*/ 537210 w 857250"/>
                    <a:gd name="T21" fmla="*/ 34290 h 971550"/>
                    <a:gd name="T22" fmla="*/ 594360 w 857250"/>
                    <a:gd name="T23" fmla="*/ 148590 h 971550"/>
                    <a:gd name="T24" fmla="*/ 674370 w 857250"/>
                    <a:gd name="T25" fmla="*/ 205740 h 971550"/>
                    <a:gd name="T26" fmla="*/ 754380 w 857250"/>
                    <a:gd name="T27" fmla="*/ 205740 h 971550"/>
                    <a:gd name="T28" fmla="*/ 857250 w 857250"/>
                    <a:gd name="T29" fmla="*/ 137160 h 971550"/>
                    <a:gd name="T30" fmla="*/ 857250 w 857250"/>
                    <a:gd name="T31" fmla="*/ 137160 h 971550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</a:gdLst>
                  <a:ahLst/>
                  <a:cxnLst>
                    <a:cxn ang="T32">
                      <a:pos x="T0" y="T1"/>
                    </a:cxn>
                    <a:cxn ang="T33">
                      <a:pos x="T2" y="T3"/>
                    </a:cxn>
                    <a:cxn ang="T34">
                      <a:pos x="T4" y="T5"/>
                    </a:cxn>
                    <a:cxn ang="T35">
                      <a:pos x="T6" y="T7"/>
                    </a:cxn>
                    <a:cxn ang="T36">
                      <a:pos x="T8" y="T9"/>
                    </a:cxn>
                    <a:cxn ang="T37">
                      <a:pos x="T10" y="T11"/>
                    </a:cxn>
                    <a:cxn ang="T38">
                      <a:pos x="T12" y="T13"/>
                    </a:cxn>
                    <a:cxn ang="T39">
                      <a:pos x="T14" y="T15"/>
                    </a:cxn>
                    <a:cxn ang="T40">
                      <a:pos x="T16" y="T17"/>
                    </a:cxn>
                    <a:cxn ang="T41">
                      <a:pos x="T18" y="T19"/>
                    </a:cxn>
                    <a:cxn ang="T42">
                      <a:pos x="T20" y="T21"/>
                    </a:cxn>
                    <a:cxn ang="T43">
                      <a:pos x="T22" y="T23"/>
                    </a:cxn>
                    <a:cxn ang="T44">
                      <a:pos x="T24" y="T25"/>
                    </a:cxn>
                    <a:cxn ang="T45">
                      <a:pos x="T26" y="T27"/>
                    </a:cxn>
                    <a:cxn ang="T46">
                      <a:pos x="T28" y="T29"/>
                    </a:cxn>
                    <a:cxn ang="T47">
                      <a:pos x="T30" y="T31"/>
                    </a:cxn>
                  </a:cxnLst>
                  <a:rect l="0" t="0" r="r" b="b"/>
                  <a:pathLst>
                    <a:path w="857250" h="971550">
                      <a:moveTo>
                        <a:pt x="0" y="971550"/>
                      </a:moveTo>
                      <a:lnTo>
                        <a:pt x="91440" y="880110"/>
                      </a:lnTo>
                      <a:lnTo>
                        <a:pt x="148590" y="777240"/>
                      </a:lnTo>
                      <a:lnTo>
                        <a:pt x="217170" y="640080"/>
                      </a:lnTo>
                      <a:lnTo>
                        <a:pt x="262890" y="468630"/>
                      </a:lnTo>
                      <a:lnTo>
                        <a:pt x="320040" y="297180"/>
                      </a:lnTo>
                      <a:lnTo>
                        <a:pt x="354330" y="160020"/>
                      </a:lnTo>
                      <a:lnTo>
                        <a:pt x="400050" y="68580"/>
                      </a:lnTo>
                      <a:lnTo>
                        <a:pt x="445770" y="11430"/>
                      </a:lnTo>
                      <a:lnTo>
                        <a:pt x="468630" y="0"/>
                      </a:lnTo>
                      <a:lnTo>
                        <a:pt x="537210" y="34290"/>
                      </a:lnTo>
                      <a:lnTo>
                        <a:pt x="594360" y="148590"/>
                      </a:lnTo>
                      <a:lnTo>
                        <a:pt x="674370" y="205740"/>
                      </a:lnTo>
                      <a:lnTo>
                        <a:pt x="754380" y="205740"/>
                      </a:lnTo>
                      <a:lnTo>
                        <a:pt x="857250" y="137160"/>
                      </a:lnTo>
                    </a:path>
                  </a:pathLst>
                </a:custGeom>
                <a:noFill/>
                <a:ln w="952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6405" name="Conector reto 46"/>
                <p:cNvCxnSpPr>
                  <a:cxnSpLocks noChangeShapeType="1"/>
                </p:cNvCxnSpPr>
                <p:nvPr/>
              </p:nvCxnSpPr>
              <p:spPr bwMode="auto">
                <a:xfrm flipH="1">
                  <a:off x="3513238" y="4513977"/>
                  <a:ext cx="0" cy="540000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cxnSp>
            <p:nvCxnSpPr>
              <p:cNvPr id="16399" name="Conector de seta reta 48"/>
              <p:cNvCxnSpPr>
                <a:cxnSpLocks noChangeShapeType="1"/>
              </p:cNvCxnSpPr>
              <p:nvPr/>
            </p:nvCxnSpPr>
            <p:spPr bwMode="auto">
              <a:xfrm flipV="1">
                <a:off x="1583299" y="3910558"/>
                <a:ext cx="2376579" cy="2376474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00" name="Conector de seta reta 49"/>
              <p:cNvCxnSpPr>
                <a:cxnSpLocks noChangeShapeType="1"/>
              </p:cNvCxnSpPr>
              <p:nvPr/>
            </p:nvCxnSpPr>
            <p:spPr bwMode="auto">
              <a:xfrm flipV="1">
                <a:off x="2688345" y="3910558"/>
                <a:ext cx="2376579" cy="2376474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01" name="Conector de seta reta 50"/>
              <p:cNvCxnSpPr>
                <a:cxnSpLocks noChangeShapeType="1"/>
              </p:cNvCxnSpPr>
              <p:nvPr/>
            </p:nvCxnSpPr>
            <p:spPr bwMode="auto">
              <a:xfrm flipV="1">
                <a:off x="3844198" y="3910558"/>
                <a:ext cx="2376579" cy="2376474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02" name="Retângulo 12"/>
              <p:cNvSpPr>
                <a:spLocks noChangeArrowheads="1"/>
              </p:cNvSpPr>
              <p:nvPr/>
            </p:nvSpPr>
            <p:spPr bwMode="auto">
              <a:xfrm>
                <a:off x="2573968" y="3766529"/>
                <a:ext cx="396720" cy="4499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sym typeface="Mathematica1" pitchFamily="2" charset="2"/>
                  </a:rPr>
                  <a:t>Y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3" name="Retângulo 13"/>
              <p:cNvSpPr>
                <a:spLocks noChangeArrowheads="1"/>
              </p:cNvSpPr>
              <p:nvPr/>
            </p:nvSpPr>
            <p:spPr bwMode="auto">
              <a:xfrm>
                <a:off x="5414506" y="6287033"/>
                <a:ext cx="411633" cy="4499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</a:rPr>
                  <a:t>X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E0A72D4-0AD5-4247-9FE8-771035939C6D}" type="slidenum">
              <a:rPr lang="pt-BR"/>
              <a:pPr>
                <a:defRPr/>
              </a:pPr>
              <a:t>22</a:t>
            </a:fld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4343006" y="5614283"/>
            <a:ext cx="432465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5125" indent="-365125"/>
            <a:r>
              <a:rPr lang="pt-BR" altLang="pt-BR" sz="1400" dirty="0">
                <a:latin typeface="Tahoma" panose="020B0604030504040204" pitchFamily="34" charset="0"/>
              </a:rPr>
              <a:t>Os pressupostos devem ser verificados: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Tahoma" panose="020B0604030504040204" pitchFamily="34" charset="0"/>
              </a:rPr>
              <a:t>normalidade dos erros: teste de Shapiro-</a:t>
            </a:r>
            <a:r>
              <a:rPr lang="pt-BR" sz="1400" dirty="0" err="1">
                <a:latin typeface="Tahoma" panose="020B0604030504040204" pitchFamily="34" charset="0"/>
              </a:rPr>
              <a:t>Wilk</a:t>
            </a:r>
            <a:endParaRPr lang="pt-BR" sz="1400" dirty="0">
              <a:latin typeface="Tahom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Tahoma" panose="020B0604030504040204" pitchFamily="34" charset="0"/>
              </a:rPr>
              <a:t>variância constante: teste </a:t>
            </a:r>
            <a:r>
              <a:rPr lang="pt-BR" sz="1400" dirty="0" err="1">
                <a:latin typeface="Tahoma" panose="020B0604030504040204" pitchFamily="34" charset="0"/>
              </a:rPr>
              <a:t>Breusch-Pagan</a:t>
            </a:r>
            <a:endParaRPr lang="pt-BR" sz="1400" dirty="0">
              <a:latin typeface="Tahom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Tahoma" panose="020B0604030504040204" pitchFamily="34" charset="0"/>
              </a:rPr>
              <a:t>independência: garantida pela amostragem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Box 3"/>
              <p:cNvSpPr txBox="1">
                <a:spLocks noChangeArrowheads="1"/>
              </p:cNvSpPr>
              <p:nvPr/>
            </p:nvSpPr>
            <p:spPr bwMode="auto">
              <a:xfrm>
                <a:off x="251520" y="1377049"/>
                <a:ext cx="8712968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342900" indent="-342900" algn="ctr" eaLnBrk="0" hangingPunct="0">
                  <a:spcBef>
                    <a:spcPct val="50000"/>
                  </a:spcBef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80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18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  <m:r>
                        <a:rPr lang="pt-BR" altLang="pt-BR" sz="1800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1800" b="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8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7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520" y="1377049"/>
                <a:ext cx="8712968" cy="369332"/>
              </a:xfrm>
              <a:prstGeom prst="rect">
                <a:avLst/>
              </a:prstGeom>
              <a:blipFill rotWithShape="1">
                <a:blip r:embed="rId4"/>
                <a:stretch>
                  <a:fillRect b="-15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63" grpId="0" animBg="1"/>
      <p:bldP spid="4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/>
              <p:cNvSpPr txBox="1"/>
              <p:nvPr/>
            </p:nvSpPr>
            <p:spPr>
              <a:xfrm>
                <a:off x="394541" y="3052864"/>
                <a:ext cx="1965859" cy="5811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/>
                      </a:rPr>
                      <m:t>𝑡</m:t>
                    </m:r>
                    <m:r>
                      <a:rPr lang="pt-BR" sz="2000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pt-B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pt-BR" sz="2000" b="0" i="1" smtClean="0"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  <a:ea typeface="Cambria Math"/>
                              </a:rPr>
                              <m:t>𝛽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  <a:ea typeface="Cambria Math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pt-BR" sz="2000" b="0" i="1" smtClean="0">
                            <a:latin typeface="Cambria Math"/>
                          </a:rPr>
                          <m:t>𝑠</m:t>
                        </m:r>
                        <m:d>
                          <m:d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pt-BR" sz="2000" b="0" i="1" smtClean="0">
                        <a:latin typeface="Cambria Math"/>
                      </a:rPr>
                      <m:t>~</m:t>
                    </m:r>
                    <m:sSub>
                      <m:sSubPr>
                        <m:ctrlPr>
                          <a:rPr lang="pt-B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pt-BR" sz="2000" b="0" i="1" smtClean="0">
                            <a:latin typeface="Cambria Math"/>
                          </a:rPr>
                          <m:t>𝑛</m:t>
                        </m:r>
                        <m:r>
                          <a:rPr lang="pt-BR" sz="2000" b="0" i="1" smtClean="0">
                            <a:latin typeface="Cambria Math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pt-BR" sz="20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" name="CaixaDeTexto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541" y="3052864"/>
                <a:ext cx="1965859" cy="5811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CaixaDeTexto 87"/>
              <p:cNvSpPr txBox="1"/>
              <p:nvPr/>
            </p:nvSpPr>
            <p:spPr>
              <a:xfrm>
                <a:off x="312653" y="3988778"/>
                <a:ext cx="2583207" cy="6842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1800" b="0" i="1" smtClean="0">
                              <a:latin typeface="Cambria Math"/>
                            </a:rPr>
                            <m:t>𝑠</m:t>
                          </m:r>
                        </m:e>
                        <m:sup>
                          <m:r>
                            <a:rPr lang="pt-BR" sz="1800" b="0" i="1" smtClean="0">
                              <a:latin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800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18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sz="1800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latin typeface="Cambria Math"/>
                            </a:rPr>
                            <m:t>𝑄𝑀𝐸</m:t>
                          </m:r>
                        </m:num>
                        <m:den>
                          <m:nary>
                            <m:naryPr>
                              <m:chr m:val="∑"/>
                              <m:ctrlPr>
                                <a:rPr lang="pt-B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1800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sz="1800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1800" b="0" i="1" smtClean="0">
                                  <a:latin typeface="Cambria Math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1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1800" b="0" i="1" smtClean="0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sz="1800" b="0" i="1" smtClean="0">
                                              <a:latin typeface="Cambria Math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sz="1800" b="0" i="1" smtClean="0">
                                          <a:latin typeface="Cambria Math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pt-BR" sz="1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1800" b="0" i="1" smtClean="0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pt-BR" sz="1800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8" name="CaixaDeTexto 8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53" y="3988778"/>
                <a:ext cx="2583207" cy="684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462" name="Group 50"/>
          <p:cNvGrpSpPr>
            <a:grpSpLocks/>
          </p:cNvGrpSpPr>
          <p:nvPr/>
        </p:nvGrpSpPr>
        <p:grpSpPr bwMode="auto">
          <a:xfrm>
            <a:off x="5105400" y="2622623"/>
            <a:ext cx="4000500" cy="2657473"/>
            <a:chOff x="3264" y="2113"/>
            <a:chExt cx="2520" cy="1674"/>
          </a:xfrm>
        </p:grpSpPr>
        <p:grpSp>
          <p:nvGrpSpPr>
            <p:cNvPr id="17464" name="Group 24"/>
            <p:cNvGrpSpPr>
              <a:grpSpLocks/>
            </p:cNvGrpSpPr>
            <p:nvPr/>
          </p:nvGrpSpPr>
          <p:grpSpPr bwMode="auto">
            <a:xfrm>
              <a:off x="3264" y="2113"/>
              <a:ext cx="2520" cy="1674"/>
              <a:chOff x="2988" y="1815"/>
              <a:chExt cx="2520" cy="1674"/>
            </a:xfrm>
          </p:grpSpPr>
          <p:pic>
            <p:nvPicPr>
              <p:cNvPr id="17466" name="Picture 25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467" name="Text Box 26"/>
              <p:cNvSpPr txBox="1">
                <a:spLocks noChangeArrowheads="1"/>
              </p:cNvSpPr>
              <p:nvPr/>
            </p:nvSpPr>
            <p:spPr bwMode="auto">
              <a:xfrm>
                <a:off x="2988" y="3158"/>
                <a:ext cx="28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dirty="0">
                    <a:latin typeface="Times New Roman" charset="0"/>
                  </a:rPr>
                  <a:t>-</a:t>
                </a:r>
                <a:r>
                  <a:rPr lang="pt-BR" altLang="pt-BR" sz="2000" dirty="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 dirty="0">
                  <a:latin typeface="Times New Roman" charset="0"/>
                </a:endParaRPr>
              </a:p>
            </p:txBody>
          </p:sp>
          <p:sp>
            <p:nvSpPr>
              <p:cNvPr id="17468" name="Text Box 27"/>
              <p:cNvSpPr txBox="1">
                <a:spLocks noChangeArrowheads="1"/>
              </p:cNvSpPr>
              <p:nvPr/>
            </p:nvSpPr>
            <p:spPr bwMode="auto">
              <a:xfrm>
                <a:off x="5188" y="3160"/>
                <a:ext cx="320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dirty="0">
                    <a:latin typeface="Times New Roman" charset="0"/>
                  </a:rPr>
                  <a:t>+</a:t>
                </a:r>
                <a:r>
                  <a:rPr lang="pt-BR" altLang="pt-BR" sz="2000" dirty="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 dirty="0">
                  <a:latin typeface="Times New Roman" charset="0"/>
                </a:endParaRPr>
              </a:p>
            </p:txBody>
          </p:sp>
          <p:sp>
            <p:nvSpPr>
              <p:cNvPr id="17469" name="Text Box 28"/>
              <p:cNvSpPr txBox="1">
                <a:spLocks noChangeArrowheads="1"/>
              </p:cNvSpPr>
              <p:nvPr/>
            </p:nvSpPr>
            <p:spPr bwMode="auto">
              <a:xfrm>
                <a:off x="4158" y="3239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7470" name="Line 29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" name="Text Box 26"/>
              <p:cNvSpPr txBox="1">
                <a:spLocks noChangeArrowheads="1"/>
              </p:cNvSpPr>
              <p:nvPr/>
            </p:nvSpPr>
            <p:spPr bwMode="auto">
              <a:xfrm>
                <a:off x="4630" y="1815"/>
                <a:ext cx="32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pt-BR" altLang="pt-BR" sz="2000" i="1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pt-BR" altLang="pt-BR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-2</a:t>
                </a:r>
              </a:p>
            </p:txBody>
          </p:sp>
        </p:grpSp>
        <p:sp>
          <p:nvSpPr>
            <p:cNvPr id="17465" name="Line 30"/>
            <p:cNvSpPr>
              <a:spLocks noChangeShapeType="1"/>
            </p:cNvSpPr>
            <p:nvPr/>
          </p:nvSpPr>
          <p:spPr bwMode="auto">
            <a:xfrm flipH="1">
              <a:off x="4788" y="2266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altLang="pt-BR" i="1" dirty="0"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baseline="-25000" dirty="0">
                <a:latin typeface="Times New Roman" charset="0"/>
                <a:cs typeface="Times New Roman" charset="0"/>
                <a:sym typeface="Mathematica1" pitchFamily="2" charset="2"/>
              </a:rPr>
              <a:t>1</a:t>
            </a:r>
            <a:endParaRPr lang="pt-BR" dirty="0"/>
          </a:p>
        </p:txBody>
      </p:sp>
      <p:sp>
        <p:nvSpPr>
          <p:cNvPr id="17415" name="Rectangle 20"/>
          <p:cNvSpPr>
            <a:spLocks noChangeArrowheads="1"/>
          </p:cNvSpPr>
          <p:nvPr/>
        </p:nvSpPr>
        <p:spPr bwMode="auto">
          <a:xfrm>
            <a:off x="4137868" y="2840038"/>
            <a:ext cx="13625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X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17416" name="Rectangle 21"/>
          <p:cNvSpPr>
            <a:spLocks noChangeArrowheads="1"/>
          </p:cNvSpPr>
          <p:nvPr/>
        </p:nvSpPr>
        <p:spPr bwMode="auto">
          <a:xfrm rot="-5400000">
            <a:off x="2976563" y="2044700"/>
            <a:ext cx="12382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Y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3347864" y="1838151"/>
            <a:ext cx="3156245" cy="338554"/>
            <a:chOff x="3758210" y="2103753"/>
            <a:chExt cx="3156247" cy="338555"/>
          </a:xfrm>
        </p:grpSpPr>
        <p:sp>
          <p:nvSpPr>
            <p:cNvPr id="17450" name="Line 37"/>
            <p:cNvSpPr>
              <a:spLocks noChangeShapeType="1"/>
            </p:cNvSpPr>
            <p:nvPr/>
          </p:nvSpPr>
          <p:spPr bwMode="auto">
            <a:xfrm>
              <a:off x="3758210" y="2314891"/>
              <a:ext cx="12239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451" name="Text Box 38"/>
            <p:cNvSpPr txBox="1">
              <a:spLocks noChangeArrowheads="1"/>
            </p:cNvSpPr>
            <p:nvPr/>
          </p:nvSpPr>
          <p:spPr bwMode="auto">
            <a:xfrm>
              <a:off x="5053609" y="2103753"/>
              <a:ext cx="1860848" cy="3385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7" name="Retângulo 6"/>
          <p:cNvSpPr>
            <a:spLocks noChangeArrowheads="1"/>
          </p:cNvSpPr>
          <p:nvPr/>
        </p:nvSpPr>
        <p:spPr bwMode="auto">
          <a:xfrm>
            <a:off x="3332163" y="4077022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sp>
        <p:nvSpPr>
          <p:cNvPr id="39" name="Text Box 33"/>
          <p:cNvSpPr txBox="1">
            <a:spLocks noChangeArrowheads="1"/>
          </p:cNvSpPr>
          <p:nvPr/>
        </p:nvSpPr>
        <p:spPr bwMode="auto">
          <a:xfrm>
            <a:off x="7551738" y="4778449"/>
            <a:ext cx="4937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 dirty="0" err="1">
                <a:latin typeface="Times New Roman" charset="0"/>
              </a:rPr>
              <a:t>t</a:t>
            </a:r>
            <a:r>
              <a:rPr lang="pt-BR" altLang="pt-BR" sz="2000" i="1" baseline="-25000" dirty="0" err="1">
                <a:latin typeface="Times New Roman" charset="0"/>
              </a:rPr>
              <a:t>crít</a:t>
            </a:r>
            <a:endParaRPr lang="pt-BR" altLang="pt-BR" sz="2000" i="1" baseline="-25000" dirty="0">
              <a:latin typeface="Times New Roman" charset="0"/>
            </a:endParaRPr>
          </a:p>
        </p:txBody>
      </p:sp>
      <p:sp>
        <p:nvSpPr>
          <p:cNvPr id="40" name="Text Box 34"/>
          <p:cNvSpPr txBox="1">
            <a:spLocks noChangeArrowheads="1"/>
          </p:cNvSpPr>
          <p:nvPr/>
        </p:nvSpPr>
        <p:spPr bwMode="auto">
          <a:xfrm>
            <a:off x="6324600" y="4778449"/>
            <a:ext cx="5794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 dirty="0">
                <a:latin typeface="Times New Roman" charset="0"/>
              </a:rPr>
              <a:t>-</a:t>
            </a:r>
            <a:r>
              <a:rPr lang="pt-BR" altLang="pt-BR" sz="2000" i="1" dirty="0" err="1">
                <a:latin typeface="Times New Roman" charset="0"/>
              </a:rPr>
              <a:t>t</a:t>
            </a:r>
            <a:r>
              <a:rPr lang="pt-BR" altLang="pt-BR" sz="2000" i="1" baseline="-25000" dirty="0" err="1">
                <a:latin typeface="Times New Roman" charset="0"/>
              </a:rPr>
              <a:t>crít</a:t>
            </a:r>
            <a:endParaRPr lang="pt-BR" altLang="pt-BR" sz="2000" i="1" baseline="-25000" dirty="0">
              <a:latin typeface="Times New Roman" charset="0"/>
            </a:endParaRPr>
          </a:p>
        </p:txBody>
      </p:sp>
      <p:grpSp>
        <p:nvGrpSpPr>
          <p:cNvPr id="60" name="Grupo 34"/>
          <p:cNvGrpSpPr>
            <a:grpSpLocks/>
          </p:cNvGrpSpPr>
          <p:nvPr/>
        </p:nvGrpSpPr>
        <p:grpSpPr bwMode="auto">
          <a:xfrm>
            <a:off x="179512" y="5085184"/>
            <a:ext cx="5715000" cy="917575"/>
            <a:chOff x="714348" y="5940449"/>
            <a:chExt cx="5715000" cy="917575"/>
          </a:xfrm>
        </p:grpSpPr>
        <p:sp>
          <p:nvSpPr>
            <p:cNvPr id="17442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17443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(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(|</a:t>
              </a:r>
              <a:r>
                <a:rPr lang="pt-BR" altLang="pt-BR" sz="1600" i="1" dirty="0">
                  <a:latin typeface="Times New Roman" charset="0"/>
                </a:rPr>
                <a:t>t|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sp>
        <p:nvSpPr>
          <p:cNvPr id="63" name="Rectangle 47"/>
          <p:cNvSpPr>
            <a:spLocks noChangeArrowheads="1"/>
          </p:cNvSpPr>
          <p:nvPr/>
        </p:nvSpPr>
        <p:spPr bwMode="auto">
          <a:xfrm>
            <a:off x="5796136" y="1487959"/>
            <a:ext cx="20859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dirty="0">
                <a:latin typeface="Times New Roman" charset="0"/>
                <a:sym typeface="Mathematica1" pitchFamily="2" charset="2"/>
              </a:rPr>
              <a:t>E(</a:t>
            </a:r>
            <a:r>
              <a:rPr lang="pt-BR" altLang="pt-BR" sz="2000" i="1" dirty="0">
                <a:latin typeface="Times New Roman" charset="0"/>
                <a:sym typeface="Mathematica1" pitchFamily="2" charset="2"/>
              </a:rPr>
              <a:t>Y</a:t>
            </a:r>
            <a:r>
              <a:rPr lang="pt-BR" altLang="pt-BR" sz="2000" i="1" baseline="-25000" dirty="0">
                <a:latin typeface="Times New Roman" charset="0"/>
                <a:sym typeface="Mathematica1" pitchFamily="2" charset="2"/>
              </a:rPr>
              <a:t>i</a:t>
            </a:r>
            <a:r>
              <a:rPr lang="pt-BR" altLang="pt-BR" sz="2000" dirty="0">
                <a:latin typeface="Times New Roman" charset="0"/>
                <a:sym typeface="Mathematica1" pitchFamily="2" charset="2"/>
              </a:rPr>
              <a:t>) = </a:t>
            </a:r>
            <a:r>
              <a:rPr lang="pt-BR" altLang="pt-BR" sz="2000" i="1" dirty="0">
                <a:latin typeface="Times New Roman" charset="0"/>
                <a:sym typeface="Symbol" pitchFamily="18" charset="2"/>
              </a:rPr>
              <a:t></a:t>
            </a:r>
            <a:r>
              <a:rPr lang="pt-BR" altLang="pt-BR" sz="2000" baseline="-25000" dirty="0">
                <a:latin typeface="Times New Roman" charset="0"/>
                <a:sym typeface="Mathematica1" pitchFamily="2" charset="2"/>
              </a:rPr>
              <a:t>0</a:t>
            </a:r>
            <a:r>
              <a:rPr lang="pt-BR" altLang="pt-BR" sz="2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 ?</a:t>
            </a:r>
            <a:endParaRPr lang="pt-BR" altLang="pt-BR" sz="2000" i="1" baseline="-25000" dirty="0">
              <a:latin typeface="Times New Roman" charset="0"/>
            </a:endParaRPr>
          </a:p>
        </p:txBody>
      </p:sp>
      <p:grpSp>
        <p:nvGrpSpPr>
          <p:cNvPr id="53" name="Grupo 52"/>
          <p:cNvGrpSpPr>
            <a:grpSpLocks/>
          </p:cNvGrpSpPr>
          <p:nvPr/>
        </p:nvGrpSpPr>
        <p:grpSpPr bwMode="auto">
          <a:xfrm>
            <a:off x="6529388" y="5189612"/>
            <a:ext cx="1189037" cy="361950"/>
            <a:chOff x="6529932" y="5627017"/>
            <a:chExt cx="1188000" cy="362758"/>
          </a:xfrm>
        </p:grpSpPr>
        <p:sp>
          <p:nvSpPr>
            <p:cNvPr id="17440" name="Rectangle 136"/>
            <p:cNvSpPr>
              <a:spLocks noChangeArrowheads="1"/>
            </p:cNvSpPr>
            <p:nvPr/>
          </p:nvSpPr>
          <p:spPr bwMode="auto">
            <a:xfrm>
              <a:off x="6761811" y="5650830"/>
              <a:ext cx="724246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1" name="AutoShape 137"/>
            <p:cNvSpPr>
              <a:spLocks/>
            </p:cNvSpPr>
            <p:nvPr/>
          </p:nvSpPr>
          <p:spPr bwMode="auto">
            <a:xfrm rot="-5400000">
              <a:off x="7089007" y="5067942"/>
              <a:ext cx="69850" cy="1188000"/>
            </a:xfrm>
            <a:prstGeom prst="leftBrace">
              <a:avLst>
                <a:gd name="adj1" fmla="val 10299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6" name="Grupo 55"/>
          <p:cNvGrpSpPr>
            <a:grpSpLocks/>
          </p:cNvGrpSpPr>
          <p:nvPr/>
        </p:nvGrpSpPr>
        <p:grpSpPr bwMode="auto">
          <a:xfrm>
            <a:off x="7715250" y="5189609"/>
            <a:ext cx="863600" cy="362314"/>
            <a:chOff x="7721600" y="5588917"/>
            <a:chExt cx="863600" cy="363123"/>
          </a:xfrm>
        </p:grpSpPr>
        <p:sp>
          <p:nvSpPr>
            <p:cNvPr id="17438" name="Rectangle 139"/>
            <p:cNvSpPr>
              <a:spLocks noChangeArrowheads="1"/>
            </p:cNvSpPr>
            <p:nvPr/>
          </p:nvSpPr>
          <p:spPr bwMode="auto">
            <a:xfrm>
              <a:off x="7769047" y="5612730"/>
              <a:ext cx="765530" cy="339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39" name="AutoShape 140"/>
            <p:cNvSpPr>
              <a:spLocks/>
            </p:cNvSpPr>
            <p:nvPr/>
          </p:nvSpPr>
          <p:spPr bwMode="auto">
            <a:xfrm rot="-5400000">
              <a:off x="8118475" y="5192042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9" name="Grupo 58"/>
          <p:cNvGrpSpPr>
            <a:grpSpLocks/>
          </p:cNvGrpSpPr>
          <p:nvPr/>
        </p:nvGrpSpPr>
        <p:grpSpPr bwMode="auto">
          <a:xfrm>
            <a:off x="5667375" y="5189619"/>
            <a:ext cx="863600" cy="362340"/>
            <a:chOff x="5868144" y="5589241"/>
            <a:chExt cx="863600" cy="362758"/>
          </a:xfrm>
        </p:grpSpPr>
        <p:sp>
          <p:nvSpPr>
            <p:cNvPr id="17436" name="Rectangle 139"/>
            <p:cNvSpPr>
              <a:spLocks noChangeArrowheads="1"/>
            </p:cNvSpPr>
            <p:nvPr/>
          </p:nvSpPr>
          <p:spPr bwMode="auto">
            <a:xfrm>
              <a:off x="5915591" y="5613054"/>
              <a:ext cx="765531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37" name="AutoShape 140"/>
            <p:cNvSpPr>
              <a:spLocks/>
            </p:cNvSpPr>
            <p:nvPr/>
          </p:nvSpPr>
          <p:spPr bwMode="auto">
            <a:xfrm rot="-5400000">
              <a:off x="6265019" y="5192366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D9A1B3E-0824-48F3-A93E-08D00FCA676C}" type="slidenum">
              <a:rPr lang="pt-BR"/>
              <a:pPr>
                <a:defRPr/>
              </a:pPr>
              <a:t>23</a:t>
            </a:fld>
            <a:endParaRPr lang="pt-BR"/>
          </a:p>
        </p:txBody>
      </p:sp>
      <p:sp>
        <p:nvSpPr>
          <p:cNvPr id="64" name="Rectangle 20"/>
          <p:cNvSpPr>
            <a:spLocks noChangeArrowheads="1"/>
          </p:cNvSpPr>
          <p:nvPr/>
        </p:nvSpPr>
        <p:spPr bwMode="auto">
          <a:xfrm>
            <a:off x="4133105" y="2840038"/>
            <a:ext cx="134938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X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65" name="Rectangle 21"/>
          <p:cNvSpPr>
            <a:spLocks noChangeArrowheads="1"/>
          </p:cNvSpPr>
          <p:nvPr/>
        </p:nvSpPr>
        <p:spPr bwMode="auto">
          <a:xfrm rot="16200000">
            <a:off x="2971800" y="2044700"/>
            <a:ext cx="12382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Y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66" name="Freeform 22"/>
          <p:cNvSpPr>
            <a:spLocks/>
          </p:cNvSpPr>
          <p:nvPr/>
        </p:nvSpPr>
        <p:spPr bwMode="auto">
          <a:xfrm>
            <a:off x="3187700" y="1570038"/>
            <a:ext cx="1524000" cy="1228725"/>
          </a:xfrm>
          <a:custGeom>
            <a:avLst/>
            <a:gdLst>
              <a:gd name="T0" fmla="*/ 0 w 1271"/>
              <a:gd name="T1" fmla="*/ 0 h 1179"/>
              <a:gd name="T2" fmla="*/ 0 w 1271"/>
              <a:gd name="T3" fmla="*/ 2147483647 h 1179"/>
              <a:gd name="T4" fmla="*/ 2147483647 w 1271"/>
              <a:gd name="T5" fmla="*/ 2147483647 h 1179"/>
              <a:gd name="T6" fmla="*/ 0 60000 65536"/>
              <a:gd name="T7" fmla="*/ 0 60000 65536"/>
              <a:gd name="T8" fmla="*/ 0 60000 65536"/>
              <a:gd name="T9" fmla="*/ 0 w 1271"/>
              <a:gd name="T10" fmla="*/ 0 h 1179"/>
              <a:gd name="T11" fmla="*/ 1271 w 1271"/>
              <a:gd name="T12" fmla="*/ 1179 h 117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271" h="1179">
                <a:moveTo>
                  <a:pt x="0" y="0"/>
                </a:moveTo>
                <a:lnTo>
                  <a:pt x="0" y="1179"/>
                </a:lnTo>
                <a:lnTo>
                  <a:pt x="1271" y="1179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67" name="Group 23"/>
          <p:cNvGrpSpPr>
            <a:grpSpLocks/>
          </p:cNvGrpSpPr>
          <p:nvPr/>
        </p:nvGrpSpPr>
        <p:grpSpPr bwMode="auto">
          <a:xfrm rot="17259631" flipH="1">
            <a:off x="3509169" y="1840706"/>
            <a:ext cx="808038" cy="498475"/>
            <a:chOff x="4084" y="2024"/>
            <a:chExt cx="910" cy="703"/>
          </a:xfrm>
        </p:grpSpPr>
        <p:sp>
          <p:nvSpPr>
            <p:cNvPr id="68" name="Oval 24"/>
            <p:cNvSpPr>
              <a:spLocks noChangeArrowheads="1"/>
            </p:cNvSpPr>
            <p:nvPr/>
          </p:nvSpPr>
          <p:spPr bwMode="auto">
            <a:xfrm>
              <a:off x="4422" y="216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9" name="Oval 25"/>
            <p:cNvSpPr>
              <a:spLocks noChangeArrowheads="1"/>
            </p:cNvSpPr>
            <p:nvPr/>
          </p:nvSpPr>
          <p:spPr bwMode="auto">
            <a:xfrm>
              <a:off x="4422" y="26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0" name="Oval 26"/>
            <p:cNvSpPr>
              <a:spLocks noChangeArrowheads="1"/>
            </p:cNvSpPr>
            <p:nvPr/>
          </p:nvSpPr>
          <p:spPr bwMode="auto">
            <a:xfrm>
              <a:off x="4559" y="247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1" name="Oval 27"/>
            <p:cNvSpPr>
              <a:spLocks noChangeArrowheads="1"/>
            </p:cNvSpPr>
            <p:nvPr/>
          </p:nvSpPr>
          <p:spPr bwMode="auto">
            <a:xfrm>
              <a:off x="4966" y="211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2" name="Oval 28"/>
            <p:cNvSpPr>
              <a:spLocks noChangeArrowheads="1"/>
            </p:cNvSpPr>
            <p:nvPr/>
          </p:nvSpPr>
          <p:spPr bwMode="auto">
            <a:xfrm>
              <a:off x="4694" y="202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3" name="Oval 29"/>
            <p:cNvSpPr>
              <a:spLocks noChangeArrowheads="1"/>
            </p:cNvSpPr>
            <p:nvPr/>
          </p:nvSpPr>
          <p:spPr bwMode="auto">
            <a:xfrm>
              <a:off x="4371" y="245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4" name="Oval 30"/>
            <p:cNvSpPr>
              <a:spLocks noChangeArrowheads="1"/>
            </p:cNvSpPr>
            <p:nvPr/>
          </p:nvSpPr>
          <p:spPr bwMode="auto">
            <a:xfrm>
              <a:off x="4084" y="269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5" name="Oval 31"/>
            <p:cNvSpPr>
              <a:spLocks noChangeArrowheads="1"/>
            </p:cNvSpPr>
            <p:nvPr/>
          </p:nvSpPr>
          <p:spPr bwMode="auto">
            <a:xfrm>
              <a:off x="4150" y="243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6" name="Oval 32"/>
            <p:cNvSpPr>
              <a:spLocks noChangeArrowheads="1"/>
            </p:cNvSpPr>
            <p:nvPr/>
          </p:nvSpPr>
          <p:spPr bwMode="auto">
            <a:xfrm>
              <a:off x="4739" y="229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7" name="Oval 33"/>
            <p:cNvSpPr>
              <a:spLocks noChangeArrowheads="1"/>
            </p:cNvSpPr>
            <p:nvPr/>
          </p:nvSpPr>
          <p:spPr bwMode="auto">
            <a:xfrm>
              <a:off x="4558" y="2250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78" name="Line 35"/>
          <p:cNvSpPr>
            <a:spLocks noChangeShapeType="1"/>
          </p:cNvSpPr>
          <p:nvPr/>
        </p:nvSpPr>
        <p:spPr bwMode="auto">
          <a:xfrm rot="20247635" flipV="1">
            <a:off x="3392488" y="1905000"/>
            <a:ext cx="1125537" cy="3032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2" name="Rectangle 20"/>
          <p:cNvSpPr>
            <a:spLocks noChangeArrowheads="1"/>
          </p:cNvSpPr>
          <p:nvPr/>
        </p:nvSpPr>
        <p:spPr bwMode="auto">
          <a:xfrm>
            <a:off x="4133105" y="2840038"/>
            <a:ext cx="134938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X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79" name="Retângulo 78"/>
          <p:cNvSpPr>
            <a:spLocks noChangeArrowheads="1"/>
          </p:cNvSpPr>
          <p:nvPr/>
        </p:nvSpPr>
        <p:spPr bwMode="auto">
          <a:xfrm>
            <a:off x="179512" y="6158235"/>
            <a:ext cx="876491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534988" indent="-5349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aceita, então a regressão não é significativa e, portanto, não há relação entre as variáveis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podem ser consideradas independentes).</a:t>
            </a:r>
          </a:p>
        </p:txBody>
      </p:sp>
      <p:sp>
        <p:nvSpPr>
          <p:cNvPr id="80" name="Retângulo 79"/>
          <p:cNvSpPr>
            <a:spLocks noChangeArrowheads="1"/>
          </p:cNvSpPr>
          <p:nvPr/>
        </p:nvSpPr>
        <p:spPr bwMode="auto">
          <a:xfrm>
            <a:off x="5796136" y="1879425"/>
            <a:ext cx="310809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existe uma relação entre </a:t>
            </a:r>
            <a:r>
              <a:rPr lang="pt-BR" altLang="pt-BR" sz="1600" i="1" dirty="0">
                <a:latin typeface="Times New Roman" charset="0"/>
                <a:sym typeface="Mathematica1" pitchFamily="2" charset="2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  <a:sym typeface="Mathematica1" pitchFamily="2" charset="2"/>
              </a:rPr>
              <a:t>X </a:t>
            </a:r>
            <a:r>
              <a:rPr lang="pt-BR" altLang="pt-BR" sz="1600" dirty="0">
                <a:latin typeface="Tahoma" panose="020B0604030504040204" pitchFamily="34" charset="0"/>
                <a:sym typeface="Mathematica1" pitchFamily="2" charset="2"/>
              </a:rPr>
              <a:t>?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CaixaDeTexto 80"/>
              <p:cNvSpPr txBox="1"/>
              <p:nvPr/>
            </p:nvSpPr>
            <p:spPr>
              <a:xfrm>
                <a:off x="4338560" y="1541896"/>
                <a:ext cx="1260281" cy="3136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sz="1400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1400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sz="14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1" name="CaixaDeTexto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560" y="1541896"/>
                <a:ext cx="1260281" cy="313612"/>
              </a:xfrm>
              <a:prstGeom prst="rect">
                <a:avLst/>
              </a:prstGeom>
              <a:blipFill>
                <a:blip r:embed="rId5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/>
              <p:cNvSpPr txBox="1"/>
              <p:nvPr/>
            </p:nvSpPr>
            <p:spPr>
              <a:xfrm>
                <a:off x="3187700" y="3094741"/>
                <a:ext cx="134389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sz="2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H</m:t>
                      </m:r>
                      <m:r>
                        <m:rPr>
                          <m:nor/>
                        </m:rPr>
                        <a:rPr lang="pt-BR" sz="2000" baseline="-25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pt-BR" sz="2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1</m:t>
                          </m:r>
                        </m:sub>
                      </m:sSub>
                      <m:r>
                        <a:rPr lang="pt-BR" sz="2000" i="1">
                          <a:latin typeface="Cambria Math"/>
                          <a:ea typeface="Cambria Math"/>
                        </a:rPr>
                        <m:t>= ?</m:t>
                      </m:r>
                    </m:oMath>
                  </m:oMathPara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3" name="CaixaDeTexto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3094741"/>
                <a:ext cx="1343894" cy="400110"/>
              </a:xfrm>
              <a:prstGeom prst="rect">
                <a:avLst/>
              </a:prstGeom>
              <a:blipFill>
                <a:blip r:embed="rId6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CaixaDeTexto 83"/>
              <p:cNvSpPr txBox="1"/>
              <p:nvPr/>
            </p:nvSpPr>
            <p:spPr>
              <a:xfrm>
                <a:off x="3187700" y="3094741"/>
                <a:ext cx="1320618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20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sz="2000" i="1">
                        <a:latin typeface="Cambria Math"/>
                        <a:ea typeface="Cambria Math"/>
                      </a:rPr>
                      <m:t>=0</m:t>
                    </m:r>
                  </m:oMath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20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sz="2000" i="1">
                        <a:latin typeface="Cambria Math"/>
                        <a:ea typeface="Cambria Math"/>
                      </a:rPr>
                      <m:t>≠0</m:t>
                    </m:r>
                  </m:oMath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84" name="CaixaDeTexto 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3094741"/>
                <a:ext cx="1320618" cy="707886"/>
              </a:xfrm>
              <a:prstGeom prst="rect">
                <a:avLst/>
              </a:prstGeom>
              <a:blipFill>
                <a:blip r:embed="rId7"/>
                <a:stretch>
                  <a:fillRect l="-5069" t="-5172" b="-146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upo 10"/>
          <p:cNvGrpSpPr/>
          <p:nvPr/>
        </p:nvGrpSpPr>
        <p:grpSpPr>
          <a:xfrm>
            <a:off x="7981944" y="3933534"/>
            <a:ext cx="766520" cy="684578"/>
            <a:chOff x="7981944" y="3933534"/>
            <a:chExt cx="766520" cy="684578"/>
          </a:xfrm>
        </p:grpSpPr>
        <p:sp>
          <p:nvSpPr>
            <p:cNvPr id="17448" name="Line 36"/>
            <p:cNvSpPr>
              <a:spLocks noChangeShapeType="1"/>
            </p:cNvSpPr>
            <p:nvPr/>
          </p:nvSpPr>
          <p:spPr bwMode="auto">
            <a:xfrm flipV="1">
              <a:off x="7981944" y="4237112"/>
              <a:ext cx="304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" name="Retângulo 3"/>
            <p:cNvSpPr/>
            <p:nvPr/>
          </p:nvSpPr>
          <p:spPr>
            <a:xfrm>
              <a:off x="8219152" y="3933534"/>
              <a:ext cx="52931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/2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grpSp>
        <p:nvGrpSpPr>
          <p:cNvPr id="10" name="Grupo 9"/>
          <p:cNvGrpSpPr/>
          <p:nvPr/>
        </p:nvGrpSpPr>
        <p:grpSpPr>
          <a:xfrm>
            <a:off x="5554663" y="3906238"/>
            <a:ext cx="750891" cy="695999"/>
            <a:chOff x="5554663" y="3906238"/>
            <a:chExt cx="750891" cy="695999"/>
          </a:xfrm>
        </p:grpSpPr>
        <p:sp>
          <p:nvSpPr>
            <p:cNvPr id="17446" name="Line 39"/>
            <p:cNvSpPr>
              <a:spLocks noChangeShapeType="1"/>
            </p:cNvSpPr>
            <p:nvPr/>
          </p:nvSpPr>
          <p:spPr bwMode="auto">
            <a:xfrm flipH="1" flipV="1">
              <a:off x="6000754" y="4221237"/>
              <a:ext cx="304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7" name="Retângulo 86"/>
            <p:cNvSpPr/>
            <p:nvPr/>
          </p:nvSpPr>
          <p:spPr>
            <a:xfrm>
              <a:off x="5554663" y="3906238"/>
              <a:ext cx="52931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/2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grpSp>
        <p:nvGrpSpPr>
          <p:cNvPr id="13" name="Grupo 12"/>
          <p:cNvGrpSpPr/>
          <p:nvPr/>
        </p:nvGrpSpPr>
        <p:grpSpPr>
          <a:xfrm>
            <a:off x="6530975" y="2782962"/>
            <a:ext cx="1184275" cy="2073275"/>
            <a:chOff x="6530975" y="2782962"/>
            <a:chExt cx="1184275" cy="2073275"/>
          </a:xfrm>
        </p:grpSpPr>
        <p:sp>
          <p:nvSpPr>
            <p:cNvPr id="17444" name="Freeform 32"/>
            <p:cNvSpPr>
              <a:spLocks/>
            </p:cNvSpPr>
            <p:nvPr/>
          </p:nvSpPr>
          <p:spPr bwMode="auto">
            <a:xfrm>
              <a:off x="6530975" y="2782962"/>
              <a:ext cx="1184275" cy="2073275"/>
            </a:xfrm>
            <a:custGeom>
              <a:avLst/>
              <a:gdLst>
                <a:gd name="T0" fmla="*/ 0 w 440"/>
                <a:gd name="T1" fmla="*/ 2147483647 h 771"/>
                <a:gd name="T2" fmla="*/ 2147483647 w 440"/>
                <a:gd name="T3" fmla="*/ 2147483647 h 771"/>
                <a:gd name="T4" fmla="*/ 2147483647 w 440"/>
                <a:gd name="T5" fmla="*/ 2147483647 h 771"/>
                <a:gd name="T6" fmla="*/ 2147483647 w 440"/>
                <a:gd name="T7" fmla="*/ 2147483647 h 771"/>
                <a:gd name="T8" fmla="*/ 2147483647 w 440"/>
                <a:gd name="T9" fmla="*/ 2147483647 h 771"/>
                <a:gd name="T10" fmla="*/ 2147483647 w 440"/>
                <a:gd name="T11" fmla="*/ 2147483647 h 771"/>
                <a:gd name="T12" fmla="*/ 2147483647 w 440"/>
                <a:gd name="T13" fmla="*/ 2147483647 h 771"/>
                <a:gd name="T14" fmla="*/ 2147483647 w 440"/>
                <a:gd name="T15" fmla="*/ 2147483647 h 771"/>
                <a:gd name="T16" fmla="*/ 2147483647 w 440"/>
                <a:gd name="T17" fmla="*/ 2147483647 h 771"/>
                <a:gd name="T18" fmla="*/ 2147483647 w 440"/>
                <a:gd name="T19" fmla="*/ 2147483647 h 771"/>
                <a:gd name="T20" fmla="*/ 2147483647 w 440"/>
                <a:gd name="T21" fmla="*/ 0 h 771"/>
                <a:gd name="T22" fmla="*/ 2147483647 w 440"/>
                <a:gd name="T23" fmla="*/ 0 h 771"/>
                <a:gd name="T24" fmla="*/ 2147483647 w 440"/>
                <a:gd name="T25" fmla="*/ 2147483647 h 771"/>
                <a:gd name="T26" fmla="*/ 2147483647 w 440"/>
                <a:gd name="T27" fmla="*/ 2147483647 h 771"/>
                <a:gd name="T28" fmla="*/ 2147483647 w 440"/>
                <a:gd name="T29" fmla="*/ 2147483647 h 771"/>
                <a:gd name="T30" fmla="*/ 2147483647 w 440"/>
                <a:gd name="T31" fmla="*/ 2147483647 h 771"/>
                <a:gd name="T32" fmla="*/ 2147483647 w 440"/>
                <a:gd name="T33" fmla="*/ 2147483647 h 771"/>
                <a:gd name="T34" fmla="*/ 2147483647 w 440"/>
                <a:gd name="T35" fmla="*/ 2147483647 h 771"/>
                <a:gd name="T36" fmla="*/ 2147483647 w 440"/>
                <a:gd name="T37" fmla="*/ 2147483647 h 771"/>
                <a:gd name="T38" fmla="*/ 2147483647 w 440"/>
                <a:gd name="T39" fmla="*/ 2147483647 h 771"/>
                <a:gd name="T40" fmla="*/ 2147483647 w 440"/>
                <a:gd name="T41" fmla="*/ 2147483647 h 771"/>
                <a:gd name="T42" fmla="*/ 2147483647 w 440"/>
                <a:gd name="T43" fmla="*/ 2147483647 h 771"/>
                <a:gd name="T44" fmla="*/ 2147483647 w 440"/>
                <a:gd name="T45" fmla="*/ 2147483647 h 771"/>
                <a:gd name="T46" fmla="*/ 0 w 440"/>
                <a:gd name="T47" fmla="*/ 2147483647 h 771"/>
                <a:gd name="T48" fmla="*/ 0 w 440"/>
                <a:gd name="T49" fmla="*/ 214748364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" name="Retângulo 11"/>
            <p:cNvSpPr/>
            <p:nvPr/>
          </p:nvSpPr>
          <p:spPr>
            <a:xfrm>
              <a:off x="6895796" y="3958738"/>
              <a:ext cx="49725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1-</a:t>
              </a:r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CaixaDeTexto 88"/>
              <p:cNvSpPr txBox="1"/>
              <p:nvPr/>
            </p:nvSpPr>
            <p:spPr>
              <a:xfrm>
                <a:off x="3303712" y="4581128"/>
                <a:ext cx="1692579" cy="524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800" b="0" i="1" smtClean="0">
                        <a:latin typeface="Cambria Math"/>
                      </a:rPr>
                      <m:t>𝑡</m:t>
                    </m:r>
                    <m:r>
                      <a:rPr lang="pt-BR" sz="1800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pt-BR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sz="1800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pt-BR" sz="1800" b="0" i="1" smtClean="0">
                            <a:latin typeface="Cambria Math"/>
                          </a:rPr>
                          <m:t>𝑠</m:t>
                        </m:r>
                        <m:d>
                          <m:dPr>
                            <m:ctrlPr>
                              <a:rPr lang="pt-BR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b="0" i="1" smtClean="0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sz="18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pt-BR" sz="1800" b="0" i="1" smtClean="0">
                        <a:latin typeface="Cambria Math"/>
                      </a:rPr>
                      <m:t>~</m:t>
                    </m:r>
                    <m:sSub>
                      <m:sSubPr>
                        <m:ctrlPr>
                          <a:rPr lang="pt-B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</a:rPr>
                          <m:t>𝑛</m:t>
                        </m:r>
                        <m:r>
                          <a:rPr lang="pt-BR" sz="1800" b="0" i="1" smtClean="0">
                            <a:latin typeface="Cambria Math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pt-BR" sz="1800" dirty="0">
                    <a:latin typeface="Tahoma" panose="020B0604030504040204" pitchFamily="34" charset="0"/>
                  </a:rPr>
                  <a:t> </a:t>
                </a:r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9" name="CaixaDeTexto 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12" y="4581128"/>
                <a:ext cx="1692579" cy="524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7812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88" grpId="0"/>
      <p:bldP spid="7" grpId="0"/>
      <p:bldP spid="39" grpId="0"/>
      <p:bldP spid="40" grpId="0"/>
      <p:bldP spid="63" grpId="0"/>
      <p:bldP spid="79" grpId="0"/>
      <p:bldP spid="80" grpId="0"/>
      <p:bldP spid="3" grpId="0"/>
      <p:bldP spid="84" grpId="0" animBg="1"/>
      <p:bldP spid="8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6" name="CaixaDeTexto 75"/>
              <p:cNvSpPr txBox="1"/>
              <p:nvPr/>
            </p:nvSpPr>
            <p:spPr>
              <a:xfrm>
                <a:off x="382265" y="3052864"/>
                <a:ext cx="1965859" cy="5811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/>
                      </a:rPr>
                      <m:t>𝑡</m:t>
                    </m:r>
                    <m:r>
                      <a:rPr lang="pt-BR" sz="2000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pt-B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0</m:t>
                            </m:r>
                          </m:sub>
                        </m:sSub>
                        <m:r>
                          <a:rPr lang="pt-BR" sz="2000" b="0" i="1" smtClean="0"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  <a:ea typeface="Cambria Math"/>
                              </a:rPr>
                              <m:t>𝛽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  <a:ea typeface="Cambria Math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pt-BR" sz="2000" b="0" i="1" smtClean="0">
                            <a:latin typeface="Cambria Math"/>
                          </a:rPr>
                          <m:t>𝑠</m:t>
                        </m:r>
                        <m:d>
                          <m:d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pt-BR" sz="2000" b="0" i="1" smtClean="0">
                        <a:latin typeface="Cambria Math"/>
                      </a:rPr>
                      <m:t>~</m:t>
                    </m:r>
                    <m:sSub>
                      <m:sSubPr>
                        <m:ctrlPr>
                          <a:rPr lang="pt-B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pt-BR" sz="2000" b="0" i="1" smtClean="0">
                            <a:latin typeface="Cambria Math"/>
                          </a:rPr>
                          <m:t>𝑛</m:t>
                        </m:r>
                        <m:r>
                          <a:rPr lang="pt-BR" sz="2000" b="0" i="1" smtClean="0">
                            <a:latin typeface="Cambria Math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pt-BR" sz="20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6" name="CaixaDeTexto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265" y="3052864"/>
                <a:ext cx="1965859" cy="5811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aixaDeTexto 76"/>
              <p:cNvSpPr txBox="1"/>
              <p:nvPr/>
            </p:nvSpPr>
            <p:spPr>
              <a:xfrm>
                <a:off x="-108520" y="3988778"/>
                <a:ext cx="3328091" cy="6499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/>
                            </a:rPr>
                            <m:t>𝑠</m:t>
                          </m:r>
                        </m:e>
                        <m:sup>
                          <m:r>
                            <a:rPr lang="pt-BR" b="0" i="1" smtClean="0">
                              <a:latin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b="0" i="1" smtClean="0">
                                  <a:latin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den>
                          </m:f>
                          <m:r>
                            <a:rPr lang="pt-BR" b="0" i="1" smtClean="0">
                              <a:latin typeface="Cambria Math"/>
                            </a:rPr>
                            <m:t>+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nary>
                                <m:naryPr>
                                  <m:chr m:val="∑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pt-BR" i="1">
                                      <a:latin typeface="Cambria Math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𝑛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𝑋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den>
                          </m:f>
                        </m:e>
                      </m: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7" name="CaixaDeTexto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8520" y="3988778"/>
                <a:ext cx="3328091" cy="6499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7" name="Grupo 34"/>
          <p:cNvGrpSpPr>
            <a:grpSpLocks/>
          </p:cNvGrpSpPr>
          <p:nvPr/>
        </p:nvGrpSpPr>
        <p:grpSpPr bwMode="auto">
          <a:xfrm>
            <a:off x="179512" y="5085184"/>
            <a:ext cx="5715000" cy="917575"/>
            <a:chOff x="714348" y="5940449"/>
            <a:chExt cx="5715000" cy="917575"/>
          </a:xfrm>
        </p:grpSpPr>
        <p:sp>
          <p:nvSpPr>
            <p:cNvPr id="18467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18468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(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(|</a:t>
              </a:r>
              <a:r>
                <a:rPr lang="pt-BR" altLang="pt-BR" sz="1600" i="1" dirty="0">
                  <a:latin typeface="Times New Roman" charset="0"/>
                </a:rPr>
                <a:t>t|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sp>
        <p:nvSpPr>
          <p:cNvPr id="111" name="Retângulo 110"/>
          <p:cNvSpPr>
            <a:spLocks noChangeArrowheads="1"/>
          </p:cNvSpPr>
          <p:nvPr/>
        </p:nvSpPr>
        <p:spPr bwMode="auto">
          <a:xfrm>
            <a:off x="179512" y="6021288"/>
            <a:ext cx="876491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534988" indent="-5349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aceita, então a reta de regressão passa pela origem. Isso não tem qualquer relação com a existência ou não de relação entre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Muitas vezes este teste é irrelevante (especialmente quando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0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não tem significado prático)</a:t>
            </a:r>
          </a:p>
        </p:txBody>
      </p:sp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altLang="pt-BR" i="1" dirty="0"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baseline="-25000" dirty="0"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endParaRPr lang="pt-BR" dirty="0"/>
          </a:p>
        </p:txBody>
      </p:sp>
      <p:sp>
        <p:nvSpPr>
          <p:cNvPr id="18438" name="Rectangle 21"/>
          <p:cNvSpPr>
            <a:spLocks noChangeArrowheads="1"/>
          </p:cNvSpPr>
          <p:nvPr/>
        </p:nvSpPr>
        <p:spPr bwMode="auto">
          <a:xfrm rot="-5400000">
            <a:off x="2971800" y="2044700"/>
            <a:ext cx="12382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Y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18439" name="Freeform 22"/>
          <p:cNvSpPr>
            <a:spLocks/>
          </p:cNvSpPr>
          <p:nvPr/>
        </p:nvSpPr>
        <p:spPr bwMode="auto">
          <a:xfrm>
            <a:off x="3187700" y="1570038"/>
            <a:ext cx="1524000" cy="1228725"/>
          </a:xfrm>
          <a:custGeom>
            <a:avLst/>
            <a:gdLst>
              <a:gd name="T0" fmla="*/ 0 w 1271"/>
              <a:gd name="T1" fmla="*/ 0 h 1179"/>
              <a:gd name="T2" fmla="*/ 0 w 1271"/>
              <a:gd name="T3" fmla="*/ 2147483647 h 1179"/>
              <a:gd name="T4" fmla="*/ 2147483647 w 1271"/>
              <a:gd name="T5" fmla="*/ 2147483647 h 1179"/>
              <a:gd name="T6" fmla="*/ 0 60000 65536"/>
              <a:gd name="T7" fmla="*/ 0 60000 65536"/>
              <a:gd name="T8" fmla="*/ 0 60000 65536"/>
              <a:gd name="T9" fmla="*/ 0 w 1271"/>
              <a:gd name="T10" fmla="*/ 0 h 1179"/>
              <a:gd name="T11" fmla="*/ 1271 w 1271"/>
              <a:gd name="T12" fmla="*/ 1179 h 117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271" h="1179">
                <a:moveTo>
                  <a:pt x="0" y="0"/>
                </a:moveTo>
                <a:lnTo>
                  <a:pt x="0" y="1179"/>
                </a:lnTo>
                <a:lnTo>
                  <a:pt x="1271" y="1179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8440" name="Group 23"/>
          <p:cNvGrpSpPr>
            <a:grpSpLocks/>
          </p:cNvGrpSpPr>
          <p:nvPr/>
        </p:nvGrpSpPr>
        <p:grpSpPr bwMode="auto">
          <a:xfrm rot="17259631" flipH="1">
            <a:off x="3509169" y="1840706"/>
            <a:ext cx="808038" cy="498475"/>
            <a:chOff x="4084" y="2024"/>
            <a:chExt cx="910" cy="703"/>
          </a:xfrm>
        </p:grpSpPr>
        <p:sp>
          <p:nvSpPr>
            <p:cNvPr id="18486" name="Oval 24"/>
            <p:cNvSpPr>
              <a:spLocks noChangeArrowheads="1"/>
            </p:cNvSpPr>
            <p:nvPr/>
          </p:nvSpPr>
          <p:spPr bwMode="auto">
            <a:xfrm>
              <a:off x="4422" y="216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87" name="Oval 25"/>
            <p:cNvSpPr>
              <a:spLocks noChangeArrowheads="1"/>
            </p:cNvSpPr>
            <p:nvPr/>
          </p:nvSpPr>
          <p:spPr bwMode="auto">
            <a:xfrm>
              <a:off x="4422" y="26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88" name="Oval 26"/>
            <p:cNvSpPr>
              <a:spLocks noChangeArrowheads="1"/>
            </p:cNvSpPr>
            <p:nvPr/>
          </p:nvSpPr>
          <p:spPr bwMode="auto">
            <a:xfrm>
              <a:off x="4559" y="247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89" name="Oval 27"/>
            <p:cNvSpPr>
              <a:spLocks noChangeArrowheads="1"/>
            </p:cNvSpPr>
            <p:nvPr/>
          </p:nvSpPr>
          <p:spPr bwMode="auto">
            <a:xfrm>
              <a:off x="4966" y="211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0" name="Oval 28"/>
            <p:cNvSpPr>
              <a:spLocks noChangeArrowheads="1"/>
            </p:cNvSpPr>
            <p:nvPr/>
          </p:nvSpPr>
          <p:spPr bwMode="auto">
            <a:xfrm>
              <a:off x="4694" y="202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1" name="Oval 29"/>
            <p:cNvSpPr>
              <a:spLocks noChangeArrowheads="1"/>
            </p:cNvSpPr>
            <p:nvPr/>
          </p:nvSpPr>
          <p:spPr bwMode="auto">
            <a:xfrm>
              <a:off x="4371" y="245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2" name="Oval 30"/>
            <p:cNvSpPr>
              <a:spLocks noChangeArrowheads="1"/>
            </p:cNvSpPr>
            <p:nvPr/>
          </p:nvSpPr>
          <p:spPr bwMode="auto">
            <a:xfrm>
              <a:off x="4084" y="269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3" name="Oval 31"/>
            <p:cNvSpPr>
              <a:spLocks noChangeArrowheads="1"/>
            </p:cNvSpPr>
            <p:nvPr/>
          </p:nvSpPr>
          <p:spPr bwMode="auto">
            <a:xfrm>
              <a:off x="4150" y="243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4" name="Oval 32"/>
            <p:cNvSpPr>
              <a:spLocks noChangeArrowheads="1"/>
            </p:cNvSpPr>
            <p:nvPr/>
          </p:nvSpPr>
          <p:spPr bwMode="auto">
            <a:xfrm>
              <a:off x="4739" y="229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5" name="Oval 33"/>
            <p:cNvSpPr>
              <a:spLocks noChangeArrowheads="1"/>
            </p:cNvSpPr>
            <p:nvPr/>
          </p:nvSpPr>
          <p:spPr bwMode="auto">
            <a:xfrm>
              <a:off x="4558" y="2250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upo 6"/>
          <p:cNvGrpSpPr>
            <a:grpSpLocks/>
          </p:cNvGrpSpPr>
          <p:nvPr/>
        </p:nvGrpSpPr>
        <p:grpSpPr bwMode="auto">
          <a:xfrm>
            <a:off x="2896389" y="2405396"/>
            <a:ext cx="628622" cy="338554"/>
            <a:chOff x="3327022" y="2413006"/>
            <a:chExt cx="627966" cy="338604"/>
          </a:xfrm>
        </p:grpSpPr>
        <p:sp>
          <p:nvSpPr>
            <p:cNvPr id="18484" name="Line 35"/>
            <p:cNvSpPr>
              <a:spLocks noChangeShapeType="1"/>
            </p:cNvSpPr>
            <p:nvPr/>
          </p:nvSpPr>
          <p:spPr bwMode="auto">
            <a:xfrm rot="20247635" flipV="1">
              <a:off x="3592044" y="2485364"/>
              <a:ext cx="362944" cy="8840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485" name="Retângulo 3"/>
            <p:cNvSpPr>
              <a:spLocks noChangeArrowheads="1"/>
            </p:cNvSpPr>
            <p:nvPr/>
          </p:nvSpPr>
          <p:spPr bwMode="auto">
            <a:xfrm>
              <a:off x="3327022" y="2413006"/>
              <a:ext cx="355817" cy="3386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00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b</a:t>
              </a:r>
              <a:r>
                <a:rPr lang="pt-BR" altLang="pt-BR" sz="1600" baseline="-25000" dirty="0">
                  <a:solidFill>
                    <a:srgbClr val="000000"/>
                  </a:solidFill>
                  <a:latin typeface="Times New Roman" charset="0"/>
                  <a:cs typeface="Times New Roman" charset="0"/>
                  <a:sym typeface="Mathematica1" pitchFamily="2" charset="2"/>
                </a:rPr>
                <a:t>0</a:t>
              </a: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38" name="Rectangle 47"/>
          <p:cNvSpPr>
            <a:spLocks noChangeArrowheads="1"/>
          </p:cNvSpPr>
          <p:nvPr/>
        </p:nvSpPr>
        <p:spPr bwMode="auto">
          <a:xfrm>
            <a:off x="5796136" y="1502422"/>
            <a:ext cx="2087563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dirty="0">
                <a:latin typeface="Times New Roman" charset="0"/>
                <a:sym typeface="Mathematica1" pitchFamily="2" charset="2"/>
              </a:rPr>
              <a:t>E(</a:t>
            </a:r>
            <a:r>
              <a:rPr lang="pt-BR" altLang="pt-BR" sz="2000" i="1" dirty="0">
                <a:latin typeface="Times New Roman" charset="0"/>
                <a:sym typeface="Mathematica1" pitchFamily="2" charset="2"/>
              </a:rPr>
              <a:t>Y</a:t>
            </a:r>
            <a:r>
              <a:rPr lang="pt-BR" altLang="pt-BR" sz="2000" i="1" baseline="-25000" dirty="0">
                <a:latin typeface="Times New Roman" charset="0"/>
                <a:sym typeface="Mathematica1" pitchFamily="2" charset="2"/>
              </a:rPr>
              <a:t>i</a:t>
            </a:r>
            <a:r>
              <a:rPr lang="pt-BR" altLang="pt-BR" sz="2000" dirty="0">
                <a:latin typeface="Times New Roman" charset="0"/>
                <a:sym typeface="Mathematica1" pitchFamily="2" charset="2"/>
              </a:rPr>
              <a:t>) = </a:t>
            </a:r>
            <a:r>
              <a:rPr lang="pt-BR" altLang="pt-BR" sz="20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2000" baseline="-25000" dirty="0">
                <a:latin typeface="Times New Roman" charset="0"/>
              </a:rPr>
              <a:t>1</a:t>
            </a:r>
            <a:r>
              <a:rPr lang="pt-BR" altLang="pt-BR" sz="2000" i="1" dirty="0">
                <a:latin typeface="Times New Roman" charset="0"/>
              </a:rPr>
              <a:t> X</a:t>
            </a:r>
            <a:r>
              <a:rPr lang="pt-BR" altLang="pt-BR" sz="2000" i="1" baseline="-25000" dirty="0">
                <a:latin typeface="Times New Roman" charset="0"/>
              </a:rPr>
              <a:t>i</a:t>
            </a:r>
            <a:r>
              <a:rPr lang="pt-BR" altLang="pt-BR" sz="2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 ?</a:t>
            </a:r>
            <a:endParaRPr lang="pt-BR" altLang="pt-BR" sz="2000" i="1" baseline="-25000" dirty="0">
              <a:latin typeface="Times New Roman" charset="0"/>
            </a:endParaRPr>
          </a:p>
        </p:txBody>
      </p:sp>
      <p:sp>
        <p:nvSpPr>
          <p:cNvPr id="55" name="Retângulo 54"/>
          <p:cNvSpPr>
            <a:spLocks noChangeArrowheads="1"/>
          </p:cNvSpPr>
          <p:nvPr/>
        </p:nvSpPr>
        <p:spPr bwMode="auto">
          <a:xfrm>
            <a:off x="3337984" y="4077162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50D612F-D459-4072-BCC6-13767AFCA69C}" type="slidenum">
              <a:rPr lang="pt-BR"/>
              <a:pPr>
                <a:defRPr/>
              </a:pPr>
              <a:t>24</a:t>
            </a:fld>
            <a:endParaRPr lang="pt-BR"/>
          </a:p>
        </p:txBody>
      </p:sp>
      <p:grpSp>
        <p:nvGrpSpPr>
          <p:cNvPr id="8" name="Grupo 7"/>
          <p:cNvGrpSpPr/>
          <p:nvPr/>
        </p:nvGrpSpPr>
        <p:grpSpPr>
          <a:xfrm>
            <a:off x="2759868" y="1875814"/>
            <a:ext cx="1889292" cy="1299721"/>
            <a:chOff x="2759868" y="1875814"/>
            <a:chExt cx="1889292" cy="1299721"/>
          </a:xfrm>
        </p:grpSpPr>
        <p:sp>
          <p:nvSpPr>
            <p:cNvPr id="112" name="Line 35"/>
            <p:cNvSpPr>
              <a:spLocks noChangeShapeType="1"/>
            </p:cNvSpPr>
            <p:nvPr/>
          </p:nvSpPr>
          <p:spPr bwMode="auto">
            <a:xfrm rot="20247635" flipV="1">
              <a:off x="2829813" y="1875814"/>
              <a:ext cx="1819347" cy="7521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3" name="Text Box 38"/>
            <p:cNvSpPr txBox="1">
              <a:spLocks noChangeArrowheads="1"/>
            </p:cNvSpPr>
            <p:nvPr/>
          </p:nvSpPr>
          <p:spPr bwMode="auto">
            <a:xfrm>
              <a:off x="2759868" y="2836981"/>
              <a:ext cx="28245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14" name="Line 35"/>
          <p:cNvSpPr>
            <a:spLocks noChangeShapeType="1"/>
          </p:cNvSpPr>
          <p:nvPr/>
        </p:nvSpPr>
        <p:spPr bwMode="auto">
          <a:xfrm rot="20247635" flipV="1">
            <a:off x="3392488" y="1905000"/>
            <a:ext cx="1125537" cy="3032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CaixaDeTexto 68"/>
              <p:cNvSpPr txBox="1"/>
              <p:nvPr/>
            </p:nvSpPr>
            <p:spPr>
              <a:xfrm>
                <a:off x="4338560" y="1541896"/>
                <a:ext cx="1260281" cy="3136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sz="1400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1400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sz="14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9" name="CaixaDeTexto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560" y="1541896"/>
                <a:ext cx="1260281" cy="313612"/>
              </a:xfrm>
              <a:prstGeom prst="rect">
                <a:avLst/>
              </a:prstGeom>
              <a:blipFill>
                <a:blip r:embed="rId4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CaixaDeTexto 72"/>
              <p:cNvSpPr txBox="1"/>
              <p:nvPr/>
            </p:nvSpPr>
            <p:spPr>
              <a:xfrm>
                <a:off x="3187700" y="3112321"/>
                <a:ext cx="135473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sz="2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H</m:t>
                      </m:r>
                      <m:r>
                        <m:rPr>
                          <m:nor/>
                        </m:rPr>
                        <a:rPr lang="pt-BR" sz="2000" baseline="-25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pt-BR" sz="2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sz="2000" i="1">
                              <a:latin typeface="Cambria Math"/>
                              <a:ea typeface="Cambria Math"/>
                            </a:rPr>
                            <m:t>0</m:t>
                          </m:r>
                        </m:sub>
                      </m:sSub>
                      <m:r>
                        <a:rPr lang="pt-BR" sz="2000" i="1">
                          <a:latin typeface="Cambria Math"/>
                          <a:ea typeface="Cambria Math"/>
                        </a:rPr>
                        <m:t>=</m:t>
                      </m:r>
                      <m:r>
                        <a:rPr lang="pt-BR" sz="2000" b="0" i="1" smtClean="0">
                          <a:latin typeface="Cambria Math"/>
                          <a:ea typeface="Cambria Math"/>
                        </a:rPr>
                        <m:t> ?</m:t>
                      </m:r>
                    </m:oMath>
                  </m:oMathPara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73" name="CaixaDeTexto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3112321"/>
                <a:ext cx="1354730" cy="400110"/>
              </a:xfrm>
              <a:prstGeom prst="rect">
                <a:avLst/>
              </a:prstGeom>
              <a:blipFill>
                <a:blip r:embed="rId5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CaixaDeTexto 73"/>
              <p:cNvSpPr txBox="1"/>
              <p:nvPr/>
            </p:nvSpPr>
            <p:spPr>
              <a:xfrm>
                <a:off x="3187700" y="3112321"/>
                <a:ext cx="1320618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20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2000" b="0" i="1" smtClean="0">
                            <a:latin typeface="Cambria Math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pt-BR" sz="2000" i="1">
                        <a:latin typeface="Cambria Math"/>
                        <a:ea typeface="Cambria Math"/>
                      </a:rPr>
                      <m:t>=0</m:t>
                    </m:r>
                  </m:oMath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20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2000" b="0" i="1" smtClean="0">
                            <a:latin typeface="Cambria Math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pt-BR" sz="2000" i="1">
                        <a:latin typeface="Cambria Math"/>
                        <a:ea typeface="Cambria Math"/>
                      </a:rPr>
                      <m:t>≠0</m:t>
                    </m:r>
                  </m:oMath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74" name="CaixaDeTexto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3112321"/>
                <a:ext cx="1320618" cy="707886"/>
              </a:xfrm>
              <a:prstGeom prst="rect">
                <a:avLst/>
              </a:prstGeom>
              <a:blipFill>
                <a:blip r:embed="rId6"/>
                <a:stretch>
                  <a:fillRect l="-5069" t="-5172" b="-146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Retângulo 74"/>
          <p:cNvSpPr>
            <a:spLocks noChangeArrowheads="1"/>
          </p:cNvSpPr>
          <p:nvPr/>
        </p:nvSpPr>
        <p:spPr bwMode="auto">
          <a:xfrm>
            <a:off x="5796136" y="1879425"/>
            <a:ext cx="318388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regressão passa pela origem</a:t>
            </a:r>
            <a:r>
              <a:rPr lang="pt-BR" altLang="pt-BR" sz="1600" i="1" dirty="0">
                <a:latin typeface="Times New Roman" charset="0"/>
                <a:sym typeface="Mathematica1" pitchFamily="2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Mathematica1" pitchFamily="2" charset="2"/>
              </a:rPr>
              <a:t>?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CaixaDeTexto 77"/>
              <p:cNvSpPr txBox="1"/>
              <p:nvPr/>
            </p:nvSpPr>
            <p:spPr>
              <a:xfrm>
                <a:off x="3303712" y="4581128"/>
                <a:ext cx="1692579" cy="524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800" b="0" i="1" smtClean="0">
                        <a:latin typeface="Cambria Math"/>
                      </a:rPr>
                      <m:t>𝑡</m:t>
                    </m:r>
                    <m:r>
                      <a:rPr lang="pt-BR" sz="1800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pt-BR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sz="1800" b="0" i="1" smtClean="0">
                                <a:latin typeface="Cambria Math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pt-BR" sz="1800" b="0" i="1" smtClean="0">
                            <a:latin typeface="Cambria Math"/>
                          </a:rPr>
                          <m:t>𝑠</m:t>
                        </m:r>
                        <m:d>
                          <m:dPr>
                            <m:ctrlPr>
                              <a:rPr lang="pt-BR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b="0" i="1" smtClean="0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sz="18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pt-BR" sz="1800" b="0" i="1" smtClean="0">
                        <a:latin typeface="Cambria Math"/>
                      </a:rPr>
                      <m:t>~</m:t>
                    </m:r>
                    <m:sSub>
                      <m:sSubPr>
                        <m:ctrlPr>
                          <a:rPr lang="pt-B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</a:rPr>
                          <m:t>𝑛</m:t>
                        </m:r>
                        <m:r>
                          <a:rPr lang="pt-BR" sz="1800" b="0" i="1" smtClean="0">
                            <a:latin typeface="Cambria Math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pt-BR" sz="1800" dirty="0">
                    <a:latin typeface="Tahoma" panose="020B0604030504040204" pitchFamily="34" charset="0"/>
                  </a:rPr>
                  <a:t> </a:t>
                </a:r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8" name="CaixaDeTexto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12" y="4581128"/>
                <a:ext cx="1692579" cy="52411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Rectangle 20"/>
          <p:cNvSpPr>
            <a:spLocks noChangeArrowheads="1"/>
          </p:cNvSpPr>
          <p:nvPr/>
        </p:nvSpPr>
        <p:spPr bwMode="auto">
          <a:xfrm>
            <a:off x="3876675" y="2840038"/>
            <a:ext cx="134938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X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grpSp>
        <p:nvGrpSpPr>
          <p:cNvPr id="109" name="Group 50"/>
          <p:cNvGrpSpPr>
            <a:grpSpLocks/>
          </p:cNvGrpSpPr>
          <p:nvPr/>
        </p:nvGrpSpPr>
        <p:grpSpPr bwMode="auto">
          <a:xfrm>
            <a:off x="5105400" y="2622623"/>
            <a:ext cx="4000500" cy="2657473"/>
            <a:chOff x="3264" y="2113"/>
            <a:chExt cx="2520" cy="1674"/>
          </a:xfrm>
        </p:grpSpPr>
        <p:grpSp>
          <p:nvGrpSpPr>
            <p:cNvPr id="110" name="Group 24"/>
            <p:cNvGrpSpPr>
              <a:grpSpLocks/>
            </p:cNvGrpSpPr>
            <p:nvPr/>
          </p:nvGrpSpPr>
          <p:grpSpPr bwMode="auto">
            <a:xfrm>
              <a:off x="3264" y="2113"/>
              <a:ext cx="2520" cy="1674"/>
              <a:chOff x="2988" y="1815"/>
              <a:chExt cx="2520" cy="1674"/>
            </a:xfrm>
          </p:grpSpPr>
          <p:pic>
            <p:nvPicPr>
              <p:cNvPr id="116" name="Picture 25"/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7" name="Text Box 26"/>
              <p:cNvSpPr txBox="1">
                <a:spLocks noChangeArrowheads="1"/>
              </p:cNvSpPr>
              <p:nvPr/>
            </p:nvSpPr>
            <p:spPr bwMode="auto">
              <a:xfrm>
                <a:off x="2988" y="3158"/>
                <a:ext cx="28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dirty="0">
                    <a:latin typeface="Times New Roman" charset="0"/>
                  </a:rPr>
                  <a:t>-</a:t>
                </a:r>
                <a:r>
                  <a:rPr lang="pt-BR" altLang="pt-BR" sz="2000" dirty="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 dirty="0">
                  <a:latin typeface="Times New Roman" charset="0"/>
                </a:endParaRPr>
              </a:p>
            </p:txBody>
          </p:sp>
          <p:sp>
            <p:nvSpPr>
              <p:cNvPr id="118" name="Text Box 27"/>
              <p:cNvSpPr txBox="1">
                <a:spLocks noChangeArrowheads="1"/>
              </p:cNvSpPr>
              <p:nvPr/>
            </p:nvSpPr>
            <p:spPr bwMode="auto">
              <a:xfrm>
                <a:off x="5188" y="3160"/>
                <a:ext cx="320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dirty="0">
                    <a:latin typeface="Times New Roman" charset="0"/>
                  </a:rPr>
                  <a:t>+</a:t>
                </a:r>
                <a:r>
                  <a:rPr lang="pt-BR" altLang="pt-BR" sz="2000" dirty="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 dirty="0">
                  <a:latin typeface="Times New Roman" charset="0"/>
                </a:endParaRPr>
              </a:p>
            </p:txBody>
          </p:sp>
          <p:sp>
            <p:nvSpPr>
              <p:cNvPr id="119" name="Text Box 28"/>
              <p:cNvSpPr txBox="1">
                <a:spLocks noChangeArrowheads="1"/>
              </p:cNvSpPr>
              <p:nvPr/>
            </p:nvSpPr>
            <p:spPr bwMode="auto">
              <a:xfrm>
                <a:off x="4158" y="3239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20" name="Line 29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1" name="Text Box 26"/>
              <p:cNvSpPr txBox="1">
                <a:spLocks noChangeArrowheads="1"/>
              </p:cNvSpPr>
              <p:nvPr/>
            </p:nvSpPr>
            <p:spPr bwMode="auto">
              <a:xfrm>
                <a:off x="4630" y="1815"/>
                <a:ext cx="32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pt-BR" altLang="pt-BR" sz="2000" i="1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pt-BR" altLang="pt-BR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-2</a:t>
                </a:r>
              </a:p>
            </p:txBody>
          </p:sp>
        </p:grpSp>
        <p:sp>
          <p:nvSpPr>
            <p:cNvPr id="115" name="Line 30"/>
            <p:cNvSpPr>
              <a:spLocks noChangeShapeType="1"/>
            </p:cNvSpPr>
            <p:nvPr/>
          </p:nvSpPr>
          <p:spPr bwMode="auto">
            <a:xfrm flipH="1">
              <a:off x="4788" y="2266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22" name="Text Box 33"/>
          <p:cNvSpPr txBox="1">
            <a:spLocks noChangeArrowheads="1"/>
          </p:cNvSpPr>
          <p:nvPr/>
        </p:nvSpPr>
        <p:spPr bwMode="auto">
          <a:xfrm>
            <a:off x="7551738" y="4778449"/>
            <a:ext cx="4937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 dirty="0" err="1">
                <a:latin typeface="Times New Roman" charset="0"/>
              </a:rPr>
              <a:t>t</a:t>
            </a:r>
            <a:r>
              <a:rPr lang="pt-BR" altLang="pt-BR" sz="2000" i="1" baseline="-25000" dirty="0" err="1">
                <a:latin typeface="Times New Roman" charset="0"/>
              </a:rPr>
              <a:t>crít</a:t>
            </a:r>
            <a:endParaRPr lang="pt-BR" altLang="pt-BR" sz="2000" i="1" baseline="-25000" dirty="0">
              <a:latin typeface="Times New Roman" charset="0"/>
            </a:endParaRPr>
          </a:p>
        </p:txBody>
      </p:sp>
      <p:sp>
        <p:nvSpPr>
          <p:cNvPr id="123" name="Text Box 34"/>
          <p:cNvSpPr txBox="1">
            <a:spLocks noChangeArrowheads="1"/>
          </p:cNvSpPr>
          <p:nvPr/>
        </p:nvSpPr>
        <p:spPr bwMode="auto">
          <a:xfrm>
            <a:off x="6324600" y="4778449"/>
            <a:ext cx="5794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 dirty="0">
                <a:latin typeface="Times New Roman" charset="0"/>
              </a:rPr>
              <a:t>-</a:t>
            </a:r>
            <a:r>
              <a:rPr lang="pt-BR" altLang="pt-BR" sz="2000" i="1" dirty="0" err="1">
                <a:latin typeface="Times New Roman" charset="0"/>
              </a:rPr>
              <a:t>t</a:t>
            </a:r>
            <a:r>
              <a:rPr lang="pt-BR" altLang="pt-BR" sz="2000" i="1" baseline="-25000" dirty="0" err="1">
                <a:latin typeface="Times New Roman" charset="0"/>
              </a:rPr>
              <a:t>crít</a:t>
            </a:r>
            <a:endParaRPr lang="pt-BR" altLang="pt-BR" sz="2000" i="1" baseline="-25000" dirty="0">
              <a:latin typeface="Times New Roman" charset="0"/>
            </a:endParaRPr>
          </a:p>
        </p:txBody>
      </p:sp>
      <p:grpSp>
        <p:nvGrpSpPr>
          <p:cNvPr id="124" name="Grupo 123"/>
          <p:cNvGrpSpPr>
            <a:grpSpLocks/>
          </p:cNvGrpSpPr>
          <p:nvPr/>
        </p:nvGrpSpPr>
        <p:grpSpPr bwMode="auto">
          <a:xfrm>
            <a:off x="6529388" y="5189612"/>
            <a:ext cx="1189037" cy="361950"/>
            <a:chOff x="6529932" y="5627017"/>
            <a:chExt cx="1188000" cy="362758"/>
          </a:xfrm>
        </p:grpSpPr>
        <p:sp>
          <p:nvSpPr>
            <p:cNvPr id="125" name="Rectangle 136"/>
            <p:cNvSpPr>
              <a:spLocks noChangeArrowheads="1"/>
            </p:cNvSpPr>
            <p:nvPr/>
          </p:nvSpPr>
          <p:spPr bwMode="auto">
            <a:xfrm>
              <a:off x="6761811" y="5650830"/>
              <a:ext cx="724246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6" name="AutoShape 137"/>
            <p:cNvSpPr>
              <a:spLocks/>
            </p:cNvSpPr>
            <p:nvPr/>
          </p:nvSpPr>
          <p:spPr bwMode="auto">
            <a:xfrm rot="-5400000">
              <a:off x="7089007" y="5067942"/>
              <a:ext cx="69850" cy="1188000"/>
            </a:xfrm>
            <a:prstGeom prst="leftBrace">
              <a:avLst>
                <a:gd name="adj1" fmla="val 10299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27" name="Grupo 126"/>
          <p:cNvGrpSpPr>
            <a:grpSpLocks/>
          </p:cNvGrpSpPr>
          <p:nvPr/>
        </p:nvGrpSpPr>
        <p:grpSpPr bwMode="auto">
          <a:xfrm>
            <a:off x="7715250" y="5189609"/>
            <a:ext cx="863600" cy="362314"/>
            <a:chOff x="7721600" y="5588917"/>
            <a:chExt cx="863600" cy="363123"/>
          </a:xfrm>
        </p:grpSpPr>
        <p:sp>
          <p:nvSpPr>
            <p:cNvPr id="128" name="Rectangle 139"/>
            <p:cNvSpPr>
              <a:spLocks noChangeArrowheads="1"/>
            </p:cNvSpPr>
            <p:nvPr/>
          </p:nvSpPr>
          <p:spPr bwMode="auto">
            <a:xfrm>
              <a:off x="7769047" y="5612730"/>
              <a:ext cx="765530" cy="339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9" name="AutoShape 140"/>
            <p:cNvSpPr>
              <a:spLocks/>
            </p:cNvSpPr>
            <p:nvPr/>
          </p:nvSpPr>
          <p:spPr bwMode="auto">
            <a:xfrm rot="-5400000">
              <a:off x="8118475" y="5192042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30" name="Grupo 129"/>
          <p:cNvGrpSpPr>
            <a:grpSpLocks/>
          </p:cNvGrpSpPr>
          <p:nvPr/>
        </p:nvGrpSpPr>
        <p:grpSpPr bwMode="auto">
          <a:xfrm>
            <a:off x="5667375" y="5189619"/>
            <a:ext cx="863600" cy="362340"/>
            <a:chOff x="5868144" y="5589241"/>
            <a:chExt cx="863600" cy="362758"/>
          </a:xfrm>
        </p:grpSpPr>
        <p:sp>
          <p:nvSpPr>
            <p:cNvPr id="131" name="Rectangle 139"/>
            <p:cNvSpPr>
              <a:spLocks noChangeArrowheads="1"/>
            </p:cNvSpPr>
            <p:nvPr/>
          </p:nvSpPr>
          <p:spPr bwMode="auto">
            <a:xfrm>
              <a:off x="5915591" y="5613054"/>
              <a:ext cx="765531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2" name="AutoShape 140"/>
            <p:cNvSpPr>
              <a:spLocks/>
            </p:cNvSpPr>
            <p:nvPr/>
          </p:nvSpPr>
          <p:spPr bwMode="auto">
            <a:xfrm rot="-5400000">
              <a:off x="6265019" y="5192366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33" name="Grupo 132"/>
          <p:cNvGrpSpPr/>
          <p:nvPr/>
        </p:nvGrpSpPr>
        <p:grpSpPr>
          <a:xfrm>
            <a:off x="7981944" y="3933534"/>
            <a:ext cx="766520" cy="684578"/>
            <a:chOff x="7981944" y="3933534"/>
            <a:chExt cx="766520" cy="684578"/>
          </a:xfrm>
        </p:grpSpPr>
        <p:sp>
          <p:nvSpPr>
            <p:cNvPr id="134" name="Line 36"/>
            <p:cNvSpPr>
              <a:spLocks noChangeShapeType="1"/>
            </p:cNvSpPr>
            <p:nvPr/>
          </p:nvSpPr>
          <p:spPr bwMode="auto">
            <a:xfrm flipV="1">
              <a:off x="7981944" y="4237112"/>
              <a:ext cx="304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5" name="Retângulo 134"/>
            <p:cNvSpPr/>
            <p:nvPr/>
          </p:nvSpPr>
          <p:spPr>
            <a:xfrm>
              <a:off x="8219152" y="3933534"/>
              <a:ext cx="52931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/2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grpSp>
        <p:nvGrpSpPr>
          <p:cNvPr id="136" name="Grupo 135"/>
          <p:cNvGrpSpPr/>
          <p:nvPr/>
        </p:nvGrpSpPr>
        <p:grpSpPr>
          <a:xfrm>
            <a:off x="5554663" y="3906238"/>
            <a:ext cx="750891" cy="695999"/>
            <a:chOff x="5554663" y="3906238"/>
            <a:chExt cx="750891" cy="695999"/>
          </a:xfrm>
        </p:grpSpPr>
        <p:sp>
          <p:nvSpPr>
            <p:cNvPr id="137" name="Line 39"/>
            <p:cNvSpPr>
              <a:spLocks noChangeShapeType="1"/>
            </p:cNvSpPr>
            <p:nvPr/>
          </p:nvSpPr>
          <p:spPr bwMode="auto">
            <a:xfrm flipH="1" flipV="1">
              <a:off x="6000754" y="4221237"/>
              <a:ext cx="304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8" name="Retângulo 137"/>
            <p:cNvSpPr/>
            <p:nvPr/>
          </p:nvSpPr>
          <p:spPr>
            <a:xfrm>
              <a:off x="5554663" y="3906238"/>
              <a:ext cx="52931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/2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grpSp>
        <p:nvGrpSpPr>
          <p:cNvPr id="139" name="Grupo 138"/>
          <p:cNvGrpSpPr/>
          <p:nvPr/>
        </p:nvGrpSpPr>
        <p:grpSpPr>
          <a:xfrm>
            <a:off x="6530975" y="2782962"/>
            <a:ext cx="1184275" cy="2073275"/>
            <a:chOff x="6530975" y="2782962"/>
            <a:chExt cx="1184275" cy="2073275"/>
          </a:xfrm>
        </p:grpSpPr>
        <p:sp>
          <p:nvSpPr>
            <p:cNvPr id="140" name="Freeform 32"/>
            <p:cNvSpPr>
              <a:spLocks/>
            </p:cNvSpPr>
            <p:nvPr/>
          </p:nvSpPr>
          <p:spPr bwMode="auto">
            <a:xfrm>
              <a:off x="6530975" y="2782962"/>
              <a:ext cx="1184275" cy="2073275"/>
            </a:xfrm>
            <a:custGeom>
              <a:avLst/>
              <a:gdLst>
                <a:gd name="T0" fmla="*/ 0 w 440"/>
                <a:gd name="T1" fmla="*/ 2147483647 h 771"/>
                <a:gd name="T2" fmla="*/ 2147483647 w 440"/>
                <a:gd name="T3" fmla="*/ 2147483647 h 771"/>
                <a:gd name="T4" fmla="*/ 2147483647 w 440"/>
                <a:gd name="T5" fmla="*/ 2147483647 h 771"/>
                <a:gd name="T6" fmla="*/ 2147483647 w 440"/>
                <a:gd name="T7" fmla="*/ 2147483647 h 771"/>
                <a:gd name="T8" fmla="*/ 2147483647 w 440"/>
                <a:gd name="T9" fmla="*/ 2147483647 h 771"/>
                <a:gd name="T10" fmla="*/ 2147483647 w 440"/>
                <a:gd name="T11" fmla="*/ 2147483647 h 771"/>
                <a:gd name="T12" fmla="*/ 2147483647 w 440"/>
                <a:gd name="T13" fmla="*/ 2147483647 h 771"/>
                <a:gd name="T14" fmla="*/ 2147483647 w 440"/>
                <a:gd name="T15" fmla="*/ 2147483647 h 771"/>
                <a:gd name="T16" fmla="*/ 2147483647 w 440"/>
                <a:gd name="T17" fmla="*/ 2147483647 h 771"/>
                <a:gd name="T18" fmla="*/ 2147483647 w 440"/>
                <a:gd name="T19" fmla="*/ 2147483647 h 771"/>
                <a:gd name="T20" fmla="*/ 2147483647 w 440"/>
                <a:gd name="T21" fmla="*/ 0 h 771"/>
                <a:gd name="T22" fmla="*/ 2147483647 w 440"/>
                <a:gd name="T23" fmla="*/ 0 h 771"/>
                <a:gd name="T24" fmla="*/ 2147483647 w 440"/>
                <a:gd name="T25" fmla="*/ 2147483647 h 771"/>
                <a:gd name="T26" fmla="*/ 2147483647 w 440"/>
                <a:gd name="T27" fmla="*/ 2147483647 h 771"/>
                <a:gd name="T28" fmla="*/ 2147483647 w 440"/>
                <a:gd name="T29" fmla="*/ 2147483647 h 771"/>
                <a:gd name="T30" fmla="*/ 2147483647 w 440"/>
                <a:gd name="T31" fmla="*/ 2147483647 h 771"/>
                <a:gd name="T32" fmla="*/ 2147483647 w 440"/>
                <a:gd name="T33" fmla="*/ 2147483647 h 771"/>
                <a:gd name="T34" fmla="*/ 2147483647 w 440"/>
                <a:gd name="T35" fmla="*/ 2147483647 h 771"/>
                <a:gd name="T36" fmla="*/ 2147483647 w 440"/>
                <a:gd name="T37" fmla="*/ 2147483647 h 771"/>
                <a:gd name="T38" fmla="*/ 2147483647 w 440"/>
                <a:gd name="T39" fmla="*/ 2147483647 h 771"/>
                <a:gd name="T40" fmla="*/ 2147483647 w 440"/>
                <a:gd name="T41" fmla="*/ 2147483647 h 771"/>
                <a:gd name="T42" fmla="*/ 2147483647 w 440"/>
                <a:gd name="T43" fmla="*/ 2147483647 h 771"/>
                <a:gd name="T44" fmla="*/ 2147483647 w 440"/>
                <a:gd name="T45" fmla="*/ 2147483647 h 771"/>
                <a:gd name="T46" fmla="*/ 0 w 440"/>
                <a:gd name="T47" fmla="*/ 2147483647 h 771"/>
                <a:gd name="T48" fmla="*/ 0 w 440"/>
                <a:gd name="T49" fmla="*/ 214748364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41" name="Retângulo 140"/>
            <p:cNvSpPr/>
            <p:nvPr/>
          </p:nvSpPr>
          <p:spPr>
            <a:xfrm>
              <a:off x="6895796" y="3958738"/>
              <a:ext cx="49725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1-</a:t>
              </a:r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  <p:bldP spid="77" grpId="0"/>
      <p:bldP spid="111" grpId="0"/>
      <p:bldP spid="38" grpId="0"/>
      <p:bldP spid="55" grpId="0"/>
      <p:bldP spid="73" grpId="0"/>
      <p:bldP spid="74" grpId="0" animBg="1"/>
      <p:bldP spid="75" grpId="0"/>
      <p:bldP spid="78" grpId="0"/>
      <p:bldP spid="122" grpId="0"/>
      <p:bldP spid="12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Inferências para </a:t>
            </a:r>
            <a:r>
              <a:rPr lang="pt-BR" altLang="pt-BR" dirty="0">
                <a:latin typeface="Times New Roman" charset="0"/>
                <a:cs typeface="Times New Roman" charset="0"/>
                <a:sym typeface="Symbol" pitchFamily="18" charset="2"/>
              </a:rPr>
              <a:t>E(</a:t>
            </a:r>
            <a:r>
              <a:rPr lang="pt-BR" altLang="pt-BR" i="1" dirty="0" err="1">
                <a:latin typeface="Times New Roman" charset="0"/>
                <a:cs typeface="Times New Roman" charset="0"/>
                <a:sym typeface="Symbol" pitchFamily="18" charset="2"/>
              </a:rPr>
              <a:t>Y</a:t>
            </a:r>
            <a:r>
              <a:rPr lang="pt-BR" altLang="pt-BR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dirty="0">
                <a:latin typeface="Times New Roman" charset="0"/>
                <a:cs typeface="Times New Roman" charset="0"/>
                <a:sym typeface="Symbol" pitchFamily="18" charset="2"/>
              </a:rPr>
              <a:t>)</a:t>
            </a:r>
            <a:endParaRPr lang="pt-BR" baseline="-25000" dirty="0"/>
          </a:p>
        </p:txBody>
      </p:sp>
      <p:sp>
        <p:nvSpPr>
          <p:cNvPr id="19459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760413" y="1657350"/>
            <a:ext cx="7772400" cy="763588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Considerando um determinado valor de 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sz="1600" dirty="0"/>
              <a:t>, quais as incertezas relacionadas às estimativas de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E(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Y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)</a:t>
            </a:r>
            <a:r>
              <a:rPr lang="pt-BR" altLang="pt-BR" sz="1600" dirty="0"/>
              <a:t>?</a:t>
            </a:r>
          </a:p>
        </p:txBody>
      </p:sp>
      <p:grpSp>
        <p:nvGrpSpPr>
          <p:cNvPr id="2" name="Grupo 1"/>
          <p:cNvGrpSpPr>
            <a:grpSpLocks/>
          </p:cNvGrpSpPr>
          <p:nvPr/>
        </p:nvGrpSpPr>
        <p:grpSpPr bwMode="auto">
          <a:xfrm>
            <a:off x="1084070" y="2872329"/>
            <a:ext cx="3327472" cy="2831912"/>
            <a:chOff x="3182629" y="3356992"/>
            <a:chExt cx="1627491" cy="1385035"/>
          </a:xfrm>
        </p:grpSpPr>
        <p:sp>
          <p:nvSpPr>
            <p:cNvPr id="19472" name="Rectangle 21"/>
            <p:cNvSpPr>
              <a:spLocks noChangeArrowheads="1"/>
            </p:cNvSpPr>
            <p:nvPr/>
          </p:nvSpPr>
          <p:spPr bwMode="auto">
            <a:xfrm rot="16200000">
              <a:off x="3212268" y="3355319"/>
              <a:ext cx="61152" cy="120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9473" name="Freeform 22"/>
            <p:cNvSpPr>
              <a:spLocks/>
            </p:cNvSpPr>
            <p:nvPr/>
          </p:nvSpPr>
          <p:spPr bwMode="auto">
            <a:xfrm>
              <a:off x="3286120" y="3356992"/>
              <a:ext cx="1524000" cy="1228725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2147483647 h 1179"/>
                <a:gd name="T4" fmla="*/ 2147483647 w 1271"/>
                <a:gd name="T5" fmla="*/ 2147483647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9474" name="Group 23"/>
            <p:cNvGrpSpPr>
              <a:grpSpLocks/>
            </p:cNvGrpSpPr>
            <p:nvPr/>
          </p:nvGrpSpPr>
          <p:grpSpPr bwMode="auto">
            <a:xfrm rot="17259631" flipH="1">
              <a:off x="3607060" y="3626648"/>
              <a:ext cx="807952" cy="498773"/>
              <a:chOff x="4084" y="2024"/>
              <a:chExt cx="910" cy="703"/>
            </a:xfrm>
          </p:grpSpPr>
          <p:sp>
            <p:nvSpPr>
              <p:cNvPr id="19477" name="Oval 24"/>
              <p:cNvSpPr>
                <a:spLocks noChangeArrowheads="1"/>
              </p:cNvSpPr>
              <p:nvPr/>
            </p:nvSpPr>
            <p:spPr bwMode="auto">
              <a:xfrm>
                <a:off x="4422" y="2160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78" name="Oval 25"/>
              <p:cNvSpPr>
                <a:spLocks noChangeArrowheads="1"/>
              </p:cNvSpPr>
              <p:nvPr/>
            </p:nvSpPr>
            <p:spPr bwMode="auto">
              <a:xfrm>
                <a:off x="4422" y="261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79" name="Oval 26"/>
              <p:cNvSpPr>
                <a:spLocks noChangeArrowheads="1"/>
              </p:cNvSpPr>
              <p:nvPr/>
            </p:nvSpPr>
            <p:spPr bwMode="auto">
              <a:xfrm>
                <a:off x="4559" y="2477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0" name="Oval 27"/>
              <p:cNvSpPr>
                <a:spLocks noChangeArrowheads="1"/>
              </p:cNvSpPr>
              <p:nvPr/>
            </p:nvSpPr>
            <p:spPr bwMode="auto">
              <a:xfrm>
                <a:off x="4966" y="2114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1" name="Oval 28"/>
              <p:cNvSpPr>
                <a:spLocks noChangeArrowheads="1"/>
              </p:cNvSpPr>
              <p:nvPr/>
            </p:nvSpPr>
            <p:spPr bwMode="auto">
              <a:xfrm>
                <a:off x="4694" y="2024"/>
                <a:ext cx="27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2" name="Oval 29"/>
              <p:cNvSpPr>
                <a:spLocks noChangeArrowheads="1"/>
              </p:cNvSpPr>
              <p:nvPr/>
            </p:nvSpPr>
            <p:spPr bwMode="auto">
              <a:xfrm>
                <a:off x="4371" y="245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3" name="Oval 30"/>
              <p:cNvSpPr>
                <a:spLocks noChangeArrowheads="1"/>
              </p:cNvSpPr>
              <p:nvPr/>
            </p:nvSpPr>
            <p:spPr bwMode="auto">
              <a:xfrm>
                <a:off x="4084" y="269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4" name="Oval 31"/>
              <p:cNvSpPr>
                <a:spLocks noChangeArrowheads="1"/>
              </p:cNvSpPr>
              <p:nvPr/>
            </p:nvSpPr>
            <p:spPr bwMode="auto">
              <a:xfrm>
                <a:off x="4150" y="2432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5" name="Oval 32"/>
              <p:cNvSpPr>
                <a:spLocks noChangeArrowheads="1"/>
              </p:cNvSpPr>
              <p:nvPr/>
            </p:nvSpPr>
            <p:spPr bwMode="auto">
              <a:xfrm>
                <a:off x="4739" y="2296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6" name="Oval 33"/>
              <p:cNvSpPr>
                <a:spLocks noChangeArrowheads="1"/>
              </p:cNvSpPr>
              <p:nvPr/>
            </p:nvSpPr>
            <p:spPr bwMode="auto">
              <a:xfrm>
                <a:off x="4558" y="2250"/>
                <a:ext cx="28" cy="35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9475" name="Line 35"/>
            <p:cNvSpPr>
              <a:spLocks noChangeShapeType="1"/>
            </p:cNvSpPr>
            <p:nvPr/>
          </p:nvSpPr>
          <p:spPr bwMode="auto">
            <a:xfrm rot="20247635" flipV="1">
              <a:off x="3490664" y="3691555"/>
              <a:ext cx="1125524" cy="3039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476" name="Rectangle 20"/>
            <p:cNvSpPr>
              <a:spLocks noChangeArrowheads="1"/>
            </p:cNvSpPr>
            <p:nvPr/>
          </p:nvSpPr>
          <p:spPr bwMode="auto">
            <a:xfrm>
              <a:off x="4687665" y="4621605"/>
              <a:ext cx="66644" cy="1204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</p:grpSp>
      <p:sp>
        <p:nvSpPr>
          <p:cNvPr id="90" name="Rectangle 9"/>
          <p:cNvSpPr txBox="1">
            <a:spLocks noChangeArrowheads="1"/>
          </p:cNvSpPr>
          <p:nvPr/>
        </p:nvSpPr>
        <p:spPr bwMode="auto">
          <a:xfrm>
            <a:off x="4787900" y="3573463"/>
            <a:ext cx="2808288" cy="1808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b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r>
              <a:rPr lang="pt-BR" altLang="pt-BR" sz="1600" kern="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b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são variáveis aleatórias, então eles podem variar de amostra para amostra...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F283A05-0094-4684-ADBD-7E595778FA21}" type="slidenum">
              <a:rPr lang="pt-BR"/>
              <a:pPr>
                <a:defRPr/>
              </a:pPr>
              <a:t>25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aixaDeTexto 30"/>
              <p:cNvSpPr txBox="1"/>
              <p:nvPr/>
            </p:nvSpPr>
            <p:spPr>
              <a:xfrm>
                <a:off x="3752330" y="2913416"/>
                <a:ext cx="1418593" cy="3452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1" name="CaixaDeTexto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330" y="2913416"/>
                <a:ext cx="1418593" cy="34522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Agrupar 12">
            <a:extLst>
              <a:ext uri="{FF2B5EF4-FFF2-40B4-BE49-F238E27FC236}">
                <a16:creationId xmlns:a16="http://schemas.microsoft.com/office/drawing/2014/main" id="{CEC9ADCA-140B-A324-5D82-FEBAE42886E3}"/>
              </a:ext>
            </a:extLst>
          </p:cNvPr>
          <p:cNvGrpSpPr/>
          <p:nvPr/>
        </p:nvGrpSpPr>
        <p:grpSpPr>
          <a:xfrm>
            <a:off x="4035114" y="2386580"/>
            <a:ext cx="2573556" cy="562869"/>
            <a:chOff x="4035114" y="2386580"/>
            <a:chExt cx="2573556" cy="562869"/>
          </a:xfrm>
        </p:grpSpPr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D57D9BA4-45E7-38D2-411C-D55BAE806CB5}"/>
                </a:ext>
              </a:extLst>
            </p:cNvPr>
            <p:cNvSpPr txBox="1"/>
            <p:nvPr/>
          </p:nvSpPr>
          <p:spPr>
            <a:xfrm>
              <a:off x="4400000" y="2386580"/>
              <a:ext cx="220867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altLang="pt-BR" sz="16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Symbol" pitchFamily="18" charset="2"/>
                </a:rPr>
                <a:t>Estimador de </a:t>
              </a:r>
              <a:r>
                <a:rPr lang="pt-BR" altLang="pt-BR" sz="1600" dirty="0">
                  <a:latin typeface="Times New Roman" charset="0"/>
                  <a:cs typeface="Times New Roman" charset="0"/>
                  <a:sym typeface="Symbol" pitchFamily="18" charset="2"/>
                </a:rPr>
                <a:t>E(</a:t>
              </a:r>
              <a:r>
                <a:rPr lang="pt-BR" altLang="pt-BR" sz="1600" i="1" dirty="0">
                  <a:latin typeface="Times New Roman" charset="0"/>
                  <a:cs typeface="Times New Roman" charset="0"/>
                  <a:sym typeface="Symbol" pitchFamily="18" charset="2"/>
                </a:rPr>
                <a:t>Y</a:t>
              </a:r>
              <a:r>
                <a:rPr lang="pt-BR" altLang="pt-BR" sz="1600" dirty="0">
                  <a:latin typeface="Times New Roman" charset="0"/>
                  <a:cs typeface="Times New Roman" charset="0"/>
                  <a:sym typeface="Symbol" pitchFamily="18" charset="2"/>
                </a:rPr>
                <a:t>)</a:t>
              </a:r>
              <a:endParaRPr lang="pt-BR" dirty="0"/>
            </a:p>
          </p:txBody>
        </p:sp>
        <p:cxnSp>
          <p:nvCxnSpPr>
            <p:cNvPr id="12" name="Conector de Seta Reta 11">
              <a:extLst>
                <a:ext uri="{FF2B5EF4-FFF2-40B4-BE49-F238E27FC236}">
                  <a16:creationId xmlns:a16="http://schemas.microsoft.com/office/drawing/2014/main" id="{2254E54B-DD46-194B-DB82-8D7F20B1F4CE}"/>
                </a:ext>
              </a:extLst>
            </p:cNvPr>
            <p:cNvCxnSpPr/>
            <p:nvPr/>
          </p:nvCxnSpPr>
          <p:spPr bwMode="auto">
            <a:xfrm flipH="1">
              <a:off x="4035114" y="2593398"/>
              <a:ext cx="357188" cy="356051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  <p:bldP spid="3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Inferências para </a:t>
            </a:r>
            <a:r>
              <a:rPr lang="pt-BR" altLang="pt-BR" dirty="0">
                <a:latin typeface="Times New Roman" charset="0"/>
                <a:cs typeface="Times New Roman" charset="0"/>
                <a:sym typeface="Symbol" pitchFamily="18" charset="2"/>
              </a:rPr>
              <a:t>E(</a:t>
            </a:r>
            <a:r>
              <a:rPr lang="pt-BR" altLang="pt-BR" i="1" dirty="0" err="1">
                <a:latin typeface="Times New Roman" charset="0"/>
                <a:cs typeface="Times New Roman" charset="0"/>
                <a:sym typeface="Symbol" pitchFamily="18" charset="2"/>
              </a:rPr>
              <a:t>Y</a:t>
            </a:r>
            <a:r>
              <a:rPr lang="pt-BR" altLang="pt-BR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dirty="0">
                <a:latin typeface="Times New Roman" charset="0"/>
                <a:cs typeface="Times New Roman" charset="0"/>
                <a:sym typeface="Symbol" pitchFamily="18" charset="2"/>
              </a:rPr>
              <a:t>)</a:t>
            </a:r>
            <a:endParaRPr lang="pt-BR" baseline="-25000" dirty="0"/>
          </a:p>
        </p:txBody>
      </p:sp>
      <p:grpSp>
        <p:nvGrpSpPr>
          <p:cNvPr id="20483" name="Grupo 29"/>
          <p:cNvGrpSpPr>
            <a:grpSpLocks/>
          </p:cNvGrpSpPr>
          <p:nvPr/>
        </p:nvGrpSpPr>
        <p:grpSpPr bwMode="auto">
          <a:xfrm>
            <a:off x="1084070" y="2872329"/>
            <a:ext cx="3327472" cy="2831912"/>
            <a:chOff x="3182629" y="3356992"/>
            <a:chExt cx="1627491" cy="1385035"/>
          </a:xfrm>
        </p:grpSpPr>
        <p:sp>
          <p:nvSpPr>
            <p:cNvPr id="20503" name="Rectangle 21"/>
            <p:cNvSpPr>
              <a:spLocks noChangeArrowheads="1"/>
            </p:cNvSpPr>
            <p:nvPr/>
          </p:nvSpPr>
          <p:spPr bwMode="auto">
            <a:xfrm rot="16200000">
              <a:off x="3212268" y="3355319"/>
              <a:ext cx="61152" cy="120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20504" name="Freeform 22"/>
            <p:cNvSpPr>
              <a:spLocks/>
            </p:cNvSpPr>
            <p:nvPr/>
          </p:nvSpPr>
          <p:spPr bwMode="auto">
            <a:xfrm>
              <a:off x="3286120" y="3356992"/>
              <a:ext cx="1524000" cy="1228725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2147483647 h 1179"/>
                <a:gd name="T4" fmla="*/ 2147483647 w 1271"/>
                <a:gd name="T5" fmla="*/ 2147483647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20505" name="Group 23"/>
            <p:cNvGrpSpPr>
              <a:grpSpLocks/>
            </p:cNvGrpSpPr>
            <p:nvPr/>
          </p:nvGrpSpPr>
          <p:grpSpPr bwMode="auto">
            <a:xfrm rot="17259631" flipH="1">
              <a:off x="3607060" y="3626648"/>
              <a:ext cx="807952" cy="498773"/>
              <a:chOff x="4084" y="2024"/>
              <a:chExt cx="910" cy="703"/>
            </a:xfrm>
          </p:grpSpPr>
          <p:sp>
            <p:nvSpPr>
              <p:cNvPr id="20508" name="Oval 24"/>
              <p:cNvSpPr>
                <a:spLocks noChangeArrowheads="1"/>
              </p:cNvSpPr>
              <p:nvPr/>
            </p:nvSpPr>
            <p:spPr bwMode="auto">
              <a:xfrm>
                <a:off x="4422" y="2160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09" name="Oval 25"/>
              <p:cNvSpPr>
                <a:spLocks noChangeArrowheads="1"/>
              </p:cNvSpPr>
              <p:nvPr/>
            </p:nvSpPr>
            <p:spPr bwMode="auto">
              <a:xfrm>
                <a:off x="4422" y="261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0" name="Oval 26"/>
              <p:cNvSpPr>
                <a:spLocks noChangeArrowheads="1"/>
              </p:cNvSpPr>
              <p:nvPr/>
            </p:nvSpPr>
            <p:spPr bwMode="auto">
              <a:xfrm>
                <a:off x="4559" y="2477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1" name="Oval 27"/>
              <p:cNvSpPr>
                <a:spLocks noChangeArrowheads="1"/>
              </p:cNvSpPr>
              <p:nvPr/>
            </p:nvSpPr>
            <p:spPr bwMode="auto">
              <a:xfrm>
                <a:off x="4966" y="2114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2" name="Oval 28"/>
              <p:cNvSpPr>
                <a:spLocks noChangeArrowheads="1"/>
              </p:cNvSpPr>
              <p:nvPr/>
            </p:nvSpPr>
            <p:spPr bwMode="auto">
              <a:xfrm>
                <a:off x="4694" y="2024"/>
                <a:ext cx="27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3" name="Oval 29"/>
              <p:cNvSpPr>
                <a:spLocks noChangeArrowheads="1"/>
              </p:cNvSpPr>
              <p:nvPr/>
            </p:nvSpPr>
            <p:spPr bwMode="auto">
              <a:xfrm>
                <a:off x="4371" y="245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4" name="Oval 30"/>
              <p:cNvSpPr>
                <a:spLocks noChangeArrowheads="1"/>
              </p:cNvSpPr>
              <p:nvPr/>
            </p:nvSpPr>
            <p:spPr bwMode="auto">
              <a:xfrm>
                <a:off x="4084" y="269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5" name="Oval 31"/>
              <p:cNvSpPr>
                <a:spLocks noChangeArrowheads="1"/>
              </p:cNvSpPr>
              <p:nvPr/>
            </p:nvSpPr>
            <p:spPr bwMode="auto">
              <a:xfrm>
                <a:off x="4150" y="2432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6" name="Oval 32"/>
              <p:cNvSpPr>
                <a:spLocks noChangeArrowheads="1"/>
              </p:cNvSpPr>
              <p:nvPr/>
            </p:nvSpPr>
            <p:spPr bwMode="auto">
              <a:xfrm>
                <a:off x="4739" y="2296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7" name="Oval 33"/>
              <p:cNvSpPr>
                <a:spLocks noChangeArrowheads="1"/>
              </p:cNvSpPr>
              <p:nvPr/>
            </p:nvSpPr>
            <p:spPr bwMode="auto">
              <a:xfrm>
                <a:off x="4558" y="2250"/>
                <a:ext cx="28" cy="35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0506" name="Line 35"/>
            <p:cNvSpPr>
              <a:spLocks noChangeShapeType="1"/>
            </p:cNvSpPr>
            <p:nvPr/>
          </p:nvSpPr>
          <p:spPr bwMode="auto">
            <a:xfrm rot="20247635" flipV="1">
              <a:off x="3490664" y="3691555"/>
              <a:ext cx="1125524" cy="3039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507" name="Rectangle 20"/>
            <p:cNvSpPr>
              <a:spLocks noChangeArrowheads="1"/>
            </p:cNvSpPr>
            <p:nvPr/>
          </p:nvSpPr>
          <p:spPr bwMode="auto">
            <a:xfrm>
              <a:off x="4687665" y="4621605"/>
              <a:ext cx="66644" cy="1204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0486" name="Grupo 49"/>
          <p:cNvGrpSpPr>
            <a:grpSpLocks/>
          </p:cNvGrpSpPr>
          <p:nvPr/>
        </p:nvGrpSpPr>
        <p:grpSpPr bwMode="auto">
          <a:xfrm>
            <a:off x="982663" y="3673475"/>
            <a:ext cx="2070100" cy="2039938"/>
            <a:chOff x="2350252" y="3674037"/>
            <a:chExt cx="2070841" cy="2039677"/>
          </a:xfrm>
        </p:grpSpPr>
        <p:graphicFrame>
          <p:nvGraphicFramePr>
            <p:cNvPr id="20497" name="Objeto 50"/>
            <p:cNvGraphicFramePr>
              <a:graphicFrameLocks noChangeAspect="1"/>
            </p:cNvGraphicFramePr>
            <p:nvPr/>
          </p:nvGraphicFramePr>
          <p:xfrm>
            <a:off x="4154393" y="5427964"/>
            <a:ext cx="266700" cy="2857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" imgW="177646" imgH="190335" progId="Equation.3">
                    <p:embed/>
                  </p:oleObj>
                </mc:Choice>
                <mc:Fallback>
                  <p:oleObj name="Equação" r:id="rId2" imgW="177646" imgH="190335" progId="Equation.3">
                    <p:embed/>
                    <p:pic>
                      <p:nvPicPr>
                        <p:cNvPr id="20497" name="Objeto 5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54393" y="5427964"/>
                          <a:ext cx="266700" cy="2857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498" name="Objeto 51"/>
            <p:cNvGraphicFramePr>
              <a:graphicFrameLocks noChangeAspect="1"/>
            </p:cNvGraphicFramePr>
            <p:nvPr/>
          </p:nvGraphicFramePr>
          <p:xfrm>
            <a:off x="2350252" y="3674037"/>
            <a:ext cx="228600" cy="2857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4" imgW="152334" imgH="190417" progId="Equation.3">
                    <p:embed/>
                  </p:oleObj>
                </mc:Choice>
                <mc:Fallback>
                  <p:oleObj name="Equação" r:id="rId4" imgW="152334" imgH="190417" progId="Equation.3">
                    <p:embed/>
                    <p:pic>
                      <p:nvPicPr>
                        <p:cNvPr id="20498" name="Objeto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50252" y="3674037"/>
                          <a:ext cx="228600" cy="2857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0499" name="Conector de seta reta 52"/>
            <p:cNvCxnSpPr>
              <a:cxnSpLocks noChangeShapeType="1"/>
            </p:cNvCxnSpPr>
            <p:nvPr/>
          </p:nvCxnSpPr>
          <p:spPr bwMode="auto">
            <a:xfrm>
              <a:off x="4291670" y="3873494"/>
              <a:ext cx="0" cy="1465814"/>
            </a:xfrm>
            <a:prstGeom prst="straightConnector1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0500" name="Conector de seta reta 53"/>
            <p:cNvCxnSpPr>
              <a:cxnSpLocks noChangeShapeType="1"/>
            </p:cNvCxnSpPr>
            <p:nvPr/>
          </p:nvCxnSpPr>
          <p:spPr bwMode="auto">
            <a:xfrm rot="5400000">
              <a:off x="3500364" y="3089787"/>
              <a:ext cx="0" cy="1465814"/>
            </a:xfrm>
            <a:prstGeom prst="straightConnector1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01911246"/>
              </p:ext>
            </p:extLst>
          </p:nvPr>
        </p:nvGraphicFramePr>
        <p:xfrm>
          <a:off x="5445125" y="3397895"/>
          <a:ext cx="3208338" cy="1292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2133600" imgH="863600" progId="Equation.3">
                  <p:embed/>
                </p:oleObj>
              </mc:Choice>
              <mc:Fallback>
                <p:oleObj name="Equação" r:id="rId6" imgW="2133600" imgH="863600" progId="Equation.3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45125" y="3397895"/>
                        <a:ext cx="3208338" cy="1292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7554153"/>
              </p:ext>
            </p:extLst>
          </p:nvPr>
        </p:nvGraphicFramePr>
        <p:xfrm>
          <a:off x="5386388" y="2708920"/>
          <a:ext cx="1543050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1028254" imgH="482391" progId="Equation.3">
                  <p:embed/>
                </p:oleObj>
              </mc:Choice>
              <mc:Fallback>
                <p:oleObj name="Equação" r:id="rId8" imgW="1028254" imgH="482391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86388" y="2708920"/>
                        <a:ext cx="1543050" cy="723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9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760413" y="1657350"/>
            <a:ext cx="7772400" cy="763588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Considerando um determinado valor de 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sz="1600" dirty="0"/>
              <a:t>, quais as incertezas relacionadas às estimativas de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E(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Y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)</a:t>
            </a:r>
            <a:r>
              <a:rPr lang="pt-BR" altLang="pt-BR" sz="1600" dirty="0"/>
              <a:t>?</a:t>
            </a:r>
          </a:p>
        </p:txBody>
      </p:sp>
      <p:sp>
        <p:nvSpPr>
          <p:cNvPr id="12" name="Seta para baixo 11"/>
          <p:cNvSpPr>
            <a:spLocks noChangeArrowheads="1"/>
          </p:cNvSpPr>
          <p:nvPr/>
        </p:nvSpPr>
        <p:spPr bwMode="auto">
          <a:xfrm rot="2302243">
            <a:off x="8310563" y="3215332"/>
            <a:ext cx="360362" cy="569913"/>
          </a:xfrm>
          <a:prstGeom prst="downArrow">
            <a:avLst>
              <a:gd name="adj1" fmla="val 50000"/>
              <a:gd name="adj2" fmla="val 49978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" name="Grupo 1"/>
          <p:cNvGrpSpPr>
            <a:grpSpLocks/>
          </p:cNvGrpSpPr>
          <p:nvPr/>
        </p:nvGrpSpPr>
        <p:grpSpPr bwMode="auto">
          <a:xfrm>
            <a:off x="4806950" y="5042818"/>
            <a:ext cx="3744939" cy="906462"/>
            <a:chOff x="4806976" y="5427860"/>
            <a:chExt cx="3744912" cy="905970"/>
          </a:xfrm>
        </p:grpSpPr>
        <p:graphicFrame>
          <p:nvGraphicFramePr>
            <p:cNvPr id="20493" name="Objeto 32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757190466"/>
                </p:ext>
              </p:extLst>
            </p:nvPr>
          </p:nvGraphicFramePr>
          <p:xfrm>
            <a:off x="8162180" y="5431974"/>
            <a:ext cx="325437" cy="3413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0" imgW="215806" imgH="228501" progId="Equation.3">
                    <p:embed/>
                  </p:oleObj>
                </mc:Choice>
                <mc:Fallback>
                  <p:oleObj name="Equação" r:id="rId10" imgW="215806" imgH="228501" progId="Equation.3">
                    <p:embed/>
                    <p:pic>
                      <p:nvPicPr>
                        <p:cNvPr id="20493" name="Objeto 32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162180" y="5431974"/>
                          <a:ext cx="325437" cy="3413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494" name="Objeto 33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292496837"/>
                </p:ext>
              </p:extLst>
            </p:nvPr>
          </p:nvGraphicFramePr>
          <p:xfrm>
            <a:off x="7938123" y="5934076"/>
            <a:ext cx="554038" cy="3413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2" imgW="368300" imgH="228600" progId="Equation.3">
                    <p:embed/>
                  </p:oleObj>
                </mc:Choice>
                <mc:Fallback>
                  <p:oleObj name="Equação" r:id="rId12" imgW="368300" imgH="228600" progId="Equation.3">
                    <p:embed/>
                    <p:pic>
                      <p:nvPicPr>
                        <p:cNvPr id="20494" name="Objeto 33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938123" y="5934076"/>
                          <a:ext cx="554038" cy="3413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495" name="Objeto 34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164077761"/>
                </p:ext>
              </p:extLst>
            </p:nvPr>
          </p:nvGraphicFramePr>
          <p:xfrm>
            <a:off x="6175031" y="5660925"/>
            <a:ext cx="266700" cy="2841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4" imgW="177646" imgH="190335" progId="Equation.3">
                    <p:embed/>
                  </p:oleObj>
                </mc:Choice>
                <mc:Fallback>
                  <p:oleObj name="Equação" r:id="rId14" imgW="177646" imgH="190335" progId="Equation.3">
                    <p:embed/>
                    <p:pic>
                      <p:nvPicPr>
                        <p:cNvPr id="20495" name="Objeto 3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75031" y="5660925"/>
                          <a:ext cx="266700" cy="2841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496" name="Rectangle 252"/>
            <p:cNvSpPr>
              <a:spLocks noChangeArrowheads="1"/>
            </p:cNvSpPr>
            <p:nvPr/>
          </p:nvSpPr>
          <p:spPr bwMode="auto">
            <a:xfrm>
              <a:off x="4806976" y="5427860"/>
              <a:ext cx="3744912" cy="9059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55600" indent="-3556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charset="0"/>
                </a:rPr>
                <a:t>Interpretação:</a:t>
              </a: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 quanto mais distante estiver de    , maiores serão as incertezas nas estimativas de</a:t>
              </a:r>
            </a:p>
            <a:p>
              <a:pPr indent="0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Por isso, extrapolações para faixa de valores de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 extremos ou não observados devem ser evitadas!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A6FEEC-E9C8-4E0D-979A-2A31CC885952}" type="slidenum">
              <a:rPr lang="pt-BR"/>
              <a:pPr>
                <a:defRPr/>
              </a:pPr>
              <a:t>26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aixaDeTexto 37"/>
              <p:cNvSpPr txBox="1"/>
              <p:nvPr/>
            </p:nvSpPr>
            <p:spPr>
              <a:xfrm>
                <a:off x="3752330" y="2913416"/>
                <a:ext cx="1418593" cy="3452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8" name="CaixaDeTexto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330" y="2913416"/>
                <a:ext cx="1418593" cy="34522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Agrupar 5">
            <a:extLst>
              <a:ext uri="{FF2B5EF4-FFF2-40B4-BE49-F238E27FC236}">
                <a16:creationId xmlns:a16="http://schemas.microsoft.com/office/drawing/2014/main" id="{894AA367-32D8-896D-863D-EA90C7057C5A}"/>
              </a:ext>
            </a:extLst>
          </p:cNvPr>
          <p:cNvGrpSpPr/>
          <p:nvPr/>
        </p:nvGrpSpPr>
        <p:grpSpPr>
          <a:xfrm>
            <a:off x="1642173" y="3670624"/>
            <a:ext cx="2409999" cy="418764"/>
            <a:chOff x="1642173" y="3670624"/>
            <a:chExt cx="2409999" cy="418764"/>
          </a:xfrm>
        </p:grpSpPr>
        <p:sp>
          <p:nvSpPr>
            <p:cNvPr id="7" name="Forma Livre: Forma 6">
              <a:extLst>
                <a:ext uri="{FF2B5EF4-FFF2-40B4-BE49-F238E27FC236}">
                  <a16:creationId xmlns:a16="http://schemas.microsoft.com/office/drawing/2014/main" id="{792C0E82-C5F9-DAE4-50B2-4381C2D61621}"/>
                </a:ext>
              </a:extLst>
            </p:cNvPr>
            <p:cNvSpPr/>
            <p:nvPr/>
          </p:nvSpPr>
          <p:spPr bwMode="auto">
            <a:xfrm rot="19430454">
              <a:off x="1642173" y="3670624"/>
              <a:ext cx="2240582" cy="181952"/>
            </a:xfrm>
            <a:custGeom>
              <a:avLst/>
              <a:gdLst>
                <a:gd name="connsiteX0" fmla="*/ 0 w 2422713"/>
                <a:gd name="connsiteY0" fmla="*/ 34630 h 298050"/>
                <a:gd name="connsiteX1" fmla="*/ 1141486 w 2422713"/>
                <a:gd name="connsiteY1" fmla="*/ 182993 h 298050"/>
                <a:gd name="connsiteX2" fmla="*/ 2240582 w 2422713"/>
                <a:gd name="connsiteY2" fmla="*/ 1324 h 298050"/>
                <a:gd name="connsiteX3" fmla="*/ 2410140 w 2422713"/>
                <a:gd name="connsiteY3" fmla="*/ 298050 h 298050"/>
                <a:gd name="connsiteX0" fmla="*/ 0 w 2240582"/>
                <a:gd name="connsiteY0" fmla="*/ 34630 h 183276"/>
                <a:gd name="connsiteX1" fmla="*/ 1141486 w 2240582"/>
                <a:gd name="connsiteY1" fmla="*/ 182993 h 183276"/>
                <a:gd name="connsiteX2" fmla="*/ 2240582 w 2240582"/>
                <a:gd name="connsiteY2" fmla="*/ 1324 h 183276"/>
                <a:gd name="connsiteX0" fmla="*/ 0 w 2240582"/>
                <a:gd name="connsiteY0" fmla="*/ 33306 h 181952"/>
                <a:gd name="connsiteX1" fmla="*/ 1141486 w 2240582"/>
                <a:gd name="connsiteY1" fmla="*/ 181669 h 181952"/>
                <a:gd name="connsiteX2" fmla="*/ 2240582 w 2240582"/>
                <a:gd name="connsiteY2" fmla="*/ 0 h 181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40582" h="181952">
                  <a:moveTo>
                    <a:pt x="0" y="33306"/>
                  </a:moveTo>
                  <a:cubicBezTo>
                    <a:pt x="384028" y="110263"/>
                    <a:pt x="768056" y="187220"/>
                    <a:pt x="1141486" y="181669"/>
                  </a:cubicBezTo>
                  <a:cubicBezTo>
                    <a:pt x="1514916" y="176118"/>
                    <a:pt x="1850499" y="86797"/>
                    <a:pt x="2240582" y="0"/>
                  </a:cubicBezTo>
                </a:path>
              </a:pathLst>
            </a:cu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</a:endParaRPr>
            </a:p>
          </p:txBody>
        </p:sp>
        <p:sp>
          <p:nvSpPr>
            <p:cNvPr id="8" name="Forma Livre: Forma 7">
              <a:extLst>
                <a:ext uri="{FF2B5EF4-FFF2-40B4-BE49-F238E27FC236}">
                  <a16:creationId xmlns:a16="http://schemas.microsoft.com/office/drawing/2014/main" id="{FA20E16C-0ABB-134C-5681-C1F0C8AAABF0}"/>
                </a:ext>
              </a:extLst>
            </p:cNvPr>
            <p:cNvSpPr/>
            <p:nvPr/>
          </p:nvSpPr>
          <p:spPr bwMode="auto">
            <a:xfrm rot="8630454">
              <a:off x="1811590" y="3907436"/>
              <a:ext cx="2240582" cy="181952"/>
            </a:xfrm>
            <a:custGeom>
              <a:avLst/>
              <a:gdLst>
                <a:gd name="connsiteX0" fmla="*/ 0 w 2422713"/>
                <a:gd name="connsiteY0" fmla="*/ 34630 h 298050"/>
                <a:gd name="connsiteX1" fmla="*/ 1141486 w 2422713"/>
                <a:gd name="connsiteY1" fmla="*/ 182993 h 298050"/>
                <a:gd name="connsiteX2" fmla="*/ 2240582 w 2422713"/>
                <a:gd name="connsiteY2" fmla="*/ 1324 h 298050"/>
                <a:gd name="connsiteX3" fmla="*/ 2410140 w 2422713"/>
                <a:gd name="connsiteY3" fmla="*/ 298050 h 298050"/>
                <a:gd name="connsiteX0" fmla="*/ 0 w 2240582"/>
                <a:gd name="connsiteY0" fmla="*/ 34630 h 183276"/>
                <a:gd name="connsiteX1" fmla="*/ 1141486 w 2240582"/>
                <a:gd name="connsiteY1" fmla="*/ 182993 h 183276"/>
                <a:gd name="connsiteX2" fmla="*/ 2240582 w 2240582"/>
                <a:gd name="connsiteY2" fmla="*/ 1324 h 183276"/>
                <a:gd name="connsiteX0" fmla="*/ 0 w 2240582"/>
                <a:gd name="connsiteY0" fmla="*/ 33306 h 181952"/>
                <a:gd name="connsiteX1" fmla="*/ 1141486 w 2240582"/>
                <a:gd name="connsiteY1" fmla="*/ 181669 h 181952"/>
                <a:gd name="connsiteX2" fmla="*/ 2240582 w 2240582"/>
                <a:gd name="connsiteY2" fmla="*/ 0 h 181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40582" h="181952">
                  <a:moveTo>
                    <a:pt x="0" y="33306"/>
                  </a:moveTo>
                  <a:cubicBezTo>
                    <a:pt x="384028" y="110263"/>
                    <a:pt x="768056" y="187220"/>
                    <a:pt x="1141486" y="181669"/>
                  </a:cubicBezTo>
                  <a:cubicBezTo>
                    <a:pt x="1514916" y="176118"/>
                    <a:pt x="1850499" y="86797"/>
                    <a:pt x="2240582" y="0"/>
                  </a:cubicBezTo>
                </a:path>
              </a:pathLst>
            </a:cu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 err="1"/>
              <a:t>Particionamento</a:t>
            </a:r>
            <a:r>
              <a:rPr lang="pt-BR" dirty="0"/>
              <a:t> do Erro</a:t>
            </a:r>
          </a:p>
        </p:txBody>
      </p:sp>
      <p:sp>
        <p:nvSpPr>
          <p:cNvPr id="21512" name="Rectangle 118"/>
          <p:cNvSpPr>
            <a:spLocks noChangeAspect="1" noChangeArrowheads="1"/>
          </p:cNvSpPr>
          <p:nvPr/>
        </p:nvSpPr>
        <p:spPr bwMode="auto">
          <a:xfrm>
            <a:off x="869950" y="1657350"/>
            <a:ext cx="3479800" cy="41449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1514" name="Line 121"/>
          <p:cNvSpPr>
            <a:spLocks noChangeAspect="1" noChangeShapeType="1"/>
          </p:cNvSpPr>
          <p:nvPr/>
        </p:nvSpPr>
        <p:spPr bwMode="auto">
          <a:xfrm flipV="1">
            <a:off x="1060450" y="1851025"/>
            <a:ext cx="3284538" cy="36639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21517" name="Group 124"/>
          <p:cNvGrpSpPr>
            <a:grpSpLocks/>
          </p:cNvGrpSpPr>
          <p:nvPr/>
        </p:nvGrpSpPr>
        <p:grpSpPr bwMode="auto">
          <a:xfrm>
            <a:off x="784225" y="5722938"/>
            <a:ext cx="3498850" cy="369887"/>
            <a:chOff x="3407" y="3786"/>
            <a:chExt cx="2204" cy="233"/>
          </a:xfrm>
        </p:grpSpPr>
        <p:sp>
          <p:nvSpPr>
            <p:cNvPr id="21543" name="Line 125"/>
            <p:cNvSpPr>
              <a:spLocks noChangeAspect="1" noChangeShapeType="1"/>
            </p:cNvSpPr>
            <p:nvPr/>
          </p:nvSpPr>
          <p:spPr bwMode="auto">
            <a:xfrm>
              <a:off x="3748" y="3790"/>
              <a:ext cx="0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4" name="Line 126"/>
            <p:cNvSpPr>
              <a:spLocks noChangeAspect="1" noChangeShapeType="1"/>
            </p:cNvSpPr>
            <p:nvPr/>
          </p:nvSpPr>
          <p:spPr bwMode="auto">
            <a:xfrm>
              <a:off x="4313" y="3790"/>
              <a:ext cx="0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5" name="Line 127"/>
            <p:cNvSpPr>
              <a:spLocks noChangeAspect="1" noChangeShapeType="1"/>
            </p:cNvSpPr>
            <p:nvPr/>
          </p:nvSpPr>
          <p:spPr bwMode="auto">
            <a:xfrm>
              <a:off x="4591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6" name="Line 128"/>
            <p:cNvSpPr>
              <a:spLocks noChangeAspect="1" noChangeShapeType="1"/>
            </p:cNvSpPr>
            <p:nvPr/>
          </p:nvSpPr>
          <p:spPr bwMode="auto">
            <a:xfrm>
              <a:off x="4017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7" name="Line 129"/>
            <p:cNvSpPr>
              <a:spLocks noChangeAspect="1" noChangeShapeType="1"/>
            </p:cNvSpPr>
            <p:nvPr/>
          </p:nvSpPr>
          <p:spPr bwMode="auto">
            <a:xfrm>
              <a:off x="4851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8" name="Line 130"/>
            <p:cNvSpPr>
              <a:spLocks noChangeAspect="1" noChangeShapeType="1"/>
            </p:cNvSpPr>
            <p:nvPr/>
          </p:nvSpPr>
          <p:spPr bwMode="auto">
            <a:xfrm>
              <a:off x="5138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9" name="Line 131"/>
            <p:cNvSpPr>
              <a:spLocks noChangeAspect="1" noChangeShapeType="1"/>
            </p:cNvSpPr>
            <p:nvPr/>
          </p:nvSpPr>
          <p:spPr bwMode="auto">
            <a:xfrm>
              <a:off x="5433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50" name="Rectangle 132"/>
            <p:cNvSpPr>
              <a:spLocks noChangeAspect="1" noChangeArrowheads="1"/>
            </p:cNvSpPr>
            <p:nvPr/>
          </p:nvSpPr>
          <p:spPr bwMode="auto">
            <a:xfrm>
              <a:off x="3589" y="3804"/>
              <a:ext cx="69" cy="7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21551" name="Group 133"/>
            <p:cNvGrpSpPr>
              <a:grpSpLocks noChangeAspect="1"/>
            </p:cNvGrpSpPr>
            <p:nvPr/>
          </p:nvGrpSpPr>
          <p:grpSpPr bwMode="auto">
            <a:xfrm>
              <a:off x="3581" y="3804"/>
              <a:ext cx="79" cy="48"/>
              <a:chOff x="579" y="2508"/>
              <a:chExt cx="54" cy="30"/>
            </a:xfrm>
          </p:grpSpPr>
          <p:sp>
            <p:nvSpPr>
              <p:cNvPr id="21553" name="Line 134"/>
              <p:cNvSpPr>
                <a:spLocks noChangeAspect="1" noChangeShapeType="1"/>
              </p:cNvSpPr>
              <p:nvPr/>
            </p:nvSpPr>
            <p:spPr bwMode="auto">
              <a:xfrm>
                <a:off x="609" y="2508"/>
                <a:ext cx="0" cy="3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54" name="Line 135"/>
              <p:cNvSpPr>
                <a:spLocks noChangeAspect="1" noChangeShapeType="1"/>
              </p:cNvSpPr>
              <p:nvPr/>
            </p:nvSpPr>
            <p:spPr bwMode="auto">
              <a:xfrm flipH="1">
                <a:off x="609" y="2517"/>
                <a:ext cx="24" cy="1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55" name="Line 136"/>
              <p:cNvSpPr>
                <a:spLocks noChangeAspect="1" noChangeShapeType="1"/>
              </p:cNvSpPr>
              <p:nvPr/>
            </p:nvSpPr>
            <p:spPr bwMode="auto">
              <a:xfrm flipH="1">
                <a:off x="579" y="2511"/>
                <a:ext cx="24" cy="2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1552" name="Text Box 137"/>
            <p:cNvSpPr txBox="1">
              <a:spLocks noChangeAspect="1" noChangeArrowheads="1"/>
            </p:cNvSpPr>
            <p:nvPr/>
          </p:nvSpPr>
          <p:spPr bwMode="auto">
            <a:xfrm>
              <a:off x="3407" y="3788"/>
              <a:ext cx="2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0     20           40           60            80 </a:t>
              </a:r>
            </a:p>
          </p:txBody>
        </p:sp>
      </p:grpSp>
      <p:sp>
        <p:nvSpPr>
          <p:cNvPr id="21518" name="Text Box 141"/>
          <p:cNvSpPr txBox="1">
            <a:spLocks noChangeAspect="1" noChangeArrowheads="1"/>
          </p:cNvSpPr>
          <p:nvPr/>
        </p:nvSpPr>
        <p:spPr bwMode="auto">
          <a:xfrm>
            <a:off x="4211638" y="5949950"/>
            <a:ext cx="339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X</a:t>
            </a:r>
          </a:p>
        </p:txBody>
      </p:sp>
      <p:sp>
        <p:nvSpPr>
          <p:cNvPr id="21519" name="Text Box 142"/>
          <p:cNvSpPr txBox="1">
            <a:spLocks noChangeAspect="1" noChangeArrowheads="1"/>
          </p:cNvSpPr>
          <p:nvPr/>
        </p:nvSpPr>
        <p:spPr bwMode="auto">
          <a:xfrm>
            <a:off x="473075" y="1460500"/>
            <a:ext cx="325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Y</a:t>
            </a:r>
          </a:p>
        </p:txBody>
      </p:sp>
      <p:grpSp>
        <p:nvGrpSpPr>
          <p:cNvPr id="21524" name="Group 240"/>
          <p:cNvGrpSpPr>
            <a:grpSpLocks/>
          </p:cNvGrpSpPr>
          <p:nvPr/>
        </p:nvGrpSpPr>
        <p:grpSpPr bwMode="auto">
          <a:xfrm>
            <a:off x="1476375" y="5141913"/>
            <a:ext cx="1797050" cy="447675"/>
            <a:chOff x="930" y="3239"/>
            <a:chExt cx="1132" cy="282"/>
          </a:xfrm>
        </p:grpSpPr>
        <p:sp>
          <p:nvSpPr>
            <p:cNvPr id="21541" name="Line 139"/>
            <p:cNvSpPr>
              <a:spLocks noChangeAspect="1" noChangeShapeType="1"/>
            </p:cNvSpPr>
            <p:nvPr/>
          </p:nvSpPr>
          <p:spPr bwMode="auto">
            <a:xfrm flipH="1" flipV="1">
              <a:off x="930" y="3268"/>
              <a:ext cx="302" cy="10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42" name="Object 223"/>
            <p:cNvGraphicFramePr>
              <a:graphicFrameLocks noChangeAspect="1"/>
            </p:cNvGraphicFramePr>
            <p:nvPr/>
          </p:nvGraphicFramePr>
          <p:xfrm>
            <a:off x="1260" y="3239"/>
            <a:ext cx="802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799753" imgH="253890" progId="Equation.3">
                    <p:embed/>
                  </p:oleObj>
                </mc:Choice>
                <mc:Fallback>
                  <p:oleObj name="Equation" r:id="rId2" imgW="799753" imgH="253890" progId="Equation.3">
                    <p:embed/>
                    <p:pic>
                      <p:nvPicPr>
                        <p:cNvPr id="21542" name="Object 2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60" y="3239"/>
                          <a:ext cx="802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1" name="Group 251"/>
          <p:cNvGrpSpPr>
            <a:grpSpLocks/>
          </p:cNvGrpSpPr>
          <p:nvPr/>
        </p:nvGrpSpPr>
        <p:grpSpPr bwMode="auto">
          <a:xfrm>
            <a:off x="1476375" y="2205038"/>
            <a:ext cx="2735263" cy="3168650"/>
            <a:chOff x="930" y="1389"/>
            <a:chExt cx="1723" cy="1996"/>
          </a:xfrm>
        </p:grpSpPr>
        <p:sp>
          <p:nvSpPr>
            <p:cNvPr id="21529" name="Oval 241"/>
            <p:cNvSpPr>
              <a:spLocks noChangeAspect="1" noChangeArrowheads="1"/>
            </p:cNvSpPr>
            <p:nvPr/>
          </p:nvSpPr>
          <p:spPr bwMode="auto">
            <a:xfrm>
              <a:off x="1791" y="1933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0" name="Oval 242"/>
            <p:cNvSpPr>
              <a:spLocks noChangeAspect="1" noChangeArrowheads="1"/>
            </p:cNvSpPr>
            <p:nvPr/>
          </p:nvSpPr>
          <p:spPr bwMode="auto">
            <a:xfrm>
              <a:off x="1701" y="2432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1" name="Oval 243"/>
            <p:cNvSpPr>
              <a:spLocks noChangeAspect="1" noChangeArrowheads="1"/>
            </p:cNvSpPr>
            <p:nvPr/>
          </p:nvSpPr>
          <p:spPr bwMode="auto">
            <a:xfrm>
              <a:off x="1247" y="2568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2" name="Oval 244"/>
            <p:cNvSpPr>
              <a:spLocks noChangeAspect="1" noChangeArrowheads="1"/>
            </p:cNvSpPr>
            <p:nvPr/>
          </p:nvSpPr>
          <p:spPr bwMode="auto">
            <a:xfrm>
              <a:off x="1383" y="2830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3" name="Oval 245"/>
            <p:cNvSpPr>
              <a:spLocks noChangeAspect="1" noChangeArrowheads="1"/>
            </p:cNvSpPr>
            <p:nvPr/>
          </p:nvSpPr>
          <p:spPr bwMode="auto">
            <a:xfrm>
              <a:off x="930" y="2966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4" name="Oval 246"/>
            <p:cNvSpPr>
              <a:spLocks noChangeAspect="1" noChangeArrowheads="1"/>
            </p:cNvSpPr>
            <p:nvPr/>
          </p:nvSpPr>
          <p:spPr bwMode="auto">
            <a:xfrm>
              <a:off x="930" y="3329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5" name="Oval 247"/>
            <p:cNvSpPr>
              <a:spLocks noChangeAspect="1" noChangeArrowheads="1"/>
            </p:cNvSpPr>
            <p:nvPr/>
          </p:nvSpPr>
          <p:spPr bwMode="auto">
            <a:xfrm>
              <a:off x="2179" y="1933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6" name="Oval 248"/>
            <p:cNvSpPr>
              <a:spLocks noChangeAspect="1" noChangeArrowheads="1"/>
            </p:cNvSpPr>
            <p:nvPr/>
          </p:nvSpPr>
          <p:spPr bwMode="auto">
            <a:xfrm>
              <a:off x="2406" y="1389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7" name="Oval 249"/>
            <p:cNvSpPr>
              <a:spLocks noChangeAspect="1" noChangeArrowheads="1"/>
            </p:cNvSpPr>
            <p:nvPr/>
          </p:nvSpPr>
          <p:spPr bwMode="auto">
            <a:xfrm>
              <a:off x="2587" y="1389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8" name="Oval 250"/>
            <p:cNvSpPr>
              <a:spLocks noChangeAspect="1" noChangeArrowheads="1"/>
            </p:cNvSpPr>
            <p:nvPr/>
          </p:nvSpPr>
          <p:spPr bwMode="auto">
            <a:xfrm>
              <a:off x="2134" y="1471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BCA48A3-6665-498E-8B71-E163EC5620E4}" type="slidenum">
              <a:rPr lang="pt-BR"/>
              <a:pPr>
                <a:defRPr/>
              </a:pPr>
              <a:t>27</a:t>
            </a:fld>
            <a:endParaRPr lang="pt-BR"/>
          </a:p>
        </p:txBody>
      </p:sp>
      <p:sp>
        <p:nvSpPr>
          <p:cNvPr id="61" name="Rectangle 9"/>
          <p:cNvSpPr txBox="1">
            <a:spLocks noChangeArrowheads="1"/>
          </p:cNvSpPr>
          <p:nvPr/>
        </p:nvSpPr>
        <p:spPr bwMode="auto">
          <a:xfrm>
            <a:off x="4716016" y="1529557"/>
            <a:ext cx="4032448" cy="9040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Assim como na Análise de Variância, na Análise de Regressão podemos analisar o erro (ou resíduo) sob diferentes aspectos...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39"/>
          <p:cNvGrpSpPr>
            <a:grpSpLocks/>
          </p:cNvGrpSpPr>
          <p:nvPr/>
        </p:nvGrpSpPr>
        <p:grpSpPr bwMode="auto">
          <a:xfrm>
            <a:off x="3332163" y="2278063"/>
            <a:ext cx="1057275" cy="1522412"/>
            <a:chOff x="2099" y="1435"/>
            <a:chExt cx="666" cy="959"/>
          </a:xfrm>
        </p:grpSpPr>
        <p:graphicFrame>
          <p:nvGraphicFramePr>
            <p:cNvPr id="21566" name="Object 202"/>
            <p:cNvGraphicFramePr>
              <a:graphicFrameLocks noChangeAspect="1"/>
            </p:cNvGraphicFramePr>
            <p:nvPr/>
          </p:nvGraphicFramePr>
          <p:xfrm>
            <a:off x="2099" y="1435"/>
            <a:ext cx="293" cy="9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" imgW="164885" imgH="215619" progId="Equation.3">
                    <p:embed/>
                  </p:oleObj>
                </mc:Choice>
                <mc:Fallback>
                  <p:oleObj name="Equação" r:id="rId2" imgW="164885" imgH="215619" progId="Equation.3">
                    <p:embed/>
                    <p:pic>
                      <p:nvPicPr>
                        <p:cNvPr id="21566" name="Object 20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99" y="1435"/>
                          <a:ext cx="293" cy="9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567" name="Object 229"/>
            <p:cNvGraphicFramePr>
              <a:graphicFrameLocks noChangeAspect="1"/>
            </p:cNvGraphicFramePr>
            <p:nvPr/>
          </p:nvGraphicFramePr>
          <p:xfrm>
            <a:off x="2357" y="1770"/>
            <a:ext cx="408" cy="26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406224" imgH="241195" progId="Equation.3">
                    <p:embed/>
                  </p:oleObj>
                </mc:Choice>
                <mc:Fallback>
                  <p:oleObj name="Equation" r:id="rId4" imgW="406224" imgH="241195" progId="Equation.3">
                    <p:embed/>
                    <p:pic>
                      <p:nvPicPr>
                        <p:cNvPr id="21567" name="Object 2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57" y="1770"/>
                          <a:ext cx="408" cy="26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" name="Group 230"/>
          <p:cNvGrpSpPr>
            <a:grpSpLocks/>
          </p:cNvGrpSpPr>
          <p:nvPr/>
        </p:nvGrpSpPr>
        <p:grpSpPr bwMode="auto">
          <a:xfrm>
            <a:off x="2395538" y="1628775"/>
            <a:ext cx="931862" cy="668338"/>
            <a:chOff x="1509" y="1026"/>
            <a:chExt cx="587" cy="421"/>
          </a:xfrm>
        </p:grpSpPr>
        <p:sp>
          <p:nvSpPr>
            <p:cNvPr id="21564" name="Text Box 143"/>
            <p:cNvSpPr txBox="1">
              <a:spLocks noChangeAspect="1" noChangeArrowheads="1"/>
            </p:cNvSpPr>
            <p:nvPr/>
          </p:nvSpPr>
          <p:spPr bwMode="auto">
            <a:xfrm>
              <a:off x="1509" y="1026"/>
              <a:ext cx="23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pt-BR" altLang="pt-BR" sz="2000" i="1" dirty="0">
                  <a:latin typeface="Times New Roman" charset="0"/>
                </a:rPr>
                <a:t>Y</a:t>
              </a:r>
              <a:r>
                <a:rPr lang="pt-BR" altLang="pt-BR" sz="2000" i="1" baseline="-25000" dirty="0">
                  <a:latin typeface="Times New Roman" charset="0"/>
                </a:rPr>
                <a:t>i</a:t>
              </a:r>
              <a:endParaRPr lang="pt-BR" altLang="pt-BR" sz="2000" i="1" dirty="0">
                <a:latin typeface="Times New Roman" charset="0"/>
              </a:endParaRPr>
            </a:p>
          </p:txBody>
        </p:sp>
        <p:sp>
          <p:nvSpPr>
            <p:cNvPr id="21565" name="Line 146"/>
            <p:cNvSpPr>
              <a:spLocks noChangeAspect="1" noChangeShapeType="1"/>
            </p:cNvSpPr>
            <p:nvPr/>
          </p:nvSpPr>
          <p:spPr bwMode="auto">
            <a:xfrm>
              <a:off x="1766" y="1255"/>
              <a:ext cx="330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231"/>
          <p:cNvGrpSpPr>
            <a:grpSpLocks/>
          </p:cNvGrpSpPr>
          <p:nvPr/>
        </p:nvGrpSpPr>
        <p:grpSpPr bwMode="auto">
          <a:xfrm>
            <a:off x="1331913" y="2060575"/>
            <a:ext cx="2222500" cy="811213"/>
            <a:chOff x="839" y="1298"/>
            <a:chExt cx="1400" cy="511"/>
          </a:xfrm>
        </p:grpSpPr>
        <p:graphicFrame>
          <p:nvGraphicFramePr>
            <p:cNvPr id="21561" name="Object 148"/>
            <p:cNvGraphicFramePr>
              <a:graphicFrameLocks noChangeAspect="1"/>
            </p:cNvGraphicFramePr>
            <p:nvPr/>
          </p:nvGraphicFramePr>
          <p:xfrm>
            <a:off x="2010" y="1483"/>
            <a:ext cx="229" cy="32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6" imgW="164885" imgH="215619" progId="Equation.3">
                    <p:embed/>
                  </p:oleObj>
                </mc:Choice>
                <mc:Fallback>
                  <p:oleObj name="Equação" r:id="rId6" imgW="164885" imgH="215619" progId="Equation.3">
                    <p:embed/>
                    <p:pic>
                      <p:nvPicPr>
                        <p:cNvPr id="21561" name="Object 14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10" y="1483"/>
                          <a:ext cx="229" cy="32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62" name="Line 163"/>
            <p:cNvSpPr>
              <a:spLocks noChangeAspect="1" noChangeShapeType="1"/>
            </p:cNvSpPr>
            <p:nvPr/>
          </p:nvSpPr>
          <p:spPr bwMode="auto">
            <a:xfrm rot="809128">
              <a:off x="1259" y="1533"/>
              <a:ext cx="75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63" name="Object 224"/>
            <p:cNvGraphicFramePr>
              <a:graphicFrameLocks noChangeAspect="1"/>
            </p:cNvGraphicFramePr>
            <p:nvPr/>
          </p:nvGraphicFramePr>
          <p:xfrm>
            <a:off x="839" y="1298"/>
            <a:ext cx="394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93529" imgH="253890" progId="Equation.3">
                    <p:embed/>
                  </p:oleObj>
                </mc:Choice>
                <mc:Fallback>
                  <p:oleObj name="Equation" r:id="rId8" imgW="393529" imgH="253890" progId="Equation.3">
                    <p:embed/>
                    <p:pic>
                      <p:nvPicPr>
                        <p:cNvPr id="21563" name="Object 2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39" y="1298"/>
                          <a:ext cx="394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5" name="Group 234"/>
          <p:cNvGrpSpPr>
            <a:grpSpLocks/>
          </p:cNvGrpSpPr>
          <p:nvPr/>
        </p:nvGrpSpPr>
        <p:grpSpPr bwMode="auto">
          <a:xfrm>
            <a:off x="1268413" y="2854325"/>
            <a:ext cx="2279650" cy="892175"/>
            <a:chOff x="799" y="1798"/>
            <a:chExt cx="1436" cy="562"/>
          </a:xfrm>
        </p:grpSpPr>
        <p:graphicFrame>
          <p:nvGraphicFramePr>
            <p:cNvPr id="21558" name="Object 210"/>
            <p:cNvGraphicFramePr>
              <a:graphicFrameLocks noChangeAspect="1"/>
            </p:cNvGraphicFramePr>
            <p:nvPr/>
          </p:nvGraphicFramePr>
          <p:xfrm>
            <a:off x="2006" y="1798"/>
            <a:ext cx="229" cy="5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0" imgW="164885" imgH="215619" progId="Equation.3">
                    <p:embed/>
                  </p:oleObj>
                </mc:Choice>
                <mc:Fallback>
                  <p:oleObj name="Equação" r:id="rId10" imgW="164885" imgH="215619" progId="Equation.3">
                    <p:embed/>
                    <p:pic>
                      <p:nvPicPr>
                        <p:cNvPr id="21558" name="Object 2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06" y="1798"/>
                          <a:ext cx="229" cy="5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59" name="Line 218"/>
            <p:cNvSpPr>
              <a:spLocks noChangeAspect="1" noChangeShapeType="1"/>
            </p:cNvSpPr>
            <p:nvPr/>
          </p:nvSpPr>
          <p:spPr bwMode="auto">
            <a:xfrm flipV="1">
              <a:off x="1218" y="2069"/>
              <a:ext cx="79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60" name="Object 225"/>
            <p:cNvGraphicFramePr>
              <a:graphicFrameLocks noChangeAspect="1"/>
            </p:cNvGraphicFramePr>
            <p:nvPr/>
          </p:nvGraphicFramePr>
          <p:xfrm>
            <a:off x="799" y="1933"/>
            <a:ext cx="407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406048" imgH="253780" progId="Equation.3">
                    <p:embed/>
                  </p:oleObj>
                </mc:Choice>
                <mc:Fallback>
                  <p:oleObj name="Equation" r:id="rId11" imgW="406048" imgH="253780" progId="Equation.3">
                    <p:embed/>
                    <p:pic>
                      <p:nvPicPr>
                        <p:cNvPr id="21560" name="Object 2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99" y="1933"/>
                          <a:ext cx="407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233"/>
          <p:cNvGrpSpPr>
            <a:grpSpLocks/>
          </p:cNvGrpSpPr>
          <p:nvPr/>
        </p:nvGrpSpPr>
        <p:grpSpPr bwMode="auto">
          <a:xfrm>
            <a:off x="1379538" y="2636838"/>
            <a:ext cx="1846262" cy="447675"/>
            <a:chOff x="869" y="1661"/>
            <a:chExt cx="1163" cy="282"/>
          </a:xfrm>
        </p:grpSpPr>
        <p:sp>
          <p:nvSpPr>
            <p:cNvPr id="21556" name="Line 162"/>
            <p:cNvSpPr>
              <a:spLocks noChangeAspect="1" noChangeShapeType="1"/>
            </p:cNvSpPr>
            <p:nvPr/>
          </p:nvSpPr>
          <p:spPr bwMode="auto">
            <a:xfrm>
              <a:off x="1053" y="1802"/>
              <a:ext cx="97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57" name="Object 226"/>
            <p:cNvGraphicFramePr>
              <a:graphicFrameLocks noChangeAspect="1"/>
            </p:cNvGraphicFramePr>
            <p:nvPr/>
          </p:nvGraphicFramePr>
          <p:xfrm>
            <a:off x="869" y="1661"/>
            <a:ext cx="153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152268" imgH="253780" progId="Equation.3">
                    <p:embed/>
                  </p:oleObj>
                </mc:Choice>
                <mc:Fallback>
                  <p:oleObj name="Equation" r:id="rId13" imgW="152268" imgH="253780" progId="Equation.3">
                    <p:embed/>
                    <p:pic>
                      <p:nvPicPr>
                        <p:cNvPr id="21557" name="Object 2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69" y="1661"/>
                          <a:ext cx="153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 err="1"/>
              <a:t>Particionamento</a:t>
            </a:r>
            <a:r>
              <a:rPr lang="pt-BR" dirty="0"/>
              <a:t> do Erro</a:t>
            </a:r>
          </a:p>
        </p:txBody>
      </p:sp>
      <p:sp>
        <p:nvSpPr>
          <p:cNvPr id="21512" name="Rectangle 118"/>
          <p:cNvSpPr>
            <a:spLocks noChangeAspect="1" noChangeArrowheads="1"/>
          </p:cNvSpPr>
          <p:nvPr/>
        </p:nvSpPr>
        <p:spPr bwMode="auto">
          <a:xfrm>
            <a:off x="869950" y="1657350"/>
            <a:ext cx="3479800" cy="41449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4696" name="Line 120"/>
          <p:cNvSpPr>
            <a:spLocks noChangeAspect="1" noChangeShapeType="1"/>
          </p:cNvSpPr>
          <p:nvPr/>
        </p:nvSpPr>
        <p:spPr bwMode="auto">
          <a:xfrm flipH="1">
            <a:off x="3424238" y="2335213"/>
            <a:ext cx="23812" cy="34702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1514" name="Line 121"/>
          <p:cNvSpPr>
            <a:spLocks noChangeAspect="1" noChangeShapeType="1"/>
          </p:cNvSpPr>
          <p:nvPr/>
        </p:nvSpPr>
        <p:spPr bwMode="auto">
          <a:xfrm flipV="1">
            <a:off x="1060450" y="1851025"/>
            <a:ext cx="3284538" cy="36639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4698" name="Rectangle 122"/>
          <p:cNvSpPr>
            <a:spLocks noChangeAspect="1" noChangeArrowheads="1"/>
          </p:cNvSpPr>
          <p:nvPr/>
        </p:nvSpPr>
        <p:spPr bwMode="auto">
          <a:xfrm>
            <a:off x="3371850" y="2790825"/>
            <a:ext cx="160338" cy="1000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4699" name="Oval 123"/>
          <p:cNvSpPr>
            <a:spLocks noChangeAspect="1" noChangeArrowheads="1"/>
          </p:cNvSpPr>
          <p:nvPr/>
        </p:nvSpPr>
        <p:spPr bwMode="auto">
          <a:xfrm>
            <a:off x="3397250" y="2332038"/>
            <a:ext cx="104775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1517" name="Group 124"/>
          <p:cNvGrpSpPr>
            <a:grpSpLocks/>
          </p:cNvGrpSpPr>
          <p:nvPr/>
        </p:nvGrpSpPr>
        <p:grpSpPr bwMode="auto">
          <a:xfrm>
            <a:off x="784225" y="5722938"/>
            <a:ext cx="3498850" cy="369887"/>
            <a:chOff x="3407" y="3786"/>
            <a:chExt cx="2204" cy="233"/>
          </a:xfrm>
        </p:grpSpPr>
        <p:sp>
          <p:nvSpPr>
            <p:cNvPr id="21543" name="Line 125"/>
            <p:cNvSpPr>
              <a:spLocks noChangeAspect="1" noChangeShapeType="1"/>
            </p:cNvSpPr>
            <p:nvPr/>
          </p:nvSpPr>
          <p:spPr bwMode="auto">
            <a:xfrm>
              <a:off x="3748" y="3790"/>
              <a:ext cx="0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4" name="Line 126"/>
            <p:cNvSpPr>
              <a:spLocks noChangeAspect="1" noChangeShapeType="1"/>
            </p:cNvSpPr>
            <p:nvPr/>
          </p:nvSpPr>
          <p:spPr bwMode="auto">
            <a:xfrm>
              <a:off x="4313" y="3790"/>
              <a:ext cx="0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5" name="Line 127"/>
            <p:cNvSpPr>
              <a:spLocks noChangeAspect="1" noChangeShapeType="1"/>
            </p:cNvSpPr>
            <p:nvPr/>
          </p:nvSpPr>
          <p:spPr bwMode="auto">
            <a:xfrm>
              <a:off x="4591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6" name="Line 128"/>
            <p:cNvSpPr>
              <a:spLocks noChangeAspect="1" noChangeShapeType="1"/>
            </p:cNvSpPr>
            <p:nvPr/>
          </p:nvSpPr>
          <p:spPr bwMode="auto">
            <a:xfrm>
              <a:off x="4017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7" name="Line 129"/>
            <p:cNvSpPr>
              <a:spLocks noChangeAspect="1" noChangeShapeType="1"/>
            </p:cNvSpPr>
            <p:nvPr/>
          </p:nvSpPr>
          <p:spPr bwMode="auto">
            <a:xfrm>
              <a:off x="4851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8" name="Line 130"/>
            <p:cNvSpPr>
              <a:spLocks noChangeAspect="1" noChangeShapeType="1"/>
            </p:cNvSpPr>
            <p:nvPr/>
          </p:nvSpPr>
          <p:spPr bwMode="auto">
            <a:xfrm>
              <a:off x="5138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9" name="Line 131"/>
            <p:cNvSpPr>
              <a:spLocks noChangeAspect="1" noChangeShapeType="1"/>
            </p:cNvSpPr>
            <p:nvPr/>
          </p:nvSpPr>
          <p:spPr bwMode="auto">
            <a:xfrm>
              <a:off x="5433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50" name="Rectangle 132"/>
            <p:cNvSpPr>
              <a:spLocks noChangeAspect="1" noChangeArrowheads="1"/>
            </p:cNvSpPr>
            <p:nvPr/>
          </p:nvSpPr>
          <p:spPr bwMode="auto">
            <a:xfrm>
              <a:off x="3589" y="3804"/>
              <a:ext cx="69" cy="7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21551" name="Group 133"/>
            <p:cNvGrpSpPr>
              <a:grpSpLocks noChangeAspect="1"/>
            </p:cNvGrpSpPr>
            <p:nvPr/>
          </p:nvGrpSpPr>
          <p:grpSpPr bwMode="auto">
            <a:xfrm>
              <a:off x="3581" y="3804"/>
              <a:ext cx="79" cy="48"/>
              <a:chOff x="579" y="2508"/>
              <a:chExt cx="54" cy="30"/>
            </a:xfrm>
          </p:grpSpPr>
          <p:sp>
            <p:nvSpPr>
              <p:cNvPr id="21553" name="Line 134"/>
              <p:cNvSpPr>
                <a:spLocks noChangeAspect="1" noChangeShapeType="1"/>
              </p:cNvSpPr>
              <p:nvPr/>
            </p:nvSpPr>
            <p:spPr bwMode="auto">
              <a:xfrm>
                <a:off x="609" y="2508"/>
                <a:ext cx="0" cy="3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54" name="Line 135"/>
              <p:cNvSpPr>
                <a:spLocks noChangeAspect="1" noChangeShapeType="1"/>
              </p:cNvSpPr>
              <p:nvPr/>
            </p:nvSpPr>
            <p:spPr bwMode="auto">
              <a:xfrm flipH="1">
                <a:off x="609" y="2517"/>
                <a:ext cx="24" cy="1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55" name="Line 136"/>
              <p:cNvSpPr>
                <a:spLocks noChangeAspect="1" noChangeShapeType="1"/>
              </p:cNvSpPr>
              <p:nvPr/>
            </p:nvSpPr>
            <p:spPr bwMode="auto">
              <a:xfrm flipH="1">
                <a:off x="579" y="2511"/>
                <a:ext cx="24" cy="2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1552" name="Text Box 137"/>
            <p:cNvSpPr txBox="1">
              <a:spLocks noChangeAspect="1" noChangeArrowheads="1"/>
            </p:cNvSpPr>
            <p:nvPr/>
          </p:nvSpPr>
          <p:spPr bwMode="auto">
            <a:xfrm>
              <a:off x="3407" y="3788"/>
              <a:ext cx="2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0     20           40           60            80 </a:t>
              </a:r>
            </a:p>
          </p:txBody>
        </p:sp>
      </p:grpSp>
      <p:sp>
        <p:nvSpPr>
          <p:cNvPr id="21518" name="Text Box 141"/>
          <p:cNvSpPr txBox="1">
            <a:spLocks noChangeAspect="1" noChangeArrowheads="1"/>
          </p:cNvSpPr>
          <p:nvPr/>
        </p:nvSpPr>
        <p:spPr bwMode="auto">
          <a:xfrm>
            <a:off x="4211638" y="5949950"/>
            <a:ext cx="339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X</a:t>
            </a:r>
          </a:p>
        </p:txBody>
      </p:sp>
      <p:sp>
        <p:nvSpPr>
          <p:cNvPr id="21519" name="Text Box 142"/>
          <p:cNvSpPr txBox="1">
            <a:spLocks noChangeAspect="1" noChangeArrowheads="1"/>
          </p:cNvSpPr>
          <p:nvPr/>
        </p:nvSpPr>
        <p:spPr bwMode="auto">
          <a:xfrm>
            <a:off x="473075" y="1460500"/>
            <a:ext cx="325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Y</a:t>
            </a:r>
          </a:p>
        </p:txBody>
      </p:sp>
      <p:sp>
        <p:nvSpPr>
          <p:cNvPr id="24796" name="Rectangle 220"/>
          <p:cNvSpPr>
            <a:spLocks noChangeArrowheads="1"/>
          </p:cNvSpPr>
          <p:nvPr/>
        </p:nvSpPr>
        <p:spPr bwMode="auto">
          <a:xfrm>
            <a:off x="4932040" y="5394702"/>
            <a:ext cx="304711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SQTO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   =       </a:t>
            </a:r>
            <a:r>
              <a:rPr lang="pt-BR" altLang="pt-BR" sz="1600" i="1" dirty="0" err="1">
                <a:latin typeface="Times New Roman" charset="0"/>
                <a:cs typeface="Times New Roman" charset="0"/>
              </a:rPr>
              <a:t>SQReg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     +     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SQE</a:t>
            </a:r>
          </a:p>
        </p:txBody>
      </p:sp>
      <p:grpSp>
        <p:nvGrpSpPr>
          <p:cNvPr id="21524" name="Group 240"/>
          <p:cNvGrpSpPr>
            <a:grpSpLocks/>
          </p:cNvGrpSpPr>
          <p:nvPr/>
        </p:nvGrpSpPr>
        <p:grpSpPr bwMode="auto">
          <a:xfrm>
            <a:off x="1476375" y="5141913"/>
            <a:ext cx="1797050" cy="447675"/>
            <a:chOff x="930" y="3239"/>
            <a:chExt cx="1132" cy="282"/>
          </a:xfrm>
        </p:grpSpPr>
        <p:sp>
          <p:nvSpPr>
            <p:cNvPr id="21541" name="Line 139"/>
            <p:cNvSpPr>
              <a:spLocks noChangeAspect="1" noChangeShapeType="1"/>
            </p:cNvSpPr>
            <p:nvPr/>
          </p:nvSpPr>
          <p:spPr bwMode="auto">
            <a:xfrm flipH="1" flipV="1">
              <a:off x="930" y="3268"/>
              <a:ext cx="302" cy="10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42" name="Object 223"/>
            <p:cNvGraphicFramePr>
              <a:graphicFrameLocks noChangeAspect="1"/>
            </p:cNvGraphicFramePr>
            <p:nvPr/>
          </p:nvGraphicFramePr>
          <p:xfrm>
            <a:off x="1260" y="3239"/>
            <a:ext cx="802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799753" imgH="253890" progId="Equation.3">
                    <p:embed/>
                  </p:oleObj>
                </mc:Choice>
                <mc:Fallback>
                  <p:oleObj name="Equation" r:id="rId15" imgW="799753" imgH="253890" progId="Equation.3">
                    <p:embed/>
                    <p:pic>
                      <p:nvPicPr>
                        <p:cNvPr id="21542" name="Object 2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60" y="3239"/>
                          <a:ext cx="802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0" name="Group 238"/>
          <p:cNvGrpSpPr>
            <a:grpSpLocks/>
          </p:cNvGrpSpPr>
          <p:nvPr/>
        </p:nvGrpSpPr>
        <p:grpSpPr bwMode="auto">
          <a:xfrm>
            <a:off x="582613" y="3516313"/>
            <a:ext cx="3784600" cy="336550"/>
            <a:chOff x="367" y="2215"/>
            <a:chExt cx="2384" cy="212"/>
          </a:xfrm>
        </p:grpSpPr>
        <p:sp>
          <p:nvSpPr>
            <p:cNvPr id="21539" name="Line 119"/>
            <p:cNvSpPr>
              <a:spLocks noChangeAspect="1" noChangeShapeType="1"/>
            </p:cNvSpPr>
            <p:nvPr/>
          </p:nvSpPr>
          <p:spPr bwMode="auto">
            <a:xfrm>
              <a:off x="548" y="2335"/>
              <a:ext cx="2203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40" name="Object 228"/>
            <p:cNvGraphicFramePr>
              <a:graphicFrameLocks noChangeAspect="1"/>
            </p:cNvGraphicFramePr>
            <p:nvPr/>
          </p:nvGraphicFramePr>
          <p:xfrm>
            <a:off x="367" y="2215"/>
            <a:ext cx="153" cy="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152334" imgH="190417" progId="Equation.3">
                    <p:embed/>
                  </p:oleObj>
                </mc:Choice>
                <mc:Fallback>
                  <p:oleObj name="Equation" r:id="rId17" imgW="152334" imgH="190417" progId="Equation.3">
                    <p:embed/>
                    <p:pic>
                      <p:nvPicPr>
                        <p:cNvPr id="21540" name="Object 22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67" y="2215"/>
                          <a:ext cx="153" cy="2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BCA48A3-6665-498E-8B71-E163EC5620E4}" type="slidenum">
              <a:rPr lang="pt-BR"/>
              <a:pPr>
                <a:defRPr/>
              </a:pPr>
              <a:t>28</a:t>
            </a:fld>
            <a:endParaRPr lang="pt-BR"/>
          </a:p>
        </p:txBody>
      </p:sp>
      <p:grpSp>
        <p:nvGrpSpPr>
          <p:cNvPr id="12" name="Grupo 11"/>
          <p:cNvGrpSpPr/>
          <p:nvPr/>
        </p:nvGrpSpPr>
        <p:grpSpPr>
          <a:xfrm>
            <a:off x="4427984" y="3553024"/>
            <a:ext cx="4355312" cy="452040"/>
            <a:chOff x="4427984" y="3553024"/>
            <a:chExt cx="4355312" cy="452040"/>
          </a:xfrm>
        </p:grpSpPr>
        <p:sp>
          <p:nvSpPr>
            <p:cNvPr id="62" name="Rectangle 9"/>
            <p:cNvSpPr txBox="1">
              <a:spLocks noChangeArrowheads="1"/>
            </p:cNvSpPr>
            <p:nvPr/>
          </p:nvSpPr>
          <p:spPr bwMode="auto">
            <a:xfrm>
              <a:off x="4750848" y="3553024"/>
              <a:ext cx="4032448" cy="4520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8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400">
                  <a:solidFill>
                    <a:schemeClr val="tx1"/>
                  </a:solidFill>
                  <a:latin typeface="+mn-lt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+mn-lt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9pPr>
            </a:lstStyle>
            <a:p>
              <a:pPr marL="177800" indent="-177800" eaLnBrk="1" hangingPunct="1">
                <a:buFontTx/>
                <a:buNone/>
                <a:defRPr/>
              </a:pPr>
              <a:r>
                <a:rPr lang="pt-BR" altLang="pt-BR" sz="1600" kern="0" dirty="0">
                  <a:latin typeface="Tahoma" panose="020B0604030504040204" pitchFamily="34" charset="0"/>
                </a:rPr>
                <a:t>Caso não existisse relação entre </a:t>
              </a: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kern="0" dirty="0">
                  <a:latin typeface="Tahoma" panose="020B0604030504040204" pitchFamily="34" charset="0"/>
                </a:rPr>
                <a:t> e </a:t>
              </a: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Y</a:t>
              </a:r>
            </a:p>
          </p:txBody>
        </p:sp>
        <p:cxnSp>
          <p:nvCxnSpPr>
            <p:cNvPr id="9" name="Conector de seta reta 8"/>
            <p:cNvCxnSpPr/>
            <p:nvPr/>
          </p:nvCxnSpPr>
          <p:spPr bwMode="auto">
            <a:xfrm flipH="1">
              <a:off x="4427984" y="3710296"/>
              <a:ext cx="36000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/>
              <p:cNvSpPr txBox="1"/>
              <p:nvPr/>
            </p:nvSpPr>
            <p:spPr>
              <a:xfrm>
                <a:off x="5103352" y="4077072"/>
                <a:ext cx="2699137" cy="3702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acc>
                        <m:accPr>
                          <m:chr m:val="̅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 smtClean="0">
                              <a:latin typeface="Cambria Math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𝑌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CaixaDeTexto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352" y="4077072"/>
                <a:ext cx="2699137" cy="370294"/>
              </a:xfrm>
              <a:prstGeom prst="rect">
                <a:avLst/>
              </a:prstGeom>
              <a:blipFill>
                <a:blip r:embed="rId19"/>
                <a:stretch>
                  <a:fillRect r="-20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CaixaDeTexto 66"/>
              <p:cNvSpPr txBox="1"/>
              <p:nvPr/>
            </p:nvSpPr>
            <p:spPr>
              <a:xfrm>
                <a:off x="4572000" y="4523900"/>
                <a:ext cx="3819892" cy="764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>
                              <a:latin typeface="Cambria Math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𝑌</m:t>
                              </m:r>
                            </m:e>
                          </m:acc>
                          <m:r>
                            <a:rPr lang="pt-BR" i="1">
                              <a:latin typeface="Cambria Math"/>
                            </a:rPr>
                            <m:t>)</m:t>
                          </m:r>
                          <m:r>
                            <a:rPr lang="pt-BR" i="1" baseline="30000">
                              <a:latin typeface="Cambria Math"/>
                            </a:rPr>
                            <m:t>2</m:t>
                          </m:r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  <m:r>
                            <a:rPr lang="pt-BR" b="0" i="1" baseline="30000" smtClean="0">
                              <a:latin typeface="Cambria Math"/>
                            </a:rPr>
                            <m:t>2</m:t>
                          </m:r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/>
                            </a:rPr>
                            <m:t>𝑖</m:t>
                          </m:r>
                          <m:r>
                            <a:rPr lang="pt-BR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t-BR" b="0" i="1" baseline="30000" smtClean="0">
                              <a:latin typeface="Cambria Math"/>
                            </a:rPr>
                            <m:t>2</m:t>
                          </m:r>
                        </m:e>
                      </m:nary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7" name="CaixaDeTexto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4523900"/>
                <a:ext cx="3819892" cy="76450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Rectangle 9"/>
          <p:cNvSpPr txBox="1">
            <a:spLocks noChangeArrowheads="1"/>
          </p:cNvSpPr>
          <p:nvPr/>
        </p:nvSpPr>
        <p:spPr bwMode="auto">
          <a:xfrm>
            <a:off x="4716016" y="1529557"/>
            <a:ext cx="4032448" cy="9040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Assim como na Análise de Variância, na Análise de Regressão podemos analisar o erro (ou resíduo) sob diferentes aspectos...</a:t>
            </a:r>
          </a:p>
        </p:txBody>
      </p:sp>
      <p:sp>
        <p:nvSpPr>
          <p:cNvPr id="56" name="Text Box 143"/>
          <p:cNvSpPr txBox="1">
            <a:spLocks noChangeAspect="1" noChangeArrowheads="1"/>
          </p:cNvSpPr>
          <p:nvPr/>
        </p:nvSpPr>
        <p:spPr bwMode="auto">
          <a:xfrm>
            <a:off x="3235016" y="5786769"/>
            <a:ext cx="38985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 dirty="0">
                <a:latin typeface="Times New Roman" charset="0"/>
              </a:rPr>
              <a:t>X</a:t>
            </a:r>
            <a:r>
              <a:rPr lang="pt-BR" altLang="pt-BR" sz="2000" i="1" baseline="-25000" dirty="0">
                <a:latin typeface="Times New Roman" charset="0"/>
              </a:rPr>
              <a:t>i</a:t>
            </a:r>
            <a:endParaRPr lang="pt-BR" altLang="pt-BR" sz="2000" i="1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345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696" grpId="0" animBg="1"/>
      <p:bldP spid="24698" grpId="0" animBg="1"/>
      <p:bldP spid="24796" grpId="0"/>
      <p:bldP spid="8" grpId="0"/>
      <p:bldP spid="67" grpId="0"/>
      <p:bldP spid="5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783634"/>
              </p:ext>
            </p:extLst>
          </p:nvPr>
        </p:nvGraphicFramePr>
        <p:xfrm>
          <a:off x="5386388" y="2874963"/>
          <a:ext cx="1205100" cy="3299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27000" imgH="253800" progId="Equation.DSMT4">
                  <p:embed/>
                </p:oleObj>
              </mc:Choice>
              <mc:Fallback>
                <p:oleObj name="Equation" r:id="rId2" imgW="927000" imgH="253800" progId="Equation.DSMT4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86388" y="2874963"/>
                        <a:ext cx="1205100" cy="32994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Objeto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3797788"/>
              </p:ext>
            </p:extLst>
          </p:nvPr>
        </p:nvGraphicFramePr>
        <p:xfrm>
          <a:off x="5364163" y="2139950"/>
          <a:ext cx="2839356" cy="5611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184120" imgH="431640" progId="Equation.DSMT4">
                  <p:embed/>
                </p:oleObj>
              </mc:Choice>
              <mc:Fallback>
                <p:oleObj name="Equation" r:id="rId4" imgW="2184120" imgH="431640" progId="Equation.DSMT4">
                  <p:embed/>
                  <p:pic>
                    <p:nvPicPr>
                      <p:cNvPr id="38" name="Objeto 37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64163" y="2139950"/>
                        <a:ext cx="2839356" cy="56113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" name="Objeto 3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660347"/>
              </p:ext>
            </p:extLst>
          </p:nvPr>
        </p:nvGraphicFramePr>
        <p:xfrm>
          <a:off x="2459038" y="4386585"/>
          <a:ext cx="2251075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270000" imgH="419100" progId="Equation.3">
                  <p:embed/>
                </p:oleObj>
              </mc:Choice>
              <mc:Fallback>
                <p:oleObj name="Equação" r:id="rId6" imgW="1270000" imgH="419100" progId="Equation.3">
                  <p:embed/>
                  <p:pic>
                    <p:nvPicPr>
                      <p:cNvPr id="40" name="Objeto 39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59038" y="4386585"/>
                        <a:ext cx="2251075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3558" name="Group 110"/>
          <p:cNvGrpSpPr>
            <a:grpSpLocks/>
          </p:cNvGrpSpPr>
          <p:nvPr/>
        </p:nvGrpSpPr>
        <p:grpSpPr bwMode="auto">
          <a:xfrm>
            <a:off x="304801" y="1431925"/>
            <a:ext cx="5075238" cy="2622550"/>
            <a:chOff x="571" y="1378"/>
            <a:chExt cx="3197" cy="1652"/>
          </a:xfrm>
        </p:grpSpPr>
        <p:graphicFrame>
          <p:nvGraphicFramePr>
            <p:cNvPr id="23584" name="Object 11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27498543"/>
                </p:ext>
              </p:extLst>
            </p:nvPr>
          </p:nvGraphicFramePr>
          <p:xfrm>
            <a:off x="571" y="1378"/>
            <a:ext cx="3197" cy="165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ocument" r:id="rId8" imgW="5677264" imgH="2927625" progId="Word.Document.8">
                    <p:embed/>
                  </p:oleObj>
                </mc:Choice>
                <mc:Fallback>
                  <p:oleObj name="Document" r:id="rId8" imgW="5677264" imgH="2927625" progId="Word.Document.8">
                    <p:embed/>
                    <p:pic>
                      <p:nvPicPr>
                        <p:cNvPr id="23584" name="Object 1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1" y="1378"/>
                          <a:ext cx="3197" cy="165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5" name="Object 112"/>
            <p:cNvGraphicFramePr>
              <a:graphicFrameLocks/>
            </p:cNvGraphicFramePr>
            <p:nvPr/>
          </p:nvGraphicFramePr>
          <p:xfrm>
            <a:off x="1413" y="1806"/>
            <a:ext cx="605" cy="3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0" imgW="736600" imgH="431800" progId="Equation.3">
                    <p:embed/>
                  </p:oleObj>
                </mc:Choice>
                <mc:Fallback>
                  <p:oleObj name="Equação" r:id="rId10" imgW="736600" imgH="431800" progId="Equation.3">
                    <p:embed/>
                    <p:pic>
                      <p:nvPicPr>
                        <p:cNvPr id="23585" name="Object 112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13" y="1806"/>
                          <a:ext cx="605" cy="3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6" name="Object 113"/>
            <p:cNvGraphicFramePr>
              <a:graphicFrameLocks/>
            </p:cNvGraphicFramePr>
            <p:nvPr/>
          </p:nvGraphicFramePr>
          <p:xfrm>
            <a:off x="1388" y="2214"/>
            <a:ext cx="630" cy="3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749160" imgH="431640" progId="Equation.DSMT4">
                    <p:embed/>
                  </p:oleObj>
                </mc:Choice>
                <mc:Fallback>
                  <p:oleObj name="Equation" r:id="rId12" imgW="749160" imgH="431640" progId="Equation.DSMT4">
                    <p:embed/>
                    <p:pic>
                      <p:nvPicPr>
                        <p:cNvPr id="23586" name="Object 113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88" y="2214"/>
                          <a:ext cx="630" cy="3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7" name="Object 114"/>
            <p:cNvGraphicFramePr>
              <a:graphicFrameLocks/>
            </p:cNvGraphicFramePr>
            <p:nvPr/>
          </p:nvGraphicFramePr>
          <p:xfrm>
            <a:off x="1413" y="2577"/>
            <a:ext cx="605" cy="3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4" imgW="736600" imgH="431800" progId="Equation.3">
                    <p:embed/>
                  </p:oleObj>
                </mc:Choice>
                <mc:Fallback>
                  <p:oleObj name="Equação" r:id="rId14" imgW="736600" imgH="431800" progId="Equation.3">
                    <p:embed/>
                    <p:pic>
                      <p:nvPicPr>
                        <p:cNvPr id="23587" name="Object 11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13" y="2577"/>
                          <a:ext cx="605" cy="3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8" name="Object 115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749800133"/>
                </p:ext>
              </p:extLst>
            </p:nvPr>
          </p:nvGraphicFramePr>
          <p:xfrm>
            <a:off x="2890" y="1797"/>
            <a:ext cx="605" cy="3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6" imgW="736600" imgH="431800" progId="Equation.3">
                    <p:embed/>
                  </p:oleObj>
                </mc:Choice>
                <mc:Fallback>
                  <p:oleObj name="Equação" r:id="rId16" imgW="736600" imgH="431800" progId="Equation.3">
                    <p:embed/>
                    <p:pic>
                      <p:nvPicPr>
                        <p:cNvPr id="23588" name="Object 115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90" y="1797"/>
                          <a:ext cx="605" cy="3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9" name="Object 116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954239629"/>
                </p:ext>
              </p:extLst>
            </p:nvPr>
          </p:nvGraphicFramePr>
          <p:xfrm>
            <a:off x="2895" y="2160"/>
            <a:ext cx="636" cy="50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774360" imgH="609480" progId="Equation.DSMT4">
                    <p:embed/>
                  </p:oleObj>
                </mc:Choice>
                <mc:Fallback>
                  <p:oleObj name="Equation" r:id="rId17" imgW="774360" imgH="609480" progId="Equation.DSMT4">
                    <p:embed/>
                    <p:pic>
                      <p:nvPicPr>
                        <p:cNvPr id="23589" name="Object 116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95" y="2160"/>
                          <a:ext cx="636" cy="50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ANOVA x Análise de Regressão</a:t>
            </a:r>
          </a:p>
        </p:txBody>
      </p:sp>
      <p:sp>
        <p:nvSpPr>
          <p:cNvPr id="35" name="Retângulo 34"/>
          <p:cNvSpPr>
            <a:spLocks noChangeArrowheads="1"/>
          </p:cNvSpPr>
          <p:nvPr/>
        </p:nvSpPr>
        <p:spPr bwMode="auto">
          <a:xfrm>
            <a:off x="2397125" y="3953198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grpSp>
        <p:nvGrpSpPr>
          <p:cNvPr id="47" name="Grupo 34"/>
          <p:cNvGrpSpPr>
            <a:grpSpLocks/>
          </p:cNvGrpSpPr>
          <p:nvPr/>
        </p:nvGrpSpPr>
        <p:grpSpPr bwMode="auto">
          <a:xfrm>
            <a:off x="179512" y="4869160"/>
            <a:ext cx="5715000" cy="917575"/>
            <a:chOff x="714348" y="5940449"/>
            <a:chExt cx="5715000" cy="917575"/>
          </a:xfrm>
        </p:grpSpPr>
        <p:sp>
          <p:nvSpPr>
            <p:cNvPr id="23582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23583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P(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grpSp>
        <p:nvGrpSpPr>
          <p:cNvPr id="60" name="Group 129"/>
          <p:cNvGrpSpPr>
            <a:grpSpLocks/>
          </p:cNvGrpSpPr>
          <p:nvPr/>
        </p:nvGrpSpPr>
        <p:grpSpPr bwMode="auto">
          <a:xfrm>
            <a:off x="5983288" y="4353619"/>
            <a:ext cx="1735137" cy="1309688"/>
            <a:chOff x="4160" y="3377"/>
            <a:chExt cx="1093" cy="825"/>
          </a:xfrm>
        </p:grpSpPr>
        <p:grpSp>
          <p:nvGrpSpPr>
            <p:cNvPr id="23571" name="Group 130"/>
            <p:cNvGrpSpPr>
              <a:grpSpLocks/>
            </p:cNvGrpSpPr>
            <p:nvPr/>
          </p:nvGrpSpPr>
          <p:grpSpPr bwMode="auto">
            <a:xfrm>
              <a:off x="4572" y="3377"/>
              <a:ext cx="543" cy="597"/>
              <a:chOff x="4572" y="3377"/>
              <a:chExt cx="543" cy="597"/>
            </a:xfrm>
          </p:grpSpPr>
          <p:grpSp>
            <p:nvGrpSpPr>
              <p:cNvPr id="23578" name="Group 131"/>
              <p:cNvGrpSpPr>
                <a:grpSpLocks/>
              </p:cNvGrpSpPr>
              <p:nvPr/>
            </p:nvGrpSpPr>
            <p:grpSpPr bwMode="auto">
              <a:xfrm>
                <a:off x="4683" y="3377"/>
                <a:ext cx="432" cy="367"/>
                <a:chOff x="4683" y="3377"/>
                <a:chExt cx="432" cy="367"/>
              </a:xfrm>
            </p:grpSpPr>
            <p:sp>
              <p:nvSpPr>
                <p:cNvPr id="23580" name="Freeform 132" descr="Diagonal para cima clara"/>
                <p:cNvSpPr>
                  <a:spLocks/>
                </p:cNvSpPr>
                <p:nvPr/>
              </p:nvSpPr>
              <p:spPr bwMode="auto">
                <a:xfrm>
                  <a:off x="4683" y="3377"/>
                  <a:ext cx="432" cy="367"/>
                </a:xfrm>
                <a:custGeom>
                  <a:avLst/>
                  <a:gdLst>
                    <a:gd name="T0" fmla="*/ 0 w 432"/>
                    <a:gd name="T1" fmla="*/ 0 h 367"/>
                    <a:gd name="T2" fmla="*/ 0 w 432"/>
                    <a:gd name="T3" fmla="*/ 367 h 367"/>
                    <a:gd name="T4" fmla="*/ 432 w 432"/>
                    <a:gd name="T5" fmla="*/ 367 h 367"/>
                    <a:gd name="T6" fmla="*/ 360 w 432"/>
                    <a:gd name="T7" fmla="*/ 355 h 367"/>
                    <a:gd name="T8" fmla="*/ 310 w 432"/>
                    <a:gd name="T9" fmla="*/ 338 h 367"/>
                    <a:gd name="T10" fmla="*/ 250 w 432"/>
                    <a:gd name="T11" fmla="*/ 305 h 367"/>
                    <a:gd name="T12" fmla="*/ 202 w 432"/>
                    <a:gd name="T13" fmla="*/ 261 h 367"/>
                    <a:gd name="T14" fmla="*/ 154 w 432"/>
                    <a:gd name="T15" fmla="*/ 204 h 367"/>
                    <a:gd name="T16" fmla="*/ 103 w 432"/>
                    <a:gd name="T17" fmla="*/ 141 h 367"/>
                    <a:gd name="T18" fmla="*/ 58 w 432"/>
                    <a:gd name="T19" fmla="*/ 79 h 367"/>
                    <a:gd name="T20" fmla="*/ 14 w 432"/>
                    <a:gd name="T21" fmla="*/ 21 h 367"/>
                    <a:gd name="T22" fmla="*/ 0 w 432"/>
                    <a:gd name="T23" fmla="*/ 0 h 367"/>
                    <a:gd name="T24" fmla="*/ 0 w 432"/>
                    <a:gd name="T25" fmla="*/ 0 h 367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432"/>
                    <a:gd name="T40" fmla="*/ 0 h 367"/>
                    <a:gd name="T41" fmla="*/ 432 w 432"/>
                    <a:gd name="T42" fmla="*/ 367 h 367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432" h="367">
                      <a:moveTo>
                        <a:pt x="0" y="0"/>
                      </a:moveTo>
                      <a:lnTo>
                        <a:pt x="0" y="367"/>
                      </a:lnTo>
                      <a:lnTo>
                        <a:pt x="432" y="367"/>
                      </a:lnTo>
                      <a:lnTo>
                        <a:pt x="360" y="355"/>
                      </a:lnTo>
                      <a:lnTo>
                        <a:pt x="310" y="338"/>
                      </a:lnTo>
                      <a:lnTo>
                        <a:pt x="250" y="305"/>
                      </a:lnTo>
                      <a:lnTo>
                        <a:pt x="202" y="261"/>
                      </a:lnTo>
                      <a:lnTo>
                        <a:pt x="154" y="204"/>
                      </a:lnTo>
                      <a:lnTo>
                        <a:pt x="103" y="141"/>
                      </a:lnTo>
                      <a:lnTo>
                        <a:pt x="58" y="79"/>
                      </a:lnTo>
                      <a:lnTo>
                        <a:pt x="14" y="21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pattFill prst="ltUpDiag">
                  <a:fgClr>
                    <a:schemeClr val="tx1"/>
                  </a:fgClr>
                  <a:bgClr>
                    <a:srgbClr val="FFFFFF"/>
                  </a:bgClr>
                </a:patt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581" name="Text Box 133"/>
                <p:cNvSpPr txBox="1">
                  <a:spLocks noChangeArrowheads="1"/>
                </p:cNvSpPr>
                <p:nvPr/>
              </p:nvSpPr>
              <p:spPr bwMode="auto">
                <a:xfrm>
                  <a:off x="4830" y="3410"/>
                  <a:ext cx="197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pt-BR" sz="1600" i="1">
                      <a:latin typeface="Times New Roman" charset="0"/>
                      <a:sym typeface="Symbol" pitchFamily="18" charset="2"/>
                    </a:rPr>
                    <a:t></a:t>
                  </a:r>
                  <a:endParaRPr lang="en-US" altLang="pt-BR" sz="1600">
                    <a:latin typeface="Times New Roman" charset="0"/>
                    <a:sym typeface="Symbol" pitchFamily="18" charset="2"/>
                  </a:endParaRPr>
                </a:p>
              </p:txBody>
            </p:sp>
          </p:grpSp>
          <p:graphicFrame>
            <p:nvGraphicFramePr>
              <p:cNvPr id="23579" name="Object 134"/>
              <p:cNvGraphicFramePr>
                <a:graphicFrameLocks noChangeAspect="1"/>
              </p:cNvGraphicFramePr>
              <p:nvPr/>
            </p:nvGraphicFramePr>
            <p:xfrm>
              <a:off x="4572" y="3767"/>
              <a:ext cx="240" cy="20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9" imgW="266584" imgH="228501" progId="Equation.DSMT4">
                      <p:embed/>
                    </p:oleObj>
                  </mc:Choice>
                  <mc:Fallback>
                    <p:oleObj name="Equation" r:id="rId19" imgW="266584" imgH="228501" progId="Equation.DSMT4">
                      <p:embed/>
                      <p:pic>
                        <p:nvPicPr>
                          <p:cNvPr id="23579" name="Object 13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572" y="3767"/>
                            <a:ext cx="240" cy="207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23572" name="Group 135"/>
            <p:cNvGrpSpPr>
              <a:grpSpLocks/>
            </p:cNvGrpSpPr>
            <p:nvPr/>
          </p:nvGrpSpPr>
          <p:grpSpPr bwMode="auto">
            <a:xfrm>
              <a:off x="4160" y="3974"/>
              <a:ext cx="544" cy="228"/>
              <a:chOff x="4160" y="3974"/>
              <a:chExt cx="544" cy="228"/>
            </a:xfrm>
          </p:grpSpPr>
          <p:sp>
            <p:nvSpPr>
              <p:cNvPr id="23576" name="Rectangle 136"/>
              <p:cNvSpPr>
                <a:spLocks noChangeArrowheads="1"/>
              </p:cNvSpPr>
              <p:nvPr/>
            </p:nvSpPr>
            <p:spPr bwMode="auto">
              <a:xfrm>
                <a:off x="4209" y="3989"/>
                <a:ext cx="457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ac.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577" name="AutoShape 137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3573" name="Group 138"/>
            <p:cNvGrpSpPr>
              <a:grpSpLocks/>
            </p:cNvGrpSpPr>
            <p:nvPr/>
          </p:nvGrpSpPr>
          <p:grpSpPr bwMode="auto">
            <a:xfrm>
              <a:off x="4709" y="3974"/>
              <a:ext cx="544" cy="228"/>
              <a:chOff x="4160" y="3974"/>
              <a:chExt cx="544" cy="228"/>
            </a:xfrm>
          </p:grpSpPr>
          <p:sp>
            <p:nvSpPr>
              <p:cNvPr id="23574" name="Rectangle 139"/>
              <p:cNvSpPr>
                <a:spLocks noChangeArrowheads="1"/>
              </p:cNvSpPr>
              <p:nvPr/>
            </p:nvSpPr>
            <p:spPr bwMode="auto">
              <a:xfrm>
                <a:off x="4189" y="3989"/>
                <a:ext cx="482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latin typeface="Tahoma" panose="020B0604030504040204" pitchFamily="34" charset="0"/>
                  </a:rPr>
                  <a:t>rej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575" name="AutoShape 140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5822950" y="3717032"/>
            <a:ext cx="2159000" cy="1557337"/>
            <a:chOff x="5822950" y="4097338"/>
            <a:chExt cx="2159000" cy="1557337"/>
          </a:xfrm>
        </p:grpSpPr>
        <p:graphicFrame>
          <p:nvGraphicFramePr>
            <p:cNvPr id="23565" name="Objeto 40"/>
            <p:cNvGraphicFramePr>
              <a:graphicFrameLocks/>
            </p:cNvGraphicFramePr>
            <p:nvPr/>
          </p:nvGraphicFramePr>
          <p:xfrm>
            <a:off x="6780212" y="4265703"/>
            <a:ext cx="608013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1" imgW="342751" imgH="241195" progId="Equation.3">
                    <p:embed/>
                  </p:oleObj>
                </mc:Choice>
                <mc:Fallback>
                  <p:oleObj name="Equação" r:id="rId21" imgW="342751" imgH="241195" progId="Equation.3">
                    <p:embed/>
                    <p:pic>
                      <p:nvPicPr>
                        <p:cNvPr id="23565" name="Objeto 40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780212" y="4265703"/>
                          <a:ext cx="608013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23566" name="Group 117"/>
            <p:cNvGrpSpPr>
              <a:grpSpLocks/>
            </p:cNvGrpSpPr>
            <p:nvPr/>
          </p:nvGrpSpPr>
          <p:grpSpPr bwMode="auto">
            <a:xfrm>
              <a:off x="5822950" y="4097338"/>
              <a:ext cx="2159000" cy="1557337"/>
              <a:chOff x="4059" y="2976"/>
              <a:chExt cx="1360" cy="981"/>
            </a:xfrm>
          </p:grpSpPr>
          <p:sp>
            <p:nvSpPr>
              <p:cNvPr id="23567" name="Freeform 118"/>
              <p:cNvSpPr>
                <a:spLocks/>
              </p:cNvSpPr>
              <p:nvPr/>
            </p:nvSpPr>
            <p:spPr bwMode="auto">
              <a:xfrm>
                <a:off x="4149" y="2976"/>
                <a:ext cx="1104" cy="768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768 h 768"/>
                  <a:gd name="T4" fmla="*/ 1104 w 1104"/>
                  <a:gd name="T5" fmla="*/ 768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568" name="Freeform 119"/>
              <p:cNvSpPr>
                <a:spLocks/>
              </p:cNvSpPr>
              <p:nvPr/>
            </p:nvSpPr>
            <p:spPr bwMode="auto">
              <a:xfrm>
                <a:off x="4145" y="3125"/>
                <a:ext cx="1034" cy="645"/>
              </a:xfrm>
              <a:custGeom>
                <a:avLst/>
                <a:gdLst>
                  <a:gd name="T0" fmla="*/ 0 w 1034"/>
                  <a:gd name="T1" fmla="*/ 617 h 645"/>
                  <a:gd name="T2" fmla="*/ 274 w 1034"/>
                  <a:gd name="T3" fmla="*/ 12 h 645"/>
                  <a:gd name="T4" fmla="*/ 773 w 1034"/>
                  <a:gd name="T5" fmla="*/ 545 h 645"/>
                  <a:gd name="T6" fmla="*/ 1034 w 1034"/>
                  <a:gd name="T7" fmla="*/ 614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569" name="Text Box 120"/>
              <p:cNvSpPr txBox="1">
                <a:spLocks noChangeArrowheads="1"/>
              </p:cNvSpPr>
              <p:nvPr/>
            </p:nvSpPr>
            <p:spPr bwMode="auto">
              <a:xfrm>
                <a:off x="4059" y="3735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570" name="Text Box 121"/>
              <p:cNvSpPr txBox="1">
                <a:spLocks noChangeArrowheads="1"/>
              </p:cNvSpPr>
              <p:nvPr/>
            </p:nvSpPr>
            <p:spPr bwMode="auto">
              <a:xfrm>
                <a:off x="5119" y="3726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</p:grpSp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BEEAC7-77DE-4F83-BD2C-6FF2F4CC0A7F}" type="slidenum">
              <a:rPr lang="pt-BR"/>
              <a:pPr>
                <a:defRPr/>
              </a:pPr>
              <a:t>29</a:t>
            </a:fld>
            <a:endParaRPr lang="pt-BR"/>
          </a:p>
        </p:txBody>
      </p:sp>
      <p:sp>
        <p:nvSpPr>
          <p:cNvPr id="41" name="Retângulo 40"/>
          <p:cNvSpPr>
            <a:spLocks noChangeArrowheads="1"/>
          </p:cNvSpPr>
          <p:nvPr/>
        </p:nvSpPr>
        <p:spPr bwMode="auto">
          <a:xfrm>
            <a:off x="179512" y="5798195"/>
            <a:ext cx="876491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534988" indent="-5349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aceita, então a regressão não é significativa e, portanto, não há relação entre as variáveis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podem ser consideradas independentes).</a:t>
            </a:r>
          </a:p>
        </p:txBody>
      </p:sp>
      <p:grpSp>
        <p:nvGrpSpPr>
          <p:cNvPr id="5" name="Grupo 4"/>
          <p:cNvGrpSpPr/>
          <p:nvPr/>
        </p:nvGrpSpPr>
        <p:grpSpPr>
          <a:xfrm>
            <a:off x="6660232" y="2678455"/>
            <a:ext cx="2261011" cy="1110585"/>
            <a:chOff x="6660232" y="2553603"/>
            <a:chExt cx="2261011" cy="1110585"/>
          </a:xfrm>
        </p:grpSpPr>
        <p:sp>
          <p:nvSpPr>
            <p:cNvPr id="42" name="Seta para baixo 41"/>
            <p:cNvSpPr>
              <a:spLocks noChangeArrowheads="1"/>
            </p:cNvSpPr>
            <p:nvPr/>
          </p:nvSpPr>
          <p:spPr bwMode="auto">
            <a:xfrm rot="9251051">
              <a:off x="7414415" y="2553603"/>
              <a:ext cx="360362" cy="569913"/>
            </a:xfrm>
            <a:prstGeom prst="downArrow">
              <a:avLst>
                <a:gd name="adj1" fmla="val 50000"/>
                <a:gd name="adj2" fmla="val 49978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Retângulo 42"/>
                <p:cNvSpPr>
                  <a:spLocks noChangeArrowheads="1"/>
                </p:cNvSpPr>
                <p:nvPr/>
              </p:nvSpPr>
              <p:spPr bwMode="auto">
                <a:xfrm>
                  <a:off x="6660232" y="3140968"/>
                  <a:ext cx="2261011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400" dirty="0">
                      <a:latin typeface="Tahoma" panose="020B0604030504040204" pitchFamily="34" charset="0"/>
                    </a:rPr>
                    <a:t>estimador tendencioso, exceto se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4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altLang="pt-BR" sz="1400" i="1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400" b="0" i="1" smtClean="0">
                              <a:latin typeface="Cambria Math"/>
                              <a:ea typeface="Cambria Math"/>
                            </a:rPr>
                            <m:t>1</m:t>
                          </m:r>
                        </m:sub>
                      </m:sSub>
                      <m:r>
                        <a:rPr lang="pt-BR" altLang="pt-BR" sz="1400" b="0" i="1" smtClean="0">
                          <a:latin typeface="Cambria Math"/>
                          <a:ea typeface="Cambria Math"/>
                        </a:rPr>
                        <m:t>=0</m:t>
                      </m:r>
                    </m:oMath>
                  </a14:m>
                  <a:endParaRPr lang="pt-BR" altLang="pt-BR" sz="14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43" name="Retângulo 4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6660232" y="3140968"/>
                  <a:ext cx="2261011" cy="523220"/>
                </a:xfrm>
                <a:prstGeom prst="rect">
                  <a:avLst/>
                </a:prstGeom>
                <a:blipFill>
                  <a:blip r:embed="rId23"/>
                  <a:stretch>
                    <a:fillRect t="-2326" b="-10465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CaixaDeTexto 43"/>
              <p:cNvSpPr txBox="1"/>
              <p:nvPr/>
            </p:nvSpPr>
            <p:spPr>
              <a:xfrm>
                <a:off x="330864" y="3933056"/>
                <a:ext cx="120654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1800" b="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pt-B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sz="1800" b="0" i="1" smtClean="0">
                        <a:latin typeface="Cambria Math"/>
                        <a:ea typeface="Cambria Math"/>
                      </a:rPr>
                      <m:t>=0</m:t>
                    </m:r>
                  </m:oMath>
                </a14:m>
                <a:endParaRPr lang="pt-BR" sz="1800" b="0" dirty="0">
                  <a:latin typeface="Tahoma" panose="020B0604030504040204" pitchFamily="34" charset="0"/>
                  <a:ea typeface="Cambria Math"/>
                </a:endParaRPr>
              </a:p>
              <a:p>
                <a:r>
                  <a:rPr lang="pt-BR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pt-BR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pt-BR" sz="18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1800" i="1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sz="1800" i="1" smtClean="0">
                        <a:latin typeface="Cambria Math"/>
                        <a:ea typeface="Cambria Math"/>
                      </a:rPr>
                      <m:t>≠</m:t>
                    </m:r>
                    <m:r>
                      <a:rPr lang="pt-BR" sz="1800" i="1">
                        <a:latin typeface="Cambria Math"/>
                        <a:ea typeface="Cambria Math"/>
                      </a:rPr>
                      <m:t>0</m:t>
                    </m:r>
                  </m:oMath>
                </a14:m>
                <a:endParaRPr lang="pt-BR" sz="18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44" name="CaixaDeTexto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864" y="3933056"/>
                <a:ext cx="1206549" cy="646331"/>
              </a:xfrm>
              <a:prstGeom prst="rect">
                <a:avLst/>
              </a:prstGeom>
              <a:blipFill>
                <a:blip r:embed="rId24"/>
                <a:stretch>
                  <a:fillRect l="-4040"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 Box 162"/>
          <p:cNvSpPr txBox="1">
            <a:spLocks noChangeArrowheads="1"/>
          </p:cNvSpPr>
          <p:nvPr/>
        </p:nvSpPr>
        <p:spPr bwMode="auto">
          <a:xfrm>
            <a:off x="179512" y="6402814"/>
            <a:ext cx="802610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</a:rPr>
              <a:t> Para regressão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linear simples</a:t>
            </a:r>
            <a:r>
              <a:rPr lang="pt-BR" altLang="pt-BR" sz="1600" dirty="0">
                <a:latin typeface="Tahoma" panose="020B0604030504040204" pitchFamily="34" charset="0"/>
              </a:rPr>
              <a:t>: teste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F</a:t>
            </a:r>
            <a:r>
              <a:rPr lang="pt-BR" altLang="pt-BR" sz="1600" dirty="0">
                <a:latin typeface="Tahoma" panose="020B0604030504040204" pitchFamily="34" charset="0"/>
              </a:rPr>
              <a:t> é equivalente ao teste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t</a:t>
            </a:r>
            <a:r>
              <a:rPr lang="pt-BR" altLang="pt-BR" sz="1600" dirty="0">
                <a:latin typeface="Tahoma" panose="020B0604030504040204" pitchFamily="34" charset="0"/>
              </a:rPr>
              <a:t> bilateral para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41" grpId="0"/>
      <p:bldP spid="44" grpId="0"/>
      <p:bldP spid="45" grpId="0" autoUpdateAnimBg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Coeficiente de Determinação</a:t>
            </a:r>
          </a:p>
        </p:txBody>
      </p:sp>
      <p:graphicFrame>
        <p:nvGraphicFramePr>
          <p:cNvPr id="24797" name="Object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49974647"/>
              </p:ext>
            </p:extLst>
          </p:nvPr>
        </p:nvGraphicFramePr>
        <p:xfrm>
          <a:off x="683568" y="1484784"/>
          <a:ext cx="1141412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87320" imgH="419040" progId="Equation.DSMT4">
                  <p:embed/>
                </p:oleObj>
              </mc:Choice>
              <mc:Fallback>
                <p:oleObj name="Equation" r:id="rId2" imgW="787320" imgH="419040" progId="Equation.DSMT4">
                  <p:embed/>
                  <p:pic>
                    <p:nvPicPr>
                      <p:cNvPr id="24797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3568" y="1484784"/>
                        <a:ext cx="1141412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28" name="Rectangle 252"/>
          <p:cNvSpPr>
            <a:spLocks noChangeArrowheads="1"/>
          </p:cNvSpPr>
          <p:nvPr/>
        </p:nvSpPr>
        <p:spPr bwMode="auto">
          <a:xfrm>
            <a:off x="395536" y="2204864"/>
            <a:ext cx="8280920" cy="1440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cs typeface="Times New Roman" charset="0"/>
              </a:rPr>
              <a:t>Interpretação: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mede a fração da variação total de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explicada pela regressão e por isso pode ser representada em porcentagem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  <a:sym typeface="Mathematica1" pitchFamily="2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Mathematica1" pitchFamily="2" charset="2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  <a:sym typeface="Mathematica1" pitchFamily="2" charset="2"/>
              </a:rPr>
              <a:t> o coeficiente de determinação equivale ao quadrado do coeficiente de correlação para regressões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Mathematica1" pitchFamily="2" charset="2"/>
              </a:rPr>
              <a:t>lineares simples</a:t>
            </a: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BCA48A3-6665-498E-8B71-E163EC5620E4}" type="slidenum">
              <a:rPr lang="pt-BR"/>
              <a:pPr>
                <a:defRPr/>
              </a:pPr>
              <a:t>30</a:t>
            </a:fld>
            <a:endParaRPr lang="pt-BR"/>
          </a:p>
        </p:txBody>
      </p:sp>
      <p:graphicFrame>
        <p:nvGraphicFramePr>
          <p:cNvPr id="64" name="Object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8163814"/>
              </p:ext>
            </p:extLst>
          </p:nvPr>
        </p:nvGraphicFramePr>
        <p:xfrm>
          <a:off x="1876102" y="1486033"/>
          <a:ext cx="248602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14320" imgH="419040" progId="Equation.DSMT4">
                  <p:embed/>
                </p:oleObj>
              </mc:Choice>
              <mc:Fallback>
                <p:oleObj name="Equation" r:id="rId4" imgW="1714320" imgH="419040" progId="Equation.DSMT4">
                  <p:embed/>
                  <p:pic>
                    <p:nvPicPr>
                      <p:cNvPr id="64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6102" y="1486033"/>
                        <a:ext cx="2486025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5" name="Text Box 222"/>
          <p:cNvSpPr txBox="1">
            <a:spLocks noChangeArrowheads="1"/>
          </p:cNvSpPr>
          <p:nvPr/>
        </p:nvSpPr>
        <p:spPr bwMode="auto">
          <a:xfrm>
            <a:off x="4860032" y="1558041"/>
            <a:ext cx="18208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0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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 1</a:t>
            </a:r>
          </a:p>
        </p:txBody>
      </p:sp>
      <p:grpSp>
        <p:nvGrpSpPr>
          <p:cNvPr id="12" name="Grupo 11"/>
          <p:cNvGrpSpPr/>
          <p:nvPr/>
        </p:nvGrpSpPr>
        <p:grpSpPr>
          <a:xfrm>
            <a:off x="1002893" y="4110368"/>
            <a:ext cx="2898867" cy="2315597"/>
            <a:chOff x="323528" y="3861048"/>
            <a:chExt cx="2898867" cy="2315597"/>
          </a:xfrm>
        </p:grpSpPr>
        <p:pic>
          <p:nvPicPr>
            <p:cNvPr id="66" name="Picture 5"/>
            <p:cNvPicPr>
              <a:picLocks noChangeAspect="1" noChangeArrowheads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24" b="5855"/>
            <a:stretch/>
          </p:blipFill>
          <p:spPr bwMode="auto">
            <a:xfrm>
              <a:off x="323528" y="3861048"/>
              <a:ext cx="2898867" cy="2315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aphicFrame>
          <p:nvGraphicFramePr>
            <p:cNvPr id="9" name="Objeto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957219971"/>
                </p:ext>
              </p:extLst>
            </p:nvPr>
          </p:nvGraphicFramePr>
          <p:xfrm>
            <a:off x="899592" y="4149080"/>
            <a:ext cx="653358" cy="4280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825480" imgH="482400" progId="Equation.DSMT4">
                    <p:embed/>
                  </p:oleObj>
                </mc:Choice>
                <mc:Fallback>
                  <p:oleObj name="Equation" r:id="rId7" imgW="825480" imgH="482400" progId="Equation.DSMT4">
                    <p:embed/>
                    <p:pic>
                      <p:nvPicPr>
                        <p:cNvPr id="9" name="Objeto 8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9592" y="4149080"/>
                          <a:ext cx="653358" cy="42805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9" name="Retângulo 68"/>
            <p:cNvSpPr/>
            <p:nvPr/>
          </p:nvSpPr>
          <p:spPr bwMode="auto">
            <a:xfrm>
              <a:off x="914409" y="4354410"/>
              <a:ext cx="705264" cy="216024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71" name="Rectangle 252"/>
          <p:cNvSpPr>
            <a:spLocks noChangeArrowheads="1"/>
          </p:cNvSpPr>
          <p:nvPr/>
        </p:nvSpPr>
        <p:spPr bwMode="auto">
          <a:xfrm>
            <a:off x="472106" y="3900014"/>
            <a:ext cx="3960440" cy="4377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Regressão passando pela origem (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  <a:sym typeface="Mathematica1" pitchFamily="2" charset="2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1960749" y="3643356"/>
            <a:ext cx="98315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  <a:cs typeface="Times New Roman" charset="0"/>
              </a:rPr>
              <a:t>Atenção:</a:t>
            </a:r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73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1088109"/>
              </p:ext>
            </p:extLst>
          </p:nvPr>
        </p:nvGraphicFramePr>
        <p:xfrm>
          <a:off x="5584674" y="3954085"/>
          <a:ext cx="1040130" cy="10896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800100" imgH="838200" progId="Equation.3">
                  <p:embed/>
                </p:oleObj>
              </mc:Choice>
              <mc:Fallback>
                <p:oleObj name="Equation" r:id="rId9" imgW="800100" imgH="838200" progId="Equation.3">
                  <p:embed/>
                  <p:pic>
                    <p:nvPicPr>
                      <p:cNvPr id="7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84674" y="3954085"/>
                        <a:ext cx="1040130" cy="108966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06203855"/>
              </p:ext>
            </p:extLst>
          </p:nvPr>
        </p:nvGraphicFramePr>
        <p:xfrm>
          <a:off x="6839834" y="4235106"/>
          <a:ext cx="1237713" cy="8086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1" imgW="952087" imgH="622030" progId="Equation.3">
                  <p:embed/>
                </p:oleObj>
              </mc:Choice>
              <mc:Fallback>
                <p:oleObj name="Equação" r:id="rId11" imgW="952087" imgH="622030" progId="Equation.3">
                  <p:embed/>
                  <p:pic>
                    <p:nvPicPr>
                      <p:cNvPr id="74" name="Object 10"/>
                      <p:cNvPicPr>
                        <a:picLocks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39834" y="4235106"/>
                        <a:ext cx="1237713" cy="80863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33028547"/>
              </p:ext>
            </p:extLst>
          </p:nvPr>
        </p:nvGraphicFramePr>
        <p:xfrm>
          <a:off x="4360538" y="5094509"/>
          <a:ext cx="1600776" cy="29705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3" imgW="1231366" imgH="228501" progId="Equation.3">
                  <p:embed/>
                </p:oleObj>
              </mc:Choice>
              <mc:Fallback>
                <p:oleObj name="Equação" r:id="rId13" imgW="1231366" imgH="228501" progId="Equation.3">
                  <p:embed/>
                  <p:pic>
                    <p:nvPicPr>
                      <p:cNvPr id="75" name="Object 11"/>
                      <p:cNvPicPr>
                        <a:picLocks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60538" y="5094509"/>
                        <a:ext cx="1600776" cy="29705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Text Box 12"/>
          <p:cNvSpPr txBox="1">
            <a:spLocks noChangeArrowheads="1"/>
          </p:cNvSpPr>
          <p:nvPr/>
        </p:nvSpPr>
        <p:spPr bwMode="auto">
          <a:xfrm>
            <a:off x="6001841" y="5057813"/>
            <a:ext cx="23145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pode ser negativo!)</a:t>
            </a:r>
          </a:p>
        </p:txBody>
      </p:sp>
      <p:grpSp>
        <p:nvGrpSpPr>
          <p:cNvPr id="77" name="Grupo 76"/>
          <p:cNvGrpSpPr>
            <a:grpSpLocks/>
          </p:cNvGrpSpPr>
          <p:nvPr/>
        </p:nvGrpSpPr>
        <p:grpSpPr bwMode="auto">
          <a:xfrm>
            <a:off x="4360538" y="5517232"/>
            <a:ext cx="3631703" cy="1202167"/>
            <a:chOff x="4154488" y="5328799"/>
            <a:chExt cx="3631703" cy="1202167"/>
          </a:xfrm>
        </p:grpSpPr>
        <p:graphicFrame>
          <p:nvGraphicFramePr>
            <p:cNvPr id="78" name="Object 14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18244378"/>
                </p:ext>
              </p:extLst>
            </p:nvPr>
          </p:nvGraphicFramePr>
          <p:xfrm>
            <a:off x="6036131" y="5328799"/>
            <a:ext cx="1750060" cy="11557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5" imgW="1346200" imgH="889000" progId="Equation.3">
                    <p:embed/>
                  </p:oleObj>
                </mc:Choice>
                <mc:Fallback>
                  <p:oleObj name="Equação" r:id="rId15" imgW="1346200" imgH="889000" progId="Equation.3">
                    <p:embed/>
                    <p:pic>
                      <p:nvPicPr>
                        <p:cNvPr id="78" name="Object 1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036131" y="5328799"/>
                          <a:ext cx="1750060" cy="11557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9" name="Object 1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32613952"/>
                </p:ext>
              </p:extLst>
            </p:nvPr>
          </p:nvGraphicFramePr>
          <p:xfrm>
            <a:off x="4154488" y="5805488"/>
            <a:ext cx="1700530" cy="29718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7" imgW="1308100" imgH="228600" progId="Equation.3">
                    <p:embed/>
                  </p:oleObj>
                </mc:Choice>
                <mc:Fallback>
                  <p:oleObj name="Equação" r:id="rId17" imgW="1308100" imgH="228600" progId="Equation.3">
                    <p:embed/>
                    <p:pic>
                      <p:nvPicPr>
                        <p:cNvPr id="79" name="Object 11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54488" y="5805488"/>
                          <a:ext cx="1700530" cy="29718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0" name="Chave esquerda 2"/>
            <p:cNvSpPr>
              <a:spLocks/>
            </p:cNvSpPr>
            <p:nvPr/>
          </p:nvSpPr>
          <p:spPr bwMode="auto">
            <a:xfrm>
              <a:off x="5841975" y="5378838"/>
              <a:ext cx="216024" cy="1152128"/>
            </a:xfrm>
            <a:prstGeom prst="leftBrace">
              <a:avLst>
                <a:gd name="adj1" fmla="val 8321"/>
                <a:gd name="adj2" fmla="val 50000"/>
              </a:avLst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81" name="Grupo 80"/>
          <p:cNvGrpSpPr>
            <a:grpSpLocks/>
          </p:cNvGrpSpPr>
          <p:nvPr/>
        </p:nvGrpSpPr>
        <p:grpSpPr bwMode="auto">
          <a:xfrm>
            <a:off x="4391593" y="5071004"/>
            <a:ext cx="1497013" cy="324644"/>
            <a:chOff x="4446588" y="4729336"/>
            <a:chExt cx="1497806" cy="648072"/>
          </a:xfrm>
        </p:grpSpPr>
        <p:cxnSp>
          <p:nvCxnSpPr>
            <p:cNvPr id="82" name="Conector reto 5"/>
            <p:cNvCxnSpPr>
              <a:cxnSpLocks noChangeShapeType="1"/>
            </p:cNvCxnSpPr>
            <p:nvPr/>
          </p:nvCxnSpPr>
          <p:spPr bwMode="auto">
            <a:xfrm flipV="1">
              <a:off x="4446588" y="4729336"/>
              <a:ext cx="1497806" cy="648072"/>
            </a:xfrm>
            <a:prstGeom prst="line">
              <a:avLst/>
            </a:prstGeom>
            <a:noFill/>
            <a:ln w="9525" algn="ctr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Conector reto 18"/>
            <p:cNvCxnSpPr>
              <a:cxnSpLocks noChangeShapeType="1"/>
            </p:cNvCxnSpPr>
            <p:nvPr/>
          </p:nvCxnSpPr>
          <p:spPr bwMode="auto">
            <a:xfrm>
              <a:off x="4446588" y="4729336"/>
              <a:ext cx="1497806" cy="648072"/>
            </a:xfrm>
            <a:prstGeom prst="line">
              <a:avLst/>
            </a:prstGeom>
            <a:noFill/>
            <a:ln w="9525" algn="ctr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84" name="Retângulo 83"/>
          <p:cNvSpPr/>
          <p:nvPr/>
        </p:nvSpPr>
        <p:spPr>
          <a:xfrm>
            <a:off x="3856482" y="4265725"/>
            <a:ext cx="15087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algn="ctr">
              <a:defRPr/>
            </a:pPr>
            <a:r>
              <a:rPr lang="pt-BR" altLang="pt-BR" sz="1800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800" i="1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pt-BR" altLang="pt-BR" sz="1800" b="1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= </a:t>
            </a:r>
            <a:r>
              <a:rPr lang="pt-BR" altLang="pt-BR" sz="1800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pt-BR" altLang="pt-BR" sz="1800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X</a:t>
            </a:r>
            <a:r>
              <a:rPr lang="pt-BR" altLang="pt-BR" sz="1800" i="1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pt-BR" altLang="pt-BR" sz="2000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 </a:t>
            </a:r>
            <a:r>
              <a:rPr lang="pt-BR" altLang="pt-BR" sz="2000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pt-BR" altLang="pt-BR" sz="1800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</a:t>
            </a:r>
            <a:r>
              <a:rPr lang="pt-BR" altLang="pt-BR" sz="1800" i="1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Mathematica1" pitchFamily="2" charset="2"/>
              </a:rPr>
              <a:t>i</a:t>
            </a:r>
            <a:endParaRPr lang="pt-BR" altLang="pt-BR" sz="2000" kern="0" baseline="-250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55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828" grpId="0" build="p"/>
      <p:bldP spid="65" grpId="0" build="p"/>
      <p:bldP spid="71" grpId="0" build="p"/>
      <p:bldP spid="13" grpId="0"/>
      <p:bldP spid="76" grpId="0"/>
      <p:bldP spid="8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 no EXCEL</a:t>
            </a:r>
          </a:p>
        </p:txBody>
      </p:sp>
      <p:graphicFrame>
        <p:nvGraphicFramePr>
          <p:cNvPr id="26761" name="Group 137"/>
          <p:cNvGraphicFramePr>
            <a:graphicFrameLocks noGrp="1"/>
          </p:cNvGraphicFramePr>
          <p:nvPr/>
        </p:nvGraphicFramePr>
        <p:xfrm>
          <a:off x="539750" y="1520825"/>
          <a:ext cx="1219200" cy="30480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1,9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2,5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7,8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7,0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427F4C-573F-40BD-9D45-6E67DB8161E0}" type="slidenum">
              <a:rPr lang="pt-BR"/>
              <a:pPr>
                <a:defRPr/>
              </a:pPr>
              <a:t>31</a:t>
            </a:fld>
            <a:endParaRPr lang="pt-BR" dirty="0"/>
          </a:p>
        </p:txBody>
      </p:sp>
      <p:pic>
        <p:nvPicPr>
          <p:cNvPr id="25032" name="Picture 45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9" y="1470462"/>
            <a:ext cx="4320941" cy="360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5033" name="Picture 457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165713" y="1502191"/>
            <a:ext cx="4305425" cy="35340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034" name="Picture 458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9" y="1470462"/>
            <a:ext cx="4320941" cy="360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8" name="Grupo 7"/>
          <p:cNvGrpSpPr/>
          <p:nvPr/>
        </p:nvGrpSpPr>
        <p:grpSpPr>
          <a:xfrm>
            <a:off x="4214937" y="1524608"/>
            <a:ext cx="1501272" cy="367294"/>
            <a:chOff x="4214937" y="1524608"/>
            <a:chExt cx="1501272" cy="367294"/>
          </a:xfrm>
        </p:grpSpPr>
        <p:sp>
          <p:nvSpPr>
            <p:cNvPr id="42" name="Seta para baixo 41"/>
            <p:cNvSpPr/>
            <p:nvPr/>
          </p:nvSpPr>
          <p:spPr>
            <a:xfrm rot="13920000" flipV="1">
              <a:off x="4268912" y="1766490"/>
              <a:ext cx="7143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/>
                <p:cNvSpPr txBox="1"/>
                <p:nvPr/>
              </p:nvSpPr>
              <p:spPr>
                <a:xfrm>
                  <a:off x="4297616" y="1524608"/>
                  <a:ext cx="1418593" cy="3452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𝑌</m:t>
                            </m:r>
                          </m:e>
                        </m:acc>
                        <m:r>
                          <a:rPr lang="pt-BR" b="0" i="1" smtClean="0">
                            <a:latin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/>
                          </a:rPr>
                          <m:t>𝑋</m:t>
                        </m:r>
                        <m:r>
                          <a:rPr lang="pt-BR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" name="CaixaDeTexto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7616" y="1524608"/>
                  <a:ext cx="1418593" cy="34522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 no EXCEL</a:t>
            </a:r>
          </a:p>
        </p:txBody>
      </p:sp>
      <p:graphicFrame>
        <p:nvGraphicFramePr>
          <p:cNvPr id="26761" name="Group 137"/>
          <p:cNvGraphicFramePr>
            <a:graphicFrameLocks noGrp="1"/>
          </p:cNvGraphicFramePr>
          <p:nvPr/>
        </p:nvGraphicFramePr>
        <p:xfrm>
          <a:off x="539750" y="1520825"/>
          <a:ext cx="1219200" cy="30480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1,9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2,5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7,8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7,0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427F4C-573F-40BD-9D45-6E67DB8161E0}" type="slidenum">
              <a:rPr lang="pt-BR"/>
              <a:pPr>
                <a:defRPr/>
              </a:pPr>
              <a:t>32</a:t>
            </a:fld>
            <a:endParaRPr lang="pt-BR" dirty="0"/>
          </a:p>
        </p:txBody>
      </p:sp>
      <p:pic>
        <p:nvPicPr>
          <p:cNvPr id="25028" name="Picture 45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1512920"/>
            <a:ext cx="4255772" cy="41886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029" name="Picture 45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1920" y="2060848"/>
            <a:ext cx="3924300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9992" y="2627470"/>
            <a:ext cx="3905250" cy="3467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" name="Grupo 10"/>
          <p:cNvGrpSpPr>
            <a:grpSpLocks/>
          </p:cNvGrpSpPr>
          <p:nvPr/>
        </p:nvGrpSpPr>
        <p:grpSpPr bwMode="auto">
          <a:xfrm>
            <a:off x="3057099" y="2708918"/>
            <a:ext cx="4014788" cy="1944967"/>
            <a:chOff x="-3415710" y="6486702"/>
            <a:chExt cx="4014797" cy="1944387"/>
          </a:xfrm>
        </p:grpSpPr>
        <p:sp>
          <p:nvSpPr>
            <p:cNvPr id="12" name="Retângulo 11"/>
            <p:cNvSpPr/>
            <p:nvPr/>
          </p:nvSpPr>
          <p:spPr>
            <a:xfrm>
              <a:off x="-3415710" y="6486702"/>
              <a:ext cx="468001" cy="19443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" name="Seta para baixo 12"/>
            <p:cNvSpPr/>
            <p:nvPr/>
          </p:nvSpPr>
          <p:spPr>
            <a:xfrm rot="7680000">
              <a:off x="473685" y="6920614"/>
              <a:ext cx="7141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4" name="Seta para baixo 13"/>
          <p:cNvSpPr/>
          <p:nvPr/>
        </p:nvSpPr>
        <p:spPr>
          <a:xfrm rot="7680000">
            <a:off x="5349032" y="3710706"/>
            <a:ext cx="71437" cy="17938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5" name="Grupo 14"/>
          <p:cNvGrpSpPr>
            <a:grpSpLocks/>
          </p:cNvGrpSpPr>
          <p:nvPr/>
        </p:nvGrpSpPr>
        <p:grpSpPr bwMode="auto">
          <a:xfrm>
            <a:off x="2583072" y="2708918"/>
            <a:ext cx="4506231" cy="1944967"/>
            <a:chOff x="-4042137" y="6486702"/>
            <a:chExt cx="4506240" cy="1944387"/>
          </a:xfrm>
        </p:grpSpPr>
        <p:sp>
          <p:nvSpPr>
            <p:cNvPr id="16" name="Retângulo 15"/>
            <p:cNvSpPr/>
            <p:nvPr/>
          </p:nvSpPr>
          <p:spPr>
            <a:xfrm>
              <a:off x="-4042137" y="6486702"/>
              <a:ext cx="468001" cy="19443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" name="Seta para baixo 16"/>
            <p:cNvSpPr/>
            <p:nvPr/>
          </p:nvSpPr>
          <p:spPr>
            <a:xfrm rot="7680000">
              <a:off x="338701" y="7186575"/>
              <a:ext cx="7141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8" name="Seta para baixo 17"/>
          <p:cNvSpPr/>
          <p:nvPr/>
        </p:nvSpPr>
        <p:spPr>
          <a:xfrm rot="7680000">
            <a:off x="6645176" y="4358778"/>
            <a:ext cx="71437" cy="17938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271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Tabela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5067483"/>
              </p:ext>
            </p:extLst>
          </p:nvPr>
        </p:nvGraphicFramePr>
        <p:xfrm>
          <a:off x="2143125" y="2211388"/>
          <a:ext cx="6122988" cy="3835406"/>
        </p:xfrm>
        <a:graphic>
          <a:graphicData uri="http://schemas.openxmlformats.org/drawingml/2006/table">
            <a:tbl>
              <a:tblPr/>
              <a:tblGrid>
                <a:gridCol w="866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68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2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23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23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23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9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0357">
                <a:tc gridSpan="2"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RESUMO DOS RESULTADOS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195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Estatística de regressão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 múltiplo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0,9745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R-Quadrado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0,9496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344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R-quadrado ajustado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0,9424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Erro padrão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0,6735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Observações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ANOVA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44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gl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SQ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MQ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F de significação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Regressão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59,8002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59,8002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131,8267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8,55E-06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Resíduo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3,1754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0,4536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62,9756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Coeficientes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Erro padrão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Stat t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valor-P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95% inferiores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95% superiores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Interseção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0,1306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0,4893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0,2668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0,7973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-1,0265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1,2876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X 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0,9983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0,0870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11,4816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8,55E-06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0,7927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1,2039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pic>
        <p:nvPicPr>
          <p:cNvPr id="34" name="Picture 45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9968" y="1412776"/>
            <a:ext cx="3457136" cy="2880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 no EXCEL</a:t>
            </a:r>
          </a:p>
        </p:txBody>
      </p:sp>
      <p:graphicFrame>
        <p:nvGraphicFramePr>
          <p:cNvPr id="26761" name="Group 137"/>
          <p:cNvGraphicFramePr>
            <a:graphicFrameLocks noGrp="1"/>
          </p:cNvGraphicFramePr>
          <p:nvPr/>
        </p:nvGraphicFramePr>
        <p:xfrm>
          <a:off x="539750" y="1520825"/>
          <a:ext cx="1219200" cy="30480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1,9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2,5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7,8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7,0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6768" name="Oval 144"/>
          <p:cNvSpPr>
            <a:spLocks noChangeArrowheads="1"/>
          </p:cNvSpPr>
          <p:nvPr/>
        </p:nvSpPr>
        <p:spPr bwMode="auto">
          <a:xfrm>
            <a:off x="3389313" y="3048000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71" name="Oval 147"/>
          <p:cNvSpPr>
            <a:spLocks noChangeArrowheads="1"/>
          </p:cNvSpPr>
          <p:nvPr/>
        </p:nvSpPr>
        <p:spPr bwMode="auto">
          <a:xfrm>
            <a:off x="5744628" y="4773613"/>
            <a:ext cx="609600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76" name="Oval 152"/>
          <p:cNvSpPr>
            <a:spLocks noChangeArrowheads="1"/>
          </p:cNvSpPr>
          <p:nvPr/>
        </p:nvSpPr>
        <p:spPr bwMode="auto">
          <a:xfrm>
            <a:off x="4932858" y="5645150"/>
            <a:ext cx="503238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77" name="Oval 153"/>
          <p:cNvSpPr>
            <a:spLocks noChangeArrowheads="1"/>
          </p:cNvSpPr>
          <p:nvPr/>
        </p:nvSpPr>
        <p:spPr bwMode="auto">
          <a:xfrm>
            <a:off x="5796136" y="5654675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78" name="Oval 154"/>
          <p:cNvSpPr>
            <a:spLocks noChangeArrowheads="1"/>
          </p:cNvSpPr>
          <p:nvPr/>
        </p:nvSpPr>
        <p:spPr bwMode="auto">
          <a:xfrm>
            <a:off x="4932858" y="5808663"/>
            <a:ext cx="503238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" name="Group 157"/>
          <p:cNvGrpSpPr>
            <a:grpSpLocks/>
          </p:cNvGrpSpPr>
          <p:nvPr/>
        </p:nvGrpSpPr>
        <p:grpSpPr bwMode="auto">
          <a:xfrm>
            <a:off x="3390902" y="3551238"/>
            <a:ext cx="1109663" cy="357187"/>
            <a:chOff x="2375" y="2538"/>
            <a:chExt cx="699" cy="225"/>
          </a:xfrm>
        </p:grpSpPr>
        <p:sp>
          <p:nvSpPr>
            <p:cNvPr id="24773" name="Oval 145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774" name="Text Box 156"/>
                <p:cNvSpPr txBox="1">
                  <a:spLocks noChangeArrowheads="1"/>
                </p:cNvSpPr>
                <p:nvPr/>
              </p:nvSpPr>
              <p:spPr bwMode="auto">
                <a:xfrm>
                  <a:off x="2649" y="2538"/>
                  <a:ext cx="425" cy="19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ad>
                          <m:radPr>
                            <m:degHide m:val="on"/>
                            <m:ctrlPr>
                              <a:rPr lang="pt-BR" altLang="pt-BR" sz="12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charset="0"/>
                                <a:sym typeface="Symbol" pitchFamily="18" charset="2"/>
                              </a:rPr>
                            </m:ctrlPr>
                          </m:radPr>
                          <m:deg/>
                          <m:e>
                            <m:r>
                              <a:rPr lang="pt-BR" altLang="pt-B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charset="0"/>
                                <a:sym typeface="Symbol" pitchFamily="18" charset="2"/>
                              </a:rPr>
                              <m:t>𝑄𝑀𝐸</m:t>
                            </m:r>
                          </m:e>
                        </m:rad>
                      </m:oMath>
                    </m:oMathPara>
                  </a14:m>
                  <a:endParaRPr lang="pt-BR" altLang="pt-BR" sz="1200" i="1" dirty="0">
                    <a:solidFill>
                      <a:srgbClr val="FF0000"/>
                    </a:solidFill>
                    <a:latin typeface="Times New Roman" charset="0"/>
                    <a:cs typeface="Times New Roman" charset="0"/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4774" name="Text Box 1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49" y="2538"/>
                  <a:ext cx="425" cy="199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Group 159"/>
          <p:cNvGrpSpPr>
            <a:grpSpLocks/>
          </p:cNvGrpSpPr>
          <p:nvPr/>
        </p:nvGrpSpPr>
        <p:grpSpPr bwMode="auto">
          <a:xfrm>
            <a:off x="6521452" y="4757738"/>
            <a:ext cx="1506538" cy="323850"/>
            <a:chOff x="4194" y="3068"/>
            <a:chExt cx="949" cy="204"/>
          </a:xfrm>
        </p:grpSpPr>
        <p:sp>
          <p:nvSpPr>
            <p:cNvPr id="24771" name="Oval 151"/>
            <p:cNvSpPr>
              <a:spLocks noChangeArrowheads="1"/>
            </p:cNvSpPr>
            <p:nvPr/>
          </p:nvSpPr>
          <p:spPr bwMode="auto">
            <a:xfrm>
              <a:off x="4194" y="3090"/>
              <a:ext cx="482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772" name="Text Box 158"/>
            <p:cNvSpPr txBox="1">
              <a:spLocks noChangeArrowheads="1"/>
            </p:cNvSpPr>
            <p:nvPr/>
          </p:nvSpPr>
          <p:spPr bwMode="auto">
            <a:xfrm>
              <a:off x="4667" y="3068"/>
              <a:ext cx="47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valor-P</a:t>
              </a:r>
            </a:p>
          </p:txBody>
        </p:sp>
      </p:grpSp>
      <p:sp>
        <p:nvSpPr>
          <p:cNvPr id="26784" name="Oval 160"/>
          <p:cNvSpPr>
            <a:spLocks noChangeArrowheads="1"/>
          </p:cNvSpPr>
          <p:nvPr/>
        </p:nvSpPr>
        <p:spPr bwMode="auto">
          <a:xfrm>
            <a:off x="3187448" y="5656263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85" name="Oval 161"/>
          <p:cNvSpPr>
            <a:spLocks noChangeArrowheads="1"/>
          </p:cNvSpPr>
          <p:nvPr/>
        </p:nvSpPr>
        <p:spPr bwMode="auto">
          <a:xfrm>
            <a:off x="3187448" y="5818188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86" name="Text Box 162"/>
          <p:cNvSpPr txBox="1">
            <a:spLocks noChangeArrowheads="1"/>
          </p:cNvSpPr>
          <p:nvPr/>
        </p:nvSpPr>
        <p:spPr bwMode="auto">
          <a:xfrm>
            <a:off x="323528" y="6273800"/>
            <a:ext cx="802610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</a:rPr>
              <a:t> Para regressão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linear simples</a:t>
            </a:r>
            <a:r>
              <a:rPr lang="pt-BR" altLang="pt-BR" sz="1600" dirty="0">
                <a:latin typeface="Tahoma" panose="020B0604030504040204" pitchFamily="34" charset="0"/>
              </a:rPr>
              <a:t>: teste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F</a:t>
            </a:r>
            <a:r>
              <a:rPr lang="pt-BR" altLang="pt-BR" sz="1600" dirty="0">
                <a:latin typeface="Tahoma" panose="020B0604030504040204" pitchFamily="34" charset="0"/>
              </a:rPr>
              <a:t> é equivalente ao teste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t</a:t>
            </a:r>
            <a:r>
              <a:rPr lang="pt-BR" altLang="pt-BR" sz="1600" dirty="0">
                <a:latin typeface="Tahoma" panose="020B0604030504040204" pitchFamily="34" charset="0"/>
              </a:rPr>
              <a:t> bilateral para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5" name="Group 163"/>
          <p:cNvGrpSpPr>
            <a:grpSpLocks/>
          </p:cNvGrpSpPr>
          <p:nvPr/>
        </p:nvGrpSpPr>
        <p:grpSpPr bwMode="auto">
          <a:xfrm>
            <a:off x="4930250" y="4881563"/>
            <a:ext cx="938213" cy="357187"/>
            <a:chOff x="2375" y="2538"/>
            <a:chExt cx="591" cy="225"/>
          </a:xfrm>
        </p:grpSpPr>
        <p:sp>
          <p:nvSpPr>
            <p:cNvPr id="24769" name="Oval 164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770" name="Text Box 165"/>
            <p:cNvSpPr txBox="1">
              <a:spLocks noChangeArrowheads="1"/>
            </p:cNvSpPr>
            <p:nvPr/>
          </p:nvSpPr>
          <p:spPr bwMode="auto">
            <a:xfrm>
              <a:off x="2652" y="2538"/>
              <a:ext cx="314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 dirty="0">
                  <a:solidFill>
                    <a:srgbClr val="FF0000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charset="0"/>
                  <a:sym typeface="Symbol" pitchFamily="18" charset="2"/>
                </a:rPr>
                <a:t>QME</a:t>
              </a:r>
              <a:endParaRPr lang="pt-BR" altLang="pt-BR" sz="1200" baseline="300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 charset="0"/>
                <a:sym typeface="Symbol" pitchFamily="18" charset="2"/>
              </a:endParaRPr>
            </a:p>
          </p:txBody>
        </p:sp>
      </p:grpSp>
      <p:sp>
        <p:nvSpPr>
          <p:cNvPr id="31" name="Oval 144"/>
          <p:cNvSpPr>
            <a:spLocks noChangeArrowheads="1"/>
          </p:cNvSpPr>
          <p:nvPr/>
        </p:nvSpPr>
        <p:spPr bwMode="auto">
          <a:xfrm>
            <a:off x="5830241" y="1906158"/>
            <a:ext cx="613967" cy="144462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2" name="Oval 160"/>
          <p:cNvSpPr>
            <a:spLocks noChangeArrowheads="1"/>
          </p:cNvSpPr>
          <p:nvPr/>
        </p:nvSpPr>
        <p:spPr bwMode="auto">
          <a:xfrm>
            <a:off x="6264547" y="1776374"/>
            <a:ext cx="324000" cy="144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3" name="Oval 161"/>
          <p:cNvSpPr>
            <a:spLocks noChangeArrowheads="1"/>
          </p:cNvSpPr>
          <p:nvPr/>
        </p:nvSpPr>
        <p:spPr bwMode="auto">
          <a:xfrm>
            <a:off x="5851172" y="1778647"/>
            <a:ext cx="324000" cy="144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427F4C-573F-40BD-9D45-6E67DB8161E0}" type="slidenum">
              <a:rPr lang="pt-BR"/>
              <a:pPr>
                <a:defRPr/>
              </a:pPr>
              <a:t>33</a:t>
            </a:fld>
            <a:endParaRPr lang="pt-BR" dirty="0"/>
          </a:p>
        </p:txBody>
      </p:sp>
      <p:sp>
        <p:nvSpPr>
          <p:cNvPr id="26779" name="Oval 155"/>
          <p:cNvSpPr>
            <a:spLocks noChangeArrowheads="1"/>
          </p:cNvSpPr>
          <p:nvPr/>
        </p:nvSpPr>
        <p:spPr bwMode="auto">
          <a:xfrm>
            <a:off x="5759300" y="5818188"/>
            <a:ext cx="584200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5" name="Oval 151"/>
          <p:cNvSpPr>
            <a:spLocks noChangeArrowheads="1"/>
          </p:cNvSpPr>
          <p:nvPr/>
        </p:nvSpPr>
        <p:spPr bwMode="auto">
          <a:xfrm>
            <a:off x="6525566" y="4784422"/>
            <a:ext cx="765175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9" name="Grupo 8"/>
          <p:cNvGrpSpPr/>
          <p:nvPr/>
        </p:nvGrpSpPr>
        <p:grpSpPr>
          <a:xfrm>
            <a:off x="3424864" y="2924960"/>
            <a:ext cx="468000" cy="144000"/>
            <a:chOff x="8892480" y="4225280"/>
            <a:chExt cx="792088" cy="288032"/>
          </a:xfrm>
        </p:grpSpPr>
        <p:cxnSp>
          <p:nvCxnSpPr>
            <p:cNvPr id="8" name="Conector reto 7"/>
            <p:cNvCxnSpPr/>
            <p:nvPr/>
          </p:nvCxnSpPr>
          <p:spPr bwMode="auto">
            <a:xfrm>
              <a:off x="8892480" y="4225280"/>
              <a:ext cx="792088" cy="2880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Conector reto 35"/>
            <p:cNvCxnSpPr/>
            <p:nvPr/>
          </p:nvCxnSpPr>
          <p:spPr bwMode="auto">
            <a:xfrm flipH="1">
              <a:off x="8892480" y="4225280"/>
              <a:ext cx="792088" cy="2880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37" name="Grupo 36"/>
          <p:cNvGrpSpPr/>
          <p:nvPr/>
        </p:nvGrpSpPr>
        <p:grpSpPr>
          <a:xfrm>
            <a:off x="3892550" y="3180574"/>
            <a:ext cx="1951339" cy="461665"/>
            <a:chOff x="4214937" y="1551904"/>
            <a:chExt cx="1951339" cy="461665"/>
          </a:xfrm>
        </p:grpSpPr>
        <p:sp>
          <p:nvSpPr>
            <p:cNvPr id="38" name="Seta para baixo 37"/>
            <p:cNvSpPr/>
            <p:nvPr/>
          </p:nvSpPr>
          <p:spPr>
            <a:xfrm rot="13920000" flipV="1">
              <a:off x="4268912" y="1766490"/>
              <a:ext cx="7143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9" name="CaixaDeTexto 38"/>
            <p:cNvSpPr txBox="1"/>
            <p:nvPr/>
          </p:nvSpPr>
          <p:spPr>
            <a:xfrm>
              <a:off x="4347734" y="1551904"/>
              <a:ext cx="18185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0" dirty="0">
                  <a:latin typeface="Tahoma" panose="020B0604030504040204" pitchFamily="34" charset="0"/>
                </a:rPr>
                <a:t>importante em regressões múltiplas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0" name="Grupo 39"/>
          <p:cNvGrpSpPr/>
          <p:nvPr/>
        </p:nvGrpSpPr>
        <p:grpSpPr>
          <a:xfrm>
            <a:off x="6521452" y="5544528"/>
            <a:ext cx="1835652" cy="524438"/>
            <a:chOff x="8892480" y="4225280"/>
            <a:chExt cx="792088" cy="288032"/>
          </a:xfrm>
        </p:grpSpPr>
        <p:cxnSp>
          <p:nvCxnSpPr>
            <p:cNvPr id="41" name="Conector reto 40"/>
            <p:cNvCxnSpPr/>
            <p:nvPr/>
          </p:nvCxnSpPr>
          <p:spPr bwMode="auto">
            <a:xfrm>
              <a:off x="8892480" y="4225280"/>
              <a:ext cx="792088" cy="2880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2" name="Conector reto 41"/>
            <p:cNvCxnSpPr/>
            <p:nvPr/>
          </p:nvCxnSpPr>
          <p:spPr bwMode="auto">
            <a:xfrm flipH="1">
              <a:off x="8892480" y="4225280"/>
              <a:ext cx="792088" cy="2880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43" name="Grupo 42"/>
          <p:cNvGrpSpPr/>
          <p:nvPr/>
        </p:nvGrpSpPr>
        <p:grpSpPr>
          <a:xfrm>
            <a:off x="6026820" y="5270144"/>
            <a:ext cx="1951339" cy="276999"/>
            <a:chOff x="4214937" y="1623316"/>
            <a:chExt cx="1951339" cy="276999"/>
          </a:xfrm>
        </p:grpSpPr>
        <p:sp>
          <p:nvSpPr>
            <p:cNvPr id="44" name="Seta para baixo 43"/>
            <p:cNvSpPr/>
            <p:nvPr/>
          </p:nvSpPr>
          <p:spPr>
            <a:xfrm rot="13920000" flipV="1">
              <a:off x="4268912" y="1766490"/>
              <a:ext cx="7143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5" name="CaixaDeTexto 44"/>
            <p:cNvSpPr txBox="1"/>
            <p:nvPr/>
          </p:nvSpPr>
          <p:spPr>
            <a:xfrm>
              <a:off x="4347734" y="1623316"/>
              <a:ext cx="18185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0" dirty="0">
                  <a:latin typeface="Tahoma" panose="020B0604030504040204" pitchFamily="34" charset="0"/>
                </a:rPr>
                <a:t>bilateral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28648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768" grpId="0" animBg="1" autoUpdateAnimBg="0"/>
      <p:bldP spid="26771" grpId="0" animBg="1" autoUpdateAnimBg="0"/>
      <p:bldP spid="26776" grpId="0" animBg="1" autoUpdateAnimBg="0"/>
      <p:bldP spid="26777" grpId="0" animBg="1" autoUpdateAnimBg="0"/>
      <p:bldP spid="26778" grpId="0" animBg="1" autoUpdateAnimBg="0"/>
      <p:bldP spid="26784" grpId="0" animBg="1" autoUpdateAnimBg="0"/>
      <p:bldP spid="26785" grpId="0" animBg="1" autoUpdateAnimBg="0"/>
      <p:bldP spid="26786" grpId="0" autoUpdateAnimBg="0"/>
      <p:bldP spid="31" grpId="0" animBg="1" autoUpdateAnimBg="0"/>
      <p:bldP spid="32" grpId="0" animBg="1" autoUpdateAnimBg="0"/>
      <p:bldP spid="33" grpId="0" animBg="1" autoUpdateAnimBg="0"/>
      <p:bldP spid="26779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78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3523" y="1509713"/>
            <a:ext cx="3590925" cy="2236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 no R</a:t>
            </a:r>
          </a:p>
        </p:txBody>
      </p:sp>
      <p:graphicFrame>
        <p:nvGraphicFramePr>
          <p:cNvPr id="26761" name="Group 1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724270"/>
              </p:ext>
            </p:extLst>
          </p:nvPr>
        </p:nvGraphicFramePr>
        <p:xfrm>
          <a:off x="323528" y="1520825"/>
          <a:ext cx="1219200" cy="30480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1,9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2,5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7,8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7,0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639" name="Text Box 62"/>
          <p:cNvSpPr txBox="1">
            <a:spLocks noChangeArrowheads="1"/>
          </p:cNvSpPr>
          <p:nvPr/>
        </p:nvSpPr>
        <p:spPr bwMode="auto">
          <a:xfrm>
            <a:off x="1637258" y="1509713"/>
            <a:ext cx="3582988" cy="1600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88900" indent="-88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x &lt;- c(1,2,3,4,5,6,7,8,9)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y &lt;- c(1.1,1.9,2.5,4.3,6.1,6.3,7.8,7,9.1)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(x, y,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xlim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= c(1,9),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ylim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= c(1,10))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(y ~ x)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abline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ypred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predict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endParaRPr lang="pt-BR" alt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tângulo 5"/>
          <p:cNvSpPr>
            <a:spLocks noChangeArrowheads="1"/>
          </p:cNvSpPr>
          <p:nvPr/>
        </p:nvSpPr>
        <p:spPr bwMode="auto">
          <a:xfrm>
            <a:off x="1667421" y="3365500"/>
            <a:ext cx="4776787" cy="323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Call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(formula = y ~ x)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Residuals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Min       1Q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Median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3Q      Max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-1.11722 -0.22722 -0.01556  0.17944  0.97778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Coefficients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Estimate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Std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Error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t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value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Intercept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  0.13056    0.48930   0.267    0.797   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            	0.99833    0.08695  11.482 8.55e-06 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Signif.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codes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 0 ‘***’ 0.001 ‘**’ 0.01 ‘*’ 0.05 ‘.’ 0.1 ‘ ’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Residual standard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error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0.6735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7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degrees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freedom</a:t>
            </a: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Multiple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R-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squared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 0.9496,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Adjusted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R-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squared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 0.9424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F-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statistic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131.8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1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7 DF,  p-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value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8.547e-06</a:t>
            </a:r>
          </a:p>
        </p:txBody>
      </p:sp>
      <p:grpSp>
        <p:nvGrpSpPr>
          <p:cNvPr id="42" name="Group 157"/>
          <p:cNvGrpSpPr>
            <a:grpSpLocks/>
          </p:cNvGrpSpPr>
          <p:nvPr/>
        </p:nvGrpSpPr>
        <p:grpSpPr bwMode="auto">
          <a:xfrm>
            <a:off x="3419041" y="5836894"/>
            <a:ext cx="1271588" cy="357187"/>
            <a:chOff x="2375" y="2538"/>
            <a:chExt cx="801" cy="2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57" name="Text Box 156"/>
                <p:cNvSpPr txBox="1">
                  <a:spLocks noChangeArrowheads="1"/>
                </p:cNvSpPr>
                <p:nvPr/>
              </p:nvSpPr>
              <p:spPr bwMode="auto">
                <a:xfrm>
                  <a:off x="2703" y="2538"/>
                  <a:ext cx="473" cy="223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ad>
                          <m:radPr>
                            <m:degHide m:val="on"/>
                            <m:ctrlPr>
                              <a:rPr lang="pt-BR" altLang="pt-BR" sz="1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charset="0"/>
                                <a:sym typeface="Symbol" pitchFamily="18" charset="2"/>
                              </a:rPr>
                            </m:ctrlPr>
                          </m:radPr>
                          <m:deg/>
                          <m:e>
                            <m:r>
                              <a:rPr lang="pt-BR" altLang="pt-BR" sz="1400" i="1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charset="0"/>
                                <a:sym typeface="Symbol" pitchFamily="18" charset="2"/>
                              </a:rPr>
                              <m:t>𝑄𝑀𝐸</m:t>
                            </m:r>
                          </m:e>
                        </m:rad>
                      </m:oMath>
                    </m:oMathPara>
                  </a14:m>
                  <a:endParaRPr lang="pt-BR" altLang="pt-BR" sz="160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charset="0"/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5657" name="Text Box 1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03" y="2538"/>
                  <a:ext cx="473" cy="223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/>
                  </a:stretch>
                </a:blip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658" name="Oval 145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52" name="Oval 152"/>
          <p:cNvSpPr>
            <a:spLocks noChangeArrowheads="1"/>
          </p:cNvSpPr>
          <p:nvPr/>
        </p:nvSpPr>
        <p:spPr bwMode="auto">
          <a:xfrm>
            <a:off x="3851920" y="4995863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3" name="Oval 153"/>
          <p:cNvSpPr>
            <a:spLocks noChangeArrowheads="1"/>
          </p:cNvSpPr>
          <p:nvPr/>
        </p:nvSpPr>
        <p:spPr bwMode="auto">
          <a:xfrm>
            <a:off x="4427984" y="4995863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4" name="Oval 154"/>
          <p:cNvSpPr>
            <a:spLocks noChangeArrowheads="1"/>
          </p:cNvSpPr>
          <p:nvPr/>
        </p:nvSpPr>
        <p:spPr bwMode="auto">
          <a:xfrm>
            <a:off x="3995936" y="5172075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5" name="Oval 155"/>
          <p:cNvSpPr>
            <a:spLocks noChangeArrowheads="1"/>
          </p:cNvSpPr>
          <p:nvPr/>
        </p:nvSpPr>
        <p:spPr bwMode="auto">
          <a:xfrm>
            <a:off x="4479231" y="5181600"/>
            <a:ext cx="698500" cy="271463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6" name="Oval 160"/>
          <p:cNvSpPr>
            <a:spLocks noChangeArrowheads="1"/>
          </p:cNvSpPr>
          <p:nvPr/>
        </p:nvSpPr>
        <p:spPr bwMode="auto">
          <a:xfrm>
            <a:off x="2502154" y="4995863"/>
            <a:ext cx="596900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7" name="Oval 161"/>
          <p:cNvSpPr>
            <a:spLocks noChangeArrowheads="1"/>
          </p:cNvSpPr>
          <p:nvPr/>
        </p:nvSpPr>
        <p:spPr bwMode="auto">
          <a:xfrm>
            <a:off x="2638634" y="5172075"/>
            <a:ext cx="596900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5" name="Group 157"/>
          <p:cNvGrpSpPr>
            <a:grpSpLocks/>
          </p:cNvGrpSpPr>
          <p:nvPr/>
        </p:nvGrpSpPr>
        <p:grpSpPr bwMode="auto">
          <a:xfrm>
            <a:off x="3148884" y="6015038"/>
            <a:ext cx="854075" cy="355600"/>
            <a:chOff x="2375" y="2538"/>
            <a:chExt cx="538" cy="225"/>
          </a:xfrm>
        </p:grpSpPr>
        <p:sp>
          <p:nvSpPr>
            <p:cNvPr id="25653" name="Text Box 156"/>
            <p:cNvSpPr txBox="1">
              <a:spLocks noChangeArrowheads="1"/>
            </p:cNvSpPr>
            <p:nvPr/>
          </p:nvSpPr>
          <p:spPr bwMode="auto">
            <a:xfrm>
              <a:off x="2703" y="2538"/>
              <a:ext cx="210" cy="21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r</a:t>
              </a:r>
              <a:r>
                <a:rPr lang="pt-BR" altLang="pt-BR" sz="1600" baseline="3000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2</a:t>
              </a:r>
            </a:p>
          </p:txBody>
        </p:sp>
        <p:sp>
          <p:nvSpPr>
            <p:cNvPr id="25654" name="Oval 145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155D8D-EB84-406A-8828-67DF596D2BDB}" type="slidenum">
              <a:rPr lang="pt-BR"/>
              <a:pPr>
                <a:defRPr/>
              </a:pPr>
              <a:t>34</a:t>
            </a:fld>
            <a:endParaRPr lang="pt-BR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5434359" y="3556807"/>
            <a:ext cx="381816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Response: y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   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Sum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Mean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F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value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(&gt;F)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x             1     59.8        59.8     131.8  8.55e-06</a:t>
            </a:r>
            <a:r>
              <a:rPr lang="pt-BR" altLang="pt-BR" sz="900" dirty="0">
                <a:latin typeface="Arial" panose="020B0604020202020204" pitchFamily="34" charset="0"/>
                <a:cs typeface="Arial" panose="020B0604020202020204" pitchFamily="34" charset="0"/>
              </a:rPr>
              <a:t>***</a:t>
            </a: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Residuals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7    3.175      0.454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Signif.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codes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0 ‘***’ 0.001 ‘**’ 0.01 ‘*’ 0.05 ‘.’ 0.1 ‘ ’ 1</a:t>
            </a:r>
          </a:p>
        </p:txBody>
      </p:sp>
      <p:sp>
        <p:nvSpPr>
          <p:cNvPr id="28" name="Text Box 62"/>
          <p:cNvSpPr txBox="1">
            <a:spLocks noChangeArrowheads="1"/>
          </p:cNvSpPr>
          <p:nvPr/>
        </p:nvSpPr>
        <p:spPr bwMode="auto">
          <a:xfrm>
            <a:off x="1638792" y="2795939"/>
            <a:ext cx="358298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88900" indent="-88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anova(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5" name="Grupo 4"/>
          <p:cNvGrpSpPr/>
          <p:nvPr/>
        </p:nvGrpSpPr>
        <p:grpSpPr>
          <a:xfrm>
            <a:off x="4537305" y="4107304"/>
            <a:ext cx="4304734" cy="2460184"/>
            <a:chOff x="4537305" y="4107304"/>
            <a:chExt cx="4304734" cy="2460184"/>
          </a:xfrm>
        </p:grpSpPr>
        <p:grpSp>
          <p:nvGrpSpPr>
            <p:cNvPr id="49" name="Group 159"/>
            <p:cNvGrpSpPr>
              <a:grpSpLocks/>
            </p:cNvGrpSpPr>
            <p:nvPr/>
          </p:nvGrpSpPr>
          <p:grpSpPr bwMode="auto">
            <a:xfrm>
              <a:off x="4537305" y="6243638"/>
              <a:ext cx="1474792" cy="323850"/>
              <a:chOff x="4104" y="3068"/>
              <a:chExt cx="929" cy="204"/>
            </a:xfrm>
          </p:grpSpPr>
          <p:sp>
            <p:nvSpPr>
              <p:cNvPr id="25655" name="Text Box 158"/>
              <p:cNvSpPr txBox="1">
                <a:spLocks noChangeArrowheads="1"/>
              </p:cNvSpPr>
              <p:nvPr/>
            </p:nvSpPr>
            <p:spPr bwMode="auto">
              <a:xfrm>
                <a:off x="4557" y="3068"/>
                <a:ext cx="476" cy="19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valor-P</a:t>
                </a:r>
              </a:p>
            </p:txBody>
          </p:sp>
          <p:sp>
            <p:nvSpPr>
              <p:cNvPr id="25656" name="Oval 151"/>
              <p:cNvSpPr>
                <a:spLocks noChangeArrowheads="1"/>
              </p:cNvSpPr>
              <p:nvPr/>
            </p:nvSpPr>
            <p:spPr bwMode="auto">
              <a:xfrm>
                <a:off x="4104" y="3090"/>
                <a:ext cx="482" cy="182"/>
              </a:xfrm>
              <a:prstGeom prst="ellips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1" name="Oval 151"/>
            <p:cNvSpPr>
              <a:spLocks noChangeArrowheads="1"/>
            </p:cNvSpPr>
            <p:nvPr/>
          </p:nvSpPr>
          <p:spPr bwMode="auto">
            <a:xfrm>
              <a:off x="8076864" y="4107304"/>
              <a:ext cx="765175" cy="288925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upo 3"/>
          <p:cNvGrpSpPr/>
          <p:nvPr/>
        </p:nvGrpSpPr>
        <p:grpSpPr>
          <a:xfrm>
            <a:off x="2460240" y="4108136"/>
            <a:ext cx="5602976" cy="2468877"/>
            <a:chOff x="2460240" y="4108136"/>
            <a:chExt cx="5602976" cy="2468877"/>
          </a:xfrm>
        </p:grpSpPr>
        <p:sp>
          <p:nvSpPr>
            <p:cNvPr id="48" name="Oval 147"/>
            <p:cNvSpPr>
              <a:spLocks noChangeArrowheads="1"/>
            </p:cNvSpPr>
            <p:nvPr/>
          </p:nvSpPr>
          <p:spPr bwMode="auto">
            <a:xfrm>
              <a:off x="2460240" y="6288088"/>
              <a:ext cx="431800" cy="288925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" name="Oval 147"/>
            <p:cNvSpPr>
              <a:spLocks noChangeArrowheads="1"/>
            </p:cNvSpPr>
            <p:nvPr/>
          </p:nvSpPr>
          <p:spPr bwMode="auto">
            <a:xfrm>
              <a:off x="7631416" y="4108136"/>
              <a:ext cx="431800" cy="288925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5" name="Group 163"/>
          <p:cNvGrpSpPr>
            <a:grpSpLocks/>
          </p:cNvGrpSpPr>
          <p:nvPr/>
        </p:nvGrpSpPr>
        <p:grpSpPr bwMode="auto">
          <a:xfrm>
            <a:off x="7077922" y="4289361"/>
            <a:ext cx="898526" cy="436563"/>
            <a:chOff x="2375" y="2581"/>
            <a:chExt cx="566" cy="275"/>
          </a:xfrm>
        </p:grpSpPr>
        <p:sp>
          <p:nvSpPr>
            <p:cNvPr id="36" name="Oval 164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165"/>
                <p:cNvSpPr txBox="1">
                  <a:spLocks noChangeArrowheads="1"/>
                </p:cNvSpPr>
                <p:nvPr/>
              </p:nvSpPr>
              <p:spPr bwMode="auto">
                <a:xfrm>
                  <a:off x="2611" y="2684"/>
                  <a:ext cx="330" cy="17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altLang="pt-BR" sz="12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charset="0"/>
                            <a:sym typeface="Symbol" pitchFamily="18" charset="2"/>
                          </a:rPr>
                          <m:t>QME</m:t>
                        </m:r>
                      </m:oMath>
                    </m:oMathPara>
                  </a14:m>
                  <a:endParaRPr lang="pt-BR" altLang="pt-BR" sz="1600" baseline="30000" dirty="0">
                    <a:solidFill>
                      <a:srgbClr val="FF0000"/>
                    </a:solidFill>
                    <a:latin typeface="Times New Roman" charset="0"/>
                    <a:cs typeface="Times New Roman" charset="0"/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7" name="Text Box 16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11" y="2684"/>
                  <a:ext cx="330" cy="172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Oval 160"/>
          <p:cNvSpPr>
            <a:spLocks noChangeArrowheads="1"/>
          </p:cNvSpPr>
          <p:nvPr/>
        </p:nvSpPr>
        <p:spPr bwMode="auto">
          <a:xfrm>
            <a:off x="2174938" y="2132856"/>
            <a:ext cx="928717" cy="376452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8" name="Oval 160"/>
          <p:cNvSpPr>
            <a:spLocks noChangeArrowheads="1"/>
          </p:cNvSpPr>
          <p:nvPr/>
        </p:nvSpPr>
        <p:spPr bwMode="auto">
          <a:xfrm>
            <a:off x="2482502" y="2538121"/>
            <a:ext cx="928717" cy="376452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 nodeType="clickPar">
                      <p:stCondLst>
                        <p:cond delay="indefinite"/>
                      </p:stCondLst>
                      <p:childTnLst>
                        <p:par>
                          <p:cTn id="4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 nodeType="clickPar">
                      <p:stCondLst>
                        <p:cond delay="indefinite"/>
                      </p:stCondLst>
                      <p:childTnLst>
                        <p:par>
                          <p:cTn id="5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 nodeType="clickPar">
                      <p:stCondLst>
                        <p:cond delay="indefinite"/>
                      </p:stCondLst>
                      <p:childTnLst>
                        <p:par>
                          <p:cTn id="5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52" grpId="0" animBg="1" autoUpdateAnimBg="0"/>
      <p:bldP spid="53" grpId="0" animBg="1" autoUpdateAnimBg="0"/>
      <p:bldP spid="54" grpId="0" animBg="1" autoUpdateAnimBg="0"/>
      <p:bldP spid="55" grpId="0" animBg="1" autoUpdateAnimBg="0"/>
      <p:bldP spid="56" grpId="0" animBg="1" autoUpdateAnimBg="0"/>
      <p:bldP spid="57" grpId="0" animBg="1" autoUpdateAnimBg="0"/>
      <p:bldP spid="3" grpId="0"/>
      <p:bldP spid="28" grpId="0"/>
      <p:bldP spid="33" grpId="0" animBg="1" autoUpdateAnimBg="0"/>
      <p:bldP spid="38" grpId="0" animBg="1" autoUpdateAnimBg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Modelos Linearizáveis</a:t>
            </a:r>
          </a:p>
        </p:txBody>
      </p:sp>
      <p:sp>
        <p:nvSpPr>
          <p:cNvPr id="26627" name="Rectangle 5"/>
          <p:cNvSpPr>
            <a:spLocks noChangeArrowheads="1"/>
          </p:cNvSpPr>
          <p:nvPr/>
        </p:nvSpPr>
        <p:spPr bwMode="auto">
          <a:xfrm>
            <a:off x="468313" y="1430338"/>
            <a:ext cx="4572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Modelo Padrão: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Y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=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0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+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1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+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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i</a:t>
            </a:r>
          </a:p>
        </p:txBody>
      </p:sp>
      <p:graphicFrame>
        <p:nvGraphicFramePr>
          <p:cNvPr id="27658" name="Object 10"/>
          <p:cNvGraphicFramePr>
            <a:graphicFrameLocks/>
          </p:cNvGraphicFramePr>
          <p:nvPr/>
        </p:nvGraphicFramePr>
        <p:xfrm>
          <a:off x="573088" y="2506663"/>
          <a:ext cx="1622425" cy="417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12447" imgH="241195" progId="Equation.3">
                  <p:embed/>
                </p:oleObj>
              </mc:Choice>
              <mc:Fallback>
                <p:oleObj name="Equation" r:id="rId2" imgW="812447" imgH="241195" progId="Equation.3">
                  <p:embed/>
                  <p:pic>
                    <p:nvPicPr>
                      <p:cNvPr id="27658" name="Object 10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3088" y="2506663"/>
                        <a:ext cx="1622425" cy="417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9" name="Object 11"/>
          <p:cNvGraphicFramePr>
            <a:graphicFrameLocks/>
          </p:cNvGraphicFramePr>
          <p:nvPr/>
        </p:nvGraphicFramePr>
        <p:xfrm>
          <a:off x="2790825" y="2506663"/>
          <a:ext cx="3119438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62100" imgH="228600" progId="Equation.3">
                  <p:embed/>
                </p:oleObj>
              </mc:Choice>
              <mc:Fallback>
                <p:oleObj name="Equation" r:id="rId4" imgW="1562100" imgH="228600" progId="Equation.3">
                  <p:embed/>
                  <p:pic>
                    <p:nvPicPr>
                      <p:cNvPr id="27659" name="Object 11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90825" y="2506663"/>
                        <a:ext cx="3119438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60" name="Object 12"/>
          <p:cNvGraphicFramePr>
            <a:graphicFrameLocks/>
          </p:cNvGraphicFramePr>
          <p:nvPr/>
        </p:nvGraphicFramePr>
        <p:xfrm>
          <a:off x="6443663" y="2506663"/>
          <a:ext cx="2306637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55700" imgH="228600" progId="Equation.3">
                  <p:embed/>
                </p:oleObj>
              </mc:Choice>
              <mc:Fallback>
                <p:oleObj name="Equation" r:id="rId6" imgW="1155700" imgH="228600" progId="Equation.3">
                  <p:embed/>
                  <p:pic>
                    <p:nvPicPr>
                      <p:cNvPr id="27660" name="Object 12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43663" y="2506663"/>
                        <a:ext cx="2306637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64" name="Text Box 16"/>
          <p:cNvSpPr txBox="1">
            <a:spLocks noChangeArrowheads="1"/>
          </p:cNvSpPr>
          <p:nvPr/>
        </p:nvSpPr>
        <p:spPr bwMode="auto">
          <a:xfrm>
            <a:off x="482600" y="2093913"/>
            <a:ext cx="124906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exponencial</a:t>
            </a:r>
          </a:p>
        </p:txBody>
      </p:sp>
      <p:graphicFrame>
        <p:nvGraphicFramePr>
          <p:cNvPr id="27675" name="Object 27"/>
          <p:cNvGraphicFramePr>
            <a:graphicFrameLocks/>
          </p:cNvGraphicFramePr>
          <p:nvPr/>
        </p:nvGraphicFramePr>
        <p:xfrm>
          <a:off x="7235825" y="3135313"/>
          <a:ext cx="1698625" cy="415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50531" imgH="241195" progId="Equation.3">
                  <p:embed/>
                </p:oleObj>
              </mc:Choice>
              <mc:Fallback>
                <p:oleObj name="Equation" r:id="rId8" imgW="850531" imgH="241195" progId="Equation.3">
                  <p:embed/>
                  <p:pic>
                    <p:nvPicPr>
                      <p:cNvPr id="27675" name="Object 27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5825" y="3135313"/>
                        <a:ext cx="1698625" cy="415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76" name="Rectangle 28"/>
          <p:cNvSpPr>
            <a:spLocks noChangeArrowheads="1"/>
          </p:cNvSpPr>
          <p:nvPr/>
        </p:nvSpPr>
        <p:spPr bwMode="auto">
          <a:xfrm>
            <a:off x="7019925" y="2989263"/>
            <a:ext cx="2016125" cy="65087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9CCF51-AFE8-4582-BCCE-6D793386D5E0}" type="slidenum">
              <a:rPr lang="pt-BR"/>
              <a:pPr>
                <a:defRPr/>
              </a:pPr>
              <a:t>35</a:t>
            </a:fld>
            <a:endParaRPr lang="pt-BR"/>
          </a:p>
        </p:txBody>
      </p:sp>
      <p:pic>
        <p:nvPicPr>
          <p:cNvPr id="16" name="Picture 2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297" y="3745098"/>
            <a:ext cx="3859758" cy="23201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7" name="Picture 7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3717032"/>
            <a:ext cx="385975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9" name="Text Box 16"/>
          <p:cNvSpPr txBox="1">
            <a:spLocks noChangeArrowheads="1"/>
          </p:cNvSpPr>
          <p:nvPr/>
        </p:nvSpPr>
        <p:spPr bwMode="auto">
          <a:xfrm rot="16200000">
            <a:off x="-117645" y="4851837"/>
            <a:ext cx="124906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exponencial</a:t>
            </a:r>
          </a:p>
        </p:txBody>
      </p:sp>
      <p:sp>
        <p:nvSpPr>
          <p:cNvPr id="20" name="Seta para baixo 19"/>
          <p:cNvSpPr>
            <a:spLocks noChangeArrowheads="1"/>
          </p:cNvSpPr>
          <p:nvPr/>
        </p:nvSpPr>
        <p:spPr bwMode="auto">
          <a:xfrm rot="16200000">
            <a:off x="4627367" y="4620208"/>
            <a:ext cx="360362" cy="569913"/>
          </a:xfrm>
          <a:prstGeom prst="downArrow">
            <a:avLst>
              <a:gd name="adj1" fmla="val 50000"/>
              <a:gd name="adj2" fmla="val 49978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64" grpId="0"/>
      <p:bldP spid="27676" grpId="0" animBg="1"/>
      <p:bldP spid="19" grpId="0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Modelos Linearizáveis</a:t>
            </a:r>
          </a:p>
        </p:txBody>
      </p:sp>
      <p:sp>
        <p:nvSpPr>
          <p:cNvPr id="26627" name="Rectangle 5"/>
          <p:cNvSpPr>
            <a:spLocks noChangeArrowheads="1"/>
          </p:cNvSpPr>
          <p:nvPr/>
        </p:nvSpPr>
        <p:spPr bwMode="auto">
          <a:xfrm>
            <a:off x="468313" y="1430338"/>
            <a:ext cx="4572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Modelo Padrão: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Y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=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0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+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1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+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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i</a:t>
            </a:r>
          </a:p>
        </p:txBody>
      </p:sp>
      <p:graphicFrame>
        <p:nvGraphicFramePr>
          <p:cNvPr id="27655" name="Object 7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7966439"/>
              </p:ext>
            </p:extLst>
          </p:nvPr>
        </p:nvGraphicFramePr>
        <p:xfrm>
          <a:off x="560388" y="2538000"/>
          <a:ext cx="1571625" cy="417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787400" imgH="241300" progId="Equation.3">
                  <p:embed/>
                </p:oleObj>
              </mc:Choice>
              <mc:Fallback>
                <p:oleObj name="Equação" r:id="rId2" imgW="787400" imgH="241300" progId="Equation.3">
                  <p:embed/>
                  <p:pic>
                    <p:nvPicPr>
                      <p:cNvPr id="27655" name="Object 7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0388" y="2538000"/>
                        <a:ext cx="1571625" cy="417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6" name="Object 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6492467"/>
              </p:ext>
            </p:extLst>
          </p:nvPr>
        </p:nvGraphicFramePr>
        <p:xfrm>
          <a:off x="2627313" y="2538000"/>
          <a:ext cx="3448050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27200" imgH="228600" progId="Equation.3">
                  <p:embed/>
                </p:oleObj>
              </mc:Choice>
              <mc:Fallback>
                <p:oleObj name="Equation" r:id="rId4" imgW="1727200" imgH="228600" progId="Equation.3">
                  <p:embed/>
                  <p:pic>
                    <p:nvPicPr>
                      <p:cNvPr id="27656" name="Object 8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27313" y="2538000"/>
                        <a:ext cx="3448050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7" name="Object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60543163"/>
              </p:ext>
            </p:extLst>
          </p:nvPr>
        </p:nvGraphicFramePr>
        <p:xfrm>
          <a:off x="6443663" y="2538000"/>
          <a:ext cx="2306637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55700" imgH="228600" progId="Equation.3">
                  <p:embed/>
                </p:oleObj>
              </mc:Choice>
              <mc:Fallback>
                <p:oleObj name="Equation" r:id="rId6" imgW="1155700" imgH="228600" progId="Equation.3">
                  <p:embed/>
                  <p:pic>
                    <p:nvPicPr>
                      <p:cNvPr id="27657" name="Object 9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43663" y="2538000"/>
                        <a:ext cx="2306637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65" name="Text Box 17"/>
          <p:cNvSpPr txBox="1">
            <a:spLocks noChangeArrowheads="1"/>
          </p:cNvSpPr>
          <p:nvPr/>
        </p:nvSpPr>
        <p:spPr bwMode="auto">
          <a:xfrm>
            <a:off x="482600" y="2091912"/>
            <a:ext cx="99578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potencial</a:t>
            </a:r>
          </a:p>
        </p:txBody>
      </p:sp>
      <p:grpSp>
        <p:nvGrpSpPr>
          <p:cNvPr id="3" name="Grupo 2"/>
          <p:cNvGrpSpPr/>
          <p:nvPr/>
        </p:nvGrpSpPr>
        <p:grpSpPr>
          <a:xfrm>
            <a:off x="7019925" y="2989263"/>
            <a:ext cx="2016125" cy="650875"/>
            <a:chOff x="7019925" y="2989263"/>
            <a:chExt cx="2016125" cy="650875"/>
          </a:xfrm>
        </p:grpSpPr>
        <p:graphicFrame>
          <p:nvGraphicFramePr>
            <p:cNvPr id="27675" name="Object 27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529414926"/>
                </p:ext>
              </p:extLst>
            </p:nvPr>
          </p:nvGraphicFramePr>
          <p:xfrm>
            <a:off x="7235825" y="3135313"/>
            <a:ext cx="1698625" cy="4159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850531" imgH="241195" progId="Equation.3">
                    <p:embed/>
                  </p:oleObj>
                </mc:Choice>
                <mc:Fallback>
                  <p:oleObj name="Equation" r:id="rId8" imgW="850531" imgH="241195" progId="Equation.3">
                    <p:embed/>
                    <p:pic>
                      <p:nvPicPr>
                        <p:cNvPr id="27675" name="Object 27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235825" y="3135313"/>
                          <a:ext cx="1698625" cy="4159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7676" name="Rectangle 28"/>
            <p:cNvSpPr>
              <a:spLocks noChangeArrowheads="1"/>
            </p:cNvSpPr>
            <p:nvPr/>
          </p:nvSpPr>
          <p:spPr bwMode="auto">
            <a:xfrm>
              <a:off x="7019925" y="2989263"/>
              <a:ext cx="2016125" cy="650875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9CCF51-AFE8-4582-BCCE-6D793386D5E0}" type="slidenum">
              <a:rPr lang="pt-BR"/>
              <a:pPr>
                <a:defRPr/>
              </a:pPr>
              <a:t>36</a:t>
            </a:fld>
            <a:endParaRPr lang="pt-BR"/>
          </a:p>
        </p:txBody>
      </p:sp>
      <p:sp>
        <p:nvSpPr>
          <p:cNvPr id="18" name="Text Box 16"/>
          <p:cNvSpPr txBox="1">
            <a:spLocks noChangeArrowheads="1"/>
          </p:cNvSpPr>
          <p:nvPr/>
        </p:nvSpPr>
        <p:spPr bwMode="auto">
          <a:xfrm>
            <a:off x="482600" y="6054387"/>
            <a:ext cx="833787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5125" indent="-3651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adoção de uma  série de transformações (logaritmo, potência, inverso,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) em </a:t>
            </a:r>
            <a:r>
              <a:rPr lang="pt-BR" altLang="pt-BR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ou ambos permite que o modelo linear simples possa ser utilizado para representar relações mais complexas 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 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Modelos Lineares Generalizados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pic>
        <p:nvPicPr>
          <p:cNvPr id="17" name="Picture 8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297" y="3717032"/>
            <a:ext cx="385975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9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3717032"/>
            <a:ext cx="385975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" name="Text Box 17"/>
          <p:cNvSpPr txBox="1">
            <a:spLocks noChangeArrowheads="1"/>
          </p:cNvSpPr>
          <p:nvPr/>
        </p:nvSpPr>
        <p:spPr bwMode="auto">
          <a:xfrm rot="16200000">
            <a:off x="8993" y="4735886"/>
            <a:ext cx="99578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potencial</a:t>
            </a:r>
          </a:p>
        </p:txBody>
      </p:sp>
      <p:sp>
        <p:nvSpPr>
          <p:cNvPr id="21" name="Seta para baixo 20"/>
          <p:cNvSpPr>
            <a:spLocks noChangeArrowheads="1"/>
          </p:cNvSpPr>
          <p:nvPr/>
        </p:nvSpPr>
        <p:spPr bwMode="auto">
          <a:xfrm rot="16200000">
            <a:off x="4627367" y="4620208"/>
            <a:ext cx="360362" cy="569913"/>
          </a:xfrm>
          <a:prstGeom prst="downArrow">
            <a:avLst>
              <a:gd name="adj1" fmla="val 50000"/>
              <a:gd name="adj2" fmla="val 49978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490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  <p:bldP spid="20" grpId="0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Resíduos</a:t>
            </a:r>
          </a:p>
        </p:txBody>
      </p:sp>
      <p:grpSp>
        <p:nvGrpSpPr>
          <p:cNvPr id="2" name="Group 25"/>
          <p:cNvGrpSpPr>
            <a:grpSpLocks/>
          </p:cNvGrpSpPr>
          <p:nvPr/>
        </p:nvGrpSpPr>
        <p:grpSpPr bwMode="auto">
          <a:xfrm>
            <a:off x="5651500" y="5653559"/>
            <a:ext cx="2397125" cy="439737"/>
            <a:chOff x="340" y="3226"/>
            <a:chExt cx="1510" cy="277"/>
          </a:xfrm>
        </p:grpSpPr>
        <p:sp>
          <p:nvSpPr>
            <p:cNvPr id="27658" name="Rectangle 23"/>
            <p:cNvSpPr>
              <a:spLocks noChangeArrowheads="1"/>
            </p:cNvSpPr>
            <p:nvPr/>
          </p:nvSpPr>
          <p:spPr bwMode="auto">
            <a:xfrm>
              <a:off x="340" y="3265"/>
              <a:ext cx="70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Resíduo =</a:t>
              </a:r>
            </a:p>
          </p:txBody>
        </p:sp>
        <p:graphicFrame>
          <p:nvGraphicFramePr>
            <p:cNvPr id="27659" name="Object 24"/>
            <p:cNvGraphicFramePr>
              <a:graphicFrameLocks/>
            </p:cNvGraphicFramePr>
            <p:nvPr/>
          </p:nvGraphicFramePr>
          <p:xfrm>
            <a:off x="1034" y="3226"/>
            <a:ext cx="816" cy="27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" imgW="647419" imgH="253890" progId="Equation.3">
                    <p:embed/>
                  </p:oleObj>
                </mc:Choice>
                <mc:Fallback>
                  <p:oleObj name="Equação" r:id="rId2" imgW="647419" imgH="253890" progId="Equation.3">
                    <p:embed/>
                    <p:pic>
                      <p:nvPicPr>
                        <p:cNvPr id="27659" name="Object 2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34" y="3226"/>
                          <a:ext cx="816" cy="27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pic>
        <p:nvPicPr>
          <p:cNvPr id="27652" name="Picture 2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" y="2496021"/>
            <a:ext cx="3902075" cy="323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" name="Group 32"/>
          <p:cNvGrpSpPr>
            <a:grpSpLocks/>
          </p:cNvGrpSpPr>
          <p:nvPr/>
        </p:nvGrpSpPr>
        <p:grpSpPr bwMode="auto">
          <a:xfrm>
            <a:off x="4610100" y="2510309"/>
            <a:ext cx="3902075" cy="3230562"/>
            <a:chOff x="2904" y="1223"/>
            <a:chExt cx="2458" cy="2035"/>
          </a:xfrm>
        </p:grpSpPr>
        <p:pic>
          <p:nvPicPr>
            <p:cNvPr id="27656" name="Picture 27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04" y="1223"/>
              <a:ext cx="2458" cy="20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657" name="Line 28"/>
            <p:cNvSpPr>
              <a:spLocks noChangeShapeType="1"/>
            </p:cNvSpPr>
            <p:nvPr/>
          </p:nvSpPr>
          <p:spPr bwMode="auto">
            <a:xfrm>
              <a:off x="3418" y="2081"/>
              <a:ext cx="178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27654" name="Object 3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95060269"/>
              </p:ext>
            </p:extLst>
          </p:nvPr>
        </p:nvGraphicFramePr>
        <p:xfrm>
          <a:off x="1619250" y="2873846"/>
          <a:ext cx="1439863" cy="5000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84300" imgH="482600" progId="Equation.3">
                  <p:embed/>
                </p:oleObj>
              </mc:Choice>
              <mc:Fallback>
                <p:oleObj name="Equation" r:id="rId6" imgW="1384300" imgH="482600" progId="Equation.3">
                  <p:embed/>
                  <p:pic>
                    <p:nvPicPr>
                      <p:cNvPr id="27654" name="Object 31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250" y="2873846"/>
                        <a:ext cx="1439863" cy="5000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D6B7C8E-030E-4F06-980F-74F3281E6386}" type="slidenum">
              <a:rPr lang="pt-BR"/>
              <a:pPr>
                <a:defRPr/>
              </a:pPr>
              <a:t>37</a:t>
            </a:fld>
            <a:endParaRPr lang="pt-BR"/>
          </a:p>
        </p:txBody>
      </p:sp>
      <p:sp>
        <p:nvSpPr>
          <p:cNvPr id="12" name="Text Box 16"/>
          <p:cNvSpPr txBox="1">
            <a:spLocks noChangeArrowheads="1"/>
          </p:cNvSpPr>
          <p:nvPr/>
        </p:nvSpPr>
        <p:spPr bwMode="auto">
          <a:xfrm>
            <a:off x="488789" y="1479257"/>
            <a:ext cx="833787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5125" indent="-3651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uma etapa fundamental na Análise de Regressão pois auxilia na identificação de problemas que afetam diretamente a interpretação dos resultados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pSp>
        <p:nvGrpSpPr>
          <p:cNvPr id="6" name="Grupo 5"/>
          <p:cNvGrpSpPr/>
          <p:nvPr/>
        </p:nvGrpSpPr>
        <p:grpSpPr>
          <a:xfrm>
            <a:off x="4499992" y="2204864"/>
            <a:ext cx="4032447" cy="4176464"/>
            <a:chOff x="4499992" y="2204864"/>
            <a:chExt cx="4032447" cy="4176464"/>
          </a:xfrm>
        </p:grpSpPr>
        <p:sp>
          <p:nvSpPr>
            <p:cNvPr id="5" name="Retângulo 4"/>
            <p:cNvSpPr/>
            <p:nvPr/>
          </p:nvSpPr>
          <p:spPr bwMode="auto">
            <a:xfrm>
              <a:off x="4499992" y="2204864"/>
              <a:ext cx="4012183" cy="4176464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13" name="Grupo 12"/>
            <p:cNvGrpSpPr/>
            <p:nvPr/>
          </p:nvGrpSpPr>
          <p:grpSpPr>
            <a:xfrm>
              <a:off x="4610100" y="2510309"/>
              <a:ext cx="3922339" cy="3594100"/>
              <a:chOff x="4732338" y="1941513"/>
              <a:chExt cx="3922339" cy="3594100"/>
            </a:xfrm>
          </p:grpSpPr>
          <p:sp>
            <p:nvSpPr>
              <p:cNvPr id="14" name="Text Box 7"/>
              <p:cNvSpPr txBox="1">
                <a:spLocks noChangeArrowheads="1"/>
              </p:cNvSpPr>
              <p:nvPr/>
            </p:nvSpPr>
            <p:spPr bwMode="auto">
              <a:xfrm>
                <a:off x="4787900" y="5157788"/>
                <a:ext cx="2319338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  <a:cs typeface="Times New Roman" charset="0"/>
                  </a:rPr>
                  <a:t>Resíduo Padronizado =</a:t>
                </a:r>
              </a:p>
            </p:txBody>
          </p:sp>
          <p:graphicFrame>
            <p:nvGraphicFramePr>
              <p:cNvPr id="15" name="Object 24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907896108"/>
                  </p:ext>
                </p:extLst>
              </p:nvPr>
            </p:nvGraphicFramePr>
            <p:xfrm>
              <a:off x="6858000" y="5095875"/>
              <a:ext cx="1397000" cy="4397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8" imgW="698197" imgH="253890" progId="Equation.3">
                      <p:embed/>
                    </p:oleObj>
                  </mc:Choice>
                  <mc:Fallback>
                    <p:oleObj name="Equação" r:id="rId8" imgW="698197" imgH="253890" progId="Equation.3">
                      <p:embed/>
                      <p:pic>
                        <p:nvPicPr>
                          <p:cNvPr id="15" name="Object 24"/>
                          <p:cNvPicPr>
                            <a:picLocks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858000" y="5095875"/>
                            <a:ext cx="1397000" cy="4397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pSp>
            <p:nvGrpSpPr>
              <p:cNvPr id="16" name="Grupo 1"/>
              <p:cNvGrpSpPr>
                <a:grpSpLocks/>
              </p:cNvGrpSpPr>
              <p:nvPr/>
            </p:nvGrpSpPr>
            <p:grpSpPr bwMode="auto">
              <a:xfrm>
                <a:off x="4732338" y="1941513"/>
                <a:ext cx="3922339" cy="3230562"/>
                <a:chOff x="4732725" y="1941513"/>
                <a:chExt cx="3921940" cy="3230562"/>
              </a:xfrm>
            </p:grpSpPr>
            <p:pic>
              <p:nvPicPr>
                <p:cNvPr id="17" name="Picture 12"/>
                <p:cNvPicPr>
                  <a:picLocks noChangeAspect="1" noChangeArrowheads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242"/>
                <a:stretch>
                  <a:fillRect/>
                </a:stretch>
              </p:blipFill>
              <p:spPr bwMode="auto">
                <a:xfrm>
                  <a:off x="5152639" y="1941513"/>
                  <a:ext cx="3502026" cy="32305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8" name="Line 14"/>
                <p:cNvSpPr>
                  <a:spLocks noChangeShapeType="1"/>
                </p:cNvSpPr>
                <p:nvPr/>
              </p:nvSpPr>
              <p:spPr bwMode="auto">
                <a:xfrm>
                  <a:off x="5421314" y="3297684"/>
                  <a:ext cx="283368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" name="Text Box 7"/>
                <p:cNvSpPr txBox="1">
                  <a:spLocks noChangeArrowheads="1"/>
                </p:cNvSpPr>
                <p:nvPr/>
              </p:nvSpPr>
              <p:spPr bwMode="auto">
                <a:xfrm rot="-5400000">
                  <a:off x="4037839" y="3115774"/>
                  <a:ext cx="1666771" cy="2769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>
                      <a:latin typeface="Times New Roman" charset="0"/>
                      <a:cs typeface="Times New Roman" charset="0"/>
                    </a:rPr>
                    <a:t>Resíduos Padronizados</a:t>
                  </a:r>
                </a:p>
              </p:txBody>
            </p:sp>
          </p:grp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Resíduos</a:t>
            </a:r>
          </a:p>
        </p:txBody>
      </p:sp>
      <p:grpSp>
        <p:nvGrpSpPr>
          <p:cNvPr id="29699" name="Group 46"/>
          <p:cNvGrpSpPr>
            <a:grpSpLocks/>
          </p:cNvGrpSpPr>
          <p:nvPr/>
        </p:nvGrpSpPr>
        <p:grpSpPr bwMode="auto">
          <a:xfrm>
            <a:off x="323850" y="1462088"/>
            <a:ext cx="2735263" cy="2660650"/>
            <a:chOff x="204" y="556"/>
            <a:chExt cx="1723" cy="1676"/>
          </a:xfrm>
        </p:grpSpPr>
        <p:pic>
          <p:nvPicPr>
            <p:cNvPr id="29735" name="Picture 10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17"/>
            <a:stretch>
              <a:fillRect/>
            </a:stretch>
          </p:blipFill>
          <p:spPr bwMode="auto">
            <a:xfrm>
              <a:off x="270" y="655"/>
              <a:ext cx="1657" cy="1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63" name="Rectangle 19"/>
            <p:cNvSpPr>
              <a:spLocks noChangeArrowheads="1"/>
            </p:cNvSpPr>
            <p:nvPr/>
          </p:nvSpPr>
          <p:spPr bwMode="auto">
            <a:xfrm>
              <a:off x="566" y="1154"/>
              <a:ext cx="1089" cy="31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37" name="Line 11"/>
            <p:cNvSpPr>
              <a:spLocks noChangeShapeType="1"/>
            </p:cNvSpPr>
            <p:nvPr/>
          </p:nvSpPr>
          <p:spPr bwMode="auto">
            <a:xfrm flipV="1">
              <a:off x="410" y="1324"/>
              <a:ext cx="139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38" name="Text Box 14"/>
            <p:cNvSpPr txBox="1">
              <a:spLocks noChangeArrowheads="1"/>
            </p:cNvSpPr>
            <p:nvPr/>
          </p:nvSpPr>
          <p:spPr bwMode="auto">
            <a:xfrm>
              <a:off x="870" y="556"/>
              <a:ext cx="48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“ideal”</a:t>
              </a:r>
              <a:endParaRPr lang="pt-BR" altLang="pt-BR" sz="1600" dirty="0">
                <a:latin typeface="Tahoma" panose="020B0604030504040204" pitchFamily="34" charset="0"/>
                <a:sym typeface="Symbol" pitchFamily="18" charset="2"/>
              </a:endParaRPr>
            </a:p>
          </p:txBody>
        </p:sp>
        <p:sp>
          <p:nvSpPr>
            <p:cNvPr id="29739" name="Rectangle 35"/>
            <p:cNvSpPr>
              <a:spLocks noChangeArrowheads="1"/>
            </p:cNvSpPr>
            <p:nvPr/>
          </p:nvSpPr>
          <p:spPr bwMode="auto">
            <a:xfrm>
              <a:off x="340" y="1888"/>
              <a:ext cx="1542" cy="1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0" name="Rectangle 38"/>
            <p:cNvSpPr>
              <a:spLocks noChangeArrowheads="1"/>
            </p:cNvSpPr>
            <p:nvPr/>
          </p:nvSpPr>
          <p:spPr bwMode="auto">
            <a:xfrm>
              <a:off x="204" y="754"/>
              <a:ext cx="181" cy="11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oup 47"/>
          <p:cNvGrpSpPr>
            <a:grpSpLocks/>
          </p:cNvGrpSpPr>
          <p:nvPr/>
        </p:nvGrpSpPr>
        <p:grpSpPr bwMode="auto">
          <a:xfrm>
            <a:off x="3203575" y="1462088"/>
            <a:ext cx="2736850" cy="2660650"/>
            <a:chOff x="2018" y="556"/>
            <a:chExt cx="1724" cy="1676"/>
          </a:xfrm>
        </p:grpSpPr>
        <p:pic>
          <p:nvPicPr>
            <p:cNvPr id="29729" name="Picture 15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94"/>
            <a:stretch>
              <a:fillRect/>
            </a:stretch>
          </p:blipFill>
          <p:spPr bwMode="auto">
            <a:xfrm>
              <a:off x="2115" y="655"/>
              <a:ext cx="1627" cy="1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57" name="Freeform 16"/>
            <p:cNvSpPr>
              <a:spLocks/>
            </p:cNvSpPr>
            <p:nvPr/>
          </p:nvSpPr>
          <p:spPr bwMode="auto">
            <a:xfrm>
              <a:off x="2336" y="972"/>
              <a:ext cx="1089" cy="681"/>
            </a:xfrm>
            <a:custGeom>
              <a:avLst/>
              <a:gdLst>
                <a:gd name="T0" fmla="*/ 0 w 1089"/>
                <a:gd name="T1" fmla="*/ 273 h 681"/>
                <a:gd name="T2" fmla="*/ 1089 w 1089"/>
                <a:gd name="T3" fmla="*/ 0 h 681"/>
                <a:gd name="T4" fmla="*/ 1089 w 1089"/>
                <a:gd name="T5" fmla="*/ 681 h 681"/>
                <a:gd name="T6" fmla="*/ 0 w 1089"/>
                <a:gd name="T7" fmla="*/ 409 h 681"/>
                <a:gd name="T8" fmla="*/ 0 w 1089"/>
                <a:gd name="T9" fmla="*/ 273 h 6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089"/>
                <a:gd name="T16" fmla="*/ 0 h 681"/>
                <a:gd name="T17" fmla="*/ 1089 w 1089"/>
                <a:gd name="T18" fmla="*/ 681 h 68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089" h="681">
                  <a:moveTo>
                    <a:pt x="0" y="273"/>
                  </a:moveTo>
                  <a:lnTo>
                    <a:pt x="1089" y="0"/>
                  </a:lnTo>
                  <a:lnTo>
                    <a:pt x="1089" y="681"/>
                  </a:lnTo>
                  <a:lnTo>
                    <a:pt x="0" y="409"/>
                  </a:lnTo>
                  <a:lnTo>
                    <a:pt x="0" y="273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31" name="Line 17"/>
            <p:cNvSpPr>
              <a:spLocks noChangeShapeType="1"/>
            </p:cNvSpPr>
            <p:nvPr/>
          </p:nvSpPr>
          <p:spPr bwMode="auto">
            <a:xfrm flipV="1">
              <a:off x="2225" y="1324"/>
              <a:ext cx="139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32" name="Text Box 18"/>
            <p:cNvSpPr txBox="1">
              <a:spLocks noChangeArrowheads="1"/>
            </p:cNvSpPr>
            <p:nvPr/>
          </p:nvSpPr>
          <p:spPr bwMode="auto">
            <a:xfrm>
              <a:off x="2359" y="556"/>
              <a:ext cx="108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cs typeface="Times New Roman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cs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não constante</a:t>
              </a:r>
            </a:p>
          </p:txBody>
        </p:sp>
        <p:sp>
          <p:nvSpPr>
            <p:cNvPr id="29733" name="Rectangle 36"/>
            <p:cNvSpPr>
              <a:spLocks noChangeArrowheads="1"/>
            </p:cNvSpPr>
            <p:nvPr/>
          </p:nvSpPr>
          <p:spPr bwMode="auto">
            <a:xfrm>
              <a:off x="2109" y="1888"/>
              <a:ext cx="1581" cy="1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34" name="Rectangle 39"/>
            <p:cNvSpPr>
              <a:spLocks noChangeArrowheads="1"/>
            </p:cNvSpPr>
            <p:nvPr/>
          </p:nvSpPr>
          <p:spPr bwMode="auto">
            <a:xfrm>
              <a:off x="2018" y="754"/>
              <a:ext cx="181" cy="11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48"/>
          <p:cNvGrpSpPr>
            <a:grpSpLocks/>
          </p:cNvGrpSpPr>
          <p:nvPr/>
        </p:nvGrpSpPr>
        <p:grpSpPr bwMode="auto">
          <a:xfrm>
            <a:off x="6011863" y="1468438"/>
            <a:ext cx="2736850" cy="2654300"/>
            <a:chOff x="3787" y="560"/>
            <a:chExt cx="1724" cy="1672"/>
          </a:xfrm>
        </p:grpSpPr>
        <p:pic>
          <p:nvPicPr>
            <p:cNvPr id="29723" name="Picture 2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96"/>
            <a:stretch>
              <a:fillRect/>
            </a:stretch>
          </p:blipFill>
          <p:spPr bwMode="auto">
            <a:xfrm>
              <a:off x="3825" y="655"/>
              <a:ext cx="1686" cy="1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51" name="Freeform 25"/>
            <p:cNvSpPr>
              <a:spLocks/>
            </p:cNvSpPr>
            <p:nvPr/>
          </p:nvSpPr>
          <p:spPr bwMode="auto">
            <a:xfrm>
              <a:off x="4195" y="1067"/>
              <a:ext cx="1079" cy="479"/>
            </a:xfrm>
            <a:custGeom>
              <a:avLst/>
              <a:gdLst>
                <a:gd name="T0" fmla="*/ 0 w 1079"/>
                <a:gd name="T1" fmla="*/ 321 h 479"/>
                <a:gd name="T2" fmla="*/ 521 w 1079"/>
                <a:gd name="T3" fmla="*/ 0 h 479"/>
                <a:gd name="T4" fmla="*/ 1079 w 1079"/>
                <a:gd name="T5" fmla="*/ 321 h 479"/>
                <a:gd name="T6" fmla="*/ 1067 w 1079"/>
                <a:gd name="T7" fmla="*/ 479 h 479"/>
                <a:gd name="T8" fmla="*/ 515 w 1079"/>
                <a:gd name="T9" fmla="*/ 163 h 479"/>
                <a:gd name="T10" fmla="*/ 1 w 1079"/>
                <a:gd name="T11" fmla="*/ 463 h 479"/>
                <a:gd name="T12" fmla="*/ 0 w 1079"/>
                <a:gd name="T13" fmla="*/ 321 h 47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79"/>
                <a:gd name="T22" fmla="*/ 0 h 479"/>
                <a:gd name="T23" fmla="*/ 1079 w 1079"/>
                <a:gd name="T24" fmla="*/ 479 h 47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79" h="479">
                  <a:moveTo>
                    <a:pt x="0" y="321"/>
                  </a:moveTo>
                  <a:cubicBezTo>
                    <a:pt x="87" y="245"/>
                    <a:pt x="341" y="0"/>
                    <a:pt x="521" y="0"/>
                  </a:cubicBezTo>
                  <a:cubicBezTo>
                    <a:pt x="701" y="0"/>
                    <a:pt x="988" y="241"/>
                    <a:pt x="1079" y="321"/>
                  </a:cubicBezTo>
                  <a:lnTo>
                    <a:pt x="1067" y="479"/>
                  </a:lnTo>
                  <a:cubicBezTo>
                    <a:pt x="973" y="453"/>
                    <a:pt x="693" y="166"/>
                    <a:pt x="515" y="163"/>
                  </a:cubicBezTo>
                  <a:cubicBezTo>
                    <a:pt x="337" y="160"/>
                    <a:pt x="87" y="437"/>
                    <a:pt x="1" y="463"/>
                  </a:cubicBezTo>
                  <a:lnTo>
                    <a:pt x="0" y="321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25" name="Line 26"/>
            <p:cNvSpPr>
              <a:spLocks noChangeShapeType="1"/>
            </p:cNvSpPr>
            <p:nvPr/>
          </p:nvSpPr>
          <p:spPr bwMode="auto">
            <a:xfrm flipV="1">
              <a:off x="3994" y="1324"/>
              <a:ext cx="139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26" name="Text Box 27"/>
            <p:cNvSpPr txBox="1">
              <a:spLocks noChangeArrowheads="1"/>
            </p:cNvSpPr>
            <p:nvPr/>
          </p:nvSpPr>
          <p:spPr bwMode="auto">
            <a:xfrm>
              <a:off x="4218" y="560"/>
              <a:ext cx="98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não linearidade</a:t>
              </a:r>
              <a:endParaRPr lang="pt-BR" altLang="pt-BR" sz="1600" dirty="0">
                <a:latin typeface="Tahoma" panose="020B0604030504040204" pitchFamily="34" charset="0"/>
                <a:sym typeface="Symbol" pitchFamily="18" charset="2"/>
              </a:endParaRPr>
            </a:p>
          </p:txBody>
        </p:sp>
        <p:sp>
          <p:nvSpPr>
            <p:cNvPr id="29727" name="Rectangle 37"/>
            <p:cNvSpPr>
              <a:spLocks noChangeArrowheads="1"/>
            </p:cNvSpPr>
            <p:nvPr/>
          </p:nvSpPr>
          <p:spPr bwMode="auto">
            <a:xfrm>
              <a:off x="3923" y="1888"/>
              <a:ext cx="1542" cy="1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28" name="Rectangle 40"/>
            <p:cNvSpPr>
              <a:spLocks noChangeArrowheads="1"/>
            </p:cNvSpPr>
            <p:nvPr/>
          </p:nvSpPr>
          <p:spPr bwMode="auto">
            <a:xfrm>
              <a:off x="3787" y="709"/>
              <a:ext cx="181" cy="11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49"/>
          <p:cNvGrpSpPr>
            <a:grpSpLocks/>
          </p:cNvGrpSpPr>
          <p:nvPr/>
        </p:nvGrpSpPr>
        <p:grpSpPr bwMode="auto">
          <a:xfrm>
            <a:off x="3131816" y="4054476"/>
            <a:ext cx="2735262" cy="2687638"/>
            <a:chOff x="204" y="2292"/>
            <a:chExt cx="1723" cy="1693"/>
          </a:xfrm>
        </p:grpSpPr>
        <p:pic>
          <p:nvPicPr>
            <p:cNvPr id="29717" name="Picture 30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864"/>
            <a:stretch>
              <a:fillRect/>
            </a:stretch>
          </p:blipFill>
          <p:spPr bwMode="auto">
            <a:xfrm>
              <a:off x="248" y="2387"/>
              <a:ext cx="1679" cy="1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45" name="Freeform 31"/>
            <p:cNvSpPr>
              <a:spLocks/>
            </p:cNvSpPr>
            <p:nvPr/>
          </p:nvSpPr>
          <p:spPr bwMode="auto">
            <a:xfrm>
              <a:off x="567" y="2775"/>
              <a:ext cx="1081" cy="564"/>
            </a:xfrm>
            <a:custGeom>
              <a:avLst/>
              <a:gdLst>
                <a:gd name="T0" fmla="*/ 0 w 1081"/>
                <a:gd name="T1" fmla="*/ 422 h 564"/>
                <a:gd name="T2" fmla="*/ 1081 w 1081"/>
                <a:gd name="T3" fmla="*/ 0 h 564"/>
                <a:gd name="T4" fmla="*/ 1081 w 1081"/>
                <a:gd name="T5" fmla="*/ 158 h 564"/>
                <a:gd name="T6" fmla="*/ 1 w 1081"/>
                <a:gd name="T7" fmla="*/ 564 h 564"/>
                <a:gd name="T8" fmla="*/ 0 w 1081"/>
                <a:gd name="T9" fmla="*/ 422 h 56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081"/>
                <a:gd name="T16" fmla="*/ 0 h 564"/>
                <a:gd name="T17" fmla="*/ 1081 w 1081"/>
                <a:gd name="T18" fmla="*/ 564 h 56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081" h="564">
                  <a:moveTo>
                    <a:pt x="0" y="422"/>
                  </a:moveTo>
                  <a:lnTo>
                    <a:pt x="1081" y="0"/>
                  </a:lnTo>
                  <a:lnTo>
                    <a:pt x="1081" y="158"/>
                  </a:lnTo>
                  <a:lnTo>
                    <a:pt x="1" y="564"/>
                  </a:lnTo>
                  <a:lnTo>
                    <a:pt x="0" y="422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19" name="Line 32"/>
            <p:cNvSpPr>
              <a:spLocks noChangeShapeType="1"/>
            </p:cNvSpPr>
            <p:nvPr/>
          </p:nvSpPr>
          <p:spPr bwMode="auto">
            <a:xfrm flipV="1">
              <a:off x="410" y="3056"/>
              <a:ext cx="139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20" name="Text Box 33"/>
            <p:cNvSpPr txBox="1">
              <a:spLocks noChangeArrowheads="1"/>
            </p:cNvSpPr>
            <p:nvPr/>
          </p:nvSpPr>
          <p:spPr bwMode="auto">
            <a:xfrm>
              <a:off x="539" y="2292"/>
              <a:ext cx="1186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não independência</a:t>
              </a:r>
              <a:endParaRPr lang="pt-BR" altLang="pt-BR" sz="1600" dirty="0">
                <a:latin typeface="Tahoma" panose="020B0604030504040204" pitchFamily="34" charset="0"/>
                <a:sym typeface="Symbol" pitchFamily="18" charset="2"/>
              </a:endParaRPr>
            </a:p>
          </p:txBody>
        </p:sp>
        <p:sp>
          <p:nvSpPr>
            <p:cNvPr id="29721" name="Text Box 34"/>
            <p:cNvSpPr txBox="1">
              <a:spLocks noChangeArrowheads="1"/>
            </p:cNvSpPr>
            <p:nvPr/>
          </p:nvSpPr>
          <p:spPr bwMode="auto">
            <a:xfrm>
              <a:off x="339" y="3617"/>
              <a:ext cx="1588" cy="3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outra variável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(</a:t>
              </a:r>
              <a:r>
                <a:rPr lang="pt-BR" altLang="pt-BR" sz="1600" dirty="0" err="1">
                  <a:latin typeface="Times New Roman" charset="0"/>
                  <a:cs typeface="Times New Roman" charset="0"/>
                </a:rPr>
                <a:t>ex</a:t>
              </a:r>
              <a:r>
                <a:rPr lang="pt-BR" altLang="pt-BR" sz="1600" dirty="0">
                  <a:latin typeface="Times New Roman" charset="0"/>
                  <a:cs typeface="Times New Roman" charset="0"/>
                </a:rPr>
                <a:t>: ordem cronológica)</a:t>
              </a:r>
            </a:p>
          </p:txBody>
        </p:sp>
        <p:sp>
          <p:nvSpPr>
            <p:cNvPr id="29722" name="Rectangle 41"/>
            <p:cNvSpPr>
              <a:spLocks noChangeArrowheads="1"/>
            </p:cNvSpPr>
            <p:nvPr/>
          </p:nvSpPr>
          <p:spPr bwMode="auto">
            <a:xfrm>
              <a:off x="204" y="2478"/>
              <a:ext cx="181" cy="11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9703" name="CaixaDeTexto 41"/>
          <p:cNvSpPr txBox="1">
            <a:spLocks noChangeArrowheads="1"/>
          </p:cNvSpPr>
          <p:nvPr/>
        </p:nvSpPr>
        <p:spPr bwMode="auto">
          <a:xfrm rot="-5400000">
            <a:off x="-337344" y="2542382"/>
            <a:ext cx="160972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latin typeface="Times New Roman" charset="0"/>
                <a:cs typeface="Times New Roman" charset="0"/>
              </a:rPr>
              <a:t>Resíduos Padronizados</a:t>
            </a:r>
          </a:p>
        </p:txBody>
      </p:sp>
      <p:grpSp>
        <p:nvGrpSpPr>
          <p:cNvPr id="6" name="Grupo 43"/>
          <p:cNvGrpSpPr>
            <a:grpSpLocks/>
          </p:cNvGrpSpPr>
          <p:nvPr/>
        </p:nvGrpSpPr>
        <p:grpSpPr bwMode="auto">
          <a:xfrm>
            <a:off x="323528" y="4054475"/>
            <a:ext cx="2735263" cy="2660650"/>
            <a:chOff x="1765300" y="4054498"/>
            <a:chExt cx="2735263" cy="2660650"/>
          </a:xfrm>
        </p:grpSpPr>
        <p:grpSp>
          <p:nvGrpSpPr>
            <p:cNvPr id="29706" name="Group 66"/>
            <p:cNvGrpSpPr>
              <a:grpSpLocks/>
            </p:cNvGrpSpPr>
            <p:nvPr/>
          </p:nvGrpSpPr>
          <p:grpSpPr bwMode="auto">
            <a:xfrm>
              <a:off x="1765300" y="4054498"/>
              <a:ext cx="2735263" cy="2660650"/>
              <a:chOff x="2155" y="2535"/>
              <a:chExt cx="1723" cy="1676"/>
            </a:xfrm>
          </p:grpSpPr>
          <p:grpSp>
            <p:nvGrpSpPr>
              <p:cNvPr id="29708" name="Group 57"/>
              <p:cNvGrpSpPr>
                <a:grpSpLocks/>
              </p:cNvGrpSpPr>
              <p:nvPr/>
            </p:nvGrpSpPr>
            <p:grpSpPr bwMode="auto">
              <a:xfrm>
                <a:off x="2155" y="2535"/>
                <a:ext cx="1723" cy="1676"/>
                <a:chOff x="204" y="556"/>
                <a:chExt cx="1723" cy="1676"/>
              </a:xfrm>
            </p:grpSpPr>
            <p:pic>
              <p:nvPicPr>
                <p:cNvPr id="29711" name="Picture 58"/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4960"/>
                <a:stretch>
                  <a:fillRect/>
                </a:stretch>
              </p:blipFill>
              <p:spPr bwMode="auto">
                <a:xfrm>
                  <a:off x="307" y="655"/>
                  <a:ext cx="1620" cy="157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6639" name="Rectangle 59"/>
                <p:cNvSpPr>
                  <a:spLocks noChangeArrowheads="1"/>
                </p:cNvSpPr>
                <p:nvPr/>
              </p:nvSpPr>
              <p:spPr bwMode="auto">
                <a:xfrm>
                  <a:off x="566" y="1154"/>
                  <a:ext cx="1089" cy="316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algn="ctr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  <a:defRPr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713" name="Line 60"/>
                <p:cNvSpPr>
                  <a:spLocks noChangeShapeType="1"/>
                </p:cNvSpPr>
                <p:nvPr/>
              </p:nvSpPr>
              <p:spPr bwMode="auto">
                <a:xfrm flipV="1">
                  <a:off x="410" y="1324"/>
                  <a:ext cx="139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714" name="Text Box 61"/>
                <p:cNvSpPr txBox="1">
                  <a:spLocks noChangeArrowheads="1"/>
                </p:cNvSpPr>
                <p:nvPr/>
              </p:nvSpPr>
              <p:spPr bwMode="auto">
                <a:xfrm>
                  <a:off x="824" y="556"/>
                  <a:ext cx="580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  <a:cs typeface="Times New Roman" charset="0"/>
                      <a:sym typeface="Symbol" pitchFamily="18" charset="2"/>
                    </a:rPr>
                    <a:t>“outlier”</a:t>
                  </a:r>
                  <a:endParaRPr lang="pt-BR" altLang="pt-BR" sz="1600" dirty="0">
                    <a:latin typeface="Tahoma" panose="020B0604030504040204" pitchFamily="34" charset="0"/>
                    <a:sym typeface="Symbol" pitchFamily="18" charset="2"/>
                  </a:endParaRPr>
                </a:p>
              </p:txBody>
            </p:sp>
            <p:sp>
              <p:nvSpPr>
                <p:cNvPr id="29715" name="Rectangle 62"/>
                <p:cNvSpPr>
                  <a:spLocks noChangeArrowheads="1"/>
                </p:cNvSpPr>
                <p:nvPr/>
              </p:nvSpPr>
              <p:spPr bwMode="auto">
                <a:xfrm>
                  <a:off x="340" y="1888"/>
                  <a:ext cx="1542" cy="13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716" name="Rectangle 63"/>
                <p:cNvSpPr>
                  <a:spLocks noChangeArrowheads="1"/>
                </p:cNvSpPr>
                <p:nvPr/>
              </p:nvSpPr>
              <p:spPr bwMode="auto">
                <a:xfrm>
                  <a:off x="204" y="754"/>
                  <a:ext cx="181" cy="11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algn="ctr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29709" name="Oval 64"/>
              <p:cNvSpPr>
                <a:spLocks noChangeArrowheads="1"/>
              </p:cNvSpPr>
              <p:nvPr/>
            </p:nvSpPr>
            <p:spPr bwMode="auto">
              <a:xfrm>
                <a:off x="3061" y="2931"/>
                <a:ext cx="45" cy="4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9710" name="Line 65"/>
              <p:cNvSpPr>
                <a:spLocks noChangeShapeType="1"/>
              </p:cNvSpPr>
              <p:nvPr/>
            </p:nvSpPr>
            <p:spPr bwMode="auto">
              <a:xfrm flipH="1">
                <a:off x="3135" y="2931"/>
                <a:ext cx="335" cy="22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9707" name="CaixaDeTexto 42"/>
            <p:cNvSpPr txBox="1">
              <a:spLocks noChangeArrowheads="1"/>
            </p:cNvSpPr>
            <p:nvPr/>
          </p:nvSpPr>
          <p:spPr bwMode="auto">
            <a:xfrm rot="-5400000">
              <a:off x="1106530" y="5136069"/>
              <a:ext cx="1609736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latin typeface="Times New Roman" charset="0"/>
                  <a:cs typeface="Times New Roman" charset="0"/>
                </a:rPr>
                <a:t>Resíduos Padronizados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6307D1-4677-43B6-8F69-45E62EE01A9A}" type="slidenum">
              <a:rPr lang="pt-BR"/>
              <a:pPr>
                <a:defRPr/>
              </a:pPr>
              <a:t>38</a:t>
            </a:fld>
            <a:endParaRPr lang="pt-BR" dirty="0"/>
          </a:p>
        </p:txBody>
      </p:sp>
      <p:sp>
        <p:nvSpPr>
          <p:cNvPr id="45" name="Text Box 34"/>
          <p:cNvSpPr txBox="1">
            <a:spLocks noChangeArrowheads="1"/>
          </p:cNvSpPr>
          <p:nvPr/>
        </p:nvSpPr>
        <p:spPr bwMode="auto">
          <a:xfrm>
            <a:off x="6176964" y="4241475"/>
            <a:ext cx="2787524" cy="2308324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Essa análise qualitativa pode antecipar muitos problemas e indicar a necessidade de adequação do modelo a ser utilizado e/ou a necessidade de retirada ou adição de amostras</a:t>
            </a:r>
          </a:p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Não exclui a utilização de testes e análises específicas!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722" name="Objeto 1"/>
          <p:cNvGraphicFramePr>
            <a:graphicFrameLocks/>
          </p:cNvGraphicFramePr>
          <p:nvPr/>
        </p:nvGraphicFramePr>
        <p:xfrm>
          <a:off x="2562225" y="2122488"/>
          <a:ext cx="40608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705100" imgH="241300" progId="Equation.3">
                  <p:embed/>
                </p:oleObj>
              </mc:Choice>
              <mc:Fallback>
                <p:oleObj name="Equação" r:id="rId2" imgW="2705100" imgH="241300" progId="Equation.3">
                  <p:embed/>
                  <p:pic>
                    <p:nvPicPr>
                      <p:cNvPr id="3072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62225" y="2122488"/>
                        <a:ext cx="40608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to 9"/>
          <p:cNvGraphicFramePr>
            <a:graphicFrameLocks/>
          </p:cNvGraphicFramePr>
          <p:nvPr/>
        </p:nvGraphicFramePr>
        <p:xfrm>
          <a:off x="503238" y="2584450"/>
          <a:ext cx="1658937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104900" imgH="241300" progId="Equation.3">
                  <p:embed/>
                </p:oleObj>
              </mc:Choice>
              <mc:Fallback>
                <p:oleObj name="Equação" r:id="rId4" imgW="1104900" imgH="241300" progId="Equation.3">
                  <p:embed/>
                  <p:pic>
                    <p:nvPicPr>
                      <p:cNvPr id="10" name="Objeto 9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3238" y="2584450"/>
                        <a:ext cx="1658937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to 10"/>
          <p:cNvGraphicFramePr>
            <a:graphicFrameLocks/>
          </p:cNvGraphicFramePr>
          <p:nvPr/>
        </p:nvGraphicFramePr>
        <p:xfrm>
          <a:off x="503238" y="2973388"/>
          <a:ext cx="1716087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143000" imgH="241300" progId="Equation.3">
                  <p:embed/>
                </p:oleObj>
              </mc:Choice>
              <mc:Fallback>
                <p:oleObj name="Equação" r:id="rId6" imgW="1143000" imgH="241300" progId="Equation.3">
                  <p:embed/>
                  <p:pic>
                    <p:nvPicPr>
                      <p:cNvPr id="11" name="Objeto 10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3238" y="2973388"/>
                        <a:ext cx="1716087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to 11"/>
          <p:cNvGraphicFramePr>
            <a:graphicFrameLocks/>
          </p:cNvGraphicFramePr>
          <p:nvPr/>
        </p:nvGraphicFramePr>
        <p:xfrm>
          <a:off x="503238" y="3335338"/>
          <a:ext cx="23018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152334" imgH="228501" progId="Equation.3">
                  <p:embed/>
                </p:oleObj>
              </mc:Choice>
              <mc:Fallback>
                <p:oleObj name="Equação" r:id="rId8" imgW="152334" imgH="228501" progId="Equation.3">
                  <p:embed/>
                  <p:pic>
                    <p:nvPicPr>
                      <p:cNvPr id="12" name="Objeto 11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3238" y="3335338"/>
                        <a:ext cx="23018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to 12"/>
          <p:cNvGraphicFramePr>
            <a:graphicFrameLocks/>
          </p:cNvGraphicFramePr>
          <p:nvPr/>
        </p:nvGraphicFramePr>
        <p:xfrm>
          <a:off x="503238" y="3789363"/>
          <a:ext cx="1131887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748975" imgH="203112" progId="Equation.3">
                  <p:embed/>
                </p:oleObj>
              </mc:Choice>
              <mc:Fallback>
                <p:oleObj name="Equação" r:id="rId10" imgW="748975" imgH="203112" progId="Equation.3">
                  <p:embed/>
                  <p:pic>
                    <p:nvPicPr>
                      <p:cNvPr id="13" name="Objeto 12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3238" y="3789363"/>
                        <a:ext cx="1131887" cy="304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to 14"/>
          <p:cNvGraphicFramePr>
            <a:graphicFrameLocks/>
          </p:cNvGraphicFramePr>
          <p:nvPr/>
        </p:nvGraphicFramePr>
        <p:xfrm>
          <a:off x="2513013" y="5157788"/>
          <a:ext cx="4403725" cy="1028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2933700" imgH="685800" progId="Equation.3">
                  <p:embed/>
                </p:oleObj>
              </mc:Choice>
              <mc:Fallback>
                <p:oleObj name="Equação" r:id="rId12" imgW="2933700" imgH="685800" progId="Equation.3">
                  <p:embed/>
                  <p:pic>
                    <p:nvPicPr>
                      <p:cNvPr id="15" name="Objeto 14"/>
                      <p:cNvPicPr>
                        <a:picLocks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3013" y="5157788"/>
                        <a:ext cx="4403725" cy="1028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Múltipla</a:t>
            </a:r>
            <a:endParaRPr lang="pt-BR" dirty="0"/>
          </a:p>
        </p:txBody>
      </p:sp>
      <p:sp>
        <p:nvSpPr>
          <p:cNvPr id="30729" name="Retângulo 2"/>
          <p:cNvSpPr>
            <a:spLocks noChangeArrowheads="1"/>
          </p:cNvSpPr>
          <p:nvPr/>
        </p:nvSpPr>
        <p:spPr bwMode="auto">
          <a:xfrm>
            <a:off x="755650" y="1628775"/>
            <a:ext cx="792003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pt-BR" altLang="pt-BR" sz="1800" dirty="0">
                <a:latin typeface="Tahoma" panose="020B0604030504040204" pitchFamily="34" charset="0"/>
              </a:rPr>
              <a:t>Modelo Geral</a:t>
            </a:r>
          </a:p>
        </p:txBody>
      </p:sp>
      <p:sp>
        <p:nvSpPr>
          <p:cNvPr id="27658" name="Retângulo 2"/>
          <p:cNvSpPr>
            <a:spLocks noChangeArrowheads="1"/>
          </p:cNvSpPr>
          <p:nvPr/>
        </p:nvSpPr>
        <p:spPr bwMode="auto">
          <a:xfrm>
            <a:off x="2195513" y="2584450"/>
            <a:ext cx="67691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são parâmetros do modelo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parâmetros no total)</a:t>
            </a:r>
          </a:p>
        </p:txBody>
      </p:sp>
      <p:sp>
        <p:nvSpPr>
          <p:cNvPr id="27659" name="Retângulo 2"/>
          <p:cNvSpPr>
            <a:spLocks noChangeArrowheads="1"/>
          </p:cNvSpPr>
          <p:nvPr/>
        </p:nvSpPr>
        <p:spPr bwMode="auto">
          <a:xfrm>
            <a:off x="2268538" y="2932113"/>
            <a:ext cx="367188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são valores fixos conhecidos</a:t>
            </a:r>
          </a:p>
        </p:txBody>
      </p:sp>
      <p:sp>
        <p:nvSpPr>
          <p:cNvPr id="27660" name="Retângulo 2"/>
          <p:cNvSpPr>
            <a:spLocks noChangeArrowheads="1"/>
          </p:cNvSpPr>
          <p:nvPr/>
        </p:nvSpPr>
        <p:spPr bwMode="auto">
          <a:xfrm>
            <a:off x="755650" y="3332163"/>
            <a:ext cx="45370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são erros independentes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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  <a:sym typeface="Symbol" pitchFamily="18" charset="2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~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(0,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)</a:t>
            </a:r>
          </a:p>
        </p:txBody>
      </p:sp>
      <p:sp>
        <p:nvSpPr>
          <p:cNvPr id="27661" name="Retângulo 2"/>
          <p:cNvSpPr>
            <a:spLocks noChangeArrowheads="1"/>
          </p:cNvSpPr>
          <p:nvPr/>
        </p:nvSpPr>
        <p:spPr bwMode="auto">
          <a:xfrm>
            <a:off x="684213" y="4338638"/>
            <a:ext cx="7991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Fazendo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0,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= 1</a:t>
            </a:r>
            <a:r>
              <a:rPr lang="pt-BR" altLang="pt-BR" sz="1600" dirty="0">
                <a:latin typeface="Tahoma" panose="020B0604030504040204" pitchFamily="34" charset="0"/>
              </a:rPr>
              <a:t>, podemos reescrever o modelo como</a:t>
            </a:r>
            <a:endParaRPr lang="pt-BR" altLang="pt-BR" sz="1600" dirty="0">
              <a:latin typeface="Times New Roman" charset="0"/>
              <a:cs typeface="Times New Roman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55CFFCA-04DF-4609-89E7-D0383A781C04}" type="slidenum">
              <a:rPr lang="pt-BR"/>
              <a:pPr>
                <a:defRPr/>
              </a:pPr>
              <a:t>39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ângulo 2"/>
              <p:cNvSpPr>
                <a:spLocks noChangeArrowheads="1"/>
              </p:cNvSpPr>
              <p:nvPr/>
            </p:nvSpPr>
            <p:spPr bwMode="auto">
              <a:xfrm>
                <a:off x="1715208" y="3751255"/>
                <a:ext cx="5256584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342900" indent="-3429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>
                  <a:spcBef>
                    <a:spcPct val="5000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(cada amostra deve conter valores para todos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imes New Roman" charset="0"/>
                    <a:cs typeface="Times New Roman" charset="0"/>
                  </a:rPr>
                  <a:t>)</a:t>
                </a:r>
              </a:p>
            </p:txBody>
          </p:sp>
        </mc:Choice>
        <mc:Fallback xmlns="">
          <p:sp>
            <p:nvSpPr>
              <p:cNvPr id="16" name="Retângulo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15208" y="3751255"/>
                <a:ext cx="5256584" cy="338554"/>
              </a:xfrm>
              <a:prstGeom prst="rect">
                <a:avLst/>
              </a:prstGeom>
              <a:blipFill>
                <a:blip r:embed="rId14"/>
                <a:stretch>
                  <a:fillRect l="-579" t="-7143" b="-2142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8" grpId="0"/>
      <p:bldP spid="27659" grpId="0"/>
      <p:bldP spid="27660" grpId="0"/>
      <p:bldP spid="27661" grpId="0"/>
      <p:bldP spid="1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Casos Especiais</a:t>
            </a:r>
            <a:endParaRPr lang="pt-BR" dirty="0"/>
          </a:p>
        </p:txBody>
      </p:sp>
      <p:sp>
        <p:nvSpPr>
          <p:cNvPr id="28675" name="Retângulo 2"/>
          <p:cNvSpPr>
            <a:spLocks noChangeArrowheads="1"/>
          </p:cNvSpPr>
          <p:nvPr/>
        </p:nvSpPr>
        <p:spPr bwMode="auto">
          <a:xfrm>
            <a:off x="250825" y="1412875"/>
            <a:ext cx="8713788" cy="615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Regressão Polinomial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Considere um modelo de regressão de 3</a:t>
            </a:r>
            <a:r>
              <a:rPr lang="pt-BR" altLang="pt-BR" sz="1600" u="sng" baseline="30000" dirty="0">
                <a:solidFill>
                  <a:schemeClr val="tx2"/>
                </a:solidFill>
                <a:latin typeface="Tahoma" panose="020B0604030504040204" pitchFamily="34" charset="0"/>
              </a:rPr>
              <a:t>o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grau com uma variável independente:</a:t>
            </a:r>
          </a:p>
        </p:txBody>
      </p:sp>
      <p:graphicFrame>
        <p:nvGraphicFramePr>
          <p:cNvPr id="28676" name="Objeto 3"/>
          <p:cNvGraphicFramePr>
            <a:graphicFrameLocks/>
          </p:cNvGraphicFramePr>
          <p:nvPr/>
        </p:nvGraphicFramePr>
        <p:xfrm>
          <a:off x="3019425" y="2152650"/>
          <a:ext cx="31464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095500" imgH="241300" progId="Equation.3">
                  <p:embed/>
                </p:oleObj>
              </mc:Choice>
              <mc:Fallback>
                <p:oleObj name="Equação" r:id="rId2" imgW="2095500" imgH="241300" progId="Equation.3">
                  <p:embed/>
                  <p:pic>
                    <p:nvPicPr>
                      <p:cNvPr id="28676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9425" y="2152650"/>
                        <a:ext cx="31464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8677" name="Grupo 5"/>
          <p:cNvGrpSpPr>
            <a:grpSpLocks/>
          </p:cNvGrpSpPr>
          <p:nvPr/>
        </p:nvGrpSpPr>
        <p:grpSpPr bwMode="auto">
          <a:xfrm>
            <a:off x="268288" y="2636838"/>
            <a:ext cx="5562600" cy="381000"/>
            <a:chOff x="395536" y="2611358"/>
            <a:chExt cx="5562741" cy="381000"/>
          </a:xfrm>
        </p:grpSpPr>
        <p:sp>
          <p:nvSpPr>
            <p:cNvPr id="31760" name="Retângulo 4"/>
            <p:cNvSpPr>
              <a:spLocks noChangeArrowheads="1"/>
            </p:cNvSpPr>
            <p:nvPr/>
          </p:nvSpPr>
          <p:spPr bwMode="auto">
            <a:xfrm>
              <a:off x="395536" y="2624212"/>
              <a:ext cx="556274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tx2"/>
                  </a:solidFill>
                  <a:latin typeface="Tahoma" panose="020B0604030504040204" pitchFamily="34" charset="0"/>
                </a:rPr>
                <a:t>Se considerarmos                ,                 e                então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1761" name="Objeto 17"/>
            <p:cNvGraphicFramePr>
              <a:graphicFrameLocks/>
            </p:cNvGraphicFramePr>
            <p:nvPr/>
          </p:nvGraphicFramePr>
          <p:xfrm>
            <a:off x="2206928" y="2630408"/>
            <a:ext cx="857250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4" imgW="571252" imgH="241195" progId="Equation.3">
                    <p:embed/>
                  </p:oleObj>
                </mc:Choice>
                <mc:Fallback>
                  <p:oleObj name="Equação" r:id="rId4" imgW="571252" imgH="241195" progId="Equation.3">
                    <p:embed/>
                    <p:pic>
                      <p:nvPicPr>
                        <p:cNvPr id="31761" name="Objeto 17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06928" y="2630408"/>
                          <a:ext cx="857250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762" name="Objeto 18"/>
            <p:cNvGraphicFramePr>
              <a:graphicFrameLocks/>
            </p:cNvGraphicFramePr>
            <p:nvPr/>
          </p:nvGraphicFramePr>
          <p:xfrm>
            <a:off x="3186832" y="2611358"/>
            <a:ext cx="933450" cy="381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6" imgW="622030" imgH="253890" progId="Equation.3">
                    <p:embed/>
                  </p:oleObj>
                </mc:Choice>
                <mc:Fallback>
                  <p:oleObj name="Equação" r:id="rId6" imgW="622030" imgH="253890" progId="Equation.3">
                    <p:embed/>
                    <p:pic>
                      <p:nvPicPr>
                        <p:cNvPr id="31762" name="Objeto 18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86832" y="2611358"/>
                          <a:ext cx="933450" cy="3810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763" name="Objeto 19"/>
            <p:cNvGraphicFramePr>
              <a:graphicFrameLocks/>
            </p:cNvGraphicFramePr>
            <p:nvPr/>
          </p:nvGraphicFramePr>
          <p:xfrm>
            <a:off x="4308277" y="2611358"/>
            <a:ext cx="915987" cy="381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8" imgW="609336" imgH="253890" progId="Equation.3">
                    <p:embed/>
                  </p:oleObj>
                </mc:Choice>
                <mc:Fallback>
                  <p:oleObj name="Equação" r:id="rId8" imgW="609336" imgH="253890" progId="Equation.3">
                    <p:embed/>
                    <p:pic>
                      <p:nvPicPr>
                        <p:cNvPr id="31763" name="Objeto 19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08277" y="2611358"/>
                          <a:ext cx="915987" cy="3810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8678" name="Objeto 20"/>
          <p:cNvGraphicFramePr>
            <a:graphicFrameLocks/>
          </p:cNvGraphicFramePr>
          <p:nvPr/>
        </p:nvGraphicFramePr>
        <p:xfrm>
          <a:off x="2924175" y="3141663"/>
          <a:ext cx="33559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2235200" imgH="241300" progId="Equation.3">
                  <p:embed/>
                </p:oleObj>
              </mc:Choice>
              <mc:Fallback>
                <p:oleObj name="Equação" r:id="rId10" imgW="2235200" imgH="241300" progId="Equation.3">
                  <p:embed/>
                  <p:pic>
                    <p:nvPicPr>
                      <p:cNvPr id="28678" name="Objeto 20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4175" y="3141663"/>
                        <a:ext cx="33559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79" name="Retângulo 6"/>
          <p:cNvSpPr>
            <a:spLocks noChangeArrowheads="1"/>
          </p:cNvSpPr>
          <p:nvPr/>
        </p:nvSpPr>
        <p:spPr bwMode="auto">
          <a:xfrm>
            <a:off x="395288" y="5694363"/>
            <a:ext cx="8208962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Importante: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o modelo geral de regressão linear não é restrito às superfícies planas. O termo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linear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refere-se ao fato de que ele é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linear nos parâmetros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, não na forma da superfície.</a:t>
            </a:r>
          </a:p>
        </p:txBody>
      </p:sp>
      <p:sp>
        <p:nvSpPr>
          <p:cNvPr id="28680" name="Retângulo 23"/>
          <p:cNvSpPr>
            <a:spLocks noChangeArrowheads="1"/>
          </p:cNvSpPr>
          <p:nvPr/>
        </p:nvSpPr>
        <p:spPr bwMode="auto">
          <a:xfrm>
            <a:off x="268288" y="3644900"/>
            <a:ext cx="8713787" cy="615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Efeito de Interação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Considere um modelo de regressão com duas variáveis independentes:</a:t>
            </a:r>
          </a:p>
        </p:txBody>
      </p:sp>
      <p:graphicFrame>
        <p:nvGraphicFramePr>
          <p:cNvPr id="28681" name="Objeto 24"/>
          <p:cNvGraphicFramePr>
            <a:graphicFrameLocks/>
          </p:cNvGraphicFramePr>
          <p:nvPr/>
        </p:nvGraphicFramePr>
        <p:xfrm>
          <a:off x="2649538" y="4316413"/>
          <a:ext cx="36798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2451100" imgH="241300" progId="Equation.3">
                  <p:embed/>
                </p:oleObj>
              </mc:Choice>
              <mc:Fallback>
                <p:oleObj name="Equação" r:id="rId12" imgW="2451100" imgH="241300" progId="Equation.3">
                  <p:embed/>
                  <p:pic>
                    <p:nvPicPr>
                      <p:cNvPr id="28681" name="Objeto 24"/>
                      <p:cNvPicPr>
                        <a:picLocks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9538" y="4316413"/>
                        <a:ext cx="36798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8682" name="Grupo 25"/>
          <p:cNvGrpSpPr>
            <a:grpSpLocks/>
          </p:cNvGrpSpPr>
          <p:nvPr/>
        </p:nvGrpSpPr>
        <p:grpSpPr bwMode="auto">
          <a:xfrm>
            <a:off x="268288" y="4733925"/>
            <a:ext cx="3806825" cy="368300"/>
            <a:chOff x="395536" y="2624212"/>
            <a:chExt cx="3805850" cy="368082"/>
          </a:xfrm>
        </p:grpSpPr>
        <p:sp>
          <p:nvSpPr>
            <p:cNvPr id="31758" name="Retângulo 26"/>
            <p:cNvSpPr>
              <a:spLocks noChangeArrowheads="1"/>
            </p:cNvSpPr>
            <p:nvPr/>
          </p:nvSpPr>
          <p:spPr bwMode="auto">
            <a:xfrm>
              <a:off x="395536" y="2624212"/>
              <a:ext cx="380585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tx2"/>
                  </a:solidFill>
                  <a:latin typeface="Tahoma" panose="020B0604030504040204" pitchFamily="34" charset="0"/>
                </a:rPr>
                <a:t>Se considerarmos                       então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1759" name="Objeto 27"/>
            <p:cNvGraphicFramePr>
              <a:graphicFrameLocks/>
            </p:cNvGraphicFramePr>
            <p:nvPr/>
          </p:nvGraphicFramePr>
          <p:xfrm>
            <a:off x="2151906" y="2630344"/>
            <a:ext cx="1314450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4" imgW="876300" imgH="241300" progId="Equation.3">
                    <p:embed/>
                  </p:oleObj>
                </mc:Choice>
                <mc:Fallback>
                  <p:oleObj name="Equação" r:id="rId14" imgW="876300" imgH="241300" progId="Equation.3">
                    <p:embed/>
                    <p:pic>
                      <p:nvPicPr>
                        <p:cNvPr id="31759" name="Objeto 27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51906" y="2630344"/>
                          <a:ext cx="1314450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8683" name="Objeto 30"/>
          <p:cNvGraphicFramePr>
            <a:graphicFrameLocks/>
          </p:cNvGraphicFramePr>
          <p:nvPr/>
        </p:nvGraphicFramePr>
        <p:xfrm>
          <a:off x="2924175" y="5157788"/>
          <a:ext cx="33559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2235200" imgH="241300" progId="Equation.3">
                  <p:embed/>
                </p:oleObj>
              </mc:Choice>
              <mc:Fallback>
                <p:oleObj name="Equação" r:id="rId10" imgW="2235200" imgH="241300" progId="Equation.3">
                  <p:embed/>
                  <p:pic>
                    <p:nvPicPr>
                      <p:cNvPr id="28683" name="Objeto 30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4175" y="5157788"/>
                        <a:ext cx="33559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Oval 144"/>
          <p:cNvSpPr>
            <a:spLocks noChangeArrowheads="1"/>
          </p:cNvSpPr>
          <p:nvPr/>
        </p:nvSpPr>
        <p:spPr bwMode="auto">
          <a:xfrm>
            <a:off x="5156200" y="4291013"/>
            <a:ext cx="784225" cy="357187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71FCF8-6248-4E35-AC41-C20CE8FFE8A1}" type="slidenum">
              <a:rPr lang="pt-BR"/>
              <a:pPr>
                <a:defRPr/>
              </a:pPr>
              <a:t>40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5" grpId="0" build="p"/>
      <p:bldP spid="28679" grpId="0"/>
      <p:bldP spid="28680" grpId="0" build="p"/>
      <p:bldP spid="18" grpId="0" animBg="1" autoUpdateAnimBg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upo 67"/>
          <p:cNvGrpSpPr>
            <a:grpSpLocks/>
          </p:cNvGrpSpPr>
          <p:nvPr/>
        </p:nvGrpSpPr>
        <p:grpSpPr bwMode="auto">
          <a:xfrm>
            <a:off x="2835275" y="2898775"/>
            <a:ext cx="3652838" cy="3406775"/>
            <a:chOff x="2835654" y="2898426"/>
            <a:chExt cx="3652603" cy="3407387"/>
          </a:xfrm>
        </p:grpSpPr>
        <p:grpSp>
          <p:nvGrpSpPr>
            <p:cNvPr id="32795" name="Grupo 64"/>
            <p:cNvGrpSpPr>
              <a:grpSpLocks/>
            </p:cNvGrpSpPr>
            <p:nvPr/>
          </p:nvGrpSpPr>
          <p:grpSpPr bwMode="auto">
            <a:xfrm>
              <a:off x="3157906" y="2898426"/>
              <a:ext cx="3330351" cy="3262292"/>
              <a:chOff x="2571404" y="2205644"/>
              <a:chExt cx="4067694" cy="3984567"/>
            </a:xfrm>
          </p:grpSpPr>
          <p:cxnSp>
            <p:nvCxnSpPr>
              <p:cNvPr id="32799" name="Conector reto 2"/>
              <p:cNvCxnSpPr>
                <a:cxnSpLocks noChangeShapeType="1"/>
              </p:cNvCxnSpPr>
              <p:nvPr/>
            </p:nvCxnSpPr>
            <p:spPr bwMode="auto">
              <a:xfrm flipH="1" flipV="1">
                <a:off x="2576945" y="4699462"/>
                <a:ext cx="1075113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0" name="Conector reto 4"/>
              <p:cNvCxnSpPr>
                <a:cxnSpLocks noChangeShapeType="1"/>
              </p:cNvCxnSpPr>
              <p:nvPr/>
            </p:nvCxnSpPr>
            <p:spPr bwMode="auto">
              <a:xfrm flipH="1" flipV="1">
                <a:off x="3319549" y="4566458"/>
                <a:ext cx="1080655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1" name="Conector reto 6"/>
              <p:cNvCxnSpPr>
                <a:cxnSpLocks noChangeShapeType="1"/>
              </p:cNvCxnSpPr>
              <p:nvPr/>
            </p:nvCxnSpPr>
            <p:spPr bwMode="auto">
              <a:xfrm flipH="1" flipV="1">
                <a:off x="4062153" y="4438996"/>
                <a:ext cx="1080654" cy="148520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2" name="Conector reto 8"/>
              <p:cNvCxnSpPr>
                <a:cxnSpLocks noChangeShapeType="1"/>
              </p:cNvCxnSpPr>
              <p:nvPr/>
            </p:nvCxnSpPr>
            <p:spPr bwMode="auto">
              <a:xfrm flipH="1" flipV="1">
                <a:off x="4804756" y="4294909"/>
                <a:ext cx="1080655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3" name="Conector reto 15"/>
              <p:cNvCxnSpPr>
                <a:cxnSpLocks noChangeShapeType="1"/>
              </p:cNvCxnSpPr>
              <p:nvPr/>
            </p:nvCxnSpPr>
            <p:spPr bwMode="auto">
              <a:xfrm flipH="1" flipV="1">
                <a:off x="5552902" y="4167447"/>
                <a:ext cx="1080654" cy="1479666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4" name="Conector reto 17"/>
              <p:cNvCxnSpPr>
                <a:cxnSpLocks noChangeShapeType="1"/>
              </p:cNvCxnSpPr>
              <p:nvPr/>
            </p:nvCxnSpPr>
            <p:spPr bwMode="auto">
              <a:xfrm flipV="1">
                <a:off x="2582487" y="4161905"/>
                <a:ext cx="2970415" cy="537557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5" name="Conector reto 19"/>
              <p:cNvCxnSpPr>
                <a:cxnSpLocks noChangeShapeType="1"/>
              </p:cNvCxnSpPr>
              <p:nvPr/>
            </p:nvCxnSpPr>
            <p:spPr bwMode="auto">
              <a:xfrm flipV="1">
                <a:off x="3640975" y="5647113"/>
                <a:ext cx="2998123" cy="54309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6" name="Conector reto 21"/>
              <p:cNvCxnSpPr>
                <a:cxnSpLocks noChangeShapeType="1"/>
              </p:cNvCxnSpPr>
              <p:nvPr/>
            </p:nvCxnSpPr>
            <p:spPr bwMode="auto">
              <a:xfrm flipV="1">
                <a:off x="2848495" y="4533207"/>
                <a:ext cx="2975956" cy="537557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7" name="Conector reto 23"/>
              <p:cNvCxnSpPr>
                <a:cxnSpLocks noChangeShapeType="1"/>
              </p:cNvCxnSpPr>
              <p:nvPr/>
            </p:nvCxnSpPr>
            <p:spPr bwMode="auto">
              <a:xfrm flipV="1">
                <a:off x="3103418" y="4915593"/>
                <a:ext cx="2992582" cy="526472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8" name="Conector reto 25"/>
              <p:cNvCxnSpPr>
                <a:cxnSpLocks noChangeShapeType="1"/>
              </p:cNvCxnSpPr>
              <p:nvPr/>
            </p:nvCxnSpPr>
            <p:spPr bwMode="auto">
              <a:xfrm flipV="1">
                <a:off x="3380509" y="5281353"/>
                <a:ext cx="2992582" cy="54309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9" name="Conector reto 27"/>
              <p:cNvCxnSpPr>
                <a:cxnSpLocks noChangeShapeType="1"/>
              </p:cNvCxnSpPr>
              <p:nvPr/>
            </p:nvCxnSpPr>
            <p:spPr bwMode="auto">
              <a:xfrm flipH="1" flipV="1">
                <a:off x="2571404" y="2754284"/>
                <a:ext cx="11083" cy="1950720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10" name="Conector reto 29"/>
              <p:cNvCxnSpPr>
                <a:cxnSpLocks noChangeShapeType="1"/>
              </p:cNvCxnSpPr>
              <p:nvPr/>
            </p:nvCxnSpPr>
            <p:spPr bwMode="auto">
              <a:xfrm flipV="1">
                <a:off x="5558444" y="2205644"/>
                <a:ext cx="0" cy="1961803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11" name="Conector reto 32767"/>
              <p:cNvCxnSpPr>
                <a:cxnSpLocks noChangeShapeType="1"/>
              </p:cNvCxnSpPr>
              <p:nvPr/>
            </p:nvCxnSpPr>
            <p:spPr bwMode="auto">
              <a:xfrm flipV="1">
                <a:off x="6633556" y="3690851"/>
                <a:ext cx="5542" cy="1956262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12" name="Conector reto 32772"/>
              <p:cNvCxnSpPr>
                <a:cxnSpLocks noChangeShapeType="1"/>
              </p:cNvCxnSpPr>
              <p:nvPr/>
            </p:nvCxnSpPr>
            <p:spPr bwMode="auto">
              <a:xfrm flipV="1">
                <a:off x="2576945" y="2205644"/>
                <a:ext cx="2987040" cy="554181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13" name="Conector reto 32774"/>
              <p:cNvCxnSpPr>
                <a:cxnSpLocks noChangeShapeType="1"/>
              </p:cNvCxnSpPr>
              <p:nvPr/>
            </p:nvCxnSpPr>
            <p:spPr bwMode="auto">
              <a:xfrm>
                <a:off x="5575069" y="2205644"/>
                <a:ext cx="1064029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32796" name="CaixaDeTexto 66"/>
            <p:cNvSpPr txBox="1">
              <a:spLocks noChangeArrowheads="1"/>
            </p:cNvSpPr>
            <p:nvPr/>
          </p:nvSpPr>
          <p:spPr bwMode="auto">
            <a:xfrm rot="-631934">
              <a:off x="5220324" y="5967259"/>
              <a:ext cx="37863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baseline="-25000"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32797" name="CaixaDeTexto 100"/>
            <p:cNvSpPr txBox="1">
              <a:spLocks noChangeArrowheads="1"/>
            </p:cNvSpPr>
            <p:nvPr/>
          </p:nvSpPr>
          <p:spPr bwMode="auto">
            <a:xfrm rot="3039062">
              <a:off x="3185202" y="5412772"/>
              <a:ext cx="37863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baseline="-25000">
                  <a:latin typeface="Times New Roman" charset="0"/>
                  <a:cs typeface="Times New Roman" charset="0"/>
                </a:rPr>
                <a:t>2</a:t>
              </a:r>
            </a:p>
          </p:txBody>
        </p:sp>
        <p:sp>
          <p:nvSpPr>
            <p:cNvPr id="32798" name="CaixaDeTexto 101"/>
            <p:cNvSpPr txBox="1">
              <a:spLocks noChangeArrowheads="1"/>
            </p:cNvSpPr>
            <p:nvPr/>
          </p:nvSpPr>
          <p:spPr bwMode="auto">
            <a:xfrm>
              <a:off x="2835654" y="3382276"/>
              <a:ext cx="29848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Y</a:t>
              </a:r>
            </a:p>
          </p:txBody>
        </p:sp>
      </p:grpSp>
      <p:graphicFrame>
        <p:nvGraphicFramePr>
          <p:cNvPr id="32771" name="Objeto 1"/>
          <p:cNvGraphicFramePr>
            <a:graphicFrameLocks/>
          </p:cNvGraphicFramePr>
          <p:nvPr/>
        </p:nvGraphicFramePr>
        <p:xfrm>
          <a:off x="3305175" y="2203450"/>
          <a:ext cx="2573338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714500" imgH="241300" progId="Equation.3">
                  <p:embed/>
                </p:oleObj>
              </mc:Choice>
              <mc:Fallback>
                <p:oleObj name="Equação" r:id="rId2" imgW="1714500" imgH="241300" progId="Equation.3">
                  <p:embed/>
                  <p:pic>
                    <p:nvPicPr>
                      <p:cNvPr id="32771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5175" y="2203450"/>
                        <a:ext cx="2573338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Múltipla</a:t>
            </a:r>
            <a:endParaRPr lang="pt-BR" dirty="0"/>
          </a:p>
        </p:txBody>
      </p:sp>
      <p:sp>
        <p:nvSpPr>
          <p:cNvPr id="32773" name="Retângulo 2"/>
          <p:cNvSpPr>
            <a:spLocks noChangeArrowheads="1"/>
          </p:cNvSpPr>
          <p:nvPr/>
        </p:nvSpPr>
        <p:spPr bwMode="auto">
          <a:xfrm>
            <a:off x="611188" y="1628775"/>
            <a:ext cx="792003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duas variáveis independentes</a:t>
            </a:r>
          </a:p>
        </p:txBody>
      </p:sp>
      <p:grpSp>
        <p:nvGrpSpPr>
          <p:cNvPr id="64" name="Grupo 63"/>
          <p:cNvGrpSpPr>
            <a:grpSpLocks/>
          </p:cNvGrpSpPr>
          <p:nvPr/>
        </p:nvGrpSpPr>
        <p:grpSpPr bwMode="auto">
          <a:xfrm>
            <a:off x="3155950" y="3382963"/>
            <a:ext cx="3332163" cy="2660650"/>
            <a:chOff x="2568412" y="2796619"/>
            <a:chExt cx="4071069" cy="3250676"/>
          </a:xfrm>
        </p:grpSpPr>
        <p:sp>
          <p:nvSpPr>
            <p:cNvPr id="32788" name="Forma livre 32798"/>
            <p:cNvSpPr>
              <a:spLocks/>
            </p:cNvSpPr>
            <p:nvPr/>
          </p:nvSpPr>
          <p:spPr bwMode="auto">
            <a:xfrm>
              <a:off x="2568412" y="2796619"/>
              <a:ext cx="4071069" cy="3250676"/>
            </a:xfrm>
            <a:custGeom>
              <a:avLst/>
              <a:gdLst>
                <a:gd name="T0" fmla="*/ 0 w 4071069"/>
                <a:gd name="T1" fmla="*/ 1143654 h 3250676"/>
                <a:gd name="T2" fmla="*/ 2984368 w 4071069"/>
                <a:gd name="T3" fmla="*/ 0 h 3250676"/>
                <a:gd name="T4" fmla="*/ 4071069 w 4071069"/>
                <a:gd name="T5" fmla="*/ 2095761 h 3250676"/>
                <a:gd name="T6" fmla="*/ 1091414 w 4071069"/>
                <a:gd name="T7" fmla="*/ 3250676 h 3250676"/>
                <a:gd name="T8" fmla="*/ 0 w 4071069"/>
                <a:gd name="T9" fmla="*/ 1143654 h 325067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71069" h="3250676">
                  <a:moveTo>
                    <a:pt x="0" y="1143654"/>
                  </a:moveTo>
                  <a:lnTo>
                    <a:pt x="2984368" y="0"/>
                  </a:lnTo>
                  <a:lnTo>
                    <a:pt x="4071069" y="2095761"/>
                  </a:lnTo>
                  <a:lnTo>
                    <a:pt x="1091414" y="3250676"/>
                  </a:lnTo>
                  <a:lnTo>
                    <a:pt x="0" y="1143654"/>
                  </a:lnTo>
                  <a:close/>
                </a:path>
              </a:pathLst>
            </a:custGeom>
            <a:solidFill>
              <a:srgbClr val="3B3B3B">
                <a:alpha val="67842"/>
              </a:srgb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2789" name="Conector reto 32784"/>
            <p:cNvCxnSpPr>
              <a:cxnSpLocks noChangeShapeType="1"/>
            </p:cNvCxnSpPr>
            <p:nvPr/>
          </p:nvCxnSpPr>
          <p:spPr bwMode="auto">
            <a:xfrm>
              <a:off x="3315401" y="3651990"/>
              <a:ext cx="1088305" cy="2103681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0" name="Conector reto 32786"/>
            <p:cNvCxnSpPr>
              <a:cxnSpLocks noChangeShapeType="1"/>
            </p:cNvCxnSpPr>
            <p:nvPr/>
          </p:nvCxnSpPr>
          <p:spPr bwMode="auto">
            <a:xfrm>
              <a:off x="4061507" y="3365890"/>
              <a:ext cx="1082694" cy="2098071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1" name="Conector reto 32788"/>
            <p:cNvCxnSpPr>
              <a:cxnSpLocks noChangeShapeType="1"/>
            </p:cNvCxnSpPr>
            <p:nvPr/>
          </p:nvCxnSpPr>
          <p:spPr bwMode="auto">
            <a:xfrm flipH="1">
              <a:off x="3393939" y="4358827"/>
              <a:ext cx="2967592" cy="1155622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2" name="Conector reto 32790"/>
            <p:cNvCxnSpPr>
              <a:cxnSpLocks noChangeShapeType="1"/>
            </p:cNvCxnSpPr>
            <p:nvPr/>
          </p:nvCxnSpPr>
          <p:spPr bwMode="auto">
            <a:xfrm flipH="1">
              <a:off x="3113448" y="3837114"/>
              <a:ext cx="2978812" cy="1155622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3" name="Conector reto 32792"/>
            <p:cNvCxnSpPr>
              <a:cxnSpLocks noChangeShapeType="1"/>
            </p:cNvCxnSpPr>
            <p:nvPr/>
          </p:nvCxnSpPr>
          <p:spPr bwMode="auto">
            <a:xfrm flipH="1">
              <a:off x="2844177" y="3315401"/>
              <a:ext cx="2984422" cy="1155622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4" name="Conector reto 32795"/>
            <p:cNvCxnSpPr>
              <a:cxnSpLocks noChangeShapeType="1"/>
            </p:cNvCxnSpPr>
            <p:nvPr/>
          </p:nvCxnSpPr>
          <p:spPr bwMode="auto">
            <a:xfrm>
              <a:off x="4807612" y="3079789"/>
              <a:ext cx="1093914" cy="2103681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665" name="Grupo 27664"/>
          <p:cNvGrpSpPr>
            <a:grpSpLocks/>
          </p:cNvGrpSpPr>
          <p:nvPr/>
        </p:nvGrpSpPr>
        <p:grpSpPr bwMode="auto">
          <a:xfrm>
            <a:off x="5708650" y="5011738"/>
            <a:ext cx="1173163" cy="396875"/>
            <a:chOff x="5708050" y="5011030"/>
            <a:chExt cx="1173972" cy="397252"/>
          </a:xfrm>
        </p:grpSpPr>
        <p:sp>
          <p:nvSpPr>
            <p:cNvPr id="32786" name="Forma livre 27661"/>
            <p:cNvSpPr>
              <a:spLocks/>
            </p:cNvSpPr>
            <p:nvPr/>
          </p:nvSpPr>
          <p:spPr bwMode="auto">
            <a:xfrm>
              <a:off x="5708050" y="5093658"/>
              <a:ext cx="776857" cy="314624"/>
            </a:xfrm>
            <a:custGeom>
              <a:avLst/>
              <a:gdLst>
                <a:gd name="T0" fmla="*/ 0 w 776857"/>
                <a:gd name="T1" fmla="*/ 314624 h 314624"/>
                <a:gd name="T2" fmla="*/ 776857 w 776857"/>
                <a:gd name="T3" fmla="*/ 0 h 314624"/>
                <a:gd name="T4" fmla="*/ 776857 w 776857"/>
                <a:gd name="T5" fmla="*/ 162944 h 314624"/>
                <a:gd name="T6" fmla="*/ 0 w 776857"/>
                <a:gd name="T7" fmla="*/ 314624 h 314624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776857" h="314624">
                  <a:moveTo>
                    <a:pt x="0" y="314624"/>
                  </a:moveTo>
                  <a:lnTo>
                    <a:pt x="776857" y="0"/>
                  </a:lnTo>
                  <a:lnTo>
                    <a:pt x="776857" y="162944"/>
                  </a:lnTo>
                  <a:lnTo>
                    <a:pt x="0" y="314624"/>
                  </a:lnTo>
                  <a:close/>
                </a:path>
              </a:pathLst>
            </a:custGeom>
            <a:solidFill>
              <a:srgbClr val="FF9999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87" name="CaixaDeTexto 27662"/>
            <p:cNvSpPr txBox="1">
              <a:spLocks noChangeArrowheads="1"/>
            </p:cNvSpPr>
            <p:nvPr/>
          </p:nvSpPr>
          <p:spPr bwMode="auto">
            <a:xfrm>
              <a:off x="6516216" y="5011030"/>
              <a:ext cx="36580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1</a:t>
              </a:r>
              <a:endParaRPr lang="pt-BR" altLang="pt-BR" sz="1600" baseline="-25000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p:grpSp>
        <p:nvGrpSpPr>
          <p:cNvPr id="27666" name="Grupo 27665"/>
          <p:cNvGrpSpPr>
            <a:grpSpLocks/>
          </p:cNvGrpSpPr>
          <p:nvPr/>
        </p:nvGrpSpPr>
        <p:grpSpPr bwMode="auto">
          <a:xfrm>
            <a:off x="2743200" y="4254500"/>
            <a:ext cx="876300" cy="966788"/>
            <a:chOff x="2742928" y="4254691"/>
            <a:chExt cx="876290" cy="966335"/>
          </a:xfrm>
        </p:grpSpPr>
        <p:sp>
          <p:nvSpPr>
            <p:cNvPr id="32784" name="Forma livre 116"/>
            <p:cNvSpPr>
              <a:spLocks/>
            </p:cNvSpPr>
            <p:nvPr/>
          </p:nvSpPr>
          <p:spPr bwMode="auto">
            <a:xfrm>
              <a:off x="3159623" y="4325557"/>
              <a:ext cx="459595" cy="895469"/>
            </a:xfrm>
            <a:custGeom>
              <a:avLst/>
              <a:gdLst>
                <a:gd name="T0" fmla="*/ 459595 w 459595"/>
                <a:gd name="T1" fmla="*/ 895469 h 895469"/>
                <a:gd name="T2" fmla="*/ 0 w 459595"/>
                <a:gd name="T3" fmla="*/ 0 h 895469"/>
                <a:gd name="T4" fmla="*/ 5751 w 459595"/>
                <a:gd name="T5" fmla="*/ 231956 h 895469"/>
                <a:gd name="T6" fmla="*/ 459595 w 459595"/>
                <a:gd name="T7" fmla="*/ 895469 h 895469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459595" h="895469">
                  <a:moveTo>
                    <a:pt x="459595" y="895469"/>
                  </a:moveTo>
                  <a:lnTo>
                    <a:pt x="0" y="0"/>
                  </a:lnTo>
                  <a:lnTo>
                    <a:pt x="5751" y="231956"/>
                  </a:lnTo>
                  <a:lnTo>
                    <a:pt x="459595" y="895469"/>
                  </a:lnTo>
                  <a:close/>
                </a:path>
              </a:pathLst>
            </a:custGeom>
            <a:solidFill>
              <a:srgbClr val="FF9999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85" name="CaixaDeTexto 118"/>
            <p:cNvSpPr txBox="1">
              <a:spLocks noChangeArrowheads="1"/>
            </p:cNvSpPr>
            <p:nvPr/>
          </p:nvSpPr>
          <p:spPr bwMode="auto">
            <a:xfrm>
              <a:off x="2742928" y="4254691"/>
              <a:ext cx="36580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2</a:t>
              </a:r>
              <a:endParaRPr lang="pt-BR" altLang="pt-BR" sz="1600" baseline="-25000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p:grpSp>
        <p:nvGrpSpPr>
          <p:cNvPr id="27664" name="Grupo 27663"/>
          <p:cNvGrpSpPr>
            <a:grpSpLocks/>
          </p:cNvGrpSpPr>
          <p:nvPr/>
        </p:nvGrpSpPr>
        <p:grpSpPr bwMode="auto">
          <a:xfrm>
            <a:off x="3008313" y="5935663"/>
            <a:ext cx="1211262" cy="546100"/>
            <a:chOff x="3008711" y="5935506"/>
            <a:chExt cx="1210545" cy="546203"/>
          </a:xfrm>
        </p:grpSpPr>
        <p:sp>
          <p:nvSpPr>
            <p:cNvPr id="32779" name="CaixaDeTexto 94"/>
            <p:cNvSpPr txBox="1">
              <a:spLocks noChangeArrowheads="1"/>
            </p:cNvSpPr>
            <p:nvPr/>
          </p:nvSpPr>
          <p:spPr bwMode="auto">
            <a:xfrm rot="-660000">
              <a:off x="3931998" y="6143155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0</a:t>
              </a:r>
            </a:p>
          </p:txBody>
        </p:sp>
        <p:sp>
          <p:nvSpPr>
            <p:cNvPr id="32780" name="CaixaDeTexto 104"/>
            <p:cNvSpPr txBox="1">
              <a:spLocks noChangeArrowheads="1"/>
            </p:cNvSpPr>
            <p:nvPr/>
          </p:nvSpPr>
          <p:spPr bwMode="auto">
            <a:xfrm rot="3060000">
              <a:off x="3776612" y="6067487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0</a:t>
              </a:r>
            </a:p>
          </p:txBody>
        </p:sp>
        <p:cxnSp>
          <p:nvCxnSpPr>
            <p:cNvPr id="32781" name="Conector reto 27650"/>
            <p:cNvCxnSpPr>
              <a:cxnSpLocks noChangeShapeType="1"/>
            </p:cNvCxnSpPr>
            <p:nvPr/>
          </p:nvCxnSpPr>
          <p:spPr bwMode="auto">
            <a:xfrm>
              <a:off x="4049031" y="6047615"/>
              <a:ext cx="0" cy="108000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82" name="Conector de seta reta 27654"/>
            <p:cNvCxnSpPr>
              <a:cxnSpLocks noChangeShapeType="1"/>
            </p:cNvCxnSpPr>
            <p:nvPr/>
          </p:nvCxnSpPr>
          <p:spPr bwMode="auto">
            <a:xfrm flipV="1">
              <a:off x="3381234" y="6096000"/>
              <a:ext cx="593866" cy="5615"/>
            </a:xfrm>
            <a:prstGeom prst="straightConnector1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2783" name="CaixaDeTexto 119"/>
            <p:cNvSpPr txBox="1">
              <a:spLocks noChangeArrowheads="1"/>
            </p:cNvSpPr>
            <p:nvPr/>
          </p:nvSpPr>
          <p:spPr bwMode="auto">
            <a:xfrm>
              <a:off x="3008711" y="5935506"/>
              <a:ext cx="36580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0</a:t>
              </a:r>
              <a:endParaRPr lang="pt-BR" altLang="pt-BR" sz="1600" baseline="-25000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8E41FB4-BCFE-43EE-B537-950F30C673D2}" type="slidenum">
              <a:rPr lang="pt-BR"/>
              <a:pPr>
                <a:defRPr/>
              </a:pPr>
              <a:t>41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upo 67"/>
          <p:cNvGrpSpPr>
            <a:grpSpLocks/>
          </p:cNvGrpSpPr>
          <p:nvPr/>
        </p:nvGrpSpPr>
        <p:grpSpPr bwMode="auto">
          <a:xfrm>
            <a:off x="2835275" y="2898775"/>
            <a:ext cx="3652838" cy="3406775"/>
            <a:chOff x="2835654" y="2898426"/>
            <a:chExt cx="3652603" cy="3407387"/>
          </a:xfrm>
        </p:grpSpPr>
        <p:grpSp>
          <p:nvGrpSpPr>
            <p:cNvPr id="33819" name="Grupo 64"/>
            <p:cNvGrpSpPr>
              <a:grpSpLocks/>
            </p:cNvGrpSpPr>
            <p:nvPr/>
          </p:nvGrpSpPr>
          <p:grpSpPr bwMode="auto">
            <a:xfrm>
              <a:off x="3157906" y="2898426"/>
              <a:ext cx="3330351" cy="3262292"/>
              <a:chOff x="2571404" y="2205644"/>
              <a:chExt cx="4067694" cy="3984567"/>
            </a:xfrm>
          </p:grpSpPr>
          <p:cxnSp>
            <p:nvCxnSpPr>
              <p:cNvPr id="33823" name="Conector reto 2"/>
              <p:cNvCxnSpPr>
                <a:cxnSpLocks noChangeShapeType="1"/>
              </p:cNvCxnSpPr>
              <p:nvPr/>
            </p:nvCxnSpPr>
            <p:spPr bwMode="auto">
              <a:xfrm flipH="1" flipV="1">
                <a:off x="2576945" y="4699462"/>
                <a:ext cx="1075113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4" name="Conector reto 4"/>
              <p:cNvCxnSpPr>
                <a:cxnSpLocks noChangeShapeType="1"/>
              </p:cNvCxnSpPr>
              <p:nvPr/>
            </p:nvCxnSpPr>
            <p:spPr bwMode="auto">
              <a:xfrm flipH="1" flipV="1">
                <a:off x="3319549" y="4566458"/>
                <a:ext cx="1080655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5" name="Conector reto 6"/>
              <p:cNvCxnSpPr>
                <a:cxnSpLocks noChangeShapeType="1"/>
              </p:cNvCxnSpPr>
              <p:nvPr/>
            </p:nvCxnSpPr>
            <p:spPr bwMode="auto">
              <a:xfrm flipH="1" flipV="1">
                <a:off x="4062153" y="4438996"/>
                <a:ext cx="1080654" cy="148520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6" name="Conector reto 8"/>
              <p:cNvCxnSpPr>
                <a:cxnSpLocks noChangeShapeType="1"/>
              </p:cNvCxnSpPr>
              <p:nvPr/>
            </p:nvCxnSpPr>
            <p:spPr bwMode="auto">
              <a:xfrm flipH="1" flipV="1">
                <a:off x="4804756" y="4294909"/>
                <a:ext cx="1080655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7" name="Conector reto 15"/>
              <p:cNvCxnSpPr>
                <a:cxnSpLocks noChangeShapeType="1"/>
              </p:cNvCxnSpPr>
              <p:nvPr/>
            </p:nvCxnSpPr>
            <p:spPr bwMode="auto">
              <a:xfrm flipH="1" flipV="1">
                <a:off x="5552902" y="4167447"/>
                <a:ext cx="1080654" cy="1479666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8" name="Conector reto 17"/>
              <p:cNvCxnSpPr>
                <a:cxnSpLocks noChangeShapeType="1"/>
              </p:cNvCxnSpPr>
              <p:nvPr/>
            </p:nvCxnSpPr>
            <p:spPr bwMode="auto">
              <a:xfrm flipV="1">
                <a:off x="2582487" y="4161905"/>
                <a:ext cx="2970415" cy="537557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9" name="Conector reto 19"/>
              <p:cNvCxnSpPr>
                <a:cxnSpLocks noChangeShapeType="1"/>
              </p:cNvCxnSpPr>
              <p:nvPr/>
            </p:nvCxnSpPr>
            <p:spPr bwMode="auto">
              <a:xfrm flipV="1">
                <a:off x="3640975" y="5647113"/>
                <a:ext cx="2998123" cy="54309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0" name="Conector reto 21"/>
              <p:cNvCxnSpPr>
                <a:cxnSpLocks noChangeShapeType="1"/>
              </p:cNvCxnSpPr>
              <p:nvPr/>
            </p:nvCxnSpPr>
            <p:spPr bwMode="auto">
              <a:xfrm flipV="1">
                <a:off x="2848495" y="4533207"/>
                <a:ext cx="2975956" cy="537557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1" name="Conector reto 23"/>
              <p:cNvCxnSpPr>
                <a:cxnSpLocks noChangeShapeType="1"/>
              </p:cNvCxnSpPr>
              <p:nvPr/>
            </p:nvCxnSpPr>
            <p:spPr bwMode="auto">
              <a:xfrm flipV="1">
                <a:off x="3103418" y="4915593"/>
                <a:ext cx="2992582" cy="526472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2" name="Conector reto 25"/>
              <p:cNvCxnSpPr>
                <a:cxnSpLocks noChangeShapeType="1"/>
              </p:cNvCxnSpPr>
              <p:nvPr/>
            </p:nvCxnSpPr>
            <p:spPr bwMode="auto">
              <a:xfrm flipV="1">
                <a:off x="3380509" y="5281353"/>
                <a:ext cx="2992582" cy="54309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3" name="Conector reto 27"/>
              <p:cNvCxnSpPr>
                <a:cxnSpLocks noChangeShapeType="1"/>
              </p:cNvCxnSpPr>
              <p:nvPr/>
            </p:nvCxnSpPr>
            <p:spPr bwMode="auto">
              <a:xfrm flipH="1" flipV="1">
                <a:off x="2571404" y="2754284"/>
                <a:ext cx="11083" cy="1950720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4" name="Conector reto 29"/>
              <p:cNvCxnSpPr>
                <a:cxnSpLocks noChangeShapeType="1"/>
              </p:cNvCxnSpPr>
              <p:nvPr/>
            </p:nvCxnSpPr>
            <p:spPr bwMode="auto">
              <a:xfrm flipV="1">
                <a:off x="5558444" y="2205644"/>
                <a:ext cx="0" cy="1961803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5" name="Conector reto 32767"/>
              <p:cNvCxnSpPr>
                <a:cxnSpLocks noChangeShapeType="1"/>
              </p:cNvCxnSpPr>
              <p:nvPr/>
            </p:nvCxnSpPr>
            <p:spPr bwMode="auto">
              <a:xfrm flipV="1">
                <a:off x="6633556" y="3690851"/>
                <a:ext cx="5542" cy="1956262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6" name="Conector reto 32772"/>
              <p:cNvCxnSpPr>
                <a:cxnSpLocks noChangeShapeType="1"/>
              </p:cNvCxnSpPr>
              <p:nvPr/>
            </p:nvCxnSpPr>
            <p:spPr bwMode="auto">
              <a:xfrm flipV="1">
                <a:off x="2576945" y="2205644"/>
                <a:ext cx="2987040" cy="554181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7" name="Conector reto 32774"/>
              <p:cNvCxnSpPr>
                <a:cxnSpLocks noChangeShapeType="1"/>
              </p:cNvCxnSpPr>
              <p:nvPr/>
            </p:nvCxnSpPr>
            <p:spPr bwMode="auto">
              <a:xfrm>
                <a:off x="5575069" y="2205644"/>
                <a:ext cx="1064029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33820" name="CaixaDeTexto 66"/>
            <p:cNvSpPr txBox="1">
              <a:spLocks noChangeArrowheads="1"/>
            </p:cNvSpPr>
            <p:nvPr/>
          </p:nvSpPr>
          <p:spPr bwMode="auto">
            <a:xfrm rot="-631934">
              <a:off x="5220324" y="5967259"/>
              <a:ext cx="37863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baseline="-25000"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33821" name="CaixaDeTexto 100"/>
            <p:cNvSpPr txBox="1">
              <a:spLocks noChangeArrowheads="1"/>
            </p:cNvSpPr>
            <p:nvPr/>
          </p:nvSpPr>
          <p:spPr bwMode="auto">
            <a:xfrm rot="3039062">
              <a:off x="3185202" y="5412772"/>
              <a:ext cx="37863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baseline="-25000">
                  <a:latin typeface="Times New Roman" charset="0"/>
                  <a:cs typeface="Times New Roman" charset="0"/>
                </a:rPr>
                <a:t>2</a:t>
              </a:r>
            </a:p>
          </p:txBody>
        </p:sp>
        <p:sp>
          <p:nvSpPr>
            <p:cNvPr id="33822" name="CaixaDeTexto 101"/>
            <p:cNvSpPr txBox="1">
              <a:spLocks noChangeArrowheads="1"/>
            </p:cNvSpPr>
            <p:nvPr/>
          </p:nvSpPr>
          <p:spPr bwMode="auto">
            <a:xfrm>
              <a:off x="2835654" y="3382276"/>
              <a:ext cx="29848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Y</a:t>
              </a:r>
            </a:p>
          </p:txBody>
        </p:sp>
      </p:grpSp>
      <p:graphicFrame>
        <p:nvGraphicFramePr>
          <p:cNvPr id="33795" name="Objeto 1"/>
          <p:cNvGraphicFramePr>
            <a:graphicFrameLocks/>
          </p:cNvGraphicFramePr>
          <p:nvPr/>
        </p:nvGraphicFramePr>
        <p:xfrm>
          <a:off x="2752725" y="2203450"/>
          <a:ext cx="36798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451100" imgH="241300" progId="Equation.3">
                  <p:embed/>
                </p:oleObj>
              </mc:Choice>
              <mc:Fallback>
                <p:oleObj name="Equação" r:id="rId2" imgW="2451100" imgH="241300" progId="Equation.3">
                  <p:embed/>
                  <p:pic>
                    <p:nvPicPr>
                      <p:cNvPr id="33795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52725" y="2203450"/>
                        <a:ext cx="36798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Múltipla</a:t>
            </a:r>
            <a:endParaRPr lang="pt-BR" dirty="0"/>
          </a:p>
        </p:txBody>
      </p:sp>
      <p:sp>
        <p:nvSpPr>
          <p:cNvPr id="33797" name="Retângulo 2"/>
          <p:cNvSpPr>
            <a:spLocks noChangeArrowheads="1"/>
          </p:cNvSpPr>
          <p:nvPr/>
        </p:nvSpPr>
        <p:spPr bwMode="auto">
          <a:xfrm>
            <a:off x="611188" y="1628775"/>
            <a:ext cx="792003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duas variáveis independentes com interação</a:t>
            </a:r>
          </a:p>
        </p:txBody>
      </p:sp>
      <p:grpSp>
        <p:nvGrpSpPr>
          <p:cNvPr id="64" name="Grupo 63"/>
          <p:cNvGrpSpPr>
            <a:grpSpLocks/>
          </p:cNvGrpSpPr>
          <p:nvPr/>
        </p:nvGrpSpPr>
        <p:grpSpPr bwMode="auto">
          <a:xfrm>
            <a:off x="3165475" y="3602038"/>
            <a:ext cx="3322638" cy="2441575"/>
            <a:chOff x="2579842" y="3379495"/>
            <a:chExt cx="4059639" cy="2667800"/>
          </a:xfrm>
        </p:grpSpPr>
        <p:sp>
          <p:nvSpPr>
            <p:cNvPr id="33812" name="Forma livre 32798"/>
            <p:cNvSpPr>
              <a:spLocks/>
            </p:cNvSpPr>
            <p:nvPr/>
          </p:nvSpPr>
          <p:spPr bwMode="auto">
            <a:xfrm>
              <a:off x="2579842" y="3379495"/>
              <a:ext cx="4059639" cy="2667800"/>
            </a:xfrm>
            <a:custGeom>
              <a:avLst/>
              <a:gdLst>
                <a:gd name="T0" fmla="*/ 0 w 4059639"/>
                <a:gd name="T1" fmla="*/ 61170 h 2667800"/>
                <a:gd name="T2" fmla="*/ 2972938 w 4059639"/>
                <a:gd name="T3" fmla="*/ 0 h 2667800"/>
                <a:gd name="T4" fmla="*/ 4059639 w 4059639"/>
                <a:gd name="T5" fmla="*/ 1512885 h 2667800"/>
                <a:gd name="T6" fmla="*/ 1079984 w 4059639"/>
                <a:gd name="T7" fmla="*/ 2667800 h 2667800"/>
                <a:gd name="T8" fmla="*/ 0 w 4059639"/>
                <a:gd name="T9" fmla="*/ 61170 h 26678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59639" h="2667800">
                  <a:moveTo>
                    <a:pt x="0" y="61170"/>
                  </a:moveTo>
                  <a:lnTo>
                    <a:pt x="2972938" y="0"/>
                  </a:lnTo>
                  <a:lnTo>
                    <a:pt x="4059639" y="1512885"/>
                  </a:lnTo>
                  <a:lnTo>
                    <a:pt x="1079984" y="2667800"/>
                  </a:lnTo>
                  <a:lnTo>
                    <a:pt x="0" y="61170"/>
                  </a:lnTo>
                  <a:close/>
                </a:path>
              </a:pathLst>
            </a:custGeom>
            <a:solidFill>
              <a:srgbClr val="3B3B3B">
                <a:alpha val="67842"/>
              </a:srgb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3813" name="Conector reto 32784"/>
            <p:cNvCxnSpPr>
              <a:cxnSpLocks noChangeShapeType="1"/>
            </p:cNvCxnSpPr>
            <p:nvPr/>
          </p:nvCxnSpPr>
          <p:spPr bwMode="auto">
            <a:xfrm>
              <a:off x="3338481" y="3428172"/>
              <a:ext cx="1065224" cy="2327499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4" name="Conector reto 32786"/>
            <p:cNvCxnSpPr>
              <a:cxnSpLocks noChangeShapeType="1"/>
            </p:cNvCxnSpPr>
            <p:nvPr/>
          </p:nvCxnSpPr>
          <p:spPr bwMode="auto">
            <a:xfrm>
              <a:off x="4069984" y="3410642"/>
              <a:ext cx="1074216" cy="205332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5" name="Conector reto 32788"/>
            <p:cNvCxnSpPr>
              <a:cxnSpLocks noChangeShapeType="1"/>
            </p:cNvCxnSpPr>
            <p:nvPr/>
          </p:nvCxnSpPr>
          <p:spPr bwMode="auto">
            <a:xfrm flipH="1">
              <a:off x="3410327" y="4509195"/>
              <a:ext cx="2952137" cy="911567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6" name="Conector reto 32790"/>
            <p:cNvCxnSpPr>
              <a:cxnSpLocks noChangeShapeType="1"/>
            </p:cNvCxnSpPr>
            <p:nvPr/>
          </p:nvCxnSpPr>
          <p:spPr bwMode="auto">
            <a:xfrm flipH="1">
              <a:off x="3142543" y="4129376"/>
              <a:ext cx="2952138" cy="625241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7" name="Conector reto 32792"/>
            <p:cNvCxnSpPr>
              <a:cxnSpLocks noChangeShapeType="1"/>
            </p:cNvCxnSpPr>
            <p:nvPr/>
          </p:nvCxnSpPr>
          <p:spPr bwMode="auto">
            <a:xfrm flipH="1">
              <a:off x="2874761" y="3761244"/>
              <a:ext cx="2945607" cy="338916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8" name="Conector reto 32795"/>
            <p:cNvCxnSpPr>
              <a:cxnSpLocks noChangeShapeType="1"/>
            </p:cNvCxnSpPr>
            <p:nvPr/>
          </p:nvCxnSpPr>
          <p:spPr bwMode="auto">
            <a:xfrm>
              <a:off x="4821081" y="3393112"/>
              <a:ext cx="1080444" cy="179035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665" name="Grupo 27664"/>
          <p:cNvGrpSpPr>
            <a:grpSpLocks/>
          </p:cNvGrpSpPr>
          <p:nvPr/>
        </p:nvGrpSpPr>
        <p:grpSpPr bwMode="auto">
          <a:xfrm>
            <a:off x="5708650" y="4935538"/>
            <a:ext cx="3211513" cy="396875"/>
            <a:chOff x="5708050" y="5011030"/>
            <a:chExt cx="3211388" cy="397252"/>
          </a:xfrm>
        </p:grpSpPr>
        <p:sp>
          <p:nvSpPr>
            <p:cNvPr id="33810" name="Forma livre 27661"/>
            <p:cNvSpPr>
              <a:spLocks/>
            </p:cNvSpPr>
            <p:nvPr/>
          </p:nvSpPr>
          <p:spPr bwMode="auto">
            <a:xfrm>
              <a:off x="5708050" y="5067900"/>
              <a:ext cx="776857" cy="340382"/>
            </a:xfrm>
            <a:custGeom>
              <a:avLst/>
              <a:gdLst>
                <a:gd name="T0" fmla="*/ 0 w 776857"/>
                <a:gd name="T1" fmla="*/ 340382 h 340382"/>
                <a:gd name="T2" fmla="*/ 776857 w 776857"/>
                <a:gd name="T3" fmla="*/ 0 h 340382"/>
                <a:gd name="T4" fmla="*/ 776857 w 776857"/>
                <a:gd name="T5" fmla="*/ 188702 h 340382"/>
                <a:gd name="T6" fmla="*/ 0 w 776857"/>
                <a:gd name="T7" fmla="*/ 340382 h 340382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776857" h="340382">
                  <a:moveTo>
                    <a:pt x="0" y="340382"/>
                  </a:moveTo>
                  <a:lnTo>
                    <a:pt x="776857" y="0"/>
                  </a:lnTo>
                  <a:lnTo>
                    <a:pt x="776857" y="188702"/>
                  </a:lnTo>
                  <a:lnTo>
                    <a:pt x="0" y="340382"/>
                  </a:lnTo>
                  <a:close/>
                </a:path>
              </a:pathLst>
            </a:custGeom>
            <a:solidFill>
              <a:srgbClr val="FF9999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663" name="CaixaDeTexto 27662"/>
            <p:cNvSpPr txBox="1"/>
            <p:nvPr/>
          </p:nvSpPr>
          <p:spPr>
            <a:xfrm>
              <a:off x="6516057" y="5011030"/>
              <a:ext cx="2403381" cy="33845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pt-BR" i="1" dirty="0">
                  <a:solidFill>
                    <a:srgbClr val="FF0000"/>
                  </a:solidFill>
                  <a:latin typeface="Tahoma" panose="020B0604030504040204" pitchFamily="34" charset="0"/>
                  <a:sym typeface="Symbol"/>
                </a:rPr>
                <a:t></a:t>
              </a:r>
              <a:r>
                <a:rPr lang="pt-BR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1</a:t>
              </a:r>
              <a:r>
                <a:rPr lang="pt-BR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panose="02020603050405020304" pitchFamily="18" charset="0"/>
                  <a:sym typeface="Symbol"/>
                </a:rPr>
                <a:t> (considerando </a:t>
              </a:r>
              <a:r>
                <a:rPr lang="pt-BR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X</a:t>
              </a:r>
              <a:r>
                <a:rPr lang="pt-BR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2</a:t>
              </a:r>
              <a:r>
                <a:rPr lang="pt-BR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 = 0</a:t>
              </a:r>
              <a:r>
                <a:rPr lang="pt-BR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panose="02020603050405020304" pitchFamily="18" charset="0"/>
                  <a:sym typeface="Symbol"/>
                </a:rPr>
                <a:t>)</a:t>
              </a:r>
              <a:endParaRPr lang="pt-BR" dirty="0">
                <a:solidFill>
                  <a:srgbClr val="FF0000"/>
                </a:solidFill>
                <a:latin typeface="Tahoma" panose="020B0604030504040204" pitchFamily="34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7666" name="Grupo 27665"/>
          <p:cNvGrpSpPr>
            <a:grpSpLocks/>
          </p:cNvGrpSpPr>
          <p:nvPr/>
        </p:nvGrpSpPr>
        <p:grpSpPr bwMode="auto">
          <a:xfrm>
            <a:off x="611188" y="3678238"/>
            <a:ext cx="2930525" cy="992187"/>
            <a:chOff x="611560" y="4325558"/>
            <a:chExt cx="2930384" cy="992060"/>
          </a:xfrm>
        </p:grpSpPr>
        <p:sp>
          <p:nvSpPr>
            <p:cNvPr id="33808" name="Forma livre 116"/>
            <p:cNvSpPr>
              <a:spLocks/>
            </p:cNvSpPr>
            <p:nvPr/>
          </p:nvSpPr>
          <p:spPr bwMode="auto">
            <a:xfrm>
              <a:off x="3158933" y="4325558"/>
              <a:ext cx="383011" cy="992060"/>
            </a:xfrm>
            <a:custGeom>
              <a:avLst/>
              <a:gdLst>
                <a:gd name="T0" fmla="*/ 383011 w 383011"/>
                <a:gd name="T1" fmla="*/ 992060 h 992060"/>
                <a:gd name="T2" fmla="*/ 689 w 383011"/>
                <a:gd name="T3" fmla="*/ 0 h 992060"/>
                <a:gd name="T4" fmla="*/ 0 w 383011"/>
                <a:gd name="T5" fmla="*/ 380063 h 992060"/>
                <a:gd name="T6" fmla="*/ 383011 w 383011"/>
                <a:gd name="T7" fmla="*/ 992060 h 9920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383011" h="992060">
                  <a:moveTo>
                    <a:pt x="383011" y="992060"/>
                  </a:moveTo>
                  <a:lnTo>
                    <a:pt x="689" y="0"/>
                  </a:lnTo>
                  <a:cubicBezTo>
                    <a:pt x="459" y="126688"/>
                    <a:pt x="230" y="253375"/>
                    <a:pt x="0" y="380063"/>
                  </a:cubicBezTo>
                  <a:lnTo>
                    <a:pt x="383011" y="992060"/>
                  </a:lnTo>
                  <a:close/>
                </a:path>
              </a:pathLst>
            </a:custGeom>
            <a:solidFill>
              <a:srgbClr val="FF9999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3809" name="CaixaDeTexto 118"/>
            <p:cNvSpPr txBox="1">
              <a:spLocks noChangeArrowheads="1"/>
            </p:cNvSpPr>
            <p:nvPr/>
          </p:nvSpPr>
          <p:spPr bwMode="auto">
            <a:xfrm>
              <a:off x="611560" y="4364799"/>
              <a:ext cx="252120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(considerando </a:t>
              </a:r>
              <a:r>
                <a:rPr lang="pt-BR" altLang="pt-BR" sz="1600" i="1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X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1</a:t>
              </a:r>
              <a:r>
                <a:rPr lang="pt-BR" altLang="pt-BR" sz="16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 = 0</a:t>
              </a: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) </a:t>
              </a: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2</a:t>
              </a:r>
            </a:p>
          </p:txBody>
        </p:sp>
      </p:grpSp>
      <p:grpSp>
        <p:nvGrpSpPr>
          <p:cNvPr id="27664" name="Grupo 27663"/>
          <p:cNvGrpSpPr>
            <a:grpSpLocks/>
          </p:cNvGrpSpPr>
          <p:nvPr/>
        </p:nvGrpSpPr>
        <p:grpSpPr bwMode="auto">
          <a:xfrm>
            <a:off x="3008313" y="5935663"/>
            <a:ext cx="1211262" cy="546100"/>
            <a:chOff x="3008711" y="5935506"/>
            <a:chExt cx="1210545" cy="546203"/>
          </a:xfrm>
        </p:grpSpPr>
        <p:sp>
          <p:nvSpPr>
            <p:cNvPr id="33803" name="CaixaDeTexto 94"/>
            <p:cNvSpPr txBox="1">
              <a:spLocks noChangeArrowheads="1"/>
            </p:cNvSpPr>
            <p:nvPr/>
          </p:nvSpPr>
          <p:spPr bwMode="auto">
            <a:xfrm rot="-660000">
              <a:off x="3931998" y="6143155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0</a:t>
              </a:r>
            </a:p>
          </p:txBody>
        </p:sp>
        <p:sp>
          <p:nvSpPr>
            <p:cNvPr id="33804" name="CaixaDeTexto 104"/>
            <p:cNvSpPr txBox="1">
              <a:spLocks noChangeArrowheads="1"/>
            </p:cNvSpPr>
            <p:nvPr/>
          </p:nvSpPr>
          <p:spPr bwMode="auto">
            <a:xfrm rot="3060000">
              <a:off x="3776612" y="6067487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0</a:t>
              </a:r>
            </a:p>
          </p:txBody>
        </p:sp>
        <p:cxnSp>
          <p:nvCxnSpPr>
            <p:cNvPr id="33805" name="Conector reto 27650"/>
            <p:cNvCxnSpPr>
              <a:cxnSpLocks noChangeShapeType="1"/>
            </p:cNvCxnSpPr>
            <p:nvPr/>
          </p:nvCxnSpPr>
          <p:spPr bwMode="auto">
            <a:xfrm>
              <a:off x="4049031" y="6047615"/>
              <a:ext cx="0" cy="108000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06" name="Conector de seta reta 27654"/>
            <p:cNvCxnSpPr>
              <a:cxnSpLocks noChangeShapeType="1"/>
            </p:cNvCxnSpPr>
            <p:nvPr/>
          </p:nvCxnSpPr>
          <p:spPr bwMode="auto">
            <a:xfrm flipV="1">
              <a:off x="3381234" y="6096000"/>
              <a:ext cx="593866" cy="5615"/>
            </a:xfrm>
            <a:prstGeom prst="straightConnector1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807" name="CaixaDeTexto 119"/>
            <p:cNvSpPr txBox="1">
              <a:spLocks noChangeArrowheads="1"/>
            </p:cNvSpPr>
            <p:nvPr/>
          </p:nvSpPr>
          <p:spPr bwMode="auto">
            <a:xfrm>
              <a:off x="3008711" y="5935506"/>
              <a:ext cx="36580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0</a:t>
              </a:r>
              <a:endParaRPr lang="pt-BR" altLang="pt-BR" sz="1600" baseline="-25000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D968F6B-118A-45C6-8119-DDC104CD583B}" type="slidenum">
              <a:rPr lang="pt-BR"/>
              <a:pPr>
                <a:defRPr/>
              </a:pPr>
              <a:t>42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" name="Objeto 20"/>
          <p:cNvGraphicFramePr>
            <a:graphicFrameLocks/>
          </p:cNvGraphicFramePr>
          <p:nvPr/>
        </p:nvGraphicFramePr>
        <p:xfrm>
          <a:off x="2413000" y="2679700"/>
          <a:ext cx="3114675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057400" imgH="939800" progId="Equation.3">
                  <p:embed/>
                </p:oleObj>
              </mc:Choice>
              <mc:Fallback>
                <p:oleObj name="Equação" r:id="rId2" imgW="2057400" imgH="939800" progId="Equation.3">
                  <p:embed/>
                  <p:pic>
                    <p:nvPicPr>
                      <p:cNvPr id="21" name="Objeto 20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3000" y="2679700"/>
                        <a:ext cx="3114675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Objeto 31"/>
          <p:cNvGraphicFramePr>
            <a:graphicFrameLocks/>
          </p:cNvGraphicFramePr>
          <p:nvPr/>
        </p:nvGraphicFramePr>
        <p:xfrm>
          <a:off x="7137400" y="2679700"/>
          <a:ext cx="808038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533169" imgH="939392" progId="Equation.3">
                  <p:embed/>
                </p:oleObj>
              </mc:Choice>
              <mc:Fallback>
                <p:oleObj name="Equação" r:id="rId4" imgW="533169" imgH="939392" progId="Equation.3">
                  <p:embed/>
                  <p:pic>
                    <p:nvPicPr>
                      <p:cNvPr id="32" name="Objeto 31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37400" y="2679700"/>
                        <a:ext cx="808038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Objeto 32"/>
          <p:cNvGraphicFramePr>
            <a:graphicFrameLocks/>
          </p:cNvGraphicFramePr>
          <p:nvPr/>
        </p:nvGraphicFramePr>
        <p:xfrm>
          <a:off x="1138238" y="4899025"/>
          <a:ext cx="962025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634725" imgH="939392" progId="Equation.3">
                  <p:embed/>
                </p:oleObj>
              </mc:Choice>
              <mc:Fallback>
                <p:oleObj name="Equação" r:id="rId6" imgW="634725" imgH="939392" progId="Equation.3">
                  <p:embed/>
                  <p:pic>
                    <p:nvPicPr>
                      <p:cNvPr id="33" name="Objeto 32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38238" y="4899025"/>
                        <a:ext cx="962025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" name="Objeto 33"/>
          <p:cNvGraphicFramePr>
            <a:graphicFrameLocks/>
          </p:cNvGraphicFramePr>
          <p:nvPr/>
        </p:nvGraphicFramePr>
        <p:xfrm>
          <a:off x="5940425" y="2679700"/>
          <a:ext cx="1000125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660113" imgH="939392" progId="Equation.3">
                  <p:embed/>
                </p:oleObj>
              </mc:Choice>
              <mc:Fallback>
                <p:oleObj name="Equação" r:id="rId8" imgW="660113" imgH="939392" progId="Equation.3">
                  <p:embed/>
                  <p:pic>
                    <p:nvPicPr>
                      <p:cNvPr id="34" name="Objeto 33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0425" y="2679700"/>
                        <a:ext cx="1000125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Notação Matricial</a:t>
            </a:r>
            <a:endParaRPr lang="pt-BR" dirty="0"/>
          </a:p>
        </p:txBody>
      </p:sp>
      <p:sp>
        <p:nvSpPr>
          <p:cNvPr id="34823" name="Retângulo 2"/>
          <p:cNvSpPr>
            <a:spLocks noChangeArrowheads="1"/>
          </p:cNvSpPr>
          <p:nvPr/>
        </p:nvSpPr>
        <p:spPr bwMode="auto">
          <a:xfrm>
            <a:off x="2286000" y="1412875"/>
            <a:ext cx="4572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Modelo Geral</a:t>
            </a:r>
          </a:p>
        </p:txBody>
      </p:sp>
      <p:graphicFrame>
        <p:nvGraphicFramePr>
          <p:cNvPr id="2" name="Objeto 1"/>
          <p:cNvGraphicFramePr>
            <a:graphicFrameLocks/>
          </p:cNvGraphicFramePr>
          <p:nvPr/>
        </p:nvGraphicFramePr>
        <p:xfrm>
          <a:off x="4033838" y="1989138"/>
          <a:ext cx="1076325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710891" imgH="203112" progId="Equation.3">
                  <p:embed/>
                </p:oleObj>
              </mc:Choice>
              <mc:Fallback>
                <p:oleObj name="Equação" r:id="rId10" imgW="710891" imgH="203112" progId="Equation.3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33838" y="1989138"/>
                        <a:ext cx="1076325" cy="304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to 19"/>
          <p:cNvGraphicFramePr>
            <a:graphicFrameLocks/>
          </p:cNvGraphicFramePr>
          <p:nvPr/>
        </p:nvGraphicFramePr>
        <p:xfrm>
          <a:off x="1138238" y="2679700"/>
          <a:ext cx="865187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571252" imgH="939392" progId="Equation.3">
                  <p:embed/>
                </p:oleObj>
              </mc:Choice>
              <mc:Fallback>
                <p:oleObj name="Equação" r:id="rId12" imgW="571252" imgH="939392" progId="Equation.3">
                  <p:embed/>
                  <p:pic>
                    <p:nvPicPr>
                      <p:cNvPr id="20" name="Objeto 19"/>
                      <p:cNvPicPr>
                        <a:picLocks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38238" y="2679700"/>
                        <a:ext cx="865187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Objeto 34"/>
          <p:cNvGraphicFramePr>
            <a:graphicFrameLocks/>
          </p:cNvGraphicFramePr>
          <p:nvPr/>
        </p:nvGraphicFramePr>
        <p:xfrm>
          <a:off x="1547813" y="4132263"/>
          <a:ext cx="442912" cy="266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4" imgW="291847" imgH="177646" progId="Equation.3">
                  <p:embed/>
                </p:oleObj>
              </mc:Choice>
              <mc:Fallback>
                <p:oleObj name="Equação" r:id="rId14" imgW="291847" imgH="177646" progId="Equation.3">
                  <p:embed/>
                  <p:pic>
                    <p:nvPicPr>
                      <p:cNvPr id="35" name="Objeto 34"/>
                      <p:cNvPicPr>
                        <a:picLocks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47813" y="4132263"/>
                        <a:ext cx="442912" cy="266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" name="Objeto 36"/>
          <p:cNvGraphicFramePr>
            <a:graphicFrameLocks/>
          </p:cNvGraphicFramePr>
          <p:nvPr/>
        </p:nvGraphicFramePr>
        <p:xfrm>
          <a:off x="3889375" y="4132263"/>
          <a:ext cx="519113" cy="247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6" imgW="342603" imgH="164957" progId="Equation.3">
                  <p:embed/>
                </p:oleObj>
              </mc:Choice>
              <mc:Fallback>
                <p:oleObj name="Equação" r:id="rId16" imgW="342603" imgH="164957" progId="Equation.3">
                  <p:embed/>
                  <p:pic>
                    <p:nvPicPr>
                      <p:cNvPr id="37" name="Objeto 36"/>
                      <p:cNvPicPr>
                        <a:picLocks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89375" y="4132263"/>
                        <a:ext cx="519113" cy="247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" name="Objeto 38"/>
          <p:cNvGraphicFramePr>
            <a:graphicFrameLocks/>
          </p:cNvGraphicFramePr>
          <p:nvPr/>
        </p:nvGraphicFramePr>
        <p:xfrm>
          <a:off x="6391275" y="4132263"/>
          <a:ext cx="479425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8" imgW="317225" imgH="203024" progId="Equation.3">
                  <p:embed/>
                </p:oleObj>
              </mc:Choice>
              <mc:Fallback>
                <p:oleObj name="Equação" r:id="rId18" imgW="317225" imgH="203024" progId="Equation.3">
                  <p:embed/>
                  <p:pic>
                    <p:nvPicPr>
                      <p:cNvPr id="39" name="Objeto 38"/>
                      <p:cNvPicPr>
                        <a:picLocks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91275" y="4132263"/>
                        <a:ext cx="479425" cy="304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" name="Objeto 39"/>
          <p:cNvGraphicFramePr>
            <a:graphicFrameLocks/>
          </p:cNvGraphicFramePr>
          <p:nvPr/>
        </p:nvGraphicFramePr>
        <p:xfrm>
          <a:off x="7486650" y="4132263"/>
          <a:ext cx="442913" cy="266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4" imgW="291847" imgH="177646" progId="Equation.3">
                  <p:embed/>
                </p:oleObj>
              </mc:Choice>
              <mc:Fallback>
                <p:oleObj name="Equação" r:id="rId14" imgW="291847" imgH="177646" progId="Equation.3">
                  <p:embed/>
                  <p:pic>
                    <p:nvPicPr>
                      <p:cNvPr id="40" name="Objeto 39"/>
                      <p:cNvPicPr>
                        <a:picLocks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86650" y="4132263"/>
                        <a:ext cx="442913" cy="266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" name="Objeto 40"/>
          <p:cNvGraphicFramePr>
            <a:graphicFrameLocks/>
          </p:cNvGraphicFramePr>
          <p:nvPr/>
        </p:nvGraphicFramePr>
        <p:xfrm>
          <a:off x="4449763" y="5391150"/>
          <a:ext cx="769937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0" imgW="507780" imgH="215806" progId="Equation.3">
                  <p:embed/>
                </p:oleObj>
              </mc:Choice>
              <mc:Fallback>
                <p:oleObj name="Equação" r:id="rId20" imgW="507780" imgH="215806" progId="Equation.3">
                  <p:embed/>
                  <p:pic>
                    <p:nvPicPr>
                      <p:cNvPr id="41" name="Objeto 40"/>
                      <p:cNvPicPr>
                        <a:picLocks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49763" y="5391150"/>
                        <a:ext cx="769937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" name="Objeto 41"/>
          <p:cNvGraphicFramePr>
            <a:graphicFrameLocks/>
          </p:cNvGraphicFramePr>
          <p:nvPr/>
        </p:nvGraphicFramePr>
        <p:xfrm>
          <a:off x="6365875" y="5391150"/>
          <a:ext cx="942975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2" imgW="622030" imgH="215806" progId="Equation.3">
                  <p:embed/>
                </p:oleObj>
              </mc:Choice>
              <mc:Fallback>
                <p:oleObj name="Equação" r:id="rId22" imgW="622030" imgH="215806" progId="Equation.3">
                  <p:embed/>
                  <p:pic>
                    <p:nvPicPr>
                      <p:cNvPr id="42" name="Objeto 41"/>
                      <p:cNvPicPr>
                        <a:picLocks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65875" y="5391150"/>
                        <a:ext cx="942975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to 4"/>
          <p:cNvGraphicFramePr>
            <a:graphicFrameLocks/>
          </p:cNvGraphicFramePr>
          <p:nvPr/>
        </p:nvGraphicFramePr>
        <p:xfrm>
          <a:off x="2066925" y="5391150"/>
          <a:ext cx="1462088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4" imgW="965200" imgH="241300" progId="Equation.3">
                  <p:embed/>
                </p:oleObj>
              </mc:Choice>
              <mc:Fallback>
                <p:oleObj name="Equação" r:id="rId24" imgW="965200" imgH="241300" progId="Equation.3">
                  <p:embed/>
                  <p:pic>
                    <p:nvPicPr>
                      <p:cNvPr id="5" name="Objeto 4"/>
                      <p:cNvPicPr>
                        <a:picLocks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6925" y="5391150"/>
                        <a:ext cx="1462088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419889-D740-4403-87D9-D573693E28E0}" type="slidenum">
              <a:rPr lang="pt-BR"/>
              <a:pPr>
                <a:defRPr/>
              </a:pPr>
              <a:t>43</a:t>
            </a:fld>
            <a:endParaRPr lang="pt-BR"/>
          </a:p>
        </p:txBody>
      </p:sp>
      <p:grpSp>
        <p:nvGrpSpPr>
          <p:cNvPr id="7" name="Grupo 6"/>
          <p:cNvGrpSpPr/>
          <p:nvPr/>
        </p:nvGrpSpPr>
        <p:grpSpPr>
          <a:xfrm>
            <a:off x="2961564" y="4080680"/>
            <a:ext cx="5608567" cy="769779"/>
            <a:chOff x="2988860" y="4107976"/>
            <a:chExt cx="5608567" cy="7697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2"/>
                <p:cNvSpPr>
                  <a:spLocks noChangeArrowheads="1"/>
                </p:cNvSpPr>
                <p:nvPr/>
              </p:nvSpPr>
              <p:spPr bwMode="auto">
                <a:xfrm>
                  <a:off x="3340843" y="4539201"/>
                  <a:ext cx="5256584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>
                  <a:lvl1pPr marL="342900" indent="-342900"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>
                    <a:spcBef>
                      <a:spcPct val="5000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primeira coluna de 1’s para representar o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600" b="0" i="1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6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</m:oMath>
                  </a14:m>
                  <a:endParaRPr lang="pt-BR" altLang="pt-BR" sz="1600" dirty="0">
                    <a:latin typeface="Times New Roman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18" name="Retângulo 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340843" y="4539201"/>
                  <a:ext cx="5256584" cy="338554"/>
                </a:xfrm>
                <a:prstGeom prst="rect">
                  <a:avLst/>
                </a:prstGeom>
                <a:blipFill>
                  <a:blip r:embed="rId26"/>
                  <a:stretch>
                    <a:fillRect l="-696" t="-7143" b="-19643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Forma livre 5"/>
            <p:cNvSpPr/>
            <p:nvPr/>
          </p:nvSpPr>
          <p:spPr bwMode="auto">
            <a:xfrm>
              <a:off x="2988860" y="4107976"/>
              <a:ext cx="395785" cy="600502"/>
            </a:xfrm>
            <a:custGeom>
              <a:avLst/>
              <a:gdLst>
                <a:gd name="connsiteX0" fmla="*/ 0 w 395785"/>
                <a:gd name="connsiteY0" fmla="*/ 0 h 600502"/>
                <a:gd name="connsiteX1" fmla="*/ 68239 w 395785"/>
                <a:gd name="connsiteY1" fmla="*/ 436728 h 600502"/>
                <a:gd name="connsiteX2" fmla="*/ 395785 w 395785"/>
                <a:gd name="connsiteY2" fmla="*/ 600502 h 600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5785" h="600502">
                  <a:moveTo>
                    <a:pt x="0" y="0"/>
                  </a:moveTo>
                  <a:cubicBezTo>
                    <a:pt x="1137" y="168322"/>
                    <a:pt x="2275" y="336644"/>
                    <a:pt x="68239" y="436728"/>
                  </a:cubicBezTo>
                  <a:cubicBezTo>
                    <a:pt x="134203" y="536812"/>
                    <a:pt x="264994" y="568657"/>
                    <a:pt x="395785" y="600502"/>
                  </a:cubicBezTo>
                </a:path>
              </a:pathLst>
            </a:cu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stealth" w="lg" len="lg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4621828"/>
              </p:ext>
            </p:extLst>
          </p:nvPr>
        </p:nvGraphicFramePr>
        <p:xfrm>
          <a:off x="5478460" y="2874963"/>
          <a:ext cx="1205100" cy="3299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27000" imgH="253800" progId="Equation.DSMT4">
                  <p:embed/>
                </p:oleObj>
              </mc:Choice>
              <mc:Fallback>
                <p:oleObj name="Equation" r:id="rId2" imgW="927000" imgH="253800" progId="Equation.DSMT4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78460" y="2874963"/>
                        <a:ext cx="1205100" cy="32994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Objeto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0330495"/>
              </p:ext>
            </p:extLst>
          </p:nvPr>
        </p:nvGraphicFramePr>
        <p:xfrm>
          <a:off x="5489572" y="2273300"/>
          <a:ext cx="1386684" cy="3299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66680" imgH="253800" progId="Equation.DSMT4">
                  <p:embed/>
                </p:oleObj>
              </mc:Choice>
              <mc:Fallback>
                <p:oleObj name="Equation" r:id="rId4" imgW="1066680" imgH="253800" progId="Equation.DSMT4">
                  <p:embed/>
                  <p:pic>
                    <p:nvPicPr>
                      <p:cNvPr id="38" name="Objeto 37"/>
                      <p:cNvPicPr>
                        <a:picLocks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89572" y="2273300"/>
                        <a:ext cx="1386684" cy="32994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" name="Objeto 3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1657639"/>
              </p:ext>
            </p:extLst>
          </p:nvPr>
        </p:nvGraphicFramePr>
        <p:xfrm>
          <a:off x="3954463" y="4510459"/>
          <a:ext cx="247650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397000" imgH="419100" progId="Equation.3">
                  <p:embed/>
                </p:oleObj>
              </mc:Choice>
              <mc:Fallback>
                <p:oleObj name="Equação" r:id="rId6" imgW="1397000" imgH="419100" progId="Equation.3">
                  <p:embed/>
                  <p:pic>
                    <p:nvPicPr>
                      <p:cNvPr id="40" name="Objeto 39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54463" y="4510459"/>
                        <a:ext cx="247650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ANOVA x Análise de Regressão</a:t>
            </a:r>
          </a:p>
        </p:txBody>
      </p:sp>
      <p:sp>
        <p:nvSpPr>
          <p:cNvPr id="35" name="Retângulo 34"/>
          <p:cNvSpPr>
            <a:spLocks noChangeArrowheads="1"/>
          </p:cNvSpPr>
          <p:nvPr/>
        </p:nvSpPr>
        <p:spPr bwMode="auto">
          <a:xfrm>
            <a:off x="3929063" y="4077072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grpSp>
        <p:nvGrpSpPr>
          <p:cNvPr id="47" name="Grupo 34"/>
          <p:cNvGrpSpPr>
            <a:grpSpLocks/>
          </p:cNvGrpSpPr>
          <p:nvPr/>
        </p:nvGrpSpPr>
        <p:grpSpPr bwMode="auto">
          <a:xfrm>
            <a:off x="434975" y="4887689"/>
            <a:ext cx="5715000" cy="917575"/>
            <a:chOff x="714348" y="5940449"/>
            <a:chExt cx="5715000" cy="917575"/>
          </a:xfrm>
        </p:grpSpPr>
        <p:sp>
          <p:nvSpPr>
            <p:cNvPr id="35872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35873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P(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grpSp>
        <p:nvGrpSpPr>
          <p:cNvPr id="60" name="Group 129"/>
          <p:cNvGrpSpPr>
            <a:grpSpLocks/>
          </p:cNvGrpSpPr>
          <p:nvPr/>
        </p:nvGrpSpPr>
        <p:grpSpPr bwMode="auto">
          <a:xfrm>
            <a:off x="6821488" y="4733925"/>
            <a:ext cx="1735137" cy="1309688"/>
            <a:chOff x="4160" y="3377"/>
            <a:chExt cx="1093" cy="825"/>
          </a:xfrm>
        </p:grpSpPr>
        <p:grpSp>
          <p:nvGrpSpPr>
            <p:cNvPr id="35861" name="Group 130"/>
            <p:cNvGrpSpPr>
              <a:grpSpLocks/>
            </p:cNvGrpSpPr>
            <p:nvPr/>
          </p:nvGrpSpPr>
          <p:grpSpPr bwMode="auto">
            <a:xfrm>
              <a:off x="4572" y="3377"/>
              <a:ext cx="543" cy="597"/>
              <a:chOff x="4572" y="3377"/>
              <a:chExt cx="543" cy="597"/>
            </a:xfrm>
          </p:grpSpPr>
          <p:grpSp>
            <p:nvGrpSpPr>
              <p:cNvPr id="35868" name="Group 131"/>
              <p:cNvGrpSpPr>
                <a:grpSpLocks/>
              </p:cNvGrpSpPr>
              <p:nvPr/>
            </p:nvGrpSpPr>
            <p:grpSpPr bwMode="auto">
              <a:xfrm>
                <a:off x="4683" y="3377"/>
                <a:ext cx="432" cy="367"/>
                <a:chOff x="4683" y="3377"/>
                <a:chExt cx="432" cy="367"/>
              </a:xfrm>
            </p:grpSpPr>
            <p:sp>
              <p:nvSpPr>
                <p:cNvPr id="35870" name="Freeform 132" descr="Diagonal para cima clara"/>
                <p:cNvSpPr>
                  <a:spLocks/>
                </p:cNvSpPr>
                <p:nvPr/>
              </p:nvSpPr>
              <p:spPr bwMode="auto">
                <a:xfrm>
                  <a:off x="4683" y="3377"/>
                  <a:ext cx="432" cy="367"/>
                </a:xfrm>
                <a:custGeom>
                  <a:avLst/>
                  <a:gdLst>
                    <a:gd name="T0" fmla="*/ 0 w 432"/>
                    <a:gd name="T1" fmla="*/ 0 h 367"/>
                    <a:gd name="T2" fmla="*/ 0 w 432"/>
                    <a:gd name="T3" fmla="*/ 367 h 367"/>
                    <a:gd name="T4" fmla="*/ 432 w 432"/>
                    <a:gd name="T5" fmla="*/ 367 h 367"/>
                    <a:gd name="T6" fmla="*/ 360 w 432"/>
                    <a:gd name="T7" fmla="*/ 355 h 367"/>
                    <a:gd name="T8" fmla="*/ 310 w 432"/>
                    <a:gd name="T9" fmla="*/ 338 h 367"/>
                    <a:gd name="T10" fmla="*/ 250 w 432"/>
                    <a:gd name="T11" fmla="*/ 305 h 367"/>
                    <a:gd name="T12" fmla="*/ 202 w 432"/>
                    <a:gd name="T13" fmla="*/ 261 h 367"/>
                    <a:gd name="T14" fmla="*/ 154 w 432"/>
                    <a:gd name="T15" fmla="*/ 204 h 367"/>
                    <a:gd name="T16" fmla="*/ 103 w 432"/>
                    <a:gd name="T17" fmla="*/ 141 h 367"/>
                    <a:gd name="T18" fmla="*/ 58 w 432"/>
                    <a:gd name="T19" fmla="*/ 79 h 367"/>
                    <a:gd name="T20" fmla="*/ 14 w 432"/>
                    <a:gd name="T21" fmla="*/ 21 h 367"/>
                    <a:gd name="T22" fmla="*/ 0 w 432"/>
                    <a:gd name="T23" fmla="*/ 0 h 367"/>
                    <a:gd name="T24" fmla="*/ 0 w 432"/>
                    <a:gd name="T25" fmla="*/ 0 h 367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432"/>
                    <a:gd name="T40" fmla="*/ 0 h 367"/>
                    <a:gd name="T41" fmla="*/ 432 w 432"/>
                    <a:gd name="T42" fmla="*/ 367 h 367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432" h="367">
                      <a:moveTo>
                        <a:pt x="0" y="0"/>
                      </a:moveTo>
                      <a:lnTo>
                        <a:pt x="0" y="367"/>
                      </a:lnTo>
                      <a:lnTo>
                        <a:pt x="432" y="367"/>
                      </a:lnTo>
                      <a:lnTo>
                        <a:pt x="360" y="355"/>
                      </a:lnTo>
                      <a:lnTo>
                        <a:pt x="310" y="338"/>
                      </a:lnTo>
                      <a:lnTo>
                        <a:pt x="250" y="305"/>
                      </a:lnTo>
                      <a:lnTo>
                        <a:pt x="202" y="261"/>
                      </a:lnTo>
                      <a:lnTo>
                        <a:pt x="154" y="204"/>
                      </a:lnTo>
                      <a:lnTo>
                        <a:pt x="103" y="141"/>
                      </a:lnTo>
                      <a:lnTo>
                        <a:pt x="58" y="79"/>
                      </a:lnTo>
                      <a:lnTo>
                        <a:pt x="14" y="21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pattFill prst="ltUpDiag">
                  <a:fgClr>
                    <a:schemeClr val="tx1"/>
                  </a:fgClr>
                  <a:bgClr>
                    <a:srgbClr val="FFFFFF"/>
                  </a:bgClr>
                </a:patt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871" name="Text Box 133"/>
                <p:cNvSpPr txBox="1">
                  <a:spLocks noChangeArrowheads="1"/>
                </p:cNvSpPr>
                <p:nvPr/>
              </p:nvSpPr>
              <p:spPr bwMode="auto">
                <a:xfrm>
                  <a:off x="4830" y="3410"/>
                  <a:ext cx="197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pt-BR" sz="1600" i="1">
                      <a:latin typeface="Times New Roman" charset="0"/>
                      <a:sym typeface="Symbol" pitchFamily="18" charset="2"/>
                    </a:rPr>
                    <a:t></a:t>
                  </a:r>
                  <a:endParaRPr lang="en-US" altLang="pt-BR" sz="1600">
                    <a:latin typeface="Times New Roman" charset="0"/>
                    <a:sym typeface="Symbol" pitchFamily="18" charset="2"/>
                  </a:endParaRPr>
                </a:p>
              </p:txBody>
            </p:sp>
          </p:grpSp>
          <p:graphicFrame>
            <p:nvGraphicFramePr>
              <p:cNvPr id="35869" name="Object 134"/>
              <p:cNvGraphicFramePr>
                <a:graphicFrameLocks noChangeAspect="1"/>
              </p:cNvGraphicFramePr>
              <p:nvPr/>
            </p:nvGraphicFramePr>
            <p:xfrm>
              <a:off x="4572" y="3767"/>
              <a:ext cx="240" cy="20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266584" imgH="228501" progId="Equation.DSMT4">
                      <p:embed/>
                    </p:oleObj>
                  </mc:Choice>
                  <mc:Fallback>
                    <p:oleObj name="Equation" r:id="rId8" imgW="266584" imgH="228501" progId="Equation.DSMT4">
                      <p:embed/>
                      <p:pic>
                        <p:nvPicPr>
                          <p:cNvPr id="35869" name="Object 13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572" y="3767"/>
                            <a:ext cx="240" cy="207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35862" name="Group 135"/>
            <p:cNvGrpSpPr>
              <a:grpSpLocks/>
            </p:cNvGrpSpPr>
            <p:nvPr/>
          </p:nvGrpSpPr>
          <p:grpSpPr bwMode="auto">
            <a:xfrm>
              <a:off x="4160" y="3974"/>
              <a:ext cx="544" cy="228"/>
              <a:chOff x="4160" y="3974"/>
              <a:chExt cx="544" cy="228"/>
            </a:xfrm>
          </p:grpSpPr>
          <p:sp>
            <p:nvSpPr>
              <p:cNvPr id="35866" name="Rectangle 136"/>
              <p:cNvSpPr>
                <a:spLocks noChangeArrowheads="1"/>
              </p:cNvSpPr>
              <p:nvPr/>
            </p:nvSpPr>
            <p:spPr bwMode="auto">
              <a:xfrm>
                <a:off x="4209" y="3989"/>
                <a:ext cx="457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ac.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867" name="AutoShape 137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35863" name="Group 138"/>
            <p:cNvGrpSpPr>
              <a:grpSpLocks/>
            </p:cNvGrpSpPr>
            <p:nvPr/>
          </p:nvGrpSpPr>
          <p:grpSpPr bwMode="auto">
            <a:xfrm>
              <a:off x="4709" y="3974"/>
              <a:ext cx="544" cy="228"/>
              <a:chOff x="4160" y="3974"/>
              <a:chExt cx="544" cy="228"/>
            </a:xfrm>
          </p:grpSpPr>
          <p:sp>
            <p:nvSpPr>
              <p:cNvPr id="35864" name="Rectangle 139"/>
              <p:cNvSpPr>
                <a:spLocks noChangeArrowheads="1"/>
              </p:cNvSpPr>
              <p:nvPr/>
            </p:nvSpPr>
            <p:spPr bwMode="auto">
              <a:xfrm>
                <a:off x="4189" y="3989"/>
                <a:ext cx="482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latin typeface="Tahoma" panose="020B0604030504040204" pitchFamily="34" charset="0"/>
                  </a:rPr>
                  <a:t>rej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865" name="AutoShape 140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6661150" y="4097338"/>
            <a:ext cx="2159000" cy="1557337"/>
            <a:chOff x="5822950" y="4097338"/>
            <a:chExt cx="2159000" cy="1557337"/>
          </a:xfrm>
        </p:grpSpPr>
        <p:graphicFrame>
          <p:nvGraphicFramePr>
            <p:cNvPr id="35855" name="Objeto 40"/>
            <p:cNvGraphicFramePr>
              <a:graphicFrameLocks/>
            </p:cNvGraphicFramePr>
            <p:nvPr/>
          </p:nvGraphicFramePr>
          <p:xfrm>
            <a:off x="6667178" y="4265613"/>
            <a:ext cx="833438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0" imgW="469696" imgH="241195" progId="Equation.3">
                    <p:embed/>
                  </p:oleObj>
                </mc:Choice>
                <mc:Fallback>
                  <p:oleObj name="Equação" r:id="rId10" imgW="469696" imgH="241195" progId="Equation.3">
                    <p:embed/>
                    <p:pic>
                      <p:nvPicPr>
                        <p:cNvPr id="35855" name="Objeto 40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667178" y="4265613"/>
                          <a:ext cx="833438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35856" name="Group 117"/>
            <p:cNvGrpSpPr>
              <a:grpSpLocks/>
            </p:cNvGrpSpPr>
            <p:nvPr/>
          </p:nvGrpSpPr>
          <p:grpSpPr bwMode="auto">
            <a:xfrm>
              <a:off x="5822950" y="4097338"/>
              <a:ext cx="2159000" cy="1557337"/>
              <a:chOff x="4059" y="2976"/>
              <a:chExt cx="1360" cy="981"/>
            </a:xfrm>
          </p:grpSpPr>
          <p:sp>
            <p:nvSpPr>
              <p:cNvPr id="35857" name="Freeform 118"/>
              <p:cNvSpPr>
                <a:spLocks/>
              </p:cNvSpPr>
              <p:nvPr/>
            </p:nvSpPr>
            <p:spPr bwMode="auto">
              <a:xfrm>
                <a:off x="4149" y="2976"/>
                <a:ext cx="1104" cy="768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768 h 768"/>
                  <a:gd name="T4" fmla="*/ 1104 w 1104"/>
                  <a:gd name="T5" fmla="*/ 768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858" name="Freeform 119"/>
              <p:cNvSpPr>
                <a:spLocks/>
              </p:cNvSpPr>
              <p:nvPr/>
            </p:nvSpPr>
            <p:spPr bwMode="auto">
              <a:xfrm>
                <a:off x="4145" y="3125"/>
                <a:ext cx="1034" cy="645"/>
              </a:xfrm>
              <a:custGeom>
                <a:avLst/>
                <a:gdLst>
                  <a:gd name="T0" fmla="*/ 0 w 1034"/>
                  <a:gd name="T1" fmla="*/ 617 h 645"/>
                  <a:gd name="T2" fmla="*/ 274 w 1034"/>
                  <a:gd name="T3" fmla="*/ 12 h 645"/>
                  <a:gd name="T4" fmla="*/ 773 w 1034"/>
                  <a:gd name="T5" fmla="*/ 545 h 645"/>
                  <a:gd name="T6" fmla="*/ 1034 w 1034"/>
                  <a:gd name="T7" fmla="*/ 614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859" name="Text Box 120"/>
              <p:cNvSpPr txBox="1">
                <a:spLocks noChangeArrowheads="1"/>
              </p:cNvSpPr>
              <p:nvPr/>
            </p:nvSpPr>
            <p:spPr bwMode="auto">
              <a:xfrm>
                <a:off x="4059" y="3735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35860" name="Text Box 121"/>
              <p:cNvSpPr txBox="1">
                <a:spLocks noChangeArrowheads="1"/>
              </p:cNvSpPr>
              <p:nvPr/>
            </p:nvSpPr>
            <p:spPr bwMode="auto">
              <a:xfrm>
                <a:off x="5119" y="3726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</p:grpSp>
      </p:grpSp>
      <p:sp>
        <p:nvSpPr>
          <p:cNvPr id="37" name="Oval 144"/>
          <p:cNvSpPr>
            <a:spLocks noChangeArrowheads="1"/>
          </p:cNvSpPr>
          <p:nvPr/>
        </p:nvSpPr>
        <p:spPr bwMode="auto">
          <a:xfrm>
            <a:off x="2881313" y="2276475"/>
            <a:ext cx="784225" cy="357188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35853" name="Objeto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89532492"/>
              </p:ext>
            </p:extLst>
          </p:nvPr>
        </p:nvGraphicFramePr>
        <p:xfrm>
          <a:off x="5476696" y="1547813"/>
          <a:ext cx="2839720" cy="3136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2184400" imgH="241300" progId="Equation.3">
                  <p:embed/>
                </p:oleObj>
              </mc:Choice>
              <mc:Fallback>
                <p:oleObj name="Equação" r:id="rId12" imgW="2184400" imgH="241300" progId="Equation.3">
                  <p:embed/>
                  <p:pic>
                    <p:nvPicPr>
                      <p:cNvPr id="35853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76696" y="1547813"/>
                        <a:ext cx="2839720" cy="31369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2A8EBF-1FDD-4455-9993-DF1A1BF0E509}" type="slidenum">
              <a:rPr lang="pt-BR"/>
              <a:pPr>
                <a:defRPr/>
              </a:pPr>
              <a:t>44</a:t>
            </a:fld>
            <a:endParaRPr lang="pt-BR"/>
          </a:p>
        </p:txBody>
      </p:sp>
      <p:grpSp>
        <p:nvGrpSpPr>
          <p:cNvPr id="5" name="Grupo 4"/>
          <p:cNvGrpSpPr/>
          <p:nvPr/>
        </p:nvGrpSpPr>
        <p:grpSpPr>
          <a:xfrm>
            <a:off x="303213" y="1425575"/>
            <a:ext cx="5276850" cy="2724150"/>
            <a:chOff x="303213" y="1425575"/>
            <a:chExt cx="5276850" cy="2724150"/>
          </a:xfrm>
        </p:grpSpPr>
        <p:grpSp>
          <p:nvGrpSpPr>
            <p:cNvPr id="35846" name="Group 110"/>
            <p:cNvGrpSpPr>
              <a:grpSpLocks/>
            </p:cNvGrpSpPr>
            <p:nvPr/>
          </p:nvGrpSpPr>
          <p:grpSpPr bwMode="auto">
            <a:xfrm>
              <a:off x="303213" y="1425575"/>
              <a:ext cx="5276850" cy="2724150"/>
              <a:chOff x="570" y="1374"/>
              <a:chExt cx="3324" cy="1716"/>
            </a:xfrm>
          </p:grpSpPr>
          <p:graphicFrame>
            <p:nvGraphicFramePr>
              <p:cNvPr id="35874" name="Object 111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290473278"/>
                  </p:ext>
                </p:extLst>
              </p:nvPr>
            </p:nvGraphicFramePr>
            <p:xfrm>
              <a:off x="570" y="1374"/>
              <a:ext cx="3324" cy="17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Document" r:id="rId14" imgW="5677264" imgH="2932305" progId="Word.Document.8">
                      <p:embed/>
                    </p:oleObj>
                  </mc:Choice>
                  <mc:Fallback>
                    <p:oleObj name="Document" r:id="rId14" imgW="5677264" imgH="2932305" progId="Word.Document.8">
                      <p:embed/>
                      <p:pic>
                        <p:nvPicPr>
                          <p:cNvPr id="35874" name="Object 11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70" y="1374"/>
                            <a:ext cx="3324" cy="17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35876" name="Object 113"/>
              <p:cNvGraphicFramePr>
                <a:graphicFrameLocks/>
              </p:cNvGraphicFramePr>
              <p:nvPr/>
            </p:nvGraphicFramePr>
            <p:xfrm>
              <a:off x="1362" y="2318"/>
              <a:ext cx="683" cy="14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6" imgW="812447" imgH="177723" progId="Equation.3">
                      <p:embed/>
                    </p:oleObj>
                  </mc:Choice>
                  <mc:Fallback>
                    <p:oleObj name="Equação" r:id="rId16" imgW="812447" imgH="177723" progId="Equation.3">
                      <p:embed/>
                      <p:pic>
                        <p:nvPicPr>
                          <p:cNvPr id="35876" name="Object 113"/>
                          <p:cNvPicPr>
                            <a:picLocks noChangeArrowheads="1"/>
                          </p:cNvPicPr>
                          <p:nvPr/>
                        </p:nvPicPr>
                        <p:blipFill>
                          <a:blip r:embed="rId1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362" y="2318"/>
                            <a:ext cx="683" cy="14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35877" name="Object 114"/>
              <p:cNvGraphicFramePr>
                <a:graphicFrameLocks/>
              </p:cNvGraphicFramePr>
              <p:nvPr/>
            </p:nvGraphicFramePr>
            <p:xfrm>
              <a:off x="1413" y="2577"/>
              <a:ext cx="605" cy="35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8" imgW="736600" imgH="431800" progId="Equation.3">
                      <p:embed/>
                    </p:oleObj>
                  </mc:Choice>
                  <mc:Fallback>
                    <p:oleObj name="Equação" r:id="rId18" imgW="736600" imgH="431800" progId="Equation.3">
                      <p:embed/>
                      <p:pic>
                        <p:nvPicPr>
                          <p:cNvPr id="35877" name="Object 114"/>
                          <p:cNvPicPr>
                            <a:picLocks noChangeArrowheads="1"/>
                          </p:cNvPicPr>
                          <p:nvPr/>
                        </p:nvPicPr>
                        <p:blipFill>
                          <a:blip r:embed="rId1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413" y="2577"/>
                            <a:ext cx="605" cy="35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41" name="Objeto 4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61352802"/>
                </p:ext>
              </p:extLst>
            </p:nvPr>
          </p:nvGraphicFramePr>
          <p:xfrm>
            <a:off x="1602256" y="2336161"/>
            <a:ext cx="1122363" cy="265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863280" imgH="203040" progId="Equation.DSMT4">
                    <p:embed/>
                  </p:oleObj>
                </mc:Choice>
                <mc:Fallback>
                  <p:oleObj name="Equation" r:id="rId20" imgW="863280" imgH="203040" progId="Equation.DSMT4">
                    <p:embed/>
                    <p:pic>
                      <p:nvPicPr>
                        <p:cNvPr id="41" name="Objeto 40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21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02256" y="2336161"/>
                          <a:ext cx="1122363" cy="2651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2" name="Objeto 4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06370387"/>
                </p:ext>
              </p:extLst>
            </p:nvPr>
          </p:nvGraphicFramePr>
          <p:xfrm>
            <a:off x="4228105" y="2181225"/>
            <a:ext cx="660400" cy="5476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507960" imgH="419040" progId="Equation.DSMT4">
                    <p:embed/>
                  </p:oleObj>
                </mc:Choice>
                <mc:Fallback>
                  <p:oleObj name="Equation" r:id="rId22" imgW="507960" imgH="419040" progId="Equation.DSMT4">
                    <p:embed/>
                    <p:pic>
                      <p:nvPicPr>
                        <p:cNvPr id="42" name="Objeto 41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2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28105" y="2181225"/>
                          <a:ext cx="660400" cy="54768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3" name="Objeto 4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21237855"/>
                </p:ext>
              </p:extLst>
            </p:nvPr>
          </p:nvGraphicFramePr>
          <p:xfrm>
            <a:off x="4337998" y="2854016"/>
            <a:ext cx="495300" cy="5476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4" imgW="380880" imgH="419040" progId="Equation.DSMT4">
                    <p:embed/>
                  </p:oleObj>
                </mc:Choice>
                <mc:Fallback>
                  <p:oleObj name="Equation" r:id="rId24" imgW="380880" imgH="419040" progId="Equation.DSMT4">
                    <p:embed/>
                    <p:pic>
                      <p:nvPicPr>
                        <p:cNvPr id="43" name="Objeto 42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2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37998" y="2854016"/>
                          <a:ext cx="495300" cy="54768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4" name="CaixaDeTexto 43"/>
          <p:cNvSpPr txBox="1"/>
          <p:nvPr/>
        </p:nvSpPr>
        <p:spPr>
          <a:xfrm>
            <a:off x="323528" y="5949280"/>
            <a:ext cx="84966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dirty="0">
                <a:latin typeface="Tahoma" panose="020B0604030504040204" pitchFamily="34" charset="0"/>
              </a:rPr>
              <a:t> o coeficiente </a:t>
            </a:r>
            <a:r>
              <a:rPr lang="pt-BR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baseline="-25000" dirty="0">
                <a:latin typeface="Tahoma" panose="020B0604030504040204" pitchFamily="34" charset="0"/>
                <a:sym typeface="Symbol"/>
              </a:rPr>
              <a:t>0</a:t>
            </a:r>
            <a:r>
              <a:rPr lang="pt-BR" dirty="0">
                <a:latin typeface="Tahoma" panose="020B0604030504040204" pitchFamily="34" charset="0"/>
              </a:rPr>
              <a:t> não tem nenhuma influência sobre este teste</a:t>
            </a:r>
          </a:p>
          <a:p>
            <a:pPr defTabSz="531813"/>
            <a:r>
              <a:rPr lang="pt-BR" dirty="0">
                <a:latin typeface="Tahoma" panose="020B0604030504040204" pitchFamily="34" charset="0"/>
              </a:rPr>
              <a:t>	o teste F não é capaz de identificar qual ou quais </a:t>
            </a:r>
            <a:r>
              <a:rPr lang="pt-BR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i="1" baseline="-25000" dirty="0">
                <a:latin typeface="Tahoma" panose="020B0604030504040204" pitchFamily="34" charset="0"/>
                <a:sym typeface="Symbol"/>
              </a:rPr>
              <a:t>k</a:t>
            </a:r>
            <a:r>
              <a:rPr lang="pt-BR" dirty="0">
                <a:latin typeface="Tahoma" panose="020B0604030504040204" pitchFamily="34" charset="0"/>
              </a:rPr>
              <a:t> são diferentes de zero, nem 	    quais </a:t>
            </a:r>
            <a:r>
              <a:rPr lang="pt-BR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i="1" baseline="-25000" dirty="0">
                <a:latin typeface="Tahoma" panose="020B0604030504040204" pitchFamily="34" charset="0"/>
                <a:sym typeface="Symbol"/>
              </a:rPr>
              <a:t>k</a:t>
            </a:r>
            <a:r>
              <a:rPr lang="pt-BR" dirty="0">
                <a:latin typeface="Tahoma" panose="020B0604030504040204" pitchFamily="34" charset="0"/>
              </a:rPr>
              <a:t> são diferentes entre 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/>
              <p:cNvSpPr txBox="1"/>
              <p:nvPr/>
            </p:nvSpPr>
            <p:spPr>
              <a:xfrm>
                <a:off x="323528" y="4077072"/>
                <a:ext cx="304038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1800" b="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pt-B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𝑘</m:t>
                        </m:r>
                      </m:sub>
                    </m:sSub>
                    <m:r>
                      <a:rPr lang="pt-BR" sz="1800" b="0" i="1" smtClean="0">
                        <a:latin typeface="Cambria Math"/>
                        <a:ea typeface="Cambria Math"/>
                      </a:rPr>
                      <m:t>=0 (</m:t>
                    </m:r>
                    <m:r>
                      <a:rPr lang="pt-BR" sz="1800" b="0" i="1" smtClean="0">
                        <a:latin typeface="Cambria Math"/>
                        <a:ea typeface="Cambria Math"/>
                      </a:rPr>
                      <m:t>𝑘</m:t>
                    </m:r>
                    <m:r>
                      <a:rPr lang="pt-BR" sz="1800" b="0" i="1" smtClean="0">
                        <a:latin typeface="Cambria Math"/>
                        <a:ea typeface="Cambria Math"/>
                      </a:rPr>
                      <m:t>=1,…,</m:t>
                    </m:r>
                    <m:r>
                      <a:rPr lang="pt-BR" sz="1800" b="0" i="1" smtClean="0">
                        <a:latin typeface="Cambria Math"/>
                        <a:ea typeface="Cambria Math"/>
                      </a:rPr>
                      <m:t>𝑝</m:t>
                    </m:r>
                    <m:r>
                      <a:rPr lang="pt-BR" sz="1800" b="0" i="1" smtClean="0">
                        <a:latin typeface="Cambria Math"/>
                        <a:ea typeface="Cambria Math"/>
                      </a:rPr>
                      <m:t>−1)</m:t>
                    </m:r>
                  </m:oMath>
                </a14:m>
                <a:endParaRPr lang="pt-BR" sz="1800" b="0" dirty="0">
                  <a:latin typeface="Tahoma" panose="020B0604030504040204" pitchFamily="34" charset="0"/>
                  <a:ea typeface="Cambria Math"/>
                </a:endParaRPr>
              </a:p>
              <a:p>
                <a:r>
                  <a:rPr lang="pt-BR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pt-BR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pelo menos um dos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pt-BR" sz="18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𝑘</m:t>
                        </m:r>
                      </m:sub>
                    </m:sSub>
                    <m:r>
                      <a:rPr lang="pt-BR" sz="1800" i="1" smtClean="0">
                        <a:latin typeface="Cambria Math"/>
                        <a:ea typeface="Cambria Math"/>
                      </a:rPr>
                      <m:t>≠</m:t>
                    </m:r>
                    <m:r>
                      <a:rPr lang="pt-BR" sz="1800" i="1">
                        <a:latin typeface="Cambria Math"/>
                        <a:ea typeface="Cambria Math"/>
                      </a:rPr>
                      <m:t>0</m:t>
                    </m:r>
                  </m:oMath>
                </a14:m>
                <a:endParaRPr lang="pt-BR" sz="18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45" name="CaixaDeTexto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4077072"/>
                <a:ext cx="3040384" cy="646331"/>
              </a:xfrm>
              <a:prstGeom prst="rect">
                <a:avLst/>
              </a:prstGeom>
              <a:blipFill>
                <a:blip r:embed="rId26"/>
                <a:stretch>
                  <a:fillRect l="-1603" t="-5660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7" grpId="0" animBg="1" autoUpdateAnimBg="0"/>
      <p:bldP spid="4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Coeficiente de Determinação Múltiplo</a:t>
            </a:r>
          </a:p>
        </p:txBody>
      </p:sp>
      <p:sp>
        <p:nvSpPr>
          <p:cNvPr id="37" name="Rectangle 220"/>
          <p:cNvSpPr>
            <a:spLocks noChangeArrowheads="1"/>
          </p:cNvSpPr>
          <p:nvPr/>
        </p:nvSpPr>
        <p:spPr bwMode="auto">
          <a:xfrm>
            <a:off x="771525" y="1628775"/>
            <a:ext cx="23129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charset="0"/>
                <a:cs typeface="Times New Roman" charset="0"/>
              </a:rPr>
              <a:t>SQTO</a:t>
            </a:r>
            <a:r>
              <a:rPr lang="pt-BR" altLang="pt-BR" sz="1800">
                <a:latin typeface="Times New Roman" charset="0"/>
                <a:cs typeface="Times New Roman" charset="0"/>
              </a:rPr>
              <a:t> = </a:t>
            </a:r>
            <a:r>
              <a:rPr lang="pt-BR" altLang="pt-BR" sz="1800" i="1">
                <a:latin typeface="Times New Roman" charset="0"/>
                <a:cs typeface="Times New Roman" charset="0"/>
              </a:rPr>
              <a:t>SQReg</a:t>
            </a:r>
            <a:r>
              <a:rPr lang="pt-BR" altLang="pt-BR" sz="1800">
                <a:latin typeface="Times New Roman" charset="0"/>
                <a:cs typeface="Times New Roman" charset="0"/>
              </a:rPr>
              <a:t> + </a:t>
            </a:r>
            <a:r>
              <a:rPr lang="pt-BR" altLang="pt-BR" sz="1800" i="1">
                <a:latin typeface="Times New Roman" charset="0"/>
                <a:cs typeface="Times New Roman" charset="0"/>
              </a:rPr>
              <a:t>SQE</a:t>
            </a:r>
          </a:p>
        </p:txBody>
      </p:sp>
      <p:graphicFrame>
        <p:nvGraphicFramePr>
          <p:cNvPr id="41" name="Object 221"/>
          <p:cNvGraphicFramePr>
            <a:graphicFrameLocks noChangeAspect="1"/>
          </p:cNvGraphicFramePr>
          <p:nvPr/>
        </p:nvGraphicFramePr>
        <p:xfrm>
          <a:off x="771525" y="2205038"/>
          <a:ext cx="1343025" cy="1236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926698" imgH="863225" progId="Equation.3">
                  <p:embed/>
                </p:oleObj>
              </mc:Choice>
              <mc:Fallback>
                <p:oleObj name="Equação" r:id="rId2" imgW="926698" imgH="863225" progId="Equation.3">
                  <p:embed/>
                  <p:pic>
                    <p:nvPicPr>
                      <p:cNvPr id="41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525" y="2205038"/>
                        <a:ext cx="1343025" cy="1236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Rectangle 252"/>
          <p:cNvSpPr>
            <a:spLocks noChangeArrowheads="1"/>
          </p:cNvSpPr>
          <p:nvPr/>
        </p:nvSpPr>
        <p:spPr bwMode="auto">
          <a:xfrm>
            <a:off x="2268538" y="2246313"/>
            <a:ext cx="6480175" cy="1182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cs typeface="Times New Roman" charset="0"/>
              </a:rPr>
              <a:t>Atenção: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é fortemente influenciado pelo número de parâmetros considerados no modelo.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Quanto maior o número de parâmetros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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), melhor o ajuste e portanto maior 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2" name="Retângulo 1"/>
          <p:cNvSpPr>
            <a:spLocks noChangeArrowheads="1"/>
          </p:cNvSpPr>
          <p:nvPr/>
        </p:nvSpPr>
        <p:spPr bwMode="auto">
          <a:xfrm>
            <a:off x="2632075" y="3246438"/>
            <a:ext cx="3462338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Quando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=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o ajuste é perfeito!!!</a:t>
            </a:r>
          </a:p>
        </p:txBody>
      </p:sp>
      <p:grpSp>
        <p:nvGrpSpPr>
          <p:cNvPr id="4" name="Grupo 3"/>
          <p:cNvGrpSpPr>
            <a:grpSpLocks/>
          </p:cNvGrpSpPr>
          <p:nvPr/>
        </p:nvGrpSpPr>
        <p:grpSpPr bwMode="auto">
          <a:xfrm>
            <a:off x="4052888" y="3789363"/>
            <a:ext cx="3438525" cy="2749550"/>
            <a:chOff x="4052888" y="3789363"/>
            <a:chExt cx="3438525" cy="2749550"/>
          </a:xfrm>
        </p:grpSpPr>
        <p:pic>
          <p:nvPicPr>
            <p:cNvPr id="36879" name="Picture 15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888" y="3789363"/>
              <a:ext cx="3438525" cy="2749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36880" name="Retângulo 2"/>
            <p:cNvSpPr>
              <a:spLocks noChangeArrowheads="1"/>
            </p:cNvSpPr>
            <p:nvPr/>
          </p:nvSpPr>
          <p:spPr bwMode="auto">
            <a:xfrm>
              <a:off x="4372256" y="5883965"/>
              <a:ext cx="220765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Modelo Linear Simples</a:t>
              </a:r>
            </a:p>
          </p:txBody>
        </p:sp>
      </p:grpSp>
      <p:grpSp>
        <p:nvGrpSpPr>
          <p:cNvPr id="5" name="Grupo 4"/>
          <p:cNvGrpSpPr>
            <a:grpSpLocks/>
          </p:cNvGrpSpPr>
          <p:nvPr/>
        </p:nvGrpSpPr>
        <p:grpSpPr bwMode="auto">
          <a:xfrm>
            <a:off x="4052888" y="3789363"/>
            <a:ext cx="3438525" cy="2749550"/>
            <a:chOff x="6105124" y="4293096"/>
            <a:chExt cx="3438525" cy="2749550"/>
          </a:xfrm>
        </p:grpSpPr>
        <p:pic>
          <p:nvPicPr>
            <p:cNvPr id="36877" name="Picture 16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05124" y="4293096"/>
              <a:ext cx="3438525" cy="2749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36878" name="Retângulo 10"/>
            <p:cNvSpPr>
              <a:spLocks noChangeArrowheads="1"/>
            </p:cNvSpPr>
            <p:nvPr/>
          </p:nvSpPr>
          <p:spPr bwMode="auto">
            <a:xfrm>
              <a:off x="6424492" y="6387698"/>
              <a:ext cx="2920992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Modelo Polinomial de 2</a:t>
              </a:r>
              <a:r>
                <a:rPr lang="pt-BR" altLang="pt-BR" sz="1600" u="sng" baseline="30000" dirty="0">
                  <a:latin typeface="Tahoma" panose="020B0604030504040204" pitchFamily="34" charset="0"/>
                </a:rPr>
                <a:t>o</a:t>
              </a:r>
              <a:r>
                <a:rPr lang="pt-BR" altLang="pt-BR" sz="1600" dirty="0">
                  <a:latin typeface="Tahoma" panose="020B0604030504040204" pitchFamily="34" charset="0"/>
                </a:rPr>
                <a:t> grau</a:t>
              </a:r>
            </a:p>
          </p:txBody>
        </p:sp>
      </p:grp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4052888" y="3789363"/>
            <a:ext cx="3438525" cy="2749550"/>
            <a:chOff x="8388424" y="4941168"/>
            <a:chExt cx="3438525" cy="2749550"/>
          </a:xfrm>
        </p:grpSpPr>
        <p:pic>
          <p:nvPicPr>
            <p:cNvPr id="36875" name="Picture 17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8424" y="4941168"/>
              <a:ext cx="3438525" cy="2749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36876" name="Retângulo 11"/>
            <p:cNvSpPr>
              <a:spLocks noChangeArrowheads="1"/>
            </p:cNvSpPr>
            <p:nvPr/>
          </p:nvSpPr>
          <p:spPr bwMode="auto">
            <a:xfrm>
              <a:off x="8707792" y="7035770"/>
              <a:ext cx="2920992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Modelo Polinomial de 5</a:t>
              </a:r>
              <a:r>
                <a:rPr lang="pt-BR" altLang="pt-BR" sz="1600" u="sng" baseline="30000" dirty="0">
                  <a:latin typeface="Tahoma" panose="020B0604030504040204" pitchFamily="34" charset="0"/>
                </a:rPr>
                <a:t>o</a:t>
              </a:r>
              <a:r>
                <a:rPr lang="pt-BR" altLang="pt-BR" sz="1600" dirty="0">
                  <a:latin typeface="Tahoma" panose="020B0604030504040204" pitchFamily="34" charset="0"/>
                </a:rPr>
                <a:t> grau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1665FA9-5723-4E95-BF78-7B37087B80B2}" type="slidenum">
              <a:rPr lang="pt-BR"/>
              <a:pPr>
                <a:defRPr/>
              </a:pPr>
              <a:t>45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42" grpId="0" build="p"/>
      <p:bldP spid="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Coeficiente de Determinação Múltiplo</a:t>
            </a:r>
          </a:p>
        </p:txBody>
      </p:sp>
      <p:sp>
        <p:nvSpPr>
          <p:cNvPr id="37891" name="Rectangle 220"/>
          <p:cNvSpPr>
            <a:spLocks noChangeArrowheads="1"/>
          </p:cNvSpPr>
          <p:nvPr/>
        </p:nvSpPr>
        <p:spPr bwMode="auto">
          <a:xfrm>
            <a:off x="771525" y="1628775"/>
            <a:ext cx="23129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charset="0"/>
                <a:cs typeface="Times New Roman" charset="0"/>
              </a:rPr>
              <a:t>SQTO</a:t>
            </a:r>
            <a:r>
              <a:rPr lang="pt-BR" altLang="pt-BR" sz="1800">
                <a:latin typeface="Times New Roman" charset="0"/>
                <a:cs typeface="Times New Roman" charset="0"/>
              </a:rPr>
              <a:t> = </a:t>
            </a:r>
            <a:r>
              <a:rPr lang="pt-BR" altLang="pt-BR" sz="1800" i="1">
                <a:latin typeface="Times New Roman" charset="0"/>
                <a:cs typeface="Times New Roman" charset="0"/>
              </a:rPr>
              <a:t>SQReg</a:t>
            </a:r>
            <a:r>
              <a:rPr lang="pt-BR" altLang="pt-BR" sz="1800">
                <a:latin typeface="Times New Roman" charset="0"/>
                <a:cs typeface="Times New Roman" charset="0"/>
              </a:rPr>
              <a:t> + </a:t>
            </a:r>
            <a:r>
              <a:rPr lang="pt-BR" altLang="pt-BR" sz="1800" i="1">
                <a:latin typeface="Times New Roman" charset="0"/>
                <a:cs typeface="Times New Roman" charset="0"/>
              </a:rPr>
              <a:t>SQE</a:t>
            </a:r>
          </a:p>
        </p:txBody>
      </p:sp>
      <p:graphicFrame>
        <p:nvGraphicFramePr>
          <p:cNvPr id="37892" name="Object 221"/>
          <p:cNvGraphicFramePr>
            <a:graphicFrameLocks noChangeAspect="1"/>
          </p:cNvGraphicFramePr>
          <p:nvPr/>
        </p:nvGraphicFramePr>
        <p:xfrm>
          <a:off x="771525" y="2205038"/>
          <a:ext cx="1343025" cy="1236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926698" imgH="863225" progId="Equation.3">
                  <p:embed/>
                </p:oleObj>
              </mc:Choice>
              <mc:Fallback>
                <p:oleObj name="Equação" r:id="rId2" imgW="926698" imgH="863225" progId="Equation.3">
                  <p:embed/>
                  <p:pic>
                    <p:nvPicPr>
                      <p:cNvPr id="37892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525" y="2205038"/>
                        <a:ext cx="1343025" cy="1236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893" name="Rectangle 252"/>
          <p:cNvSpPr>
            <a:spLocks noChangeArrowheads="1"/>
          </p:cNvSpPr>
          <p:nvPr/>
        </p:nvSpPr>
        <p:spPr bwMode="auto">
          <a:xfrm>
            <a:off x="2268538" y="2246313"/>
            <a:ext cx="6480175" cy="1182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cs typeface="Times New Roman" charset="0"/>
              </a:rPr>
              <a:t>Atenção: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é fortemente influenciado pelo número de parâmetros considerados no modelo.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Quanto maior o número de parâmetros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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), melhor o ajuste e portanto maior 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</p:txBody>
      </p:sp>
      <p:graphicFrame>
        <p:nvGraphicFramePr>
          <p:cNvPr id="37894" name="Object 221"/>
          <p:cNvGraphicFramePr>
            <a:graphicFrameLocks noChangeAspect="1"/>
          </p:cNvGraphicFramePr>
          <p:nvPr/>
        </p:nvGraphicFramePr>
        <p:xfrm>
          <a:off x="771525" y="4292600"/>
          <a:ext cx="207803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435100" imgH="457200" progId="Equation.3">
                  <p:embed/>
                </p:oleObj>
              </mc:Choice>
              <mc:Fallback>
                <p:oleObj name="Equação" r:id="rId4" imgW="1435100" imgH="457200" progId="Equation.3">
                  <p:embed/>
                  <p:pic>
                    <p:nvPicPr>
                      <p:cNvPr id="37894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525" y="4292600"/>
                        <a:ext cx="2078038" cy="654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tângulo 3"/>
          <p:cNvSpPr>
            <a:spLocks noChangeArrowheads="1"/>
          </p:cNvSpPr>
          <p:nvPr/>
        </p:nvSpPr>
        <p:spPr bwMode="auto">
          <a:xfrm>
            <a:off x="3260725" y="4437063"/>
            <a:ext cx="440415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Coeficiente de Determinação Múltiplo Ajustado</a:t>
            </a:r>
          </a:p>
        </p:txBody>
      </p:sp>
      <p:sp>
        <p:nvSpPr>
          <p:cNvPr id="45" name="Rectangle 252"/>
          <p:cNvSpPr>
            <a:spLocks noChangeArrowheads="1"/>
          </p:cNvSpPr>
          <p:nvPr/>
        </p:nvSpPr>
        <p:spPr bwMode="auto">
          <a:xfrm>
            <a:off x="3260725" y="4868863"/>
            <a:ext cx="4968875" cy="1182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Este coeficiente pode até diminuir se as variáveis acrescentadas ao modelo não representarem contribuições importantes.</a:t>
            </a:r>
          </a:p>
        </p:txBody>
      </p:sp>
      <p:sp>
        <p:nvSpPr>
          <p:cNvPr id="37897" name="Retângulo 1"/>
          <p:cNvSpPr>
            <a:spLocks noChangeArrowheads="1"/>
          </p:cNvSpPr>
          <p:nvPr/>
        </p:nvSpPr>
        <p:spPr bwMode="auto">
          <a:xfrm>
            <a:off x="2632075" y="3246438"/>
            <a:ext cx="3462338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Quando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=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o ajuste é perfeito!!!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E71086-4552-4CD4-8CF2-EC46733F5136}" type="slidenum">
              <a:rPr lang="pt-BR"/>
              <a:pPr>
                <a:defRPr/>
              </a:pPr>
              <a:t>46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5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/>
          <p:cNvGraphicFramePr>
            <a:graphicFrameLocks/>
          </p:cNvGraphicFramePr>
          <p:nvPr/>
        </p:nvGraphicFramePr>
        <p:xfrm>
          <a:off x="2033588" y="2947988"/>
          <a:ext cx="1601787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066800" imgH="558800" progId="Equation.3">
                  <p:embed/>
                </p:oleObj>
              </mc:Choice>
              <mc:Fallback>
                <p:oleObj name="Equação" r:id="rId2" imgW="1066800" imgH="558800" progId="Equation.3">
                  <p:embed/>
                  <p:pic>
                    <p:nvPicPr>
                      <p:cNvPr id="5" name="Objeto 4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33588" y="2947988"/>
                        <a:ext cx="1601787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Teste de Hipótese para </a:t>
            </a:r>
            <a:r>
              <a:rPr lang="pt-BR" alt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ea typeface="+mj-ea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3200" i="1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ea typeface="+mj-ea"/>
                <a:cs typeface="Times New Roman" charset="0"/>
                <a:sym typeface="Mathematica1" pitchFamily="2" charset="2"/>
              </a:rPr>
              <a:t>k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p:grpSp>
        <p:nvGrpSpPr>
          <p:cNvPr id="37" name="Grupo 36"/>
          <p:cNvGrpSpPr>
            <a:grpSpLocks/>
          </p:cNvGrpSpPr>
          <p:nvPr/>
        </p:nvGrpSpPr>
        <p:grpSpPr bwMode="auto">
          <a:xfrm>
            <a:off x="5105400" y="2953097"/>
            <a:ext cx="4000500" cy="2652712"/>
            <a:chOff x="5105400" y="3065463"/>
            <a:chExt cx="4000500" cy="2652713"/>
          </a:xfrm>
        </p:grpSpPr>
        <p:grpSp>
          <p:nvGrpSpPr>
            <p:cNvPr id="38948" name="Group 50"/>
            <p:cNvGrpSpPr>
              <a:grpSpLocks/>
            </p:cNvGrpSpPr>
            <p:nvPr/>
          </p:nvGrpSpPr>
          <p:grpSpPr bwMode="auto">
            <a:xfrm>
              <a:off x="5105400" y="3151188"/>
              <a:ext cx="4000500" cy="2566988"/>
              <a:chOff x="3264" y="2170"/>
              <a:chExt cx="2520" cy="1617"/>
            </a:xfrm>
          </p:grpSpPr>
          <p:grpSp>
            <p:nvGrpSpPr>
              <p:cNvPr id="38950" name="Group 24"/>
              <p:cNvGrpSpPr>
                <a:grpSpLocks/>
              </p:cNvGrpSpPr>
              <p:nvPr/>
            </p:nvGrpSpPr>
            <p:grpSpPr bwMode="auto">
              <a:xfrm>
                <a:off x="3264" y="2170"/>
                <a:ext cx="2520" cy="1617"/>
                <a:chOff x="2988" y="1872"/>
                <a:chExt cx="2520" cy="1617"/>
              </a:xfrm>
            </p:grpSpPr>
            <p:pic>
              <p:nvPicPr>
                <p:cNvPr id="38952" name="Picture 25"/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38953" name="Text Box 26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38954" name="Text Box 27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38955" name="Text Box 28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38956" name="Line 29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8951" name="Line 30"/>
              <p:cNvSpPr>
                <a:spLocks noChangeShapeType="1"/>
              </p:cNvSpPr>
              <p:nvPr/>
            </p:nvSpPr>
            <p:spPr bwMode="auto">
              <a:xfrm flipH="1">
                <a:off x="4788" y="2266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38949" name="Object 40"/>
            <p:cNvGraphicFramePr>
              <a:graphicFrameLocks noChangeAspect="1"/>
            </p:cNvGraphicFramePr>
            <p:nvPr/>
          </p:nvGraphicFramePr>
          <p:xfrm>
            <a:off x="7791450" y="3065463"/>
            <a:ext cx="381000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5" imgW="253890" imgH="241195" progId="Equation.3">
                    <p:embed/>
                  </p:oleObj>
                </mc:Choice>
                <mc:Fallback>
                  <p:oleObj name="Equação" r:id="rId5" imgW="253890" imgH="241195" progId="Equation.3">
                    <p:embed/>
                    <p:pic>
                      <p:nvPicPr>
                        <p:cNvPr id="38949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791450" y="3065463"/>
                          <a:ext cx="381000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53" name="Object 13"/>
          <p:cNvGraphicFramePr>
            <a:graphicFrameLocks noChangeAspect="1"/>
          </p:cNvGraphicFramePr>
          <p:nvPr/>
        </p:nvGraphicFramePr>
        <p:xfrm>
          <a:off x="468313" y="1625600"/>
          <a:ext cx="1579562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7" imgW="1054100" imgH="431800" progId="Equation.3">
                  <p:embed/>
                </p:oleObj>
              </mc:Choice>
              <mc:Fallback>
                <p:oleObj name="Equação" r:id="rId7" imgW="1054100" imgH="431800" progId="Equation.3">
                  <p:embed/>
                  <p:pic>
                    <p:nvPicPr>
                      <p:cNvPr id="53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8313" y="1625600"/>
                        <a:ext cx="1579562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Object 16"/>
          <p:cNvGraphicFramePr>
            <a:graphicFrameLocks/>
          </p:cNvGraphicFramePr>
          <p:nvPr/>
        </p:nvGraphicFramePr>
        <p:xfrm>
          <a:off x="427038" y="3090863"/>
          <a:ext cx="1393825" cy="792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9" imgW="698500" imgH="457200" progId="Equation.3">
                  <p:embed/>
                </p:oleObj>
              </mc:Choice>
              <mc:Fallback>
                <p:oleObj name="Equação" r:id="rId9" imgW="698500" imgH="457200" progId="Equation.3">
                  <p:embed/>
                  <p:pic>
                    <p:nvPicPr>
                      <p:cNvPr id="54" name="Object 16"/>
                      <p:cNvPicPr>
                        <a:picLocks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7038" y="3090863"/>
                        <a:ext cx="1393825" cy="7921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Object 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68693541"/>
              </p:ext>
            </p:extLst>
          </p:nvPr>
        </p:nvGraphicFramePr>
        <p:xfrm>
          <a:off x="517525" y="4365104"/>
          <a:ext cx="1408113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1" imgW="939392" imgH="431613" progId="Equation.3">
                  <p:embed/>
                </p:oleObj>
              </mc:Choice>
              <mc:Fallback>
                <p:oleObj name="Equação" r:id="rId11" imgW="939392" imgH="431613" progId="Equation.3">
                  <p:embed/>
                  <p:pic>
                    <p:nvPicPr>
                      <p:cNvPr id="74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7525" y="4365104"/>
                        <a:ext cx="1408113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Retângulo 75"/>
          <p:cNvSpPr>
            <a:spLocks noChangeArrowheads="1"/>
          </p:cNvSpPr>
          <p:nvPr/>
        </p:nvSpPr>
        <p:spPr bwMode="auto">
          <a:xfrm>
            <a:off x="461963" y="4005064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sp>
        <p:nvSpPr>
          <p:cNvPr id="77" name="Text Box 33"/>
          <p:cNvSpPr txBox="1">
            <a:spLocks noChangeArrowheads="1"/>
          </p:cNvSpPr>
          <p:nvPr/>
        </p:nvSpPr>
        <p:spPr bwMode="auto">
          <a:xfrm>
            <a:off x="7551738" y="5104159"/>
            <a:ext cx="4937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t</a:t>
            </a:r>
            <a:r>
              <a:rPr lang="pt-BR" altLang="pt-BR" sz="2000" i="1" baseline="-25000">
                <a:latin typeface="Times New Roman" charset="0"/>
              </a:rPr>
              <a:t>crít</a:t>
            </a:r>
          </a:p>
        </p:txBody>
      </p:sp>
      <p:sp>
        <p:nvSpPr>
          <p:cNvPr id="78" name="Text Box 34"/>
          <p:cNvSpPr txBox="1">
            <a:spLocks noChangeArrowheads="1"/>
          </p:cNvSpPr>
          <p:nvPr/>
        </p:nvSpPr>
        <p:spPr bwMode="auto">
          <a:xfrm>
            <a:off x="6324600" y="5104159"/>
            <a:ext cx="5794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-t</a:t>
            </a:r>
            <a:r>
              <a:rPr lang="pt-BR" altLang="pt-BR" sz="2000" i="1" baseline="-25000">
                <a:latin typeface="Times New Roman" charset="0"/>
              </a:rPr>
              <a:t>crít</a:t>
            </a:r>
          </a:p>
        </p:txBody>
      </p:sp>
      <p:grpSp>
        <p:nvGrpSpPr>
          <p:cNvPr id="79" name="Group 35"/>
          <p:cNvGrpSpPr>
            <a:grpSpLocks/>
          </p:cNvGrpSpPr>
          <p:nvPr/>
        </p:nvGrpSpPr>
        <p:grpSpPr bwMode="auto">
          <a:xfrm>
            <a:off x="7981950" y="4197697"/>
            <a:ext cx="611188" cy="746125"/>
            <a:chOff x="4800" y="2602"/>
            <a:chExt cx="385" cy="470"/>
          </a:xfrm>
        </p:grpSpPr>
        <p:sp>
          <p:nvSpPr>
            <p:cNvPr id="38946" name="Line 36"/>
            <p:cNvSpPr>
              <a:spLocks noChangeShapeType="1"/>
            </p:cNvSpPr>
            <p:nvPr/>
          </p:nvSpPr>
          <p:spPr bwMode="auto">
            <a:xfrm flipV="1">
              <a:off x="4800" y="2832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8947" name="Object 11"/>
            <p:cNvGraphicFramePr>
              <a:graphicFrameLocks noChangeAspect="1"/>
            </p:cNvGraphicFramePr>
            <p:nvPr/>
          </p:nvGraphicFramePr>
          <p:xfrm>
            <a:off x="5025" y="2602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177646" imgH="393359" progId="Equation.DSMT4">
                    <p:embed/>
                  </p:oleObj>
                </mc:Choice>
                <mc:Fallback>
                  <p:oleObj name="Equation" r:id="rId13" imgW="177646" imgH="393359" progId="Equation.DSMT4">
                    <p:embed/>
                    <p:pic>
                      <p:nvPicPr>
                        <p:cNvPr id="38947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5" y="2602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82" name="Group 38"/>
          <p:cNvGrpSpPr>
            <a:grpSpLocks/>
          </p:cNvGrpSpPr>
          <p:nvPr/>
        </p:nvGrpSpPr>
        <p:grpSpPr bwMode="auto">
          <a:xfrm>
            <a:off x="5748338" y="4181822"/>
            <a:ext cx="557212" cy="746125"/>
            <a:chOff x="2769" y="2544"/>
            <a:chExt cx="351" cy="470"/>
          </a:xfrm>
        </p:grpSpPr>
        <p:sp>
          <p:nvSpPr>
            <p:cNvPr id="38944" name="Line 39"/>
            <p:cNvSpPr>
              <a:spLocks noChangeShapeType="1"/>
            </p:cNvSpPr>
            <p:nvPr/>
          </p:nvSpPr>
          <p:spPr bwMode="auto">
            <a:xfrm flipH="1" flipV="1">
              <a:off x="2928" y="277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8945" name="Object 10"/>
            <p:cNvGraphicFramePr>
              <a:graphicFrameLocks noChangeAspect="1"/>
            </p:cNvGraphicFramePr>
            <p:nvPr/>
          </p:nvGraphicFramePr>
          <p:xfrm>
            <a:off x="2769" y="2544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177646" imgH="393359" progId="Equation.DSMT4">
                    <p:embed/>
                  </p:oleObj>
                </mc:Choice>
                <mc:Fallback>
                  <p:oleObj name="Equation" r:id="rId15" imgW="177646" imgH="393359" progId="Equation.DSMT4">
                    <p:embed/>
                    <p:pic>
                      <p:nvPicPr>
                        <p:cNvPr id="38945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2544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85" name="Grupo 84"/>
          <p:cNvGrpSpPr>
            <a:grpSpLocks/>
          </p:cNvGrpSpPr>
          <p:nvPr/>
        </p:nvGrpSpPr>
        <p:grpSpPr bwMode="auto">
          <a:xfrm>
            <a:off x="6530975" y="3108672"/>
            <a:ext cx="1184275" cy="2073275"/>
            <a:chOff x="6530975" y="3221038"/>
            <a:chExt cx="1184275" cy="2073275"/>
          </a:xfrm>
        </p:grpSpPr>
        <p:sp>
          <p:nvSpPr>
            <p:cNvPr id="38942" name="Freeform 32"/>
            <p:cNvSpPr>
              <a:spLocks/>
            </p:cNvSpPr>
            <p:nvPr/>
          </p:nvSpPr>
          <p:spPr bwMode="auto">
            <a:xfrm>
              <a:off x="6530975" y="3221038"/>
              <a:ext cx="1184275" cy="2073275"/>
            </a:xfrm>
            <a:custGeom>
              <a:avLst/>
              <a:gdLst>
                <a:gd name="T0" fmla="*/ 0 w 440"/>
                <a:gd name="T1" fmla="*/ 2147483647 h 771"/>
                <a:gd name="T2" fmla="*/ 2147483647 w 440"/>
                <a:gd name="T3" fmla="*/ 2147483647 h 771"/>
                <a:gd name="T4" fmla="*/ 2147483647 w 440"/>
                <a:gd name="T5" fmla="*/ 2147483647 h 771"/>
                <a:gd name="T6" fmla="*/ 2147483647 w 440"/>
                <a:gd name="T7" fmla="*/ 2147483647 h 771"/>
                <a:gd name="T8" fmla="*/ 2147483647 w 440"/>
                <a:gd name="T9" fmla="*/ 2147483647 h 771"/>
                <a:gd name="T10" fmla="*/ 2147483647 w 440"/>
                <a:gd name="T11" fmla="*/ 2147483647 h 771"/>
                <a:gd name="T12" fmla="*/ 2147483647 w 440"/>
                <a:gd name="T13" fmla="*/ 2147483647 h 771"/>
                <a:gd name="T14" fmla="*/ 2147483647 w 440"/>
                <a:gd name="T15" fmla="*/ 2147483647 h 771"/>
                <a:gd name="T16" fmla="*/ 2147483647 w 440"/>
                <a:gd name="T17" fmla="*/ 2147483647 h 771"/>
                <a:gd name="T18" fmla="*/ 2147483647 w 440"/>
                <a:gd name="T19" fmla="*/ 2147483647 h 771"/>
                <a:gd name="T20" fmla="*/ 2147483647 w 440"/>
                <a:gd name="T21" fmla="*/ 0 h 771"/>
                <a:gd name="T22" fmla="*/ 2147483647 w 440"/>
                <a:gd name="T23" fmla="*/ 0 h 771"/>
                <a:gd name="T24" fmla="*/ 2147483647 w 440"/>
                <a:gd name="T25" fmla="*/ 2147483647 h 771"/>
                <a:gd name="T26" fmla="*/ 2147483647 w 440"/>
                <a:gd name="T27" fmla="*/ 2147483647 h 771"/>
                <a:gd name="T28" fmla="*/ 2147483647 w 440"/>
                <a:gd name="T29" fmla="*/ 2147483647 h 771"/>
                <a:gd name="T30" fmla="*/ 2147483647 w 440"/>
                <a:gd name="T31" fmla="*/ 2147483647 h 771"/>
                <a:gd name="T32" fmla="*/ 2147483647 w 440"/>
                <a:gd name="T33" fmla="*/ 2147483647 h 771"/>
                <a:gd name="T34" fmla="*/ 2147483647 w 440"/>
                <a:gd name="T35" fmla="*/ 2147483647 h 771"/>
                <a:gd name="T36" fmla="*/ 2147483647 w 440"/>
                <a:gd name="T37" fmla="*/ 2147483647 h 771"/>
                <a:gd name="T38" fmla="*/ 2147483647 w 440"/>
                <a:gd name="T39" fmla="*/ 2147483647 h 771"/>
                <a:gd name="T40" fmla="*/ 2147483647 w 440"/>
                <a:gd name="T41" fmla="*/ 2147483647 h 771"/>
                <a:gd name="T42" fmla="*/ 2147483647 w 440"/>
                <a:gd name="T43" fmla="*/ 2147483647 h 771"/>
                <a:gd name="T44" fmla="*/ 2147483647 w 440"/>
                <a:gd name="T45" fmla="*/ 2147483647 h 771"/>
                <a:gd name="T46" fmla="*/ 0 w 440"/>
                <a:gd name="T47" fmla="*/ 2147483647 h 771"/>
                <a:gd name="T48" fmla="*/ 0 w 440"/>
                <a:gd name="T49" fmla="*/ 214748364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8943" name="Object 8"/>
            <p:cNvGraphicFramePr>
              <a:graphicFrameLocks noChangeAspect="1"/>
            </p:cNvGraphicFramePr>
            <p:nvPr/>
          </p:nvGraphicFramePr>
          <p:xfrm>
            <a:off x="6888163" y="4443413"/>
            <a:ext cx="490538" cy="2524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342603" imgH="177646" progId="Equation.DSMT4">
                    <p:embed/>
                  </p:oleObj>
                </mc:Choice>
                <mc:Fallback>
                  <p:oleObj name="Equation" r:id="rId17" imgW="342603" imgH="177646" progId="Equation.DSMT4">
                    <p:embed/>
                    <p:pic>
                      <p:nvPicPr>
                        <p:cNvPr id="38943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88163" y="4443413"/>
                          <a:ext cx="490538" cy="2524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88" name="Grupo 34"/>
          <p:cNvGrpSpPr>
            <a:grpSpLocks/>
          </p:cNvGrpSpPr>
          <p:nvPr/>
        </p:nvGrpSpPr>
        <p:grpSpPr bwMode="auto">
          <a:xfrm>
            <a:off x="35496" y="5085184"/>
            <a:ext cx="5715000" cy="917575"/>
            <a:chOff x="714348" y="5940449"/>
            <a:chExt cx="5715000" cy="917575"/>
          </a:xfrm>
        </p:grpSpPr>
        <p:sp>
          <p:nvSpPr>
            <p:cNvPr id="38940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38941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(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(|</a:t>
              </a:r>
              <a:r>
                <a:rPr lang="pt-BR" altLang="pt-BR" sz="1600" i="1" dirty="0">
                  <a:latin typeface="Times New Roman" charset="0"/>
                </a:rPr>
                <a:t>t|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grpSp>
        <p:nvGrpSpPr>
          <p:cNvPr id="93" name="Grupo 92"/>
          <p:cNvGrpSpPr>
            <a:grpSpLocks/>
          </p:cNvGrpSpPr>
          <p:nvPr/>
        </p:nvGrpSpPr>
        <p:grpSpPr bwMode="auto">
          <a:xfrm>
            <a:off x="6529388" y="5515322"/>
            <a:ext cx="1189037" cy="361950"/>
            <a:chOff x="6529932" y="5627017"/>
            <a:chExt cx="1188000" cy="362368"/>
          </a:xfrm>
        </p:grpSpPr>
        <p:sp>
          <p:nvSpPr>
            <p:cNvPr id="38938" name="Rectangle 136"/>
            <p:cNvSpPr>
              <a:spLocks noChangeArrowheads="1"/>
            </p:cNvSpPr>
            <p:nvPr/>
          </p:nvSpPr>
          <p:spPr bwMode="auto">
            <a:xfrm>
              <a:off x="6759408" y="5650830"/>
              <a:ext cx="729051" cy="3385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ac,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939" name="AutoShape 137"/>
            <p:cNvSpPr>
              <a:spLocks/>
            </p:cNvSpPr>
            <p:nvPr/>
          </p:nvSpPr>
          <p:spPr bwMode="auto">
            <a:xfrm rot="-5400000">
              <a:off x="7089007" y="5067942"/>
              <a:ext cx="69850" cy="1188000"/>
            </a:xfrm>
            <a:prstGeom prst="leftBrace">
              <a:avLst>
                <a:gd name="adj1" fmla="val 10299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6" name="Grupo 95"/>
          <p:cNvGrpSpPr>
            <a:grpSpLocks/>
          </p:cNvGrpSpPr>
          <p:nvPr/>
        </p:nvGrpSpPr>
        <p:grpSpPr bwMode="auto">
          <a:xfrm>
            <a:off x="7715250" y="5515329"/>
            <a:ext cx="863600" cy="362340"/>
            <a:chOff x="7721600" y="5588917"/>
            <a:chExt cx="863600" cy="362758"/>
          </a:xfrm>
        </p:grpSpPr>
        <p:sp>
          <p:nvSpPr>
            <p:cNvPr id="38936" name="Rectangle 139"/>
            <p:cNvSpPr>
              <a:spLocks noChangeArrowheads="1"/>
            </p:cNvSpPr>
            <p:nvPr/>
          </p:nvSpPr>
          <p:spPr bwMode="auto">
            <a:xfrm>
              <a:off x="7769047" y="5612730"/>
              <a:ext cx="765531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,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937" name="AutoShape 140"/>
            <p:cNvSpPr>
              <a:spLocks/>
            </p:cNvSpPr>
            <p:nvPr/>
          </p:nvSpPr>
          <p:spPr bwMode="auto">
            <a:xfrm rot="-5400000">
              <a:off x="8118475" y="5192042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9" name="Grupo 98"/>
          <p:cNvGrpSpPr>
            <a:grpSpLocks/>
          </p:cNvGrpSpPr>
          <p:nvPr/>
        </p:nvGrpSpPr>
        <p:grpSpPr bwMode="auto">
          <a:xfrm>
            <a:off x="5667375" y="5515329"/>
            <a:ext cx="863600" cy="362340"/>
            <a:chOff x="5868144" y="5589241"/>
            <a:chExt cx="863600" cy="362758"/>
          </a:xfrm>
        </p:grpSpPr>
        <p:sp>
          <p:nvSpPr>
            <p:cNvPr id="38934" name="Rectangle 139"/>
            <p:cNvSpPr>
              <a:spLocks noChangeArrowheads="1"/>
            </p:cNvSpPr>
            <p:nvPr/>
          </p:nvSpPr>
          <p:spPr bwMode="auto">
            <a:xfrm>
              <a:off x="5915591" y="5613054"/>
              <a:ext cx="765531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,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935" name="AutoShape 140"/>
            <p:cNvSpPr>
              <a:spLocks/>
            </p:cNvSpPr>
            <p:nvPr/>
          </p:nvSpPr>
          <p:spPr bwMode="auto">
            <a:xfrm rot="-5400000">
              <a:off x="6265019" y="5192366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6" name="Elipse 5"/>
          <p:cNvSpPr>
            <a:spLocks noChangeArrowheads="1"/>
          </p:cNvSpPr>
          <p:nvPr/>
        </p:nvSpPr>
        <p:spPr bwMode="auto">
          <a:xfrm rot="1200000">
            <a:off x="3197225" y="1893888"/>
            <a:ext cx="3709988" cy="579437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43" name="Objeto 42"/>
          <p:cNvGraphicFramePr>
            <a:graphicFrameLocks/>
          </p:cNvGraphicFramePr>
          <p:nvPr/>
        </p:nvGraphicFramePr>
        <p:xfrm>
          <a:off x="6840538" y="2001838"/>
          <a:ext cx="142240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9" imgW="939392" imgH="241195" progId="Equation.3">
                  <p:embed/>
                </p:oleObj>
              </mc:Choice>
              <mc:Fallback>
                <p:oleObj name="Equação" r:id="rId19" imgW="939392" imgH="241195" progId="Equation.3">
                  <p:embed/>
                  <p:pic>
                    <p:nvPicPr>
                      <p:cNvPr id="43" name="Objeto 42"/>
                      <p:cNvPicPr>
                        <a:picLocks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0538" y="2001838"/>
                        <a:ext cx="1422400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" name="Objeto 43"/>
          <p:cNvGraphicFramePr>
            <a:graphicFrameLocks/>
          </p:cNvGraphicFramePr>
          <p:nvPr/>
        </p:nvGraphicFramePr>
        <p:xfrm>
          <a:off x="2574925" y="1484313"/>
          <a:ext cx="4306888" cy="144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1" imgW="2844800" imgH="965200" progId="Equation.3">
                  <p:embed/>
                </p:oleObj>
              </mc:Choice>
              <mc:Fallback>
                <p:oleObj name="Equação" r:id="rId21" imgW="2844800" imgH="965200" progId="Equation.3">
                  <p:embed/>
                  <p:pic>
                    <p:nvPicPr>
                      <p:cNvPr id="44" name="Objeto 43"/>
                      <p:cNvPicPr>
                        <a:picLocks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74925" y="1484313"/>
                        <a:ext cx="4306888" cy="1447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78BED3-D06A-452E-87B2-F28B1BCA2826}" type="slidenum">
              <a:rPr lang="pt-BR"/>
              <a:pPr>
                <a:defRPr/>
              </a:pPr>
              <a:t>47</a:t>
            </a:fld>
            <a:endParaRPr lang="pt-BR"/>
          </a:p>
        </p:txBody>
      </p:sp>
      <p:sp>
        <p:nvSpPr>
          <p:cNvPr id="45" name="Retângulo 44"/>
          <p:cNvSpPr>
            <a:spLocks noChangeArrowheads="1"/>
          </p:cNvSpPr>
          <p:nvPr/>
        </p:nvSpPr>
        <p:spPr bwMode="auto">
          <a:xfrm>
            <a:off x="35496" y="5995144"/>
            <a:ext cx="876491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534988" indent="-5349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aceita, então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k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0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e, portanto, a variável </a:t>
            </a:r>
            <a:r>
              <a:rPr lang="pt-BR" altLang="pt-BR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não contribui significativamente para explicar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Retângulo 2"/>
          <p:cNvSpPr/>
          <p:nvPr/>
        </p:nvSpPr>
        <p:spPr>
          <a:xfrm>
            <a:off x="35496" y="6243115"/>
            <a:ext cx="876491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34988" indent="-534988"/>
            <a:r>
              <a:rPr lang="pt-BR" altLang="pt-BR" dirty="0">
                <a:latin typeface="Tahoma" panose="020B0604030504040204" pitchFamily="34" charset="0"/>
              </a:rPr>
              <a:t>                                                               (considerando que </a:t>
            </a:r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todas</a:t>
            </a:r>
            <a:r>
              <a:rPr lang="pt-BR" altLang="pt-BR" dirty="0">
                <a:latin typeface="Tahoma" panose="020B0604030504040204" pitchFamily="34" charset="0"/>
              </a:rPr>
              <a:t> as demais variáveis independentes estejam presentes no modelo).</a:t>
            </a:r>
          </a:p>
        </p:txBody>
      </p:sp>
      <p:grpSp>
        <p:nvGrpSpPr>
          <p:cNvPr id="9" name="Grupo 8"/>
          <p:cNvGrpSpPr/>
          <p:nvPr/>
        </p:nvGrpSpPr>
        <p:grpSpPr>
          <a:xfrm>
            <a:off x="3305541" y="3518424"/>
            <a:ext cx="1554492" cy="964278"/>
            <a:chOff x="3305541" y="3518424"/>
            <a:chExt cx="1554492" cy="964278"/>
          </a:xfrm>
        </p:grpSpPr>
        <p:sp>
          <p:nvSpPr>
            <p:cNvPr id="4" name="Retângulo 3"/>
            <p:cNvSpPr/>
            <p:nvPr/>
          </p:nvSpPr>
          <p:spPr>
            <a:xfrm>
              <a:off x="3364361" y="3836371"/>
              <a:ext cx="149567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altLang="pt-BR" sz="1200" dirty="0">
                  <a:solidFill>
                    <a:srgbClr val="FF0000"/>
                  </a:solidFill>
                  <a:latin typeface="Tahoma" panose="020B0604030504040204" pitchFamily="34" charset="0"/>
                </a:rPr>
                <a:t>Todos os outros </a:t>
              </a:r>
              <a:r>
                <a:rPr lang="pt-BR" altLang="pt-BR" sz="12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/>
                </a:rPr>
                <a:t></a:t>
              </a:r>
              <a:r>
                <a:rPr lang="pt-BR" altLang="pt-BR" sz="12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j</a:t>
              </a:r>
              <a:r>
                <a:rPr lang="pt-BR" altLang="pt-BR" sz="1200" dirty="0">
                  <a:solidFill>
                    <a:srgbClr val="FF0000"/>
                  </a:solidFill>
                  <a:latin typeface="Tahoma" panose="020B0604030504040204" pitchFamily="34" charset="0"/>
                  <a:sym typeface="Symbol"/>
                </a:rPr>
                <a:t> estão no modelo, menos o </a:t>
              </a:r>
              <a:r>
                <a:rPr lang="pt-BR" altLang="pt-BR" sz="12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/>
                </a:rPr>
                <a:t></a:t>
              </a:r>
              <a:r>
                <a:rPr lang="pt-BR" altLang="pt-BR" sz="12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k</a:t>
              </a:r>
              <a:endParaRPr lang="pt-BR" sz="1200" i="1" baseline="-25000" dirty="0">
                <a:solidFill>
                  <a:srgbClr val="FF0000"/>
                </a:solidFill>
                <a:latin typeface="Tahoma" panose="020B0604030504040204" pitchFamily="34" charset="0"/>
              </a:endParaRPr>
            </a:p>
          </p:txBody>
        </p:sp>
        <p:cxnSp>
          <p:nvCxnSpPr>
            <p:cNvPr id="8" name="Conector de seta reta 7"/>
            <p:cNvCxnSpPr/>
            <p:nvPr/>
          </p:nvCxnSpPr>
          <p:spPr bwMode="auto">
            <a:xfrm flipH="1" flipV="1">
              <a:off x="3305541" y="3518424"/>
              <a:ext cx="353883" cy="26335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  <p:bldP spid="77" grpId="0"/>
      <p:bldP spid="78" grpId="0"/>
      <p:bldP spid="6" grpId="0" animBg="1"/>
      <p:bldP spid="45" grpId="0"/>
      <p:bldP spid="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402207"/>
              </p:ext>
            </p:extLst>
          </p:nvPr>
        </p:nvGraphicFramePr>
        <p:xfrm>
          <a:off x="3754644" y="206084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2338,64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587,45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2,78E-16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3626714"/>
              </p:ext>
            </p:extLst>
          </p:nvPr>
        </p:nvGraphicFramePr>
        <p:xfrm>
          <a:off x="3754644" y="3356992"/>
          <a:ext cx="3314700" cy="130683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Stat 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64,4359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4,8424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13,3067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1,04E-09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-0,2129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0,3081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-0,6908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0,5002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-0,4741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0,0160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-29,5575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1,04E-14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0,2659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1,7123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0,1074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-0,0075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-4,8827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804542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Eliminando-se variáveis independentes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p:grpSp>
        <p:nvGrpSpPr>
          <p:cNvPr id="2" name="Grupo 1"/>
          <p:cNvGrpSpPr>
            <a:grpSpLocks/>
          </p:cNvGrpSpPr>
          <p:nvPr/>
        </p:nvGrpSpPr>
        <p:grpSpPr bwMode="auto">
          <a:xfrm>
            <a:off x="6768783" y="2444419"/>
            <a:ext cx="2280317" cy="531336"/>
            <a:chOff x="5426075" y="4697122"/>
            <a:chExt cx="2280207" cy="530995"/>
          </a:xfrm>
        </p:grpSpPr>
        <p:sp>
          <p:nvSpPr>
            <p:cNvPr id="40078" name="Elipse 9"/>
            <p:cNvSpPr>
              <a:spLocks noChangeArrowheads="1"/>
            </p:cNvSpPr>
            <p:nvPr/>
          </p:nvSpPr>
          <p:spPr bwMode="auto">
            <a:xfrm>
              <a:off x="5426075" y="4697122"/>
              <a:ext cx="684213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0079" name="Retângulo 11"/>
            <p:cNvSpPr>
              <a:spLocks noChangeArrowheads="1"/>
            </p:cNvSpPr>
            <p:nvPr/>
          </p:nvSpPr>
          <p:spPr bwMode="auto">
            <a:xfrm>
              <a:off x="5749558" y="4920537"/>
              <a:ext cx="1956724" cy="3075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altamente significativo</a:t>
              </a:r>
            </a:p>
          </p:txBody>
        </p:sp>
      </p:grp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6462105" y="3888344"/>
            <a:ext cx="2707990" cy="613200"/>
            <a:chOff x="4753954" y="6077836"/>
            <a:chExt cx="2707637" cy="613202"/>
          </a:xfrm>
        </p:grpSpPr>
        <p:sp>
          <p:nvSpPr>
            <p:cNvPr id="40076" name="Elipse 57"/>
            <p:cNvSpPr>
              <a:spLocks noChangeArrowheads="1"/>
            </p:cNvSpPr>
            <p:nvPr/>
          </p:nvSpPr>
          <p:spPr bwMode="auto">
            <a:xfrm>
              <a:off x="4753954" y="6077836"/>
              <a:ext cx="594140" cy="23574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0077" name="Retângulo 13"/>
            <p:cNvSpPr>
              <a:spLocks noChangeArrowheads="1"/>
            </p:cNvSpPr>
            <p:nvPr/>
          </p:nvSpPr>
          <p:spPr bwMode="auto">
            <a:xfrm>
              <a:off x="5384049" y="6194556"/>
              <a:ext cx="2077542" cy="3077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não significativos a 5%</a:t>
              </a:r>
            </a:p>
          </p:txBody>
        </p:sp>
        <p:sp>
          <p:nvSpPr>
            <p:cNvPr id="21" name="Elipse 57"/>
            <p:cNvSpPr>
              <a:spLocks noChangeArrowheads="1"/>
            </p:cNvSpPr>
            <p:nvPr/>
          </p:nvSpPr>
          <p:spPr bwMode="auto">
            <a:xfrm>
              <a:off x="4753954" y="6455293"/>
              <a:ext cx="594140" cy="23574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6853096"/>
              </p:ext>
            </p:extLst>
          </p:nvPr>
        </p:nvGraphicFramePr>
        <p:xfrm>
          <a:off x="3728259" y="1484784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640" imgH="241200" progId="Equation.DSMT4">
                  <p:embed/>
                </p:oleObj>
              </mc:Choice>
              <mc:Fallback>
                <p:oleObj name="Equation" r:id="rId2" imgW="271764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28259" y="1484784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3247C6-760D-4EFA-A2D8-D2108044775A}" type="slidenum">
              <a:rPr lang="pt-BR"/>
              <a:pPr>
                <a:defRPr/>
              </a:pPr>
              <a:t>48</a:t>
            </a:fld>
            <a:endParaRPr lang="pt-BR"/>
          </a:p>
        </p:txBody>
      </p:sp>
      <p:sp>
        <p:nvSpPr>
          <p:cNvPr id="22" name="Retângulo 6"/>
          <p:cNvSpPr>
            <a:spLocks noChangeArrowheads="1"/>
          </p:cNvSpPr>
          <p:nvPr/>
        </p:nvSpPr>
        <p:spPr bwMode="auto">
          <a:xfrm>
            <a:off x="254000" y="5663456"/>
            <a:ext cx="8890000" cy="1077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Atenção: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não se pode considerar que todos os </a:t>
            </a:r>
            <a:r>
              <a:rPr lang="pt-BR" altLang="pt-BR" sz="1600" i="1" dirty="0">
                <a:solidFill>
                  <a:schemeClr val="tx2"/>
                </a:solidFill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i="1" baseline="-25000" dirty="0">
                <a:solidFill>
                  <a:schemeClr val="tx2"/>
                </a:solidFill>
                <a:latin typeface="Times New Roman" charset="0"/>
                <a:cs typeface="Times New Roman" charset="0"/>
                <a:sym typeface="Symbol" pitchFamily="18" charset="2"/>
              </a:rPr>
              <a:t>k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, cujas estatísticas t são não significativas, sejam simultaneamente iguais a zero!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Este problema pode ocorrer quando as variáveis independentes são correlacionadas (problema de colinearidade)</a:t>
            </a:r>
          </a:p>
        </p:txBody>
      </p:sp>
      <p:sp>
        <p:nvSpPr>
          <p:cNvPr id="10" name="Retângulo 9"/>
          <p:cNvSpPr/>
          <p:nvPr/>
        </p:nvSpPr>
        <p:spPr>
          <a:xfrm>
            <a:off x="3707904" y="4890646"/>
            <a:ext cx="272863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solidFill>
                  <a:schemeClr val="tx2"/>
                </a:solidFill>
                <a:latin typeface="Tahoma" panose="020B0604030504040204" pitchFamily="34" charset="0"/>
              </a:rPr>
              <a:t>Conclusão: 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𝛽</a:t>
            </a:r>
            <a:r>
              <a:rPr lang="pt-BR" altLang="pt-BR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0</a:t>
            </a:r>
            <a:r>
              <a:rPr lang="pt-BR" altLang="pt-BR" dirty="0">
                <a:solidFill>
                  <a:schemeClr val="tx2"/>
                </a:solidFill>
                <a:latin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pt-BR" altLang="pt-BR" dirty="0">
                <a:solidFill>
                  <a:schemeClr val="tx2"/>
                </a:solidFill>
                <a:latin typeface="Tahoma" panose="020B0604030504040204" pitchFamily="34" charset="0"/>
              </a:rPr>
              <a:t>e</a:t>
            </a:r>
            <a:r>
              <a:rPr lang="pt-BR" altLang="pt-BR" dirty="0">
                <a:solidFill>
                  <a:schemeClr val="tx2"/>
                </a:solidFill>
                <a:latin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𝛽</a:t>
            </a:r>
            <a:r>
              <a:rPr lang="pt-BR" altLang="pt-BR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0</a:t>
            </a:r>
            <a:r>
              <a:rPr lang="pt-BR" altLang="pt-BR" dirty="0">
                <a:solidFill>
                  <a:schemeClr val="tx2"/>
                </a:solidFill>
                <a:latin typeface="Tahoma" panose="020B0604030504040204" pitchFamily="34" charset="0"/>
              </a:rPr>
              <a:t> ? </a:t>
            </a: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4" name="Grupo 13"/>
          <p:cNvGrpSpPr/>
          <p:nvPr/>
        </p:nvGrpSpPr>
        <p:grpSpPr>
          <a:xfrm>
            <a:off x="3743160" y="4912254"/>
            <a:ext cx="2592288" cy="338554"/>
            <a:chOff x="3784104" y="4966846"/>
            <a:chExt cx="2592288" cy="338554"/>
          </a:xfrm>
        </p:grpSpPr>
        <p:cxnSp>
          <p:nvCxnSpPr>
            <p:cNvPr id="13" name="Conector reto 12"/>
            <p:cNvCxnSpPr/>
            <p:nvPr/>
          </p:nvCxnSpPr>
          <p:spPr bwMode="auto">
            <a:xfrm>
              <a:off x="3784104" y="4966846"/>
              <a:ext cx="2592288" cy="338554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Conector reto 22"/>
            <p:cNvCxnSpPr/>
            <p:nvPr/>
          </p:nvCxnSpPr>
          <p:spPr bwMode="auto">
            <a:xfrm flipH="1">
              <a:off x="3784104" y="4966846"/>
              <a:ext cx="2592288" cy="338554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083167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build="p"/>
      <p:bldP spid="10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Teste de Hipótese para múltiplos </a:t>
            </a:r>
            <a:r>
              <a:rPr lang="pt-BR" alt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ea typeface="+mj-ea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3200" i="1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ea typeface="+mj-ea"/>
                <a:cs typeface="Times New Roman" charset="0"/>
                <a:sym typeface="Mathematica1" pitchFamily="2" charset="2"/>
              </a:rPr>
              <a:t>k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p:sp>
        <p:nvSpPr>
          <p:cNvPr id="40963" name="Retângulo 46"/>
          <p:cNvSpPr>
            <a:spLocks noChangeArrowheads="1"/>
          </p:cNvSpPr>
          <p:nvPr/>
        </p:nvSpPr>
        <p:spPr bwMode="auto">
          <a:xfrm>
            <a:off x="374650" y="1412875"/>
            <a:ext cx="41052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Considere um modelo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completo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dado por:</a:t>
            </a:r>
          </a:p>
        </p:txBody>
      </p:sp>
      <p:graphicFrame>
        <p:nvGraphicFramePr>
          <p:cNvPr id="40964" name="Objeto 51"/>
          <p:cNvGraphicFramePr>
            <a:graphicFrameLocks/>
          </p:cNvGraphicFramePr>
          <p:nvPr/>
        </p:nvGraphicFramePr>
        <p:xfrm>
          <a:off x="2093913" y="1858963"/>
          <a:ext cx="41370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755900" imgH="241300" progId="Equation.3">
                  <p:embed/>
                </p:oleObj>
              </mc:Choice>
              <mc:Fallback>
                <p:oleObj name="Equação" r:id="rId2" imgW="2755900" imgH="241300" progId="Equation.3">
                  <p:embed/>
                  <p:pic>
                    <p:nvPicPr>
                      <p:cNvPr id="40964" name="Objeto 5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93913" y="1858963"/>
                        <a:ext cx="41370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773" name="Objeto 1"/>
          <p:cNvGraphicFramePr>
            <a:graphicFrameLocks/>
          </p:cNvGraphicFramePr>
          <p:nvPr/>
        </p:nvGraphicFramePr>
        <p:xfrm>
          <a:off x="766763" y="2776538"/>
          <a:ext cx="20764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384300" imgH="457200" progId="Equation.3">
                  <p:embed/>
                </p:oleObj>
              </mc:Choice>
              <mc:Fallback>
                <p:oleObj name="Equação" r:id="rId4" imgW="1384300" imgH="457200" progId="Equation.3">
                  <p:embed/>
                  <p:pic>
                    <p:nvPicPr>
                      <p:cNvPr id="32773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6763" y="2776538"/>
                        <a:ext cx="20764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774" name="Objeto 54"/>
          <p:cNvGraphicFramePr>
            <a:graphicFrameLocks/>
          </p:cNvGraphicFramePr>
          <p:nvPr/>
        </p:nvGraphicFramePr>
        <p:xfrm>
          <a:off x="2627313" y="4124325"/>
          <a:ext cx="2630487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752600" imgH="241300" progId="Equation.3">
                  <p:embed/>
                </p:oleObj>
              </mc:Choice>
              <mc:Fallback>
                <p:oleObj name="Equação" r:id="rId6" imgW="1752600" imgH="241300" progId="Equation.3">
                  <p:embed/>
                  <p:pic>
                    <p:nvPicPr>
                      <p:cNvPr id="32774" name="Objeto 54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27313" y="4124325"/>
                        <a:ext cx="2630487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5" name="Retângulo 55"/>
          <p:cNvSpPr>
            <a:spLocks noChangeArrowheads="1"/>
          </p:cNvSpPr>
          <p:nvPr/>
        </p:nvSpPr>
        <p:spPr bwMode="auto">
          <a:xfrm>
            <a:off x="374650" y="3676650"/>
            <a:ext cx="87137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for verdadeiro então, o modelo é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reduzido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para:</a:t>
            </a:r>
          </a:p>
        </p:txBody>
      </p:sp>
      <p:sp>
        <p:nvSpPr>
          <p:cNvPr id="32776" name="Retângulo 56"/>
          <p:cNvSpPr>
            <a:spLocks noChangeArrowheads="1"/>
          </p:cNvSpPr>
          <p:nvPr/>
        </p:nvSpPr>
        <p:spPr bwMode="auto">
          <a:xfrm>
            <a:off x="374650" y="2330450"/>
            <a:ext cx="87122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Suponha que se queira testar as hipóteses</a:t>
            </a:r>
          </a:p>
        </p:txBody>
      </p:sp>
      <p:sp>
        <p:nvSpPr>
          <p:cNvPr id="32777" name="Retângulo 57"/>
          <p:cNvSpPr>
            <a:spLocks noChangeArrowheads="1"/>
          </p:cNvSpPr>
          <p:nvPr/>
        </p:nvSpPr>
        <p:spPr bwMode="auto">
          <a:xfrm>
            <a:off x="374650" y="4594225"/>
            <a:ext cx="87137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Neste caso:</a:t>
            </a:r>
          </a:p>
        </p:txBody>
      </p:sp>
      <p:graphicFrame>
        <p:nvGraphicFramePr>
          <p:cNvPr id="32778" name="Objeto 58"/>
          <p:cNvGraphicFramePr>
            <a:graphicFrameLocks/>
          </p:cNvGraphicFramePr>
          <p:nvPr/>
        </p:nvGraphicFramePr>
        <p:xfrm>
          <a:off x="1338263" y="5040313"/>
          <a:ext cx="3525837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2349500" imgH="431800" progId="Equation.3">
                  <p:embed/>
                </p:oleObj>
              </mc:Choice>
              <mc:Fallback>
                <p:oleObj name="Equação" r:id="rId8" imgW="2349500" imgH="431800" progId="Equation.3">
                  <p:embed/>
                  <p:pic>
                    <p:nvPicPr>
                      <p:cNvPr id="32778" name="Objeto 58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8263" y="5040313"/>
                        <a:ext cx="3525837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9" name="Retângulo 59"/>
          <p:cNvSpPr>
            <a:spLocks noChangeArrowheads="1"/>
          </p:cNvSpPr>
          <p:nvPr/>
        </p:nvSpPr>
        <p:spPr bwMode="auto">
          <a:xfrm>
            <a:off x="374650" y="5797550"/>
            <a:ext cx="871220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onde </a:t>
            </a:r>
            <a:r>
              <a:rPr lang="pt-BR" altLang="pt-BR" sz="1600" i="1" dirty="0" err="1">
                <a:solidFill>
                  <a:schemeClr val="tx2"/>
                </a:solidFill>
                <a:latin typeface="Times New Roman" charset="0"/>
                <a:cs typeface="Times New Roman" charset="0"/>
              </a:rPr>
              <a:t>p</a:t>
            </a:r>
            <a:r>
              <a:rPr lang="pt-BR" altLang="pt-BR" sz="1600" i="1" baseline="-25000" dirty="0" err="1">
                <a:solidFill>
                  <a:schemeClr val="tx2"/>
                </a:solidFill>
                <a:latin typeface="Times New Roman" charset="0"/>
                <a:cs typeface="Times New Roman" charset="0"/>
              </a:rPr>
              <a:t>C</a:t>
            </a:r>
            <a:r>
              <a:rPr lang="pt-BR" altLang="pt-BR" sz="1600" i="1" baseline="-250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-R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é o número de parâmetros testados em </a:t>
            </a:r>
            <a:r>
              <a:rPr lang="pt-BR" altLang="pt-BR" sz="16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, ou seja, o número de parâmetros ausentes no modelo reduzido</a:t>
            </a:r>
          </a:p>
        </p:txBody>
      </p:sp>
      <p:graphicFrame>
        <p:nvGraphicFramePr>
          <p:cNvPr id="32780" name="Objeto 58"/>
          <p:cNvGraphicFramePr>
            <a:graphicFrameLocks/>
          </p:cNvGraphicFramePr>
          <p:nvPr/>
        </p:nvGraphicFramePr>
        <p:xfrm>
          <a:off x="5508625" y="5002213"/>
          <a:ext cx="182880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1219200" imgH="457200" progId="Equation.3">
                  <p:embed/>
                </p:oleObj>
              </mc:Choice>
              <mc:Fallback>
                <p:oleObj name="Equação" r:id="rId10" imgW="1219200" imgH="457200" progId="Equation.3">
                  <p:embed/>
                  <p:pic>
                    <p:nvPicPr>
                      <p:cNvPr id="32780" name="Objeto 58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08625" y="5002213"/>
                        <a:ext cx="182880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BC517A-EE28-4B47-B495-8EEAB3A067F3}" type="slidenum">
              <a:rPr lang="pt-BR"/>
              <a:pPr>
                <a:defRPr/>
              </a:pPr>
              <a:t>49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5" grpId="0"/>
      <p:bldP spid="32776" grpId="0"/>
      <p:bldP spid="32777" grpId="0"/>
      <p:bldP spid="3277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596783"/>
              </p:ext>
            </p:extLst>
          </p:nvPr>
        </p:nvGraphicFramePr>
        <p:xfrm>
          <a:off x="3779912" y="1905653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2338,64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587,45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2,78E-16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844539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Teste de Hipótese para múltiplos </a:t>
            </a:r>
            <a:r>
              <a:rPr lang="pt-BR" alt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3200" i="1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cs typeface="Times New Roman" charset="0"/>
                <a:sym typeface="Mathematica1" pitchFamily="2" charset="2"/>
              </a:rPr>
              <a:t>k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</a:endParaRPr>
          </a:p>
        </p:txBody>
      </p: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467340"/>
              </p:ext>
            </p:extLst>
          </p:nvPr>
        </p:nvGraphicFramePr>
        <p:xfrm>
          <a:off x="3779912" y="1556792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640" imgH="241200" progId="Equation.DSMT4">
                  <p:embed/>
                </p:oleObj>
              </mc:Choice>
              <mc:Fallback>
                <p:oleObj name="Equation" r:id="rId2" imgW="271764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912" y="1556792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3247C6-760D-4EFA-A2D8-D2108044775A}" type="slidenum">
              <a:rPr lang="pt-BR"/>
              <a:pPr>
                <a:defRPr/>
              </a:pPr>
              <a:t>50</a:t>
            </a:fld>
            <a:endParaRPr lang="pt-BR"/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663174"/>
              </p:ext>
            </p:extLst>
          </p:nvPr>
        </p:nvGraphicFramePr>
        <p:xfrm>
          <a:off x="3779912" y="360957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3168,92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1584,46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6245,37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367,37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Objeto 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1107380"/>
              </p:ext>
            </p:extLst>
          </p:nvPr>
        </p:nvGraphicFramePr>
        <p:xfrm>
          <a:off x="3798888" y="3260155"/>
          <a:ext cx="2592387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26920" imgH="241200" progId="Equation.DSMT4">
                  <p:embed/>
                </p:oleObj>
              </mc:Choice>
              <mc:Fallback>
                <p:oleObj name="Equation" r:id="rId4" imgW="1726920" imgH="241200" progId="Equation.DSMT4">
                  <p:embed/>
                  <p:pic>
                    <p:nvPicPr>
                      <p:cNvPr id="9" name="Objeto 8"/>
                      <p:cNvPicPr>
                        <a:picLocks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98888" y="3260155"/>
                        <a:ext cx="2592387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tângulo 9"/>
          <p:cNvSpPr/>
          <p:nvPr/>
        </p:nvSpPr>
        <p:spPr bwMode="auto">
          <a:xfrm>
            <a:off x="3563888" y="1412776"/>
            <a:ext cx="4536504" cy="1656184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9" name="Retângulo 18"/>
          <p:cNvSpPr/>
          <p:nvPr/>
        </p:nvSpPr>
        <p:spPr bwMode="auto">
          <a:xfrm>
            <a:off x="3563888" y="3068960"/>
            <a:ext cx="4536504" cy="1656184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graphicFrame>
        <p:nvGraphicFramePr>
          <p:cNvPr id="12" name="Objeto 1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43567932"/>
              </p:ext>
            </p:extLst>
          </p:nvPr>
        </p:nvGraphicFramePr>
        <p:xfrm>
          <a:off x="3558059" y="4868863"/>
          <a:ext cx="3144837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095200" imgH="431640" progId="Equation.DSMT4">
                  <p:embed/>
                </p:oleObj>
              </mc:Choice>
              <mc:Fallback>
                <p:oleObj name="Equation" r:id="rId6" imgW="2095200" imgH="431640" progId="Equation.DSMT4">
                  <p:embed/>
                  <p:pic>
                    <p:nvPicPr>
                      <p:cNvPr id="12" name="Objeto 11"/>
                      <p:cNvPicPr>
                        <a:picLocks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58059" y="4868863"/>
                        <a:ext cx="3144837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to 2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3127357"/>
              </p:ext>
            </p:extLst>
          </p:nvPr>
        </p:nvGraphicFramePr>
        <p:xfrm>
          <a:off x="3490913" y="5574754"/>
          <a:ext cx="3811587" cy="590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539800" imgH="393480" progId="Equation.DSMT4">
                  <p:embed/>
                </p:oleObj>
              </mc:Choice>
              <mc:Fallback>
                <p:oleObj name="Equation" r:id="rId8" imgW="2539800" imgH="393480" progId="Equation.DSMT4">
                  <p:embed/>
                  <p:pic>
                    <p:nvPicPr>
                      <p:cNvPr id="23" name="Objeto 22"/>
                      <p:cNvPicPr>
                        <a:picLocks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90913" y="5574754"/>
                        <a:ext cx="3811587" cy="590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tângulo 6"/>
          <p:cNvSpPr>
            <a:spLocks noChangeArrowheads="1"/>
          </p:cNvSpPr>
          <p:nvPr/>
        </p:nvSpPr>
        <p:spPr bwMode="auto">
          <a:xfrm>
            <a:off x="254000" y="6237312"/>
            <a:ext cx="863848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Conclusão: os modelos completo e reduzido são diferentes e portanto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não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se deve retirar as duas variáveis de uma só vez!</a:t>
            </a:r>
          </a:p>
        </p:txBody>
      </p:sp>
      <p:sp>
        <p:nvSpPr>
          <p:cNvPr id="2" name="Retângulo 1"/>
          <p:cNvSpPr/>
          <p:nvPr/>
        </p:nvSpPr>
        <p:spPr>
          <a:xfrm>
            <a:off x="7393960" y="5683706"/>
            <a:ext cx="113723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Valor-P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 0</a:t>
            </a:r>
            <a:endParaRPr lang="pt-BR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Grupo 2"/>
          <p:cNvGrpSpPr/>
          <p:nvPr/>
        </p:nvGrpSpPr>
        <p:grpSpPr>
          <a:xfrm>
            <a:off x="4967835" y="2464602"/>
            <a:ext cx="684246" cy="1945616"/>
            <a:chOff x="4967835" y="2464602"/>
            <a:chExt cx="684246" cy="1945616"/>
          </a:xfrm>
        </p:grpSpPr>
        <p:sp>
          <p:nvSpPr>
            <p:cNvPr id="16" name="Elipse 9"/>
            <p:cNvSpPr>
              <a:spLocks noChangeArrowheads="1"/>
            </p:cNvSpPr>
            <p:nvPr/>
          </p:nvSpPr>
          <p:spPr bwMode="auto">
            <a:xfrm>
              <a:off x="4967835" y="2464602"/>
              <a:ext cx="684246" cy="23827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" name="Elipse 9"/>
            <p:cNvSpPr>
              <a:spLocks noChangeArrowheads="1"/>
            </p:cNvSpPr>
            <p:nvPr/>
          </p:nvSpPr>
          <p:spPr bwMode="auto">
            <a:xfrm>
              <a:off x="4967835" y="4171940"/>
              <a:ext cx="684246" cy="23827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6647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725135"/>
              </p:ext>
            </p:extLst>
          </p:nvPr>
        </p:nvGraphicFramePr>
        <p:xfrm>
          <a:off x="3779912" y="1905653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2338,64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587,45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2,78E-16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6019743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Teste de Hipótese para múltiplos </a:t>
            </a:r>
            <a:r>
              <a:rPr lang="pt-BR" alt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3200" i="1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cs typeface="Times New Roman" charset="0"/>
                <a:sym typeface="Mathematica1" pitchFamily="2" charset="2"/>
              </a:rPr>
              <a:t>k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</a:endParaRPr>
          </a:p>
        </p:txBody>
      </p: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45297803"/>
              </p:ext>
            </p:extLst>
          </p:nvPr>
        </p:nvGraphicFramePr>
        <p:xfrm>
          <a:off x="3779912" y="1556792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640" imgH="241200" progId="Equation.DSMT4">
                  <p:embed/>
                </p:oleObj>
              </mc:Choice>
              <mc:Fallback>
                <p:oleObj name="Equation" r:id="rId2" imgW="271764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912" y="1556792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3247C6-760D-4EFA-A2D8-D2108044775A}" type="slidenum">
              <a:rPr lang="pt-BR"/>
              <a:pPr>
                <a:defRPr/>
              </a:pPr>
              <a:t>51</a:t>
            </a:fld>
            <a:endParaRPr lang="pt-BR"/>
          </a:p>
        </p:txBody>
      </p:sp>
      <p:sp>
        <p:nvSpPr>
          <p:cNvPr id="10" name="Retângulo 9"/>
          <p:cNvSpPr/>
          <p:nvPr/>
        </p:nvSpPr>
        <p:spPr bwMode="auto">
          <a:xfrm>
            <a:off x="3563888" y="1412776"/>
            <a:ext cx="4536504" cy="1656184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grpSp>
        <p:nvGrpSpPr>
          <p:cNvPr id="15" name="Grupo 14"/>
          <p:cNvGrpSpPr/>
          <p:nvPr/>
        </p:nvGrpSpPr>
        <p:grpSpPr>
          <a:xfrm>
            <a:off x="3995936" y="3836466"/>
            <a:ext cx="3672408" cy="1958400"/>
            <a:chOff x="3635896" y="4797152"/>
            <a:chExt cx="3672408" cy="1958400"/>
          </a:xfrm>
        </p:grpSpPr>
        <p:pic>
          <p:nvPicPr>
            <p:cNvPr id="16" name="Picture 11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35896" y="4797152"/>
              <a:ext cx="2594200" cy="19584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8" name="Retângulo 6"/>
            <p:cNvSpPr>
              <a:spLocks noChangeArrowheads="1"/>
            </p:cNvSpPr>
            <p:nvPr/>
          </p:nvSpPr>
          <p:spPr bwMode="auto">
            <a:xfrm>
              <a:off x="5006958" y="5794866"/>
              <a:ext cx="230134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177800" indent="-1778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r>
                <a:rPr lang="pt-BR" altLang="pt-BR" sz="1600" dirty="0">
                  <a:latin typeface="Tahoma" panose="020B0604030504040204" pitchFamily="34" charset="0"/>
                </a:rPr>
                <a:t> e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pt-BR" altLang="pt-BR" sz="1600" dirty="0">
                  <a:latin typeface="Tahoma" panose="020B0604030504040204" pitchFamily="34" charset="0"/>
                </a:rPr>
                <a:t> são colineares!</a:t>
              </a:r>
            </a:p>
          </p:txBody>
        </p:sp>
      </p:grpSp>
      <p:sp>
        <p:nvSpPr>
          <p:cNvPr id="2" name="Retângulo 1"/>
          <p:cNvSpPr/>
          <p:nvPr/>
        </p:nvSpPr>
        <p:spPr>
          <a:xfrm>
            <a:off x="4211960" y="3446085"/>
            <a:ext cx="12778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</a:rPr>
              <a:t>De fato: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" name="CaixaDeTexto 2"/>
          <p:cNvSpPr txBox="1"/>
          <p:nvPr/>
        </p:nvSpPr>
        <p:spPr>
          <a:xfrm>
            <a:off x="4355976" y="5877272"/>
            <a:ext cx="35107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Mas afinal, quem eu retiro, </a:t>
            </a:r>
            <a:r>
              <a:rPr lang="pt-BR" i="1" dirty="0">
                <a:latin typeface="Cambria Math" panose="02040503050406030204" pitchFamily="18" charset="0"/>
                <a:ea typeface="Cambria Math" panose="02040503050406030204" pitchFamily="18" charset="0"/>
              </a:rPr>
              <a:t>X</a:t>
            </a:r>
            <a:r>
              <a:rPr lang="pt-BR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pt-BR" dirty="0">
                <a:latin typeface="Tahoma" panose="020B0604030504040204" pitchFamily="34" charset="0"/>
              </a:rPr>
              <a:t> ou </a:t>
            </a:r>
            <a:r>
              <a:rPr lang="pt-BR" i="1" dirty="0">
                <a:latin typeface="Cambria Math" panose="02040503050406030204" pitchFamily="18" charset="0"/>
                <a:ea typeface="Cambria Math" panose="02040503050406030204" pitchFamily="18" charset="0"/>
              </a:rPr>
              <a:t>X</a:t>
            </a:r>
            <a:r>
              <a:rPr lang="pt-BR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3</a:t>
            </a:r>
            <a:r>
              <a:rPr lang="pt-BR" dirty="0">
                <a:latin typeface="Tahoma" panose="020B060403050404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40851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5486380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Multicolinearidade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ângulo 6"/>
              <p:cNvSpPr>
                <a:spLocks noChangeArrowheads="1"/>
              </p:cNvSpPr>
              <p:nvPr/>
            </p:nvSpPr>
            <p:spPr bwMode="auto">
              <a:xfrm>
                <a:off x="3635896" y="1988840"/>
                <a:ext cx="5328592" cy="23083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Em geral, a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multicolinearidade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provoca a perda da significância do coeficiente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</a:t>
                </a:r>
                <a:r>
                  <a:rPr lang="pt-BR" altLang="pt-BR" sz="16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k</a:t>
                </a:r>
                <a:r>
                  <a:rPr lang="pt-BR" altLang="pt-BR" sz="1600" dirty="0">
                    <a:latin typeface="Tahoma" panose="020B0604030504040204" pitchFamily="34" charset="0"/>
                    <a:sym typeface="Symbol"/>
                  </a:rPr>
                  <a:t>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associado à variável independente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que é relacionada a outra ou outras variáveis independentes. Isso acontece pois a variância do estimador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latin typeface="Cambria Math"/>
                          </a:rPr>
                          <m:t>𝑠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é superestimada.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detecção da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multicolinearidade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nem sempre é fácil e em geral recorre-se à análise do fator de inflação da variância (</a:t>
                </a:r>
                <a:r>
                  <a:rPr lang="pt-BR" altLang="pt-BR" sz="1600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–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Variance</a:t>
                </a:r>
                <a:r>
                  <a:rPr lang="pt-BR" altLang="pt-BR" sz="1600" i="1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Inflation</a:t>
                </a:r>
                <a:r>
                  <a:rPr lang="pt-BR" altLang="pt-BR" sz="1600" i="1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Factor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):</a:t>
                </a:r>
              </a:p>
            </p:txBody>
          </p:sp>
        </mc:Choice>
        <mc:Fallback xmlns="">
          <p:sp>
            <p:nvSpPr>
              <p:cNvPr id="11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35896" y="1988840"/>
                <a:ext cx="5328592" cy="2308324"/>
              </a:xfrm>
              <a:prstGeom prst="rect">
                <a:avLst/>
              </a:prstGeom>
              <a:blipFill>
                <a:blip r:embed="rId2"/>
                <a:stretch>
                  <a:fillRect l="-571" t="-792" r="-1257" b="-237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/>
              <p:cNvSpPr txBox="1"/>
              <p:nvPr/>
            </p:nvSpPr>
            <p:spPr>
              <a:xfrm>
                <a:off x="5171363" y="4365104"/>
                <a:ext cx="1488869" cy="6178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𝑉𝐼𝐹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𝑘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" name="CaixaDeTexto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363" y="4365104"/>
                <a:ext cx="1488869" cy="617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tângulo 6"/>
              <p:cNvSpPr>
                <a:spLocks noChangeArrowheads="1"/>
              </p:cNvSpPr>
              <p:nvPr/>
            </p:nvSpPr>
            <p:spPr bwMode="auto">
              <a:xfrm>
                <a:off x="3614710" y="5150348"/>
                <a:ext cx="5529290" cy="59452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onde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1600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𝑘</m:t>
                        </m:r>
                      </m:sub>
                      <m:sup>
                        <m:r>
                          <a:rPr lang="pt-BR" sz="1600" i="1">
                            <a:latin typeface="Cambria Math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é o coeficiente de determinação obtido da regressão entre </a:t>
                </a:r>
                <a:r>
                  <a:rPr lang="pt-BR" altLang="pt-BR" sz="16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pt-BR" altLang="pt-BR" sz="16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 as demais variáveis independentes.</a:t>
                </a:r>
              </a:p>
            </p:txBody>
          </p:sp>
        </mc:Choice>
        <mc:Fallback xmlns="">
          <p:sp>
            <p:nvSpPr>
              <p:cNvPr id="14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14710" y="5150348"/>
                <a:ext cx="5529290" cy="594522"/>
              </a:xfrm>
              <a:prstGeom prst="rect">
                <a:avLst/>
              </a:prstGeom>
              <a:blipFill>
                <a:blip r:embed="rId4"/>
                <a:stretch>
                  <a:fillRect l="-662" t="-2062" b="-1340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52</a:t>
            </a:fld>
            <a:endParaRPr lang="pt-BR"/>
          </a:p>
        </p:txBody>
      </p:sp>
      <p:graphicFrame>
        <p:nvGraphicFramePr>
          <p:cNvPr id="3" name="Objeto 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467340"/>
              </p:ext>
            </p:extLst>
          </p:nvPr>
        </p:nvGraphicFramePr>
        <p:xfrm>
          <a:off x="3779838" y="1557338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717800" imgH="241300" progId="Equation.DSMT4">
                  <p:embed/>
                </p:oleObj>
              </mc:Choice>
              <mc:Fallback>
                <p:oleObj name="Equation" r:id="rId5" imgW="2717800" imgH="241300" progId="Equation.DSMT4">
                  <p:embed/>
                  <p:pic>
                    <p:nvPicPr>
                      <p:cNvPr id="3" name="Objeto 2"/>
                      <p:cNvPicPr>
                        <a:picLocks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838" y="1557338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ângulo 6"/>
              <p:cNvSpPr>
                <a:spLocks noChangeArrowheads="1"/>
              </p:cNvSpPr>
              <p:nvPr/>
            </p:nvSpPr>
            <p:spPr bwMode="auto">
              <a:xfrm>
                <a:off x="2771800" y="6114782"/>
                <a:ext cx="619268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Em geral,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𝑉𝐼𝐹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𝑘</m:t>
                        </m:r>
                      </m:sub>
                    </m:sSub>
                    <m:r>
                      <a:rPr lang="pt-BR" sz="1600" b="0" i="1" smtClean="0">
                        <a:latin typeface="Cambria Math"/>
                      </a:rPr>
                      <m:t>&gt;10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então </a:t>
                </a:r>
                <a:r>
                  <a:rPr lang="pt-BR" altLang="pt-BR" sz="16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pt-BR" altLang="pt-BR" sz="16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têm forte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multicolinearidade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0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71800" y="6114782"/>
                <a:ext cx="6192688" cy="338554"/>
              </a:xfrm>
              <a:prstGeom prst="rect">
                <a:avLst/>
              </a:prstGeom>
              <a:blipFill>
                <a:blip r:embed="rId7"/>
                <a:stretch>
                  <a:fillRect l="-591" t="-7143" b="-2142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5363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2" grpId="0"/>
      <p:bldP spid="14" grpId="0" build="p"/>
      <p:bldP spid="10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647005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Multicolinearidade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4067944" y="4210713"/>
                <a:ext cx="3309880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1,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2,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3</m:t>
                          </m:r>
                          <m:r>
                            <a:rPr lang="pt-BR" i="1">
                              <a:latin typeface="Cambria Math"/>
                            </a:rPr>
                            <m:t>,</m:t>
                          </m:r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4</m:t>
                          </m:r>
                          <m:r>
                            <a:rPr lang="pt-BR" i="1">
                              <a:latin typeface="Cambria Math"/>
                            </a:rPr>
                            <m:t>,</m:t>
                          </m:r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4210713"/>
                <a:ext cx="3309880" cy="3493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tângulo 6"/>
              <p:cNvSpPr>
                <a:spLocks noChangeArrowheads="1"/>
              </p:cNvSpPr>
              <p:nvPr/>
            </p:nvSpPr>
            <p:spPr bwMode="auto">
              <a:xfrm>
                <a:off x="3707904" y="2010326"/>
                <a:ext cx="4896544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Exemplo: calculando-se o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para a variável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07904" y="2010326"/>
                <a:ext cx="4896544" cy="338554"/>
              </a:xfrm>
              <a:prstGeom prst="rect">
                <a:avLst/>
              </a:prstGeom>
              <a:blipFill>
                <a:blip r:embed="rId3"/>
                <a:stretch>
                  <a:fillRect l="-623" t="-7273" b="-2363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/>
              <p:cNvSpPr txBox="1"/>
              <p:nvPr/>
            </p:nvSpPr>
            <p:spPr>
              <a:xfrm>
                <a:off x="4067944" y="4653723"/>
                <a:ext cx="4461991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=14,04−0,003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2,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r>
                        <a:rPr lang="pt-BR" i="1" smtClean="0">
                          <a:latin typeface="Cambria Math"/>
                        </a:rPr>
                        <m:t>0</m:t>
                      </m:r>
                      <m:r>
                        <a:rPr lang="pt-BR" b="0" i="1" smtClean="0">
                          <a:latin typeface="Cambria Math"/>
                        </a:rPr>
                        <m:t>,50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3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r>
                        <a:rPr lang="pt-BR" i="1" smtClean="0">
                          <a:latin typeface="Cambria Math"/>
                        </a:rPr>
                        <m:t>0</m:t>
                      </m:r>
                      <m:r>
                        <a:rPr lang="pt-BR" b="0" i="1" smtClean="0">
                          <a:latin typeface="Cambria Math"/>
                        </a:rPr>
                        <m:t>,0009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4</m:t>
                          </m:r>
                          <m:r>
                            <a:rPr lang="pt-BR" i="1">
                              <a:latin typeface="Cambria Math"/>
                            </a:rPr>
                            <m:t>,</m:t>
                          </m:r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CaixaDeTexto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4653723"/>
                <a:ext cx="4461991" cy="3493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tângulo 6"/>
              <p:cNvSpPr/>
              <p:nvPr/>
            </p:nvSpPr>
            <p:spPr>
              <a:xfrm>
                <a:off x="4067944" y="5096733"/>
                <a:ext cx="1327095" cy="34830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2</m:t>
                          </m:r>
                        </m:sup>
                      </m:sSubSup>
                      <m:r>
                        <a:rPr lang="pt-BR" b="0" i="1" smtClean="0">
                          <a:latin typeface="Cambria Math"/>
                        </a:rPr>
                        <m:t>=0,9994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5096733"/>
                <a:ext cx="1327095" cy="3483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4067944" y="5538718"/>
                <a:ext cx="2761462" cy="5809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𝑉𝐼𝐹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/>
                            </a:rPr>
                            <m:t>1−0,9994</m:t>
                          </m:r>
                        </m:den>
                      </m:f>
                      <m:r>
                        <a:rPr lang="pt-BR" b="0" i="0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1606,4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5538718"/>
                <a:ext cx="2761462" cy="580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tângulo 6"/>
              <p:cNvSpPr>
                <a:spLocks noChangeArrowheads="1"/>
              </p:cNvSpPr>
              <p:nvPr/>
            </p:nvSpPr>
            <p:spPr bwMode="auto">
              <a:xfrm>
                <a:off x="3721552" y="2420888"/>
                <a:ext cx="3960440" cy="156966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Estima-se a regressão entre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as demais variáveis independentes;</a:t>
                </a:r>
              </a:p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Calcula-se o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pt-BR" altLang="pt-BR" sz="1600" baseline="30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</a:t>
                </a:r>
              </a:p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Obtém-se o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</a:t>
                </a:r>
              </a:p>
            </p:txBody>
          </p:sp>
        </mc:Choice>
        <mc:Fallback xmlns="">
          <p:sp>
            <p:nvSpPr>
              <p:cNvPr id="15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21552" y="2420888"/>
                <a:ext cx="3960440" cy="1569660"/>
              </a:xfrm>
              <a:prstGeom prst="rect">
                <a:avLst/>
              </a:prstGeom>
              <a:blipFill>
                <a:blip r:embed="rId7"/>
                <a:stretch>
                  <a:fillRect l="-769" b="-116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53</a:t>
            </a:fld>
            <a:endParaRPr lang="pt-BR"/>
          </a:p>
        </p:txBody>
      </p:sp>
      <p:graphicFrame>
        <p:nvGraphicFramePr>
          <p:cNvPr id="2" name="Objeto 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467340"/>
              </p:ext>
            </p:extLst>
          </p:nvPr>
        </p:nvGraphicFramePr>
        <p:xfrm>
          <a:off x="3779838" y="1557338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717800" imgH="241300" progId="Equation.DSMT4">
                  <p:embed/>
                </p:oleObj>
              </mc:Choice>
              <mc:Fallback>
                <p:oleObj name="Equation" r:id="rId8" imgW="2717800" imgH="241300" progId="Equation.DSMT4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838" y="1557338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96562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7" grpId="0"/>
      <p:bldP spid="18" grpId="0"/>
      <p:bldP spid="15" grpId="0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983500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Multicolinearidade</a:t>
            </a: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 no R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p:sp>
        <p:nvSpPr>
          <p:cNvPr id="11" name="Retângulo 6"/>
          <p:cNvSpPr>
            <a:spLocks noChangeArrowheads="1"/>
          </p:cNvSpPr>
          <p:nvPr/>
        </p:nvSpPr>
        <p:spPr bwMode="auto">
          <a:xfrm>
            <a:off x="3635896" y="1988840"/>
            <a:ext cx="5328592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&gt; Y &lt;- c(11.7, ... ,89.29)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&gt; X1 &lt;- c(126.92, ... ,212.29)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&gt; X2 &lt;- c(174.56, ... ,53.56)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&gt; X3 &lt;- c(226.69, ... ,392.89)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&gt; X4 &lt;- c(364.26, ... ,1186.3)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es-ES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es-ES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s-ES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&lt;- lm(Y~X1+X2+X3+X4)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es-ES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es-ES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es-ES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(car)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es-ES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es-ES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vif</a:t>
            </a:r>
            <a:r>
              <a:rPr lang="es-ES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s-ES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s-ES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3" name="Rectangle 3"/>
          <p:cNvSpPr>
            <a:spLocks noChangeArrowheads="1"/>
          </p:cNvSpPr>
          <p:nvPr/>
        </p:nvSpPr>
        <p:spPr bwMode="auto">
          <a:xfrm>
            <a:off x="3851920" y="4035843"/>
            <a:ext cx="3312368" cy="4308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X1	X2	X3	X4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1606.4	1.01	1602.7	1.12 </a:t>
            </a:r>
            <a:endParaRPr kumimoji="0" lang="pt-BR" altLang="pt-BR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Elipse 57"/>
          <p:cNvSpPr>
            <a:spLocks noChangeArrowheads="1"/>
          </p:cNvSpPr>
          <p:nvPr/>
        </p:nvSpPr>
        <p:spPr bwMode="auto">
          <a:xfrm>
            <a:off x="3563888" y="4005064"/>
            <a:ext cx="954257" cy="492443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9" name="Elipse 57"/>
          <p:cNvSpPr>
            <a:spLocks noChangeArrowheads="1"/>
          </p:cNvSpPr>
          <p:nvPr/>
        </p:nvSpPr>
        <p:spPr bwMode="auto">
          <a:xfrm>
            <a:off x="5436096" y="4005064"/>
            <a:ext cx="851185" cy="492443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tângulo 6"/>
              <p:cNvSpPr>
                <a:spLocks noChangeArrowheads="1"/>
              </p:cNvSpPr>
              <p:nvPr/>
            </p:nvSpPr>
            <p:spPr bwMode="auto">
              <a:xfrm>
                <a:off x="3779912" y="4869160"/>
                <a:ext cx="4752528" cy="18158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Neste caso, explica-se a baixa significância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pela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multicolinearidade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Pode-se então eliminar a variável que apresente o maior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repetindo-se a análise 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É importante que a eliminação das variáveis seja feita uma a uma até que não haja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muito altos</a:t>
                </a:r>
              </a:p>
            </p:txBody>
          </p:sp>
        </mc:Choice>
        <mc:Fallback xmlns="">
          <p:sp>
            <p:nvSpPr>
              <p:cNvPr id="20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79912" y="4869160"/>
                <a:ext cx="4752528" cy="1815882"/>
              </a:xfrm>
              <a:prstGeom prst="rect">
                <a:avLst/>
              </a:prstGeom>
              <a:blipFill>
                <a:blip r:embed="rId2"/>
                <a:stretch>
                  <a:fillRect l="-641" t="-1007" r="-1667" b="-335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54</a:t>
            </a:fld>
            <a:endParaRPr lang="pt-BR"/>
          </a:p>
        </p:txBody>
      </p:sp>
      <p:graphicFrame>
        <p:nvGraphicFramePr>
          <p:cNvPr id="2" name="Objeto 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467340"/>
              </p:ext>
            </p:extLst>
          </p:nvPr>
        </p:nvGraphicFramePr>
        <p:xfrm>
          <a:off x="3779838" y="1557338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717800" imgH="241300" progId="Equation.DSMT4">
                  <p:embed/>
                </p:oleObj>
              </mc:Choice>
              <mc:Fallback>
                <p:oleObj name="Equation" r:id="rId3" imgW="2717800" imgH="241300" progId="Equation.DSMT4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838" y="1557338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0600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9" grpId="0" animBg="1"/>
      <p:bldP spid="20" grpId="0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ela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6444449"/>
              </p:ext>
            </p:extLst>
          </p:nvPr>
        </p:nvGraphicFramePr>
        <p:xfrm>
          <a:off x="3754644" y="206084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2338,64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587,45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2,78E-16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4" name="Tabela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5270038"/>
              </p:ext>
            </p:extLst>
          </p:nvPr>
        </p:nvGraphicFramePr>
        <p:xfrm>
          <a:off x="3754644" y="3356992"/>
          <a:ext cx="3314700" cy="130683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Stat 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64,4359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4,8424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13,3067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1,04E-09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-0,2129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0,3081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-0,6908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0,5002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-0,4741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0,0160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-29,5575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1,04E-14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0,2659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1,7123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0,1074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-0,0075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-4,8827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4237060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Eliminando-se variáveis independentes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</a:endParaRPr>
          </a:p>
        </p:txBody>
      </p:sp>
      <p:sp>
        <p:nvSpPr>
          <p:cNvPr id="40076" name="Elipse 57"/>
          <p:cNvSpPr>
            <a:spLocks noChangeArrowheads="1"/>
          </p:cNvSpPr>
          <p:nvPr/>
        </p:nvSpPr>
        <p:spPr bwMode="auto">
          <a:xfrm>
            <a:off x="6462101" y="3888338"/>
            <a:ext cx="594217" cy="235744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3226636"/>
              </p:ext>
            </p:extLst>
          </p:nvPr>
        </p:nvGraphicFramePr>
        <p:xfrm>
          <a:off x="3728259" y="1484784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640" imgH="241200" progId="Equation.DSMT4">
                  <p:embed/>
                </p:oleObj>
              </mc:Choice>
              <mc:Fallback>
                <p:oleObj name="Equation" r:id="rId2" imgW="271764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28259" y="1484784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Retângulo 6"/>
          <p:cNvSpPr>
            <a:spLocks noChangeArrowheads="1"/>
          </p:cNvSpPr>
          <p:nvPr/>
        </p:nvSpPr>
        <p:spPr bwMode="auto">
          <a:xfrm>
            <a:off x="3707904" y="4869160"/>
            <a:ext cx="4464496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Outra maneira é eliminar-se primeiramente a variável que apresenta o maior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valor-P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não significativo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seguida, refaz-se a análise</a:t>
            </a:r>
          </a:p>
        </p:txBody>
      </p:sp>
      <p:sp>
        <p:nvSpPr>
          <p:cNvPr id="10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55</a:t>
            </a:fld>
            <a:endParaRPr lang="pt-BR"/>
          </a:p>
        </p:txBody>
      </p:sp>
      <p:grpSp>
        <p:nvGrpSpPr>
          <p:cNvPr id="5" name="Grupo 4"/>
          <p:cNvGrpSpPr/>
          <p:nvPr/>
        </p:nvGrpSpPr>
        <p:grpSpPr>
          <a:xfrm>
            <a:off x="4607247" y="1412776"/>
            <a:ext cx="360040" cy="432048"/>
            <a:chOff x="8248600" y="2281064"/>
            <a:chExt cx="360040" cy="432048"/>
          </a:xfrm>
        </p:grpSpPr>
        <p:cxnSp>
          <p:nvCxnSpPr>
            <p:cNvPr id="3" name="Conector reto 2"/>
            <p:cNvCxnSpPr/>
            <p:nvPr/>
          </p:nvCxnSpPr>
          <p:spPr bwMode="auto">
            <a:xfrm>
              <a:off x="8248600" y="2281064"/>
              <a:ext cx="360040" cy="432048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Conector reto 11"/>
            <p:cNvCxnSpPr/>
            <p:nvPr/>
          </p:nvCxnSpPr>
          <p:spPr bwMode="auto">
            <a:xfrm flipH="1">
              <a:off x="8248600" y="2281064"/>
              <a:ext cx="360040" cy="432048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984439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076" grpId="0" animBg="1"/>
      <p:bldP spid="22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641" name="Picture 12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1880" y="4623322"/>
            <a:ext cx="2962275" cy="2243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868340"/>
              </p:ext>
            </p:extLst>
          </p:nvPr>
        </p:nvGraphicFramePr>
        <p:xfrm>
          <a:off x="3754644" y="206084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9352,67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3117,56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809,56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1,12E-17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61,61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113714"/>
              </p:ext>
            </p:extLst>
          </p:nvPr>
        </p:nvGraphicFramePr>
        <p:xfrm>
          <a:off x="3754644" y="3356992"/>
          <a:ext cx="3314700" cy="111633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Stat 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61,4478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2,1408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28,7030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3,44E-15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-0,4734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0,0157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-30,0637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1,66E-15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40,0206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1,81E-17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-0,0077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-5,1698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9,31E-05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741428"/>
              </p:ext>
            </p:extLst>
          </p:nvPr>
        </p:nvGraphicFramePr>
        <p:xfrm>
          <a:off x="307975" y="1443426"/>
          <a:ext cx="24384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Eliminando-se variáveis independentes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</a:endParaRPr>
          </a:p>
        </p:txBody>
      </p: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75063809"/>
              </p:ext>
            </p:extLst>
          </p:nvPr>
        </p:nvGraphicFramePr>
        <p:xfrm>
          <a:off x="3719513" y="1484313"/>
          <a:ext cx="33559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234880" imgH="241200" progId="Equation.DSMT4">
                  <p:embed/>
                </p:oleObj>
              </mc:Choice>
              <mc:Fallback>
                <p:oleObj name="Equation" r:id="rId3" imgW="223488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19513" y="1484313"/>
                        <a:ext cx="33559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3247C6-760D-4EFA-A2D8-D2108044775A}" type="slidenum">
              <a:rPr lang="pt-BR"/>
              <a:pPr>
                <a:defRPr/>
              </a:pPr>
              <a:t>56</a:t>
            </a:fld>
            <a:endParaRPr lang="pt-BR"/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139293"/>
              </p:ext>
            </p:extLst>
          </p:nvPr>
        </p:nvGraphicFramePr>
        <p:xfrm>
          <a:off x="2771800" y="1443427"/>
          <a:ext cx="609600" cy="4038757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5419">
                <a:tc>
                  <a:txBody>
                    <a:bodyPr/>
                    <a:lstStyle/>
                    <a:p>
                      <a:pPr algn="ctr" rtl="0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32,16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26,51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34,64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48,71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graphicFrame>
        <p:nvGraphicFramePr>
          <p:cNvPr id="15" name="Objeto 1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06115336"/>
              </p:ext>
            </p:extLst>
          </p:nvPr>
        </p:nvGraphicFramePr>
        <p:xfrm>
          <a:off x="2994298" y="1453744"/>
          <a:ext cx="209550" cy="216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9680" imgH="203040" progId="Equation.DSMT4">
                  <p:embed/>
                </p:oleObj>
              </mc:Choice>
              <mc:Fallback>
                <p:oleObj name="Equation" r:id="rId5" imgW="139680" imgH="203040" progId="Equation.DSMT4">
                  <p:embed/>
                  <p:pic>
                    <p:nvPicPr>
                      <p:cNvPr id="15" name="Objeto 14"/>
                      <p:cNvPicPr>
                        <a:picLocks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94298" y="1453744"/>
                        <a:ext cx="20955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o 1"/>
          <p:cNvGrpSpPr/>
          <p:nvPr/>
        </p:nvGrpSpPr>
        <p:grpSpPr>
          <a:xfrm>
            <a:off x="6372200" y="3861048"/>
            <a:ext cx="2462958" cy="675368"/>
            <a:chOff x="6372200" y="3861048"/>
            <a:chExt cx="2462958" cy="675368"/>
          </a:xfrm>
        </p:grpSpPr>
        <p:sp>
          <p:nvSpPr>
            <p:cNvPr id="12" name="Elipse 57"/>
            <p:cNvSpPr>
              <a:spLocks noChangeArrowheads="1"/>
            </p:cNvSpPr>
            <p:nvPr/>
          </p:nvSpPr>
          <p:spPr bwMode="auto">
            <a:xfrm>
              <a:off x="6372200" y="3861048"/>
              <a:ext cx="774195" cy="67536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" name="Retângulo 13"/>
            <p:cNvSpPr>
              <a:spLocks noChangeArrowheads="1"/>
            </p:cNvSpPr>
            <p:nvPr/>
          </p:nvSpPr>
          <p:spPr bwMode="auto">
            <a:xfrm>
              <a:off x="7152774" y="4005064"/>
              <a:ext cx="1682384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todos significativos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 5%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6621918" y="4816463"/>
                <a:ext cx="2057294" cy="17851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pt-BR" dirty="0">
                    <a:latin typeface="Tahoma" panose="020B0604030504040204" pitchFamily="34" charset="0"/>
                  </a:rPr>
                  <a:t>Coeficiente de</a:t>
                </a:r>
              </a:p>
              <a:p>
                <a:pPr algn="ctr"/>
                <a:r>
                  <a:rPr lang="pt-BR" dirty="0">
                    <a:latin typeface="Tahoma" panose="020B0604030504040204" pitchFamily="34" charset="0"/>
                  </a:rPr>
                  <a:t>correlação múltiplo</a:t>
                </a:r>
              </a:p>
              <a:p>
                <a:pPr algn="ctr"/>
                <a:endParaRPr lang="pt-BR" dirty="0">
                  <a:latin typeface="Tahoma" panose="020B060403050404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pt-BR" b="0" dirty="0">
                  <a:latin typeface="Tahoma" panose="020B060403050404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=0,9964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  <a:p>
                <a:pPr algn="ctr"/>
                <a:endParaRPr lang="pt-BR" sz="1200" dirty="0">
                  <a:latin typeface="Tahoma" panose="020B0604030504040204" pitchFamily="34" charset="0"/>
                </a:endParaRPr>
              </a:p>
              <a:p>
                <a:pPr algn="ctr"/>
                <a:r>
                  <a:rPr lang="pt-BR" sz="14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(evite usar este índice!)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1918" y="4816463"/>
                <a:ext cx="2057294" cy="1785169"/>
              </a:xfrm>
              <a:prstGeom prst="rect">
                <a:avLst/>
              </a:prstGeom>
              <a:blipFill>
                <a:blip r:embed="rId7"/>
                <a:stretch>
                  <a:fillRect l="-592" t="-1024" b="-27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609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/>
              <p:cNvGraphicFramePr>
                <a:graphicFrameLocks noGrp="1"/>
              </p:cNvGraphicFramePr>
              <p:nvPr/>
            </p:nvGraphicFramePr>
            <p:xfrm>
              <a:off x="307975" y="1443426"/>
              <a:ext cx="2438400" cy="4038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8,87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3,24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7,19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2,79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15,07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5,03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2,55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16,58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13,14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12,65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22213013"/>
                  </p:ext>
                </p:extLst>
              </p:nvPr>
            </p:nvGraphicFramePr>
            <p:xfrm>
              <a:off x="307975" y="1443426"/>
              <a:ext cx="2438400" cy="4038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010" r="-199010" b="-16815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000" r="-101000" b="-16815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000" r="-1000" b="-16815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8,87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3,24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7,19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2,79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15,07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5,03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2,55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16,58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13,14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12,65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Regressões Polinomiais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to 3"/>
              <p:cNvSpPr txBox="1"/>
              <p:nvPr/>
            </p:nvSpPr>
            <p:spPr bwMode="auto">
              <a:xfrm>
                <a:off x="2916238" y="1474788"/>
                <a:ext cx="3298825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" name="Obje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16238" y="1474788"/>
                <a:ext cx="3298825" cy="381000"/>
              </a:xfrm>
              <a:prstGeom prst="rect">
                <a:avLst/>
              </a:prstGeom>
              <a:blipFill>
                <a:blip r:embed="rId3"/>
                <a:stretch>
                  <a:fillRect b="-32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tângulo 6"/>
          <p:cNvSpPr>
            <a:spLocks noChangeArrowheads="1"/>
          </p:cNvSpPr>
          <p:nvPr/>
        </p:nvSpPr>
        <p:spPr bwMode="auto">
          <a:xfrm>
            <a:off x="2843808" y="4653136"/>
            <a:ext cx="5256584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como pode todos os coeficientes serem não significativos com o valor-P da ANOVA tão pequeno?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Atenção</a:t>
            </a:r>
            <a:r>
              <a:rPr lang="pt-BR" altLang="pt-BR" sz="1600" dirty="0">
                <a:latin typeface="Tahoma" panose="020B0604030504040204" pitchFamily="34" charset="0"/>
              </a:rPr>
              <a:t>: Termos polinomiais e interações podem apresentar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VIF</a:t>
            </a:r>
            <a:r>
              <a:rPr lang="pt-BR" altLang="pt-BR" sz="1600" dirty="0">
                <a:latin typeface="Tahoma" panose="020B0604030504040204" pitchFamily="34" charset="0"/>
              </a:rPr>
              <a:t> alto pois podem apresentar relações quase lineares entre os termos do polinômio.</a:t>
            </a:r>
          </a:p>
        </p:txBody>
      </p:sp>
      <p:graphicFrame>
        <p:nvGraphicFramePr>
          <p:cNvPr id="14" name="Tabela 13"/>
          <p:cNvGraphicFramePr>
            <a:graphicFrameLocks noGrp="1"/>
          </p:cNvGraphicFramePr>
          <p:nvPr/>
        </p:nvGraphicFramePr>
        <p:xfrm>
          <a:off x="2962556" y="206084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3,4926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1,1642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323,7193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1,58E-14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3,5501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ela 15"/>
              <p:cNvGraphicFramePr>
                <a:graphicFrameLocks noGrp="1"/>
              </p:cNvGraphicFramePr>
              <p:nvPr/>
            </p:nvGraphicFramePr>
            <p:xfrm>
              <a:off x="2962556" y="3356992"/>
              <a:ext cx="3314700" cy="11163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1,2692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1,5608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0,8132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0,4281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3,9589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2,6748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1,4800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0,1583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-2,3363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1,4873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-1,5709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0,1358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0,5291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0,2681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1,9739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0,0659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ela 1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1159387"/>
                  </p:ext>
                </p:extLst>
              </p:nvPr>
            </p:nvGraphicFramePr>
            <p:xfrm>
              <a:off x="2962556" y="3356992"/>
              <a:ext cx="3314700" cy="11163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1,2692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1,5608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0,8132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0,4281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293750" r="-383186" b="-2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3,9589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2,6748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1,4800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0,1583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4"/>
                          <a:stretch>
                            <a:fillRect t="-406452" r="-383186" b="-1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-2,3363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1,4873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-1,5709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0,1358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t="-475758" r="-383186" b="-4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0,5291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0,2681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1,9739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0,0659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ela 17"/>
              <p:cNvGraphicFramePr>
                <a:graphicFrameLocks noGrp="1"/>
              </p:cNvGraphicFramePr>
              <p:nvPr/>
            </p:nvGraphicFramePr>
            <p:xfrm>
              <a:off x="6660232" y="3701797"/>
              <a:ext cx="1001528" cy="771525"/>
            </p:xfrm>
            <a:graphic>
              <a:graphicData uri="http://schemas.openxmlformats.org/drawingml/2006/table">
                <a:tbl>
                  <a:tblPr/>
                  <a:tblGrid>
                    <a:gridCol w="20142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VIF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7480,64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32554,03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9028,64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ela 1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2110261"/>
                  </p:ext>
                </p:extLst>
              </p:nvPr>
            </p:nvGraphicFramePr>
            <p:xfrm>
              <a:off x="6660232" y="3701797"/>
              <a:ext cx="1001528" cy="771525"/>
            </p:xfrm>
            <a:graphic>
              <a:graphicData uri="http://schemas.openxmlformats.org/drawingml/2006/table">
                <a:tbl>
                  <a:tblPr/>
                  <a:tblGrid>
                    <a:gridCol w="20142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VIF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109375" r="-403030" b="-2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7480,64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216129" r="-403030" b="-1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32554,03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296970" r="-403030" b="-4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9028,64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1" name="Elipse 20"/>
          <p:cNvSpPr/>
          <p:nvPr/>
        </p:nvSpPr>
        <p:spPr bwMode="auto">
          <a:xfrm>
            <a:off x="6876256" y="3863058"/>
            <a:ext cx="824695" cy="646252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25" name="Elipse 24"/>
          <p:cNvSpPr/>
          <p:nvPr/>
        </p:nvSpPr>
        <p:spPr bwMode="auto">
          <a:xfrm>
            <a:off x="5595848" y="3879948"/>
            <a:ext cx="824695" cy="646252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9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57</a:t>
            </a:fld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E7DBC52-27CB-96C8-27CF-CEBA255AA3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4769" y="1368357"/>
            <a:ext cx="2229719" cy="2239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379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9C7F0-A6DA-977B-C73C-3BDD8FFA1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E15A48D4-5636-F83B-15EA-B532675E66A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7975" y="1443426"/>
              <a:ext cx="2438400" cy="4038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8,87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3,24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7,19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2,79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15,07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5,03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2,55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16,58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13,14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12,65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E15A48D4-5636-F83B-15EA-B532675E66A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7975" y="1443426"/>
              <a:ext cx="2438400" cy="4038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010" r="-199010" b="-16815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000" r="-101000" b="-16815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000" r="-1000" b="-16815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8,87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3,24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7,19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2,79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15,07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5,03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2,55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16,58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13,14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12,65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7" name="Rectangle 2">
            <a:extLst>
              <a:ext uri="{FF2B5EF4-FFF2-40B4-BE49-F238E27FC236}">
                <a16:creationId xmlns:a16="http://schemas.microsoft.com/office/drawing/2014/main" id="{4F5A947B-0B3B-D3E9-EB18-48CFAF84E3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Regressões Polinomiais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to 3">
                <a:extLst>
                  <a:ext uri="{FF2B5EF4-FFF2-40B4-BE49-F238E27FC236}">
                    <a16:creationId xmlns:a16="http://schemas.microsoft.com/office/drawing/2014/main" id="{474C11E4-3E55-34DB-5B7F-0661B1DC4FA1}"/>
                  </a:ext>
                </a:extLst>
              </p:cNvPr>
              <p:cNvSpPr txBox="1"/>
              <p:nvPr/>
            </p:nvSpPr>
            <p:spPr bwMode="auto">
              <a:xfrm>
                <a:off x="2916238" y="1474788"/>
                <a:ext cx="3298825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" name="Objeto 3">
                <a:extLst>
                  <a:ext uri="{FF2B5EF4-FFF2-40B4-BE49-F238E27FC236}">
                    <a16:creationId xmlns:a16="http://schemas.microsoft.com/office/drawing/2014/main" id="{474C11E4-3E55-34DB-5B7F-0661B1DC4F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16238" y="1474788"/>
                <a:ext cx="3298825" cy="381000"/>
              </a:xfrm>
              <a:prstGeom prst="rect">
                <a:avLst/>
              </a:prstGeom>
              <a:blipFill>
                <a:blip r:embed="rId3"/>
                <a:stretch>
                  <a:fillRect b="-32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tângulo 6">
                <a:extLst>
                  <a:ext uri="{FF2B5EF4-FFF2-40B4-BE49-F238E27FC236}">
                    <a16:creationId xmlns:a16="http://schemas.microsoft.com/office/drawing/2014/main" id="{ACB02775-D3F9-1EC5-7692-625814465A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43808" y="3645024"/>
                <a:ext cx="5992217" cy="20313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Observe que agora os termos </a:t>
                </a:r>
                <a14:m>
                  <m:oMath xmlns:m="http://schemas.openxmlformats.org/officeDocument/2006/math"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são significativos!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Cuidado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: os valores estimados dos parâmetros não podem ser diretamente interpretados (estimação usa transformações ortogonais!)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Observe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não é significativo e pode ser descartado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Para se estimar os parâmetros do polinômio, deve-se realizar a regressão clássica: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pt-BR" sz="14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summary(</a:t>
                </a:r>
                <a:r>
                  <a:rPr lang="en-US" altLang="pt-BR" sz="1200" dirty="0" err="1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lm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(Y ~ poly(X,2, </a:t>
                </a:r>
                <a:r>
                  <a:rPr lang="en-US" altLang="pt-BR" sz="1200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raw=TRUE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))) </a:t>
                </a:r>
                <a:r>
                  <a:rPr lang="en-US" altLang="pt-BR" sz="1200" dirty="0" err="1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ou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summary(</a:t>
                </a:r>
                <a:r>
                  <a:rPr lang="en-US" altLang="pt-BR" sz="1200" dirty="0" err="1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lm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(Y ~ X + I(X^2)))</a:t>
                </a:r>
                <a:endParaRPr lang="pt-BR" altLang="pt-BR" sz="14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Retângulo 6">
                <a:extLst>
                  <a:ext uri="{FF2B5EF4-FFF2-40B4-BE49-F238E27FC236}">
                    <a16:creationId xmlns:a16="http://schemas.microsoft.com/office/drawing/2014/main" id="{ACB02775-D3F9-1EC5-7692-625814465A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3808" y="3645024"/>
                <a:ext cx="5992217" cy="2031325"/>
              </a:xfrm>
              <a:prstGeom prst="rect">
                <a:avLst/>
              </a:prstGeom>
              <a:blipFill>
                <a:blip r:embed="rId4"/>
                <a:stretch>
                  <a:fillRect l="-611" t="-901" b="-90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ela 15">
                <a:extLst>
                  <a:ext uri="{FF2B5EF4-FFF2-40B4-BE49-F238E27FC236}">
                    <a16:creationId xmlns:a16="http://schemas.microsoft.com/office/drawing/2014/main" id="{D3FAE5A2-513E-3125-3E65-99F0D30A5D0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962556" y="2528694"/>
              <a:ext cx="3314700" cy="11163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4,0205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0,0141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285,710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&lt; 2e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1,8190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28,904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3,08e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0,4147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6,590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6,22e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0,0778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1,237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0,234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ela 15">
                <a:extLst>
                  <a:ext uri="{FF2B5EF4-FFF2-40B4-BE49-F238E27FC236}">
                    <a16:creationId xmlns:a16="http://schemas.microsoft.com/office/drawing/2014/main" id="{D3FAE5A2-513E-3125-3E65-99F0D30A5D0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32101554"/>
                  </p:ext>
                </p:extLst>
              </p:nvPr>
            </p:nvGraphicFramePr>
            <p:xfrm>
              <a:off x="2962556" y="2528694"/>
              <a:ext cx="3314700" cy="11163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4,0205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0,0141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285,710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&lt; 2e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293750" r="-383186" b="-2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1,8190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28,904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3,08e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406452" r="-383186" b="-1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0,4147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6,590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6,22e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475758" r="-383186" b="-4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0,0778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1,237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0,234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5" name="Elipse 24">
            <a:extLst>
              <a:ext uri="{FF2B5EF4-FFF2-40B4-BE49-F238E27FC236}">
                <a16:creationId xmlns:a16="http://schemas.microsoft.com/office/drawing/2014/main" id="{77BED44D-27F4-1E20-FFFA-DDBD846773A9}"/>
              </a:ext>
            </a:extLst>
          </p:cNvPr>
          <p:cNvSpPr/>
          <p:nvPr/>
        </p:nvSpPr>
        <p:spPr bwMode="auto">
          <a:xfrm>
            <a:off x="5595848" y="3051650"/>
            <a:ext cx="824695" cy="413148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9" name="Espaço Reservado para Número de Slide 2">
            <a:extLst>
              <a:ext uri="{FF2B5EF4-FFF2-40B4-BE49-F238E27FC236}">
                <a16:creationId xmlns:a16="http://schemas.microsoft.com/office/drawing/2014/main" id="{DA11B24E-9FA5-9A80-9CCA-42108B99B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58</a:t>
            </a:fld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1981008-84DE-5BC4-8093-9845FBEC89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4769" y="1368357"/>
            <a:ext cx="2229719" cy="2239673"/>
          </a:xfrm>
          <a:prstGeom prst="rect">
            <a:avLst/>
          </a:prstGeom>
        </p:spPr>
      </p:pic>
      <p:sp>
        <p:nvSpPr>
          <p:cNvPr id="2" name="Retângulo 6">
            <a:extLst>
              <a:ext uri="{FF2B5EF4-FFF2-40B4-BE49-F238E27FC236}">
                <a16:creationId xmlns:a16="http://schemas.microsoft.com/office/drawing/2014/main" id="{804ED02C-4BD3-A9D1-C497-5A4EBDED08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3808" y="1806724"/>
            <a:ext cx="439519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R, é possível gerar uma regressão polinomial:</a:t>
            </a:r>
            <a:br>
              <a:rPr lang="pt-BR" altLang="pt-BR" sz="1600" dirty="0">
                <a:latin typeface="Tahoma" panose="020B0604030504040204" pitchFamily="34" charset="0"/>
              </a:rPr>
            </a:br>
            <a:r>
              <a:rPr lang="en-U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summary(</a:t>
            </a:r>
            <a:r>
              <a:rPr lang="en-US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en-U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 ~ poly(X,3)))</a:t>
            </a:r>
            <a:endParaRPr lang="en-US" alt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0A12153F-10CB-A181-DACF-760EB2618EA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962556" y="5671522"/>
              <a:ext cx="3314700" cy="9258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4,3188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0,3113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13,875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1,06e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-1,3081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0,3477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-3,763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0,0016</a:t>
                          </a:r>
                          <a:endParaRPr lang="pt-BR" sz="1100" b="0" i="0" u="none" strike="noStrike" baseline="30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0,6013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0,0927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0,0927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5,55e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0A12153F-10CB-A181-DACF-760EB2618E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2026937"/>
                  </p:ext>
                </p:extLst>
              </p:nvPr>
            </p:nvGraphicFramePr>
            <p:xfrm>
              <a:off x="2962556" y="5671522"/>
              <a:ext cx="3314700" cy="9258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4,3188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0,3113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13,875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1,06e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7"/>
                          <a:stretch>
                            <a:fillRect t="-296875" r="-383186" b="-1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-1,3081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0,3477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-3,763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0,0016</a:t>
                          </a:r>
                          <a:endParaRPr lang="pt-BR" sz="1100" b="0" i="0" u="none" strike="noStrike" baseline="30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t="-384848" r="-383186" b="-393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0,6013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0,0927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0,0927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5,55e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5" name="Agrupar 14">
            <a:extLst>
              <a:ext uri="{FF2B5EF4-FFF2-40B4-BE49-F238E27FC236}">
                <a16:creationId xmlns:a16="http://schemas.microsoft.com/office/drawing/2014/main" id="{82B9DAB6-4FCF-7EB6-BE8E-A8248B814CFF}"/>
              </a:ext>
            </a:extLst>
          </p:cNvPr>
          <p:cNvGrpSpPr/>
          <p:nvPr/>
        </p:nvGrpSpPr>
        <p:grpSpPr>
          <a:xfrm>
            <a:off x="4572000" y="5747722"/>
            <a:ext cx="2808312" cy="925830"/>
            <a:chOff x="4572000" y="5747722"/>
            <a:chExt cx="2808312" cy="925830"/>
          </a:xfrm>
        </p:grpSpPr>
        <p:grpSp>
          <p:nvGrpSpPr>
            <p:cNvPr id="10" name="Agrupar 9">
              <a:extLst>
                <a:ext uri="{FF2B5EF4-FFF2-40B4-BE49-F238E27FC236}">
                  <a16:creationId xmlns:a16="http://schemas.microsoft.com/office/drawing/2014/main" id="{CBED6ADD-2366-B4CF-6C02-1970E7301F47}"/>
                </a:ext>
              </a:extLst>
            </p:cNvPr>
            <p:cNvGrpSpPr/>
            <p:nvPr/>
          </p:nvGrpSpPr>
          <p:grpSpPr>
            <a:xfrm>
              <a:off x="4572000" y="5747722"/>
              <a:ext cx="1781150" cy="925830"/>
              <a:chOff x="5800328" y="5747722"/>
              <a:chExt cx="648072" cy="925830"/>
            </a:xfrm>
          </p:grpSpPr>
          <p:cxnSp>
            <p:nvCxnSpPr>
              <p:cNvPr id="8" name="Conector reto 7">
                <a:extLst>
                  <a:ext uri="{FF2B5EF4-FFF2-40B4-BE49-F238E27FC236}">
                    <a16:creationId xmlns:a16="http://schemas.microsoft.com/office/drawing/2014/main" id="{62763BA8-D0C1-CB82-59FF-BEDCDC508673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5800328" y="5747722"/>
                <a:ext cx="648072" cy="92583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9" name="Conector reto 8">
                <a:extLst>
                  <a:ext uri="{FF2B5EF4-FFF2-40B4-BE49-F238E27FC236}">
                    <a16:creationId xmlns:a16="http://schemas.microsoft.com/office/drawing/2014/main" id="{4E31DF9B-7599-9882-2B0A-881C56C89A9D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5800328" y="5747722"/>
                <a:ext cx="648072" cy="92583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EECB0DE0-13AD-3689-E604-C6A4DD243EDD}"/>
                </a:ext>
              </a:extLst>
            </p:cNvPr>
            <p:cNvSpPr txBox="1"/>
            <p:nvPr/>
          </p:nvSpPr>
          <p:spPr>
            <a:xfrm>
              <a:off x="6353150" y="5986970"/>
              <a:ext cx="102716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altLang="pt-BR" sz="1200" dirty="0">
                  <a:latin typeface="Tahoma" panose="020B0604030504040204" pitchFamily="34" charset="0"/>
                </a:rPr>
                <a:t>ignore esses valores!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20" name="Elipse 19">
            <a:extLst>
              <a:ext uri="{FF2B5EF4-FFF2-40B4-BE49-F238E27FC236}">
                <a16:creationId xmlns:a16="http://schemas.microsoft.com/office/drawing/2014/main" id="{493CE470-4426-F01D-BC17-DD3C31726AD0}"/>
              </a:ext>
            </a:extLst>
          </p:cNvPr>
          <p:cNvSpPr/>
          <p:nvPr/>
        </p:nvSpPr>
        <p:spPr bwMode="auto">
          <a:xfrm>
            <a:off x="3633592" y="5671522"/>
            <a:ext cx="824695" cy="1002030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9832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9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539750" y="1496509"/>
                <a:ext cx="8424738" cy="4573560"/>
              </a:xfrm>
              <a:noFill/>
            </p:spPr>
            <p:txBody>
              <a:bodyPr wrap="square">
                <a:spAutoFit/>
              </a:bodyPr>
              <a:lstStyle/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Variáveis indicadoras (ou </a:t>
                </a:r>
                <a:r>
                  <a:rPr lang="pt-BR" altLang="pt-BR" sz="1600" i="1" dirty="0" err="1"/>
                  <a:t>dummies</a:t>
                </a:r>
                <a:r>
                  <a:rPr lang="pt-BR" altLang="pt-BR" sz="1600" dirty="0"/>
                  <a:t>) são variáveis que só pode assumir dois valores: 0 ou 1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Elas são amplamente utilizadas na regressão podendo aparecer isoladas ou interagindo com outras variáveis independentes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marL="361950" lvl="0" indent="-361950" eaLnBrk="1" hangingPunct="1">
                  <a:spcBef>
                    <a:spcPct val="0"/>
                  </a:spcBef>
                  <a:buNone/>
                  <a:defRPr/>
                </a:pPr>
                <a:r>
                  <a:rPr kumimoji="0" lang="pt-BR" sz="1500" b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+mn-ea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pt-BR" sz="15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𝑌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=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𝛽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0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+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𝛽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𝑋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+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𝛽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𝑊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+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𝛽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𝑋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𝑊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+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𝜉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0" lang="pt-BR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+mn-ea"/>
                    <a:cs typeface="Arial" charset="0"/>
                  </a:rPr>
                  <a:t>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pt-BR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kumimoji="0" lang="pt-BR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+mn-ea"/>
                  <a:cs typeface="Arial" charset="0"/>
                </a:endParaRP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Com esse modelo, é possível ajustar 2 regressões simultaneamente: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dirty="0"/>
                        <m:t>se</m:t>
                      </m:r>
                      <m:r>
                        <m:rPr>
                          <m:nor/>
                        </m:rPr>
                        <a:rPr lang="pt-BR" altLang="pt-BR" sz="1600" dirty="0"/>
                        <m:t> 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   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/>
              </a:p>
              <a:p>
                <a:pPr eaLnBrk="1" hangingPunct="1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dirty="0" smtClean="0"/>
                        <m:t>se</m:t>
                      </m:r>
                      <m:r>
                        <m:rPr>
                          <m:nor/>
                        </m:rPr>
                        <a:rPr lang="pt-BR" altLang="pt-BR" sz="1600" dirty="0" smtClean="0"/>
                        <m:t> 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 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sz="160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pt-BR" sz="1600" b="0" i="1" kern="120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 kern="120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pt-BR" sz="1600" b="0" i="1" kern="120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pt-BR" sz="1600" b="0" i="1" kern="120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b="0" i="1" kern="12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Aplicações:</a:t>
                </a:r>
              </a:p>
              <a:p>
                <a:pPr eaLnBrk="1" hangingPunct="1">
                  <a:buFontTx/>
                  <a:buAutoNum type="alphaLcParenR"/>
                </a:pPr>
                <a:r>
                  <a:rPr lang="pt-BR" altLang="pt-BR" sz="1600" dirty="0"/>
                  <a:t>Representar variáveis categóricas</a:t>
                </a:r>
              </a:p>
              <a:p>
                <a:pPr eaLnBrk="1" hangingPunct="1">
                  <a:buFontTx/>
                  <a:buAutoNum type="alphaLcParenR"/>
                </a:pPr>
                <a:r>
                  <a:rPr lang="pt-BR" altLang="pt-BR" sz="1600" dirty="0"/>
                  <a:t>Verificar se certos parâmetros diferem entre grupos (comparação de modelos)</a:t>
                </a:r>
              </a:p>
              <a:p>
                <a:pPr eaLnBrk="1" hangingPunct="1">
                  <a:buFontTx/>
                  <a:buAutoNum type="alphaLcParenR"/>
                </a:pPr>
                <a:r>
                  <a:rPr lang="pt-BR" altLang="pt-BR" sz="1600" dirty="0"/>
                  <a:t>Modelar mudanças abruptas ou estruturais</a:t>
                </a:r>
              </a:p>
            </p:txBody>
          </p:sp>
        </mc:Choice>
        <mc:Fallback xmlns="">
          <p:sp>
            <p:nvSpPr>
              <p:cNvPr id="41987" name="Rectangle 9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39750" y="1496509"/>
                <a:ext cx="8424738" cy="4573560"/>
              </a:xfrm>
              <a:blipFill>
                <a:blip r:embed="rId2"/>
                <a:stretch>
                  <a:fillRect l="-434" t="-399" b="-66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99F43D-57B3-4E2C-AF28-2A0E52581706}" type="slidenum">
              <a:rPr lang="pt-BR"/>
              <a:pPr>
                <a:defRPr/>
              </a:pPr>
              <a:t>59</a:t>
            </a:fld>
            <a:endParaRPr lang="pt-BR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Variável Categórica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99F43D-57B3-4E2C-AF28-2A0E52581706}" type="slidenum">
              <a:rPr lang="pt-BR"/>
              <a:pPr>
                <a:defRPr/>
              </a:pPr>
              <a:t>60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9">
                <a:extLst>
                  <a:ext uri="{FF2B5EF4-FFF2-40B4-BE49-F238E27FC236}">
                    <a16:creationId xmlns:a16="http://schemas.microsoft.com/office/drawing/2014/main" id="{5D5D80E9-AA0F-014D-FC48-57C5EB2F3ECC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539750" y="1496509"/>
                <a:ext cx="8424738" cy="2020425"/>
              </a:xfrm>
              <a:noFill/>
            </p:spPr>
            <p:txBody>
              <a:bodyPr wrap="square">
                <a:spAutoFit/>
              </a:bodyPr>
              <a:lstStyle/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Se uma variável categórica for representada por apenas 2 classes (classes A e B) então apenas uma variável indicadora precisa ser definida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marL="0" indent="0"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16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se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i="1" dirty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i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pertencer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a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b="0" i="0" dirty="0" smtClean="0"/>
                                  <m:t>Classe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A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se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i="1" dirty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i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pertencer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a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b="0" i="0" dirty="0" smtClean="0"/>
                                  <m:t>Classe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B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altLang="pt-BR" sz="1800" dirty="0"/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Agora, se houverem 3 classes (classes A, B e C), são necessárias 2 variáveis indicadoras:</a:t>
                </a:r>
              </a:p>
            </p:txBody>
          </p:sp>
        </mc:Choice>
        <mc:Fallback xmlns="">
          <p:sp>
            <p:nvSpPr>
              <p:cNvPr id="13" name="Rectangle 9">
                <a:extLst>
                  <a:ext uri="{FF2B5EF4-FFF2-40B4-BE49-F238E27FC236}">
                    <a16:creationId xmlns:a16="http://schemas.microsoft.com/office/drawing/2014/main" id="{5D5D80E9-AA0F-014D-FC48-57C5EB2F3E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39750" y="1496509"/>
                <a:ext cx="8424738" cy="2020425"/>
              </a:xfrm>
              <a:blipFill>
                <a:blip r:embed="rId2"/>
                <a:stretch>
                  <a:fillRect l="-434" t="-904" b="-27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ela 8">
                <a:extLst>
                  <a:ext uri="{FF2B5EF4-FFF2-40B4-BE49-F238E27FC236}">
                    <a16:creationId xmlns:a16="http://schemas.microsoft.com/office/drawing/2014/main" id="{1EF2EB5F-18DF-3EA5-EEDE-5E31EB35A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85613235"/>
                  </p:ext>
                </p:extLst>
              </p:nvPr>
            </p:nvGraphicFramePr>
            <p:xfrm>
              <a:off x="755576" y="3890998"/>
              <a:ext cx="2304256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3965">
                      <a:extLst>
                        <a:ext uri="{9D8B030D-6E8A-4147-A177-3AD203B41FA5}">
                          <a16:colId xmlns:a16="http://schemas.microsoft.com/office/drawing/2014/main" val="3651238146"/>
                        </a:ext>
                      </a:extLst>
                    </a:gridCol>
                    <a:gridCol w="703965">
                      <a:extLst>
                        <a:ext uri="{9D8B030D-6E8A-4147-A177-3AD203B41FA5}">
                          <a16:colId xmlns:a16="http://schemas.microsoft.com/office/drawing/2014/main" val="2671211714"/>
                        </a:ext>
                      </a:extLst>
                    </a:gridCol>
                    <a:gridCol w="896326">
                      <a:extLst>
                        <a:ext uri="{9D8B030D-6E8A-4147-A177-3AD203B41FA5}">
                          <a16:colId xmlns:a16="http://schemas.microsoft.com/office/drawing/2014/main" val="4057859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60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60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Classe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991001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0183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08341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3769174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ela 8">
                <a:extLst>
                  <a:ext uri="{FF2B5EF4-FFF2-40B4-BE49-F238E27FC236}">
                    <a16:creationId xmlns:a16="http://schemas.microsoft.com/office/drawing/2014/main" id="{1EF2EB5F-18DF-3EA5-EEDE-5E31EB35A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85613235"/>
                  </p:ext>
                </p:extLst>
              </p:nvPr>
            </p:nvGraphicFramePr>
            <p:xfrm>
              <a:off x="755576" y="3890998"/>
              <a:ext cx="2304256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3965">
                      <a:extLst>
                        <a:ext uri="{9D8B030D-6E8A-4147-A177-3AD203B41FA5}">
                          <a16:colId xmlns:a16="http://schemas.microsoft.com/office/drawing/2014/main" val="3651238146"/>
                        </a:ext>
                      </a:extLst>
                    </a:gridCol>
                    <a:gridCol w="703965">
                      <a:extLst>
                        <a:ext uri="{9D8B030D-6E8A-4147-A177-3AD203B41FA5}">
                          <a16:colId xmlns:a16="http://schemas.microsoft.com/office/drawing/2014/main" val="2671211714"/>
                        </a:ext>
                      </a:extLst>
                    </a:gridCol>
                    <a:gridCol w="896326">
                      <a:extLst>
                        <a:ext uri="{9D8B030D-6E8A-4147-A177-3AD203B41FA5}">
                          <a16:colId xmlns:a16="http://schemas.microsoft.com/office/drawing/2014/main" val="4057859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62" t="-4918" r="-229310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862" t="-4918" r="-129310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Classe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991001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0183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08341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3769174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F1DBDD6E-E58A-CD65-CF92-A34E0EF670B9}"/>
                  </a:ext>
                </a:extLst>
              </p:cNvPr>
              <p:cNvSpPr txBox="1"/>
              <p:nvPr/>
            </p:nvSpPr>
            <p:spPr>
              <a:xfrm>
                <a:off x="3275856" y="3701350"/>
                <a:ext cx="5760640" cy="18158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𝑌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=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𝛽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0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+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𝛽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𝑋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+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𝛽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𝑊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1</m:t>
                          </m:r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+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𝛽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𝑋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𝑊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1</m:t>
                          </m:r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+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𝜉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b="0" i="0" dirty="0">
                  <a:latin typeface="Tahoma" panose="020B0604030504040204" pitchFamily="34" charset="0"/>
                </a:endParaRPr>
              </a:p>
              <a:p>
                <a:pPr eaLnBrk="1" hangingPunct="1">
                  <a:buFontTx/>
                  <a:buNone/>
                </a:pPr>
                <a:endParaRPr lang="pt-BR" altLang="pt-BR" sz="1600" b="0" i="0" dirty="0">
                  <a:latin typeface="Tahoma" panose="020B0604030504040204" pitchFamily="34" charset="0"/>
                </a:endParaRPr>
              </a:p>
              <a:p>
                <a:pPr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Classe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: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buFontTx/>
                  <a:buNone/>
                </a:pPr>
                <a:endParaRPr lang="pt-BR" altLang="pt-BR" dirty="0">
                  <a:latin typeface="Tahoma" panose="020B060403050404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Classe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B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: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kern="12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1600" b="0" i="1" kern="12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kern="12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Classe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: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)+(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F1DBDD6E-E58A-CD65-CF92-A34E0EF67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856" y="3701350"/>
                <a:ext cx="5760640" cy="1815882"/>
              </a:xfrm>
              <a:prstGeom prst="rect">
                <a:avLst/>
              </a:prstGeom>
              <a:blipFill>
                <a:blip r:embed="rId4"/>
                <a:stretch>
                  <a:fillRect b="-16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2618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1E4E3290-E570-F1F9-AD0B-886292E30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675" y="1824442"/>
            <a:ext cx="3287200" cy="2520000"/>
          </a:xfrm>
          <a:prstGeom prst="rect">
            <a:avLst/>
          </a:prstGeom>
        </p:spPr>
      </p:pic>
      <p:pic>
        <p:nvPicPr>
          <p:cNvPr id="26" name="Imagem 25">
            <a:extLst>
              <a:ext uri="{FF2B5EF4-FFF2-40B4-BE49-F238E27FC236}">
                <a16:creationId xmlns:a16="http://schemas.microsoft.com/office/drawing/2014/main" id="{E34490C7-582F-8166-643D-2BCDBE5DE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675" y="1824442"/>
            <a:ext cx="3287200" cy="2520000"/>
          </a:xfrm>
          <a:prstGeom prst="rect">
            <a:avLst/>
          </a:prstGeom>
        </p:spPr>
      </p:pic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Variável Categórica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21FC86-08EB-43E7-95AF-571782B6A6FC}" type="slidenum">
              <a:rPr lang="pt-BR"/>
              <a:pPr>
                <a:defRPr/>
              </a:pPr>
              <a:t>61</a:t>
            </a:fld>
            <a:endParaRPr lang="pt-BR"/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2B785813-F5B5-B5D6-65AF-CA6CEAB06B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0324414"/>
              </p:ext>
            </p:extLst>
          </p:nvPr>
        </p:nvGraphicFramePr>
        <p:xfrm>
          <a:off x="323528" y="1484784"/>
          <a:ext cx="1828800" cy="43815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91853033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14937217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1990568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4463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294528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41,98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6437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18,95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206438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64,07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24,60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2746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5958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45,58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15860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58,38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21,38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8582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98755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17,35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967185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72,26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20,97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37097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46,38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14,09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6885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42991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41,69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12,53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0167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77,42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72365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83,79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24,83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091732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13,17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38688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52,63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9493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49,82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61356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44,5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7449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62,79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31432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48,27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3583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42,39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9863810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5F48AFBB-D193-0580-A8CF-569B849671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264125"/>
              </p:ext>
            </p:extLst>
          </p:nvPr>
        </p:nvGraphicFramePr>
        <p:xfrm>
          <a:off x="2152328" y="1484784"/>
          <a:ext cx="2438400" cy="43815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53483993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89927665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77861811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79395196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08322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97387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1896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38910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187523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10125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07349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9396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17,35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3234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20,97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0329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14,09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41334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990457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12,53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02864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089435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24,83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664026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13,17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13,17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063703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63213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15756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87555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4541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653924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763752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8A00A86B-CD2B-C783-5EDE-4BC942CDAD9F}"/>
                  </a:ext>
                </a:extLst>
              </p:cNvPr>
              <p:cNvSpPr txBox="1"/>
              <p:nvPr/>
            </p:nvSpPr>
            <p:spPr>
              <a:xfrm>
                <a:off x="4763094" y="1470695"/>
                <a:ext cx="420139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8A00A86B-CD2B-C783-5EDE-4BC942CDA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3094" y="1470695"/>
                <a:ext cx="4201393" cy="276999"/>
              </a:xfrm>
              <a:prstGeom prst="rect">
                <a:avLst/>
              </a:prstGeom>
              <a:blipFill>
                <a:blip r:embed="rId4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4" name="Tabela 13">
            <a:extLst>
              <a:ext uri="{FF2B5EF4-FFF2-40B4-BE49-F238E27FC236}">
                <a16:creationId xmlns:a16="http://schemas.microsoft.com/office/drawing/2014/main" id="{BABE41BA-DA7A-36BC-DBA4-B51AEF029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056867"/>
              </p:ext>
            </p:extLst>
          </p:nvPr>
        </p:nvGraphicFramePr>
        <p:xfrm>
          <a:off x="5031754" y="4138757"/>
          <a:ext cx="3384376" cy="971550"/>
        </p:xfrm>
        <a:graphic>
          <a:graphicData uri="http://schemas.openxmlformats.org/drawingml/2006/table">
            <a:tbl>
              <a:tblPr/>
              <a:tblGrid>
                <a:gridCol w="624071">
                  <a:extLst>
                    <a:ext uri="{9D8B030D-6E8A-4147-A177-3AD203B41FA5}">
                      <a16:colId xmlns:a16="http://schemas.microsoft.com/office/drawing/2014/main" val="3303130169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3095921303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3713098706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428978137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3616670228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2459258828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7388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3306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3160,54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632,11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834,31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9,56E-19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46840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12,12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0,7576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65690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3172,66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131786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ela 14">
                <a:extLst>
                  <a:ext uri="{FF2B5EF4-FFF2-40B4-BE49-F238E27FC236}">
                    <a16:creationId xmlns:a16="http://schemas.microsoft.com/office/drawing/2014/main" id="{15A2B26C-23D8-7BEF-CE09-B22C0F4216F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932831"/>
                  </p:ext>
                </p:extLst>
              </p:nvPr>
            </p:nvGraphicFramePr>
            <p:xfrm>
              <a:off x="5031754" y="5229200"/>
              <a:ext cx="3083496" cy="1497330"/>
            </p:xfrm>
            <a:graphic>
              <a:graphicData uri="http://schemas.openxmlformats.org/drawingml/2006/table">
                <a:tbl>
                  <a:tblPr/>
                  <a:tblGrid>
                    <a:gridCol w="645096">
                      <a:extLst>
                        <a:ext uri="{9D8B030D-6E8A-4147-A177-3AD203B41FA5}">
                          <a16:colId xmlns:a16="http://schemas.microsoft.com/office/drawing/2014/main" val="2812098504"/>
                        </a:ext>
                      </a:extLst>
                    </a:gridCol>
                    <a:gridCol w="705619">
                      <a:extLst>
                        <a:ext uri="{9D8B030D-6E8A-4147-A177-3AD203B41FA5}">
                          <a16:colId xmlns:a16="http://schemas.microsoft.com/office/drawing/2014/main" val="1135360606"/>
                        </a:ext>
                      </a:extLst>
                    </a:gridCol>
                    <a:gridCol w="513581">
                      <a:extLst>
                        <a:ext uri="{9D8B030D-6E8A-4147-A177-3AD203B41FA5}">
                          <a16:colId xmlns:a16="http://schemas.microsoft.com/office/drawing/2014/main" val="334988924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42514837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89144721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022197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17,06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14,82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9,15E-11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091723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1,92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0,06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30,44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1,36E-15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5012229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80,27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2,01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40,01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1,81E-17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6025764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-17,71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1,85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-9,58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5,01E-08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9085527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-4,98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-46,65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1,59E-18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8050091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1,50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15,16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6,54E-11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84759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ela 14">
                <a:extLst>
                  <a:ext uri="{FF2B5EF4-FFF2-40B4-BE49-F238E27FC236}">
                    <a16:creationId xmlns:a16="http://schemas.microsoft.com/office/drawing/2014/main" id="{15A2B26C-23D8-7BEF-CE09-B22C0F4216F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932831"/>
                  </p:ext>
                </p:extLst>
              </p:nvPr>
            </p:nvGraphicFramePr>
            <p:xfrm>
              <a:off x="5031754" y="5229200"/>
              <a:ext cx="3083496" cy="1497330"/>
            </p:xfrm>
            <a:graphic>
              <a:graphicData uri="http://schemas.openxmlformats.org/drawingml/2006/table">
                <a:tbl>
                  <a:tblPr/>
                  <a:tblGrid>
                    <a:gridCol w="645096">
                      <a:extLst>
                        <a:ext uri="{9D8B030D-6E8A-4147-A177-3AD203B41FA5}">
                          <a16:colId xmlns:a16="http://schemas.microsoft.com/office/drawing/2014/main" val="2812098504"/>
                        </a:ext>
                      </a:extLst>
                    </a:gridCol>
                    <a:gridCol w="705619">
                      <a:extLst>
                        <a:ext uri="{9D8B030D-6E8A-4147-A177-3AD203B41FA5}">
                          <a16:colId xmlns:a16="http://schemas.microsoft.com/office/drawing/2014/main" val="1135360606"/>
                        </a:ext>
                      </a:extLst>
                    </a:gridCol>
                    <a:gridCol w="513581">
                      <a:extLst>
                        <a:ext uri="{9D8B030D-6E8A-4147-A177-3AD203B41FA5}">
                          <a16:colId xmlns:a16="http://schemas.microsoft.com/office/drawing/2014/main" val="334988924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42514837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89144721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022197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17,06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14,82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9,15E-11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091723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293750" r="-379245" b="-43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1,92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0,06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30,44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1,36E-15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5012229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406452" r="-379245" b="-3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80,27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2,01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40,01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1,81E-17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6025764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490625" r="-379245" b="-24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-17,71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1,85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-9,58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5,01E-08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9085527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609677" r="-379245" b="-1483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-4,98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-46,65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1,59E-18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8050091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666667" r="-379245" b="-393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1,50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15,16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6,54E-11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8475942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8" name="Grupo 15">
            <a:extLst>
              <a:ext uri="{FF2B5EF4-FFF2-40B4-BE49-F238E27FC236}">
                <a16:creationId xmlns:a16="http://schemas.microsoft.com/office/drawing/2014/main" id="{07DEBE1B-AF89-6919-2403-D0135C52343E}"/>
              </a:ext>
            </a:extLst>
          </p:cNvPr>
          <p:cNvGrpSpPr>
            <a:grpSpLocks/>
          </p:cNvGrpSpPr>
          <p:nvPr/>
        </p:nvGrpSpPr>
        <p:grpSpPr bwMode="auto">
          <a:xfrm>
            <a:off x="7787323" y="4530732"/>
            <a:ext cx="1295903" cy="626456"/>
            <a:chOff x="5426075" y="4724400"/>
            <a:chExt cx="1295348" cy="627172"/>
          </a:xfrm>
        </p:grpSpPr>
        <p:sp>
          <p:nvSpPr>
            <p:cNvPr id="19" name="Elipse 9">
              <a:extLst>
                <a:ext uri="{FF2B5EF4-FFF2-40B4-BE49-F238E27FC236}">
                  <a16:creationId xmlns:a16="http://schemas.microsoft.com/office/drawing/2014/main" id="{D21C4DA3-9B38-ECE0-D58F-50CDF9C518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6075" y="4724400"/>
              <a:ext cx="684213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" name="Retângulo 11">
              <a:extLst>
                <a:ext uri="{FF2B5EF4-FFF2-40B4-BE49-F238E27FC236}">
                  <a16:creationId xmlns:a16="http://schemas.microsoft.com/office/drawing/2014/main" id="{1DB446EA-9AA3-3296-2329-16A9DFB582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0986" y="4920193"/>
              <a:ext cx="910437" cy="4313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altamente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significativo</a:t>
              </a:r>
            </a:p>
          </p:txBody>
        </p:sp>
      </p:grpSp>
      <p:sp>
        <p:nvSpPr>
          <p:cNvPr id="22" name="Elipse 9">
            <a:extLst>
              <a:ext uri="{FF2B5EF4-FFF2-40B4-BE49-F238E27FC236}">
                <a16:creationId xmlns:a16="http://schemas.microsoft.com/office/drawing/2014/main" id="{DAA6C0A2-5FFC-1DF4-16F5-129CAC7025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0787" y="5519997"/>
            <a:ext cx="864096" cy="1268276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384A0-A93B-4F59-5676-58AA458EA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1EBE1CE0-72CA-B7E5-FD61-841DD3BEF8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  <a:endParaRPr lang="pt-BR" dirty="0">
              <a:highlight>
                <a:srgbClr val="FFFF00"/>
              </a:highlight>
            </a:endParaRPr>
          </a:p>
        </p:txBody>
      </p:sp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5256C124-CF74-664D-2E09-89D853579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941085"/>
              </p:ext>
            </p:extLst>
          </p:nvPr>
        </p:nvGraphicFramePr>
        <p:xfrm>
          <a:off x="755576" y="2658364"/>
          <a:ext cx="2679700" cy="2808288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350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Região A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chemeClr val="accent6"/>
                          </a:solidFill>
                          <a:effectLst/>
                          <a:latin typeface="Tahoma" panose="020B0604030504040204" pitchFamily="34" charset="0"/>
                        </a:rPr>
                        <a:t>Região B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3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11,40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0,75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4,17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0,09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17,69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2,47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8,92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1,53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27,48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4,39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16,23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3,19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32,65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6,19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23,28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5,13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39,46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7,38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34,33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6,97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39,73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8,47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35,93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8,11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48,76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9,94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44,53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9,53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53,30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11,14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48,57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11,08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60,71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12,95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53,37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12,36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65,65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14,75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58,11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13,64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63,21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14,30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64,67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14,96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4" name="Gráfico 10">
            <a:extLst>
              <a:ext uri="{FF2B5EF4-FFF2-40B4-BE49-F238E27FC236}">
                <a16:creationId xmlns:a16="http://schemas.microsoft.com/office/drawing/2014/main" id="{7FC872F2-4593-F48B-7776-5C2CE153C4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5915174"/>
              </p:ext>
            </p:extLst>
          </p:nvPr>
        </p:nvGraphicFramePr>
        <p:xfrm>
          <a:off x="3581400" y="2284941"/>
          <a:ext cx="5014913" cy="3867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4905" name="Objeto 6">
            <a:extLst>
              <a:ext uri="{FF2B5EF4-FFF2-40B4-BE49-F238E27FC236}">
                <a16:creationId xmlns:a16="http://schemas.microsoft.com/office/drawing/2014/main" id="{18F3B684-C9AC-EDA9-E979-E5668CE01D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69810928"/>
              </p:ext>
            </p:extLst>
          </p:nvPr>
        </p:nvGraphicFramePr>
        <p:xfrm>
          <a:off x="6450013" y="4683653"/>
          <a:ext cx="217328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447560" imgH="228600" progId="Equation.DSMT4">
                  <p:embed/>
                </p:oleObj>
              </mc:Choice>
              <mc:Fallback>
                <p:oleObj name="Equation" r:id="rId3" imgW="1447560" imgH="228600" progId="Equation.DSMT4">
                  <p:embed/>
                  <p:pic>
                    <p:nvPicPr>
                      <p:cNvPr id="34905" name="Objeto 6">
                        <a:extLst>
                          <a:ext uri="{FF2B5EF4-FFF2-40B4-BE49-F238E27FC236}">
                            <a16:creationId xmlns:a16="http://schemas.microsoft.com/office/drawing/2014/main" id="{18F3B684-C9AC-EDA9-E979-E5668CE01D46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50013" y="4683653"/>
                        <a:ext cx="217328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06" name="Objeto 7">
            <a:extLst>
              <a:ext uri="{FF2B5EF4-FFF2-40B4-BE49-F238E27FC236}">
                <a16:creationId xmlns:a16="http://schemas.microsoft.com/office/drawing/2014/main" id="{67A80668-F21B-1651-B5A9-8DA888B44D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62117703"/>
              </p:ext>
            </p:extLst>
          </p:nvPr>
        </p:nvGraphicFramePr>
        <p:xfrm>
          <a:off x="6477000" y="5044016"/>
          <a:ext cx="2154238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434960" imgH="228600" progId="Equation.DSMT4">
                  <p:embed/>
                </p:oleObj>
              </mc:Choice>
              <mc:Fallback>
                <p:oleObj name="Equation" r:id="rId5" imgW="1434960" imgH="228600" progId="Equation.DSMT4">
                  <p:embed/>
                  <p:pic>
                    <p:nvPicPr>
                      <p:cNvPr id="34906" name="Objeto 7">
                        <a:extLst>
                          <a:ext uri="{FF2B5EF4-FFF2-40B4-BE49-F238E27FC236}">
                            <a16:creationId xmlns:a16="http://schemas.microsoft.com/office/drawing/2014/main" id="{67A80668-F21B-1651-B5A9-8DA888B44D2D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77000" y="5044016"/>
                        <a:ext cx="2154238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>
            <a:extLst>
              <a:ext uri="{FF2B5EF4-FFF2-40B4-BE49-F238E27FC236}">
                <a16:creationId xmlns:a16="http://schemas.microsoft.com/office/drawing/2014/main" id="{C65D2FFA-9D57-82B3-4864-296A259B02C5}"/>
              </a:ext>
            </a:extLst>
          </p:cNvPr>
          <p:cNvSpPr/>
          <p:nvPr/>
        </p:nvSpPr>
        <p:spPr bwMode="auto">
          <a:xfrm>
            <a:off x="450850" y="6330806"/>
            <a:ext cx="8064500" cy="338554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>
              <a:spcBef>
                <a:spcPct val="20000"/>
              </a:spcBef>
              <a:defRPr/>
            </a:pP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Para que ambas regressões sejam a mesma: 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  <a:sym typeface="Symbol"/>
              </a:rPr>
              <a:t></a:t>
            </a:r>
            <a:r>
              <a:rPr lang="pt-BR" altLang="pt-BR" i="1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A</a:t>
            </a:r>
            <a:r>
              <a:rPr lang="pt-BR" altLang="pt-BR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altLang="pt-BR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i="1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B</a:t>
            </a:r>
            <a:r>
              <a:rPr lang="pt-BR" altLang="pt-BR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  <a:sym typeface="Symbol"/>
              </a:rPr>
              <a:t> </a:t>
            </a: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  <a:sym typeface="Symbol"/>
              </a:rPr>
              <a:t>e 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i="1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A</a:t>
            </a:r>
            <a:r>
              <a:rPr lang="pt-BR" altLang="pt-BR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r>
              <a:rPr lang="pt-BR" altLang="pt-BR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i="1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B</a:t>
            </a:r>
            <a:r>
              <a:rPr lang="pt-BR" altLang="pt-BR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endParaRPr lang="pt-BR" altLang="pt-BR" kern="0" dirty="0">
              <a:solidFill>
                <a:srgbClr val="000000"/>
              </a:solidFill>
              <a:latin typeface="Tahoma" panose="020B0604030504040204" pitchFamily="34" charset="0"/>
              <a:cs typeface="+mn-cs"/>
            </a:endParaRP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F1E0AF4-4F0E-F968-8067-1DE58BD65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99F43D-57B3-4E2C-AF28-2A0E52581706}" type="slidenum">
              <a:rPr lang="pt-BR"/>
              <a:pPr>
                <a:defRPr/>
              </a:pPr>
              <a:t>62</a:t>
            </a:fld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93F5BE7-87EC-2594-9281-C674DE8E1B3D}"/>
              </a:ext>
            </a:extLst>
          </p:cNvPr>
          <p:cNvSpPr/>
          <p:nvPr/>
        </p:nvSpPr>
        <p:spPr>
          <a:xfrm>
            <a:off x="4606777" y="5877272"/>
            <a:ext cx="35083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400" dirty="0">
                <a:latin typeface="Tahoma" panose="020B0604030504040204" pitchFamily="34" charset="0"/>
              </a:rPr>
              <a:t>as relações parecem ser mesmo lineares! 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8BBE3CD1-C956-E950-03C6-10718775F437}"/>
              </a:ext>
            </a:extLst>
          </p:cNvPr>
          <p:cNvGrpSpPr/>
          <p:nvPr/>
        </p:nvGrpSpPr>
        <p:grpSpPr>
          <a:xfrm>
            <a:off x="3581400" y="2284941"/>
            <a:ext cx="5099684" cy="3860800"/>
            <a:chOff x="3581400" y="1903413"/>
            <a:chExt cx="5099684" cy="3860800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2" name="Gráfico 12">
                  <a:extLst>
                    <a:ext uri="{FF2B5EF4-FFF2-40B4-BE49-F238E27FC236}">
                      <a16:creationId xmlns:a16="http://schemas.microsoft.com/office/drawing/2014/main" id="{953C9DE5-43B8-525C-F7C0-07F05A845554}"/>
                    </a:ext>
                  </a:extLst>
                </p:cNvPr>
                <p:cNvGraphicFramePr>
                  <a:graphicFrameLocks/>
                </p:cNvGraphicFramePr>
                <p:nvPr/>
              </p:nvGraphicFramePr>
              <p:xfrm>
                <a:off x="3581400" y="1903413"/>
                <a:ext cx="5013325" cy="3860800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7"/>
                </a:graphicData>
              </a:graphic>
            </p:graphicFrame>
          </mc:Choice>
          <mc:Fallback xmlns="">
            <p:graphicFrame>
              <p:nvGraphicFramePr>
                <p:cNvPr id="2" name="Gráfico 12">
                  <a:extLst>
                    <a:ext uri="{FF2B5EF4-FFF2-40B4-BE49-F238E27FC236}">
                      <a16:creationId xmlns:a16="http://schemas.microsoft.com/office/drawing/2014/main" id="{953C9DE5-43B8-525C-F7C0-07F05A845554}"/>
                    </a:ext>
                  </a:extLst>
                </p:cNvPr>
                <p:cNvGraphicFramePr>
                  <a:graphicFrameLocks/>
                </p:cNvGraphicFramePr>
                <p:nvPr/>
              </p:nvGraphicFramePr>
              <p:xfrm>
                <a:off x="3581400" y="1903413"/>
                <a:ext cx="5013325" cy="3860800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8"/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7E4F0AA7-26B1-D219-E1EF-0B0E69F00CC1}"/>
                    </a:ext>
                  </a:extLst>
                </p:cNvPr>
                <p:cNvSpPr/>
                <p:nvPr/>
              </p:nvSpPr>
              <p:spPr>
                <a:xfrm>
                  <a:off x="5229944" y="2420888"/>
                  <a:ext cx="1280094" cy="651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fontAlgn="b"/>
                  <a:r>
                    <a:rPr lang="pt-BR" sz="1200" dirty="0">
                      <a:solidFill>
                        <a:srgbClr val="FF0000"/>
                      </a:solidFill>
                      <a:latin typeface="Tahoma" panose="020B0604030504040204" pitchFamily="34" charset="0"/>
                    </a:rPr>
                    <a:t>Região A</a:t>
                  </a: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pt-BR" sz="1200" b="0" i="1" dirty="0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pt-BR" sz="1200" b="0" i="0" dirty="0" smtClean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3,94</m:t>
                        </m:r>
                        <m:r>
                          <m:rPr>
                            <m:nor/>
                          </m:rPr>
                          <a:rPr lang="pt-BR" sz="1200" i="1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+ </m:t>
                        </m:r>
                        <m:r>
                          <m:rPr>
                            <m:nor/>
                          </m:rPr>
                          <a:rPr lang="pt-BR" sz="1200" b="0" i="0" dirty="0" smtClean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8,77</m:t>
                        </m:r>
                      </m:oMath>
                    </m:oMathPara>
                  </a14:m>
                  <a:endParaRPr lang="pt-BR" sz="1200" b="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1200" b="0" i="1" smtClean="0">
                            <a:solidFill>
                              <a:srgbClr val="FF0000"/>
                            </a:solidFill>
                            <a:latin typeface="Cambria Math"/>
                            <a:cs typeface="Times New Roman" panose="02020603050405020304" pitchFamily="18" charset="0"/>
                          </a:rPr>
                          <m:t>=0,995</m:t>
                        </m:r>
                      </m:oMath>
                    </m:oMathPara>
                  </a14:m>
                  <a:endParaRPr lang="pt-BR" sz="1200" b="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7E4F0AA7-26B1-D219-E1EF-0B0E69F00CC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9944" y="2420888"/>
                  <a:ext cx="1280094" cy="651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tângulo 11">
                  <a:extLst>
                    <a:ext uri="{FF2B5EF4-FFF2-40B4-BE49-F238E27FC236}">
                      <a16:creationId xmlns:a16="http://schemas.microsoft.com/office/drawing/2014/main" id="{7D8526A8-392C-F839-D95E-8CBA087471C2}"/>
                    </a:ext>
                  </a:extLst>
                </p:cNvPr>
                <p:cNvSpPr/>
                <p:nvPr/>
              </p:nvSpPr>
              <p:spPr>
                <a:xfrm>
                  <a:off x="7400990" y="3284984"/>
                  <a:ext cx="1280094" cy="651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fontAlgn="b"/>
                  <a:r>
                    <a:rPr lang="pt-BR" sz="1200" dirty="0">
                      <a:solidFill>
                        <a:schemeClr val="accent6"/>
                      </a:solidFill>
                      <a:latin typeface="Tahoma" panose="020B0604030504040204" pitchFamily="34" charset="0"/>
                    </a:rPr>
                    <a:t>Região B</a:t>
                  </a: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200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pt-BR" sz="1200" b="0" i="1" dirty="0" smtClean="0">
                                <a:solidFill>
                                  <a:schemeClr val="accent6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pt-BR" sz="1200" b="0" i="0" dirty="0" smtClean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4,1</m:t>
                        </m:r>
                        <m:r>
                          <m:rPr>
                            <m:nor/>
                          </m:rPr>
                          <a:rPr lang="pt-BR" sz="1200" b="0" dirty="0" smtClean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  <m:r>
                          <m:rPr>
                            <m:nor/>
                          </m:rPr>
                          <a:rPr lang="pt-BR" sz="1200" i="1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+ 3,</m:t>
                        </m:r>
                        <m:r>
                          <m:rPr>
                            <m:nor/>
                          </m:rPr>
                          <a:rPr lang="pt-BR" sz="1200" b="0" i="0" dirty="0" smtClean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39</m:t>
                        </m:r>
                      </m:oMath>
                    </m:oMathPara>
                  </a14:m>
                  <a:endParaRPr lang="pt-BR" sz="1200" b="0" dirty="0">
                    <a:solidFill>
                      <a:schemeClr val="accent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sz="1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pt-BR" sz="1200" b="0" i="1" smtClean="0">
                                <a:solidFill>
                                  <a:schemeClr val="accent6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pt-BR" sz="1200" b="0" i="1" smtClean="0">
                                <a:solidFill>
                                  <a:schemeClr val="accent6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1200" b="0" i="1" smtClean="0">
                            <a:solidFill>
                              <a:schemeClr val="accent6"/>
                            </a:solidFill>
                            <a:latin typeface="Cambria Math"/>
                            <a:cs typeface="Times New Roman" panose="02020603050405020304" pitchFamily="18" charset="0"/>
                          </a:rPr>
                          <m:t>=0,997</m:t>
                        </m:r>
                      </m:oMath>
                    </m:oMathPara>
                  </a14:m>
                  <a:endParaRPr lang="pt-BR" sz="1200" dirty="0">
                    <a:solidFill>
                      <a:schemeClr val="accent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" name="Retângulo 11">
                  <a:extLst>
                    <a:ext uri="{FF2B5EF4-FFF2-40B4-BE49-F238E27FC236}">
                      <a16:creationId xmlns:a16="http://schemas.microsoft.com/office/drawing/2014/main" id="{7D8526A8-392C-F839-D95E-8CBA087471C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00990" y="3284984"/>
                  <a:ext cx="1280094" cy="651332"/>
                </a:xfrm>
                <a:prstGeom prst="rect">
                  <a:avLst/>
                </a:prstGeom>
                <a:blipFill>
                  <a:blip r:embed="rId10"/>
                  <a:stretch>
                    <a:fillRect t="-9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Rectangle 9">
            <a:extLst>
              <a:ext uri="{FF2B5EF4-FFF2-40B4-BE49-F238E27FC236}">
                <a16:creationId xmlns:a16="http://schemas.microsoft.com/office/drawing/2014/main" id="{844F88B7-A106-CA88-3426-03E9B2F4796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9750" y="1340768"/>
            <a:ext cx="8280400" cy="763588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Suponha que temos 2 modelos ajustados para 2 regiões distintas</a:t>
            </a:r>
          </a:p>
          <a:p>
            <a:pPr eaLnBrk="1" hangingPunct="1">
              <a:buFontTx/>
              <a:buNone/>
            </a:pPr>
            <a:r>
              <a:rPr lang="pt-BR" altLang="pt-BR" sz="1600" dirty="0"/>
              <a:t>Como saber se os parâmetros de ambos os modelos são iguais, ou seja, se ambas as regiões possuem o mesmo modelo?</a:t>
            </a:r>
          </a:p>
        </p:txBody>
      </p:sp>
    </p:spTree>
    <p:extLst>
      <p:ext uri="{BB962C8B-B14F-4D97-AF65-F5344CB8AC3E}">
        <p14:creationId xmlns:p14="http://schemas.microsoft.com/office/powerpoint/2010/main" val="2802904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3" grpId="0"/>
      <p:bldP spid="10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EAAF3-2572-8515-5FEA-276ECE451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D72D2997-2D26-9A78-65F4-20B20B1C763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2D39F6A5-C785-61C0-0CE1-4B271CB865E5}"/>
              </a:ext>
            </a:extLst>
          </p:cNvPr>
          <p:cNvGraphicFramePr>
            <a:graphicFrameLocks noGrp="1"/>
          </p:cNvGraphicFramePr>
          <p:nvPr/>
        </p:nvGraphicFramePr>
        <p:xfrm>
          <a:off x="468313" y="1989138"/>
          <a:ext cx="1219200" cy="4419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9,94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35897" name="Objeto 5">
            <a:extLst>
              <a:ext uri="{FF2B5EF4-FFF2-40B4-BE49-F238E27FC236}">
                <a16:creationId xmlns:a16="http://schemas.microsoft.com/office/drawing/2014/main" id="{8D6AE66C-8C0E-CA8D-C087-3D93B46823C1}"/>
              </a:ext>
            </a:extLst>
          </p:cNvPr>
          <p:cNvGraphicFramePr>
            <a:graphicFrameLocks/>
          </p:cNvGraphicFramePr>
          <p:nvPr/>
        </p:nvGraphicFramePr>
        <p:xfrm>
          <a:off x="3994150" y="3617913"/>
          <a:ext cx="32416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159000" imgH="228600" progId="Equation.3">
                  <p:embed/>
                </p:oleObj>
              </mc:Choice>
              <mc:Fallback>
                <p:oleObj name="Equação" r:id="rId2" imgW="2159000" imgH="228600" progId="Equation.3">
                  <p:embed/>
                  <p:pic>
                    <p:nvPicPr>
                      <p:cNvPr id="35897" name="Objeto 5">
                        <a:extLst>
                          <a:ext uri="{FF2B5EF4-FFF2-40B4-BE49-F238E27FC236}">
                            <a16:creationId xmlns:a16="http://schemas.microsoft.com/office/drawing/2014/main" id="{8D6AE66C-8C0E-CA8D-C087-3D93B46823C1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94150" y="3617913"/>
                        <a:ext cx="324167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3B0F23B5-CD43-1318-8110-D08700419F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19475" y="2060575"/>
            <a:ext cx="5040313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Define-se uma nova variável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pt-BR" altLang="pt-BR" sz="1600" kern="0" dirty="0">
                <a:latin typeface="Tahoma" panose="020B0604030504040204" pitchFamily="34" charset="0"/>
              </a:rPr>
              <a:t>:</a:t>
            </a:r>
          </a:p>
        </p:txBody>
      </p:sp>
      <p:grpSp>
        <p:nvGrpSpPr>
          <p:cNvPr id="35899" name="Grupo 6">
            <a:extLst>
              <a:ext uri="{FF2B5EF4-FFF2-40B4-BE49-F238E27FC236}">
                <a16:creationId xmlns:a16="http://schemas.microsoft.com/office/drawing/2014/main" id="{5F795F18-F641-F9C4-2AAD-4B0BA75E53E2}"/>
              </a:ext>
            </a:extLst>
          </p:cNvPr>
          <p:cNvGrpSpPr>
            <a:grpSpLocks/>
          </p:cNvGrpSpPr>
          <p:nvPr/>
        </p:nvGrpSpPr>
        <p:grpSpPr bwMode="auto">
          <a:xfrm>
            <a:off x="3779838" y="2700645"/>
            <a:ext cx="3950362" cy="731840"/>
            <a:chOff x="3779912" y="2990267"/>
            <a:chExt cx="3950556" cy="730843"/>
          </a:xfrm>
        </p:grpSpPr>
        <p:graphicFrame>
          <p:nvGraphicFramePr>
            <p:cNvPr id="43149" name="Objeto 10">
              <a:extLst>
                <a:ext uri="{FF2B5EF4-FFF2-40B4-BE49-F238E27FC236}">
                  <a16:creationId xmlns:a16="http://schemas.microsoft.com/office/drawing/2014/main" id="{D9F545C5-F07E-409F-89C0-AD39110EBC2C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3779912" y="2996952"/>
            <a:ext cx="742950" cy="685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4" imgW="495085" imgH="457002" progId="Equation.3">
                    <p:embed/>
                  </p:oleObj>
                </mc:Choice>
                <mc:Fallback>
                  <p:oleObj name="Equação" r:id="rId4" imgW="495085" imgH="457002" progId="Equation.3">
                    <p:embed/>
                    <p:pic>
                      <p:nvPicPr>
                        <p:cNvPr id="43149" name="Objeto 10">
                          <a:extLst>
                            <a:ext uri="{FF2B5EF4-FFF2-40B4-BE49-F238E27FC236}">
                              <a16:creationId xmlns:a16="http://schemas.microsoft.com/office/drawing/2014/main" id="{D9F545C5-F07E-409F-89C0-AD39110EBC2C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79912" y="2996952"/>
                          <a:ext cx="742950" cy="6858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" name="Rectangle 9">
              <a:extLst>
                <a:ext uri="{FF2B5EF4-FFF2-40B4-BE49-F238E27FC236}">
                  <a16:creationId xmlns:a16="http://schemas.microsoft.com/office/drawing/2014/main" id="{04FB19F1-D7E7-A120-6664-3A87280A8D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0221" y="2990267"/>
              <a:ext cx="3240247" cy="3820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8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400">
                  <a:solidFill>
                    <a:schemeClr val="tx1"/>
                  </a:solidFill>
                  <a:latin typeface="+mn-lt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+mn-lt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9pPr>
            </a:lstStyle>
            <a:p>
              <a:pPr eaLnBrk="1" hangingPunct="1">
                <a:buFontTx/>
                <a:buNone/>
                <a:defRPr/>
              </a:pPr>
              <a:r>
                <a:rPr lang="pt-BR" altLang="pt-BR" sz="1600" kern="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kern="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pt-BR" altLang="pt-BR" sz="1600" kern="0" dirty="0">
                  <a:latin typeface="Tahoma" panose="020B0604030504040204" pitchFamily="34" charset="0"/>
                </a:rPr>
                <a:t> pertencer a Região A</a:t>
              </a:r>
            </a:p>
          </p:txBody>
        </p:sp>
        <p:sp>
          <p:nvSpPr>
            <p:cNvPr id="13" name="Rectangle 9">
              <a:extLst>
                <a:ext uri="{FF2B5EF4-FFF2-40B4-BE49-F238E27FC236}">
                  <a16:creationId xmlns:a16="http://schemas.microsoft.com/office/drawing/2014/main" id="{71F82C03-19CB-587A-53BB-825D9C4756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0221" y="3339043"/>
              <a:ext cx="3240247" cy="3820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8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400">
                  <a:solidFill>
                    <a:schemeClr val="tx1"/>
                  </a:solidFill>
                  <a:latin typeface="+mn-lt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+mn-lt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9pPr>
            </a:lstStyle>
            <a:p>
              <a:pPr eaLnBrk="1" hangingPunct="1">
                <a:buFontTx/>
                <a:buNone/>
                <a:defRPr/>
              </a:pPr>
              <a:r>
                <a:rPr lang="pt-BR" altLang="pt-BR" sz="1600" kern="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kern="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pt-BR" altLang="pt-BR" sz="1600" kern="0" dirty="0">
                  <a:latin typeface="Tahoma" panose="020B0604030504040204" pitchFamily="34" charset="0"/>
                </a:rPr>
                <a:t> pertencer a Região B</a:t>
              </a:r>
            </a:p>
          </p:txBody>
        </p:sp>
      </p:grpSp>
      <p:sp>
        <p:nvSpPr>
          <p:cNvPr id="9" name="Retângulo 8">
            <a:extLst>
              <a:ext uri="{FF2B5EF4-FFF2-40B4-BE49-F238E27FC236}">
                <a16:creationId xmlns:a16="http://schemas.microsoft.com/office/drawing/2014/main" id="{B06B2C70-A471-2A58-C935-ECE1E6AA0A5A}"/>
              </a:ext>
            </a:extLst>
          </p:cNvPr>
          <p:cNvSpPr/>
          <p:nvPr/>
        </p:nvSpPr>
        <p:spPr>
          <a:xfrm>
            <a:off x="3492500" y="4173538"/>
            <a:ext cx="229902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</a:rPr>
              <a:t>Para Região A (</a:t>
            </a:r>
            <a:r>
              <a:rPr lang="pt-BR" altLang="pt-BR" i="1" kern="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pt-BR" altLang="pt-BR" i="1" kern="0" baseline="-250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0</a:t>
            </a: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</a:rPr>
              <a:t>):</a:t>
            </a:r>
            <a:endParaRPr lang="pt-BR" sz="1200" dirty="0">
              <a:latin typeface="Tahoma" panose="020B0604030504040204" pitchFamily="34" charset="0"/>
            </a:endParaRP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02DDD27F-B617-3173-29DE-FC2AFFA164EA}"/>
              </a:ext>
            </a:extLst>
          </p:cNvPr>
          <p:cNvSpPr/>
          <p:nvPr/>
        </p:nvSpPr>
        <p:spPr>
          <a:xfrm>
            <a:off x="3492500" y="5311775"/>
            <a:ext cx="227818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</a:rPr>
              <a:t>Para Região B (</a:t>
            </a:r>
            <a:r>
              <a:rPr lang="pt-BR" altLang="pt-BR" i="1" kern="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pt-BR" altLang="pt-BR" i="1" kern="0" baseline="-250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</a:t>
            </a: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</a:rPr>
              <a:t>):</a:t>
            </a:r>
            <a:endParaRPr 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35902" name="Objeto 17">
            <a:extLst>
              <a:ext uri="{FF2B5EF4-FFF2-40B4-BE49-F238E27FC236}">
                <a16:creationId xmlns:a16="http://schemas.microsoft.com/office/drawing/2014/main" id="{EC6AFEA6-62B1-E851-1ACF-E6408F0CC0C7}"/>
              </a:ext>
            </a:extLst>
          </p:cNvPr>
          <p:cNvGraphicFramePr>
            <a:graphicFrameLocks/>
          </p:cNvGraphicFramePr>
          <p:nvPr/>
        </p:nvGraphicFramePr>
        <p:xfrm>
          <a:off x="4532313" y="4756150"/>
          <a:ext cx="171608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143000" imgH="228600" progId="Equation.3">
                  <p:embed/>
                </p:oleObj>
              </mc:Choice>
              <mc:Fallback>
                <p:oleObj name="Equação" r:id="rId6" imgW="1143000" imgH="228600" progId="Equation.3">
                  <p:embed/>
                  <p:pic>
                    <p:nvPicPr>
                      <p:cNvPr id="35902" name="Objeto 17">
                        <a:extLst>
                          <a:ext uri="{FF2B5EF4-FFF2-40B4-BE49-F238E27FC236}">
                            <a16:creationId xmlns:a16="http://schemas.microsoft.com/office/drawing/2014/main" id="{EC6AFEA6-62B1-E851-1ACF-E6408F0CC0C7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32313" y="4756150"/>
                        <a:ext cx="171608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903" name="Objeto 18">
            <a:extLst>
              <a:ext uri="{FF2B5EF4-FFF2-40B4-BE49-F238E27FC236}">
                <a16:creationId xmlns:a16="http://schemas.microsoft.com/office/drawing/2014/main" id="{1D4C3E80-64B9-5184-47EE-E312D0FCF527}"/>
              </a:ext>
            </a:extLst>
          </p:cNvPr>
          <p:cNvGraphicFramePr>
            <a:graphicFrameLocks/>
          </p:cNvGraphicFramePr>
          <p:nvPr/>
        </p:nvGraphicFramePr>
        <p:xfrm>
          <a:off x="3960813" y="5894388"/>
          <a:ext cx="285908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1905000" imgH="228600" progId="Equation.3">
                  <p:embed/>
                </p:oleObj>
              </mc:Choice>
              <mc:Fallback>
                <p:oleObj name="Equação" r:id="rId8" imgW="1905000" imgH="228600" progId="Equation.3">
                  <p:embed/>
                  <p:pic>
                    <p:nvPicPr>
                      <p:cNvPr id="35903" name="Objeto 18">
                        <a:extLst>
                          <a:ext uri="{FF2B5EF4-FFF2-40B4-BE49-F238E27FC236}">
                            <a16:creationId xmlns:a16="http://schemas.microsoft.com/office/drawing/2014/main" id="{1D4C3E80-64B9-5184-47EE-E312D0FCF527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0813" y="5894388"/>
                        <a:ext cx="285908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8">
            <a:extLst>
              <a:ext uri="{FF2B5EF4-FFF2-40B4-BE49-F238E27FC236}">
                <a16:creationId xmlns:a16="http://schemas.microsoft.com/office/drawing/2014/main" id="{9EB17758-C44C-2A30-A37B-188E915A5A08}"/>
              </a:ext>
            </a:extLst>
          </p:cNvPr>
          <p:cNvGraphicFramePr>
            <a:graphicFrameLocks/>
          </p:cNvGraphicFramePr>
          <p:nvPr/>
        </p:nvGraphicFramePr>
        <p:xfrm>
          <a:off x="4302125" y="5922963"/>
          <a:ext cx="990600" cy="704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660113" imgH="469696" progId="Equation.3">
                  <p:embed/>
                </p:oleObj>
              </mc:Choice>
              <mc:Fallback>
                <p:oleObj name="Equação" r:id="rId10" imgW="660113" imgH="469696" progId="Equation.3">
                  <p:embed/>
                  <p:pic>
                    <p:nvPicPr>
                      <p:cNvPr id="16" name="Objeto 18">
                        <a:extLst>
                          <a:ext uri="{FF2B5EF4-FFF2-40B4-BE49-F238E27FC236}">
                            <a16:creationId xmlns:a16="http://schemas.microsoft.com/office/drawing/2014/main" id="{9EB17758-C44C-2A30-A37B-188E915A5A08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02125" y="5922963"/>
                        <a:ext cx="990600" cy="704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Objeto 1">
            <a:extLst>
              <a:ext uri="{FF2B5EF4-FFF2-40B4-BE49-F238E27FC236}">
                <a16:creationId xmlns:a16="http://schemas.microsoft.com/office/drawing/2014/main" id="{55D15D7C-B9EE-A79D-9B82-B3FB4DA986AF}"/>
              </a:ext>
            </a:extLst>
          </p:cNvPr>
          <p:cNvGraphicFramePr>
            <a:graphicFrameLocks/>
          </p:cNvGraphicFramePr>
          <p:nvPr/>
        </p:nvGraphicFramePr>
        <p:xfrm>
          <a:off x="5310188" y="5922963"/>
          <a:ext cx="990600" cy="704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660113" imgH="469696" progId="Equation.3">
                  <p:embed/>
                </p:oleObj>
              </mc:Choice>
              <mc:Fallback>
                <p:oleObj name="Equação" r:id="rId12" imgW="660113" imgH="469696" progId="Equation.3">
                  <p:embed/>
                  <p:pic>
                    <p:nvPicPr>
                      <p:cNvPr id="2" name="Objeto 1">
                        <a:extLst>
                          <a:ext uri="{FF2B5EF4-FFF2-40B4-BE49-F238E27FC236}">
                            <a16:creationId xmlns:a16="http://schemas.microsoft.com/office/drawing/2014/main" id="{55D15D7C-B9EE-A79D-9B82-B3FB4DA986AF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10188" y="5922963"/>
                        <a:ext cx="990600" cy="704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74799835-1543-FEF5-4986-224CF1925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21FC86-08EB-43E7-95AF-571782B6A6FC}" type="slidenum">
              <a:rPr lang="pt-BR"/>
              <a:pPr>
                <a:defRPr/>
              </a:pPr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3264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9" grpId="0"/>
      <p:bldP spid="17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</a:p>
        </p:txBody>
      </p:sp>
      <p:graphicFrame>
        <p:nvGraphicFramePr>
          <p:cNvPr id="44035" name="Objeto 5"/>
          <p:cNvGraphicFramePr>
            <a:graphicFrameLocks/>
          </p:cNvGraphicFramePr>
          <p:nvPr/>
        </p:nvGraphicFramePr>
        <p:xfrm>
          <a:off x="3851275" y="2349500"/>
          <a:ext cx="32416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159000" imgH="228600" progId="Equation.3">
                  <p:embed/>
                </p:oleObj>
              </mc:Choice>
              <mc:Fallback>
                <p:oleObj name="Equação" r:id="rId2" imgW="2159000" imgH="228600" progId="Equation.3">
                  <p:embed/>
                  <p:pic>
                    <p:nvPicPr>
                      <p:cNvPr id="44035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51275" y="2349500"/>
                        <a:ext cx="324167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Rectangle 9"/>
          <p:cNvSpPr txBox="1">
            <a:spLocks noChangeArrowheads="1"/>
          </p:cNvSpPr>
          <p:nvPr/>
        </p:nvSpPr>
        <p:spPr bwMode="auto">
          <a:xfrm>
            <a:off x="3419475" y="2924175"/>
            <a:ext cx="5184775" cy="108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lnSpc>
                <a:spcPct val="150000"/>
              </a:lnSpc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Conclusões possíveis:</a:t>
            </a:r>
          </a:p>
          <a:p>
            <a:pPr eaLnBrk="1" hangingPunct="1">
              <a:lnSpc>
                <a:spcPct val="150000"/>
              </a:lnSpc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Se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</a:t>
            </a:r>
            <a:r>
              <a:rPr lang="pt-BR" altLang="pt-BR" sz="1600" kern="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</a:t>
            </a:r>
            <a:r>
              <a:rPr lang="pt-BR" altLang="pt-BR" sz="1600" kern="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3</a:t>
            </a:r>
            <a:r>
              <a:rPr lang="pt-BR" altLang="pt-BR" sz="1600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0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, então ambas regiões possuem a mesma regressão</a:t>
            </a:r>
            <a:endParaRPr lang="pt-BR" altLang="pt-BR" sz="1600" kern="0" dirty="0">
              <a:latin typeface="Tahoma" panose="020B0604030504040204" pitchFamily="34" charset="0"/>
            </a:endParaRPr>
          </a:p>
        </p:txBody>
      </p:sp>
      <p:sp>
        <p:nvSpPr>
          <p:cNvPr id="22" name="Rectangle 9"/>
          <p:cNvSpPr txBox="1">
            <a:spLocks noChangeArrowheads="1"/>
          </p:cNvSpPr>
          <p:nvPr/>
        </p:nvSpPr>
        <p:spPr bwMode="auto">
          <a:xfrm>
            <a:off x="3419475" y="4221088"/>
            <a:ext cx="5184775" cy="107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lnSpc>
                <a:spcPct val="150000"/>
              </a:lnSpc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Se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</a:t>
            </a:r>
            <a:r>
              <a:rPr lang="pt-BR" altLang="pt-BR" sz="1600" kern="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 0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, então as regressões diferem-se entre si pelo intercepto</a:t>
            </a:r>
            <a:endParaRPr lang="pt-BR" altLang="pt-BR" sz="1600" kern="0" dirty="0">
              <a:latin typeface="Tahoma" panose="020B0604030504040204" pitchFamily="34" charset="0"/>
            </a:endParaRPr>
          </a:p>
        </p:txBody>
      </p:sp>
      <p:sp>
        <p:nvSpPr>
          <p:cNvPr id="23" name="Rectangle 9"/>
          <p:cNvSpPr txBox="1">
            <a:spLocks noChangeArrowheads="1"/>
          </p:cNvSpPr>
          <p:nvPr/>
        </p:nvSpPr>
        <p:spPr bwMode="auto">
          <a:xfrm>
            <a:off x="3419475" y="5084763"/>
            <a:ext cx="5184775" cy="1081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lnSpc>
                <a:spcPct val="150000"/>
              </a:lnSpc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Se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</a:t>
            </a:r>
            <a:r>
              <a:rPr lang="pt-BR" altLang="pt-BR" sz="1600" kern="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3</a:t>
            </a:r>
            <a:r>
              <a:rPr lang="pt-BR" altLang="pt-BR" sz="1600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 0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, então as regressões diferem-se entre si pelo coeficiente angular</a:t>
            </a:r>
            <a:endParaRPr lang="pt-BR" altLang="pt-BR" sz="1600" kern="0" dirty="0">
              <a:latin typeface="Tahoma" panose="020B0604030504040204" pitchFamily="34" charset="0"/>
            </a:endParaRPr>
          </a:p>
        </p:txBody>
      </p:sp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0526363"/>
              </p:ext>
            </p:extLst>
          </p:nvPr>
        </p:nvGraphicFramePr>
        <p:xfrm>
          <a:off x="468313" y="1989138"/>
          <a:ext cx="1219200" cy="4419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9,94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300951"/>
              </p:ext>
            </p:extLst>
          </p:nvPr>
        </p:nvGraphicFramePr>
        <p:xfrm>
          <a:off x="468313" y="1989138"/>
          <a:ext cx="2438400" cy="44196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 rowSpan="2">
                  <a:txBody>
                    <a:bodyPr/>
                    <a:lstStyle/>
                    <a:p>
                      <a:pPr algn="ctr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XW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382338C-BC6B-4F79-A4CA-EAD65077BB1F}" type="slidenum">
              <a:rPr lang="pt-BR"/>
              <a:pPr>
                <a:defRPr/>
              </a:pPr>
              <a:t>64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</a:p>
        </p:txBody>
      </p:sp>
      <p:graphicFrame>
        <p:nvGraphicFramePr>
          <p:cNvPr id="45059" name="Objeto 5"/>
          <p:cNvGraphicFramePr>
            <a:graphicFrameLocks/>
          </p:cNvGraphicFramePr>
          <p:nvPr/>
        </p:nvGraphicFramePr>
        <p:xfrm>
          <a:off x="3851275" y="2349500"/>
          <a:ext cx="32416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159000" imgH="228600" progId="Equation.3">
                  <p:embed/>
                </p:oleObj>
              </mc:Choice>
              <mc:Fallback>
                <p:oleObj name="Equação" r:id="rId2" imgW="2159000" imgH="228600" progId="Equation.3">
                  <p:embed/>
                  <p:pic>
                    <p:nvPicPr>
                      <p:cNvPr id="45059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51275" y="2349500"/>
                        <a:ext cx="324167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176491"/>
              </p:ext>
            </p:extLst>
          </p:nvPr>
        </p:nvGraphicFramePr>
        <p:xfrm>
          <a:off x="468313" y="1989138"/>
          <a:ext cx="1219200" cy="4419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9,94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771657"/>
              </p:ext>
            </p:extLst>
          </p:nvPr>
        </p:nvGraphicFramePr>
        <p:xfrm>
          <a:off x="468313" y="1989138"/>
          <a:ext cx="2438400" cy="44196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 rowSpan="2">
                  <a:txBody>
                    <a:bodyPr/>
                    <a:lstStyle/>
                    <a:p>
                      <a:pPr algn="ctr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XW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3708400" y="306863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7692,29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2564,10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1499,97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8,9E-22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7723,06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/>
        </p:nvGraphicFramePr>
        <p:xfrm>
          <a:off x="3708400" y="4365625"/>
          <a:ext cx="3119438" cy="1116014"/>
        </p:xfrm>
        <a:graphic>
          <a:graphicData uri="http://schemas.openxmlformats.org/drawingml/2006/table">
            <a:tbl>
              <a:tblPr/>
              <a:tblGrid>
                <a:gridCol w="6814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9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0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480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423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8,77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0,86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6,86E-09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423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endParaRPr lang="pt-BR" sz="11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0,10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40,84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3,36E-19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423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W</a:t>
                      </a:r>
                      <a:endParaRPr lang="pt-BR" sz="11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-5,38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1,14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-4,70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0,0002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9944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XW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0,12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1,36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0,1915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7" name="Grupo 6"/>
          <p:cNvGrpSpPr>
            <a:grpSpLocks/>
          </p:cNvGrpSpPr>
          <p:nvPr/>
        </p:nvGrpSpPr>
        <p:grpSpPr bwMode="auto">
          <a:xfrm>
            <a:off x="6075363" y="2314575"/>
            <a:ext cx="647700" cy="431800"/>
            <a:chOff x="6088360" y="2353072"/>
            <a:chExt cx="648072" cy="432048"/>
          </a:xfrm>
        </p:grpSpPr>
        <p:cxnSp>
          <p:nvCxnSpPr>
            <p:cNvPr id="45258" name="Conector reto 5"/>
            <p:cNvCxnSpPr>
              <a:cxnSpLocks noChangeShapeType="1"/>
            </p:cNvCxnSpPr>
            <p:nvPr/>
          </p:nvCxnSpPr>
          <p:spPr bwMode="auto">
            <a:xfrm>
              <a:off x="6088360" y="2353072"/>
              <a:ext cx="648072" cy="432048"/>
            </a:xfrm>
            <a:prstGeom prst="lin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259" name="Conector reto 15"/>
            <p:cNvCxnSpPr>
              <a:cxnSpLocks noChangeShapeType="1"/>
            </p:cNvCxnSpPr>
            <p:nvPr/>
          </p:nvCxnSpPr>
          <p:spPr bwMode="auto">
            <a:xfrm flipH="1">
              <a:off x="6088360" y="2353072"/>
              <a:ext cx="648072" cy="432048"/>
            </a:xfrm>
            <a:prstGeom prst="lin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5" name="Grupo 4"/>
          <p:cNvGrpSpPr>
            <a:grpSpLocks/>
          </p:cNvGrpSpPr>
          <p:nvPr/>
        </p:nvGrpSpPr>
        <p:grpSpPr bwMode="auto">
          <a:xfrm>
            <a:off x="6161088" y="5237163"/>
            <a:ext cx="2820987" cy="307975"/>
            <a:chOff x="6161088" y="5237748"/>
            <a:chExt cx="2820843" cy="307777"/>
          </a:xfrm>
        </p:grpSpPr>
        <p:sp>
          <p:nvSpPr>
            <p:cNvPr id="45256" name="Elipse 13"/>
            <p:cNvSpPr>
              <a:spLocks noChangeArrowheads="1"/>
            </p:cNvSpPr>
            <p:nvPr/>
          </p:nvSpPr>
          <p:spPr bwMode="auto">
            <a:xfrm>
              <a:off x="6161088" y="5267325"/>
              <a:ext cx="684212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5257" name="Retângulo 1"/>
            <p:cNvSpPr>
              <a:spLocks noChangeArrowheads="1"/>
            </p:cNvSpPr>
            <p:nvPr/>
          </p:nvSpPr>
          <p:spPr bwMode="auto">
            <a:xfrm>
              <a:off x="6823968" y="5237748"/>
              <a:ext cx="2157963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não significativo (</a:t>
              </a:r>
              <a:r>
                <a:rPr lang="pt-BR" altLang="pt-BR" sz="1400" i="1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</a:t>
              </a:r>
              <a:r>
                <a:rPr lang="pt-BR" altLang="pt-BR" sz="14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3</a:t>
              </a:r>
              <a:r>
                <a:rPr lang="pt-BR" altLang="pt-BR" sz="1400" dirty="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 = 0</a:t>
              </a: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)</a:t>
              </a:r>
            </a:p>
          </p:txBody>
        </p:sp>
      </p:grpSp>
      <p:grpSp>
        <p:nvGrpSpPr>
          <p:cNvPr id="16" name="Grupo 15"/>
          <p:cNvGrpSpPr>
            <a:grpSpLocks/>
          </p:cNvGrpSpPr>
          <p:nvPr/>
        </p:nvGrpSpPr>
        <p:grpSpPr bwMode="auto">
          <a:xfrm>
            <a:off x="6700838" y="3268664"/>
            <a:ext cx="1796221" cy="523220"/>
            <a:chOff x="5426075" y="4546680"/>
            <a:chExt cx="1795452" cy="523818"/>
          </a:xfrm>
        </p:grpSpPr>
        <p:sp>
          <p:nvSpPr>
            <p:cNvPr id="45254" name="Elipse 9"/>
            <p:cNvSpPr>
              <a:spLocks noChangeArrowheads="1"/>
            </p:cNvSpPr>
            <p:nvPr/>
          </p:nvSpPr>
          <p:spPr bwMode="auto">
            <a:xfrm>
              <a:off x="5426075" y="4724400"/>
              <a:ext cx="684213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5255" name="Retângulo 11"/>
            <p:cNvSpPr>
              <a:spLocks noChangeArrowheads="1"/>
            </p:cNvSpPr>
            <p:nvPr/>
          </p:nvSpPr>
          <p:spPr bwMode="auto">
            <a:xfrm>
              <a:off x="6110288" y="4546680"/>
              <a:ext cx="1111239" cy="5238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altamente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significativo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44A4A6D-B92D-42AE-B7F4-FBB808383CA3}" type="slidenum">
              <a:rPr lang="pt-BR"/>
              <a:pPr>
                <a:defRPr/>
              </a:pPr>
              <a:t>65</a:t>
            </a:fld>
            <a:endParaRPr lang="pt-BR"/>
          </a:p>
        </p:txBody>
      </p:sp>
      <p:sp>
        <p:nvSpPr>
          <p:cNvPr id="18" name="Retângulo 6"/>
          <p:cNvSpPr>
            <a:spLocks noChangeArrowheads="1"/>
          </p:cNvSpPr>
          <p:nvPr/>
        </p:nvSpPr>
        <p:spPr bwMode="auto">
          <a:xfrm>
            <a:off x="3491879" y="5796553"/>
            <a:ext cx="489654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Elimina-se o termo </a:t>
            </a:r>
            <a:r>
              <a:rPr lang="pt-BR" altLang="pt-BR" sz="1600" i="1" dirty="0">
                <a:solidFill>
                  <a:schemeClr val="tx2"/>
                </a:solidFill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3</a:t>
            </a:r>
            <a:r>
              <a:rPr lang="pt-BR" altLang="pt-BR" sz="1600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i="1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sz="1600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pt-BR" altLang="pt-BR" sz="1600" i="1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e refaz-se a análise...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</a:p>
        </p:txBody>
      </p:sp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793497"/>
              </p:ext>
            </p:extLst>
          </p:nvPr>
        </p:nvGraphicFramePr>
        <p:xfrm>
          <a:off x="468313" y="1989138"/>
          <a:ext cx="1219200" cy="4419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9,94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5409412"/>
              </p:ext>
            </p:extLst>
          </p:nvPr>
        </p:nvGraphicFramePr>
        <p:xfrm>
          <a:off x="468313" y="1989138"/>
          <a:ext cx="2438400" cy="44196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 rowSpan="2">
                  <a:txBody>
                    <a:bodyPr/>
                    <a:lstStyle/>
                    <a:p>
                      <a:pPr algn="ctr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3708400" y="306863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7689,14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3844,57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2153,57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4,03E-23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7723,06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/>
        </p:nvGraphicFramePr>
        <p:xfrm>
          <a:off x="3708400" y="4365625"/>
          <a:ext cx="3119438" cy="915989"/>
        </p:xfrm>
        <a:graphic>
          <a:graphicData uri="http://schemas.openxmlformats.org/drawingml/2006/table">
            <a:tbl>
              <a:tblPr/>
              <a:tblGrid>
                <a:gridCol w="6814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9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0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480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396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7,97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0,64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12,41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1,46E-10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396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endParaRPr lang="pt-BR" sz="11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4,04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65,56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7,44E-24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396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W</a:t>
                      </a:r>
                      <a:endParaRPr lang="pt-BR" sz="11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-4,03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-7,03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1,09E-06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6268" name="Objeto 5"/>
          <p:cNvGraphicFramePr>
            <a:graphicFrameLocks/>
          </p:cNvGraphicFramePr>
          <p:nvPr/>
        </p:nvGraphicFramePr>
        <p:xfrm>
          <a:off x="3851275" y="2349500"/>
          <a:ext cx="23653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574800" imgH="228600" progId="Equation.3">
                  <p:embed/>
                </p:oleObj>
              </mc:Choice>
              <mc:Fallback>
                <p:oleObj name="Equação" r:id="rId2" imgW="1574800" imgH="228600" progId="Equation.3">
                  <p:embed/>
                  <p:pic>
                    <p:nvPicPr>
                      <p:cNvPr id="46268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51275" y="2349500"/>
                        <a:ext cx="236537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Retângulo 6"/>
          <p:cNvSpPr>
            <a:spLocks noChangeArrowheads="1"/>
          </p:cNvSpPr>
          <p:nvPr/>
        </p:nvSpPr>
        <p:spPr bwMode="auto">
          <a:xfrm>
            <a:off x="2555875" y="5519738"/>
            <a:ext cx="6337300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Conclusão: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a 5% de significância, as regressões de ambas regiões possuem o mesmo coeficiente angular. Elas diferem-se apenas pelo intercepto.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Em média, a região B produz estimativas para </a:t>
            </a:r>
            <a:r>
              <a:rPr lang="pt-BR" altLang="pt-BR" sz="1600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menores que a região A em 4,03 unidades.</a:t>
            </a:r>
          </a:p>
        </p:txBody>
      </p:sp>
      <p:sp>
        <p:nvSpPr>
          <p:cNvPr id="20" name="Elipse 19"/>
          <p:cNvSpPr>
            <a:spLocks noChangeArrowheads="1"/>
          </p:cNvSpPr>
          <p:nvPr/>
        </p:nvSpPr>
        <p:spPr bwMode="auto">
          <a:xfrm>
            <a:off x="4427538" y="5084763"/>
            <a:ext cx="684212" cy="238125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87097E8-09FB-42B8-B0F5-DC7A278B9ECB}" type="slidenum">
              <a:rPr lang="pt-BR"/>
              <a:pPr>
                <a:defRPr/>
              </a:pPr>
              <a:t>66</a:t>
            </a:fld>
            <a:endParaRPr lang="pt-BR" dirty="0"/>
          </a:p>
        </p:txBody>
      </p:sp>
      <p:grpSp>
        <p:nvGrpSpPr>
          <p:cNvPr id="12" name="Grupo 11"/>
          <p:cNvGrpSpPr/>
          <p:nvPr/>
        </p:nvGrpSpPr>
        <p:grpSpPr>
          <a:xfrm>
            <a:off x="6128880" y="4855512"/>
            <a:ext cx="2537475" cy="523220"/>
            <a:chOff x="6358552" y="4042240"/>
            <a:chExt cx="2537475" cy="523220"/>
          </a:xfrm>
        </p:grpSpPr>
        <p:sp>
          <p:nvSpPr>
            <p:cNvPr id="13" name="Elipse 57"/>
            <p:cNvSpPr>
              <a:spLocks noChangeArrowheads="1"/>
            </p:cNvSpPr>
            <p:nvPr/>
          </p:nvSpPr>
          <p:spPr bwMode="auto">
            <a:xfrm>
              <a:off x="6358552" y="4086952"/>
              <a:ext cx="774195" cy="42216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" name="Retângulo 13"/>
            <p:cNvSpPr>
              <a:spLocks noChangeArrowheads="1"/>
            </p:cNvSpPr>
            <p:nvPr/>
          </p:nvSpPr>
          <p:spPr bwMode="auto">
            <a:xfrm>
              <a:off x="7125478" y="4042240"/>
              <a:ext cx="177054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ambos significativos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 5%</a:t>
              </a:r>
            </a:p>
          </p:txBody>
        </p:sp>
      </p:grpSp>
      <p:grpSp>
        <p:nvGrpSpPr>
          <p:cNvPr id="6" name="Grupo 5"/>
          <p:cNvGrpSpPr/>
          <p:nvPr/>
        </p:nvGrpSpPr>
        <p:grpSpPr>
          <a:xfrm>
            <a:off x="6539547" y="1442170"/>
            <a:ext cx="2483358" cy="1811342"/>
            <a:chOff x="6539547" y="1442170"/>
            <a:chExt cx="2483358" cy="1811342"/>
          </a:xfrm>
        </p:grpSpPr>
        <p:pic>
          <p:nvPicPr>
            <p:cNvPr id="46487" name="Picture 407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9547" y="1442170"/>
              <a:ext cx="2353628" cy="181134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tângulo 4"/>
                <p:cNvSpPr/>
                <p:nvPr/>
              </p:nvSpPr>
              <p:spPr>
                <a:xfrm>
                  <a:off x="6917447" y="1556829"/>
                  <a:ext cx="1324402" cy="4837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fontAlgn="b"/>
                  <a:r>
                    <a:rPr lang="pt-BR" sz="1200" dirty="0">
                      <a:solidFill>
                        <a:srgbClr val="FF0000"/>
                      </a:solidFill>
                      <a:latin typeface="Tahoma" panose="020B0604030504040204" pitchFamily="34" charset="0"/>
                    </a:rPr>
                    <a:t>Região A</a:t>
                  </a: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pt-BR" sz="1200" b="0" i="1" dirty="0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4,04</m:t>
                        </m:r>
                        <m:r>
                          <m:rPr>
                            <m:nor/>
                          </m:rPr>
                          <a:rPr lang="pt-BR" sz="1200" i="1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+ 7,97</m:t>
                        </m:r>
                      </m:oMath>
                    </m:oMathPara>
                  </a14:m>
                  <a:endParaRPr lang="pt-BR" sz="12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" name="Retângulo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7447" y="1556829"/>
                  <a:ext cx="1324402" cy="4837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tângulo 20"/>
                <p:cNvSpPr/>
                <p:nvPr/>
              </p:nvSpPr>
              <p:spPr>
                <a:xfrm>
                  <a:off x="7742811" y="2347841"/>
                  <a:ext cx="1280094" cy="4666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fontAlgn="b"/>
                  <a:r>
                    <a:rPr lang="pt-BR" sz="1200" dirty="0">
                      <a:solidFill>
                        <a:schemeClr val="accent6"/>
                      </a:solidFill>
                      <a:latin typeface="Tahoma" panose="020B0604030504040204" pitchFamily="34" charset="0"/>
                    </a:rPr>
                    <a:t>Região B</a:t>
                  </a: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200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pt-BR" sz="1200" b="0" i="1" dirty="0" smtClean="0">
                                <a:solidFill>
                                  <a:schemeClr val="accent6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4,04</m:t>
                        </m:r>
                        <m:r>
                          <m:rPr>
                            <m:nor/>
                          </m:rPr>
                          <a:rPr lang="pt-BR" sz="1200" i="1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+ 3,94</m:t>
                        </m:r>
                      </m:oMath>
                    </m:oMathPara>
                  </a14:m>
                  <a:endParaRPr lang="pt-BR" sz="1200" dirty="0">
                    <a:solidFill>
                      <a:schemeClr val="accent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Retângulo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2811" y="2347841"/>
                  <a:ext cx="1280094" cy="466666"/>
                </a:xfrm>
                <a:prstGeom prst="rect">
                  <a:avLst/>
                </a:prstGeom>
                <a:blipFill>
                  <a:blip r:embed="rId6"/>
                  <a:stretch>
                    <a:fillRect b="-129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67</a:t>
            </a:fld>
            <a:endParaRPr lang="pt-BR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6DF6D08-9579-168A-FE3A-F8007AEAED1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Mudanças estruturais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a 7">
                <a:extLst>
                  <a:ext uri="{FF2B5EF4-FFF2-40B4-BE49-F238E27FC236}">
                    <a16:creationId xmlns:a16="http://schemas.microsoft.com/office/drawing/2014/main" id="{E3B3EC85-B1FA-A986-9DF7-036354E2207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727327"/>
                  </p:ext>
                </p:extLst>
              </p:nvPr>
            </p:nvGraphicFramePr>
            <p:xfrm>
              <a:off x="395536" y="1556792"/>
              <a:ext cx="1219200" cy="43815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1514452819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653164525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274304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104,93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761629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105,75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3,11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282029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119,19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5,33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5979068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113,34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7,27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41308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125,02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8,12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524977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124,23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8786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132,58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11,49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985143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133,82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12,84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55602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143,09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16,49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0269367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152,37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18,21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3213645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138,34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20,81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8245119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126,91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4919917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122,30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6533866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106,38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23,15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8438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112,40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24,00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77528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81,85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26,45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55894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78,82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27,52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4718758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70,81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27,80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181625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61,85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28,97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16963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45,15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31,96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650371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30,73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32,87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5752176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4,14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36,54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001129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a 7">
                <a:extLst>
                  <a:ext uri="{FF2B5EF4-FFF2-40B4-BE49-F238E27FC236}">
                    <a16:creationId xmlns:a16="http://schemas.microsoft.com/office/drawing/2014/main" id="{E3B3EC85-B1FA-A986-9DF7-036354E2207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727327"/>
                  </p:ext>
                </p:extLst>
              </p:nvPr>
            </p:nvGraphicFramePr>
            <p:xfrm>
              <a:off x="395536" y="1556792"/>
              <a:ext cx="1219200" cy="43815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1514452819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653164525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226" r="-100000" b="-22677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000" t="-3226" r="-1000" b="-22677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74304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104,93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761629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105,75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3,11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282029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119,19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5,33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5979068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113,34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7,27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41308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125,02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8,12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524977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124,23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8786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132,58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11,49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985143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133,82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12,84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55602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143,09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16,49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0269367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152,37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18,21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3213645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138,34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20,81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8245119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126,91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4919917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122,30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6533866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106,38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23,15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8438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112,40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24,00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77528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81,85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26,45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55894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78,82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27,52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4718758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70,81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27,80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181625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61,85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28,97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16963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45,15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31,96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650371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30,73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32,87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5752176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4,14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36,54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0011296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9" name="Imagem 8">
            <a:extLst>
              <a:ext uri="{FF2B5EF4-FFF2-40B4-BE49-F238E27FC236}">
                <a16:creationId xmlns:a16="http://schemas.microsoft.com/office/drawing/2014/main" id="{1141176F-6751-E989-32EE-25216B0F7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1921" y="1793148"/>
            <a:ext cx="3675108" cy="2211916"/>
          </a:xfrm>
          <a:prstGeom prst="rect">
            <a:avLst/>
          </a:prstGeom>
        </p:spPr>
      </p:pic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B0369D4E-6729-4524-CB35-A135D64F6B00}"/>
              </a:ext>
            </a:extLst>
          </p:cNvPr>
          <p:cNvCxnSpPr/>
          <p:nvPr/>
        </p:nvCxnSpPr>
        <p:spPr bwMode="auto">
          <a:xfrm flipV="1">
            <a:off x="4383072" y="1890912"/>
            <a:ext cx="1560602" cy="63580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8B0B1850-9897-B8AC-4CA7-E62830775997}"/>
              </a:ext>
            </a:extLst>
          </p:cNvPr>
          <p:cNvCxnSpPr>
            <a:cxnSpLocks/>
          </p:cNvCxnSpPr>
          <p:nvPr/>
        </p:nvCxnSpPr>
        <p:spPr bwMode="auto">
          <a:xfrm>
            <a:off x="5540622" y="1773070"/>
            <a:ext cx="1618402" cy="179180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2950F74F-4BF5-72F5-8D00-7953FF582D45}"/>
              </a:ext>
            </a:extLst>
          </p:cNvPr>
          <p:cNvCxnSpPr/>
          <p:nvPr/>
        </p:nvCxnSpPr>
        <p:spPr bwMode="auto">
          <a:xfrm flipV="1">
            <a:off x="5858619" y="1800250"/>
            <a:ext cx="0" cy="172800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ela 20">
                <a:extLst>
                  <a:ext uri="{FF2B5EF4-FFF2-40B4-BE49-F238E27FC236}">
                    <a16:creationId xmlns:a16="http://schemas.microsoft.com/office/drawing/2014/main" id="{F45789E5-8CE0-1281-4FE2-78F5A99220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6816758"/>
                  </p:ext>
                </p:extLst>
              </p:nvPr>
            </p:nvGraphicFramePr>
            <p:xfrm>
              <a:off x="1616972" y="1556792"/>
              <a:ext cx="1828800" cy="43815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168992459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3918009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3848327875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𝑋𝑊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Trecho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38875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093954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229744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080221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301746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865633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7603932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02285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1156798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751735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33236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20,81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0006812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545733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9894046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23,15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450992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24,00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690653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26,45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015707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27,52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0159599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27,80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625859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28,97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47287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31,96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2753232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32,87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7864382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36,54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5448203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ela 20">
                <a:extLst>
                  <a:ext uri="{FF2B5EF4-FFF2-40B4-BE49-F238E27FC236}">
                    <a16:creationId xmlns:a16="http://schemas.microsoft.com/office/drawing/2014/main" id="{F45789E5-8CE0-1281-4FE2-78F5A99220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6816758"/>
                  </p:ext>
                </p:extLst>
              </p:nvPr>
            </p:nvGraphicFramePr>
            <p:xfrm>
              <a:off x="1616972" y="1556792"/>
              <a:ext cx="1828800" cy="43815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168992459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3918009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3848327875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" t="-12903" r="-201000" b="-22677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12903" r="-99010" b="-22677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Trecho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38875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093954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229744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080221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301746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865633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7603932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02285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1156798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751735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33236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20,81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0006812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545733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9894046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23,15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450992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24,00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690653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26,45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015707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27,52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0159599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27,80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625859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28,97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47287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31,96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2753232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32,87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7864382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36,54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5448203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644484AE-3948-85F8-ED83-A11BBF03EFF9}"/>
                  </a:ext>
                </a:extLst>
              </p:cNvPr>
              <p:cNvSpPr txBox="1"/>
              <p:nvPr/>
            </p:nvSpPr>
            <p:spPr>
              <a:xfrm>
                <a:off x="3851920" y="1470695"/>
                <a:ext cx="273630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644484AE-3948-85F8-ED83-A11BBF03E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1920" y="1470695"/>
                <a:ext cx="2736304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3" name="Tabela 22">
            <a:extLst>
              <a:ext uri="{FF2B5EF4-FFF2-40B4-BE49-F238E27FC236}">
                <a16:creationId xmlns:a16="http://schemas.microsoft.com/office/drawing/2014/main" id="{B9AFC298-9074-82ED-035D-CAAB37B47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634336"/>
              </p:ext>
            </p:extLst>
          </p:nvPr>
        </p:nvGraphicFramePr>
        <p:xfrm>
          <a:off x="3832548" y="4138757"/>
          <a:ext cx="3384376" cy="971550"/>
        </p:xfrm>
        <a:graphic>
          <a:graphicData uri="http://schemas.openxmlformats.org/drawingml/2006/table">
            <a:tbl>
              <a:tblPr/>
              <a:tblGrid>
                <a:gridCol w="624071">
                  <a:extLst>
                    <a:ext uri="{9D8B030D-6E8A-4147-A177-3AD203B41FA5}">
                      <a16:colId xmlns:a16="http://schemas.microsoft.com/office/drawing/2014/main" val="3303130169"/>
                    </a:ext>
                  </a:extLst>
                </a:gridCol>
                <a:gridCol w="475421">
                  <a:extLst>
                    <a:ext uri="{9D8B030D-6E8A-4147-A177-3AD203B41FA5}">
                      <a16:colId xmlns:a16="http://schemas.microsoft.com/office/drawing/2014/main" val="3095921303"/>
                    </a:ext>
                  </a:extLst>
                </a:gridCol>
                <a:gridCol w="628701">
                  <a:extLst>
                    <a:ext uri="{9D8B030D-6E8A-4147-A177-3AD203B41FA5}">
                      <a16:colId xmlns:a16="http://schemas.microsoft.com/office/drawing/2014/main" val="3713098706"/>
                    </a:ext>
                  </a:extLst>
                </a:gridCol>
                <a:gridCol w="595435">
                  <a:extLst>
                    <a:ext uri="{9D8B030D-6E8A-4147-A177-3AD203B41FA5}">
                      <a16:colId xmlns:a16="http://schemas.microsoft.com/office/drawing/2014/main" val="428978137"/>
                    </a:ext>
                  </a:extLst>
                </a:gridCol>
                <a:gridCol w="508687">
                  <a:extLst>
                    <a:ext uri="{9D8B030D-6E8A-4147-A177-3AD203B41FA5}">
                      <a16:colId xmlns:a16="http://schemas.microsoft.com/office/drawing/2014/main" val="3616670228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2459258828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7388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3306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31224,24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10408,08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600,75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3,17E-18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46840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311,85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17,32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65690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31536,09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131786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Tabela 23">
                <a:extLst>
                  <a:ext uri="{FF2B5EF4-FFF2-40B4-BE49-F238E27FC236}">
                    <a16:creationId xmlns:a16="http://schemas.microsoft.com/office/drawing/2014/main" id="{593F91A4-DA96-728E-716A-63DB30D545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0676275"/>
                  </p:ext>
                </p:extLst>
              </p:nvPr>
            </p:nvGraphicFramePr>
            <p:xfrm>
              <a:off x="3832548" y="5192990"/>
              <a:ext cx="3083496" cy="1116330"/>
            </p:xfrm>
            <a:graphic>
              <a:graphicData uri="http://schemas.openxmlformats.org/drawingml/2006/table">
                <a:tbl>
                  <a:tblPr/>
                  <a:tblGrid>
                    <a:gridCol w="645096">
                      <a:extLst>
                        <a:ext uri="{9D8B030D-6E8A-4147-A177-3AD203B41FA5}">
                          <a16:colId xmlns:a16="http://schemas.microsoft.com/office/drawing/2014/main" val="2812098504"/>
                        </a:ext>
                      </a:extLst>
                    </a:gridCol>
                    <a:gridCol w="705619">
                      <a:extLst>
                        <a:ext uri="{9D8B030D-6E8A-4147-A177-3AD203B41FA5}">
                          <a16:colId xmlns:a16="http://schemas.microsoft.com/office/drawing/2014/main" val="1135360606"/>
                        </a:ext>
                      </a:extLst>
                    </a:gridCol>
                    <a:gridCol w="513581">
                      <a:extLst>
                        <a:ext uri="{9D8B030D-6E8A-4147-A177-3AD203B41FA5}">
                          <a16:colId xmlns:a16="http://schemas.microsoft.com/office/drawing/2014/main" val="334988924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42514837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89144721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022197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100,28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2,66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37,67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1,41E-18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091723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2,70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0,25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10,87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2,43E-9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5012229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202,24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7,33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27,60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3,49E-16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6025764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𝑋𝑊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-10,90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0,35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-30,97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4,56E-17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84759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Tabela 23">
                <a:extLst>
                  <a:ext uri="{FF2B5EF4-FFF2-40B4-BE49-F238E27FC236}">
                    <a16:creationId xmlns:a16="http://schemas.microsoft.com/office/drawing/2014/main" id="{593F91A4-DA96-728E-716A-63DB30D545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0676275"/>
                  </p:ext>
                </p:extLst>
              </p:nvPr>
            </p:nvGraphicFramePr>
            <p:xfrm>
              <a:off x="3832548" y="5192990"/>
              <a:ext cx="3083496" cy="1116330"/>
            </p:xfrm>
            <a:graphic>
              <a:graphicData uri="http://schemas.openxmlformats.org/drawingml/2006/table">
                <a:tbl>
                  <a:tblPr/>
                  <a:tblGrid>
                    <a:gridCol w="645096">
                      <a:extLst>
                        <a:ext uri="{9D8B030D-6E8A-4147-A177-3AD203B41FA5}">
                          <a16:colId xmlns:a16="http://schemas.microsoft.com/office/drawing/2014/main" val="2812098504"/>
                        </a:ext>
                      </a:extLst>
                    </a:gridCol>
                    <a:gridCol w="705619">
                      <a:extLst>
                        <a:ext uri="{9D8B030D-6E8A-4147-A177-3AD203B41FA5}">
                          <a16:colId xmlns:a16="http://schemas.microsoft.com/office/drawing/2014/main" val="1135360606"/>
                        </a:ext>
                      </a:extLst>
                    </a:gridCol>
                    <a:gridCol w="513581">
                      <a:extLst>
                        <a:ext uri="{9D8B030D-6E8A-4147-A177-3AD203B41FA5}">
                          <a16:colId xmlns:a16="http://schemas.microsoft.com/office/drawing/2014/main" val="334988924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42514837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89144721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022197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100,28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2,66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37,67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1,41E-18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091723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6"/>
                          <a:stretch>
                            <a:fillRect t="-293750" r="-379245" b="-2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2,70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0,25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10,87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2,43E-9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5012229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6"/>
                          <a:stretch>
                            <a:fillRect t="-406452" r="-379245" b="-1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202,24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7,33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27,60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3,49E-16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6025764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475758" r="-379245" b="-4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-10,90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0,35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-30,97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4,56E-17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8475942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25" name="Grupo 15">
            <a:extLst>
              <a:ext uri="{FF2B5EF4-FFF2-40B4-BE49-F238E27FC236}">
                <a16:creationId xmlns:a16="http://schemas.microsoft.com/office/drawing/2014/main" id="{ABE9BB83-BA61-0BC3-66A1-B13F12561AA6}"/>
              </a:ext>
            </a:extLst>
          </p:cNvPr>
          <p:cNvGrpSpPr>
            <a:grpSpLocks/>
          </p:cNvGrpSpPr>
          <p:nvPr/>
        </p:nvGrpSpPr>
        <p:grpSpPr bwMode="auto">
          <a:xfrm>
            <a:off x="6588117" y="4530732"/>
            <a:ext cx="1295903" cy="626456"/>
            <a:chOff x="5426075" y="4724400"/>
            <a:chExt cx="1295348" cy="627172"/>
          </a:xfrm>
        </p:grpSpPr>
        <p:sp>
          <p:nvSpPr>
            <p:cNvPr id="26" name="Elipse 9">
              <a:extLst>
                <a:ext uri="{FF2B5EF4-FFF2-40B4-BE49-F238E27FC236}">
                  <a16:creationId xmlns:a16="http://schemas.microsoft.com/office/drawing/2014/main" id="{ACB28AA8-EEF8-4FF9-6925-6AC510320E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6075" y="4724400"/>
              <a:ext cx="684213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" name="Retângulo 11">
              <a:extLst>
                <a:ext uri="{FF2B5EF4-FFF2-40B4-BE49-F238E27FC236}">
                  <a16:creationId xmlns:a16="http://schemas.microsoft.com/office/drawing/2014/main" id="{9BA6BFE0-E11C-0178-BDB3-1BBA9E22D7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0986" y="4920193"/>
              <a:ext cx="910437" cy="4313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altamente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significativo</a:t>
              </a:r>
            </a:p>
          </p:txBody>
        </p:sp>
      </p:grpSp>
      <p:sp>
        <p:nvSpPr>
          <p:cNvPr id="28" name="Elipse 9">
            <a:extLst>
              <a:ext uri="{FF2B5EF4-FFF2-40B4-BE49-F238E27FC236}">
                <a16:creationId xmlns:a16="http://schemas.microsoft.com/office/drawing/2014/main" id="{EE0C8DF6-E120-BB7C-D3AA-FEDCE3E9D8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1581" y="5519997"/>
            <a:ext cx="864096" cy="872006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6A4C2F01-8891-E190-9682-7E037446A7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51921" y="1793148"/>
            <a:ext cx="3675600" cy="2209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88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Regressão Padronizada</a:t>
            </a:r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52425" y="1412875"/>
            <a:ext cx="8496300" cy="1368425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r>
              <a:rPr lang="pt-BR" altLang="pt-BR" sz="1600" dirty="0"/>
              <a:t>Muitas vezes, o coeficiente </a:t>
            </a:r>
            <a:r>
              <a:rPr lang="pt-BR" altLang="pt-BR" sz="1600" i="1" dirty="0">
                <a:sym typeface="Symbol"/>
              </a:rPr>
              <a:t></a:t>
            </a:r>
            <a:r>
              <a:rPr lang="pt-BR" altLang="pt-BR" sz="1400" i="1" kern="1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/>
              <a:t> pode ser utilizado como uma medida do poder da variável independente </a:t>
            </a:r>
            <a:r>
              <a:rPr lang="pt-BR" altLang="pt-BR" sz="1600" i="1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/>
              <a:t> em “explicar” a variável dependente </a:t>
            </a:r>
            <a:r>
              <a:rPr lang="pt-BR" altLang="pt-BR" sz="1600" i="1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pt-BR" altLang="pt-BR" sz="1600" dirty="0"/>
          </a:p>
          <a:p>
            <a:pPr eaLnBrk="1" hangingPunct="1">
              <a:buFontTx/>
              <a:buNone/>
              <a:defRPr/>
            </a:pPr>
            <a:endParaRPr lang="pt-BR" altLang="pt-BR" sz="900" dirty="0"/>
          </a:p>
          <a:p>
            <a:pPr eaLnBrk="1" hangingPunct="1">
              <a:buFontTx/>
              <a:buNone/>
              <a:defRPr/>
            </a:pPr>
            <a:r>
              <a:rPr lang="pt-BR" altLang="pt-BR" sz="1600" dirty="0"/>
              <a:t>Por exemplo:</a:t>
            </a:r>
          </a:p>
        </p:txBody>
      </p:sp>
      <p:graphicFrame>
        <p:nvGraphicFramePr>
          <p:cNvPr id="5" name="Objeto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5893170"/>
              </p:ext>
            </p:extLst>
          </p:nvPr>
        </p:nvGraphicFramePr>
        <p:xfrm>
          <a:off x="1691680" y="2060848"/>
          <a:ext cx="2538413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88760" imgH="266400" progId="Equation.DSMT4">
                  <p:embed/>
                </p:oleObj>
              </mc:Choice>
              <mc:Fallback>
                <p:oleObj name="Equation" r:id="rId2" imgW="1688760" imgH="266400" progId="Equation.DSMT4">
                  <p:embed/>
                  <p:pic>
                    <p:nvPicPr>
                      <p:cNvPr id="5" name="Objeto 4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1680" y="2060848"/>
                        <a:ext cx="2538413" cy="40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ectangle 9"/>
          <p:cNvSpPr txBox="1">
            <a:spLocks noChangeArrowheads="1"/>
          </p:cNvSpPr>
          <p:nvPr/>
        </p:nvSpPr>
        <p:spPr bwMode="auto">
          <a:xfrm>
            <a:off x="352425" y="2708275"/>
            <a:ext cx="8540750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Observe que a variação em 1 unidade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 gera uma mudança em 5,9 unidades em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kern="0" dirty="0">
                <a:latin typeface="Tahoma" panose="020B0604030504040204" pitchFamily="34" charset="0"/>
              </a:rPr>
              <a:t>, ao passo que a mesma variação em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gera uma mudança de apenas 0,4. Assim, conclui-se que a variável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 é mais importante para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kern="0" dirty="0">
                <a:latin typeface="Tahoma" panose="020B0604030504040204" pitchFamily="34" charset="0"/>
              </a:rPr>
              <a:t> do que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. Será mesmo?</a:t>
            </a:r>
          </a:p>
          <a:p>
            <a:pPr eaLnBrk="1" hangingPunct="1">
              <a:buFontTx/>
              <a:buNone/>
              <a:defRPr/>
            </a:pPr>
            <a:endParaRPr lang="pt-BR" altLang="pt-BR" sz="900" kern="0" dirty="0">
              <a:latin typeface="Tahoma" panose="020B0604030504040204" pitchFamily="34" charset="0"/>
            </a:endParaRPr>
          </a:p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Isso é verdade quando todas as variáveis independentes possuem a mesma unidade de medida e quando possuem variâncias similares</a:t>
            </a:r>
          </a:p>
          <a:p>
            <a:pPr eaLnBrk="1" hangingPunct="1">
              <a:buFontTx/>
              <a:buNone/>
              <a:defRPr/>
            </a:pPr>
            <a:endParaRPr lang="pt-BR" altLang="pt-BR" sz="900" kern="0" dirty="0">
              <a:latin typeface="Tahoma" panose="020B0604030504040204" pitchFamily="34" charset="0"/>
            </a:endParaRPr>
          </a:p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No exemplo anterior, se as unidades das variáveis do modelo fossem: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kern="0" dirty="0">
                <a:latin typeface="Tahoma" panose="020B0604030504040204" pitchFamily="34" charset="0"/>
              </a:rPr>
              <a:t> em mm,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em </a:t>
            </a:r>
            <a:r>
              <a:rPr lang="pt-BR" altLang="pt-BR" sz="1600" kern="0" dirty="0" err="1">
                <a:latin typeface="Tahoma" panose="020B0604030504040204" pitchFamily="34" charset="0"/>
              </a:rPr>
              <a:t>ton</a:t>
            </a:r>
            <a:r>
              <a:rPr lang="pt-BR" altLang="pt-BR" sz="1600" kern="0" dirty="0">
                <a:latin typeface="Tahoma" panose="020B0604030504040204" pitchFamily="34" charset="0"/>
              </a:rPr>
              <a:t>/ha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 em </a:t>
            </a:r>
            <a:r>
              <a:rPr lang="pt-BR" altLang="pt-BR" sz="1600" kern="0" baseline="30000" dirty="0" err="1">
                <a:latin typeface="Tahoma" panose="020B0604030504040204" pitchFamily="34" charset="0"/>
              </a:rPr>
              <a:t>o</a:t>
            </a:r>
            <a:r>
              <a:rPr lang="pt-BR" altLang="pt-BR" sz="1600" kern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altLang="pt-BR" sz="1600" kern="0" dirty="0">
                <a:latin typeface="Tahoma" panose="020B0604030504040204" pitchFamily="34" charset="0"/>
              </a:rPr>
              <a:t>, quais as unidades de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buFontTx/>
              <a:buNone/>
              <a:defRPr/>
            </a:pPr>
            <a:endParaRPr lang="pt-BR" altLang="pt-BR" sz="1600" kern="0" dirty="0">
              <a:latin typeface="Tahoma" panose="020B0604030504040204" pitchFamily="34" charset="0"/>
            </a:endParaRPr>
          </a:p>
          <a:p>
            <a:pPr algn="ctr" eaLnBrk="1" hangingPunct="1">
              <a:buFontTx/>
              <a:buNone/>
              <a:defRPr/>
            </a:pPr>
            <a:r>
              <a:rPr lang="pt-BR" altLang="pt-BR" sz="18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</a:t>
            </a:r>
            <a:r>
              <a:rPr lang="pt-BR" altLang="pt-BR" sz="1600" kern="0" dirty="0">
                <a:latin typeface="Tahoma" panose="020B0604030504040204" pitchFamily="34" charset="0"/>
              </a:rPr>
              <a:t> </a:t>
            </a:r>
            <a:r>
              <a:rPr lang="pt-BR" altLang="pt-BR" sz="1600" kern="0" dirty="0" err="1">
                <a:latin typeface="Tahoma" panose="020B0604030504040204" pitchFamily="34" charset="0"/>
              </a:rPr>
              <a:t>mm.ha</a:t>
            </a:r>
            <a:r>
              <a:rPr lang="pt-BR" altLang="pt-BR" sz="1600" kern="0" dirty="0">
                <a:latin typeface="Tahoma" panose="020B0604030504040204" pitchFamily="34" charset="0"/>
              </a:rPr>
              <a:t>/</a:t>
            </a:r>
            <a:r>
              <a:rPr lang="pt-BR" altLang="pt-BR" sz="1600" kern="0" dirty="0" err="1">
                <a:latin typeface="Tahoma" panose="020B0604030504040204" pitchFamily="34" charset="0"/>
              </a:rPr>
              <a:t>ton</a:t>
            </a:r>
            <a:r>
              <a:rPr lang="pt-BR" altLang="pt-BR" sz="1600" kern="0" dirty="0">
                <a:latin typeface="Tahoma" panose="020B0604030504040204" pitchFamily="34" charset="0"/>
              </a:rPr>
              <a:t>             </a:t>
            </a:r>
            <a:r>
              <a:rPr lang="pt-BR" altLang="pt-BR" sz="18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 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 </a:t>
            </a:r>
            <a:r>
              <a:rPr lang="pt-BR" altLang="pt-BR" sz="1600" kern="0" dirty="0">
                <a:latin typeface="Tahoma" panose="020B0604030504040204" pitchFamily="34" charset="0"/>
              </a:rPr>
              <a:t>mm/</a:t>
            </a:r>
            <a:r>
              <a:rPr lang="pt-BR" altLang="pt-BR" sz="1600" kern="0" baseline="30000" dirty="0" err="1">
                <a:latin typeface="Tahoma" panose="020B0604030504040204" pitchFamily="34" charset="0"/>
              </a:rPr>
              <a:t>o</a:t>
            </a:r>
            <a:r>
              <a:rPr lang="pt-BR" altLang="pt-BR" sz="1600" kern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pt-BR" altLang="pt-BR" sz="1600" kern="0" dirty="0">
              <a:latin typeface="Tahoma" panose="020B0604030504040204" pitchFamily="34" charset="0"/>
            </a:endParaRPr>
          </a:p>
          <a:p>
            <a:pPr eaLnBrk="1" hangingPunct="1">
              <a:buFontTx/>
              <a:buNone/>
              <a:defRPr/>
            </a:pPr>
            <a:endParaRPr lang="pt-BR" altLang="pt-BR" sz="1600" kern="0" dirty="0">
              <a:latin typeface="Tahoma" panose="020B0604030504040204" pitchFamily="34" charset="0"/>
            </a:endParaRPr>
          </a:p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Como comparar estes parâmetros?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5377B30-DFA9-4480-A0CD-96168C57E525}" type="slidenum">
              <a:rPr lang="pt-BR"/>
              <a:pPr>
                <a:defRPr/>
              </a:pPr>
              <a:t>68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15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Regressão Padronizada</a:t>
            </a:r>
          </a:p>
        </p:txBody>
      </p:sp>
      <p:sp>
        <p:nvSpPr>
          <p:cNvPr id="48131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52425" y="1412875"/>
            <a:ext cx="8496300" cy="647700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Para obter um modelo cujos coeficientes sejam adimensionais, deve-se padronizar cada uma das variáveis dependente e independentes, ou seja:</a:t>
            </a:r>
          </a:p>
          <a:p>
            <a:pPr eaLnBrk="1" hangingPunct="1">
              <a:buFontTx/>
              <a:buNone/>
            </a:pPr>
            <a:endParaRPr lang="pt-BR" altLang="pt-BR" sz="900" dirty="0"/>
          </a:p>
        </p:txBody>
      </p:sp>
      <p:graphicFrame>
        <p:nvGraphicFramePr>
          <p:cNvPr id="2" name="Objeto 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0228127"/>
              </p:ext>
            </p:extLst>
          </p:nvPr>
        </p:nvGraphicFramePr>
        <p:xfrm>
          <a:off x="2471738" y="3848100"/>
          <a:ext cx="35067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336800" imgH="266700" progId="Equation.3">
                  <p:embed/>
                </p:oleObj>
              </mc:Choice>
              <mc:Fallback>
                <p:oleObj name="Equação" r:id="rId2" imgW="2336800" imgH="266700" progId="Equation.3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71738" y="3848100"/>
                        <a:ext cx="3506787" cy="40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2554288" y="2276475"/>
            <a:ext cx="3341687" cy="723900"/>
            <a:chOff x="2483768" y="2276872"/>
            <a:chExt cx="3343250" cy="723900"/>
          </a:xfrm>
        </p:grpSpPr>
        <p:graphicFrame>
          <p:nvGraphicFramePr>
            <p:cNvPr id="48140" name="Objeto 4"/>
            <p:cNvGraphicFramePr>
              <a:graphicFrameLocks/>
            </p:cNvGraphicFramePr>
            <p:nvPr/>
          </p:nvGraphicFramePr>
          <p:xfrm>
            <a:off x="2483768" y="2276872"/>
            <a:ext cx="1028700" cy="6667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4" imgW="685502" imgH="444307" progId="Equation.3">
                    <p:embed/>
                  </p:oleObj>
                </mc:Choice>
                <mc:Fallback>
                  <p:oleObj name="Equação" r:id="rId4" imgW="685502" imgH="444307" progId="Equation.3">
                    <p:embed/>
                    <p:pic>
                      <p:nvPicPr>
                        <p:cNvPr id="48140" name="Objeto 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83768" y="2276872"/>
                          <a:ext cx="1028700" cy="6667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41" name="Objeto 5"/>
            <p:cNvGraphicFramePr>
              <a:graphicFrameLocks/>
            </p:cNvGraphicFramePr>
            <p:nvPr/>
          </p:nvGraphicFramePr>
          <p:xfrm>
            <a:off x="4283968" y="2276872"/>
            <a:ext cx="1543050" cy="723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6" imgW="1028254" imgH="482391" progId="Equation.3">
                    <p:embed/>
                  </p:oleObj>
                </mc:Choice>
                <mc:Fallback>
                  <p:oleObj name="Equação" r:id="rId6" imgW="1028254" imgH="482391" progId="Equation.3">
                    <p:embed/>
                    <p:pic>
                      <p:nvPicPr>
                        <p:cNvPr id="48141" name="Objeto 5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83968" y="2276872"/>
                          <a:ext cx="1543050" cy="7239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" name="Rectangle 9"/>
          <p:cNvSpPr txBox="1">
            <a:spLocks noChangeArrowheads="1"/>
          </p:cNvSpPr>
          <p:nvPr/>
        </p:nvSpPr>
        <p:spPr bwMode="auto">
          <a:xfrm>
            <a:off x="323850" y="3216275"/>
            <a:ext cx="8496300" cy="415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Nesse caso, a reta de regressão estimada</a:t>
            </a:r>
          </a:p>
        </p:txBody>
      </p:sp>
      <p:sp>
        <p:nvSpPr>
          <p:cNvPr id="8" name="Rectangle 9"/>
          <p:cNvSpPr txBox="1">
            <a:spLocks noChangeArrowheads="1"/>
          </p:cNvSpPr>
          <p:nvPr/>
        </p:nvSpPr>
        <p:spPr bwMode="auto">
          <a:xfrm>
            <a:off x="323850" y="4464050"/>
            <a:ext cx="8496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torna-se</a:t>
            </a:r>
          </a:p>
        </p:txBody>
      </p:sp>
      <p:sp>
        <p:nvSpPr>
          <p:cNvPr id="13" name="Rectangle 9"/>
          <p:cNvSpPr txBox="1">
            <a:spLocks noChangeArrowheads="1"/>
          </p:cNvSpPr>
          <p:nvPr/>
        </p:nvSpPr>
        <p:spPr bwMode="auto">
          <a:xfrm>
            <a:off x="347663" y="5661025"/>
            <a:ext cx="84963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Estes coeficientes podem então ser comparados entre si</a:t>
            </a:r>
          </a:p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Em muitos pacotes estatísticos, estes coeficientes são conhecidos como “coeficientes beta”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7D498B8-91D2-40A1-A69F-0A365F4D2211}" type="slidenum">
              <a:rPr lang="pt-BR"/>
              <a:pPr>
                <a:defRPr/>
              </a:pPr>
              <a:t>69</a:t>
            </a:fld>
            <a:endParaRPr lang="pt-BR"/>
          </a:p>
        </p:txBody>
      </p:sp>
      <p:graphicFrame>
        <p:nvGraphicFramePr>
          <p:cNvPr id="5" name="Objeto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01432670"/>
              </p:ext>
            </p:extLst>
          </p:nvPr>
        </p:nvGraphicFramePr>
        <p:xfrm>
          <a:off x="2471738" y="5045075"/>
          <a:ext cx="31067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2070100" imgH="266700" progId="Equation.3">
                  <p:embed/>
                </p:oleObj>
              </mc:Choice>
              <mc:Fallback>
                <p:oleObj name="Equação" r:id="rId8" imgW="2070100" imgH="266700" progId="Equation.3">
                  <p:embed/>
                  <p:pic>
                    <p:nvPicPr>
                      <p:cNvPr id="5" name="Objeto 4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71738" y="5045075"/>
                        <a:ext cx="3106737" cy="40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to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19754146"/>
              </p:ext>
            </p:extLst>
          </p:nvPr>
        </p:nvGraphicFramePr>
        <p:xfrm>
          <a:off x="5796136" y="4903788"/>
          <a:ext cx="1525587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1016000" imgH="457200" progId="Equation.3">
                  <p:embed/>
                </p:oleObj>
              </mc:Choice>
              <mc:Fallback>
                <p:oleObj name="Equação" r:id="rId10" imgW="1016000" imgH="457200" progId="Equation.3">
                  <p:embed/>
                  <p:pic>
                    <p:nvPicPr>
                      <p:cNvPr id="6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6136" y="4903788"/>
                        <a:ext cx="1525587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8" grpId="0" build="p"/>
      <p:bldP spid="13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Construção do Modelo</a:t>
            </a:r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95288" y="1412875"/>
            <a:ext cx="8569325" cy="5111750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Em muitos casos, dispomos de muitas variáveis independentes que podem ou não estar relacionadas com a variável dependente. Em geral, o objetivo de um estudo de regressão é determinar quais dessas variáveis independentes disponíveis melhor explicam ou predizem a variável em estudo</a:t>
            </a:r>
          </a:p>
          <a:p>
            <a:pPr eaLnBrk="1" hangingPunct="1">
              <a:buFontTx/>
              <a:buNone/>
            </a:pPr>
            <a:r>
              <a:rPr lang="pt-BR" altLang="pt-BR" sz="1600" dirty="0"/>
              <a:t>Pode-se imaginar que muitos modelos podem ser estimados. Nesse caso, deve-se buscar o melhor modelo que represente a relação entre as variáveis, ou seja, aquele que melhor se ajuste aos dados analisados</a:t>
            </a:r>
          </a:p>
          <a:p>
            <a:pPr eaLnBrk="1" hangingPunct="1"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</a:rPr>
              <a:t>Dicas:</a:t>
            </a:r>
          </a:p>
          <a:p>
            <a:pPr eaLnBrk="1" hangingPunct="1">
              <a:buFontTx/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quanto mais simples o modelo, melhor</a:t>
            </a:r>
          </a:p>
          <a:p>
            <a:pPr eaLnBrk="1" hangingPunct="1">
              <a:buFontTx/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dê preferência por modelos lineares (ou linearizáveis)</a:t>
            </a:r>
          </a:p>
          <a:p>
            <a:pPr eaLnBrk="1" hangingPunct="1">
              <a:buFontTx/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utilize conhecimentos prévios para escolha do tipo de relação entre cada variável independente e a dependente (linear, polinomial, logarítmico, exponencial, potencial, </a:t>
            </a:r>
            <a:r>
              <a:rPr lang="pt-BR" altLang="pt-BR" sz="1600" dirty="0" err="1"/>
              <a:t>etc</a:t>
            </a:r>
            <a:r>
              <a:rPr lang="pt-BR" altLang="pt-BR" sz="1600" dirty="0"/>
              <a:t>), construindo primeiramente um modelo conceitual ou analise modelos utilizados em trabalhos semelhantes</a:t>
            </a:r>
          </a:p>
          <a:p>
            <a:pPr marL="355600" indent="-355600" eaLnBrk="1" hangingPunct="1"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evite métodos automáticos que “procuram” esta melhor relação. A escolha do tipo de relação deve ser fundamentada em conhecimentos prévios ou baseada em diagramas de dispersão. Na dúvida, utilize relações lineares</a:t>
            </a:r>
          </a:p>
          <a:p>
            <a:pPr marL="355600" indent="-355600" eaLnBrk="1" hangingPunct="1"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após a estimação dos parâmetros, faça a análise dos resíduos para detectar quaisquer anomalias (relação inadequada, </a:t>
            </a:r>
            <a:r>
              <a:rPr lang="pt-BR" altLang="pt-BR" sz="1600" i="1" dirty="0"/>
              <a:t>outliers</a:t>
            </a:r>
            <a:r>
              <a:rPr lang="pt-BR" altLang="pt-BR" sz="1600" dirty="0"/>
              <a:t>, não normalidade, não constância da variância, </a:t>
            </a:r>
            <a:r>
              <a:rPr lang="pt-BR" altLang="pt-BR" sz="1600" dirty="0" err="1"/>
              <a:t>etc</a:t>
            </a:r>
            <a:r>
              <a:rPr lang="pt-BR" altLang="pt-BR" sz="1600" dirty="0"/>
              <a:t>) e tente minimizá-las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43BBFC-F7FD-4316-94E0-EF81C3180103}" type="slidenum">
              <a:rPr lang="pt-BR"/>
              <a:pPr>
                <a:defRPr/>
              </a:pPr>
              <a:t>70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3501008"/>
            <a:ext cx="3240000" cy="2213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0112" y="3501008"/>
            <a:ext cx="3240000" cy="2213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Construção do Modelo</a:t>
            </a:r>
            <a:endParaRPr lang="pt-BR" i="1" dirty="0"/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95288" y="1349375"/>
            <a:ext cx="8569325" cy="2151633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600" dirty="0"/>
              <a:t>Quando se trabalha com um grande número de variáveis independentes, muitas vezes o processo de escolha de quais deverão compor o modelo final é bastante dificultado, especialmente quando há colinearidade entre estas variáveis</a:t>
            </a:r>
          </a:p>
          <a:p>
            <a:pPr marL="352425" indent="-352425" eaLnBrk="1" hangingPunct="1">
              <a:buFontTx/>
              <a:buNone/>
            </a:pPr>
            <a:endParaRPr lang="pt-BR" altLang="pt-BR" sz="1600" dirty="0"/>
          </a:p>
          <a:p>
            <a:pPr marL="352425" indent="-352425" eaLnBrk="1" hangingPunct="1">
              <a:buFontTx/>
              <a:buNone/>
            </a:pPr>
            <a:r>
              <a:rPr lang="pt-BR" altLang="pt-BR" sz="1600" dirty="0"/>
              <a:t>De modo geral, o primeiro passo é verificar se a relação entre a variável dependente e cada uma das variáveis independentes é linear. No caso da relação não ser linear, procura-se transformações de modo a linearizá-la. Se não houver nenhuma evidência, deixe-a na sua forma original</a:t>
            </a:r>
          </a:p>
          <a:p>
            <a:pPr marL="352425" indent="-352425" eaLnBrk="1" hangingPunct="1">
              <a:buFontTx/>
              <a:buNone/>
            </a:pPr>
            <a:endParaRPr lang="pt-BR" altLang="pt-BR" sz="1600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71</a:t>
            </a:fld>
            <a:endParaRPr lang="pt-BR" dirty="0"/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963437"/>
              </p:ext>
            </p:extLst>
          </p:nvPr>
        </p:nvGraphicFramePr>
        <p:xfrm>
          <a:off x="539552" y="3583216"/>
          <a:ext cx="1219200" cy="2514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52,31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55,78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60,05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1,55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62,66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2,69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4,53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67,16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7,05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71,69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22,24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75,59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43,40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77,17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80,02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116,31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88,78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964,13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2117,60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005536"/>
              </p:ext>
            </p:extLst>
          </p:nvPr>
        </p:nvGraphicFramePr>
        <p:xfrm>
          <a:off x="539552" y="3583216"/>
          <a:ext cx="1828800" cy="2514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logX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52,31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55,78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-0,28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60,05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1,55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62,66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2,69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4,53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0,66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67,16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7,05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0,85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71,69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22,24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1,35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75,59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43,40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1,64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77,17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80,02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116,31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2,07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88,78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964,13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2,98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2117,60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3,33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to 5"/>
              <p:cNvSpPr txBox="1"/>
              <p:nvPr/>
            </p:nvSpPr>
            <p:spPr bwMode="auto">
              <a:xfrm>
                <a:off x="4703763" y="5808663"/>
                <a:ext cx="2039937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Objeto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03763" y="5808663"/>
                <a:ext cx="2039937" cy="3619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Conector reto 3"/>
          <p:cNvCxnSpPr/>
          <p:nvPr/>
        </p:nvCxnSpPr>
        <p:spPr bwMode="auto">
          <a:xfrm flipV="1">
            <a:off x="6214536" y="3842839"/>
            <a:ext cx="2122758" cy="13635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9" name="Grupo 8"/>
          <p:cNvGrpSpPr/>
          <p:nvPr/>
        </p:nvGrpSpPr>
        <p:grpSpPr>
          <a:xfrm>
            <a:off x="1259632" y="3536264"/>
            <a:ext cx="432048" cy="2596808"/>
            <a:chOff x="1335832" y="3572688"/>
            <a:chExt cx="432048" cy="2596808"/>
          </a:xfrm>
        </p:grpSpPr>
        <p:cxnSp>
          <p:nvCxnSpPr>
            <p:cNvPr id="7" name="Conector reto 6"/>
            <p:cNvCxnSpPr/>
            <p:nvPr/>
          </p:nvCxnSpPr>
          <p:spPr bwMode="auto">
            <a:xfrm flipH="1">
              <a:off x="1335832" y="3572688"/>
              <a:ext cx="432048" cy="259680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33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" name="Conector reto 12"/>
            <p:cNvCxnSpPr/>
            <p:nvPr/>
          </p:nvCxnSpPr>
          <p:spPr bwMode="auto">
            <a:xfrm>
              <a:off x="1335832" y="3572688"/>
              <a:ext cx="432048" cy="259680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33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7" name="Agrupar 16">
            <a:extLst>
              <a:ext uri="{FF2B5EF4-FFF2-40B4-BE49-F238E27FC236}">
                <a16:creationId xmlns:a16="http://schemas.microsoft.com/office/drawing/2014/main" id="{DD6F8BBF-88DE-B8B3-2B06-4A33B63DDAB2}"/>
              </a:ext>
            </a:extLst>
          </p:cNvPr>
          <p:cNvGrpSpPr/>
          <p:nvPr/>
        </p:nvGrpSpPr>
        <p:grpSpPr>
          <a:xfrm>
            <a:off x="2051720" y="6133072"/>
            <a:ext cx="3202260" cy="689829"/>
            <a:chOff x="2051720" y="6133072"/>
            <a:chExt cx="3202260" cy="689829"/>
          </a:xfrm>
        </p:grpSpPr>
        <p:sp>
          <p:nvSpPr>
            <p:cNvPr id="2" name="Rectangle 9">
              <a:extLst>
                <a:ext uri="{FF2B5EF4-FFF2-40B4-BE49-F238E27FC236}">
                  <a16:creationId xmlns:a16="http://schemas.microsoft.com/office/drawing/2014/main" id="{95B56C3A-B05A-1527-9AA7-1803D60733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29397" y="6295580"/>
              <a:ext cx="3024583" cy="5273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8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400">
                  <a:solidFill>
                    <a:schemeClr val="tx1"/>
                  </a:solidFill>
                  <a:latin typeface="+mn-lt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+mn-lt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9pPr>
            </a:lstStyle>
            <a:p>
              <a:pPr marL="180975" indent="-180975" eaLnBrk="1" hangingPunct="1">
                <a:buFontTx/>
                <a:buNone/>
              </a:pPr>
              <a:r>
                <a:rPr lang="pt-BR" altLang="pt-BR" sz="1200" kern="0" dirty="0">
                  <a:latin typeface="Tahoma" panose="020B0604030504040204" pitchFamily="34" charset="0"/>
                </a:rPr>
                <a:t>Nesse caso, utiliza-se somente a variável transformada descartando-se a original</a:t>
              </a:r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BA96984B-BA13-738A-0E4A-F93B51816B91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2051720" y="6133072"/>
              <a:ext cx="216024" cy="267728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6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4708183"/>
              </p:ext>
            </p:extLst>
          </p:nvPr>
        </p:nvGraphicFramePr>
        <p:xfrm>
          <a:off x="539552" y="3583216"/>
          <a:ext cx="1219200" cy="2514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60,7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34,7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90,8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43,8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95,2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83,3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80,8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74,2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56,1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43,8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91,7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a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0598456"/>
                  </p:ext>
                </p:extLst>
              </p:nvPr>
            </p:nvGraphicFramePr>
            <p:xfrm>
              <a:off x="539552" y="3583216"/>
              <a:ext cx="1828800" cy="2514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21907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X</a:t>
                          </a:r>
                          <a:r>
                            <a:rPr lang="pt-BR" sz="1100" b="0" i="0" u="none" strike="noStrike" baseline="-2500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36,5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10,3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106,09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60,7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16,3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265,69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71,1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24,5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600,25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89,2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34,7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1204,09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90,8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43,8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1918,44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94,1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51,0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2601,00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95,2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59,2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3504,64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83,3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66,9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4475,61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80,8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74,2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5505,64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56,1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85,2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7259,04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43,8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91,7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8408,89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17,9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98,6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9721,96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a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0598456"/>
                  </p:ext>
                </p:extLst>
              </p:nvPr>
            </p:nvGraphicFramePr>
            <p:xfrm>
              <a:off x="539552" y="3583216"/>
              <a:ext cx="1828800" cy="2514600"/>
            </p:xfrm>
            <a:graphic>
              <a:graphicData uri="http://schemas.openxmlformats.org/drawingml/2006/table">
                <a:tbl>
                  <a:tblPr/>
                  <a:tblGrid>
                    <a:gridCol w="609600"/>
                    <a:gridCol w="609600"/>
                    <a:gridCol w="609600"/>
                  </a:tblGrid>
                  <a:tr h="21907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X</a:t>
                          </a:r>
                          <a:r>
                            <a:rPr lang="pt-BR" sz="1100" b="0" i="0" u="none" strike="noStrike" baseline="-25000" dirty="0" smtClean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1">
                          <a:blip r:embed="rId3"/>
                          <a:stretch>
                            <a:fillRect l="-201000" t="-2778" b="-1083333"/>
                          </a:stretch>
                        </a:blip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36,5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10,3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106,09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60,7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16,3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265,69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71,1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24,5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600,25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89,2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34,7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1204,09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90,8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43,8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1918,44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94,1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51,0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2601,00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95,2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59,2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3504,64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83,3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66,9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4475,61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80,8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74,2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5505,64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56,1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85,2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7259,04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43,8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91,7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8408,89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17,9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98,6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9721,96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Construção do Modelo</a:t>
            </a:r>
            <a:endParaRPr lang="pt-BR" i="1" dirty="0"/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95288" y="1349375"/>
            <a:ext cx="8569325" cy="2007617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600" dirty="0"/>
              <a:t>Quando se trabalha com um grande número de variáveis independentes, muitas vezes o processo de escolha de quais deverão compor o modelo final é bastante dificultado, especialmente quando há colinearidade entre estas variáveis</a:t>
            </a:r>
          </a:p>
          <a:p>
            <a:pPr marL="352425" indent="-352425" eaLnBrk="1" hangingPunct="1">
              <a:buFontTx/>
              <a:buNone/>
            </a:pPr>
            <a:endParaRPr lang="pt-BR" altLang="pt-BR" sz="1600" dirty="0"/>
          </a:p>
          <a:p>
            <a:pPr marL="352425" indent="-352425" eaLnBrk="1" hangingPunct="1">
              <a:buNone/>
            </a:pPr>
            <a:r>
              <a:rPr lang="pt-BR" altLang="pt-BR" sz="1600" dirty="0"/>
              <a:t>De modo geral, o primeiro passo é verificar se a relação entre a variável dependente e cada uma das variáveis independentes é linear. No caso da relação não ser linear, procura-se transformações de modo a linearizá-la. Se não houver nenhuma evidência, deixe-a na sua forma original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72</a:t>
            </a:fld>
            <a:endParaRPr lang="pt-BR" dirty="0"/>
          </a:p>
        </p:txBody>
      </p:sp>
      <p:graphicFrame>
        <p:nvGraphicFramePr>
          <p:cNvPr id="6" name="Objeto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27319202"/>
              </p:ext>
            </p:extLst>
          </p:nvPr>
        </p:nvGraphicFramePr>
        <p:xfrm>
          <a:off x="4437063" y="5788824"/>
          <a:ext cx="2573337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14320" imgH="253800" progId="Equation.DSMT4">
                  <p:embed/>
                </p:oleObj>
              </mc:Choice>
              <mc:Fallback>
                <p:oleObj name="Equation" r:id="rId4" imgW="1714320" imgH="253800" progId="Equation.DSMT4">
                  <p:embed/>
                  <p:pic>
                    <p:nvPicPr>
                      <p:cNvPr id="6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37063" y="5788824"/>
                        <a:ext cx="2573337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807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1760" y="3501008"/>
            <a:ext cx="3240000" cy="22865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8076" name="Picture 12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4604084" y="3560520"/>
            <a:ext cx="2518612" cy="1646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Rectangle 9"/>
          <p:cNvSpPr txBox="1">
            <a:spLocks noChangeArrowheads="1"/>
          </p:cNvSpPr>
          <p:nvPr/>
        </p:nvSpPr>
        <p:spPr bwMode="auto">
          <a:xfrm>
            <a:off x="395288" y="6237312"/>
            <a:ext cx="8569325" cy="5273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531813" indent="-531813" eaLnBrk="1" hangingPunct="1">
              <a:buFontTx/>
              <a:buNone/>
            </a:pPr>
            <a:r>
              <a:rPr lang="pt-BR" altLang="pt-BR" sz="1600" kern="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kern="0" dirty="0">
                <a:latin typeface="Tahoma" panose="020B0604030504040204" pitchFamily="34" charset="0"/>
              </a:rPr>
              <a:t> no caso de adotar modelos polinomiais, considere, a princípio, todos os termos do polinômio! </a:t>
            </a:r>
          </a:p>
        </p:txBody>
      </p:sp>
    </p:spTree>
    <p:extLst>
      <p:ext uri="{BB962C8B-B14F-4D97-AF65-F5344CB8AC3E}">
        <p14:creationId xmlns:p14="http://schemas.microsoft.com/office/powerpoint/2010/main" val="176908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0888F-3463-46EE-A566-8A998AEE1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1067CFE3-EEDA-7D9A-E31D-BA5B4CE21E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Construção do Modelo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0B0C73B7-B87D-CA59-7D07-E3CEA4E9EF7D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95288" y="1349375"/>
                <a:ext cx="8569325" cy="5051425"/>
              </a:xfrm>
              <a:noFill/>
            </p:spPr>
            <p:txBody>
              <a:bodyPr/>
              <a:lstStyle/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Quando se trabalha com um grande número de variáveis independentes, muitas vezes o processo de escolha de quais deverão compor o modelo final é bastante dificultado, especialmente quando há colinearidade entre estas variáveis</a:t>
                </a:r>
              </a:p>
              <a:p>
                <a:pPr marL="352425" indent="-352425" eaLnBrk="1" hangingPunct="1">
                  <a:buFontTx/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:r>
                  <a:rPr lang="pt-BR" altLang="pt-BR" sz="1600" dirty="0"/>
                  <a:t>De modo geral, o primeiro passo é verificar se a relação entre a variável dependente e cada uma das variáveis independentes é linear. No caso da relação não ser linear, procura-se transformações de modo a linearizá-la. Se não houver nenhuma evidência, deixe-a na sua forma original</a:t>
                </a:r>
              </a:p>
              <a:p>
                <a:pPr marL="352425" indent="-352425" eaLnBrk="1" hangingPunct="1"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:r>
                  <a:rPr lang="pt-BR" altLang="pt-BR" sz="1600" dirty="0"/>
                  <a:t>Todas as variáveis categóricas devem ser convertidas para variáveis indicadoras e, se necessário, incluir também as interações com todas as outras variáveis independentes do modelo</a:t>
                </a:r>
              </a:p>
              <a:p>
                <a:pPr marL="352425" indent="-352425" eaLnBrk="1" hangingPunct="1"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:r>
                  <a:rPr lang="pt-BR" altLang="pt-BR" sz="1600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={0,1}</m:t>
                    </m:r>
                  </m:oMath>
                </a14:m>
                <a:r>
                  <a:rPr lang="pt-BR" altLang="pt-BR" sz="1600" dirty="0"/>
                  <a:t> for uma variável indicadora, então o novo modelo será:</a:t>
                </a:r>
              </a:p>
              <a:p>
                <a:pPr marL="352425" indent="-352425" eaLnBrk="1" hangingPunct="1"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/>
              </a:p>
            </p:txBody>
          </p:sp>
        </mc:Choice>
        <mc:Fallback xmlns="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0B0C73B7-B87D-CA59-7D07-E3CEA4E9EF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95288" y="1349375"/>
                <a:ext cx="8569325" cy="5051425"/>
              </a:xfrm>
              <a:blipFill>
                <a:blip r:embed="rId2"/>
                <a:stretch>
                  <a:fillRect l="-427" t="-362" r="-7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1299080-6F13-65B9-8F34-F21BDD82F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221331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Seleção de Variáveis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27298" y="1355617"/>
                <a:ext cx="8569325" cy="2871044"/>
              </a:xfrm>
              <a:noFill/>
            </p:spPr>
            <p:txBody>
              <a:bodyPr/>
              <a:lstStyle/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A seleção pode ser feita manualmente, identificando-se a variável independente com maior poder de explicação (maior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altLang="pt-BR" sz="160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altLang="pt-BR" sz="1600" dirty="0"/>
                  <a:t> ou menor valor-P) e em seguida, acrescenta-se uma a uma, cada variável independente, testando-se a significância de cada variável independente adicionada.</a:t>
                </a:r>
              </a:p>
            </p:txBody>
          </p:sp>
        </mc:Choice>
        <mc:Fallback xmlns="">
          <p:sp>
            <p:nvSpPr>
              <p:cNvPr id="12" name="Rectangle 9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27298" y="1355617"/>
                <a:ext cx="8569325" cy="2871044"/>
              </a:xfrm>
              <a:blipFill>
                <a:blip r:embed="rId2"/>
                <a:stretch>
                  <a:fillRect l="-427" t="-6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74</a:t>
            </a:fld>
            <a:endParaRPr lang="pt-BR" dirty="0"/>
          </a:p>
        </p:txBody>
      </p:sp>
      <p:sp>
        <p:nvSpPr>
          <p:cNvPr id="5" name="Rectangle 9"/>
          <p:cNvSpPr txBox="1">
            <a:spLocks noChangeArrowheads="1"/>
          </p:cNvSpPr>
          <p:nvPr/>
        </p:nvSpPr>
        <p:spPr bwMode="auto">
          <a:xfrm>
            <a:off x="327298" y="5445224"/>
            <a:ext cx="8569325" cy="9361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352425" indent="-352425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Este processo não garante que o modelo final seja o melhor dentre todos os possíveis modelos. Esta seleção pode ser otimizada através de processos automáticos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Os mais comuns são: </a:t>
            </a:r>
            <a:r>
              <a:rPr lang="pt-BR" altLang="pt-BR" sz="1600" kern="0" dirty="0">
                <a:solidFill>
                  <a:srgbClr val="FF0000"/>
                </a:solidFill>
                <a:latin typeface="Tahoma" panose="020B0604030504040204" pitchFamily="34" charset="0"/>
              </a:rPr>
              <a:t>busca exaustiva</a:t>
            </a:r>
            <a:r>
              <a:rPr lang="pt-BR" altLang="pt-BR" sz="1600" kern="0" dirty="0">
                <a:latin typeface="Tahoma" panose="020B0604030504040204" pitchFamily="34" charset="0"/>
              </a:rPr>
              <a:t> e </a:t>
            </a:r>
            <a:r>
              <a:rPr lang="pt-BR" altLang="pt-BR" sz="1600" i="1" kern="0" dirty="0" err="1">
                <a:solidFill>
                  <a:srgbClr val="FF0000"/>
                </a:solidFill>
                <a:latin typeface="Tahoma" panose="020B0604030504040204" pitchFamily="34" charset="0"/>
              </a:rPr>
              <a:t>stepwise</a:t>
            </a:r>
            <a:r>
              <a:rPr lang="pt-BR" altLang="pt-BR" sz="1600" i="1" kern="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2" name="Elipse 1"/>
          <p:cNvSpPr/>
          <p:nvPr/>
        </p:nvSpPr>
        <p:spPr bwMode="auto">
          <a:xfrm>
            <a:off x="395288" y="3609021"/>
            <a:ext cx="371187" cy="371187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grpSp>
        <p:nvGrpSpPr>
          <p:cNvPr id="4" name="Grupo 3"/>
          <p:cNvGrpSpPr/>
          <p:nvPr/>
        </p:nvGrpSpPr>
        <p:grpSpPr>
          <a:xfrm>
            <a:off x="1043608" y="2708921"/>
            <a:ext cx="371187" cy="2171387"/>
            <a:chOff x="1043608" y="3356992"/>
            <a:chExt cx="371187" cy="2171387"/>
          </a:xfrm>
        </p:grpSpPr>
        <p:sp>
          <p:nvSpPr>
            <p:cNvPr id="7" name="Elipse 6"/>
            <p:cNvSpPr/>
            <p:nvPr/>
          </p:nvSpPr>
          <p:spPr bwMode="auto">
            <a:xfrm>
              <a:off x="1043608" y="33569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8" name="Elipse 7"/>
            <p:cNvSpPr/>
            <p:nvPr/>
          </p:nvSpPr>
          <p:spPr bwMode="auto">
            <a:xfrm>
              <a:off x="1043608" y="380704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9" name="Elipse 8"/>
            <p:cNvSpPr/>
            <p:nvPr/>
          </p:nvSpPr>
          <p:spPr bwMode="auto">
            <a:xfrm>
              <a:off x="1043608" y="42570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10" name="Elipse 9"/>
            <p:cNvSpPr/>
            <p:nvPr/>
          </p:nvSpPr>
          <p:spPr bwMode="auto">
            <a:xfrm>
              <a:off x="1043608" y="470714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11" name="Elipse 10"/>
            <p:cNvSpPr/>
            <p:nvPr/>
          </p:nvSpPr>
          <p:spPr bwMode="auto">
            <a:xfrm>
              <a:off x="1043608" y="51571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</p:grpSp>
      <p:cxnSp>
        <p:nvCxnSpPr>
          <p:cNvPr id="13" name="Conector de seta reta 12"/>
          <p:cNvCxnSpPr>
            <a:stCxn id="2" idx="6"/>
            <a:endCxn id="7" idx="2"/>
          </p:cNvCxnSpPr>
          <p:nvPr/>
        </p:nvCxnSpPr>
        <p:spPr bwMode="auto">
          <a:xfrm flipV="1">
            <a:off x="766475" y="2894515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5" name="Conector de seta reta 14"/>
          <p:cNvCxnSpPr/>
          <p:nvPr/>
        </p:nvCxnSpPr>
        <p:spPr bwMode="auto">
          <a:xfrm flipV="1">
            <a:off x="766475" y="3344565"/>
            <a:ext cx="277133" cy="45005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7" name="Conector de seta reta 16"/>
          <p:cNvCxnSpPr>
            <a:stCxn id="2" idx="6"/>
            <a:endCxn id="9" idx="2"/>
          </p:cNvCxnSpPr>
          <p:nvPr/>
        </p:nvCxnSpPr>
        <p:spPr bwMode="auto">
          <a:xfrm>
            <a:off x="766475" y="3794615"/>
            <a:ext cx="277133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9" name="Conector de seta reta 18"/>
          <p:cNvCxnSpPr>
            <a:stCxn id="2" idx="6"/>
            <a:endCxn id="10" idx="2"/>
          </p:cNvCxnSpPr>
          <p:nvPr/>
        </p:nvCxnSpPr>
        <p:spPr bwMode="auto">
          <a:xfrm>
            <a:off x="766475" y="3794615"/>
            <a:ext cx="277133" cy="45005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1" name="Conector de seta reta 20"/>
          <p:cNvCxnSpPr>
            <a:stCxn id="2" idx="6"/>
            <a:endCxn id="11" idx="2"/>
          </p:cNvCxnSpPr>
          <p:nvPr/>
        </p:nvCxnSpPr>
        <p:spPr bwMode="auto">
          <a:xfrm>
            <a:off x="766475" y="3794615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3" name="Conector de seta reta 22"/>
          <p:cNvCxnSpPr/>
          <p:nvPr/>
        </p:nvCxnSpPr>
        <p:spPr bwMode="auto">
          <a:xfrm flipV="1">
            <a:off x="766475" y="3344565"/>
            <a:ext cx="277133" cy="4500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1" name="Conector de seta reta 30"/>
          <p:cNvCxnSpPr>
            <a:stCxn id="24" idx="6"/>
            <a:endCxn id="26" idx="2"/>
          </p:cNvCxnSpPr>
          <p:nvPr/>
        </p:nvCxnSpPr>
        <p:spPr bwMode="auto">
          <a:xfrm flipV="1">
            <a:off x="3802206" y="2894515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3" name="Conector de seta reta 32"/>
          <p:cNvCxnSpPr>
            <a:stCxn id="24" idx="6"/>
            <a:endCxn id="28" idx="2"/>
          </p:cNvCxnSpPr>
          <p:nvPr/>
        </p:nvCxnSpPr>
        <p:spPr bwMode="auto">
          <a:xfrm flipV="1">
            <a:off x="3802206" y="3494582"/>
            <a:ext cx="277133" cy="30003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4" name="Conector de seta reta 33"/>
          <p:cNvCxnSpPr>
            <a:stCxn id="24" idx="6"/>
            <a:endCxn id="29" idx="2"/>
          </p:cNvCxnSpPr>
          <p:nvPr/>
        </p:nvCxnSpPr>
        <p:spPr bwMode="auto">
          <a:xfrm>
            <a:off x="3802206" y="3794615"/>
            <a:ext cx="277133" cy="30003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5" name="Conector de seta reta 34"/>
          <p:cNvCxnSpPr>
            <a:stCxn id="24" idx="6"/>
            <a:endCxn id="30" idx="2"/>
          </p:cNvCxnSpPr>
          <p:nvPr/>
        </p:nvCxnSpPr>
        <p:spPr bwMode="auto">
          <a:xfrm>
            <a:off x="3802206" y="3794615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6" name="Conector de seta reta 35"/>
          <p:cNvCxnSpPr>
            <a:stCxn id="24" idx="6"/>
            <a:endCxn id="29" idx="2"/>
          </p:cNvCxnSpPr>
          <p:nvPr/>
        </p:nvCxnSpPr>
        <p:spPr bwMode="auto">
          <a:xfrm>
            <a:off x="3802206" y="3794615"/>
            <a:ext cx="277133" cy="300034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42" name="Grupo 41"/>
          <p:cNvGrpSpPr/>
          <p:nvPr/>
        </p:nvGrpSpPr>
        <p:grpSpPr>
          <a:xfrm>
            <a:off x="3059832" y="2708921"/>
            <a:ext cx="1390694" cy="2171387"/>
            <a:chOff x="3397330" y="3356992"/>
            <a:chExt cx="1390694" cy="2171387"/>
          </a:xfrm>
        </p:grpSpPr>
        <p:sp>
          <p:nvSpPr>
            <p:cNvPr id="26" name="Elipse 25"/>
            <p:cNvSpPr/>
            <p:nvPr/>
          </p:nvSpPr>
          <p:spPr bwMode="auto">
            <a:xfrm>
              <a:off x="4416837" y="33569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8" name="Elipse 27"/>
            <p:cNvSpPr/>
            <p:nvPr/>
          </p:nvSpPr>
          <p:spPr bwMode="auto">
            <a:xfrm>
              <a:off x="4416837" y="395705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29" name="Elipse 28"/>
            <p:cNvSpPr/>
            <p:nvPr/>
          </p:nvSpPr>
          <p:spPr bwMode="auto">
            <a:xfrm>
              <a:off x="4416837" y="4557126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30" name="Elipse 29"/>
            <p:cNvSpPr/>
            <p:nvPr/>
          </p:nvSpPr>
          <p:spPr bwMode="auto">
            <a:xfrm>
              <a:off x="4416837" y="51571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grpSp>
          <p:nvGrpSpPr>
            <p:cNvPr id="40" name="Grupo 39"/>
            <p:cNvGrpSpPr/>
            <p:nvPr/>
          </p:nvGrpSpPr>
          <p:grpSpPr>
            <a:xfrm>
              <a:off x="3397330" y="4257092"/>
              <a:ext cx="742374" cy="371187"/>
              <a:chOff x="3397330" y="4257092"/>
              <a:chExt cx="742374" cy="371187"/>
            </a:xfrm>
          </p:grpSpPr>
          <p:sp>
            <p:nvSpPr>
              <p:cNvPr id="24" name="Elipse 23"/>
              <p:cNvSpPr/>
              <p:nvPr/>
            </p:nvSpPr>
            <p:spPr bwMode="auto">
              <a:xfrm>
                <a:off x="3768517" y="4257092"/>
                <a:ext cx="371187" cy="371187"/>
              </a:xfrm>
              <a:prstGeom prst="ellipse">
                <a:avLst/>
              </a:prstGeom>
              <a:solidFill>
                <a:srgbClr val="FF505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1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pt-BR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pt-BR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7" name="Elipse 36"/>
              <p:cNvSpPr/>
              <p:nvPr/>
            </p:nvSpPr>
            <p:spPr bwMode="auto">
              <a:xfrm>
                <a:off x="3397330" y="4257092"/>
                <a:ext cx="371187" cy="371187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600" b="0" i="1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</a:p>
            </p:txBody>
          </p:sp>
        </p:grpSp>
      </p:grpSp>
      <p:sp>
        <p:nvSpPr>
          <p:cNvPr id="39" name="CaixaDeTexto 38"/>
          <p:cNvSpPr txBox="1"/>
          <p:nvPr/>
        </p:nvSpPr>
        <p:spPr>
          <a:xfrm>
            <a:off x="1403648" y="3198455"/>
            <a:ext cx="8707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  <a:sym typeface="Symbol"/>
              </a:rPr>
              <a:t> </a:t>
            </a:r>
            <a:r>
              <a:rPr lang="pt-BR" sz="1100" dirty="0">
                <a:latin typeface="Tahoma" panose="020B0604030504040204" pitchFamily="34" charset="0"/>
              </a:rPr>
              <a:t>maior 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sz="11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41" name="CaixaDeTexto 40"/>
          <p:cNvSpPr txBox="1"/>
          <p:nvPr/>
        </p:nvSpPr>
        <p:spPr>
          <a:xfrm>
            <a:off x="4453652" y="3966316"/>
            <a:ext cx="163859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  <a:sym typeface="Symbol"/>
              </a:rPr>
              <a:t> </a:t>
            </a:r>
            <a:r>
              <a:rPr lang="pt-BR" sz="1100" dirty="0">
                <a:latin typeface="Tahoma" panose="020B0604030504040204" pitchFamily="34" charset="0"/>
              </a:rPr>
              <a:t>menor valor-P</a:t>
            </a:r>
          </a:p>
          <a:p>
            <a:r>
              <a:rPr lang="pt-BR" sz="1100" dirty="0">
                <a:latin typeface="Tahoma" panose="020B0604030504040204" pitchFamily="34" charset="0"/>
              </a:rPr>
              <a:t>     significativo (&lt; 5%)</a:t>
            </a:r>
            <a:endParaRPr lang="pt-BR" sz="11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Conector de seta reta 43"/>
          <p:cNvCxnSpPr>
            <a:stCxn id="55" idx="6"/>
            <a:endCxn id="50" idx="2"/>
          </p:cNvCxnSpPr>
          <p:nvPr/>
        </p:nvCxnSpPr>
        <p:spPr bwMode="auto">
          <a:xfrm flipV="1">
            <a:off x="7046999" y="2894514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5" name="Conector de seta reta 44"/>
          <p:cNvCxnSpPr>
            <a:stCxn id="55" idx="6"/>
            <a:endCxn id="51" idx="2"/>
          </p:cNvCxnSpPr>
          <p:nvPr/>
        </p:nvCxnSpPr>
        <p:spPr bwMode="auto">
          <a:xfrm>
            <a:off x="7046999" y="3794614"/>
            <a:ext cx="277133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7" name="Conector de seta reta 46"/>
          <p:cNvCxnSpPr>
            <a:stCxn id="55" idx="6"/>
            <a:endCxn id="53" idx="2"/>
          </p:cNvCxnSpPr>
          <p:nvPr/>
        </p:nvCxnSpPr>
        <p:spPr bwMode="auto">
          <a:xfrm>
            <a:off x="7046999" y="3794614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63" name="Grupo 62"/>
          <p:cNvGrpSpPr/>
          <p:nvPr/>
        </p:nvGrpSpPr>
        <p:grpSpPr>
          <a:xfrm>
            <a:off x="5933438" y="2708920"/>
            <a:ext cx="1761881" cy="2171387"/>
            <a:chOff x="5933438" y="3140968"/>
            <a:chExt cx="1761881" cy="2171387"/>
          </a:xfrm>
        </p:grpSpPr>
        <p:sp>
          <p:nvSpPr>
            <p:cNvPr id="50" name="Elipse 49"/>
            <p:cNvSpPr/>
            <p:nvPr/>
          </p:nvSpPr>
          <p:spPr bwMode="auto">
            <a:xfrm>
              <a:off x="7324132" y="31409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51" name="Elipse 50"/>
            <p:cNvSpPr/>
            <p:nvPr/>
          </p:nvSpPr>
          <p:spPr bwMode="auto">
            <a:xfrm>
              <a:off x="7324132" y="40410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52" name="Elipse 51"/>
            <p:cNvSpPr/>
            <p:nvPr/>
          </p:nvSpPr>
          <p:spPr bwMode="auto">
            <a:xfrm>
              <a:off x="5933438" y="4041068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53" name="Elipse 52"/>
            <p:cNvSpPr/>
            <p:nvPr/>
          </p:nvSpPr>
          <p:spPr bwMode="auto">
            <a:xfrm>
              <a:off x="7324132" y="49411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55" name="Elipse 54"/>
            <p:cNvSpPr/>
            <p:nvPr/>
          </p:nvSpPr>
          <p:spPr bwMode="auto">
            <a:xfrm>
              <a:off x="6675812" y="40410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Elipse 55"/>
            <p:cNvSpPr/>
            <p:nvPr/>
          </p:nvSpPr>
          <p:spPr bwMode="auto">
            <a:xfrm>
              <a:off x="6304625" y="40410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9696" name="Grupo 29695"/>
          <p:cNvGrpSpPr/>
          <p:nvPr/>
        </p:nvGrpSpPr>
        <p:grpSpPr>
          <a:xfrm>
            <a:off x="7812360" y="2894515"/>
            <a:ext cx="1344464" cy="1985792"/>
            <a:chOff x="7812360" y="3326563"/>
            <a:chExt cx="1344464" cy="1985792"/>
          </a:xfrm>
        </p:grpSpPr>
        <p:sp>
          <p:nvSpPr>
            <p:cNvPr id="57" name="CaixaDeTexto 56"/>
            <p:cNvSpPr txBox="1"/>
            <p:nvPr/>
          </p:nvSpPr>
          <p:spPr>
            <a:xfrm>
              <a:off x="7967075" y="4078234"/>
              <a:ext cx="118974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  <a:sym typeface="Symbol"/>
                </a:rPr>
                <a:t>nenhum </a:t>
              </a:r>
              <a:r>
                <a:rPr lang="pt-BR" sz="1100" dirty="0">
                  <a:latin typeface="Tahoma" panose="020B0604030504040204" pitchFamily="34" charset="0"/>
                </a:rPr>
                <a:t>valor-P</a:t>
              </a:r>
            </a:p>
            <a:p>
              <a:r>
                <a:rPr lang="pt-BR" sz="1100" dirty="0">
                  <a:latin typeface="Tahoma" panose="020B0604030504040204" pitchFamily="34" charset="0"/>
                </a:rPr>
                <a:t>significativo</a:t>
              </a:r>
              <a:endParaRPr lang="pt-BR" sz="1100" baseline="30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Chave direita 61"/>
            <p:cNvSpPr/>
            <p:nvPr/>
          </p:nvSpPr>
          <p:spPr bwMode="auto">
            <a:xfrm>
              <a:off x="7812360" y="3326563"/>
              <a:ext cx="154715" cy="1985792"/>
            </a:xfrm>
            <a:prstGeom prst="rightBrac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9"/>
              <p:cNvSpPr txBox="1">
                <a:spLocks noChangeArrowheads="1"/>
              </p:cNvSpPr>
              <p:nvPr/>
            </p:nvSpPr>
            <p:spPr bwMode="auto">
              <a:xfrm>
                <a:off x="2234145" y="5002662"/>
                <a:ext cx="4442971" cy="370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4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352425" indent="-352425" algn="ctr" eaLnBrk="1" hangingPunct="1">
                  <a:buFontTx/>
                  <a:buNone/>
                </a:pPr>
                <a:r>
                  <a:rPr lang="pt-BR" altLang="pt-BR" sz="1600" kern="0" dirty="0">
                    <a:latin typeface="Tahoma" panose="020B0604030504040204" pitchFamily="34" charset="0"/>
                  </a:rPr>
                  <a:t>Modelo Final: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b="0" i="1" kern="0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pt-BR" altLang="pt-BR" sz="1600" b="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pt-BR" altLang="pt-BR" sz="1600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</a:rPr>
                          <m:t>+</m:t>
                        </m:r>
                        <m:r>
                          <a:rPr lang="pt-BR" altLang="pt-BR" sz="1600" i="1" ker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pt-BR" altLang="pt-BR" sz="160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2,</m:t>
                        </m:r>
                        <m:r>
                          <a:rPr lang="pt-BR" altLang="pt-BR" sz="1600" b="0" i="1" kern="0" smtClean="0">
                            <a:latin typeface="Cambria Math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pt-BR" altLang="pt-BR" sz="1600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</a:rPr>
                          <m:t>+</m:t>
                        </m:r>
                        <m:r>
                          <a:rPr lang="pt-BR" altLang="pt-BR" sz="1600" i="1" ker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pt-BR" altLang="pt-BR" sz="1600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 ker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4</m:t>
                        </m:r>
                        <m:r>
                          <a:rPr lang="pt-BR" altLang="pt-BR" sz="1600" i="1" ker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altLang="pt-BR" sz="1600" i="1" kern="0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b="0" i="1" kern="0" smtClean="0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pt-BR" altLang="pt-BR" sz="1600" b="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pt-BR" sz="1600" i="1" dirty="0">
                            <a:solidFill>
                              <a:srgbClr val="000000"/>
                            </a:solidFill>
                            <a:latin typeface="Times New Roman" pitchFamily="18" charset="0"/>
                            <a:cs typeface="Times New Roman" pitchFamily="18" charset="0"/>
                            <a:sym typeface="Symbol" pitchFamily="18" charset="2"/>
                          </a:rPr>
                          <m:t>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endParaRPr lang="pt-BR" altLang="pt-BR" sz="1600" kern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6" name="Rectangle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34145" y="5002662"/>
                <a:ext cx="4442971" cy="370554"/>
              </a:xfrm>
              <a:prstGeom prst="rect">
                <a:avLst/>
              </a:prstGeom>
              <a:blipFill>
                <a:blip r:embed="rId3"/>
                <a:stretch>
                  <a:fillRect t="-6667" b="-1166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236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9" grpId="0"/>
      <p:bldP spid="41" grpId="0"/>
      <p:bldP spid="66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Seleção de Variáveis – Busca Exaustiva</a:t>
            </a:r>
            <a:endParaRPr lang="pt-BR" i="1" dirty="0"/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95288" y="1422052"/>
            <a:ext cx="8569325" cy="1574900"/>
          </a:xfrm>
          <a:noFill/>
        </p:spPr>
        <p:txBody>
          <a:bodyPr/>
          <a:lstStyle/>
          <a:p>
            <a:pPr marL="355600" indent="-355600" eaLnBrk="1" hangingPunct="1">
              <a:buNone/>
            </a:pPr>
            <a:r>
              <a:rPr lang="pt-BR" altLang="pt-BR" sz="1600" dirty="0"/>
              <a:t>Na busca exaustiva, escolhe-se o melhor modelo simples (1 variável independente)  e depois o melhor modelo com 2 variáveis (todos os pares são testados) e depois o modelo com 3 variáveis (todas as triplas são testadas), até que o modelo completo seja ajustado. Avalia-se os modelos obtidos (do mais simples ao mais completo) de forma a garantir que o acréscimo de variáveis independentes traga ganhos significativos.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75</a:t>
            </a:fld>
            <a:endParaRPr lang="pt-BR" dirty="0"/>
          </a:p>
        </p:txBody>
      </p:sp>
      <p:sp>
        <p:nvSpPr>
          <p:cNvPr id="5" name="Rectangle 9"/>
          <p:cNvSpPr txBox="1">
            <a:spLocks noChangeArrowheads="1"/>
          </p:cNvSpPr>
          <p:nvPr/>
        </p:nvSpPr>
        <p:spPr bwMode="auto">
          <a:xfrm>
            <a:off x="323528" y="5949280"/>
            <a:ext cx="8569325" cy="6480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355600" indent="-355600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Este método é muito oneroso e inviável quando se trabalha com muitas variáveis independentes. Se fossem 10 variáveis, haveriam 1024 modelos a serem testados!</a:t>
            </a:r>
          </a:p>
        </p:txBody>
      </p:sp>
      <p:sp>
        <p:nvSpPr>
          <p:cNvPr id="6" name="Elipse 5"/>
          <p:cNvSpPr/>
          <p:nvPr/>
        </p:nvSpPr>
        <p:spPr bwMode="auto">
          <a:xfrm>
            <a:off x="395288" y="4041069"/>
            <a:ext cx="371187" cy="371187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grpSp>
        <p:nvGrpSpPr>
          <p:cNvPr id="2" name="Grupo 1"/>
          <p:cNvGrpSpPr/>
          <p:nvPr/>
        </p:nvGrpSpPr>
        <p:grpSpPr>
          <a:xfrm>
            <a:off x="1146834" y="3140969"/>
            <a:ext cx="742374" cy="2171387"/>
            <a:chOff x="1093322" y="3140969"/>
            <a:chExt cx="742374" cy="2171387"/>
          </a:xfrm>
        </p:grpSpPr>
        <p:sp>
          <p:nvSpPr>
            <p:cNvPr id="8" name="Elipse 7"/>
            <p:cNvSpPr/>
            <p:nvPr/>
          </p:nvSpPr>
          <p:spPr bwMode="auto">
            <a:xfrm>
              <a:off x="1464509" y="31409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9" name="Elipse 8"/>
            <p:cNvSpPr/>
            <p:nvPr/>
          </p:nvSpPr>
          <p:spPr bwMode="auto">
            <a:xfrm>
              <a:off x="1464509" y="35910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10" name="Elipse 9"/>
            <p:cNvSpPr/>
            <p:nvPr/>
          </p:nvSpPr>
          <p:spPr bwMode="auto">
            <a:xfrm>
              <a:off x="1464509" y="40410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11" name="Elipse 10"/>
            <p:cNvSpPr/>
            <p:nvPr/>
          </p:nvSpPr>
          <p:spPr bwMode="auto">
            <a:xfrm>
              <a:off x="1464509" y="44911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13" name="Elipse 12"/>
            <p:cNvSpPr/>
            <p:nvPr/>
          </p:nvSpPr>
          <p:spPr bwMode="auto">
            <a:xfrm>
              <a:off x="1464509" y="49411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14" name="Elipse 13"/>
            <p:cNvSpPr/>
            <p:nvPr/>
          </p:nvSpPr>
          <p:spPr bwMode="auto">
            <a:xfrm>
              <a:off x="1093322" y="31409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5" name="Elipse 14"/>
            <p:cNvSpPr/>
            <p:nvPr/>
          </p:nvSpPr>
          <p:spPr bwMode="auto">
            <a:xfrm>
              <a:off x="1093322" y="359101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6" name="Elipse 15"/>
            <p:cNvSpPr/>
            <p:nvPr/>
          </p:nvSpPr>
          <p:spPr bwMode="auto">
            <a:xfrm>
              <a:off x="1093322" y="40410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7" name="Elipse 16"/>
            <p:cNvSpPr/>
            <p:nvPr/>
          </p:nvSpPr>
          <p:spPr bwMode="auto">
            <a:xfrm>
              <a:off x="1093322" y="449111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8" name="Elipse 17"/>
            <p:cNvSpPr/>
            <p:nvPr/>
          </p:nvSpPr>
          <p:spPr bwMode="auto">
            <a:xfrm>
              <a:off x="1093322" y="49411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</p:grpSp>
      <p:grpSp>
        <p:nvGrpSpPr>
          <p:cNvPr id="35" name="Grupo 34"/>
          <p:cNvGrpSpPr/>
          <p:nvPr/>
        </p:nvGrpSpPr>
        <p:grpSpPr>
          <a:xfrm>
            <a:off x="2269567" y="3140969"/>
            <a:ext cx="1118563" cy="2171387"/>
            <a:chOff x="2112581" y="3140969"/>
            <a:chExt cx="1118563" cy="2171387"/>
          </a:xfrm>
        </p:grpSpPr>
        <p:sp>
          <p:nvSpPr>
            <p:cNvPr id="19" name="Elipse 18"/>
            <p:cNvSpPr/>
            <p:nvPr/>
          </p:nvSpPr>
          <p:spPr bwMode="auto">
            <a:xfrm>
              <a:off x="2483768" y="31409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0" name="Elipse 19"/>
            <p:cNvSpPr/>
            <p:nvPr/>
          </p:nvSpPr>
          <p:spPr bwMode="auto">
            <a:xfrm>
              <a:off x="2483768" y="35910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2" name="Elipse 21"/>
            <p:cNvSpPr/>
            <p:nvPr/>
          </p:nvSpPr>
          <p:spPr bwMode="auto">
            <a:xfrm>
              <a:off x="2483768" y="44911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23" name="Elipse 22"/>
            <p:cNvSpPr/>
            <p:nvPr/>
          </p:nvSpPr>
          <p:spPr bwMode="auto">
            <a:xfrm>
              <a:off x="2483768" y="49411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24" name="Elipse 23"/>
            <p:cNvSpPr/>
            <p:nvPr/>
          </p:nvSpPr>
          <p:spPr bwMode="auto">
            <a:xfrm>
              <a:off x="2112581" y="31409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5" name="Elipse 24"/>
            <p:cNvSpPr/>
            <p:nvPr/>
          </p:nvSpPr>
          <p:spPr bwMode="auto">
            <a:xfrm>
              <a:off x="2112581" y="359101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7" name="Elipse 26"/>
            <p:cNvSpPr/>
            <p:nvPr/>
          </p:nvSpPr>
          <p:spPr bwMode="auto">
            <a:xfrm>
              <a:off x="2112581" y="449111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8" name="Elipse 27"/>
            <p:cNvSpPr/>
            <p:nvPr/>
          </p:nvSpPr>
          <p:spPr bwMode="auto">
            <a:xfrm>
              <a:off x="2112581" y="49411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9" name="Elipse 28"/>
            <p:cNvSpPr/>
            <p:nvPr/>
          </p:nvSpPr>
          <p:spPr bwMode="auto">
            <a:xfrm>
              <a:off x="2859957" y="31409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30" name="Elipse 29"/>
            <p:cNvSpPr/>
            <p:nvPr/>
          </p:nvSpPr>
          <p:spPr bwMode="auto">
            <a:xfrm>
              <a:off x="2859957" y="35910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32" name="Elipse 31"/>
            <p:cNvSpPr/>
            <p:nvPr/>
          </p:nvSpPr>
          <p:spPr bwMode="auto">
            <a:xfrm>
              <a:off x="2859957" y="44911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33" name="Elipse 32"/>
            <p:cNvSpPr/>
            <p:nvPr/>
          </p:nvSpPr>
          <p:spPr bwMode="auto">
            <a:xfrm>
              <a:off x="2859957" y="49411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34" name="CaixaDeTexto 33"/>
            <p:cNvSpPr txBox="1"/>
            <p:nvPr/>
          </p:nvSpPr>
          <p:spPr>
            <a:xfrm rot="5400000">
              <a:off x="2543776" y="4058008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b="1" dirty="0">
                  <a:latin typeface="Tahoma" panose="020B0604030504040204" pitchFamily="34" charset="0"/>
                  <a:sym typeface="Symbol"/>
                </a:rPr>
                <a:t></a:t>
              </a:r>
              <a:endParaRPr lang="pt-BR" b="1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0" name="Grupo 49"/>
          <p:cNvGrpSpPr/>
          <p:nvPr/>
        </p:nvGrpSpPr>
        <p:grpSpPr>
          <a:xfrm>
            <a:off x="3768488" y="3141591"/>
            <a:ext cx="1503274" cy="2171387"/>
            <a:chOff x="3860814" y="3141591"/>
            <a:chExt cx="1503274" cy="2171387"/>
          </a:xfrm>
        </p:grpSpPr>
        <p:sp>
          <p:nvSpPr>
            <p:cNvPr id="36" name="Elipse 35"/>
            <p:cNvSpPr/>
            <p:nvPr/>
          </p:nvSpPr>
          <p:spPr bwMode="auto">
            <a:xfrm>
              <a:off x="4232001" y="31415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37" name="Elipse 36"/>
            <p:cNvSpPr/>
            <p:nvPr/>
          </p:nvSpPr>
          <p:spPr bwMode="auto">
            <a:xfrm>
              <a:off x="4232001" y="35916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38" name="Elipse 37"/>
            <p:cNvSpPr/>
            <p:nvPr/>
          </p:nvSpPr>
          <p:spPr bwMode="auto">
            <a:xfrm>
              <a:off x="4232001" y="44917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39" name="Elipse 38"/>
            <p:cNvSpPr/>
            <p:nvPr/>
          </p:nvSpPr>
          <p:spPr bwMode="auto">
            <a:xfrm>
              <a:off x="4232001" y="49417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40" name="Elipse 39"/>
            <p:cNvSpPr/>
            <p:nvPr/>
          </p:nvSpPr>
          <p:spPr bwMode="auto">
            <a:xfrm>
              <a:off x="3860814" y="3141591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41" name="Elipse 40"/>
            <p:cNvSpPr/>
            <p:nvPr/>
          </p:nvSpPr>
          <p:spPr bwMode="auto">
            <a:xfrm>
              <a:off x="3860814" y="3591641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42" name="Elipse 41"/>
            <p:cNvSpPr/>
            <p:nvPr/>
          </p:nvSpPr>
          <p:spPr bwMode="auto">
            <a:xfrm>
              <a:off x="3860814" y="4491741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43" name="Elipse 42"/>
            <p:cNvSpPr/>
            <p:nvPr/>
          </p:nvSpPr>
          <p:spPr bwMode="auto">
            <a:xfrm>
              <a:off x="3860814" y="4941791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45" name="Elipse 44"/>
            <p:cNvSpPr/>
            <p:nvPr/>
          </p:nvSpPr>
          <p:spPr bwMode="auto">
            <a:xfrm>
              <a:off x="4608190" y="31415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46" name="Elipse 45"/>
            <p:cNvSpPr/>
            <p:nvPr/>
          </p:nvSpPr>
          <p:spPr bwMode="auto">
            <a:xfrm>
              <a:off x="4608190" y="35916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47" name="Elipse 46"/>
            <p:cNvSpPr/>
            <p:nvPr/>
          </p:nvSpPr>
          <p:spPr bwMode="auto">
            <a:xfrm>
              <a:off x="4608190" y="44917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48" name="Elipse 47"/>
            <p:cNvSpPr/>
            <p:nvPr/>
          </p:nvSpPr>
          <p:spPr bwMode="auto">
            <a:xfrm>
              <a:off x="4608190" y="49417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49" name="CaixaDeTexto 48"/>
            <p:cNvSpPr txBox="1"/>
            <p:nvPr/>
          </p:nvSpPr>
          <p:spPr>
            <a:xfrm rot="5400000">
              <a:off x="4495830" y="4058630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b="1" dirty="0">
                  <a:latin typeface="Tahoma" panose="020B0604030504040204" pitchFamily="34" charset="0"/>
                  <a:sym typeface="Symbol"/>
                </a:rPr>
                <a:t></a:t>
              </a:r>
              <a:endParaRPr lang="pt-BR" b="1" dirty="0">
                <a:latin typeface="Tahoma" panose="020B0604030504040204" pitchFamily="34" charset="0"/>
              </a:endParaRPr>
            </a:p>
          </p:txBody>
        </p:sp>
        <p:sp>
          <p:nvSpPr>
            <p:cNvPr id="52" name="Elipse 51"/>
            <p:cNvSpPr/>
            <p:nvPr/>
          </p:nvSpPr>
          <p:spPr bwMode="auto">
            <a:xfrm>
              <a:off x="4992901" y="31415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53" name="Elipse 52"/>
            <p:cNvSpPr/>
            <p:nvPr/>
          </p:nvSpPr>
          <p:spPr bwMode="auto">
            <a:xfrm>
              <a:off x="4992901" y="35916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54" name="Elipse 53"/>
            <p:cNvSpPr/>
            <p:nvPr/>
          </p:nvSpPr>
          <p:spPr bwMode="auto">
            <a:xfrm>
              <a:off x="4992901" y="44917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55" name="Elipse 54"/>
            <p:cNvSpPr/>
            <p:nvPr/>
          </p:nvSpPr>
          <p:spPr bwMode="auto">
            <a:xfrm>
              <a:off x="4992901" y="49417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</p:grpSp>
      <p:grpSp>
        <p:nvGrpSpPr>
          <p:cNvPr id="61" name="Grupo 60"/>
          <p:cNvGrpSpPr/>
          <p:nvPr/>
        </p:nvGrpSpPr>
        <p:grpSpPr>
          <a:xfrm>
            <a:off x="5652120" y="4030745"/>
            <a:ext cx="2747451" cy="393078"/>
            <a:chOff x="5652120" y="4005064"/>
            <a:chExt cx="2747451" cy="393078"/>
          </a:xfrm>
        </p:grpSpPr>
        <p:sp>
          <p:nvSpPr>
            <p:cNvPr id="56" name="CaixaDeTexto 55"/>
            <p:cNvSpPr txBox="1"/>
            <p:nvPr/>
          </p:nvSpPr>
          <p:spPr>
            <a:xfrm>
              <a:off x="5652120" y="4005064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b="1" dirty="0">
                  <a:latin typeface="Tahoma" panose="020B0604030504040204" pitchFamily="34" charset="0"/>
                  <a:sym typeface="Symbol"/>
                </a:rPr>
                <a:t></a:t>
              </a:r>
              <a:endParaRPr lang="pt-BR" b="1" dirty="0">
                <a:latin typeface="Tahoma" panose="020B0604030504040204" pitchFamily="34" charset="0"/>
              </a:endParaRPr>
            </a:p>
          </p:txBody>
        </p:sp>
        <p:sp>
          <p:nvSpPr>
            <p:cNvPr id="57" name="Elipse 56"/>
            <p:cNvSpPr/>
            <p:nvPr/>
          </p:nvSpPr>
          <p:spPr bwMode="auto">
            <a:xfrm>
              <a:off x="6527363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58" name="Elipse 57"/>
            <p:cNvSpPr/>
            <p:nvPr/>
          </p:nvSpPr>
          <p:spPr bwMode="auto">
            <a:xfrm>
              <a:off x="6156176" y="4026955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59" name="Elipse 58"/>
            <p:cNvSpPr/>
            <p:nvPr/>
          </p:nvSpPr>
          <p:spPr bwMode="auto">
            <a:xfrm>
              <a:off x="6903552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60" name="Elipse 59"/>
            <p:cNvSpPr/>
            <p:nvPr/>
          </p:nvSpPr>
          <p:spPr bwMode="auto">
            <a:xfrm>
              <a:off x="7288263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62" name="Elipse 61"/>
            <p:cNvSpPr/>
            <p:nvPr/>
          </p:nvSpPr>
          <p:spPr bwMode="auto">
            <a:xfrm>
              <a:off x="7657197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63" name="Elipse 62"/>
            <p:cNvSpPr/>
            <p:nvPr/>
          </p:nvSpPr>
          <p:spPr bwMode="auto">
            <a:xfrm>
              <a:off x="8028384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696" name="CaixaDeTexto 29695"/>
              <p:cNvSpPr txBox="1"/>
              <p:nvPr/>
            </p:nvSpPr>
            <p:spPr>
              <a:xfrm>
                <a:off x="6234175" y="4770750"/>
                <a:ext cx="1866217" cy="10345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Total de modelos: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5</m:t>
                          </m:r>
                        </m:sup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b="0" i="1" smtClean="0">
                                        <a:latin typeface="Cambria Math"/>
                                      </a:rPr>
                                      <m:t>5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b="0" i="1" smtClean="0">
                                        <a:latin typeface="Cambria Math"/>
                                      </a:rPr>
                                      <m:t>𝑖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  <m:r>
                        <a:rPr lang="pt-BR" b="0" i="0" smtClean="0">
                          <a:latin typeface="Cambria Math"/>
                        </a:rPr>
                        <m:t>=32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9696" name="CaixaDeTexto 2969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175" y="4770750"/>
                <a:ext cx="1866217" cy="1034514"/>
              </a:xfrm>
              <a:prstGeom prst="rect">
                <a:avLst/>
              </a:prstGeom>
              <a:blipFill>
                <a:blip r:embed="rId2"/>
                <a:stretch>
                  <a:fillRect l="-1961" t="-17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2549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2969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Seleção de Variáveis - </a:t>
            </a:r>
            <a:r>
              <a:rPr lang="pt-BR" i="1" dirty="0" err="1"/>
              <a:t>Stepwise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99752" y="1349375"/>
                <a:ext cx="8748712" cy="4167188"/>
              </a:xfrm>
              <a:noFill/>
            </p:spPr>
            <p:txBody>
              <a:bodyPr/>
              <a:lstStyle/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Há três maneiras de se aplicar o método </a:t>
                </a:r>
                <a:r>
                  <a:rPr lang="pt-BR" altLang="pt-BR" sz="1600" i="1" dirty="0" err="1"/>
                  <a:t>stepwise</a:t>
                </a:r>
                <a:r>
                  <a:rPr lang="pt-BR" altLang="pt-BR" sz="1600" dirty="0"/>
                  <a:t> (“passo a passo”):</a:t>
                </a:r>
                <a:br>
                  <a:rPr lang="pt-BR" altLang="pt-BR" sz="1600" dirty="0"/>
                </a:br>
                <a:r>
                  <a:rPr lang="pt-BR" altLang="pt-BR" sz="1600" dirty="0"/>
                  <a:t>crescente (</a:t>
                </a:r>
                <a:r>
                  <a:rPr lang="pt-BR" altLang="pt-BR" sz="1600" i="1" dirty="0" err="1"/>
                  <a:t>forward</a:t>
                </a:r>
                <a:r>
                  <a:rPr lang="pt-BR" altLang="pt-BR" sz="1600" dirty="0"/>
                  <a:t>), decrescente (</a:t>
                </a:r>
                <a:r>
                  <a:rPr lang="pt-BR" altLang="pt-BR" sz="1600" i="1" dirty="0" err="1"/>
                  <a:t>backward</a:t>
                </a:r>
                <a:r>
                  <a:rPr lang="pt-BR" altLang="pt-BR" sz="1600" dirty="0"/>
                  <a:t>) ou ambos (</a:t>
                </a:r>
                <a:r>
                  <a:rPr lang="pt-BR" altLang="pt-BR" sz="1600" i="1" dirty="0" err="1"/>
                  <a:t>both</a:t>
                </a:r>
                <a:r>
                  <a:rPr lang="pt-BR" altLang="pt-BR" sz="1600" dirty="0"/>
                  <a:t>)</a:t>
                </a:r>
              </a:p>
              <a:p>
                <a:pPr marL="352425" indent="-352425" eaLnBrk="1" hangingPunct="1">
                  <a:buFontTx/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No modo </a:t>
                </a:r>
                <a:r>
                  <a:rPr lang="pt-BR" altLang="pt-BR" sz="1600" i="1" dirty="0" err="1"/>
                  <a:t>forward</a:t>
                </a:r>
                <a:r>
                  <a:rPr lang="pt-BR" altLang="pt-BR" sz="1600" dirty="0"/>
                  <a:t>, o modelo é inicializado sem nenhuma variável independente (modelo nulo: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altLang="pt-BR" sz="1600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altLang="pt-BR" sz="1600" dirty="0"/>
                  <a:t>) e, a cada passo, adiciona-se uma nova variável independente, testando-se o ganho no poder explicativo do novo modelo.</a:t>
                </a:r>
              </a:p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No modo </a:t>
                </a:r>
                <a:r>
                  <a:rPr lang="pt-BR" altLang="pt-BR" sz="1600" i="1" dirty="0" err="1"/>
                  <a:t>backward</a:t>
                </a:r>
                <a:r>
                  <a:rPr lang="pt-BR" altLang="pt-BR" sz="1600" dirty="0"/>
                  <a:t>, inicia-se o modelo com todas as variáveis independentes e, a cada passo, retira-se uma das variáveis do modelo, testando-se a perda no poder explicativo do novo modelo reduzido.</a:t>
                </a:r>
              </a:p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No modo </a:t>
                </a:r>
                <a:r>
                  <a:rPr lang="pt-BR" altLang="pt-BR" sz="1600" i="1" dirty="0" err="1"/>
                  <a:t>both</a:t>
                </a:r>
                <a:r>
                  <a:rPr lang="pt-BR" altLang="pt-BR" sz="1600" dirty="0"/>
                  <a:t>, a cada passo testa-se a entrada e a retirada de cada variável independente.</a:t>
                </a:r>
              </a:p>
              <a:p>
                <a:pPr marL="352425" indent="-352425" eaLnBrk="1" hangingPunct="1">
                  <a:buFontTx/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O teste utilizado para medir o ganho ou a perda do poder explicativo pode variar mas, em geral, utiliza-se o teste F para comparar os modelos completo e reduzido, ou o teste t quando apenas um parâmetro é adicionado ou retirado.</a:t>
                </a:r>
              </a:p>
            </p:txBody>
          </p:sp>
        </mc:Choice>
        <mc:Fallback xmlns="">
          <p:sp>
            <p:nvSpPr>
              <p:cNvPr id="12" name="Rectangle 9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99752" y="1349375"/>
                <a:ext cx="8748712" cy="4167188"/>
              </a:xfrm>
              <a:blipFill rotWithShape="1">
                <a:blip r:embed="rId3"/>
                <a:stretch>
                  <a:fillRect l="-348" t="-292" r="-97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76</a:t>
            </a:fld>
            <a:endParaRPr lang="pt-BR" dirty="0"/>
          </a:p>
        </p:txBody>
      </p:sp>
      <p:graphicFrame>
        <p:nvGraphicFramePr>
          <p:cNvPr id="6" name="Objeto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82702226"/>
              </p:ext>
            </p:extLst>
          </p:nvPr>
        </p:nvGraphicFramePr>
        <p:xfrm>
          <a:off x="2771775" y="5518150"/>
          <a:ext cx="3525838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2349500" imgH="431800" progId="Equation.3">
                  <p:embed/>
                </p:oleObj>
              </mc:Choice>
              <mc:Fallback>
                <p:oleObj name="Equação" r:id="rId4" imgW="2349500" imgH="431800" progId="Equation.3">
                  <p:embed/>
                  <p:pic>
                    <p:nvPicPr>
                      <p:cNvPr id="6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1775" y="5518150"/>
                        <a:ext cx="3525838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6067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Seleção de Variáveis - </a:t>
            </a:r>
            <a:r>
              <a:rPr lang="pt-BR" i="1" dirty="0" err="1"/>
              <a:t>Stepwise</a:t>
            </a:r>
            <a:endParaRPr lang="pt-BR" i="1" dirty="0"/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01450" y="1988840"/>
            <a:ext cx="8748712" cy="429187"/>
          </a:xfrm>
          <a:noFill/>
        </p:spPr>
        <p:txBody>
          <a:bodyPr/>
          <a:lstStyle/>
          <a:p>
            <a:pPr marL="177800" indent="-177800" eaLnBrk="1" hangingPunct="1"/>
            <a:r>
              <a:rPr lang="pt-BR" altLang="pt-BR" sz="1600" dirty="0"/>
              <a:t>Coeficiente de Determinação Múltiplo Ajustado</a:t>
            </a:r>
          </a:p>
        </p:txBody>
      </p:sp>
      <p:sp>
        <p:nvSpPr>
          <p:cNvPr id="4" name="Retângulo 3"/>
          <p:cNvSpPr>
            <a:spLocks noChangeArrowheads="1"/>
          </p:cNvSpPr>
          <p:nvPr/>
        </p:nvSpPr>
        <p:spPr bwMode="auto">
          <a:xfrm>
            <a:off x="706971" y="5661248"/>
            <a:ext cx="825751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Observe que este índice é uma combinação entre uma medida de ajuste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SQE</a:t>
            </a:r>
            <a:r>
              <a:rPr lang="pt-BR" altLang="pt-BR" sz="1600" dirty="0">
                <a:latin typeface="Tahoma" panose="020B0604030504040204" pitchFamily="34" charset="0"/>
              </a:rPr>
              <a:t>) e uma medida de simplicidade do modelo (dado pelo número de parâmetros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). Quanto menor for o valor AIC, melhor o modelo.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Muitas variações deste índice podem ser encontradas na literatura.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77</a:t>
            </a:fld>
            <a:endParaRPr lang="pt-BR" dirty="0"/>
          </a:p>
        </p:txBody>
      </p:sp>
      <p:graphicFrame>
        <p:nvGraphicFramePr>
          <p:cNvPr id="7" name="Objeto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849645"/>
              </p:ext>
            </p:extLst>
          </p:nvPr>
        </p:nvGraphicFramePr>
        <p:xfrm>
          <a:off x="778979" y="5284440"/>
          <a:ext cx="2478087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50960" imgH="203040" progId="Equation.DSMT4">
                  <p:embed/>
                </p:oleObj>
              </mc:Choice>
              <mc:Fallback>
                <p:oleObj name="Equation" r:id="rId2" imgW="1650960" imgH="203040" progId="Equation.DSMT4">
                  <p:embed/>
                  <p:pic>
                    <p:nvPicPr>
                      <p:cNvPr id="7" name="Objeto 6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8979" y="5284440"/>
                        <a:ext cx="2478087" cy="304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tangle 9"/>
          <p:cNvSpPr txBox="1">
            <a:spLocks noChangeArrowheads="1"/>
          </p:cNvSpPr>
          <p:nvPr/>
        </p:nvSpPr>
        <p:spPr bwMode="auto">
          <a:xfrm>
            <a:off x="210058" y="1412776"/>
            <a:ext cx="8748712" cy="576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352425" indent="-352425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Além do teste F que avalia o ganho significativo de um modelo em relação a outro, pode-se também adotar outros critérios para decidir qual modelo utilizar:</a:t>
            </a:r>
          </a:p>
        </p:txBody>
      </p:sp>
      <p:graphicFrame>
        <p:nvGraphicFramePr>
          <p:cNvPr id="9" name="Objeto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23482400"/>
              </p:ext>
            </p:extLst>
          </p:nvPr>
        </p:nvGraphicFramePr>
        <p:xfrm>
          <a:off x="778979" y="2346019"/>
          <a:ext cx="207803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435100" imgH="457200" progId="Equation.3">
                  <p:embed/>
                </p:oleObj>
              </mc:Choice>
              <mc:Fallback>
                <p:oleObj name="Equação" r:id="rId4" imgW="1435100" imgH="457200" progId="Equation.3">
                  <p:embed/>
                  <p:pic>
                    <p:nvPicPr>
                      <p:cNvPr id="9" name="Objeto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8979" y="2346019"/>
                        <a:ext cx="2078038" cy="654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to 1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659229"/>
              </p:ext>
            </p:extLst>
          </p:nvPr>
        </p:nvGraphicFramePr>
        <p:xfrm>
          <a:off x="778979" y="3429000"/>
          <a:ext cx="2116138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409400" imgH="457200" progId="Equation.DSMT4">
                  <p:embed/>
                </p:oleObj>
              </mc:Choice>
              <mc:Fallback>
                <p:oleObj name="Equation" r:id="rId6" imgW="1409400" imgH="457200" progId="Equation.DSMT4">
                  <p:embed/>
                  <p:pic>
                    <p:nvPicPr>
                      <p:cNvPr id="13" name="Objeto 12"/>
                      <p:cNvPicPr>
                        <a:picLocks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8979" y="3429000"/>
                        <a:ext cx="2116138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to 1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78293909"/>
              </p:ext>
            </p:extLst>
          </p:nvPr>
        </p:nvGraphicFramePr>
        <p:xfrm>
          <a:off x="3529013" y="3605969"/>
          <a:ext cx="70485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69800" imgH="241200" progId="Equation.DSMT4">
                  <p:embed/>
                </p:oleObj>
              </mc:Choice>
              <mc:Fallback>
                <p:oleObj name="Equation" r:id="rId8" imgW="469800" imgH="241200" progId="Equation.DSMT4">
                  <p:embed/>
                  <p:pic>
                    <p:nvPicPr>
                      <p:cNvPr id="15" name="Objeto 14"/>
                      <p:cNvPicPr>
                        <a:picLocks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29013" y="3605969"/>
                        <a:ext cx="704850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ctangle 9"/>
          <p:cNvSpPr txBox="1">
            <a:spLocks noChangeArrowheads="1"/>
          </p:cNvSpPr>
          <p:nvPr/>
        </p:nvSpPr>
        <p:spPr bwMode="auto">
          <a:xfrm>
            <a:off x="301450" y="3068960"/>
            <a:ext cx="8748712" cy="504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/>
            <a:r>
              <a:rPr lang="pt-BR" altLang="pt-BR" sz="1600" kern="0" dirty="0">
                <a:latin typeface="Tahoma" panose="020B0604030504040204" pitchFamily="34" charset="0"/>
              </a:rPr>
              <a:t>Critério </a:t>
            </a:r>
            <a:r>
              <a:rPr lang="pt-BR" altLang="pt-BR" sz="1600" i="1" kern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altLang="pt-BR" sz="1600" i="1" kern="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kern="0" dirty="0">
                <a:latin typeface="Tahoma" panose="020B0604030504040204" pitchFamily="34" charset="0"/>
              </a:rPr>
              <a:t> de </a:t>
            </a:r>
            <a:r>
              <a:rPr lang="pt-BR" altLang="pt-BR" sz="1600" kern="0" dirty="0" err="1">
                <a:latin typeface="Tahoma" panose="020B0604030504040204" pitchFamily="34" charset="0"/>
              </a:rPr>
              <a:t>Mallows</a:t>
            </a:r>
            <a:endParaRPr lang="pt-BR" altLang="pt-BR" sz="1600" kern="0" dirty="0">
              <a:latin typeface="Tahoma" panose="020B0604030504040204" pitchFamily="34" charset="0"/>
            </a:endParaRPr>
          </a:p>
        </p:txBody>
      </p:sp>
      <p:sp>
        <p:nvSpPr>
          <p:cNvPr id="16" name="Rectangle 9"/>
          <p:cNvSpPr txBox="1">
            <a:spLocks noChangeArrowheads="1"/>
          </p:cNvSpPr>
          <p:nvPr/>
        </p:nvSpPr>
        <p:spPr bwMode="auto">
          <a:xfrm>
            <a:off x="301450" y="4797152"/>
            <a:ext cx="8748712" cy="5040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/>
            <a:r>
              <a:rPr lang="pt-BR" altLang="pt-BR" sz="1600" kern="0" dirty="0">
                <a:latin typeface="Tahoma" panose="020B0604030504040204" pitchFamily="34" charset="0"/>
              </a:rPr>
              <a:t>Índice AIC (</a:t>
            </a:r>
            <a:r>
              <a:rPr lang="pt-BR" altLang="pt-BR" sz="1600" i="1" kern="0" dirty="0" err="1">
                <a:latin typeface="Tahoma" panose="020B0604030504040204" pitchFamily="34" charset="0"/>
              </a:rPr>
              <a:t>Akaike´s</a:t>
            </a:r>
            <a:r>
              <a:rPr lang="pt-BR" altLang="pt-BR" sz="1600" i="1" kern="0" dirty="0">
                <a:latin typeface="Tahoma" panose="020B0604030504040204" pitchFamily="34" charset="0"/>
              </a:rPr>
              <a:t> </a:t>
            </a:r>
            <a:r>
              <a:rPr lang="pt-BR" altLang="pt-BR" sz="1600" i="1" kern="0" dirty="0" err="1">
                <a:latin typeface="Tahoma" panose="020B0604030504040204" pitchFamily="34" charset="0"/>
              </a:rPr>
              <a:t>Information</a:t>
            </a:r>
            <a:r>
              <a:rPr lang="pt-BR" altLang="pt-BR" sz="1600" i="1" kern="0" dirty="0">
                <a:latin typeface="Tahoma" panose="020B0604030504040204" pitchFamily="34" charset="0"/>
              </a:rPr>
              <a:t> </a:t>
            </a:r>
            <a:r>
              <a:rPr lang="pt-BR" altLang="pt-BR" sz="1600" i="1" kern="0" dirty="0" err="1">
                <a:latin typeface="Tahoma" panose="020B0604030504040204" pitchFamily="34" charset="0"/>
              </a:rPr>
              <a:t>Criterion</a:t>
            </a:r>
            <a:r>
              <a:rPr lang="pt-BR" altLang="pt-BR" sz="1600" kern="0" dirty="0">
                <a:latin typeface="Tahoma" panose="020B0604030504040204" pitchFamily="34" charset="0"/>
              </a:rPr>
              <a:t>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tângulo 16"/>
              <p:cNvSpPr>
                <a:spLocks noChangeArrowheads="1"/>
              </p:cNvSpPr>
              <p:nvPr/>
            </p:nvSpPr>
            <p:spPr bwMode="auto">
              <a:xfrm>
                <a:off x="3419872" y="2481463"/>
                <a:ext cx="466810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352425" indent="-352425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Quanto maior for o valor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altLang="pt-BR" sz="1600" b="0" i="1" smtClean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</a:rPr>
                          <m:t>𝑎</m:t>
                        </m:r>
                      </m:sub>
                      <m:sup>
                        <m:r>
                          <a:rPr lang="pt-BR" altLang="pt-BR" sz="1600" b="0" i="1" smtClean="0">
                            <a:latin typeface="Cambria Math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, melhor o modelo.</a:t>
                </a:r>
              </a:p>
            </p:txBody>
          </p:sp>
        </mc:Choice>
        <mc:Fallback xmlns="">
          <p:sp>
            <p:nvSpPr>
              <p:cNvPr id="17" name="Retângulo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19872" y="2481463"/>
                <a:ext cx="4668106" cy="338554"/>
              </a:xfrm>
              <a:prstGeom prst="rect">
                <a:avLst/>
              </a:prstGeom>
              <a:blipFill>
                <a:blip r:embed="rId10"/>
                <a:stretch>
                  <a:fillRect l="-653" t="-5357" b="-2142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tângulo 17"/>
          <p:cNvSpPr>
            <a:spLocks noChangeArrowheads="1"/>
          </p:cNvSpPr>
          <p:nvPr/>
        </p:nvSpPr>
        <p:spPr bwMode="auto">
          <a:xfrm>
            <a:off x="4499992" y="3621337"/>
            <a:ext cx="46681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Quanto mais próximo </a:t>
            </a:r>
            <a:r>
              <a:rPr lang="pt-BR" altLang="pt-BR" sz="1600" i="1" kern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altLang="pt-BR" sz="1600" i="1" kern="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, melhor o modelo.</a:t>
            </a:r>
          </a:p>
        </p:txBody>
      </p:sp>
      <p:sp>
        <p:nvSpPr>
          <p:cNvPr id="19" name="Retângulo 18"/>
          <p:cNvSpPr>
            <a:spLocks noChangeArrowheads="1"/>
          </p:cNvSpPr>
          <p:nvPr/>
        </p:nvSpPr>
        <p:spPr bwMode="auto">
          <a:xfrm>
            <a:off x="706971" y="4149080"/>
            <a:ext cx="825751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SQE</a:t>
            </a:r>
            <a:r>
              <a:rPr lang="pt-BR" altLang="pt-BR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altLang="pt-BR" sz="1600" baseline="-25000" dirty="0">
                <a:latin typeface="Tahoma" panose="020B0604030504040204" pitchFamily="34" charset="0"/>
              </a:rPr>
              <a:t>(</a:t>
            </a:r>
            <a:r>
              <a:rPr lang="pt-BR" altLang="pt-BR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baseline="-25000" dirty="0">
                <a:latin typeface="Tahoma" panose="020B0604030504040204" pitchFamily="34" charset="0"/>
              </a:rPr>
              <a:t>)</a:t>
            </a:r>
            <a:r>
              <a:rPr lang="pt-BR" altLang="pt-BR" sz="1600" dirty="0">
                <a:latin typeface="Tahoma" panose="020B0604030504040204" pitchFamily="34" charset="0"/>
              </a:rPr>
              <a:t> é a soma dos quadrados  do erro do modelo com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parâmetros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QME</a:t>
            </a:r>
            <a:r>
              <a:rPr lang="pt-BR" altLang="pt-BR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altLang="pt-BR" sz="1600" dirty="0">
                <a:latin typeface="Tahoma" panose="020B0604030504040204" pitchFamily="34" charset="0"/>
              </a:rPr>
              <a:t> é o quadrado médio do modelo completo (com todas as variáveis).</a:t>
            </a:r>
          </a:p>
        </p:txBody>
      </p:sp>
    </p:spTree>
    <p:extLst>
      <p:ext uri="{BB962C8B-B14F-4D97-AF65-F5344CB8AC3E}">
        <p14:creationId xmlns:p14="http://schemas.microsoft.com/office/powerpoint/2010/main" val="423556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7" grpId="0"/>
      <p:bldP spid="18" grpId="0"/>
      <p:bldP spid="1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Seleção de Variáveis - </a:t>
            </a:r>
            <a:r>
              <a:rPr lang="pt-BR" i="1" dirty="0" err="1"/>
              <a:t>Stepwise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78</a:t>
            </a:fld>
            <a:endParaRPr lang="pt-BR" dirty="0"/>
          </a:p>
        </p:txBody>
      </p:sp>
      <p:sp>
        <p:nvSpPr>
          <p:cNvPr id="11" name="Rectangle 9"/>
          <p:cNvSpPr txBox="1">
            <a:spLocks noChangeArrowheads="1"/>
          </p:cNvSpPr>
          <p:nvPr/>
        </p:nvSpPr>
        <p:spPr bwMode="auto">
          <a:xfrm>
            <a:off x="395536" y="1412776"/>
            <a:ext cx="8424936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352425" lvl="0" indent="-352425" eaLnBrk="1" hangingPunct="1">
              <a:lnSpc>
                <a:spcPct val="150000"/>
              </a:lnSpc>
              <a:buNone/>
            </a:pP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 método de seleção de variáveis </a:t>
            </a:r>
            <a:r>
              <a:rPr lang="pt-BR" sz="1600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é particularmente útil quando se tem um grande número de variáveis independentes candidatas a compor o modelo de regressão. Nesse caso, o método </a:t>
            </a:r>
            <a:r>
              <a:rPr lang="pt-BR" sz="1600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backward</a:t>
            </a: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não é recomendado pois, em geral, ocorre um “</a:t>
            </a:r>
            <a:r>
              <a:rPr lang="pt-BR" sz="1600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super</a:t>
            </a: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ajuste” (</a:t>
            </a:r>
            <a:r>
              <a:rPr lang="pt-BR" sz="1600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overfit</a:t>
            </a: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 dos dados quando o número de parâmetros do modelo se aproxima ao tamanho da amostra.</a:t>
            </a:r>
          </a:p>
          <a:p>
            <a:pPr marL="352425" lvl="0" indent="-352425" eaLnBrk="1" hangingPunct="1">
              <a:lnSpc>
                <a:spcPct val="150000"/>
              </a:lnSpc>
              <a:buNone/>
            </a:pP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É importante notar que o </a:t>
            </a:r>
            <a:r>
              <a:rPr lang="pt-BR" sz="1600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não avalia a significância dos coeficientes do modelo final selecionado e nem a sua adequabilidade. Por essa razão, é imprescindível proceder à análise completa do modelo selecionado.</a:t>
            </a:r>
          </a:p>
          <a:p>
            <a:pPr marL="352425" lvl="0" indent="-352425" eaLnBrk="1" hangingPunct="1">
              <a:lnSpc>
                <a:spcPct val="150000"/>
              </a:lnSpc>
              <a:buNone/>
            </a:pP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É também bastante recomendável analisar os resíduos do modelo selecionado contra todas as variáveis que ficaram de fora para verificar se alguma, após alguma transformação ou retirada de </a:t>
            </a:r>
            <a:r>
              <a:rPr lang="pt-BR" sz="1600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outliers</a:t>
            </a: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, poderia ser novamente avaliada. Nesse caso, repete-se todo o processo.</a:t>
            </a:r>
          </a:p>
          <a:p>
            <a:pPr marL="352425" indent="-352425" eaLnBrk="1" hangingPunct="1">
              <a:lnSpc>
                <a:spcPct val="150000"/>
              </a:lnSpc>
              <a:buFontTx/>
              <a:buNone/>
            </a:pPr>
            <a:endParaRPr lang="pt-BR" altLang="pt-BR" sz="1600" kern="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5867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 em R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79</a:t>
            </a:fld>
            <a:endParaRPr lang="pt-BR" dirty="0"/>
          </a:p>
        </p:txBody>
      </p:sp>
      <p:sp>
        <p:nvSpPr>
          <p:cNvPr id="11" name="Retângulo 10"/>
          <p:cNvSpPr>
            <a:spLocks noChangeArrowheads="1"/>
          </p:cNvSpPr>
          <p:nvPr/>
        </p:nvSpPr>
        <p:spPr bwMode="auto">
          <a:xfrm>
            <a:off x="387106" y="1412776"/>
            <a:ext cx="85693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Os dados estão disponíveis em RegrDados.dat</a:t>
            </a:r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046424"/>
              </p:ext>
            </p:extLst>
          </p:nvPr>
        </p:nvGraphicFramePr>
        <p:xfrm>
          <a:off x="539552" y="2348880"/>
          <a:ext cx="7772401" cy="3923577"/>
        </p:xfrm>
        <a:graphic>
          <a:graphicData uri="http://schemas.openxmlformats.org/drawingml/2006/table">
            <a:tbl>
              <a:tblPr/>
              <a:tblGrid>
                <a:gridCol w="5978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100,9716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110,6689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191,5408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0,035715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0,163621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110,631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108,1522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95,8132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164,1165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0,01457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0,244236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109,308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112,1469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105,8706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243,3895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0,15264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0,106897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110,4889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103,6505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99,70563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275,3885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0,007832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0,262593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109,4251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104,326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111,5136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62,96696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0,132668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0,094935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110,9833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111,4834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106,1368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201,3384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1,696478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0,226717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110,2725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108,5016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96,00361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195,0345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0,050644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0,235669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109,6515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123,1041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95,47518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217,71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0,780169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0,199064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108,8689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96,11517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100,5438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71,00401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0,006774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0,274924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109,5986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100,5872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106,9972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268,7112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0,046441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0,243702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109,9278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106,3803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100,9839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277,3767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0,023691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0,088838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110,0388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96,44818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117,2304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272,5158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0,027461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0,168976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111,2666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92,81556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103,8784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243,5599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0,000303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0,160092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110,1938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105,4046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109,6684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247,6312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0,050508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0,195319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110,1356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113,3299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108,8013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221,162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0,935501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0,219022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110,8796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107,6394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102,7008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122,6451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0,093624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0,127112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109,5073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102,8919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107,694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212,9797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1,302829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0,316011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110,4447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119,6807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93,15921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179,5055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0,336576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0,188007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109,0429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114,0049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105,906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233,7622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0,299974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0,169543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109,7264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110,9345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94,74519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271,6365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0,096466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0,292361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109,4735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94,63697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107,5253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173,7078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0,021178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0,158086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110,3228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104,8678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102,6694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282,3483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0,051442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0,080458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109,7799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111,4428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102,9983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216,4401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0,037315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0,135116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109,5703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105,8734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100,8227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109,4809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0,031293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0,175168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109,9754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105,0202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105,3302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163,8557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0,289124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0,163017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109,7318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95,95295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116,9337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219,9231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0,057211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0,207979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110,7389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88,41419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114,4864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165,1862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0,008662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0,145228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111,219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125,1698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101,5443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409,9216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0,270551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0,003029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109,9989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99,81212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109,5304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121,4531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0,08814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0,25679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110,839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93,63811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111,3147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464,3571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0,05907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0,153045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110,6434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87,03449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108,7498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335,4734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0,002011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0,238312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109,9678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110,7853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98,80057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91,17997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0,158132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0,165678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109,6072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102,1372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126,4867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0,08776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0,205099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109,607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108,5595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112,7691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259,943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0,557714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0,176864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110,8162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110,5253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109,228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322,801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0,082994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0,097948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110,06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113,2232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104,3571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191,8647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1,701136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0,270866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109,5895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83,67311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111,4563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137,3347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0,001553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0,267389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110,2006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99,92746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99,8217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237,0379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0,03948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0,323259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109,7102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102,5173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109,5361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304,8186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0,023646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0,09666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110,5746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110,344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103,6897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406,2605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0,069096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0,087841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110,2778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128659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D72C3-17FB-BB16-7C23-8FBF893B6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F405F50-872E-041E-88E1-803C2152A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1700808"/>
            <a:ext cx="3945654" cy="3872284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DDF38D7C-602E-43FC-AA53-EE7DAF8E6F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 em R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0FA7813-CF18-C944-E258-BF5A26DCF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80</a:t>
            </a:fld>
            <a:endParaRPr lang="pt-BR" dirty="0"/>
          </a:p>
        </p:txBody>
      </p:sp>
      <p:sp>
        <p:nvSpPr>
          <p:cNvPr id="8" name="Rectangle 9">
            <a:extLst>
              <a:ext uri="{FF2B5EF4-FFF2-40B4-BE49-F238E27FC236}">
                <a16:creationId xmlns:a16="http://schemas.microsoft.com/office/drawing/2014/main" id="{6089D4CE-7666-2AD5-D487-67AC9B6A9C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131" y="1349374"/>
            <a:ext cx="8929365" cy="5319985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# Entrada dos dados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dados &lt;- read.csv("RegrDados.dat", header = TRUE,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sep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="\t",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dec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".",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na.strings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NA)</a:t>
            </a:r>
          </a:p>
          <a:p>
            <a:pPr marL="352425" indent="-352425" eaLnBrk="1" hangingPunct="1"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# Plotando gráficos de dispersão e correlações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upanel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(x, y, ...)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par(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usr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c(0, 1, 0, 1))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(0.5, 0.5,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format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(cor(x, y),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digits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=2),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cex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1.5)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dados,upper.panel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upanel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indent="-352425" eaLnBrk="1" hangingPunct="1"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0D1345C-06B8-31F4-9228-2439303612AA}"/>
              </a:ext>
            </a:extLst>
          </p:cNvPr>
          <p:cNvSpPr/>
          <p:nvPr/>
        </p:nvSpPr>
        <p:spPr bwMode="auto">
          <a:xfrm>
            <a:off x="5906244" y="2113806"/>
            <a:ext cx="504000" cy="504000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3C5D64E-C881-2192-2F08-74EDCC96BF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7" y="5517232"/>
            <a:ext cx="856932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são as melhores variáveis que explicam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Se avaliarmos apenas a correlação: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todas as relações das variáveis independentes com 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são lineares?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02F1A488-FC55-72E4-8676-DB2CCB055A71}"/>
              </a:ext>
            </a:extLst>
          </p:cNvPr>
          <p:cNvSpPr/>
          <p:nvPr/>
        </p:nvSpPr>
        <p:spPr bwMode="auto">
          <a:xfrm>
            <a:off x="4860032" y="2113806"/>
            <a:ext cx="504056" cy="504056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2468F44B-9B29-EB33-4EA6-A06FF49A3038}"/>
              </a:ext>
            </a:extLst>
          </p:cNvPr>
          <p:cNvSpPr/>
          <p:nvPr/>
        </p:nvSpPr>
        <p:spPr bwMode="auto">
          <a:xfrm>
            <a:off x="6938739" y="2113806"/>
            <a:ext cx="504000" cy="504000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9368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  <p:bldP spid="1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E6DDF-F6C6-79AD-A5B4-8DA2F3A7E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Agrupar 18">
            <a:extLst>
              <a:ext uri="{FF2B5EF4-FFF2-40B4-BE49-F238E27FC236}">
                <a16:creationId xmlns:a16="http://schemas.microsoft.com/office/drawing/2014/main" id="{8B613DB3-4E83-9F09-7D6E-825EC0CB7ACA}"/>
              </a:ext>
            </a:extLst>
          </p:cNvPr>
          <p:cNvGrpSpPr/>
          <p:nvPr/>
        </p:nvGrpSpPr>
        <p:grpSpPr>
          <a:xfrm>
            <a:off x="251520" y="1412776"/>
            <a:ext cx="8681587" cy="5333988"/>
            <a:chOff x="369723" y="1525304"/>
            <a:chExt cx="8681587" cy="5333988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5804376B-091C-7259-8368-586FA0C097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8304" y="3978000"/>
              <a:ext cx="2934568" cy="2880000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E1E86B90-8C99-FCA9-9681-B397DADC49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78159" y="3979292"/>
              <a:ext cx="2934569" cy="2880000"/>
            </a:xfrm>
            <a:prstGeom prst="rect">
              <a:avLst/>
            </a:prstGeom>
          </p:spPr>
        </p:pic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575697AB-8B3B-81B0-AB02-6038DF712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9723" y="1525304"/>
              <a:ext cx="2934568" cy="2880000"/>
            </a:xfrm>
            <a:prstGeom prst="rect">
              <a:avLst/>
            </a:prstGeom>
          </p:spPr>
        </p:pic>
        <p:pic>
          <p:nvPicPr>
            <p:cNvPr id="15" name="Imagem 14">
              <a:extLst>
                <a:ext uri="{FF2B5EF4-FFF2-40B4-BE49-F238E27FC236}">
                  <a16:creationId xmlns:a16="http://schemas.microsoft.com/office/drawing/2014/main" id="{2CAADF29-9123-6C18-E363-EAE0D64DB2D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43232" y="1525304"/>
              <a:ext cx="2934568" cy="2880000"/>
            </a:xfrm>
            <a:prstGeom prst="rect">
              <a:avLst/>
            </a:prstGeom>
          </p:spPr>
        </p:pic>
        <p:pic>
          <p:nvPicPr>
            <p:cNvPr id="14" name="Imagem 13">
              <a:extLst>
                <a:ext uri="{FF2B5EF4-FFF2-40B4-BE49-F238E27FC236}">
                  <a16:creationId xmlns:a16="http://schemas.microsoft.com/office/drawing/2014/main" id="{6EFFC29B-1638-396D-6B68-8276064F84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16742" y="1525304"/>
              <a:ext cx="2934568" cy="2880000"/>
            </a:xfrm>
            <a:prstGeom prst="rect">
              <a:avLst/>
            </a:prstGeom>
          </p:spPr>
        </p:pic>
      </p:grpSp>
      <p:sp>
        <p:nvSpPr>
          <p:cNvPr id="29698" name="Rectangle 2">
            <a:extLst>
              <a:ext uri="{FF2B5EF4-FFF2-40B4-BE49-F238E27FC236}">
                <a16:creationId xmlns:a16="http://schemas.microsoft.com/office/drawing/2014/main" id="{66203585-D53F-B0CD-B404-45701C5D9E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219273E-FEEB-A964-459D-ECCA52CE4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81</a:t>
            </a:fld>
            <a:endParaRPr lang="pt-BR" dirty="0"/>
          </a:p>
        </p:txBody>
      </p:sp>
      <p:sp>
        <p:nvSpPr>
          <p:cNvPr id="8" name="Rectangle 9">
            <a:extLst>
              <a:ext uri="{FF2B5EF4-FFF2-40B4-BE49-F238E27FC236}">
                <a16:creationId xmlns:a16="http://schemas.microsoft.com/office/drawing/2014/main" id="{DAD5C389-C7B8-CC65-9F0F-8F1079CB6AF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131" y="1349375"/>
            <a:ext cx="8929365" cy="279426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(Y~X1,data=dados)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(Y~X2,data=dados)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(Y~X3,data=dados)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(Y~X4,data=dados)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(Y~X5,data=dados)</a:t>
            </a:r>
          </a:p>
          <a:p>
            <a:pPr marL="352425" indent="-352425" eaLnBrk="1" hangingPunct="1"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22FE518-4FD8-5E70-5955-6E5060C276CD}"/>
              </a:ext>
            </a:extLst>
          </p:cNvPr>
          <p:cNvSpPr/>
          <p:nvPr/>
        </p:nvSpPr>
        <p:spPr bwMode="auto">
          <a:xfrm>
            <a:off x="5957914" y="1772816"/>
            <a:ext cx="2862557" cy="2232248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44372119-006A-DCB0-9CD3-BABEB1DAA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5150" y="4063789"/>
            <a:ext cx="1775581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85725" indent="-857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relação parece não ser linear</a:t>
            </a:r>
          </a:p>
        </p:txBody>
      </p:sp>
    </p:spTree>
    <p:extLst>
      <p:ext uri="{BB962C8B-B14F-4D97-AF65-F5344CB8AC3E}">
        <p14:creationId xmlns:p14="http://schemas.microsoft.com/office/powerpoint/2010/main" val="3880459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519720DB-4FED-6E54-0D16-818B27894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129" y="2603112"/>
            <a:ext cx="3411605" cy="3348166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1AFDFC6-EA0B-3E17-4FA6-B5682F0E70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537" y="3565939"/>
            <a:ext cx="2567747" cy="2520000"/>
          </a:xfrm>
          <a:prstGeom prst="rect">
            <a:avLst/>
          </a:prstGeom>
        </p:spPr>
      </p:pic>
      <p:pic>
        <p:nvPicPr>
          <p:cNvPr id="2" name="Imagem 1">
            <a:extLst>
              <a:ext uri="{FF2B5EF4-FFF2-40B4-BE49-F238E27FC236}">
                <a16:creationId xmlns:a16="http://schemas.microsoft.com/office/drawing/2014/main" id="{FEAEE3AC-7AA1-7536-D7E0-0B3D64A472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537" y="1245179"/>
            <a:ext cx="2567748" cy="2520000"/>
          </a:xfrm>
          <a:prstGeom prst="rect">
            <a:avLst/>
          </a:prstGeom>
        </p:spPr>
      </p:pic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82</a:t>
            </a:fld>
            <a:endParaRPr lang="pt-BR" dirty="0"/>
          </a:p>
        </p:txBody>
      </p:sp>
      <p:sp>
        <p:nvSpPr>
          <p:cNvPr id="8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107131" y="1349375"/>
            <a:ext cx="8929365" cy="351434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(Y~X3,data=dados)</a:t>
            </a:r>
          </a:p>
        </p:txBody>
      </p:sp>
      <p:sp>
        <p:nvSpPr>
          <p:cNvPr id="4" name="Retângulo 3"/>
          <p:cNvSpPr/>
          <p:nvPr/>
        </p:nvSpPr>
        <p:spPr>
          <a:xfrm>
            <a:off x="153470" y="3645024"/>
            <a:ext cx="223811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(Y~log10(X3),data=dados)</a:t>
            </a: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3856974" y="1844824"/>
            <a:ext cx="2435282" cy="9417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#linearizando a variável X3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dados$X3 &lt;- log10(dados$X3)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(dados)[4]&lt;-"logX3"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dados,upper.panel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upanel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tângulo 13"/>
          <p:cNvSpPr/>
          <p:nvPr/>
        </p:nvSpPr>
        <p:spPr bwMode="auto">
          <a:xfrm>
            <a:off x="5308930" y="2959918"/>
            <a:ext cx="432000" cy="432000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1" name="Retângulo 10"/>
          <p:cNvSpPr>
            <a:spLocks noChangeArrowheads="1"/>
          </p:cNvSpPr>
          <p:nvPr/>
        </p:nvSpPr>
        <p:spPr bwMode="auto">
          <a:xfrm>
            <a:off x="197798" y="6054387"/>
            <a:ext cx="8622674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531813" indent="-531813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</a:t>
            </a:r>
            <a:r>
              <a:rPr lang="pt-BR" altLang="pt-BR" sz="1600" dirty="0">
                <a:latin typeface="Tahoma" panose="020B0604030504040204" pitchFamily="34" charset="0"/>
              </a:rPr>
              <a:t>: se para linearização fosse necessária a transformação da variável </a:t>
            </a:r>
            <a:r>
              <a:rPr lang="pt-BR" altLang="pt-BR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, esta mesma transformação deveria ser adequada para as demais variáveis independentes, caso contrário, não seria possível utilizar esta variável com as demais</a:t>
            </a:r>
          </a:p>
        </p:txBody>
      </p:sp>
    </p:spTree>
    <p:extLst>
      <p:ext uri="{BB962C8B-B14F-4D97-AF65-F5344CB8AC3E}">
        <p14:creationId xmlns:p14="http://schemas.microsoft.com/office/powerpoint/2010/main" val="243394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3" grpId="0"/>
      <p:bldP spid="14" grpId="0" animBg="1"/>
      <p:bldP spid="1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83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650286"/>
            <a:ext cx="5616624" cy="19636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Calculando-se o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VIF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...</a:t>
            </a:r>
          </a:p>
          <a:p>
            <a:pPr marL="352425" lvl="0" indent="-352425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&lt;-lm(Y ~ X1 + X2 + logX3 + X4 + X5, data=dados)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car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),digits=2)</a:t>
            </a:r>
          </a:p>
          <a:p>
            <a:pPr marL="352425" lvl="0" indent="-352425">
              <a:spcBef>
                <a:spcPct val="20000"/>
              </a:spcBef>
            </a:pPr>
            <a:endParaRPr lang="en-US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X1	X2	logX3	X4	X5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4.18	1.12	1.01	1.17	4.25 </a:t>
            </a: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upo 6"/>
          <p:cNvGrpSpPr/>
          <p:nvPr/>
        </p:nvGrpSpPr>
        <p:grpSpPr>
          <a:xfrm>
            <a:off x="4644008" y="3284984"/>
            <a:ext cx="2520280" cy="338554"/>
            <a:chOff x="2606600" y="3657381"/>
            <a:chExt cx="2520280" cy="338554"/>
          </a:xfrm>
        </p:grpSpPr>
        <p:sp>
          <p:nvSpPr>
            <p:cNvPr id="5" name="Seta para a esquerda 4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3252649" y="3657381"/>
              <a:ext cx="18742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todos valores &lt; 10</a:t>
              </a:r>
            </a:p>
          </p:txBody>
        </p:sp>
      </p:grpSp>
      <p:sp>
        <p:nvSpPr>
          <p:cNvPr id="22" name="Retângulo 21"/>
          <p:cNvSpPr/>
          <p:nvPr/>
        </p:nvSpPr>
        <p:spPr>
          <a:xfrm>
            <a:off x="251520" y="4005064"/>
            <a:ext cx="561662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Conclusão: não há evidências de colinearidade</a:t>
            </a:r>
          </a:p>
        </p:txBody>
      </p:sp>
    </p:spTree>
    <p:extLst>
      <p:ext uri="{BB962C8B-B14F-4D97-AF65-F5344CB8AC3E}">
        <p14:creationId xmlns:p14="http://schemas.microsoft.com/office/powerpoint/2010/main" val="1450807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84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412776"/>
            <a:ext cx="3960440" cy="36625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Aplicando-se o </a:t>
            </a:r>
            <a:r>
              <a:rPr lang="pt-BR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...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library(MASS)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&lt;-lm(Y ~ X1 + X2 + logX3 + X4 + X5, data=dados)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reg,direction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="both")</a:t>
            </a:r>
          </a:p>
          <a:p>
            <a:pPr marL="352425" lvl="0" indent="-352425">
              <a:spcBef>
                <a:spcPct val="20000"/>
              </a:spcBef>
            </a:pPr>
            <a:endParaRPr lang="en-US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Start:  AIC=105.36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 ~ X1 + X2 + logX3 + X4 + X5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Sum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RSS    AIC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X5     1      5.30  418.04 103.87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X2     1      9.78  422.52 104.30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none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               412.74 105.36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X1     1    173.12  585.85 117.37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X4     1    303.15  715.89 125.39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logX3  1   1447.39 1860.13 163.58</a:t>
            </a:r>
          </a:p>
        </p:txBody>
      </p:sp>
      <p:sp>
        <p:nvSpPr>
          <p:cNvPr id="12" name="Retângulo 11"/>
          <p:cNvSpPr/>
          <p:nvPr/>
        </p:nvSpPr>
        <p:spPr>
          <a:xfrm>
            <a:off x="4499992" y="1738018"/>
            <a:ext cx="396044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AIC=103.87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 ~ X1 + X2 + logX3 + X4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Sum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RSS    AIC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X2     1     10.27  428.31 102.84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none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               418.04 103.87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 X5     1      5.30  412.74 105.36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X4     1    298.44  716.48 123.42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X1     1    923.03 1341.06 148.49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logX3  1   1443.42 1861.45 161.61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AIC=102.84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 ~ X1 + logX3 + X4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Sum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RSS    AIC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none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               428.31 102.84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 X2     1     10.27  418.04 103.87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 X5     1      5.78  422.52 104.30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X4     1    368.85  797.16 125.69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X1     1    913.38 1341.69 146.51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logX3  1   1440.77 1869.08 159.77</a:t>
            </a:r>
          </a:p>
        </p:txBody>
      </p:sp>
      <p:grpSp>
        <p:nvGrpSpPr>
          <p:cNvPr id="7" name="Grupo 6"/>
          <p:cNvGrpSpPr/>
          <p:nvPr/>
        </p:nvGrpSpPr>
        <p:grpSpPr>
          <a:xfrm>
            <a:off x="2750616" y="3657381"/>
            <a:ext cx="1430015" cy="276999"/>
            <a:chOff x="2606600" y="3657381"/>
            <a:chExt cx="1430015" cy="276999"/>
          </a:xfrm>
        </p:grpSpPr>
        <p:sp>
          <p:nvSpPr>
            <p:cNvPr id="5" name="Seta para a esquerda 4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3066478" y="3657381"/>
              <a:ext cx="9701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diminui AIC</a:t>
              </a:r>
            </a:p>
          </p:txBody>
        </p:sp>
      </p:grpSp>
      <p:grpSp>
        <p:nvGrpSpPr>
          <p:cNvPr id="16" name="Grupo 15"/>
          <p:cNvGrpSpPr/>
          <p:nvPr/>
        </p:nvGrpSpPr>
        <p:grpSpPr>
          <a:xfrm>
            <a:off x="7092280" y="2581029"/>
            <a:ext cx="1430015" cy="276999"/>
            <a:chOff x="2606600" y="3657381"/>
            <a:chExt cx="1430015" cy="276999"/>
          </a:xfrm>
        </p:grpSpPr>
        <p:sp>
          <p:nvSpPr>
            <p:cNvPr id="17" name="Seta para a esquerda 16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3066478" y="3657381"/>
              <a:ext cx="9701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diminui AIC</a:t>
              </a:r>
            </a:p>
          </p:txBody>
        </p:sp>
      </p:grpSp>
      <p:grpSp>
        <p:nvGrpSpPr>
          <p:cNvPr id="19" name="Grupo 18"/>
          <p:cNvGrpSpPr/>
          <p:nvPr/>
        </p:nvGrpSpPr>
        <p:grpSpPr>
          <a:xfrm>
            <a:off x="6268416" y="4324160"/>
            <a:ext cx="1860491" cy="338554"/>
            <a:chOff x="2606600" y="3645024"/>
            <a:chExt cx="1860491" cy="338554"/>
          </a:xfrm>
        </p:grpSpPr>
        <p:sp>
          <p:nvSpPr>
            <p:cNvPr id="20" name="Seta para a esquerda 19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21" name="CaixaDeTexto 20"/>
            <p:cNvSpPr txBox="1"/>
            <p:nvPr/>
          </p:nvSpPr>
          <p:spPr>
            <a:xfrm>
              <a:off x="3128263" y="3645024"/>
              <a:ext cx="13388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modelo final</a:t>
              </a:r>
            </a:p>
          </p:txBody>
        </p:sp>
      </p:grpSp>
      <p:sp>
        <p:nvSpPr>
          <p:cNvPr id="15" name="Retângulo 14"/>
          <p:cNvSpPr/>
          <p:nvPr/>
        </p:nvSpPr>
        <p:spPr>
          <a:xfrm>
            <a:off x="28913" y="6494067"/>
            <a:ext cx="594746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OBS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: Não avalia a significância dos coeficientes dos modelos!</a:t>
            </a:r>
          </a:p>
        </p:txBody>
      </p:sp>
    </p:spTree>
    <p:extLst>
      <p:ext uri="{BB962C8B-B14F-4D97-AF65-F5344CB8AC3E}">
        <p14:creationId xmlns:p14="http://schemas.microsoft.com/office/powerpoint/2010/main" val="868734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85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412776"/>
            <a:ext cx="5256584" cy="45489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Resumo do modelo selecionado: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Residuals: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	1Q	Median	3Q	Max 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-7.4194	-1.7517	0.1031	2.7467	5.3421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Coefficients: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Estimate 	Std. Error 	t value 	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(Intercept) 207.82477   	10.09345  	20.590  	&lt; 2e-16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           -0.81676    	0.09322  	-8.762 	1.87e-10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         7.51212   	0.68264  	11.005 	4.53e-13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          -43.25904    	7.76925  	-5.568 	2.63e-06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codes:  0 ‘***’ 0.001 ‘**’ 0.01 ‘*’ 0.05 ‘.’ 0.1 ‘ ’ 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standard error: 3.449 on 36 degrees of freedom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 R-squared:  0.8683,	Adjusted R-squared:  0.8573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F-statistic:  79.1 on 3 and 36 DF,  p-value: 6.513e-16</a:t>
            </a:r>
          </a:p>
        </p:txBody>
      </p:sp>
      <p:grpSp>
        <p:nvGrpSpPr>
          <p:cNvPr id="5" name="Grupo 4"/>
          <p:cNvGrpSpPr/>
          <p:nvPr/>
        </p:nvGrpSpPr>
        <p:grpSpPr>
          <a:xfrm>
            <a:off x="5004048" y="3789040"/>
            <a:ext cx="2061599" cy="461665"/>
            <a:chOff x="2606600" y="3572576"/>
            <a:chExt cx="2061599" cy="461665"/>
          </a:xfrm>
        </p:grpSpPr>
        <p:sp>
          <p:nvSpPr>
            <p:cNvPr id="6" name="Seta para a esquerda 5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066478" y="3572576"/>
              <a:ext cx="16017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todos os coeficientes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são significativos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3779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55DE-CD4C-0441-2CC2-A51065538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A35053D-BBD5-54D1-7039-6F4A08C501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44" y="3614361"/>
            <a:ext cx="3291644" cy="3230435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F3BE94DF-F854-9472-E0D0-48FC9F06BD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89A6693E-2D10-CA84-5C3B-BB6D7B2E4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86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16801CE6-46FE-8E56-3228-97A1D66EB99F}"/>
              </a:ext>
            </a:extLst>
          </p:cNvPr>
          <p:cNvSpPr/>
          <p:nvPr/>
        </p:nvSpPr>
        <p:spPr>
          <a:xfrm>
            <a:off x="251520" y="1412776"/>
            <a:ext cx="5256584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shapiro.test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Shapiro-Wilk normality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0.96599, p-value = 0.2668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&gt;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&lt;- (summary(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))$sigma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dados$Y,regsel$residuals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="Y",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="standard error")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D7A84DB1-16EF-2A29-2048-590FC205FD9E}"/>
              </a:ext>
            </a:extLst>
          </p:cNvPr>
          <p:cNvGrpSpPr/>
          <p:nvPr/>
        </p:nvGrpSpPr>
        <p:grpSpPr>
          <a:xfrm>
            <a:off x="2652498" y="2896808"/>
            <a:ext cx="2370979" cy="461665"/>
            <a:chOff x="2606600" y="3572576"/>
            <a:chExt cx="2370979" cy="461665"/>
          </a:xfrm>
        </p:grpSpPr>
        <p:sp>
          <p:nvSpPr>
            <p:cNvPr id="6" name="Seta para a esquerda 5">
              <a:extLst>
                <a:ext uri="{FF2B5EF4-FFF2-40B4-BE49-F238E27FC236}">
                  <a16:creationId xmlns:a16="http://schemas.microsoft.com/office/drawing/2014/main" id="{29BD595F-FEB2-C64A-23A8-4A124AAF1E79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BC87007C-306D-C241-FFA8-697AA74770C1}"/>
                </a:ext>
              </a:extLst>
            </p:cNvPr>
            <p:cNvSpPr txBox="1"/>
            <p:nvPr/>
          </p:nvSpPr>
          <p:spPr>
            <a:xfrm>
              <a:off x="3066478" y="3572576"/>
              <a:ext cx="19111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resíduos são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normalmente distribuídos</a:t>
              </a:r>
            </a:p>
          </p:txBody>
        </p:sp>
      </p:grpSp>
      <p:sp>
        <p:nvSpPr>
          <p:cNvPr id="4" name="Retângulo 3">
            <a:extLst>
              <a:ext uri="{FF2B5EF4-FFF2-40B4-BE49-F238E27FC236}">
                <a16:creationId xmlns:a16="http://schemas.microsoft.com/office/drawing/2014/main" id="{047A83A6-2181-99BF-02CC-D5FF6F79F7EF}"/>
              </a:ext>
            </a:extLst>
          </p:cNvPr>
          <p:cNvSpPr/>
          <p:nvPr/>
        </p:nvSpPr>
        <p:spPr>
          <a:xfrm>
            <a:off x="3419872" y="4557343"/>
            <a:ext cx="3456384" cy="13726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Aparentemente nenhum 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(|erro padronizado| &gt; 2,5)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Valores de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menores que 90 e maiores que 115 foram pouco amostrados!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54D43462-DE84-9754-1EB5-56D932D8827D}"/>
              </a:ext>
            </a:extLst>
          </p:cNvPr>
          <p:cNvSpPr/>
          <p:nvPr/>
        </p:nvSpPr>
        <p:spPr>
          <a:xfrm>
            <a:off x="5292080" y="1910938"/>
            <a:ext cx="3600400" cy="16065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bptest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studentized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Breusch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-Pagan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 = 4.3227,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3, p-value = 0.2287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5D30856B-7D6C-F95F-D668-CC343F93C5B8}"/>
              </a:ext>
            </a:extLst>
          </p:cNvPr>
          <p:cNvGrpSpPr/>
          <p:nvPr/>
        </p:nvGrpSpPr>
        <p:grpSpPr>
          <a:xfrm>
            <a:off x="7020272" y="3463265"/>
            <a:ext cx="1621213" cy="829831"/>
            <a:chOff x="1454472" y="3908201"/>
            <a:chExt cx="1621213" cy="829831"/>
          </a:xfrm>
        </p:grpSpPr>
        <p:sp>
          <p:nvSpPr>
            <p:cNvPr id="15" name="Seta para a esquerda 14">
              <a:extLst>
                <a:ext uri="{FF2B5EF4-FFF2-40B4-BE49-F238E27FC236}">
                  <a16:creationId xmlns:a16="http://schemas.microsoft.com/office/drawing/2014/main" id="{B0E4F8D3-BC3C-D3BD-254E-B6407FCF6CE4}"/>
                </a:ext>
              </a:extLst>
            </p:cNvPr>
            <p:cNvSpPr/>
            <p:nvPr/>
          </p:nvSpPr>
          <p:spPr bwMode="auto">
            <a:xfrm rot="5400000">
              <a:off x="2030536" y="4052217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3D05F5B7-FF92-5B6E-DF28-4DEA61CD0C72}"/>
                </a:ext>
              </a:extLst>
            </p:cNvPr>
            <p:cNvSpPr txBox="1"/>
            <p:nvPr/>
          </p:nvSpPr>
          <p:spPr>
            <a:xfrm>
              <a:off x="1454472" y="4461033"/>
              <a:ext cx="16212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variância é constante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1879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12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Agrupar 7">
            <a:extLst>
              <a:ext uri="{FF2B5EF4-FFF2-40B4-BE49-F238E27FC236}">
                <a16:creationId xmlns:a16="http://schemas.microsoft.com/office/drawing/2014/main" id="{B322592A-F3FA-A144-FC07-C4669E06AD6A}"/>
              </a:ext>
            </a:extLst>
          </p:cNvPr>
          <p:cNvGrpSpPr/>
          <p:nvPr/>
        </p:nvGrpSpPr>
        <p:grpSpPr>
          <a:xfrm>
            <a:off x="83408" y="2708920"/>
            <a:ext cx="8965136" cy="3533450"/>
            <a:chOff x="83408" y="3172150"/>
            <a:chExt cx="8965136" cy="353345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735C126-C2F2-83F5-36A0-DD9A07D614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7666"/>
            <a:stretch/>
          </p:blipFill>
          <p:spPr>
            <a:xfrm>
              <a:off x="5724128" y="3172150"/>
              <a:ext cx="3324416" cy="3533450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4560D5AE-C87C-31A0-CE4F-0B850510A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666"/>
            <a:stretch/>
          </p:blipFill>
          <p:spPr>
            <a:xfrm>
              <a:off x="2903768" y="3172150"/>
              <a:ext cx="3324416" cy="3533450"/>
            </a:xfrm>
            <a:prstGeom prst="rect">
              <a:avLst/>
            </a:prstGeom>
          </p:spPr>
        </p:pic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E70C059E-F5CF-C6C0-C5A9-20B04854B1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666"/>
            <a:stretch/>
          </p:blipFill>
          <p:spPr>
            <a:xfrm>
              <a:off x="83408" y="3172150"/>
              <a:ext cx="3324416" cy="3533450"/>
            </a:xfrm>
            <a:prstGeom prst="rect">
              <a:avLst/>
            </a:prstGeom>
          </p:spPr>
        </p:pic>
      </p:grp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87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412776"/>
            <a:ext cx="8640960" cy="12249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plot(dados$X1,regsel$residuals/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="X1",ylab="standard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plot(dados$logX3,regsel$residuals/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="logX3",ylab="standard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plot(dados$X4,regsel$residuals/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="X4",ylab="standard error")</a:t>
            </a:r>
          </a:p>
        </p:txBody>
      </p:sp>
      <p:sp>
        <p:nvSpPr>
          <p:cNvPr id="2" name="Elipse 1"/>
          <p:cNvSpPr/>
          <p:nvPr/>
        </p:nvSpPr>
        <p:spPr bwMode="auto">
          <a:xfrm>
            <a:off x="3435233" y="3539762"/>
            <a:ext cx="432000" cy="432000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6" name="Elipse 15"/>
          <p:cNvSpPr/>
          <p:nvPr/>
        </p:nvSpPr>
        <p:spPr bwMode="auto">
          <a:xfrm>
            <a:off x="6338625" y="3318241"/>
            <a:ext cx="432000" cy="432000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3517555" y="3657242"/>
            <a:ext cx="3642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#7</a:t>
            </a:r>
          </a:p>
        </p:txBody>
      </p:sp>
      <p:sp>
        <p:nvSpPr>
          <p:cNvPr id="19" name="CaixaDeTexto 18"/>
          <p:cNvSpPr txBox="1"/>
          <p:nvPr/>
        </p:nvSpPr>
        <p:spPr>
          <a:xfrm>
            <a:off x="6363339" y="3419147"/>
            <a:ext cx="4411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#34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52550CB-B836-3D59-2116-8E9B5AE91F09}"/>
              </a:ext>
            </a:extLst>
          </p:cNvPr>
          <p:cNvSpPr/>
          <p:nvPr/>
        </p:nvSpPr>
        <p:spPr>
          <a:xfrm>
            <a:off x="2771800" y="2874422"/>
            <a:ext cx="4320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 algn="ctr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Variáveis selecionadas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066AEBDF-0F6C-C1C4-E340-9E38581E0B00}"/>
              </a:ext>
            </a:extLst>
          </p:cNvPr>
          <p:cNvSpPr/>
          <p:nvPr/>
        </p:nvSpPr>
        <p:spPr>
          <a:xfrm>
            <a:off x="251520" y="6157554"/>
            <a:ext cx="864096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Alguns pontos parecem estar isolados e com erros mais altos: vale a pena uma investigação se podem estar influenciando os resultados...</a:t>
            </a:r>
          </a:p>
        </p:txBody>
      </p:sp>
    </p:spTree>
    <p:extLst>
      <p:ext uri="{BB962C8B-B14F-4D97-AF65-F5344CB8AC3E}">
        <p14:creationId xmlns:p14="http://schemas.microsoft.com/office/powerpoint/2010/main" val="1211256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6" grpId="0" animBg="1"/>
      <p:bldP spid="4" grpId="0"/>
      <p:bldP spid="19" grpId="0"/>
      <p:bldP spid="9" grpId="0"/>
      <p:bldP spid="10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4C43D-087B-E2F8-8830-406E2A28B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Agrupar 11">
            <a:extLst>
              <a:ext uri="{FF2B5EF4-FFF2-40B4-BE49-F238E27FC236}">
                <a16:creationId xmlns:a16="http://schemas.microsoft.com/office/drawing/2014/main" id="{B354E9CE-E385-9BCA-09B3-CB50DD996C2B}"/>
              </a:ext>
            </a:extLst>
          </p:cNvPr>
          <p:cNvGrpSpPr/>
          <p:nvPr/>
        </p:nvGrpSpPr>
        <p:grpSpPr>
          <a:xfrm>
            <a:off x="1465070" y="2708920"/>
            <a:ext cx="6201813" cy="3535200"/>
            <a:chOff x="-2670591" y="-303768"/>
            <a:chExt cx="6201813" cy="3535200"/>
          </a:xfrm>
        </p:grpSpPr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F4B504E6-6D2D-D93A-038A-3C342184A2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7711"/>
            <a:stretch/>
          </p:blipFill>
          <p:spPr>
            <a:xfrm>
              <a:off x="206806" y="-303768"/>
              <a:ext cx="3324416" cy="3535200"/>
            </a:xfrm>
            <a:prstGeom prst="rect">
              <a:avLst/>
            </a:prstGeom>
          </p:spPr>
        </p:pic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221CD1C4-21C3-C08A-0428-B7C980B6F2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711"/>
            <a:stretch/>
          </p:blipFill>
          <p:spPr>
            <a:xfrm>
              <a:off x="-2670591" y="-303768"/>
              <a:ext cx="3324416" cy="3535200"/>
            </a:xfrm>
            <a:prstGeom prst="rect">
              <a:avLst/>
            </a:prstGeom>
          </p:spPr>
        </p:pic>
      </p:grpSp>
      <p:sp>
        <p:nvSpPr>
          <p:cNvPr id="29698" name="Rectangle 2">
            <a:extLst>
              <a:ext uri="{FF2B5EF4-FFF2-40B4-BE49-F238E27FC236}">
                <a16:creationId xmlns:a16="http://schemas.microsoft.com/office/drawing/2014/main" id="{21ECD46A-5018-B7EF-7FAF-2B76C6C393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B4E08C6B-70E8-E558-49C9-4271E69BA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88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9787A5FA-878D-D953-F9C3-CFD0B330970D}"/>
              </a:ext>
            </a:extLst>
          </p:cNvPr>
          <p:cNvSpPr/>
          <p:nvPr/>
        </p:nvSpPr>
        <p:spPr>
          <a:xfrm>
            <a:off x="251520" y="1412776"/>
            <a:ext cx="8640960" cy="10033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É importante também avaliar os resíduos em relação às variáveis descartadas pela seleção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plot(dados$X2,regsel$residuals/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="X2",ylab="standard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plot(dados$X5,regsel$residuals/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="X5",ylab="standard error")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FCC9260-3D9A-B473-B0F1-EE4FD5D351EB}"/>
              </a:ext>
            </a:extLst>
          </p:cNvPr>
          <p:cNvSpPr/>
          <p:nvPr/>
        </p:nvSpPr>
        <p:spPr>
          <a:xfrm>
            <a:off x="2771800" y="2874422"/>
            <a:ext cx="4320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 algn="ctr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Variáveis não selecionadas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95CB2218-B5BD-F561-0B35-ABDD51D401F8}"/>
              </a:ext>
            </a:extLst>
          </p:cNvPr>
          <p:cNvSpPr/>
          <p:nvPr/>
        </p:nvSpPr>
        <p:spPr>
          <a:xfrm>
            <a:off x="251520" y="6157554"/>
            <a:ext cx="864096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 variável </a:t>
            </a:r>
            <a:r>
              <a:rPr lang="pt-BR" alt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parece ter alguma relação com o erro caso a amostra isolada fosse descartada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AD169937-979C-92B6-EE6A-CAD2E336F886}"/>
              </a:ext>
            </a:extLst>
          </p:cNvPr>
          <p:cNvSpPr/>
          <p:nvPr/>
        </p:nvSpPr>
        <p:spPr bwMode="auto">
          <a:xfrm>
            <a:off x="4342467" y="5149457"/>
            <a:ext cx="476412" cy="422498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1FF1067-7C0C-EEE1-85E1-DA728BF92B7D}"/>
              </a:ext>
            </a:extLst>
          </p:cNvPr>
          <p:cNvSpPr txBox="1"/>
          <p:nvPr/>
        </p:nvSpPr>
        <p:spPr>
          <a:xfrm>
            <a:off x="4329081" y="5185767"/>
            <a:ext cx="4411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#35</a:t>
            </a:r>
          </a:p>
        </p:txBody>
      </p:sp>
    </p:spTree>
    <p:extLst>
      <p:ext uri="{BB962C8B-B14F-4D97-AF65-F5344CB8AC3E}">
        <p14:creationId xmlns:p14="http://schemas.microsoft.com/office/powerpoint/2010/main" val="2183297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4" grpId="0"/>
      <p:bldP spid="15" grpId="0" animBg="1"/>
      <p:bldP spid="20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3A8A8-FF22-84C7-9A14-554EA55E3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2133EAC4-7781-97F3-1727-8BA299B9BDC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591D0C7-314D-B23B-B52F-D7CC68E32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89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A947565-6564-15C3-80A7-CFBE65D5A79F}"/>
              </a:ext>
            </a:extLst>
          </p:cNvPr>
          <p:cNvSpPr/>
          <p:nvPr/>
        </p:nvSpPr>
        <p:spPr>
          <a:xfrm>
            <a:off x="251520" y="1412776"/>
            <a:ext cx="8280920" cy="2776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Eliminando-se cada uma das amostras e verificando o impacto no AIC e do modelo final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#dados completos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reg&lt;-lm(Y ~ X1 + X2 + logX3 + X4 + X5, data=dados)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reg,direction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both",trace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=FALSE)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print(paste("Dados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Completos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","  AIC:",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extractAIC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)," 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final:",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deparse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(formula(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))))</a:t>
            </a:r>
          </a:p>
          <a:p>
            <a:pPr marL="352425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#dados sem amostras</a:t>
            </a:r>
          </a:p>
          <a:p>
            <a:pPr marL="352425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(i in c(7,34,35)) {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reg&lt;-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 ~ X1 + X2 + logX3 + X4 + X5, data=dados[-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,])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reg,direction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both",trace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=FALSE)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print(paste("Dados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amostra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,"  AIC:",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extractAIC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)," 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final:",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deparse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(formula(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))))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3C0E796E-8597-953B-A5D2-89CC575FC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211061"/>
              </p:ext>
            </p:extLst>
          </p:nvPr>
        </p:nvGraphicFramePr>
        <p:xfrm>
          <a:off x="611560" y="4496692"/>
          <a:ext cx="4176464" cy="1740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317">
                  <a:extLst>
                    <a:ext uri="{9D8B030D-6E8A-4147-A177-3AD203B41FA5}">
                      <a16:colId xmlns:a16="http://schemas.microsoft.com/office/drawing/2014/main" val="1825337360"/>
                    </a:ext>
                  </a:extLst>
                </a:gridCol>
                <a:gridCol w="702780">
                  <a:extLst>
                    <a:ext uri="{9D8B030D-6E8A-4147-A177-3AD203B41FA5}">
                      <a16:colId xmlns:a16="http://schemas.microsoft.com/office/drawing/2014/main" val="1915702599"/>
                    </a:ext>
                  </a:extLst>
                </a:gridCol>
                <a:gridCol w="2163367">
                  <a:extLst>
                    <a:ext uri="{9D8B030D-6E8A-4147-A177-3AD203B41FA5}">
                      <a16:colId xmlns:a16="http://schemas.microsoft.com/office/drawing/2014/main" val="199777687"/>
                    </a:ext>
                  </a:extLst>
                </a:gridCol>
              </a:tblGrid>
              <a:tr h="348124"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Dados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AIC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Modelo final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5069205"/>
                  </a:ext>
                </a:extLst>
              </a:tr>
              <a:tr h="348124"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Completo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102,84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Tahoma" panose="020B0604030504040204" pitchFamily="34" charset="0"/>
                          <a:cs typeface="Arial" panose="020B0604020202020204" pitchFamily="34" charset="0"/>
                        </a:rPr>
                        <a:t>Y ~ X1 + logX3 + X4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676968"/>
                  </a:ext>
                </a:extLst>
              </a:tr>
              <a:tr h="348124"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sem #7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100,21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Tahoma" panose="020B0604030504040204" pitchFamily="34" charset="0"/>
                          <a:cs typeface="Arial" panose="020B0604020202020204" pitchFamily="34" charset="0"/>
                        </a:rPr>
                        <a:t>Y ~ X1 + logX3 + X4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1558237"/>
                  </a:ext>
                </a:extLst>
              </a:tr>
              <a:tr h="3481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sem #34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98,79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Tahoma" panose="020B0604030504040204" pitchFamily="34" charset="0"/>
                          <a:cs typeface="Arial" panose="020B0604020202020204" pitchFamily="34" charset="0"/>
                        </a:rPr>
                        <a:t>Y ~ X1 + logX3 + X4</a:t>
                      </a:r>
                      <a:endParaRPr lang="pt-BR" sz="1200" b="0" dirty="0">
                        <a:solidFill>
                          <a:schemeClr val="tx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0153104"/>
                  </a:ext>
                </a:extLst>
              </a:tr>
              <a:tr h="3481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sem #35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91,79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Tahoma" panose="020B0604030504040204" pitchFamily="34" charset="0"/>
                          <a:cs typeface="Arial" panose="020B0604020202020204" pitchFamily="34" charset="0"/>
                        </a:rPr>
                        <a:t>Y ~ X1 + X2 + logX3 + X4</a:t>
                      </a:r>
                      <a:endParaRPr lang="pt-BR" sz="1200" b="0" dirty="0">
                        <a:solidFill>
                          <a:schemeClr val="tx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174390"/>
                  </a:ext>
                </a:extLst>
              </a:tr>
            </a:tbl>
          </a:graphicData>
        </a:graphic>
      </p:graphicFrame>
      <p:grpSp>
        <p:nvGrpSpPr>
          <p:cNvPr id="4" name="Grupo 4">
            <a:extLst>
              <a:ext uri="{FF2B5EF4-FFF2-40B4-BE49-F238E27FC236}">
                <a16:creationId xmlns:a16="http://schemas.microsoft.com/office/drawing/2014/main" id="{44302E9E-8BD0-C674-07F8-52B3A2F37B4F}"/>
              </a:ext>
            </a:extLst>
          </p:cNvPr>
          <p:cNvGrpSpPr/>
          <p:nvPr/>
        </p:nvGrpSpPr>
        <p:grpSpPr>
          <a:xfrm>
            <a:off x="4874520" y="5805264"/>
            <a:ext cx="2462358" cy="461665"/>
            <a:chOff x="2606600" y="3572576"/>
            <a:chExt cx="2462358" cy="461665"/>
          </a:xfrm>
        </p:grpSpPr>
        <p:sp>
          <p:nvSpPr>
            <p:cNvPr id="8" name="Seta para a esquerda 5">
              <a:extLst>
                <a:ext uri="{FF2B5EF4-FFF2-40B4-BE49-F238E27FC236}">
                  <a16:creationId xmlns:a16="http://schemas.microsoft.com/office/drawing/2014/main" id="{5A7E99E2-3B97-891F-6608-3E6643012241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457EF28E-FDF1-6BAD-A3A8-C64B3E70584F}"/>
                </a:ext>
              </a:extLst>
            </p:cNvPr>
            <p:cNvSpPr txBox="1"/>
            <p:nvPr/>
          </p:nvSpPr>
          <p:spPr>
            <a:xfrm>
              <a:off x="3095053" y="3572576"/>
              <a:ext cx="197390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Além de diminuir o AIC, acrescentou a variável </a:t>
              </a:r>
              <a:r>
                <a:rPr lang="pt-BR" sz="1200" dirty="0">
                  <a:latin typeface="Arial" panose="020B0604020202020204" pitchFamily="34" charset="0"/>
                  <a:cs typeface="Arial" panose="020B0604020202020204" pitchFamily="34" charset="0"/>
                </a:rPr>
                <a:t>X2</a:t>
              </a:r>
            </a:p>
          </p:txBody>
        </p:sp>
      </p:grpSp>
      <p:sp>
        <p:nvSpPr>
          <p:cNvPr id="10" name="Retângulo 9">
            <a:extLst>
              <a:ext uri="{FF2B5EF4-FFF2-40B4-BE49-F238E27FC236}">
                <a16:creationId xmlns:a16="http://schemas.microsoft.com/office/drawing/2014/main" id="{5533E5E2-CA9A-0972-A599-03040C46DBE2}"/>
              </a:ext>
            </a:extLst>
          </p:cNvPr>
          <p:cNvSpPr/>
          <p:nvPr/>
        </p:nvSpPr>
        <p:spPr>
          <a:xfrm>
            <a:off x="5592341" y="4825741"/>
            <a:ext cx="25922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Repetir toda a análise sem a amostra 35!</a:t>
            </a:r>
          </a:p>
        </p:txBody>
      </p:sp>
    </p:spTree>
    <p:extLst>
      <p:ext uri="{BB962C8B-B14F-4D97-AF65-F5344CB8AC3E}">
        <p14:creationId xmlns:p14="http://schemas.microsoft.com/office/powerpoint/2010/main" val="2454846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21C51-F9C1-6812-0162-62217F7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632A2397-00E3-27CE-F33D-313C27D833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1F92080-E19B-F4FC-152D-63FEB68C5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90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A1848FF-6E29-BDEF-F0BF-9A5BF4840DCE}"/>
              </a:ext>
            </a:extLst>
          </p:cNvPr>
          <p:cNvSpPr/>
          <p:nvPr/>
        </p:nvSpPr>
        <p:spPr>
          <a:xfrm>
            <a:off x="251520" y="1412776"/>
            <a:ext cx="5256584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 ~ X1 + X2 + logX3 + X4 + X5, data=dados[-35,])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reg,direction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both",trace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=FALSE)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Residuals: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	1Q	Median	3Q	Max 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-6.5691	1.6460	0.3935	2.2728	4.4922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Coefficients: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Estimate 	Std. Error 	t value 	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(Intercept)	200.665796	9.189850	21.836	&lt; 2e-16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	-0.786335	0.083630	-9.403	5.52e-11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X2	0.015347	0.006468	2.373	0.0235 *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	7.548661	0.604932	12.479	3.03e-14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	-38.551520	7.273529	-5.300	7.00e-06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codes:  0 ‘***’ 0.001 ‘**’ 0.01 ‘*’ 0.05 ‘.’ 0.1 ‘ ’ 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standard error: 3.056 on 34 degrees of freedom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 R-squared:  0.8983,	Adjusted R-squared:  0.8863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F-statistic:  75.04 on 4 and 34 DF,  p-value: 2.2e-16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83B217E6-105F-3427-5FB0-B2D49AE5823C}"/>
              </a:ext>
            </a:extLst>
          </p:cNvPr>
          <p:cNvGrpSpPr/>
          <p:nvPr/>
        </p:nvGrpSpPr>
        <p:grpSpPr>
          <a:xfrm>
            <a:off x="4885595" y="3987522"/>
            <a:ext cx="2477017" cy="276999"/>
            <a:chOff x="2606600" y="3648776"/>
            <a:chExt cx="2477017" cy="276999"/>
          </a:xfrm>
        </p:grpSpPr>
        <p:sp>
          <p:nvSpPr>
            <p:cNvPr id="6" name="Seta para a esquerda 5">
              <a:extLst>
                <a:ext uri="{FF2B5EF4-FFF2-40B4-BE49-F238E27FC236}">
                  <a16:creationId xmlns:a16="http://schemas.microsoft.com/office/drawing/2014/main" id="{E6110B81-C161-525A-C7B9-291F44CFD34F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7F90118-B067-AE67-4536-944758237546}"/>
                </a:ext>
              </a:extLst>
            </p:cNvPr>
            <p:cNvSpPr txBox="1"/>
            <p:nvPr/>
          </p:nvSpPr>
          <p:spPr>
            <a:xfrm>
              <a:off x="3114103" y="3648776"/>
              <a:ext cx="19695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significativo apenas a 5%!</a:t>
              </a:r>
            </a:p>
          </p:txBody>
        </p:sp>
      </p:grpSp>
      <p:grpSp>
        <p:nvGrpSpPr>
          <p:cNvPr id="2" name="Grupo 4">
            <a:extLst>
              <a:ext uri="{FF2B5EF4-FFF2-40B4-BE49-F238E27FC236}">
                <a16:creationId xmlns:a16="http://schemas.microsoft.com/office/drawing/2014/main" id="{A1B04F0A-4D1B-BECC-441B-8E3B9F970C60}"/>
              </a:ext>
            </a:extLst>
          </p:cNvPr>
          <p:cNvGrpSpPr/>
          <p:nvPr/>
        </p:nvGrpSpPr>
        <p:grpSpPr>
          <a:xfrm>
            <a:off x="4429679" y="1409700"/>
            <a:ext cx="1891979" cy="276999"/>
            <a:chOff x="2606600" y="3658301"/>
            <a:chExt cx="1891979" cy="276999"/>
          </a:xfrm>
        </p:grpSpPr>
        <p:sp>
          <p:nvSpPr>
            <p:cNvPr id="4" name="Seta para a esquerda 5">
              <a:extLst>
                <a:ext uri="{FF2B5EF4-FFF2-40B4-BE49-F238E27FC236}">
                  <a16:creationId xmlns:a16="http://schemas.microsoft.com/office/drawing/2014/main" id="{E8DBF2C3-FCA3-A127-B3F6-0DF9FC59403B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F185DC6B-446B-BC4D-F6AE-6A0CAAD799D8}"/>
                </a:ext>
              </a:extLst>
            </p:cNvPr>
            <p:cNvSpPr txBox="1"/>
            <p:nvPr/>
          </p:nvSpPr>
          <p:spPr>
            <a:xfrm>
              <a:off x="3095053" y="3658301"/>
              <a:ext cx="14035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sem a amostra 35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4607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BB517-77CF-F5C4-B3F6-7AAC5A8D5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B12599A-D784-0A9C-771A-D5BF135EB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44" y="3614361"/>
            <a:ext cx="3290385" cy="3229200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FDFCA03C-D765-5A87-5465-B4446C0D35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58A1AAC3-94E3-3B9B-CF87-370B93F00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91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7B3D4C9A-83FD-6DC6-803B-6E9A261E1760}"/>
              </a:ext>
            </a:extLst>
          </p:cNvPr>
          <p:cNvSpPr/>
          <p:nvPr/>
        </p:nvSpPr>
        <p:spPr>
          <a:xfrm>
            <a:off x="251520" y="1412776"/>
            <a:ext cx="5472608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shapiro.test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Shapiro-Wilk normality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0.95815, p-value = 0.1547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&gt;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&lt;- (summary(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))$sigma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Y,regsel$residuals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="Y",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="standard error")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FBC750BE-6AF5-17FE-D01B-A54E78124E34}"/>
              </a:ext>
            </a:extLst>
          </p:cNvPr>
          <p:cNvGrpSpPr/>
          <p:nvPr/>
        </p:nvGrpSpPr>
        <p:grpSpPr>
          <a:xfrm>
            <a:off x="2652498" y="2896808"/>
            <a:ext cx="2370979" cy="461665"/>
            <a:chOff x="2606600" y="3572576"/>
            <a:chExt cx="2370979" cy="461665"/>
          </a:xfrm>
        </p:grpSpPr>
        <p:sp>
          <p:nvSpPr>
            <p:cNvPr id="6" name="Seta para a esquerda 5">
              <a:extLst>
                <a:ext uri="{FF2B5EF4-FFF2-40B4-BE49-F238E27FC236}">
                  <a16:creationId xmlns:a16="http://schemas.microsoft.com/office/drawing/2014/main" id="{B4DE38A5-521F-AB80-3AC8-6B5F66B7EC8F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7F209142-818F-CF31-FDC8-52099A204C77}"/>
                </a:ext>
              </a:extLst>
            </p:cNvPr>
            <p:cNvSpPr txBox="1"/>
            <p:nvPr/>
          </p:nvSpPr>
          <p:spPr>
            <a:xfrm>
              <a:off x="3066478" y="3572576"/>
              <a:ext cx="19111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resíduos são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normalmente distribuídos</a:t>
              </a:r>
            </a:p>
          </p:txBody>
        </p:sp>
      </p:grpSp>
      <p:sp>
        <p:nvSpPr>
          <p:cNvPr id="4" name="Retângulo 3">
            <a:extLst>
              <a:ext uri="{FF2B5EF4-FFF2-40B4-BE49-F238E27FC236}">
                <a16:creationId xmlns:a16="http://schemas.microsoft.com/office/drawing/2014/main" id="{A60BE3C0-2EDE-0BA7-84FC-AD6CFDFBDBC9}"/>
              </a:ext>
            </a:extLst>
          </p:cNvPr>
          <p:cNvSpPr/>
          <p:nvPr/>
        </p:nvSpPr>
        <p:spPr>
          <a:xfrm>
            <a:off x="3419872" y="4557343"/>
            <a:ext cx="3456384" cy="16681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Não mudou muito!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Aparentemente nenhum 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(|erro padronizado| &gt; 2,5)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Valores de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menores que 90 e maiores que 115 foram pouco amostrados!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A733B55-9242-A897-F60C-36E2F6E3993E}"/>
              </a:ext>
            </a:extLst>
          </p:cNvPr>
          <p:cNvSpPr/>
          <p:nvPr/>
        </p:nvSpPr>
        <p:spPr>
          <a:xfrm>
            <a:off x="5292080" y="1910938"/>
            <a:ext cx="3600400" cy="16065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bptest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studentized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Breusch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-Pagan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 = 2.0092,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4, p-value = 0.7341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F10CBE33-9C1D-BB8A-68D6-7FE533FCC48E}"/>
              </a:ext>
            </a:extLst>
          </p:cNvPr>
          <p:cNvGrpSpPr/>
          <p:nvPr/>
        </p:nvGrpSpPr>
        <p:grpSpPr>
          <a:xfrm>
            <a:off x="7020272" y="3463265"/>
            <a:ext cx="1621213" cy="829831"/>
            <a:chOff x="1454472" y="3908201"/>
            <a:chExt cx="1621213" cy="829831"/>
          </a:xfrm>
        </p:grpSpPr>
        <p:sp>
          <p:nvSpPr>
            <p:cNvPr id="15" name="Seta para a esquerda 14">
              <a:extLst>
                <a:ext uri="{FF2B5EF4-FFF2-40B4-BE49-F238E27FC236}">
                  <a16:creationId xmlns:a16="http://schemas.microsoft.com/office/drawing/2014/main" id="{31E4A6D9-0273-E6FC-CB73-DDC67A38AA8F}"/>
                </a:ext>
              </a:extLst>
            </p:cNvPr>
            <p:cNvSpPr/>
            <p:nvPr/>
          </p:nvSpPr>
          <p:spPr bwMode="auto">
            <a:xfrm rot="5400000">
              <a:off x="2030536" y="4052217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3D3755D2-1F7C-33E5-F3F6-5DC8D77B2E49}"/>
                </a:ext>
              </a:extLst>
            </p:cNvPr>
            <p:cNvSpPr txBox="1"/>
            <p:nvPr/>
          </p:nvSpPr>
          <p:spPr>
            <a:xfrm>
              <a:off x="1454472" y="4461033"/>
              <a:ext cx="16212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variância é constante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5051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1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62DD5-9F60-4163-118B-846F9C98E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agem 26">
            <a:extLst>
              <a:ext uri="{FF2B5EF4-FFF2-40B4-BE49-F238E27FC236}">
                <a16:creationId xmlns:a16="http://schemas.microsoft.com/office/drawing/2014/main" id="{F908CE16-5099-D847-D1F4-99D6323B09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26"/>
          <a:stretch/>
        </p:blipFill>
        <p:spPr>
          <a:xfrm>
            <a:off x="5473254" y="2622977"/>
            <a:ext cx="2666429" cy="24984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6A45762-C1EA-6ADF-5C5E-E7EA384C87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666" b="4507"/>
          <a:stretch/>
        </p:blipFill>
        <p:spPr>
          <a:xfrm>
            <a:off x="2237317" y="4314108"/>
            <a:ext cx="2489034" cy="2499268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959973F-0646-48B0-9869-587CB71ED42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666" b="4507"/>
          <a:stretch/>
        </p:blipFill>
        <p:spPr>
          <a:xfrm>
            <a:off x="143913" y="4314108"/>
            <a:ext cx="2489034" cy="2499268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381D8216-8447-2777-D807-334EE5EF2D3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665" b="4506"/>
          <a:stretch/>
        </p:blipFill>
        <p:spPr>
          <a:xfrm>
            <a:off x="2237317" y="2146022"/>
            <a:ext cx="2489035" cy="2499268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A821B81C-C74B-FE0B-28F3-16B4B27B99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291" b="4506"/>
          <a:stretch/>
        </p:blipFill>
        <p:spPr>
          <a:xfrm>
            <a:off x="122917" y="2146023"/>
            <a:ext cx="2472368" cy="2499268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C5933C8F-210E-8F71-42E4-41AEA13BF9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15E82844-BA03-7A36-5DE5-4B677257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92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01F45150-BE27-F79F-D002-7630AAE2514B}"/>
              </a:ext>
            </a:extLst>
          </p:cNvPr>
          <p:cNvSpPr/>
          <p:nvPr/>
        </p:nvSpPr>
        <p:spPr>
          <a:xfrm>
            <a:off x="251520" y="1268760"/>
            <a:ext cx="8640960" cy="13542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plot(dados[-35,]$X1,regsel$residuals/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="X1",ylab="standard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plot(dados[-35,]$X2,regsel$residuals/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="X2",ylab="standard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plot(dados[-35,]$logX3,regsel$residuals/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="logX3",ylab="standard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plot(dados[-35,]$X4,regsel$residuals/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="X4",ylab="standard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plot(dados[-35,]$X5,regsel$residuals/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="X5",ylab="standard error")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4A19069D-DB84-BB7C-1A29-17561B874064}"/>
              </a:ext>
            </a:extLst>
          </p:cNvPr>
          <p:cNvSpPr/>
          <p:nvPr/>
        </p:nvSpPr>
        <p:spPr bwMode="auto">
          <a:xfrm>
            <a:off x="2615843" y="4964385"/>
            <a:ext cx="298607" cy="264815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C4FC2706-EA95-1660-8F2B-2CB3E4FCE66A}"/>
              </a:ext>
            </a:extLst>
          </p:cNvPr>
          <p:cNvSpPr/>
          <p:nvPr/>
        </p:nvSpPr>
        <p:spPr>
          <a:xfrm>
            <a:off x="5076056" y="5318643"/>
            <a:ext cx="3816424" cy="8802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As amostras 7 e 34 ainda continuam isoladas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Vale a pena descartá-las também?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17A37961-2C82-A856-8713-0429530FCAE5}"/>
              </a:ext>
            </a:extLst>
          </p:cNvPr>
          <p:cNvSpPr/>
          <p:nvPr/>
        </p:nvSpPr>
        <p:spPr bwMode="auto">
          <a:xfrm>
            <a:off x="522439" y="4916759"/>
            <a:ext cx="298607" cy="264815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FBF72E8-E476-14F6-384D-40C78C9949AE}"/>
              </a:ext>
            </a:extLst>
          </p:cNvPr>
          <p:cNvSpPr txBox="1"/>
          <p:nvPr/>
        </p:nvSpPr>
        <p:spPr>
          <a:xfrm>
            <a:off x="552743" y="5145514"/>
            <a:ext cx="3642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#7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9ED11FE4-7A14-894E-0E8D-68D7A504E088}"/>
              </a:ext>
            </a:extLst>
          </p:cNvPr>
          <p:cNvSpPr txBox="1"/>
          <p:nvPr/>
        </p:nvSpPr>
        <p:spPr>
          <a:xfrm>
            <a:off x="2650788" y="5187838"/>
            <a:ext cx="4411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#34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B3ACF7A5-0513-AA89-5E70-B38E6F8573BA}"/>
              </a:ext>
            </a:extLst>
          </p:cNvPr>
          <p:cNvSpPr/>
          <p:nvPr/>
        </p:nvSpPr>
        <p:spPr>
          <a:xfrm>
            <a:off x="5656541" y="2708920"/>
            <a:ext cx="24890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 algn="ctr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Variável não selecionada</a:t>
            </a:r>
          </a:p>
        </p:txBody>
      </p:sp>
    </p:spTree>
    <p:extLst>
      <p:ext uri="{BB962C8B-B14F-4D97-AF65-F5344CB8AC3E}">
        <p14:creationId xmlns:p14="http://schemas.microsoft.com/office/powerpoint/2010/main" val="279598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0" grpId="0"/>
      <p:bldP spid="20" grpId="0" animBg="1"/>
      <p:bldP spid="21" grpId="0"/>
      <p:bldP spid="22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68E69-00A1-94D2-76CA-B25FAB22C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4E29BF48-260F-64A7-DEF4-CA86B1A2E74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57A0AC3-CCEE-D386-3993-9FB3F242D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93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3CE55EE-E1A4-C513-5430-9DB576883828}"/>
              </a:ext>
            </a:extLst>
          </p:cNvPr>
          <p:cNvSpPr/>
          <p:nvPr/>
        </p:nvSpPr>
        <p:spPr>
          <a:xfrm>
            <a:off x="251520" y="1340768"/>
            <a:ext cx="8280920" cy="54599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Ao se eliminar as amostras 7, 34 e 35, verificou-se que o modelo selecionado pelo 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incluiu a variável </a:t>
            </a:r>
            <a:r>
              <a:rPr 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mas a mesma não foi significativa a 5%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#dados sem as amostras 7, 34 e 35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&lt;-lm(Y ~ X1 + logX3 + X4, data=dados[-c(7,34,35),])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Residuals: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	1Q	Median	3Q	Max 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-5.8101	-1.9095	0.3236	1.7606	4.8961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Coefficients: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Estimate 	Std. Error 	t value 	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(Intercept)	198.295309	9.362345	21.180	&lt; 2e-16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	 -0.763356	0.085146	-8.965	3.06e-10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X2	0.013021	0.006799	1.915	0.0645 .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	7.819945	0.688386	11.360	9.17e-13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	-35.337544	7.770705	-4.548	7.36e-05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codes:  0 ‘***’ 0.001 ‘**’ 0.01 ‘*’ 0.05 ‘.’ 0.1 ‘ ’ 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standard error: 3.051 on 32 degrees of freedom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 R-squared:  0.884	Adjusted R-squared:  0.8695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F-statistic:  60.95 on 4 and 32 DF,  p-value: 1.633e-14</a:t>
            </a:r>
          </a:p>
        </p:txBody>
      </p:sp>
      <p:grpSp>
        <p:nvGrpSpPr>
          <p:cNvPr id="6" name="Grupo 4">
            <a:extLst>
              <a:ext uri="{FF2B5EF4-FFF2-40B4-BE49-F238E27FC236}">
                <a16:creationId xmlns:a16="http://schemas.microsoft.com/office/drawing/2014/main" id="{F72868E4-4E30-102F-CC7F-5B86E85762AC}"/>
              </a:ext>
            </a:extLst>
          </p:cNvPr>
          <p:cNvGrpSpPr/>
          <p:nvPr/>
        </p:nvGrpSpPr>
        <p:grpSpPr>
          <a:xfrm>
            <a:off x="4860032" y="4672186"/>
            <a:ext cx="1824688" cy="276999"/>
            <a:chOff x="2606600" y="3663634"/>
            <a:chExt cx="1824688" cy="276999"/>
          </a:xfrm>
        </p:grpSpPr>
        <p:sp>
          <p:nvSpPr>
            <p:cNvPr id="7" name="Seta para a esquerda 5">
              <a:extLst>
                <a:ext uri="{FF2B5EF4-FFF2-40B4-BE49-F238E27FC236}">
                  <a16:creationId xmlns:a16="http://schemas.microsoft.com/office/drawing/2014/main" id="{1567DD31-948F-E6DB-9817-92CAA7D80C4A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5F317AC3-1258-8D97-86CF-ED7CA0EFA218}"/>
                </a:ext>
              </a:extLst>
            </p:cNvPr>
            <p:cNvSpPr txBox="1"/>
            <p:nvPr/>
          </p:nvSpPr>
          <p:spPr>
            <a:xfrm>
              <a:off x="3104578" y="3663634"/>
              <a:ext cx="13267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não significativo!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6392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AC42F-2EFB-AA2B-B95D-6EA2944BF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877D7423-1B26-8613-DDC8-6A5EE1AA84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6C035961-483A-0A61-F86B-B8021CB85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94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D7F17B7-9BBB-5E76-956C-2E9CC1B25109}"/>
              </a:ext>
            </a:extLst>
          </p:cNvPr>
          <p:cNvSpPr/>
          <p:nvPr/>
        </p:nvSpPr>
        <p:spPr>
          <a:xfrm>
            <a:off x="251520" y="1340768"/>
            <a:ext cx="8280920" cy="49921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Assim, optou-se por ajustar o modelo apenas com as variáveis </a:t>
            </a:r>
            <a:r>
              <a:rPr 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, </a:t>
            </a:r>
            <a:r>
              <a:rPr 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e </a:t>
            </a:r>
            <a:r>
              <a:rPr 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#dados sem as amostras 7, 34 e 35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&lt;-lm(Y ~ X1 + logX3 + X4, data=dados[-c(7,34,35),])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Residuals: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	1Q	Median	3Q	Max 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-5.7769	-1.9588	-0.1146	1.8759	5.0786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Coefficients: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Estimate 	Std. Error 	t value 	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(Intercept)	200.32427	9.67089	20.714	&lt; 2e-16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	-0.75235	0.08832	-8.519	7.63e-10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	7.77793	0.71531	10.874	1.91e-12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	-37.90940	7.95713	-4.764	3.69e-05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codes:  0 ‘***’ 0.001 ‘**’ 0.01 ‘*’ 0.05 ‘.’ 0.1 ‘ ’ 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standard error: 3.172 on 33 degrees of freedom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 R-squared:  0.8707	Adjusted R-squared:  0.8589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F-statistic:  74.06 on 3 and 33 DF,  p-value: 9.663e-15</a:t>
            </a:r>
          </a:p>
        </p:txBody>
      </p:sp>
      <p:grpSp>
        <p:nvGrpSpPr>
          <p:cNvPr id="6" name="Grupo 4">
            <a:extLst>
              <a:ext uri="{FF2B5EF4-FFF2-40B4-BE49-F238E27FC236}">
                <a16:creationId xmlns:a16="http://schemas.microsoft.com/office/drawing/2014/main" id="{231235EE-D5F4-7F43-53B1-4B2AABFCF8E5}"/>
              </a:ext>
            </a:extLst>
          </p:cNvPr>
          <p:cNvGrpSpPr/>
          <p:nvPr/>
        </p:nvGrpSpPr>
        <p:grpSpPr>
          <a:xfrm>
            <a:off x="5004048" y="4221088"/>
            <a:ext cx="2061599" cy="461665"/>
            <a:chOff x="2606600" y="3572576"/>
            <a:chExt cx="2061599" cy="461665"/>
          </a:xfrm>
        </p:grpSpPr>
        <p:sp>
          <p:nvSpPr>
            <p:cNvPr id="7" name="Seta para a esquerda 5">
              <a:extLst>
                <a:ext uri="{FF2B5EF4-FFF2-40B4-BE49-F238E27FC236}">
                  <a16:creationId xmlns:a16="http://schemas.microsoft.com/office/drawing/2014/main" id="{48CB7C3E-3EE3-249F-7F8C-3BCB0616CD6E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212E1C9-D3EE-AD9D-7477-F582CF8853C6}"/>
                </a:ext>
              </a:extLst>
            </p:cNvPr>
            <p:cNvSpPr txBox="1"/>
            <p:nvPr/>
          </p:nvSpPr>
          <p:spPr>
            <a:xfrm>
              <a:off x="3066478" y="3572576"/>
              <a:ext cx="16017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todos os coeficientes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são significativos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74391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F6772-E03D-982C-65D5-1311435CD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F6EF8A88-A56E-9D62-C26B-9C8E2328A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44" y="3614361"/>
            <a:ext cx="3290385" cy="3229200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2FE10BD0-62EE-4DDF-AE82-06E74C00E6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1857DE80-21FE-4170-04AF-5BBE86B77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95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3EC6BB00-541B-7F68-D051-1818517324A3}"/>
              </a:ext>
            </a:extLst>
          </p:cNvPr>
          <p:cNvSpPr/>
          <p:nvPr/>
        </p:nvSpPr>
        <p:spPr>
          <a:xfrm>
            <a:off x="251520" y="1412776"/>
            <a:ext cx="5976664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shapiro.test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Shapiro-Wilk normality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0.96652, p-value = 0.3222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&gt;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&lt;- (summary(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))$sigma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Y,regsel$residuals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="Y",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="standard error")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3D97BC1C-D431-6326-AEDE-2C1C9778FC9C}"/>
              </a:ext>
            </a:extLst>
          </p:cNvPr>
          <p:cNvGrpSpPr/>
          <p:nvPr/>
        </p:nvGrpSpPr>
        <p:grpSpPr>
          <a:xfrm>
            <a:off x="2652498" y="2896808"/>
            <a:ext cx="2370979" cy="461665"/>
            <a:chOff x="2606600" y="3572576"/>
            <a:chExt cx="2370979" cy="461665"/>
          </a:xfrm>
        </p:grpSpPr>
        <p:sp>
          <p:nvSpPr>
            <p:cNvPr id="6" name="Seta para a esquerda 5">
              <a:extLst>
                <a:ext uri="{FF2B5EF4-FFF2-40B4-BE49-F238E27FC236}">
                  <a16:creationId xmlns:a16="http://schemas.microsoft.com/office/drawing/2014/main" id="{C8464138-D5D4-971C-0AE1-23F23C524B0F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415E6D6B-7C72-2A09-5045-3602DF897CD0}"/>
                </a:ext>
              </a:extLst>
            </p:cNvPr>
            <p:cNvSpPr txBox="1"/>
            <p:nvPr/>
          </p:nvSpPr>
          <p:spPr>
            <a:xfrm>
              <a:off x="3066478" y="3572576"/>
              <a:ext cx="19111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resíduos são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normalmente distribuídos</a:t>
              </a:r>
            </a:p>
          </p:txBody>
        </p:sp>
      </p:grpSp>
      <p:sp>
        <p:nvSpPr>
          <p:cNvPr id="4" name="Retângulo 3">
            <a:extLst>
              <a:ext uri="{FF2B5EF4-FFF2-40B4-BE49-F238E27FC236}">
                <a16:creationId xmlns:a16="http://schemas.microsoft.com/office/drawing/2014/main" id="{31125EC4-5807-B642-23BF-58B4D2049586}"/>
              </a:ext>
            </a:extLst>
          </p:cNvPr>
          <p:cNvSpPr/>
          <p:nvPr/>
        </p:nvSpPr>
        <p:spPr>
          <a:xfrm>
            <a:off x="3419872" y="4557343"/>
            <a:ext cx="3456384" cy="16681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Não mudou muito!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Aparentemente nenhum 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(|erro padronizado| &gt; 2,5)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Valores de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menores que 90 e maiores que 115 foram pouco amostrados!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D573DEB3-54BC-B5FC-3EFB-97DEA16A0BAB}"/>
              </a:ext>
            </a:extLst>
          </p:cNvPr>
          <p:cNvSpPr/>
          <p:nvPr/>
        </p:nvSpPr>
        <p:spPr>
          <a:xfrm>
            <a:off x="5292080" y="1910938"/>
            <a:ext cx="3600400" cy="16065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bptest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studentized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Breusch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-Pagan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 = 1.0795,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3, p-value = 0.782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84EFE84-FA72-3CE3-CCD9-1DA050F04920}"/>
              </a:ext>
            </a:extLst>
          </p:cNvPr>
          <p:cNvGrpSpPr/>
          <p:nvPr/>
        </p:nvGrpSpPr>
        <p:grpSpPr>
          <a:xfrm>
            <a:off x="7020272" y="3463265"/>
            <a:ext cx="1621213" cy="829831"/>
            <a:chOff x="1454472" y="3908201"/>
            <a:chExt cx="1621213" cy="829831"/>
          </a:xfrm>
        </p:grpSpPr>
        <p:sp>
          <p:nvSpPr>
            <p:cNvPr id="15" name="Seta para a esquerda 14">
              <a:extLst>
                <a:ext uri="{FF2B5EF4-FFF2-40B4-BE49-F238E27FC236}">
                  <a16:creationId xmlns:a16="http://schemas.microsoft.com/office/drawing/2014/main" id="{F1A67039-A3A0-D341-3A7E-7A1B1BDC9FBD}"/>
                </a:ext>
              </a:extLst>
            </p:cNvPr>
            <p:cNvSpPr/>
            <p:nvPr/>
          </p:nvSpPr>
          <p:spPr bwMode="auto">
            <a:xfrm rot="5400000">
              <a:off x="2030536" y="4052217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BC6DBAAE-82C9-5FED-4D7B-C59DB95DD088}"/>
                </a:ext>
              </a:extLst>
            </p:cNvPr>
            <p:cNvSpPr txBox="1"/>
            <p:nvPr/>
          </p:nvSpPr>
          <p:spPr>
            <a:xfrm>
              <a:off x="1454472" y="4461033"/>
              <a:ext cx="16212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variância é constante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21510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3E6BE-48E4-386E-0B01-9C5409E14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m 17">
            <a:extLst>
              <a:ext uri="{FF2B5EF4-FFF2-40B4-BE49-F238E27FC236}">
                <a16:creationId xmlns:a16="http://schemas.microsoft.com/office/drawing/2014/main" id="{D03754DA-742E-0BAD-C9AF-5B9B291805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572"/>
          <a:stretch/>
        </p:blipFill>
        <p:spPr>
          <a:xfrm>
            <a:off x="5719872" y="4338000"/>
            <a:ext cx="2567747" cy="2429990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7A091FBE-0496-4B46-8EE0-4EC3235BD7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592"/>
          <a:stretch/>
        </p:blipFill>
        <p:spPr>
          <a:xfrm>
            <a:off x="5719872" y="2304459"/>
            <a:ext cx="2567747" cy="2429466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68E2A7A6-01B8-DD3F-756E-6820F89342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655"/>
          <a:stretch/>
        </p:blipFill>
        <p:spPr>
          <a:xfrm>
            <a:off x="1187624" y="4372949"/>
            <a:ext cx="2567747" cy="2427901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157CFB2-4515-CED5-EDBC-D0746D6309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253"/>
          <a:stretch/>
        </p:blipFill>
        <p:spPr>
          <a:xfrm>
            <a:off x="2237318" y="2204864"/>
            <a:ext cx="2432860" cy="25200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8C803EE6-B4D8-0304-9485-233FEADC120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253"/>
          <a:stretch/>
        </p:blipFill>
        <p:spPr>
          <a:xfrm>
            <a:off x="122917" y="2204864"/>
            <a:ext cx="2432859" cy="2520000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369CF55A-7271-564C-795E-DA8FC9C770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7B2F9E13-8709-81C1-C7FA-DF2A0E21E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96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1A583AE0-64A5-22FC-E1B5-28763DEC7DBC}"/>
              </a:ext>
            </a:extLst>
          </p:cNvPr>
          <p:cNvSpPr/>
          <p:nvPr/>
        </p:nvSpPr>
        <p:spPr>
          <a:xfrm>
            <a:off x="251520" y="1268760"/>
            <a:ext cx="8640960" cy="13542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plot(dados[-c(7,34,35),]$X1,regsel$residuals/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="X1",ylab="standard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plot(dados[-c(7,34,35),]$logX3,regsel$residuals/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="logX3",ylab="standard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plot(dados[-c(7,34,35),]$X4,regsel$residuals/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="X4",ylab="standard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plot(dados[-c(7,34,35),]$X2,regsel$residuals/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="X2",ylab="standard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plot(dados[-c(7,34,35),]$X5,regsel$residuals/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="X5",ylab="standard error")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28F85F78-0839-896D-34A9-3B96E857E2F6}"/>
              </a:ext>
            </a:extLst>
          </p:cNvPr>
          <p:cNvSpPr/>
          <p:nvPr/>
        </p:nvSpPr>
        <p:spPr>
          <a:xfrm>
            <a:off x="3897023" y="5178081"/>
            <a:ext cx="160016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Aparentemente tudo OK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FECD45DF-D8DA-CA77-3CA3-2A59D40FE145}"/>
              </a:ext>
            </a:extLst>
          </p:cNvPr>
          <p:cNvSpPr/>
          <p:nvPr/>
        </p:nvSpPr>
        <p:spPr>
          <a:xfrm>
            <a:off x="5924345" y="2394650"/>
            <a:ext cx="24890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 algn="ctr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Variáveis não selecionadas</a:t>
            </a:r>
          </a:p>
        </p:txBody>
      </p:sp>
    </p:spTree>
    <p:extLst>
      <p:ext uri="{BB962C8B-B14F-4D97-AF65-F5344CB8AC3E}">
        <p14:creationId xmlns:p14="http://schemas.microsoft.com/office/powerpoint/2010/main" val="3051156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15E8C-7754-DB7B-1ABD-9F54BE9A2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FF392EC9-35D4-3972-F573-F8FE49BA6F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EA28F7E5-F18E-B5E9-F41C-747AC0674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97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D96E2A6-E72E-9F4F-416C-A7F3E0A08888}"/>
              </a:ext>
            </a:extLst>
          </p:cNvPr>
          <p:cNvSpPr/>
          <p:nvPr/>
        </p:nvSpPr>
        <p:spPr>
          <a:xfrm>
            <a:off x="251520" y="1354703"/>
            <a:ext cx="864096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Afinal, qual modelo escolher?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ela 1">
                <a:extLst>
                  <a:ext uri="{FF2B5EF4-FFF2-40B4-BE49-F238E27FC236}">
                    <a16:creationId xmlns:a16="http://schemas.microsoft.com/office/drawing/2014/main" id="{ECCF0682-5E4F-1CC1-85B9-968BAB0442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2601109"/>
                  </p:ext>
                </p:extLst>
              </p:nvPr>
            </p:nvGraphicFramePr>
            <p:xfrm>
              <a:off x="1331640" y="1782673"/>
              <a:ext cx="6023960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63960">
                      <a:extLst>
                        <a:ext uri="{9D8B030D-6E8A-4147-A177-3AD203B41FA5}">
                          <a16:colId xmlns:a16="http://schemas.microsoft.com/office/drawing/2014/main" val="1496291165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2569673287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1177122109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11602232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Modelo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pt-BR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Y~X1+X2+logX3+X4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pt-BR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41028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Dados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completo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sem #35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sem #7, #34 e #35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459596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AIC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102,84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91,79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89,19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45428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Tahoma" panose="020B0604030504040204" pitchFamily="34" charset="0"/>
                                        <a:cs typeface="Tahoma" panose="020B0604030504040204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Tahoma" panose="020B0604030504040204" pitchFamily="34" charset="0"/>
                                        <a:cs typeface="Tahoma" panose="020B0604030504040204" pitchFamily="34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Tahoma" panose="020B0604030504040204" pitchFamily="34" charset="0"/>
                                        <a:cs typeface="Tahoma" panose="020B0604030504040204" pitchFamily="34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Tahoma" panose="020B0604030504040204" pitchFamily="34" charset="0"/>
                                        <a:cs typeface="Tahoma" panose="020B0604030504040204" pitchFamily="34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0,8573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0,8863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0,8589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716736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Intercepto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207,8248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200,6658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200,3243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851800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-0,8168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-0,7863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-0,7524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973250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0,0153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50899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logX3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7,5121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7,5487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7,7779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79486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-43,2590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-38,5515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-37,9094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44929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ela 1">
                <a:extLst>
                  <a:ext uri="{FF2B5EF4-FFF2-40B4-BE49-F238E27FC236}">
                    <a16:creationId xmlns:a16="http://schemas.microsoft.com/office/drawing/2014/main" id="{ECCF0682-5E4F-1CC1-85B9-968BAB0442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2601109"/>
                  </p:ext>
                </p:extLst>
              </p:nvPr>
            </p:nvGraphicFramePr>
            <p:xfrm>
              <a:off x="1331640" y="1782673"/>
              <a:ext cx="6023960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63960">
                      <a:extLst>
                        <a:ext uri="{9D8B030D-6E8A-4147-A177-3AD203B41FA5}">
                          <a16:colId xmlns:a16="http://schemas.microsoft.com/office/drawing/2014/main" val="1496291165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2569673287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1177122109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11602232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Modelo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pt-BR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Y~X1+X2+logX3+X4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pt-BR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41028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Dados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completo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sem #35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sem #7, #34 e #35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459596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AIC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102,84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91,79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89,19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45428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24" t="-304918" r="-418848" b="-509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0,8573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0,8863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0,8589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716736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Intercepto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207,8248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200,6658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200,3243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851800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-0,8168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-0,7863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-0,7524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973250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0,0153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50899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logX3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7,5121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7,5487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7,7779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79486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-43,2590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-38,5515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-37,9094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449296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49541D6E-94DF-6496-FC3A-6EB4A4B8C0D4}"/>
                  </a:ext>
                </a:extLst>
              </p:cNvPr>
              <p:cNvSpPr/>
              <p:nvPr/>
            </p:nvSpPr>
            <p:spPr>
              <a:xfrm>
                <a:off x="251520" y="5258043"/>
                <a:ext cx="8640960" cy="137268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52425" lvl="0" indent="-352425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Todos os modelos apresentaram desempenho semelhante com ligeira vantagem (maior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𝑎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) do modelo com a variável </a:t>
                </a:r>
                <a:r>
                  <a:rPr lang="pt-BR" kern="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X2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e sem a amostra 35</a:t>
                </a:r>
              </a:p>
              <a:p>
                <a:pPr marL="352425" lvl="0" indent="-352425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O último modelo apresentou o menor AIC e a análise dos resíduos não indicou nenhum problema importante. No entanto, esse modelo só poderia ser adotado se a eliminação das 3 amostras fosse justificada</a:t>
                </a:r>
              </a:p>
            </p:txBody>
          </p:sp>
        </mc:Choice>
        <mc:Fallback xmlns="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49541D6E-94DF-6496-FC3A-6EB4A4B8C0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5258043"/>
                <a:ext cx="8640960" cy="1372683"/>
              </a:xfrm>
              <a:prstGeom prst="rect">
                <a:avLst/>
              </a:prstGeom>
              <a:blipFill>
                <a:blip r:embed="rId3"/>
                <a:stretch>
                  <a:fillRect l="-353" t="-1333" b="-4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00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98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412776"/>
            <a:ext cx="525658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Qual melhor modelo usando a busca exaustiva?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67586B6-19F7-0F75-D12E-4FA9CEBF0E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46" t="16804" r="11156" b="6650"/>
          <a:stretch/>
        </p:blipFill>
        <p:spPr>
          <a:xfrm>
            <a:off x="245468" y="2636912"/>
            <a:ext cx="2616292" cy="3240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9B6650B8-4D29-6C72-24A6-9C3C2B9D6C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46" t="16804" r="11156" b="6650"/>
          <a:stretch/>
        </p:blipFill>
        <p:spPr>
          <a:xfrm>
            <a:off x="4644008" y="2636912"/>
            <a:ext cx="2616292" cy="324000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006721B-3938-6A23-0F67-FA1B7056876E}"/>
              </a:ext>
            </a:extLst>
          </p:cNvPr>
          <p:cNvSpPr/>
          <p:nvPr/>
        </p:nvSpPr>
        <p:spPr>
          <a:xfrm>
            <a:off x="245468" y="1757035"/>
            <a:ext cx="3458988" cy="8371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1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1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100" dirty="0" err="1">
                <a:latin typeface="Arial" panose="020B0604020202020204" pitchFamily="34" charset="0"/>
                <a:cs typeface="Arial" panose="020B0604020202020204" pitchFamily="34" charset="0"/>
              </a:rPr>
              <a:t>leaps</a:t>
            </a:r>
            <a:r>
              <a:rPr lang="pt-BR" sz="11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regsets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regsubsets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 ~ X1 + X2 + logX3 + X4 + X5, data=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dados,nbest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=6)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regsets,scale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="adjr2")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CBFEF73B-7907-743E-A4D5-01F57BD2119B}"/>
              </a:ext>
            </a:extLst>
          </p:cNvPr>
          <p:cNvSpPr/>
          <p:nvPr/>
        </p:nvSpPr>
        <p:spPr>
          <a:xfrm>
            <a:off x="4644008" y="1757035"/>
            <a:ext cx="3458988" cy="8371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1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1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100" dirty="0" err="1">
                <a:latin typeface="Arial" panose="020B0604020202020204" pitchFamily="34" charset="0"/>
                <a:cs typeface="Arial" panose="020B0604020202020204" pitchFamily="34" charset="0"/>
              </a:rPr>
              <a:t>leaps</a:t>
            </a:r>
            <a:r>
              <a:rPr lang="pt-BR" sz="11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regsets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regsubsets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 ~ X1 + X2 + logX3 + X4 + X5, data=dados[-c(7,34,35),],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nbest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=6)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regsets,scale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="adjr2")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7A18336-E3A9-8C38-9605-296FC9CE7AC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5468" y="5920786"/>
                <a:ext cx="2951026" cy="370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4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352425" indent="-352425" eaLnBrk="1" hangingPunct="1">
                  <a:buFontTx/>
                  <a:buNone/>
                </a:pPr>
                <a:r>
                  <a:rPr lang="pt-BR" altLang="pt-BR" sz="1200" kern="0" dirty="0">
                    <a:latin typeface="Tahoma" panose="020B0604030504040204" pitchFamily="34" charset="0"/>
                  </a:rPr>
                  <a:t>Melhor Modelo:</a:t>
                </a:r>
              </a:p>
              <a:p>
                <a:pPr marL="0" indent="0"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sz="1200" b="0" i="1" kern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altLang="pt-BR" sz="1200" b="0" i="1" kern="0" smtClean="0">
                          <a:latin typeface="Cambria Math" panose="02040503050406030204" pitchFamily="18" charset="0"/>
                        </a:rPr>
                        <m:t>~ </m:t>
                      </m:r>
                      <m:sSub>
                        <m:sSubPr>
                          <m:ctrlP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 panose="02040503050406030204" pitchFamily="18" charset="0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1,</m:t>
                          </m:r>
                          <m:r>
                            <a:rPr lang="pt-BR" altLang="pt-BR" sz="1200" b="0" i="1" kern="0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pt-BR" altLang="pt-BR" sz="1200" b="0" i="1" kern="0" smtClean="0">
                          <a:latin typeface="Cambria Math"/>
                        </a:rPr>
                        <m:t>𝑙𝑜𝑔</m:t>
                      </m:r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3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4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altLang="pt-BR" sz="1200" b="0" i="1" kern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pt-BR" sz="1200" i="1" dirty="0">
                              <a:solidFill>
                                <a:srgbClr val="000000"/>
                              </a:solidFill>
                              <a:latin typeface="Times New Roman" pitchFamily="18" charset="0"/>
                              <a:cs typeface="Times New Roman" pitchFamily="18" charset="0"/>
                              <a:sym typeface="Symbol" pitchFamily="18" charset="2"/>
                            </a:rPr>
                            <m:t>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200" kern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7A18336-E3A9-8C38-9605-296FC9CE7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5468" y="5920786"/>
                <a:ext cx="2951026" cy="370554"/>
              </a:xfrm>
              <a:prstGeom prst="rect">
                <a:avLst/>
              </a:prstGeom>
              <a:blipFill>
                <a:blip r:embed="rId4"/>
                <a:stretch>
                  <a:fillRect b="-2950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9">
                <a:extLst>
                  <a:ext uri="{FF2B5EF4-FFF2-40B4-BE49-F238E27FC236}">
                    <a16:creationId xmlns:a16="http://schemas.microsoft.com/office/drawing/2014/main" id="{5202DF44-1FA3-0026-D1F1-383CA97305B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44008" y="5920786"/>
                <a:ext cx="3458988" cy="370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4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352425" indent="-352425" eaLnBrk="1" hangingPunct="1">
                  <a:buFontTx/>
                  <a:buNone/>
                </a:pPr>
                <a:r>
                  <a:rPr lang="pt-BR" altLang="pt-BR" sz="1200" kern="0" dirty="0">
                    <a:latin typeface="Tahoma" panose="020B0604030504040204" pitchFamily="34" charset="0"/>
                  </a:rPr>
                  <a:t>Melhor Modelo:</a:t>
                </a:r>
              </a:p>
              <a:p>
                <a:pPr marL="0" indent="0"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sz="1200" b="0" i="1" kern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altLang="pt-BR" sz="1200" b="0" i="1" kern="0" smtClean="0">
                          <a:latin typeface="Cambria Math" panose="02040503050406030204" pitchFamily="18" charset="0"/>
                        </a:rPr>
                        <m:t>~ </m:t>
                      </m:r>
                      <m:sSub>
                        <m:sSubPr>
                          <m:ctrlP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 panose="02040503050406030204" pitchFamily="18" charset="0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1,</m:t>
                          </m:r>
                          <m:r>
                            <a:rPr lang="pt-BR" altLang="pt-BR" sz="1200" b="0" i="1" kern="0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 panose="02040503050406030204" pitchFamily="18" charset="0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pt-BR" altLang="pt-BR" sz="1200" b="0" i="1" kern="0" smtClean="0">
                          <a:latin typeface="Cambria Math"/>
                        </a:rPr>
                        <m:t>𝑙𝑜𝑔</m:t>
                      </m:r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3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4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altLang="pt-BR" sz="1200" b="0" i="1" kern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pt-BR" sz="1200" i="1" dirty="0">
                              <a:solidFill>
                                <a:srgbClr val="000000"/>
                              </a:solidFill>
                              <a:latin typeface="Times New Roman" pitchFamily="18" charset="0"/>
                              <a:cs typeface="Times New Roman" pitchFamily="18" charset="0"/>
                              <a:sym typeface="Symbol" pitchFamily="18" charset="2"/>
                            </a:rPr>
                            <m:t>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200" kern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Rectangle 9">
                <a:extLst>
                  <a:ext uri="{FF2B5EF4-FFF2-40B4-BE49-F238E27FC236}">
                    <a16:creationId xmlns:a16="http://schemas.microsoft.com/office/drawing/2014/main" id="{5202DF44-1FA3-0026-D1F1-383CA97305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4008" y="5920786"/>
                <a:ext cx="3458988" cy="370554"/>
              </a:xfrm>
              <a:prstGeom prst="rect">
                <a:avLst/>
              </a:prstGeom>
              <a:blipFill>
                <a:blip r:embed="rId5"/>
                <a:stretch>
                  <a:fillRect l="-176" b="-2950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tângulo 11">
            <a:extLst>
              <a:ext uri="{FF2B5EF4-FFF2-40B4-BE49-F238E27FC236}">
                <a16:creationId xmlns:a16="http://schemas.microsoft.com/office/drawing/2014/main" id="{714E4B12-20D9-65A8-0D49-FAE966EED79B}"/>
              </a:ext>
            </a:extLst>
          </p:cNvPr>
          <p:cNvSpPr/>
          <p:nvPr/>
        </p:nvSpPr>
        <p:spPr>
          <a:xfrm>
            <a:off x="251520" y="6453336"/>
            <a:ext cx="594746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OBS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: Não avalia a significância dos coeficientes dos modelos!</a:t>
            </a:r>
          </a:p>
        </p:txBody>
      </p:sp>
    </p:spTree>
    <p:extLst>
      <p:ext uri="{BB962C8B-B14F-4D97-AF65-F5344CB8AC3E}">
        <p14:creationId xmlns:p14="http://schemas.microsoft.com/office/powerpoint/2010/main" val="2642643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  <p:bldP spid="11" grpId="0"/>
      <p:bldP spid="12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/>
          <p:cNvSpPr/>
          <p:nvPr/>
        </p:nvSpPr>
        <p:spPr>
          <a:xfrm>
            <a:off x="251520" y="1412776"/>
            <a:ext cx="8496944" cy="472129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 análise inicia-se pela avaliação dos diagramas de dispersão de cada variável independente versus dependente, buscando-se  anomalias (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 e/ou falta de linearidade nas relações.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 análise dos diagramas de dispersão entre variáveis independentes pode ser negligenciada mas pode indicar a presença de colinearidade. Neste caso, algumas variáveis já podem ser provisoriamente descartadas nesta fase. Ao final da construção do modelo, é sempre útil testar se essas variáveis descartadas realmente não contribuem na explicação da variável dependente.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Métodos automáticos de busca (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, exaustivo) podem ser utilizados para encontrar o “melhor” modelo. Como estes métodos são “</a:t>
            </a:r>
            <a:r>
              <a:rPr lang="pt-BR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sub-ótimos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”, diferentes métodos podem selecionar diferentes modelos.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 análise de resíduos para detecção de 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e não-linearidade, e testes formais de normalidade e homoscedasticidade dos resíduos devem ser feitos ao final do processo de busca do melhor modelo. Qualquer intervenção (retirada de 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, transformação de variáveis, inclusão de novas variáveis independentes, inclusão de interação entre variáveis, </a:t>
            </a:r>
            <a:r>
              <a:rPr lang="pt-BR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etc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 faz com que todo o processo tenha que ser refeito.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NÃO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é necessário (</a:t>
            </a: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é irrelevante!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 testar a normalidade das variáveis dependente e independentes. Testes de normalidade são feitos sempre sobre os resíduos.</a:t>
            </a:r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Considerações Finais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7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99</a:t>
            </a:fld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953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Outras abordagens...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13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100</a:t>
            </a:fld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251520" y="1412776"/>
            <a:ext cx="8784976" cy="5115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1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Regressão linear tipo II (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Model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II 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regression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</a:t>
            </a:r>
          </a:p>
          <a:p>
            <a:pPr marL="627063" lvl="2" indent="-169863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Nesse tipo de regressão, considera-se que também as variáveis independentes sejam variáveis aleatórias</a:t>
            </a:r>
          </a:p>
          <a:p>
            <a:pPr marL="627063" lvl="2" indent="-169863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	Nesse caso, os erros (ou desvios) podem ser medidos ao longo da perpendicular (ou normal) à linha de regressão. Dessa forma, os coeficientes são estimados minimizando-se a soma dos quadrados dos desvios normais</a:t>
            </a: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285750" lvl="1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Regressão não linear</a:t>
            </a:r>
          </a:p>
          <a:p>
            <a:pPr marL="627063" lvl="2" indent="-169863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Nesse caso, a estimação dos coeficientes da regressão é feito por métodos de aproximações sucessivas, buscando-se minimizar alguma função de erro</a:t>
            </a:r>
          </a:p>
          <a:p>
            <a:pPr marL="627063" lvl="2" indent="-169863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	Diferentes métodos podem resultar em diferentes soluções e podem chegar a resultados </a:t>
            </a:r>
            <a:r>
              <a:rPr lang="pt-BR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sub-ótimos</a:t>
            </a: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</p:txBody>
      </p:sp>
      <p:grpSp>
        <p:nvGrpSpPr>
          <p:cNvPr id="49" name="Grupo 48"/>
          <p:cNvGrpSpPr/>
          <p:nvPr/>
        </p:nvGrpSpPr>
        <p:grpSpPr>
          <a:xfrm>
            <a:off x="1197636" y="3243594"/>
            <a:ext cx="3374364" cy="1936603"/>
            <a:chOff x="1197636" y="3243594"/>
            <a:chExt cx="3374364" cy="1936603"/>
          </a:xfrm>
        </p:grpSpPr>
        <p:grpSp>
          <p:nvGrpSpPr>
            <p:cNvPr id="30" name="Grupo 29"/>
            <p:cNvGrpSpPr/>
            <p:nvPr/>
          </p:nvGrpSpPr>
          <p:grpSpPr>
            <a:xfrm>
              <a:off x="1197636" y="3243594"/>
              <a:ext cx="3374364" cy="1936603"/>
              <a:chOff x="1197636" y="3243594"/>
              <a:chExt cx="3374364" cy="1936603"/>
            </a:xfrm>
          </p:grpSpPr>
          <p:sp>
            <p:nvSpPr>
              <p:cNvPr id="10" name="Text Box 34"/>
              <p:cNvSpPr txBox="1">
                <a:spLocks noChangeArrowheads="1"/>
              </p:cNvSpPr>
              <p:nvPr/>
            </p:nvSpPr>
            <p:spPr bwMode="auto">
              <a:xfrm>
                <a:off x="4248150" y="4813485"/>
                <a:ext cx="32385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X</a:t>
                </a:r>
              </a:p>
            </p:txBody>
          </p:sp>
          <p:sp>
            <p:nvSpPr>
              <p:cNvPr id="11" name="Text Box 35"/>
              <p:cNvSpPr txBox="1">
                <a:spLocks noChangeArrowheads="1"/>
              </p:cNvSpPr>
              <p:nvPr/>
            </p:nvSpPr>
            <p:spPr bwMode="auto">
              <a:xfrm>
                <a:off x="1197636" y="3243594"/>
                <a:ext cx="31115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Y</a:t>
                </a:r>
              </a:p>
            </p:txBody>
          </p:sp>
          <p:sp>
            <p:nvSpPr>
              <p:cNvPr id="12" name="Line 41"/>
              <p:cNvSpPr>
                <a:spLocks noChangeShapeType="1"/>
              </p:cNvSpPr>
              <p:nvPr/>
            </p:nvSpPr>
            <p:spPr bwMode="auto">
              <a:xfrm>
                <a:off x="1519898" y="4813485"/>
                <a:ext cx="2988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Line 42"/>
              <p:cNvSpPr>
                <a:spLocks noChangeShapeType="1"/>
              </p:cNvSpPr>
              <p:nvPr/>
            </p:nvSpPr>
            <p:spPr bwMode="auto">
              <a:xfrm flipV="1">
                <a:off x="1519898" y="3337485"/>
                <a:ext cx="0" cy="1476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2" name="Grupo 1"/>
              <p:cNvGrpSpPr/>
              <p:nvPr/>
            </p:nvGrpSpPr>
            <p:grpSpPr>
              <a:xfrm>
                <a:off x="1519898" y="3426642"/>
                <a:ext cx="2745953" cy="1195686"/>
                <a:chOff x="5656521" y="2927016"/>
                <a:chExt cx="2745953" cy="1195686"/>
              </a:xfrm>
            </p:grpSpPr>
            <p:sp>
              <p:nvSpPr>
                <p:cNvPr id="6" name="AutoShape 28"/>
                <p:cNvSpPr>
                  <a:spLocks noChangeAspect="1" noChangeArrowheads="1"/>
                </p:cNvSpPr>
                <p:nvPr/>
              </p:nvSpPr>
              <p:spPr bwMode="auto">
                <a:xfrm>
                  <a:off x="7499203" y="2986140"/>
                  <a:ext cx="90488" cy="90488"/>
                </a:xfrm>
                <a:prstGeom prst="flowChartConnector">
                  <a:avLst/>
                </a:prstGeom>
                <a:solidFill>
                  <a:srgbClr val="FF990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grpSp>
              <p:nvGrpSpPr>
                <p:cNvPr id="7" name="Group 50"/>
                <p:cNvGrpSpPr>
                  <a:grpSpLocks/>
                </p:cNvGrpSpPr>
                <p:nvPr/>
              </p:nvGrpSpPr>
              <p:grpSpPr bwMode="auto">
                <a:xfrm>
                  <a:off x="7049927" y="2927016"/>
                  <a:ext cx="587375" cy="523877"/>
                  <a:chOff x="1603" y="1409"/>
                  <a:chExt cx="370" cy="330"/>
                </a:xfrm>
              </p:grpSpPr>
              <p:sp>
                <p:nvSpPr>
                  <p:cNvPr id="8" name="Line 30"/>
                  <p:cNvSpPr>
                    <a:spLocks noChangeShapeType="1"/>
                  </p:cNvSpPr>
                  <p:nvPr/>
                </p:nvSpPr>
                <p:spPr bwMode="auto">
                  <a:xfrm>
                    <a:off x="1916" y="1491"/>
                    <a:ext cx="0" cy="204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dirty="0">
                      <a:latin typeface="Tahoma" panose="020B0604030504040204" pitchFamily="34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" name="Text Box 32"/>
                      <p:cNvSpPr txBox="1">
                        <a:spLocks noChangeArrowheads="1"/>
                      </p:cNvSpPr>
                      <p:nvPr/>
                    </p:nvSpPr>
                    <p:spPr bwMode="auto">
                      <a:xfrm>
                        <a:off x="1603" y="1409"/>
                        <a:ext cx="370" cy="33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wrap="none" anchor="ctr">
                        <a:spAutoFit/>
                      </a:bodyPr>
                      <a:lstStyle>
                        <a:lvl1pPr eaLnBrk="0" hangingPunct="0">
                          <a:spcBef>
                            <a:spcPct val="20000"/>
                          </a:spcBef>
                          <a:buChar char="•"/>
                          <a:defRPr sz="28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1pPr>
                        <a:lvl2pPr marL="742950" indent="-285750" eaLnBrk="0" hangingPunct="0">
                          <a:spcBef>
                            <a:spcPct val="20000"/>
                          </a:spcBef>
                          <a:buChar char="–"/>
                          <a:defRPr sz="24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2pPr>
                        <a:lvl3pPr marL="1143000" indent="-228600" eaLnBrk="0" hangingPunct="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3pPr>
                        <a:lvl4pPr marL="1600200" indent="-228600" eaLnBrk="0" hangingPunct="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4pPr>
                        <a:lvl5pPr marL="2057400" indent="-228600" eaLnBrk="0" hangingPunct="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9pPr>
                      </a:lstStyle>
                      <a:p>
                        <a:pPr eaLnBrk="1" hangingPunct="1">
                          <a:spcBef>
                            <a:spcPct val="0"/>
                          </a:spcBef>
                          <a:buFontTx/>
                          <a:buNone/>
                        </a:pPr>
                        <a:r>
                          <a:rPr lang="pt-BR" altLang="pt-BR" sz="1600" i="1" baseline="-25000" dirty="0">
                            <a:latin typeface="Times New Roman" charset="0"/>
                            <a:cs typeface="Times New Roman" charset="0"/>
                            <a:sym typeface="Mathematica1" pitchFamily="2" charset="2"/>
                          </a:rPr>
                          <a:t> </a:t>
                        </a:r>
                        <a14:m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altLang="pt-BR" sz="18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8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pt-BR" altLang="pt-BR" sz="18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</m:oMath>
                        </a14:m>
                        <a:r>
                          <a:rPr lang="pt-BR" altLang="pt-BR" dirty="0">
                            <a:latin typeface="Times New Roman" charset="0"/>
                            <a:cs typeface="Times New Roman" charset="0"/>
                            <a:sym typeface="Mathematica1" pitchFamily="2" charset="2"/>
                          </a:rPr>
                          <a:t>{</a:t>
                        </a:r>
                        <a:endParaRPr lang="pt-BR" altLang="pt-BR" sz="1600" baseline="-25000" dirty="0">
                          <a:latin typeface="Times New Roman" charset="0"/>
                          <a:cs typeface="Times New Roman" charset="0"/>
                          <a:sym typeface="Mathematica1" pitchFamily="2" charset="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2312" name="Text Box 32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 bwMode="auto">
                      <a:xfrm>
                        <a:off x="1603" y="1409"/>
                        <a:ext cx="370" cy="330"/>
                      </a:xfrm>
                      <a:prstGeom prst="rect">
                        <a:avLst/>
                      </a:prstGeom>
                      <a:blipFill rotWithShape="1">
                        <a:blip r:embed="rId2"/>
                        <a:stretch>
                          <a:fillRect t="-11628" r="-16495" b="-31395"/>
                        </a:stretch>
                      </a:blipFill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0" name="Line 39"/>
                <p:cNvSpPr>
                  <a:spLocks noChangeShapeType="1"/>
                </p:cNvSpPr>
                <p:nvPr/>
              </p:nvSpPr>
              <p:spPr bwMode="auto">
                <a:xfrm flipV="1">
                  <a:off x="5656521" y="3060356"/>
                  <a:ext cx="2745953" cy="1062346"/>
                </a:xfrm>
                <a:prstGeom prst="line">
                  <a:avLst/>
                </a:prstGeom>
                <a:noFill/>
                <a:ln w="28575">
                  <a:solidFill>
                    <a:srgbClr val="FF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47" name="CaixaDeTexto 46"/>
            <p:cNvSpPr txBox="1"/>
            <p:nvPr/>
          </p:nvSpPr>
          <p:spPr>
            <a:xfrm>
              <a:off x="2483768" y="4437112"/>
              <a:ext cx="191924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regressão ordinária</a:t>
              </a:r>
            </a:p>
          </p:txBody>
        </p:sp>
      </p:grpSp>
      <p:grpSp>
        <p:nvGrpSpPr>
          <p:cNvPr id="50" name="Grupo 49"/>
          <p:cNvGrpSpPr/>
          <p:nvPr/>
        </p:nvGrpSpPr>
        <p:grpSpPr>
          <a:xfrm>
            <a:off x="4788024" y="3243594"/>
            <a:ext cx="3374364" cy="1936603"/>
            <a:chOff x="4788024" y="3243594"/>
            <a:chExt cx="3374364" cy="1936603"/>
          </a:xfrm>
        </p:grpSpPr>
        <p:grpSp>
          <p:nvGrpSpPr>
            <p:cNvPr id="46" name="Grupo 45"/>
            <p:cNvGrpSpPr/>
            <p:nvPr/>
          </p:nvGrpSpPr>
          <p:grpSpPr>
            <a:xfrm>
              <a:off x="4788024" y="3243594"/>
              <a:ext cx="3374364" cy="1936603"/>
              <a:chOff x="4788024" y="3243594"/>
              <a:chExt cx="3374364" cy="1936603"/>
            </a:xfrm>
          </p:grpSpPr>
          <p:sp>
            <p:nvSpPr>
              <p:cNvPr id="32" name="Text Box 34"/>
              <p:cNvSpPr txBox="1">
                <a:spLocks noChangeArrowheads="1"/>
              </p:cNvSpPr>
              <p:nvPr/>
            </p:nvSpPr>
            <p:spPr bwMode="auto">
              <a:xfrm>
                <a:off x="7838538" y="4813485"/>
                <a:ext cx="32385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X</a:t>
                </a:r>
              </a:p>
            </p:txBody>
          </p:sp>
          <p:sp>
            <p:nvSpPr>
              <p:cNvPr id="33" name="Text Box 35"/>
              <p:cNvSpPr txBox="1">
                <a:spLocks noChangeArrowheads="1"/>
              </p:cNvSpPr>
              <p:nvPr/>
            </p:nvSpPr>
            <p:spPr bwMode="auto">
              <a:xfrm>
                <a:off x="4788024" y="3243594"/>
                <a:ext cx="31115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Y</a:t>
                </a:r>
              </a:p>
            </p:txBody>
          </p:sp>
          <p:sp>
            <p:nvSpPr>
              <p:cNvPr id="34" name="Line 41"/>
              <p:cNvSpPr>
                <a:spLocks noChangeShapeType="1"/>
              </p:cNvSpPr>
              <p:nvPr/>
            </p:nvSpPr>
            <p:spPr bwMode="auto">
              <a:xfrm>
                <a:off x="5110286" y="4813485"/>
                <a:ext cx="2988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" name="Line 42"/>
              <p:cNvSpPr>
                <a:spLocks noChangeShapeType="1"/>
              </p:cNvSpPr>
              <p:nvPr/>
            </p:nvSpPr>
            <p:spPr bwMode="auto">
              <a:xfrm flipV="1">
                <a:off x="5110286" y="3337485"/>
                <a:ext cx="0" cy="1476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" name="Line 39"/>
              <p:cNvSpPr>
                <a:spLocks noChangeShapeType="1"/>
              </p:cNvSpPr>
              <p:nvPr/>
            </p:nvSpPr>
            <p:spPr bwMode="auto">
              <a:xfrm flipV="1">
                <a:off x="5110286" y="3559982"/>
                <a:ext cx="2745953" cy="1062346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44" name="Grupo 43"/>
              <p:cNvGrpSpPr/>
              <p:nvPr/>
            </p:nvGrpSpPr>
            <p:grpSpPr>
              <a:xfrm>
                <a:off x="6952968" y="3485766"/>
                <a:ext cx="285635" cy="346102"/>
                <a:chOff x="6952968" y="3485766"/>
                <a:chExt cx="285635" cy="346102"/>
              </a:xfrm>
            </p:grpSpPr>
            <p:sp>
              <p:nvSpPr>
                <p:cNvPr id="37" name="AutoShape 28"/>
                <p:cNvSpPr>
                  <a:spLocks noChangeAspect="1" noChangeArrowheads="1"/>
                </p:cNvSpPr>
                <p:nvPr/>
              </p:nvSpPr>
              <p:spPr bwMode="auto">
                <a:xfrm>
                  <a:off x="6952968" y="3485766"/>
                  <a:ext cx="90488" cy="90488"/>
                </a:xfrm>
                <a:prstGeom prst="flowChartConnector">
                  <a:avLst/>
                </a:prstGeom>
                <a:solidFill>
                  <a:srgbClr val="FF990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0" name="Line 30"/>
                <p:cNvSpPr>
                  <a:spLocks noChangeShapeType="1"/>
                </p:cNvSpPr>
                <p:nvPr/>
              </p:nvSpPr>
              <p:spPr bwMode="auto">
                <a:xfrm>
                  <a:off x="7023631" y="3579868"/>
                  <a:ext cx="90487" cy="252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2" name="Retângulo 41"/>
                <p:cNvSpPr/>
                <p:nvPr/>
              </p:nvSpPr>
              <p:spPr bwMode="auto">
                <a:xfrm rot="-1140000">
                  <a:off x="7094587" y="3681018"/>
                  <a:ext cx="144016" cy="138874"/>
                </a:xfrm>
                <a:prstGeom prst="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3" name="Elipse 42"/>
                <p:cNvSpPr/>
                <p:nvPr/>
              </p:nvSpPr>
              <p:spPr bwMode="auto">
                <a:xfrm>
                  <a:off x="7148595" y="3732455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 Box 3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595908" y="3552055"/>
                    <a:ext cx="394723" cy="36298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600" i="1" baseline="-25000" dirty="0">
                        <a:latin typeface="Times New Roman" charset="0"/>
                        <a:cs typeface="Times New Roman" charset="0"/>
                        <a:sym typeface="Mathematica1" pitchFamily="2" charset="2"/>
                      </a:rPr>
                      <a:t>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8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oMath>
                    </a14:m>
                    <a:endParaRPr lang="pt-BR" altLang="pt-BR" sz="1600" baseline="-25000" dirty="0">
                      <a:latin typeface="Times New Roman" charset="0"/>
                      <a:cs typeface="Times New Roman" charset="0"/>
                      <a:sym typeface="Mathematica1" pitchFamily="2" charset="2"/>
                    </a:endParaRPr>
                  </a:p>
                </p:txBody>
              </p:sp>
            </mc:Choice>
            <mc:Fallback xmlns="">
              <p:sp>
                <p:nvSpPr>
                  <p:cNvPr id="45" name="Text Box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6595908" y="3552055"/>
                    <a:ext cx="394723" cy="362984"/>
                  </a:xfrm>
                  <a:prstGeom prst="rect">
                    <a:avLst/>
                  </a:prstGeom>
                  <a:blipFill rotWithShape="1">
                    <a:blip r:embed="rId3"/>
                    <a:stretch>
                      <a:fillRect b="-5085"/>
                    </a:stretch>
                  </a:blipFill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" name="Text Box 32"/>
              <p:cNvSpPr txBox="1">
                <a:spLocks noChangeArrowheads="1"/>
              </p:cNvSpPr>
              <p:nvPr/>
            </p:nvSpPr>
            <p:spPr bwMode="auto">
              <a:xfrm rot="20416215">
                <a:off x="6734915" y="3447303"/>
                <a:ext cx="391454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baseline="-25000" dirty="0">
                    <a:latin typeface="Times New Roman" charset="0"/>
                    <a:cs typeface="Times New Roman" charset="0"/>
                    <a:sym typeface="Mathematica1" pitchFamily="2" charset="2"/>
                  </a:rPr>
                  <a:t> </a:t>
                </a:r>
                <a:r>
                  <a:rPr lang="pt-BR" altLang="pt-BR" dirty="0">
                    <a:latin typeface="Times New Roman" charset="0"/>
                    <a:cs typeface="Times New Roman" charset="0"/>
                    <a:sym typeface="Mathematica1" pitchFamily="2" charset="2"/>
                  </a:rPr>
                  <a:t>{</a:t>
                </a:r>
                <a:endParaRPr lang="pt-BR" altLang="pt-BR" sz="1600" baseline="-25000" dirty="0">
                  <a:latin typeface="Times New Roman" charset="0"/>
                  <a:cs typeface="Times New Roman" charset="0"/>
                  <a:sym typeface="Mathematica1" pitchFamily="2" charset="2"/>
                </a:endParaRPr>
              </a:p>
            </p:txBody>
          </p:sp>
        </p:grpSp>
        <p:sp>
          <p:nvSpPr>
            <p:cNvPr id="48" name="CaixaDeTexto 47"/>
            <p:cNvSpPr txBox="1"/>
            <p:nvPr/>
          </p:nvSpPr>
          <p:spPr>
            <a:xfrm>
              <a:off x="6018175" y="4437112"/>
              <a:ext cx="16846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regressão tipo II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6421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Outras abordagens...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13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101</a:t>
            </a:fld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251520" y="1412776"/>
                <a:ext cx="8784976" cy="201285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lvl="1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baseada no estimador de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Theil-Sen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* (método da mediana simples)</a:t>
                </a:r>
              </a:p>
              <a:p>
                <a:pPr marL="627063" lvl="2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Nessa regressão, o coeficiente angular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𝑏</m:t>
                        </m:r>
                      </m:e>
                      <m: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é calculado através da mediana dos coeficientes angulares de todos os pares de pontos da amostra</a:t>
                </a:r>
              </a:p>
              <a:p>
                <a:pPr marL="627063" lvl="2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Uma  vez calculado o coeficiente angular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𝑏</m:t>
                        </m:r>
                      </m:e>
                      <m:sub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, o coeficiente linear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𝑏</m:t>
                        </m:r>
                      </m:e>
                      <m: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é estimado através da mediana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b="0" i="1" kern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pt-BR" b="0" i="1" kern="0" smtClean="0">
                                <a:solidFill>
                                  <a:srgbClr val="000000"/>
                                </a:solidFill>
                                <a:latin typeface="Cambria Math"/>
                                <a:cs typeface="Arial" panose="020B0604020202020204" pitchFamily="34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pt-BR" b="0" i="1" kern="0" smtClean="0">
                                <a:solidFill>
                                  <a:srgbClr val="000000"/>
                                </a:solidFill>
                                <a:latin typeface="Cambria Math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𝑏</m:t>
                        </m:r>
                      </m:e>
                      <m:sub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para todos os pontos da amostra</a:t>
                </a:r>
              </a:p>
              <a:p>
                <a:pPr marL="627063" lvl="2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Esse tipo de regressão é menos sensível a presença de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outliers</a:t>
                </a:r>
                <a:endParaRPr lang="pt-BR" i="1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627063" lvl="2" indent="-169863">
                  <a:spcBef>
                    <a:spcPct val="20000"/>
                  </a:spcBef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412776"/>
                <a:ext cx="8784976" cy="2012859"/>
              </a:xfrm>
              <a:prstGeom prst="rect">
                <a:avLst/>
              </a:prstGeom>
              <a:blipFill>
                <a:blip r:embed="rId2"/>
                <a:stretch>
                  <a:fillRect l="-278" t="-909" r="-4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tângulo 35"/>
          <p:cNvSpPr/>
          <p:nvPr/>
        </p:nvSpPr>
        <p:spPr>
          <a:xfrm>
            <a:off x="336678" y="6536377"/>
            <a:ext cx="878497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altLang="pt-BR" sz="1200" dirty="0">
                <a:latin typeface="Tahoma" panose="020B0604030504040204" pitchFamily="34" charset="0"/>
              </a:rPr>
              <a:t>* https://en.wikipedia.org/wiki/Theil%E2%80%93Sen_estimator</a:t>
            </a:r>
            <a:endParaRPr lang="pt-BR" sz="1200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</p:txBody>
      </p:sp>
      <p:grpSp>
        <p:nvGrpSpPr>
          <p:cNvPr id="18" name="Grupo 17"/>
          <p:cNvGrpSpPr/>
          <p:nvPr/>
        </p:nvGrpSpPr>
        <p:grpSpPr>
          <a:xfrm>
            <a:off x="2987824" y="3099444"/>
            <a:ext cx="5647688" cy="3202862"/>
            <a:chOff x="2987824" y="3099444"/>
            <a:chExt cx="5647688" cy="3202862"/>
          </a:xfrm>
        </p:grpSpPr>
        <p:pic>
          <p:nvPicPr>
            <p:cNvPr id="121858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87824" y="3284984"/>
              <a:ext cx="2881316" cy="3017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grpSp>
          <p:nvGrpSpPr>
            <p:cNvPr id="17" name="Grupo 16"/>
            <p:cNvGrpSpPr/>
            <p:nvPr/>
          </p:nvGrpSpPr>
          <p:grpSpPr>
            <a:xfrm>
              <a:off x="5984864" y="3376443"/>
              <a:ext cx="2650648" cy="461665"/>
              <a:chOff x="5984864" y="3376443"/>
              <a:chExt cx="2650648" cy="461665"/>
            </a:xfrm>
          </p:grpSpPr>
          <p:cxnSp>
            <p:nvCxnSpPr>
              <p:cNvPr id="15" name="Conector de seta reta 14"/>
              <p:cNvCxnSpPr/>
              <p:nvPr/>
            </p:nvCxnSpPr>
            <p:spPr bwMode="auto">
              <a:xfrm>
                <a:off x="5984864" y="3518424"/>
                <a:ext cx="504056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16" name="Retângulo 15"/>
              <p:cNvSpPr/>
              <p:nvPr/>
            </p:nvSpPr>
            <p:spPr>
              <a:xfrm>
                <a:off x="6475272" y="3376443"/>
                <a:ext cx="216024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ajustada</a:t>
                </a:r>
              </a:p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(mediana)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51" name="Grupo 50"/>
            <p:cNvGrpSpPr/>
            <p:nvPr/>
          </p:nvGrpSpPr>
          <p:grpSpPr>
            <a:xfrm>
              <a:off x="5984864" y="3099444"/>
              <a:ext cx="2650648" cy="276999"/>
              <a:chOff x="5984864" y="3376443"/>
              <a:chExt cx="2650648" cy="276999"/>
            </a:xfrm>
          </p:grpSpPr>
          <p:cxnSp>
            <p:nvCxnSpPr>
              <p:cNvPr id="52" name="Conector de seta reta 51"/>
              <p:cNvCxnSpPr/>
              <p:nvPr/>
            </p:nvCxnSpPr>
            <p:spPr bwMode="auto">
              <a:xfrm>
                <a:off x="5984864" y="3518424"/>
                <a:ext cx="504056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53" name="Retângulo 52"/>
              <p:cNvSpPr/>
              <p:nvPr/>
            </p:nvSpPr>
            <p:spPr>
              <a:xfrm>
                <a:off x="6475272" y="3376443"/>
                <a:ext cx="2160240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verdadeira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55" name="Grupo 54"/>
            <p:cNvGrpSpPr/>
            <p:nvPr/>
          </p:nvGrpSpPr>
          <p:grpSpPr>
            <a:xfrm>
              <a:off x="5984864" y="4149080"/>
              <a:ext cx="2650648" cy="461665"/>
              <a:chOff x="5984864" y="3376443"/>
              <a:chExt cx="2650648" cy="461665"/>
            </a:xfrm>
          </p:grpSpPr>
          <p:cxnSp>
            <p:nvCxnSpPr>
              <p:cNvPr id="56" name="Conector de seta reta 55"/>
              <p:cNvCxnSpPr/>
              <p:nvPr/>
            </p:nvCxnSpPr>
            <p:spPr bwMode="auto">
              <a:xfrm>
                <a:off x="5984864" y="3518424"/>
                <a:ext cx="504056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57" name="Retângulo 56"/>
              <p:cNvSpPr/>
              <p:nvPr/>
            </p:nvSpPr>
            <p:spPr>
              <a:xfrm>
                <a:off x="6475272" y="3376443"/>
                <a:ext cx="216024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ordinária</a:t>
                </a:r>
              </a:p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(mínimos quadrados)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1514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tângulo 2"/>
              <p:cNvSpPr/>
              <p:nvPr/>
            </p:nvSpPr>
            <p:spPr>
              <a:xfrm>
                <a:off x="251520" y="1412776"/>
                <a:ext cx="8496944" cy="6340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Variável dependente binária: </a:t>
                </a:r>
                <a:r>
                  <a:rPr lang="pt-BR" i="1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pt-BR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~ Bernoulli,</a:t>
                </a:r>
                <a:r>
                  <a:rPr lang="pt-BR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/>
                      </a:rPr>
                      <m:t>𝑃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/>
                              </a:rPr>
                              <m:t>𝑌</m:t>
                            </m:r>
                          </m:e>
                          <m:sub>
                            <m:r>
                              <a:rPr lang="pt-BR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pt-BR" i="1">
                            <a:latin typeface="Cambria Math"/>
                          </a:rPr>
                          <m:t>=1</m:t>
                        </m:r>
                      </m:e>
                    </m:d>
                    <m:r>
                      <a:rPr lang="pt-BR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/>
                            <a:ea typeface="Cambria Math"/>
                          </a:rPr>
                          <m:t>𝜋</m:t>
                        </m:r>
                      </m:e>
                      <m:sub>
                        <m:r>
                          <a:rPr lang="pt-BR" b="0" i="1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endParaRPr lang="pt-BR" kern="0" dirty="0"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Logística</a:t>
                </a:r>
              </a:p>
            </p:txBody>
          </p:sp>
        </mc:Choice>
        <mc:Fallback xmlns="">
          <p:sp>
            <p:nvSpPr>
              <p:cNvPr id="3" name="Retângulo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412776"/>
                <a:ext cx="8496944" cy="634020"/>
              </a:xfrm>
              <a:prstGeom prst="rect">
                <a:avLst/>
              </a:prstGeom>
              <a:blipFill>
                <a:blip r:embed="rId2"/>
                <a:stretch>
                  <a:fillRect l="-287" t="-3846" b="-115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Outras abordagens...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pic>
        <p:nvPicPr>
          <p:cNvPr id="1034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2420888"/>
            <a:ext cx="4572000" cy="2743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/>
              <p:cNvSpPr txBox="1"/>
              <p:nvPr/>
            </p:nvSpPr>
            <p:spPr>
              <a:xfrm>
                <a:off x="4355976" y="3179500"/>
                <a:ext cx="2069797" cy="6083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𝐸</m:t>
                      </m:r>
                      <m:r>
                        <a:rPr lang="pt-BR" b="0" i="1" smtClean="0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)</m:t>
                      </m:r>
                      <m:r>
                        <a:rPr lang="pt-BR" b="0" i="0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  <a:ea typeface="Cambria Math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  <a:ea typeface="Cambria Math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  <a:ea typeface="Cambria Math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  <a:ea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5976" y="3179500"/>
                <a:ext cx="2069797" cy="6083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tângulo 8"/>
              <p:cNvSpPr/>
              <p:nvPr/>
            </p:nvSpPr>
            <p:spPr>
              <a:xfrm>
                <a:off x="251520" y="5177368"/>
                <a:ext cx="8496944" cy="92948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Variável dependente que represente proporção </a:t>
                </a:r>
                <a:r>
                  <a:rPr lang="pt-BR" i="1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pt-BR" i="1" kern="0" baseline="-2500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pt-BR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pt-BR" i="1" kern="0" baseline="-25000" dirty="0" err="1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pt-BR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[0,1]</a:t>
                </a: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lvl="1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Beta</a:t>
                </a:r>
              </a:p>
              <a:p>
                <a:pPr lvl="1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funções de ligação </a:t>
                </a:r>
                <a14:m>
                  <m:oMath xmlns:m="http://schemas.openxmlformats.org/officeDocument/2006/math"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𝑔</m:t>
                    </m:r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(</m:t>
                    </m:r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𝐸</m:t>
                    </m:r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(</m:t>
                    </m:r>
                    <m:sSub>
                      <m:sSubPr>
                        <m:ctrlPr>
                          <a:rPr lang="pt-BR" altLang="pt-BR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𝑌</m:t>
                        </m:r>
                      </m:e>
                      <m:sub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))</m:t>
                    </m:r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: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logit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e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probit</a:t>
                </a: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Retângulo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5177368"/>
                <a:ext cx="8496944" cy="929485"/>
              </a:xfrm>
              <a:prstGeom prst="rect">
                <a:avLst/>
              </a:prstGeom>
              <a:blipFill>
                <a:blip r:embed="rId5"/>
                <a:stretch>
                  <a:fillRect l="-287" t="-2614" b="-71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>
                <a:off x="997956" y="6118627"/>
                <a:ext cx="2385332" cy="6455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pt-BR" b="0" i="1" smtClean="0">
                              <a:latin typeface="Cambria Math"/>
                            </a:rPr>
                            <m:t>𝑙𝑛</m:t>
                          </m:r>
                        </m:fName>
                        <m:e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pt-BR" i="1">
                                      <a:latin typeface="Cambria Math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6" y="6118627"/>
                <a:ext cx="2385332" cy="64556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3630255" y="6272131"/>
                <a:ext cx="425411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𝑝𝑟𝑜𝑏𝑖𝑡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p>
                          <m:r>
                            <a:rPr lang="pt-BR" b="0" i="1" smtClean="0">
                              <a:latin typeface="Cambria Math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       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𝑝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𝑃</m:t>
                      </m:r>
                      <m:r>
                        <a:rPr lang="pt-BR" b="0" i="1" smtClean="0">
                          <a:latin typeface="Cambria Math"/>
                        </a:rPr>
                        <m:t>(</m:t>
                      </m:r>
                      <m:r>
                        <a:rPr lang="pt-BR" b="0" i="1" smtClean="0">
                          <a:latin typeface="Cambria Math"/>
                        </a:rPr>
                        <m:t>𝑍</m:t>
                      </m:r>
                      <m:r>
                        <a:rPr lang="pt-BR" b="0" i="1" smtClean="0">
                          <a:latin typeface="Cambria Math"/>
                        </a:rPr>
                        <m:t>&lt;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0255" y="6272131"/>
                <a:ext cx="4254113" cy="338554"/>
              </a:xfrm>
              <a:prstGeom prst="rect">
                <a:avLst/>
              </a:prstGeom>
              <a:blipFill>
                <a:blip r:embed="rId7"/>
                <a:stretch>
                  <a:fillRect b="-145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102</a:t>
            </a:fld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6303408" y="3357661"/>
                <a:ext cx="64485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𝜋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408" y="3357661"/>
                <a:ext cx="644856" cy="338554"/>
              </a:xfrm>
              <a:prstGeom prst="rect">
                <a:avLst/>
              </a:prstGeom>
              <a:blipFill>
                <a:blip r:embed="rId8"/>
                <a:stretch>
                  <a:fillRect b="-18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tângulo 1"/>
              <p:cNvSpPr/>
              <p:nvPr/>
            </p:nvSpPr>
            <p:spPr>
              <a:xfrm>
                <a:off x="4054296" y="3863559"/>
                <a:ext cx="3440557" cy="6455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pt-BR" i="1">
                              <a:latin typeface="Cambria Math"/>
                            </a:rPr>
                            <m:t>𝑙𝑛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  <a:ea typeface="Cambria Math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/>
                                          <a:ea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pt-BR" i="1">
                                      <a:latin typeface="Cambria Math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  <a:ea typeface="Cambria Math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i="1">
                          <a:latin typeface="Cambria Math"/>
                        </a:rPr>
                        <m:t>𝑙𝑜𝑔𝑖𝑡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  <a:ea typeface="Cambria Math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  <a:ea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i="1">
                          <a:latin typeface="Cambria Math"/>
                          <a:ea typeface="Cambria Math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" name="Retângulo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4296" y="3863559"/>
                <a:ext cx="3440557" cy="64556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351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/>
      <p:bldP spid="13" grpId="0"/>
      <p:bldP spid="10" grpId="0"/>
      <p:bldP spid="2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tângulo 2"/>
              <p:cNvSpPr/>
              <p:nvPr/>
            </p:nvSpPr>
            <p:spPr>
              <a:xfrm>
                <a:off x="251520" y="1330656"/>
                <a:ext cx="8784976" cy="541071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Modelos Lineares Generalizados</a:t>
                </a:r>
              </a:p>
              <a:p>
                <a:pPr marL="627063" lvl="1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É uma flexibilização da regressão linear ordinária para permitir que a variável dependente tenha resíduos com distribuição diferente da gaussiana</a:t>
                </a:r>
              </a:p>
              <a:p>
                <a:pPr marL="627063" lvl="1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Inclui a Regressão Ordinária (clássica), Regressão Logística, Regressão Beta, Regressão de Poisson, Regressão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Multinomial</a:t>
                </a: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627063" lvl="1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Também inclui Modelos Aditivos Generalizados (GAM) que permitem o uso de funções de suavização (p.ex. médias móveis)</a:t>
                </a:r>
              </a:p>
              <a:p>
                <a:pPr marL="627063" lvl="1" indent="-169863">
                  <a:spcBef>
                    <a:spcPct val="20000"/>
                  </a:spcBef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627063" lvl="1" indent="-169863">
                  <a:spcBef>
                    <a:spcPct val="20000"/>
                  </a:spcBef>
                </a:pPr>
                <a:endParaRPr lang="pt-BR" altLang="pt-BR" i="1" dirty="0">
                  <a:latin typeface="Cambria Math"/>
                  <a:ea typeface="Cambria Math"/>
                  <a:sym typeface="Symbol" pitchFamily="18" charset="2"/>
                </a:endParaRPr>
              </a:p>
              <a:p>
                <a:pPr marL="450850" lvl="1" indent="635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𝑔</m:t>
                      </m:r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(</m:t>
                      </m:r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𝐸</m:t>
                      </m:r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(</m:t>
                      </m:r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𝑌</m:t>
                          </m:r>
                        </m:e>
                        <m:sub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))</m:t>
                      </m:r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𝑓</m:t>
                      </m:r>
                      <m:d>
                        <m:dPr>
                          <m:ctrlPr>
                            <a:rPr lang="pt-BR" altLang="pt-BR" b="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b="0" i="1" smtClean="0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altLang="pt-BR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1</m:t>
                              </m:r>
                              <m:r>
                                <a:rPr lang="pt-BR" altLang="pt-BR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𝑓</m:t>
                      </m:r>
                      <m:d>
                        <m:dPr>
                          <m:ctrlPr>
                            <a:rPr lang="pt-BR" altLang="pt-BR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altLang="pt-BR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2</m:t>
                              </m:r>
                              <m:r>
                                <a:rPr lang="pt-BR" altLang="pt-BR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0" lvl="1">
                  <a:spcBef>
                    <a:spcPct val="20000"/>
                  </a:spcBef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0" lvl="1">
                  <a:spcBef>
                    <a:spcPct val="20000"/>
                  </a:spcBef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285750" lvl="1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Modelos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autoregressivos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com (ARMAX) ou sem variáveis exógenas (ARMA)</a:t>
                </a:r>
              </a:p>
              <a:p>
                <a:pPr marL="0" lvl="1">
                  <a:spcBef>
                    <a:spcPct val="20000"/>
                  </a:spcBef>
                </a:pPr>
                <a:endParaRPr lang="pt-BR" i="1" kern="0" dirty="0">
                  <a:solidFill>
                    <a:srgbClr val="000000"/>
                  </a:solidFill>
                  <a:latin typeface="Cambria Math"/>
                  <a:cs typeface="Arial" panose="020B0604020202020204" pitchFamily="34" charset="0"/>
                </a:endParaRPr>
              </a:p>
              <a:p>
                <a:pPr marL="457200" lvl="2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kern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𝑌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𝑡</m:t>
                          </m:r>
                        </m:sub>
                      </m:sSub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Arial" panose="020B0604020202020204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0</m:t>
                          </m:r>
                        </m:sub>
                      </m:sSub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pt-BR" i="1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Arial" panose="020B0604020202020204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 kern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𝑌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𝑡</m:t>
                          </m:r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−1</m:t>
                          </m:r>
                        </m:sub>
                      </m:sSub>
                      <m:r>
                        <a:rPr lang="pt-BR" i="1" ker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pt-BR" i="1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Arial" panose="020B0604020202020204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𝑌</m:t>
                          </m:r>
                        </m:e>
                        <m:sub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𝑡</m:t>
                          </m:r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−2</m:t>
                          </m:r>
                        </m:sub>
                      </m:sSub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pt-BR" i="1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Arial" panose="020B0604020202020204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𝑋</m:t>
                      </m:r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+</m:t>
                      </m:r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Arial" panose="020B0604020202020204" pitchFamily="34" charset="0"/>
                        </a:rPr>
                        <m:t>𝜉</m:t>
                      </m:r>
                    </m:oMath>
                  </m:oMathPara>
                </a14:m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285750" lvl="1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285750" lvl="1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espacial</a:t>
                </a:r>
              </a:p>
              <a:p>
                <a:pPr marL="457200" lvl="2" defTabSz="627063">
                  <a:spcBef>
                    <a:spcPct val="20000"/>
                  </a:spcBef>
                </a:pP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	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Spatial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Lag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Models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(SAR): atribuem a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autocorrelação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espacial à variável dependente</a:t>
                </a:r>
              </a:p>
              <a:p>
                <a:pPr marL="457200" lvl="2" defTabSz="6270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	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Spatial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Error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Models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(CAR): atribuem a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autocorrelação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espacial ao erro</a:t>
                </a:r>
              </a:p>
            </p:txBody>
          </p:sp>
        </mc:Choice>
        <mc:Fallback xmlns="">
          <p:sp>
            <p:nvSpPr>
              <p:cNvPr id="3" name="Retângulo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330656"/>
                <a:ext cx="8784976" cy="5410712"/>
              </a:xfrm>
              <a:prstGeom prst="rect">
                <a:avLst/>
              </a:prstGeom>
              <a:blipFill>
                <a:blip r:embed="rId2"/>
                <a:stretch>
                  <a:fillRect l="-278" t="-338" b="-4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Outras abordagens...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13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103</a:t>
            </a:fld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6" name="Grupo 5"/>
          <p:cNvGrpSpPr/>
          <p:nvPr/>
        </p:nvGrpSpPr>
        <p:grpSpPr>
          <a:xfrm>
            <a:off x="4271326" y="3212976"/>
            <a:ext cx="2160240" cy="1260000"/>
            <a:chOff x="3779912" y="3140968"/>
            <a:chExt cx="2160240" cy="1260000"/>
          </a:xfrm>
        </p:grpSpPr>
        <p:pic>
          <p:nvPicPr>
            <p:cNvPr id="110594" name="Picture 2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79912" y="3140968"/>
              <a:ext cx="2096129" cy="12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tângulo 1"/>
                <p:cNvSpPr/>
                <p:nvPr/>
              </p:nvSpPr>
              <p:spPr>
                <a:xfrm>
                  <a:off x="5133649" y="3140968"/>
                  <a:ext cx="806503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𝑓</m:t>
                        </m:r>
                        <m:d>
                          <m:dPr>
                            <m:ctrlPr>
                              <a:rPr lang="pt-BR" altLang="pt-BR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altLang="pt-BR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1</m:t>
                                </m:r>
                                <m:r>
                                  <a:rPr lang="pt-BR" altLang="pt-BR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" name="Retângulo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3649" y="3140968"/>
                  <a:ext cx="80650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" name="Grupo 6"/>
          <p:cNvGrpSpPr/>
          <p:nvPr/>
        </p:nvGrpSpPr>
        <p:grpSpPr>
          <a:xfrm>
            <a:off x="6575582" y="3212976"/>
            <a:ext cx="2100874" cy="1260000"/>
            <a:chOff x="6084168" y="3140968"/>
            <a:chExt cx="2100874" cy="1260000"/>
          </a:xfrm>
        </p:grpSpPr>
        <p:pic>
          <p:nvPicPr>
            <p:cNvPr id="110595" name="Picture 3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84168" y="3140968"/>
              <a:ext cx="2096129" cy="12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tângulo 4"/>
                <p:cNvSpPr/>
                <p:nvPr/>
              </p:nvSpPr>
              <p:spPr>
                <a:xfrm>
                  <a:off x="7373794" y="3882534"/>
                  <a:ext cx="811248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altLang="pt-BR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𝑓</m:t>
                        </m:r>
                        <m:d>
                          <m:dPr>
                            <m:ctrlPr>
                              <a:rPr lang="pt-BR" altLang="pt-BR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altLang="pt-BR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2</m:t>
                                </m:r>
                                <m:r>
                                  <a:rPr lang="pt-BR" altLang="pt-BR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5" name="Retângulo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3794" y="3882534"/>
                  <a:ext cx="81124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454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873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Tamanho de amostra para Regressão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13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104</a:t>
            </a:fld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251520" y="1268760"/>
            <a:ext cx="8784976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altLang="pt-BR" dirty="0">
                <a:latin typeface="Tahoma" panose="020B0604030504040204" pitchFamily="34" charset="0"/>
              </a:rPr>
              <a:t>Assim como em outras análises, determinar o tamanho da amostra conveniente evita o desperdício de tempo, força de trabalho, custos, etc. no processo de coleta e análise de dados.</a:t>
            </a:r>
          </a:p>
          <a:p>
            <a:pPr marL="185738" indent="-185738"/>
            <a:endParaRPr lang="pt-BR" altLang="pt-BR" dirty="0">
              <a:latin typeface="Tahoma" panose="020B0604030504040204" pitchFamily="34" charset="0"/>
            </a:endParaRPr>
          </a:p>
          <a:p>
            <a:pPr marL="185738" indent="-185738"/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Se a amostra for muito pequena, pode-se chegar a resultados aparentemente muito bons (</a:t>
            </a:r>
            <a:r>
              <a:rPr lang="pt-BR" i="1" kern="0" dirty="0">
                <a:solidFill>
                  <a:srgbClr val="0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r</a:t>
            </a:r>
            <a:r>
              <a:rPr lang="pt-BR" kern="0" baseline="30000" dirty="0">
                <a:solidFill>
                  <a:srgbClr val="0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muito altos) mas ainda assim não significativos, indicando que o modelo ajustado poderia ter sido obtido casualmente.</a:t>
            </a:r>
          </a:p>
        </p:txBody>
      </p:sp>
      <p:sp>
        <p:nvSpPr>
          <p:cNvPr id="22" name="Retângulo 21"/>
          <p:cNvSpPr/>
          <p:nvPr/>
        </p:nvSpPr>
        <p:spPr>
          <a:xfrm>
            <a:off x="251520" y="4509120"/>
            <a:ext cx="8784976" cy="21605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7800" lvl="1" indent="-177800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Apesar de não existir uma regra prática, muitos pesquisadores alegam que deve haver pelo menos 10 observações por variável independente. Por exemplo, se estivermos usando 4 variáveis ​​independentes, deveríamos ter um tamanho mínimo de amostra de 40.</a:t>
            </a:r>
          </a:p>
          <a:p>
            <a:pPr marL="177800" lvl="1" indent="-177800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177800" lvl="1" indent="-177800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Pode-se encontrar na literatura diversos trabalhos que discutem o assunto, propondo fórmulas para o cálculo do tamanho da amostra mas o mais importante é concentrar-se em representar bem o fenômeno estudado e, caso os resultados não pareçam ser adequados, investigar se a causa não pode ser a amostragem insuficiente.</a:t>
            </a:r>
          </a:p>
        </p:txBody>
      </p:sp>
      <p:sp>
        <p:nvSpPr>
          <p:cNvPr id="23" name="Retângulo 22"/>
          <p:cNvSpPr/>
          <p:nvPr/>
        </p:nvSpPr>
        <p:spPr>
          <a:xfrm>
            <a:off x="251520" y="3258272"/>
            <a:ext cx="583264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Como vimos, tão importante como o tamanho da amostra, é sua distribuição com relação a cada variável analisada. A presença de “buracos” de observações podem prejudicar a análise dos resultados.</a:t>
            </a:r>
          </a:p>
        </p:txBody>
      </p:sp>
      <p:pic>
        <p:nvPicPr>
          <p:cNvPr id="11878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2852936"/>
            <a:ext cx="2030413" cy="1835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7569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lnDef>
  </a:objectDefaults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33017</TotalTime>
  <Words>12962</Words>
  <Application>Microsoft Office PowerPoint</Application>
  <PresentationFormat>Apresentação na tela (4:3)</PresentationFormat>
  <Paragraphs>4138</Paragraphs>
  <Slides>104</Slides>
  <Notes>0</Notes>
  <HiddenSlides>0</HiddenSlides>
  <MMClips>0</MMClips>
  <ScaleCrop>false</ScaleCrop>
  <HeadingPairs>
    <vt:vector size="8" baseType="variant">
      <vt:variant>
        <vt:lpstr>Fontes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3</vt:i4>
      </vt:variant>
      <vt:variant>
        <vt:lpstr>Títulos de slides</vt:lpstr>
      </vt:variant>
      <vt:variant>
        <vt:i4>104</vt:i4>
      </vt:variant>
    </vt:vector>
  </HeadingPairs>
  <TitlesOfParts>
    <vt:vector size="118" baseType="lpstr">
      <vt:lpstr>Aptos Narrow</vt:lpstr>
      <vt:lpstr>Arial</vt:lpstr>
      <vt:lpstr>Arial Unicode MS</vt:lpstr>
      <vt:lpstr>Calibri</vt:lpstr>
      <vt:lpstr>Cambria Math</vt:lpstr>
      <vt:lpstr>Comic Sans MS</vt:lpstr>
      <vt:lpstr>Mathematica1</vt:lpstr>
      <vt:lpstr>Symbol</vt:lpstr>
      <vt:lpstr>Tahoma</vt:lpstr>
      <vt:lpstr>Times New Roman</vt:lpstr>
      <vt:lpstr>Estrutura padrão</vt:lpstr>
      <vt:lpstr>Equation</vt:lpstr>
      <vt:lpstr>Equação</vt:lpstr>
      <vt:lpstr>Document</vt:lpstr>
      <vt:lpstr>Estatística: Aplicação ao Sensoriamento Remoto  SER 204  Análise de Regressão</vt:lpstr>
      <vt:lpstr>Relacionamento entre Variáveis</vt:lpstr>
      <vt:lpstr>Relacionamento entre Variáveis</vt:lpstr>
      <vt:lpstr>Relacionamento entre Variáveis</vt:lpstr>
      <vt:lpstr>Relação funcional x Relação estatística</vt:lpstr>
      <vt:lpstr>Relação funcional x Relação estatística</vt:lpstr>
      <vt:lpstr>Grau de Relacionamento</vt:lpstr>
      <vt:lpstr>Covariância</vt:lpstr>
      <vt:lpstr>Coeficiente de Correlação</vt:lpstr>
      <vt:lpstr>Coeficiente de Correlação</vt:lpstr>
      <vt:lpstr>Coeficiente de Correlação</vt:lpstr>
      <vt:lpstr>Coeficiente de Correlação</vt:lpstr>
      <vt:lpstr>Coeficiente de Correlação</vt:lpstr>
      <vt:lpstr>Análise de Regressão</vt:lpstr>
      <vt:lpstr>Análise de Regressão</vt:lpstr>
      <vt:lpstr>Análise de Regressão</vt:lpstr>
      <vt:lpstr>Modelo de Regressão Linear Simples</vt:lpstr>
      <vt:lpstr>Modelo de Regressão Linear Simples</vt:lpstr>
      <vt:lpstr>Apresentação do PowerPoint</vt:lpstr>
      <vt:lpstr>Apresentação do PowerPoint</vt:lpstr>
      <vt:lpstr>Estimação da Variância do Erro (2)</vt:lpstr>
      <vt:lpstr>Inferência em Análise de Regressão</vt:lpstr>
      <vt:lpstr>Teste de Hipótese para 1</vt:lpstr>
      <vt:lpstr>Teste de Hipótese para 0</vt:lpstr>
      <vt:lpstr>Inferências para E(Yh)</vt:lpstr>
      <vt:lpstr>Inferências para E(Yh)</vt:lpstr>
      <vt:lpstr>Particionamento do Erro</vt:lpstr>
      <vt:lpstr>Particionamento do Erro</vt:lpstr>
      <vt:lpstr>Apresentação do PowerPoint</vt:lpstr>
      <vt:lpstr>Coeficiente de Determinação</vt:lpstr>
      <vt:lpstr>Análise de Regressão no EXCEL</vt:lpstr>
      <vt:lpstr>Análise de Regressão no EXCEL</vt:lpstr>
      <vt:lpstr>Análise de Regressão no EXCEL</vt:lpstr>
      <vt:lpstr>Análise de Regressão no R</vt:lpstr>
      <vt:lpstr>Modelos Linearizáveis</vt:lpstr>
      <vt:lpstr>Modelos Linearizáveis</vt:lpstr>
      <vt:lpstr>Análise de Resíduos</vt:lpstr>
      <vt:lpstr>Análise de Resíduos</vt:lpstr>
      <vt:lpstr>Modelo de Regressão Linear Múltipla</vt:lpstr>
      <vt:lpstr>Casos Especiais</vt:lpstr>
      <vt:lpstr>Modelo de Regressão Linear Múltipla</vt:lpstr>
      <vt:lpstr>Modelo de Regressão Linear Múltipla</vt:lpstr>
      <vt:lpstr>Notação Matricial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Variáveis Indicadoras</vt:lpstr>
      <vt:lpstr>Variáveis Indicadoras – Variável Categórica</vt:lpstr>
      <vt:lpstr>Variáveis Indicadoras – Variável Categórica</vt:lpstr>
      <vt:lpstr>Variáveis Indicadoras – Comparação de modelos</vt:lpstr>
      <vt:lpstr>Variáveis Indicadoras – Comparação de modelos</vt:lpstr>
      <vt:lpstr>Variáveis Indicadoras – Comparação de modelos</vt:lpstr>
      <vt:lpstr>Variáveis Indicadoras – Comparação de modelos</vt:lpstr>
      <vt:lpstr>Variáveis Indicadoras – Comparação de modelos</vt:lpstr>
      <vt:lpstr>Variáveis Indicadoras – Mudanças estruturais</vt:lpstr>
      <vt:lpstr>Regressão Padronizada</vt:lpstr>
      <vt:lpstr>Regressão Padronizada</vt:lpstr>
      <vt:lpstr>Construção do Modelo</vt:lpstr>
      <vt:lpstr>Construção do Modelo</vt:lpstr>
      <vt:lpstr>Construção do Modelo</vt:lpstr>
      <vt:lpstr>Construção do Modelo</vt:lpstr>
      <vt:lpstr>Seleção de Variáveis</vt:lpstr>
      <vt:lpstr>Seleção de Variáveis – Busca Exaustiva</vt:lpstr>
      <vt:lpstr>Seleção de Variáveis - Stepwise</vt:lpstr>
      <vt:lpstr>Seleção de Variáveis - Stepwise</vt:lpstr>
      <vt:lpstr>Seleção de Variáveis - Stepwise</vt:lpstr>
      <vt:lpstr>Exemplo em R</vt:lpstr>
      <vt:lpstr>Exemplo em R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Teste de Hipótese</dc:title>
  <dc:creator>Camilo Daleles Rennó, DPI/INPE</dc:creator>
  <cp:lastModifiedBy>Camilo Daleles Rennó</cp:lastModifiedBy>
  <cp:revision>1278</cp:revision>
  <cp:lastPrinted>2016-04-28T12:00:01Z</cp:lastPrinted>
  <dcterms:created xsi:type="dcterms:W3CDTF">2003-03-18T00:57:51Z</dcterms:created>
  <dcterms:modified xsi:type="dcterms:W3CDTF">2025-07-21T16:34:20Z</dcterms:modified>
</cp:coreProperties>
</file>