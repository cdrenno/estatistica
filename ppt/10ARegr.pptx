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40.xml" ContentType="application/vnd.openxmlformats-officedocument.drawingml.char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7"/>
  </p:notesMasterIdLst>
  <p:handoutMasterIdLst>
    <p:handoutMasterId r:id="rId108"/>
  </p:handoutMasterIdLst>
  <p:sldIdLst>
    <p:sldId id="419" r:id="rId2"/>
    <p:sldId id="479" r:id="rId3"/>
    <p:sldId id="396" r:id="rId4"/>
    <p:sldId id="456" r:id="rId5"/>
    <p:sldId id="454" r:id="rId6"/>
    <p:sldId id="397" r:id="rId7"/>
    <p:sldId id="453" r:id="rId8"/>
    <p:sldId id="455" r:id="rId9"/>
    <p:sldId id="398" r:id="rId10"/>
    <p:sldId id="399" r:id="rId11"/>
    <p:sldId id="510" r:id="rId12"/>
    <p:sldId id="450" r:id="rId13"/>
    <p:sldId id="467" r:id="rId14"/>
    <p:sldId id="395" r:id="rId15"/>
    <p:sldId id="532" r:id="rId16"/>
    <p:sldId id="401" r:id="rId17"/>
    <p:sldId id="402" r:id="rId18"/>
    <p:sldId id="457" r:id="rId19"/>
    <p:sldId id="403" r:id="rId20"/>
    <p:sldId id="404" r:id="rId21"/>
    <p:sldId id="418" r:id="rId22"/>
    <p:sldId id="408" r:id="rId23"/>
    <p:sldId id="458" r:id="rId24"/>
    <p:sldId id="421" r:id="rId25"/>
    <p:sldId id="422" r:id="rId26"/>
    <p:sldId id="423" r:id="rId27"/>
    <p:sldId id="409" r:id="rId28"/>
    <p:sldId id="490" r:id="rId29"/>
    <p:sldId id="410" r:id="rId30"/>
    <p:sldId id="480" r:id="rId31"/>
    <p:sldId id="417" r:id="rId32"/>
    <p:sldId id="498" r:id="rId33"/>
    <p:sldId id="497" r:id="rId34"/>
    <p:sldId id="448" r:id="rId35"/>
    <p:sldId id="412" r:id="rId36"/>
    <p:sldId id="511" r:id="rId37"/>
    <p:sldId id="413" r:id="rId38"/>
    <p:sldId id="415" r:id="rId39"/>
    <p:sldId id="425" r:id="rId40"/>
    <p:sldId id="431" r:id="rId41"/>
    <p:sldId id="439" r:id="rId42"/>
    <p:sldId id="440" r:id="rId43"/>
    <p:sldId id="428" r:id="rId44"/>
    <p:sldId id="430" r:id="rId45"/>
    <p:sldId id="441" r:id="rId46"/>
    <p:sldId id="449" r:id="rId47"/>
    <p:sldId id="432" r:id="rId48"/>
    <p:sldId id="459" r:id="rId49"/>
    <p:sldId id="433" r:id="rId50"/>
    <p:sldId id="460" r:id="rId51"/>
    <p:sldId id="496" r:id="rId52"/>
    <p:sldId id="482" r:id="rId53"/>
    <p:sldId id="491" r:id="rId54"/>
    <p:sldId id="483" r:id="rId55"/>
    <p:sldId id="481" r:id="rId56"/>
    <p:sldId id="462" r:id="rId57"/>
    <p:sldId id="492" r:id="rId58"/>
    <p:sldId id="512" r:id="rId59"/>
    <p:sldId id="424" r:id="rId60"/>
    <p:sldId id="484" r:id="rId61"/>
    <p:sldId id="434" r:id="rId62"/>
    <p:sldId id="514" r:id="rId63"/>
    <p:sldId id="515" r:id="rId64"/>
    <p:sldId id="435" r:id="rId65"/>
    <p:sldId id="437" r:id="rId66"/>
    <p:sldId id="438" r:id="rId67"/>
    <p:sldId id="469" r:id="rId68"/>
    <p:sldId id="442" r:id="rId69"/>
    <p:sldId id="446" r:id="rId70"/>
    <p:sldId id="443" r:id="rId71"/>
    <p:sldId id="444" r:id="rId72"/>
    <p:sldId id="485" r:id="rId73"/>
    <p:sldId id="517" r:id="rId74"/>
    <p:sldId id="463" r:id="rId75"/>
    <p:sldId id="486" r:id="rId76"/>
    <p:sldId id="464" r:id="rId77"/>
    <p:sldId id="488" r:id="rId78"/>
    <p:sldId id="500" r:id="rId79"/>
    <p:sldId id="533" r:id="rId80"/>
    <p:sldId id="465" r:id="rId81"/>
    <p:sldId id="519" r:id="rId82"/>
    <p:sldId id="518" r:id="rId83"/>
    <p:sldId id="466" r:id="rId84"/>
    <p:sldId id="473" r:id="rId85"/>
    <p:sldId id="489" r:id="rId86"/>
    <p:sldId id="474" r:id="rId87"/>
    <p:sldId id="520" r:id="rId88"/>
    <p:sldId id="477" r:id="rId89"/>
    <p:sldId id="521" r:id="rId90"/>
    <p:sldId id="522" r:id="rId91"/>
    <p:sldId id="523" r:id="rId92"/>
    <p:sldId id="524" r:id="rId93"/>
    <p:sldId id="525" r:id="rId94"/>
    <p:sldId id="526" r:id="rId95"/>
    <p:sldId id="531" r:id="rId96"/>
    <p:sldId id="528" r:id="rId97"/>
    <p:sldId id="529" r:id="rId98"/>
    <p:sldId id="530" r:id="rId99"/>
    <p:sldId id="475" r:id="rId100"/>
    <p:sldId id="505" r:id="rId101"/>
    <p:sldId id="495" r:id="rId102"/>
    <p:sldId id="509" r:id="rId103"/>
    <p:sldId id="494" r:id="rId104"/>
    <p:sldId id="501" r:id="rId105"/>
    <p:sldId id="502" r:id="rId106"/>
  </p:sldIdLst>
  <p:sldSz cx="9144000" cy="6858000" type="screen4x3"/>
  <p:notesSz cx="9926638" cy="6797675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5050"/>
    <a:srgbClr val="FF9999"/>
    <a:srgbClr val="3B3B3B"/>
    <a:srgbClr val="C0C0C0"/>
    <a:srgbClr val="00FF00"/>
    <a:srgbClr val="EAEAEA"/>
    <a:srgbClr val="0000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7D17A3-F150-4C90-98F7-3DA6206C45A8}" v="1" dt="2026-05-18T17:19:10.4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877" autoAdjust="0"/>
    <p:restoredTop sz="94714" autoAdjust="0"/>
  </p:normalViewPr>
  <p:slideViewPr>
    <p:cSldViewPr>
      <p:cViewPr varScale="1">
        <p:scale>
          <a:sx n="70" d="100"/>
          <a:sy n="70" d="100"/>
        </p:scale>
        <p:origin x="147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ableStyles" Target="tableStyles.xml"/><Relationship Id="rId16" Type="http://schemas.openxmlformats.org/officeDocument/2006/relationships/slide" Target="slides/slide15.xml"/><Relationship Id="rId107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handoutMaster" Target="handoutMasters/handout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presProps" Target="presProp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theme" Target="theme/theme1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2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19:10.412" v="1"/>
      <pc:docMkLst>
        <pc:docMk/>
      </pc:docMkLst>
      <pc:sldChg chg="addSp delSp modSp mod">
        <pc:chgData name="Camilo Daleles Rennó" userId="eac9aab033b2f962" providerId="LiveId" clId="{2F84B5F6-56BC-4922-A3EF-887C69771227}" dt="2026-05-18T17:19:10.412" v="1"/>
        <pc:sldMkLst>
          <pc:docMk/>
          <pc:sldMk cId="0" sldId="419"/>
        </pc:sldMkLst>
        <pc:spChg chg="del">
          <ac:chgData name="Camilo Daleles Rennó" userId="eac9aab033b2f962" providerId="LiveId" clId="{2F84B5F6-56BC-4922-A3EF-887C69771227}" dt="2026-05-18T17:19:09.060" v="0" actId="478"/>
          <ac:spMkLst>
            <pc:docMk/>
            <pc:sldMk cId="0" sldId="419"/>
            <ac:spMk id="2" creationId="{C804E013-879B-64F7-5879-5307BB00AFE4}"/>
          </ac:spMkLst>
        </pc:spChg>
        <pc:spChg chg="add mod">
          <ac:chgData name="Camilo Daleles Rennó" userId="eac9aab033b2f962" providerId="LiveId" clId="{2F84B5F6-56BC-4922-A3EF-887C69771227}" dt="2026-05-18T17:19:10.412" v="1"/>
          <ac:spMkLst>
            <pc:docMk/>
            <pc:sldMk cId="0" sldId="419"/>
            <ac:spMk id="3" creationId="{E1139FB4-5CAF-DF28-B77A-2EED085EEA0E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78">
              <a:noFill/>
            </a:ln>
          </c:spPr>
          <c:marker>
            <c:spPr>
              <a:solidFill>
                <a:srgbClr val="FF0000"/>
              </a:solidFill>
              <a:ln>
                <a:solidFill>
                  <a:srgbClr val="FF0000"/>
                </a:solidFill>
              </a:ln>
            </c:spPr>
          </c:marker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FA1-4F6D-96F1-CBF3658FD3EE}"/>
            </c:ext>
          </c:extLst>
        </c:ser>
        <c:ser>
          <c:idx val="1"/>
          <c:order val="1"/>
          <c:spPr>
            <a:ln w="28478">
              <a:noFill/>
            </a:ln>
          </c:spPr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FA1-4F6D-96F1-CBF3658FD3E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76688"/>
        <c:axId val="617366496"/>
      </c:scatterChart>
      <c:valAx>
        <c:axId val="617376688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66496"/>
        <c:crosses val="autoZero"/>
        <c:crossBetween val="midCat"/>
      </c:valAx>
      <c:valAx>
        <c:axId val="617366496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overlay val="0"/>
        </c:title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76688"/>
        <c:crosses val="autoZero"/>
        <c:crossBetween val="midCat"/>
        <c:majorUnit val="20"/>
      </c:valAx>
      <c:spPr>
        <a:noFill/>
        <a:ln w="25373">
          <a:noFill/>
        </a:ln>
      </c:spPr>
    </c:plotArea>
    <c:plotVisOnly val="1"/>
    <c:dispBlanksAs val="gap"/>
    <c:showDLblsOverMax val="0"/>
  </c:chart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scatterChart>
        <c:scatterStyle val="lineMarker"/>
        <c:varyColors val="0"/>
        <c:ser>
          <c:idx val="0"/>
          <c:order val="0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Plan4!$B$3:$B$12</c:f>
              <c:numCache>
                <c:formatCode>0.00</c:formatCode>
                <c:ptCount val="10"/>
                <c:pt idx="0">
                  <c:v>0.74916685553151707</c:v>
                </c:pt>
                <c:pt idx="1">
                  <c:v>2.4678267260426079</c:v>
                </c:pt>
                <c:pt idx="2">
                  <c:v>4.3882806003809423</c:v>
                </c:pt>
                <c:pt idx="3">
                  <c:v>6.1888007182695972</c:v>
                </c:pt>
                <c:pt idx="4">
                  <c:v>7.3756889978084761</c:v>
                </c:pt>
                <c:pt idx="5">
                  <c:v>8.4747685818987275</c:v>
                </c:pt>
                <c:pt idx="6">
                  <c:v>9.9404155061705772</c:v>
                </c:pt>
                <c:pt idx="7">
                  <c:v>11.141759321306267</c:v>
                </c:pt>
                <c:pt idx="8">
                  <c:v>12.949463043930399</c:v>
                </c:pt>
                <c:pt idx="9">
                  <c:v>14.746692799939598</c:v>
                </c:pt>
              </c:numCache>
            </c:numRef>
          </c:xVal>
          <c:yVal>
            <c:numRef>
              <c:f>Plan4!$A$3:$A$12</c:f>
              <c:numCache>
                <c:formatCode>0.00</c:formatCode>
                <c:ptCount val="10"/>
                <c:pt idx="0">
                  <c:v>11.399522782434834</c:v>
                </c:pt>
                <c:pt idx="1">
                  <c:v>17.687249812815779</c:v>
                </c:pt>
                <c:pt idx="2">
                  <c:v>27.481011000948932</c:v>
                </c:pt>
                <c:pt idx="3">
                  <c:v>32.654802928735755</c:v>
                </c:pt>
                <c:pt idx="4">
                  <c:v>39.464313009036808</c:v>
                </c:pt>
                <c:pt idx="5">
                  <c:v>39.732446124201005</c:v>
                </c:pt>
                <c:pt idx="6">
                  <c:v>48.760845482245287</c:v>
                </c:pt>
                <c:pt idx="7">
                  <c:v>53.300513200671013</c:v>
                </c:pt>
                <c:pt idx="8">
                  <c:v>60.707503057382397</c:v>
                </c:pt>
                <c:pt idx="9">
                  <c:v>65.64593305518072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201D-4662-B356-A6ABDA608310}"/>
            </c:ext>
          </c:extLst>
        </c:ser>
        <c:ser>
          <c:idx val="1"/>
          <c:order val="1"/>
          <c:spPr>
            <a:ln w="28432">
              <a:noFill/>
            </a:ln>
          </c:spPr>
          <c:marker>
            <c:symbol val="none"/>
          </c:marker>
          <c:trendline>
            <c:trendlineType val="linear"/>
            <c:dispRSqr val="0"/>
            <c:dispEq val="0"/>
          </c:trendline>
          <c:xVal>
            <c:numRef>
              <c:f>Plan4!$E$3:$E$14</c:f>
              <c:numCache>
                <c:formatCode>0.00</c:formatCode>
                <c:ptCount val="12"/>
                <c:pt idx="0">
                  <c:v>9.0098787011014703E-2</c:v>
                </c:pt>
                <c:pt idx="1">
                  <c:v>1.5300565685326701</c:v>
                </c:pt>
                <c:pt idx="2">
                  <c:v>3.1901673549466087</c:v>
                </c:pt>
                <c:pt idx="3">
                  <c:v>5.1293205912812345</c:v>
                </c:pt>
                <c:pt idx="4">
                  <c:v>6.9686401894709427</c:v>
                </c:pt>
                <c:pt idx="5">
                  <c:v>8.1100531645856471</c:v>
                </c:pt>
                <c:pt idx="6">
                  <c:v>9.5339088035612516</c:v>
                </c:pt>
                <c:pt idx="7">
                  <c:v>11.080250383938415</c:v>
                </c:pt>
                <c:pt idx="8">
                  <c:v>12.361692574946362</c:v>
                </c:pt>
                <c:pt idx="9">
                  <c:v>13.6423589298516</c:v>
                </c:pt>
                <c:pt idx="10">
                  <c:v>14.3</c:v>
                </c:pt>
                <c:pt idx="11" formatCode="General">
                  <c:v>14.96</c:v>
                </c:pt>
              </c:numCache>
            </c:numRef>
          </c:xVal>
          <c:yVal>
            <c:numRef>
              <c:f>Plan4!$D$3:$D$14</c:f>
              <c:numCache>
                <c:formatCode>0.00</c:formatCode>
                <c:ptCount val="12"/>
                <c:pt idx="0">
                  <c:v>4.1686024455429465</c:v>
                </c:pt>
                <c:pt idx="1">
                  <c:v>8.9194522746339313</c:v>
                </c:pt>
                <c:pt idx="2">
                  <c:v>16.227932272946077</c:v>
                </c:pt>
                <c:pt idx="3">
                  <c:v>23.282952588412961</c:v>
                </c:pt>
                <c:pt idx="4">
                  <c:v>34.332298924297774</c:v>
                </c:pt>
                <c:pt idx="5">
                  <c:v>35.933428898909483</c:v>
                </c:pt>
                <c:pt idx="6">
                  <c:v>44.534815560571836</c:v>
                </c:pt>
                <c:pt idx="7">
                  <c:v>48.568863967738899</c:v>
                </c:pt>
                <c:pt idx="8">
                  <c:v>53.366592515508131</c:v>
                </c:pt>
                <c:pt idx="9">
                  <c:v>58.114553265677976</c:v>
                </c:pt>
                <c:pt idx="10" formatCode="General">
                  <c:v>63.21</c:v>
                </c:pt>
                <c:pt idx="11" formatCode="General">
                  <c:v>64.67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201D-4662-B356-A6ABDA60831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617368456"/>
        <c:axId val="617371592"/>
      </c:scatterChart>
      <c:valAx>
        <c:axId val="61736845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X</a:t>
                </a:r>
              </a:p>
            </c:rich>
          </c:tx>
          <c:layout>
            <c:manualLayout>
              <c:xMode val="edge"/>
              <c:yMode val="edge"/>
              <c:x val="0.81084335388309015"/>
              <c:y val="0.87868035482906404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 rot="0" vert="horz"/>
          <a:lstStyle/>
          <a:p>
            <a:pPr>
              <a:defRPr sz="999" b="0" i="0" u="none" strike="noStrike" baseline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endParaRPr lang="pt-BR"/>
          </a:p>
        </c:txPr>
        <c:crossAx val="617371592"/>
        <c:crosses val="autoZero"/>
        <c:crossBetween val="midCat"/>
      </c:valAx>
      <c:valAx>
        <c:axId val="617371592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pPr>
                  <a:defRPr sz="984" b="1" i="1" u="none" strike="noStrike" baseline="0">
                    <a:solidFill>
                      <a:srgbClr val="FFFFFF"/>
                    </a:solidFill>
                    <a:latin typeface="Calibri"/>
                    <a:ea typeface="Calibri"/>
                    <a:cs typeface="Calibri"/>
                  </a:defRPr>
                </a:pPr>
                <a:r>
                  <a:rPr lang="pt-BR"/>
                  <a:t>Y</a:t>
                </a:r>
              </a:p>
            </c:rich>
          </c:tx>
          <c:layout>
            <c:manualLayout>
              <c:xMode val="edge"/>
              <c:yMode val="edge"/>
              <c:x val="3.5859936112637082E-2"/>
              <c:y val="0.57195654340675772"/>
            </c:manualLayout>
          </c:layout>
          <c:overlay val="0"/>
        </c:title>
        <c:numFmt formatCode="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pPr>
            <a:endParaRPr lang="pt-BR"/>
          </a:p>
        </c:txPr>
        <c:crossAx val="617368456"/>
        <c:crosses val="autoZero"/>
        <c:crossBetween val="midCat"/>
        <c:majorUnit val="20"/>
      </c:valAx>
      <c:spPr>
        <a:noFill/>
        <a:ln w="25371">
          <a:noFill/>
        </a:ln>
      </c:spPr>
    </c:plotArea>
    <c:plotVisOnly val="1"/>
    <c:dispBlanksAs val="gap"/>
    <c:showDLblsOverMax val="0"/>
  </c:chart>
  <c:spPr>
    <a:ln>
      <a:noFill/>
    </a:ln>
  </c:sp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0EED6066-450E-4681-AC19-6384283F9803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433972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622798" y="0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120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263900" y="509588"/>
            <a:ext cx="3398838" cy="254952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92664" y="3228895"/>
            <a:ext cx="7941310" cy="3058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622798" y="6456612"/>
            <a:ext cx="4301543" cy="3398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FB19880D-50CC-47B0-843C-A461C105B3EB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7332792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8AA8067-C26A-46F1-BB19-8372C1A6904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1319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19068705-8CD4-4201-A137-3B41D5C67048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839962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6C36DF8-CA86-4029-9A90-6C89F4053A3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015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AE15C8-DDA8-4396-9F1A-7E8ABA1757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21159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5DAF273-BCCF-4EEB-861E-00EBAD858C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2778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323C1A3-04ED-45E5-8B36-27B1680BD0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0496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70AB3F7-85E2-40D5-B369-7851739AD66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2663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6AA85C0-A071-407B-B44B-3BA4B52EE68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2513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61823EC-FBAE-451F-A4A0-FD7CE4AA226F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941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F7C671E-DFCB-4D1F-B539-2B718F3FCFB6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380897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C5329C-72D2-474A-9924-C1842BF8ABE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78260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15334DB-52E5-4B34-A6BB-58ABEB50DB6C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4259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ítulo, text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0" y="277813"/>
            <a:ext cx="9144000" cy="703262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sz="half" idx="1"/>
          </p:nvPr>
        </p:nvSpPr>
        <p:spPr>
          <a:xfrm>
            <a:off x="457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268413"/>
            <a:ext cx="4038600" cy="4862512"/>
          </a:xfrm>
        </p:spPr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82E9F5DD-92D4-41FD-9147-B464E99D4B9D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273468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CF10CBEA-BF6F-45DE-B6F6-B406F0A4407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05" r:id="rId2"/>
    <p:sldLayoutId id="2147483695" r:id="rId3"/>
    <p:sldLayoutId id="2147483696" r:id="rId4"/>
    <p:sldLayoutId id="2147483697" r:id="rId5"/>
    <p:sldLayoutId id="2147483698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6" r:id="rId13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7" Type="http://schemas.openxmlformats.org/officeDocument/2006/relationships/image" Target="../media/image9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image" Target="../media/image10.wmf"/><Relationship Id="rId7" Type="http://schemas.openxmlformats.org/officeDocument/2006/relationships/image" Target="../media/image12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11.wmf"/><Relationship Id="rId4" Type="http://schemas.openxmlformats.org/officeDocument/2006/relationships/oleObject" Target="../embeddings/oleObject5.bin"/><Relationship Id="rId9" Type="http://schemas.openxmlformats.org/officeDocument/2006/relationships/image" Target="../media/image13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w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1.png"/><Relationship Id="rId7" Type="http://schemas.openxmlformats.org/officeDocument/2006/relationships/image" Target="../media/image42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17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wmf"/><Relationship Id="rId3" Type="http://schemas.openxmlformats.org/officeDocument/2006/relationships/image" Target="../media/image48.png"/><Relationship Id="rId7" Type="http://schemas.openxmlformats.org/officeDocument/2006/relationships/image" Target="../media/image51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png"/><Relationship Id="rId5" Type="http://schemas.openxmlformats.org/officeDocument/2006/relationships/image" Target="../media/image49.png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4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13" Type="http://schemas.openxmlformats.org/officeDocument/2006/relationships/image" Target="../media/image23.wmf"/><Relationship Id="rId3" Type="http://schemas.openxmlformats.org/officeDocument/2006/relationships/image" Target="../media/image18.wmf"/><Relationship Id="rId7" Type="http://schemas.openxmlformats.org/officeDocument/2006/relationships/image" Target="../media/image20.wmf"/><Relationship Id="rId12" Type="http://schemas.openxmlformats.org/officeDocument/2006/relationships/oleObject" Target="../embeddings/oleObject14.bin"/><Relationship Id="rId2" Type="http://schemas.openxmlformats.org/officeDocument/2006/relationships/oleObject" Target="../embeddings/oleObject9.bin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.bin"/><Relationship Id="rId11" Type="http://schemas.openxmlformats.org/officeDocument/2006/relationships/image" Target="../media/image22.wmf"/><Relationship Id="rId5" Type="http://schemas.openxmlformats.org/officeDocument/2006/relationships/image" Target="../media/image19.wmf"/><Relationship Id="rId15" Type="http://schemas.openxmlformats.org/officeDocument/2006/relationships/image" Target="../media/image24.wmf"/><Relationship Id="rId10" Type="http://schemas.openxmlformats.org/officeDocument/2006/relationships/oleObject" Target="../embeddings/oleObject13.bin"/><Relationship Id="rId4" Type="http://schemas.openxmlformats.org/officeDocument/2006/relationships/oleObject" Target="../embeddings/oleObject10.bin"/><Relationship Id="rId9" Type="http://schemas.openxmlformats.org/officeDocument/2006/relationships/image" Target="../media/image21.wmf"/><Relationship Id="rId14" Type="http://schemas.openxmlformats.org/officeDocument/2006/relationships/oleObject" Target="../embeddings/oleObject15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2" Type="http://schemas.openxmlformats.org/officeDocument/2006/relationships/oleObject" Target="../embeddings/oleObject16.bin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0.bin"/><Relationship Id="rId13" Type="http://schemas.openxmlformats.org/officeDocument/2006/relationships/oleObject" Target="../embeddings/oleObject23.bin"/><Relationship Id="rId18" Type="http://schemas.openxmlformats.org/officeDocument/2006/relationships/image" Target="../media/image32.wmf"/><Relationship Id="rId3" Type="http://schemas.openxmlformats.org/officeDocument/2006/relationships/image" Target="../media/image26.wmf"/><Relationship Id="rId7" Type="http://schemas.openxmlformats.org/officeDocument/2006/relationships/image" Target="../media/image28.wmf"/><Relationship Id="rId12" Type="http://schemas.openxmlformats.org/officeDocument/2006/relationships/image" Target="../media/image30.wmf"/><Relationship Id="rId17" Type="http://schemas.openxmlformats.org/officeDocument/2006/relationships/oleObject" Target="../embeddings/oleObject24.bin"/><Relationship Id="rId2" Type="http://schemas.openxmlformats.org/officeDocument/2006/relationships/oleObject" Target="../embeddings/oleObject17.bin"/><Relationship Id="rId16" Type="http://schemas.openxmlformats.org/officeDocument/2006/relationships/image" Target="../media/image25.wmf"/><Relationship Id="rId20" Type="http://schemas.openxmlformats.org/officeDocument/2006/relationships/image" Target="../media/image69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9.bin"/><Relationship Id="rId11" Type="http://schemas.openxmlformats.org/officeDocument/2006/relationships/oleObject" Target="../embeddings/oleObject22.bin"/><Relationship Id="rId5" Type="http://schemas.openxmlformats.org/officeDocument/2006/relationships/image" Target="../media/image27.wmf"/><Relationship Id="rId15" Type="http://schemas.openxmlformats.org/officeDocument/2006/relationships/oleObject" Target="../embeddings/oleObject16.bin"/><Relationship Id="rId10" Type="http://schemas.openxmlformats.org/officeDocument/2006/relationships/oleObject" Target="../embeddings/oleObject21.bin"/><Relationship Id="rId19" Type="http://schemas.openxmlformats.org/officeDocument/2006/relationships/image" Target="../media/image68.png"/><Relationship Id="rId4" Type="http://schemas.openxmlformats.org/officeDocument/2006/relationships/oleObject" Target="../embeddings/oleObject18.bin"/><Relationship Id="rId9" Type="http://schemas.openxmlformats.org/officeDocument/2006/relationships/image" Target="../media/image29.wmf"/><Relationship Id="rId14" Type="http://schemas.openxmlformats.org/officeDocument/2006/relationships/image" Target="../media/image31.wmf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28.bin"/><Relationship Id="rId13" Type="http://schemas.openxmlformats.org/officeDocument/2006/relationships/image" Target="../media/image38.wmf"/><Relationship Id="rId18" Type="http://schemas.openxmlformats.org/officeDocument/2006/relationships/image" Target="../media/image40.wmf"/><Relationship Id="rId3" Type="http://schemas.openxmlformats.org/officeDocument/2006/relationships/image" Target="../media/image33.wmf"/><Relationship Id="rId21" Type="http://schemas.openxmlformats.org/officeDocument/2006/relationships/oleObject" Target="../embeddings/oleObject35.bin"/><Relationship Id="rId7" Type="http://schemas.openxmlformats.org/officeDocument/2006/relationships/image" Target="../media/image35.wmf"/><Relationship Id="rId12" Type="http://schemas.openxmlformats.org/officeDocument/2006/relationships/oleObject" Target="../embeddings/oleObject30.bin"/><Relationship Id="rId17" Type="http://schemas.openxmlformats.org/officeDocument/2006/relationships/oleObject" Target="../embeddings/oleObject33.bin"/><Relationship Id="rId25" Type="http://schemas.openxmlformats.org/officeDocument/2006/relationships/image" Target="../media/image81.png"/><Relationship Id="rId2" Type="http://schemas.openxmlformats.org/officeDocument/2006/relationships/oleObject" Target="../embeddings/oleObject25.bin"/><Relationship Id="rId16" Type="http://schemas.openxmlformats.org/officeDocument/2006/relationships/oleObject" Target="../embeddings/oleObject32.bin"/><Relationship Id="rId20" Type="http://schemas.openxmlformats.org/officeDocument/2006/relationships/image" Target="../media/image41.wmf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27.bin"/><Relationship Id="rId11" Type="http://schemas.openxmlformats.org/officeDocument/2006/relationships/image" Target="../media/image37.wmf"/><Relationship Id="rId24" Type="http://schemas.openxmlformats.org/officeDocument/2006/relationships/image" Target="../media/image80.png"/><Relationship Id="rId5" Type="http://schemas.openxmlformats.org/officeDocument/2006/relationships/image" Target="../media/image34.wmf"/><Relationship Id="rId15" Type="http://schemas.openxmlformats.org/officeDocument/2006/relationships/image" Target="../media/image39.wmf"/><Relationship Id="rId23" Type="http://schemas.openxmlformats.org/officeDocument/2006/relationships/image" Target="../media/image50.png"/><Relationship Id="rId10" Type="http://schemas.openxmlformats.org/officeDocument/2006/relationships/oleObject" Target="../embeddings/oleObject29.bin"/><Relationship Id="rId19" Type="http://schemas.openxmlformats.org/officeDocument/2006/relationships/oleObject" Target="../embeddings/oleObject34.bin"/><Relationship Id="rId4" Type="http://schemas.openxmlformats.org/officeDocument/2006/relationships/oleObject" Target="../embeddings/oleObject26.bin"/><Relationship Id="rId9" Type="http://schemas.openxmlformats.org/officeDocument/2006/relationships/image" Target="../media/image36.emf"/><Relationship Id="rId14" Type="http://schemas.openxmlformats.org/officeDocument/2006/relationships/oleObject" Target="../embeddings/oleObject31.bin"/><Relationship Id="rId22" Type="http://schemas.openxmlformats.org/officeDocument/2006/relationships/image" Target="../media/image42.wmf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wmf"/><Relationship Id="rId13" Type="http://schemas.openxmlformats.org/officeDocument/2006/relationships/oleObject" Target="../embeddings/oleObject41.bin"/><Relationship Id="rId18" Type="http://schemas.openxmlformats.org/officeDocument/2006/relationships/image" Target="../media/image51.wmf"/><Relationship Id="rId3" Type="http://schemas.openxmlformats.org/officeDocument/2006/relationships/image" Target="../media/image43.wmf"/><Relationship Id="rId7" Type="http://schemas.openxmlformats.org/officeDocument/2006/relationships/oleObject" Target="../embeddings/oleObject38.bin"/><Relationship Id="rId12" Type="http://schemas.openxmlformats.org/officeDocument/2006/relationships/image" Target="../media/image48.wmf"/><Relationship Id="rId17" Type="http://schemas.openxmlformats.org/officeDocument/2006/relationships/oleObject" Target="../embeddings/oleObject43.bin"/><Relationship Id="rId2" Type="http://schemas.openxmlformats.org/officeDocument/2006/relationships/oleObject" Target="../embeddings/oleObject36.bin"/><Relationship Id="rId16" Type="http://schemas.openxmlformats.org/officeDocument/2006/relationships/image" Target="../media/image50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5.wmf"/><Relationship Id="rId11" Type="http://schemas.openxmlformats.org/officeDocument/2006/relationships/oleObject" Target="../embeddings/oleObject40.bin"/><Relationship Id="rId5" Type="http://schemas.openxmlformats.org/officeDocument/2006/relationships/image" Target="../media/image44.wmf"/><Relationship Id="rId15" Type="http://schemas.openxmlformats.org/officeDocument/2006/relationships/oleObject" Target="../embeddings/oleObject42.bin"/><Relationship Id="rId10" Type="http://schemas.openxmlformats.org/officeDocument/2006/relationships/image" Target="../media/image47.wmf"/><Relationship Id="rId4" Type="http://schemas.openxmlformats.org/officeDocument/2006/relationships/oleObject" Target="../embeddings/oleObject37.bin"/><Relationship Id="rId9" Type="http://schemas.openxmlformats.org/officeDocument/2006/relationships/oleObject" Target="../embeddings/oleObject39.bin"/><Relationship Id="rId14" Type="http://schemas.openxmlformats.org/officeDocument/2006/relationships/image" Target="../media/image49.wmf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94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8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0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30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0.wmf"/><Relationship Id="rId7" Type="http://schemas.openxmlformats.org/officeDocument/2006/relationships/image" Target="../media/image62.wmf"/><Relationship Id="rId2" Type="http://schemas.openxmlformats.org/officeDocument/2006/relationships/oleObject" Target="../embeddings/oleObject4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46.bin"/><Relationship Id="rId11" Type="http://schemas.openxmlformats.org/officeDocument/2006/relationships/image" Target="../media/image65.png"/><Relationship Id="rId5" Type="http://schemas.openxmlformats.org/officeDocument/2006/relationships/image" Target="../media/image61.wmf"/><Relationship Id="rId10" Type="http://schemas.openxmlformats.org/officeDocument/2006/relationships/image" Target="../media/image64.png"/><Relationship Id="rId4" Type="http://schemas.openxmlformats.org/officeDocument/2006/relationships/oleObject" Target="../embeddings/oleObject45.bin"/><Relationship Id="rId9" Type="http://schemas.openxmlformats.org/officeDocument/2006/relationships/image" Target="../media/image63.w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7.bin"/><Relationship Id="rId3" Type="http://schemas.openxmlformats.org/officeDocument/2006/relationships/image" Target="../media/image66.wmf"/><Relationship Id="rId7" Type="http://schemas.openxmlformats.org/officeDocument/2006/relationships/image" Target="../media/image68.wmf"/><Relationship Id="rId2" Type="http://schemas.openxmlformats.org/officeDocument/2006/relationships/oleObject" Target="../embeddings/oleObject4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0.bin"/><Relationship Id="rId11" Type="http://schemas.openxmlformats.org/officeDocument/2006/relationships/image" Target="../media/image71.png"/><Relationship Id="rId5" Type="http://schemas.openxmlformats.org/officeDocument/2006/relationships/image" Target="../media/image67.wmf"/><Relationship Id="rId10" Type="http://schemas.openxmlformats.org/officeDocument/2006/relationships/image" Target="../media/image70.png"/><Relationship Id="rId4" Type="http://schemas.openxmlformats.org/officeDocument/2006/relationships/oleObject" Target="../embeddings/oleObject49.bin"/><Relationship Id="rId9" Type="http://schemas.openxmlformats.org/officeDocument/2006/relationships/image" Target="../media/image63.wmf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wmf"/><Relationship Id="rId3" Type="http://schemas.openxmlformats.org/officeDocument/2006/relationships/image" Target="../media/image72.wmf"/><Relationship Id="rId7" Type="http://schemas.openxmlformats.org/officeDocument/2006/relationships/oleObject" Target="../embeddings/oleObject52.bin"/><Relationship Id="rId2" Type="http://schemas.openxmlformats.org/officeDocument/2006/relationships/oleObject" Target="../embeddings/oleObject51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2.png"/><Relationship Id="rId5" Type="http://schemas.openxmlformats.org/officeDocument/2006/relationships/image" Target="../media/image74.wmf"/><Relationship Id="rId4" Type="http://schemas.openxmlformats.org/officeDocument/2006/relationships/image" Target="../media/image73.wmf"/><Relationship Id="rId9" Type="http://schemas.openxmlformats.org/officeDocument/2006/relationships/image" Target="../media/image76.w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wmf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6.bin"/><Relationship Id="rId3" Type="http://schemas.openxmlformats.org/officeDocument/2006/relationships/image" Target="../media/image78.wmf"/><Relationship Id="rId7" Type="http://schemas.openxmlformats.org/officeDocument/2006/relationships/image" Target="../media/image80.wmf"/><Relationship Id="rId12" Type="http://schemas.openxmlformats.org/officeDocument/2006/relationships/image" Target="../media/image83.png"/><Relationship Id="rId2" Type="http://schemas.openxmlformats.org/officeDocument/2006/relationships/oleObject" Target="../embeddings/oleObject53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55.bin"/><Relationship Id="rId11" Type="http://schemas.openxmlformats.org/officeDocument/2006/relationships/image" Target="../media/image82.wmf"/><Relationship Id="rId5" Type="http://schemas.openxmlformats.org/officeDocument/2006/relationships/image" Target="../media/image79.wmf"/><Relationship Id="rId10" Type="http://schemas.openxmlformats.org/officeDocument/2006/relationships/oleObject" Target="../embeddings/oleObject57.bin"/><Relationship Id="rId4" Type="http://schemas.openxmlformats.org/officeDocument/2006/relationships/oleObject" Target="../embeddings/oleObject54.bin"/><Relationship Id="rId9" Type="http://schemas.openxmlformats.org/officeDocument/2006/relationships/image" Target="../media/image81.wmf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61.bin"/><Relationship Id="rId13" Type="http://schemas.openxmlformats.org/officeDocument/2006/relationships/image" Target="../media/image88.wmf"/><Relationship Id="rId3" Type="http://schemas.openxmlformats.org/officeDocument/2006/relationships/image" Target="../media/image83.wmf"/><Relationship Id="rId7" Type="http://schemas.openxmlformats.org/officeDocument/2006/relationships/image" Target="../media/image85.wmf"/><Relationship Id="rId12" Type="http://schemas.openxmlformats.org/officeDocument/2006/relationships/oleObject" Target="../embeddings/oleObject63.bin"/><Relationship Id="rId2" Type="http://schemas.openxmlformats.org/officeDocument/2006/relationships/oleObject" Target="../embeddings/oleObject5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60.bin"/><Relationship Id="rId11" Type="http://schemas.openxmlformats.org/officeDocument/2006/relationships/image" Target="../media/image87.wmf"/><Relationship Id="rId5" Type="http://schemas.openxmlformats.org/officeDocument/2006/relationships/image" Target="../media/image84.wmf"/><Relationship Id="rId15" Type="http://schemas.openxmlformats.org/officeDocument/2006/relationships/image" Target="../media/image89.wmf"/><Relationship Id="rId10" Type="http://schemas.openxmlformats.org/officeDocument/2006/relationships/oleObject" Target="../embeddings/oleObject62.bin"/><Relationship Id="rId4" Type="http://schemas.openxmlformats.org/officeDocument/2006/relationships/oleObject" Target="../embeddings/oleObject59.bin"/><Relationship Id="rId9" Type="http://schemas.openxmlformats.org/officeDocument/2006/relationships/image" Target="../media/image86.wmf"/><Relationship Id="rId14" Type="http://schemas.openxmlformats.org/officeDocument/2006/relationships/oleObject" Target="../embeddings/oleObject64.bin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wmf"/><Relationship Id="rId2" Type="http://schemas.openxmlformats.org/officeDocument/2006/relationships/oleObject" Target="../embeddings/oleObject65.bin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wmf"/><Relationship Id="rId2" Type="http://schemas.openxmlformats.org/officeDocument/2006/relationships/oleObject" Target="../embeddings/oleObject66.bin"/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0.bin"/><Relationship Id="rId13" Type="http://schemas.openxmlformats.org/officeDocument/2006/relationships/image" Target="../media/image97.wmf"/><Relationship Id="rId18" Type="http://schemas.openxmlformats.org/officeDocument/2006/relationships/oleObject" Target="../embeddings/oleObject75.bin"/><Relationship Id="rId26" Type="http://schemas.openxmlformats.org/officeDocument/2006/relationships/image" Target="../media/image145.png"/><Relationship Id="rId3" Type="http://schemas.openxmlformats.org/officeDocument/2006/relationships/image" Target="../media/image92.wmf"/><Relationship Id="rId21" Type="http://schemas.openxmlformats.org/officeDocument/2006/relationships/image" Target="../media/image101.wmf"/><Relationship Id="rId7" Type="http://schemas.openxmlformats.org/officeDocument/2006/relationships/image" Target="../media/image94.wmf"/><Relationship Id="rId12" Type="http://schemas.openxmlformats.org/officeDocument/2006/relationships/oleObject" Target="../embeddings/oleObject72.bin"/><Relationship Id="rId17" Type="http://schemas.openxmlformats.org/officeDocument/2006/relationships/image" Target="../media/image99.wmf"/><Relationship Id="rId25" Type="http://schemas.openxmlformats.org/officeDocument/2006/relationships/image" Target="../media/image103.wmf"/><Relationship Id="rId2" Type="http://schemas.openxmlformats.org/officeDocument/2006/relationships/oleObject" Target="../embeddings/oleObject67.bin"/><Relationship Id="rId16" Type="http://schemas.openxmlformats.org/officeDocument/2006/relationships/oleObject" Target="../embeddings/oleObject74.bin"/><Relationship Id="rId20" Type="http://schemas.openxmlformats.org/officeDocument/2006/relationships/oleObject" Target="../embeddings/oleObject76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69.bin"/><Relationship Id="rId11" Type="http://schemas.openxmlformats.org/officeDocument/2006/relationships/image" Target="../media/image96.wmf"/><Relationship Id="rId24" Type="http://schemas.openxmlformats.org/officeDocument/2006/relationships/oleObject" Target="../embeddings/oleObject78.bin"/><Relationship Id="rId5" Type="http://schemas.openxmlformats.org/officeDocument/2006/relationships/image" Target="../media/image93.wmf"/><Relationship Id="rId15" Type="http://schemas.openxmlformats.org/officeDocument/2006/relationships/image" Target="../media/image98.wmf"/><Relationship Id="rId23" Type="http://schemas.openxmlformats.org/officeDocument/2006/relationships/image" Target="../media/image102.wmf"/><Relationship Id="rId10" Type="http://schemas.openxmlformats.org/officeDocument/2006/relationships/oleObject" Target="../embeddings/oleObject71.bin"/><Relationship Id="rId19" Type="http://schemas.openxmlformats.org/officeDocument/2006/relationships/image" Target="../media/image100.wmf"/><Relationship Id="rId4" Type="http://schemas.openxmlformats.org/officeDocument/2006/relationships/oleObject" Target="../embeddings/oleObject68.bin"/><Relationship Id="rId9" Type="http://schemas.openxmlformats.org/officeDocument/2006/relationships/image" Target="../media/image95.wmf"/><Relationship Id="rId14" Type="http://schemas.openxmlformats.org/officeDocument/2006/relationships/oleObject" Target="../embeddings/oleObject73.bin"/><Relationship Id="rId22" Type="http://schemas.openxmlformats.org/officeDocument/2006/relationships/oleObject" Target="../embeddings/oleObject77.bin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4.bin"/><Relationship Id="rId13" Type="http://schemas.openxmlformats.org/officeDocument/2006/relationships/image" Target="../media/image108.wmf"/><Relationship Id="rId18" Type="http://schemas.openxmlformats.org/officeDocument/2006/relationships/oleObject" Target="../embeddings/oleObject31.bin"/><Relationship Id="rId26" Type="http://schemas.openxmlformats.org/officeDocument/2006/relationships/image" Target="../media/image156.png"/><Relationship Id="rId3" Type="http://schemas.openxmlformats.org/officeDocument/2006/relationships/image" Target="../media/image104.wmf"/><Relationship Id="rId21" Type="http://schemas.openxmlformats.org/officeDocument/2006/relationships/image" Target="../media/image111.wmf"/><Relationship Id="rId7" Type="http://schemas.openxmlformats.org/officeDocument/2006/relationships/image" Target="../media/image106.wmf"/><Relationship Id="rId12" Type="http://schemas.openxmlformats.org/officeDocument/2006/relationships/oleObject" Target="../embeddings/oleObject83.bin"/><Relationship Id="rId17" Type="http://schemas.openxmlformats.org/officeDocument/2006/relationships/image" Target="../media/image110.wmf"/><Relationship Id="rId25" Type="http://schemas.openxmlformats.org/officeDocument/2006/relationships/image" Target="../media/image113.wmf"/><Relationship Id="rId2" Type="http://schemas.openxmlformats.org/officeDocument/2006/relationships/oleObject" Target="../embeddings/oleObject79.bin"/><Relationship Id="rId16" Type="http://schemas.openxmlformats.org/officeDocument/2006/relationships/oleObject" Target="../embeddings/oleObject85.bin"/><Relationship Id="rId20" Type="http://schemas.openxmlformats.org/officeDocument/2006/relationships/oleObject" Target="../embeddings/oleObject86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81.bin"/><Relationship Id="rId11" Type="http://schemas.openxmlformats.org/officeDocument/2006/relationships/image" Target="../media/image107.wmf"/><Relationship Id="rId24" Type="http://schemas.openxmlformats.org/officeDocument/2006/relationships/oleObject" Target="../embeddings/oleObject88.bin"/><Relationship Id="rId5" Type="http://schemas.openxmlformats.org/officeDocument/2006/relationships/image" Target="../media/image105.wmf"/><Relationship Id="rId15" Type="http://schemas.openxmlformats.org/officeDocument/2006/relationships/image" Target="../media/image109.emf"/><Relationship Id="rId23" Type="http://schemas.openxmlformats.org/officeDocument/2006/relationships/image" Target="../media/image112.wmf"/><Relationship Id="rId10" Type="http://schemas.openxmlformats.org/officeDocument/2006/relationships/oleObject" Target="../embeddings/oleObject82.bin"/><Relationship Id="rId19" Type="http://schemas.openxmlformats.org/officeDocument/2006/relationships/image" Target="../media/image39.wmf"/><Relationship Id="rId4" Type="http://schemas.openxmlformats.org/officeDocument/2006/relationships/oleObject" Target="../embeddings/oleObject80.bin"/><Relationship Id="rId9" Type="http://schemas.openxmlformats.org/officeDocument/2006/relationships/image" Target="../media/image41.wmf"/><Relationship Id="rId14" Type="http://schemas.openxmlformats.org/officeDocument/2006/relationships/oleObject" Target="../embeddings/oleObject84.bin"/><Relationship Id="rId22" Type="http://schemas.openxmlformats.org/officeDocument/2006/relationships/oleObject" Target="../embeddings/oleObject87.bin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8.wmf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89.bin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wmf"/><Relationship Id="rId2" Type="http://schemas.openxmlformats.org/officeDocument/2006/relationships/oleObject" Target="../embeddings/oleObject89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30.png"/><Relationship Id="rId5" Type="http://schemas.openxmlformats.org/officeDocument/2006/relationships/image" Target="../media/image119.wmf"/><Relationship Id="rId4" Type="http://schemas.openxmlformats.org/officeDocument/2006/relationships/oleObject" Target="../embeddings/oleObject90.bin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wmf"/><Relationship Id="rId13" Type="http://schemas.openxmlformats.org/officeDocument/2006/relationships/oleObject" Target="../embeddings/oleObject96.bin"/><Relationship Id="rId18" Type="http://schemas.openxmlformats.org/officeDocument/2006/relationships/image" Target="../media/image127.wmf"/><Relationship Id="rId3" Type="http://schemas.openxmlformats.org/officeDocument/2006/relationships/image" Target="../media/image120.wmf"/><Relationship Id="rId21" Type="http://schemas.openxmlformats.org/officeDocument/2006/relationships/oleObject" Target="../embeddings/oleObject100.bin"/><Relationship Id="rId7" Type="http://schemas.openxmlformats.org/officeDocument/2006/relationships/oleObject" Target="../embeddings/oleObject93.bin"/><Relationship Id="rId12" Type="http://schemas.openxmlformats.org/officeDocument/2006/relationships/image" Target="../media/image124.wmf"/><Relationship Id="rId17" Type="http://schemas.openxmlformats.org/officeDocument/2006/relationships/oleObject" Target="../embeddings/oleObject98.bin"/><Relationship Id="rId2" Type="http://schemas.openxmlformats.org/officeDocument/2006/relationships/oleObject" Target="../embeddings/oleObject91.bin"/><Relationship Id="rId16" Type="http://schemas.openxmlformats.org/officeDocument/2006/relationships/image" Target="../media/image126.wmf"/><Relationship Id="rId20" Type="http://schemas.openxmlformats.org/officeDocument/2006/relationships/image" Target="../media/image128.wmf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1.wmf"/><Relationship Id="rId11" Type="http://schemas.openxmlformats.org/officeDocument/2006/relationships/oleObject" Target="../embeddings/oleObject95.bin"/><Relationship Id="rId5" Type="http://schemas.openxmlformats.org/officeDocument/2006/relationships/oleObject" Target="../embeddings/oleObject92.bin"/><Relationship Id="rId15" Type="http://schemas.openxmlformats.org/officeDocument/2006/relationships/oleObject" Target="../embeddings/oleObject97.bin"/><Relationship Id="rId10" Type="http://schemas.openxmlformats.org/officeDocument/2006/relationships/image" Target="../media/image123.wmf"/><Relationship Id="rId19" Type="http://schemas.openxmlformats.org/officeDocument/2006/relationships/oleObject" Target="../embeddings/oleObject99.bin"/><Relationship Id="rId4" Type="http://schemas.openxmlformats.org/officeDocument/2006/relationships/image" Target="../media/image17.wmf"/><Relationship Id="rId9" Type="http://schemas.openxmlformats.org/officeDocument/2006/relationships/oleObject" Target="../embeddings/oleObject94.bin"/><Relationship Id="rId14" Type="http://schemas.openxmlformats.org/officeDocument/2006/relationships/image" Target="../media/image125.wmf"/><Relationship Id="rId22" Type="http://schemas.openxmlformats.org/officeDocument/2006/relationships/image" Target="../media/image129.wmf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5.bin"/><Relationship Id="rId3" Type="http://schemas.openxmlformats.org/officeDocument/2006/relationships/image" Target="../media/image131.wmf"/><Relationship Id="rId7" Type="http://schemas.openxmlformats.org/officeDocument/2006/relationships/image" Target="../media/image133.wmf"/><Relationship Id="rId2" Type="http://schemas.openxmlformats.org/officeDocument/2006/relationships/oleObject" Target="../embeddings/oleObject102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04.bin"/><Relationship Id="rId11" Type="http://schemas.openxmlformats.org/officeDocument/2006/relationships/image" Target="../media/image135.wmf"/><Relationship Id="rId5" Type="http://schemas.openxmlformats.org/officeDocument/2006/relationships/image" Target="../media/image132.wmf"/><Relationship Id="rId10" Type="http://schemas.openxmlformats.org/officeDocument/2006/relationships/oleObject" Target="../embeddings/oleObject106.bin"/><Relationship Id="rId4" Type="http://schemas.openxmlformats.org/officeDocument/2006/relationships/oleObject" Target="../embeddings/oleObject103.bin"/><Relationship Id="rId9" Type="http://schemas.openxmlformats.org/officeDocument/2006/relationships/image" Target="../media/image134.w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9.bin"/><Relationship Id="rId3" Type="http://schemas.openxmlformats.org/officeDocument/2006/relationships/image" Target="../media/image130.wmf"/><Relationship Id="rId7" Type="http://schemas.openxmlformats.org/officeDocument/2006/relationships/image" Target="../media/image137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08.bin"/><Relationship Id="rId5" Type="http://schemas.openxmlformats.org/officeDocument/2006/relationships/image" Target="../media/image136.wmf"/><Relationship Id="rId4" Type="http://schemas.openxmlformats.org/officeDocument/2006/relationships/oleObject" Target="../embeddings/oleObject107.bin"/><Relationship Id="rId9" Type="http://schemas.openxmlformats.org/officeDocument/2006/relationships/image" Target="../media/image138.wmf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9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3.png"/><Relationship Id="rId7" Type="http://schemas.openxmlformats.org/officeDocument/2006/relationships/image" Target="../media/image186.png"/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0.wmf"/><Relationship Id="rId5" Type="http://schemas.openxmlformats.org/officeDocument/2006/relationships/oleObject" Target="../embeddings/oleObject101.bin"/><Relationship Id="rId4" Type="http://schemas.openxmlformats.org/officeDocument/2006/relationships/image" Target="../media/image184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1.bin"/><Relationship Id="rId3" Type="http://schemas.openxmlformats.org/officeDocument/2006/relationships/image" Target="../media/image188.png"/><Relationship Id="rId7" Type="http://schemas.openxmlformats.org/officeDocument/2006/relationships/image" Target="../media/image192.png"/><Relationship Id="rId2" Type="http://schemas.openxmlformats.org/officeDocument/2006/relationships/image" Target="../media/image18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1.png"/><Relationship Id="rId5" Type="http://schemas.openxmlformats.org/officeDocument/2006/relationships/image" Target="../media/image190.png"/><Relationship Id="rId4" Type="http://schemas.openxmlformats.org/officeDocument/2006/relationships/image" Target="../media/image189.png"/><Relationship Id="rId9" Type="http://schemas.openxmlformats.org/officeDocument/2006/relationships/image" Target="../media/image140.wmf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1.bin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0.w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wmf"/><Relationship Id="rId2" Type="http://schemas.openxmlformats.org/officeDocument/2006/relationships/oleObject" Target="../embeddings/oleObject101.bin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0.bin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3.wmf"/><Relationship Id="rId5" Type="http://schemas.openxmlformats.org/officeDocument/2006/relationships/oleObject" Target="../embeddings/oleObject111.bin"/><Relationship Id="rId4" Type="http://schemas.openxmlformats.org/officeDocument/2006/relationships/image" Target="../media/image142.wmf"/></Relationships>
</file>

<file path=ppt/slides/_rels/slide5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460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40.png"/><Relationship Id="rId5" Type="http://schemas.openxmlformats.org/officeDocument/2006/relationships/image" Target="../media/image174.png"/><Relationship Id="rId4" Type="http://schemas.openxmlformats.org/officeDocument/2006/relationships/image" Target="../media/image1420.png"/></Relationships>
</file>

<file path=ppt/slides/_rels/slide58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47.png"/><Relationship Id="rId7" Type="http://schemas.openxmlformats.org/officeDocument/2006/relationships/image" Target="../media/image146.png"/><Relationship Id="rId2" Type="http://schemas.openxmlformats.org/officeDocument/2006/relationships/image" Target="../media/image142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9.png"/><Relationship Id="rId5" Type="http://schemas.openxmlformats.org/officeDocument/2006/relationships/image" Target="../media/image149.png"/><Relationship Id="rId4" Type="http://schemas.openxmlformats.org/officeDocument/2006/relationships/image" Target="../media/image148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57.png"/><Relationship Id="rId4" Type="http://schemas.openxmlformats.org/officeDocument/2006/relationships/image" Target="../media/image18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0.xml"/><Relationship Id="rId3" Type="http://schemas.openxmlformats.org/officeDocument/2006/relationships/oleObject" Target="../embeddings/oleObject112.bin"/><Relationship Id="rId7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7.wmf"/><Relationship Id="rId5" Type="http://schemas.openxmlformats.org/officeDocument/2006/relationships/oleObject" Target="../embeddings/oleObject113.bin"/><Relationship Id="rId10" Type="http://schemas.openxmlformats.org/officeDocument/2006/relationships/image" Target="../media/image1580.png"/><Relationship Id="rId4" Type="http://schemas.openxmlformats.org/officeDocument/2006/relationships/image" Target="../media/image156.wmf"/><Relationship Id="rId9" Type="http://schemas.openxmlformats.org/officeDocument/2006/relationships/image" Target="../media/image1570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7.bin"/><Relationship Id="rId13" Type="http://schemas.openxmlformats.org/officeDocument/2006/relationships/image" Target="../media/image163.wmf"/><Relationship Id="rId3" Type="http://schemas.openxmlformats.org/officeDocument/2006/relationships/image" Target="../media/image158.wmf"/><Relationship Id="rId7" Type="http://schemas.openxmlformats.org/officeDocument/2006/relationships/image" Target="../media/image160.wmf"/><Relationship Id="rId12" Type="http://schemas.openxmlformats.org/officeDocument/2006/relationships/oleObject" Target="../embeddings/oleObject119.bin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16.bin"/><Relationship Id="rId11" Type="http://schemas.openxmlformats.org/officeDocument/2006/relationships/image" Target="../media/image162.wmf"/><Relationship Id="rId5" Type="http://schemas.openxmlformats.org/officeDocument/2006/relationships/image" Target="../media/image159.wmf"/><Relationship Id="rId10" Type="http://schemas.openxmlformats.org/officeDocument/2006/relationships/oleObject" Target="../embeddings/oleObject118.bin"/><Relationship Id="rId4" Type="http://schemas.openxmlformats.org/officeDocument/2006/relationships/oleObject" Target="../embeddings/oleObject115.bin"/><Relationship Id="rId9" Type="http://schemas.openxmlformats.org/officeDocument/2006/relationships/image" Target="../media/image161.wmf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wmf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8.wmf"/><Relationship Id="rId2" Type="http://schemas.openxmlformats.org/officeDocument/2006/relationships/oleObject" Target="../embeddings/oleObject114.bin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wmf"/><Relationship Id="rId2" Type="http://schemas.openxmlformats.org/officeDocument/2006/relationships/oleObject" Target="../embeddings/oleObject120.bin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20.png"/><Relationship Id="rId5" Type="http://schemas.openxmlformats.org/officeDocument/2006/relationships/image" Target="../media/image219.png"/><Relationship Id="rId4" Type="http://schemas.openxmlformats.org/officeDocument/2006/relationships/image" Target="../media/image165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80.png"/><Relationship Id="rId3" Type="http://schemas.openxmlformats.org/officeDocument/2006/relationships/image" Target="../media/image166.png"/><Relationship Id="rId7" Type="http://schemas.openxmlformats.org/officeDocument/2006/relationships/image" Target="../media/image167.png"/><Relationship Id="rId2" Type="http://schemas.openxmlformats.org/officeDocument/2006/relationships/image" Target="../media/image20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9.png"/><Relationship Id="rId5" Type="http://schemas.openxmlformats.org/officeDocument/2006/relationships/image" Target="../media/image208.png"/><Relationship Id="rId4" Type="http://schemas.openxmlformats.org/officeDocument/2006/relationships/image" Target="../media/image207.png"/><Relationship Id="rId9" Type="http://schemas.openxmlformats.org/officeDocument/2006/relationships/image" Target="../media/image1690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wmf"/><Relationship Id="rId2" Type="http://schemas.openxmlformats.org/officeDocument/2006/relationships/oleObject" Target="../embeddings/oleObject121.bin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5.bin"/><Relationship Id="rId3" Type="http://schemas.openxmlformats.org/officeDocument/2006/relationships/image" Target="../media/image169.wmf"/><Relationship Id="rId7" Type="http://schemas.openxmlformats.org/officeDocument/2006/relationships/image" Target="../media/image171.wmf"/><Relationship Id="rId2" Type="http://schemas.openxmlformats.org/officeDocument/2006/relationships/oleObject" Target="../embeddings/oleObject122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24.bin"/><Relationship Id="rId11" Type="http://schemas.openxmlformats.org/officeDocument/2006/relationships/image" Target="../media/image173.wmf"/><Relationship Id="rId5" Type="http://schemas.openxmlformats.org/officeDocument/2006/relationships/image" Target="../media/image170.wmf"/><Relationship Id="rId10" Type="http://schemas.openxmlformats.org/officeDocument/2006/relationships/oleObject" Target="../embeddings/oleObject126.bin"/><Relationship Id="rId4" Type="http://schemas.openxmlformats.org/officeDocument/2006/relationships/oleObject" Target="../embeddings/oleObject123.bin"/><Relationship Id="rId9" Type="http://schemas.openxmlformats.org/officeDocument/2006/relationships/image" Target="../media/image172.wmf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70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20.png"/><Relationship Id="rId7" Type="http://schemas.openxmlformats.org/officeDocument/2006/relationships/image" Target="../media/image180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78.png"/><Relationship Id="rId5" Type="http://schemas.openxmlformats.org/officeDocument/2006/relationships/image" Target="../media/image177.wmf"/><Relationship Id="rId4" Type="http://schemas.openxmlformats.org/officeDocument/2006/relationships/oleObject" Target="../embeddings/oleObject127.bin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2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3.png"/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5.bin"/><Relationship Id="rId2" Type="http://schemas.openxmlformats.org/officeDocument/2006/relationships/image" Target="../media/image197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34.wmf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30.bin"/><Relationship Id="rId3" Type="http://schemas.openxmlformats.org/officeDocument/2006/relationships/image" Target="../media/image181.wmf"/><Relationship Id="rId7" Type="http://schemas.openxmlformats.org/officeDocument/2006/relationships/image" Target="../media/image182.wmf"/><Relationship Id="rId2" Type="http://schemas.openxmlformats.org/officeDocument/2006/relationships/oleObject" Target="../embeddings/oleObject128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129.bin"/><Relationship Id="rId5" Type="http://schemas.openxmlformats.org/officeDocument/2006/relationships/image" Target="../media/image119.wmf"/><Relationship Id="rId10" Type="http://schemas.openxmlformats.org/officeDocument/2006/relationships/image" Target="../media/image245.png"/><Relationship Id="rId4" Type="http://schemas.openxmlformats.org/officeDocument/2006/relationships/oleObject" Target="../embeddings/oleObject90.bin"/><Relationship Id="rId9" Type="http://schemas.openxmlformats.org/officeDocument/2006/relationships/image" Target="../media/image183.wmf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2.png"/><Relationship Id="rId13" Type="http://schemas.openxmlformats.org/officeDocument/2006/relationships/image" Target="../media/image206.png"/><Relationship Id="rId3" Type="http://schemas.microsoft.com/office/2007/relationships/hdphoto" Target="../media/hdphoto3.wdp"/><Relationship Id="rId7" Type="http://schemas.microsoft.com/office/2007/relationships/hdphoto" Target="../media/hdphoto4.wdp"/><Relationship Id="rId12" Type="http://schemas.openxmlformats.org/officeDocument/2006/relationships/image" Target="../media/image204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8.png"/><Relationship Id="rId11" Type="http://schemas.openxmlformats.org/officeDocument/2006/relationships/image" Target="../media/image210.png"/><Relationship Id="rId5" Type="http://schemas.openxmlformats.org/officeDocument/2006/relationships/image" Target="../media/image203.png"/><Relationship Id="rId10" Type="http://schemas.microsoft.com/office/2007/relationships/hdphoto" Target="../media/hdphoto5.wdp"/><Relationship Id="rId4" Type="http://schemas.openxmlformats.org/officeDocument/2006/relationships/image" Target="../media/image199.png"/><Relationship Id="rId9" Type="http://schemas.openxmlformats.org/officeDocument/2006/relationships/image" Target="../media/image200.pn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1.png"/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2.png"/><Relationship Id="rId2" Type="http://schemas.openxmlformats.org/officeDocument/2006/relationships/image" Target="../media/image211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15.png"/><Relationship Id="rId5" Type="http://schemas.openxmlformats.org/officeDocument/2006/relationships/image" Target="../media/image214.png"/><Relationship Id="rId4" Type="http://schemas.openxmlformats.org/officeDocument/2006/relationships/image" Target="../media/image213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7.png"/><Relationship Id="rId2" Type="http://schemas.openxmlformats.org/officeDocument/2006/relationships/image" Target="../media/image21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15.png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8.png"/><Relationship Id="rId1" Type="http://schemas.openxmlformats.org/officeDocument/2006/relationships/slideLayout" Target="../slideLayouts/slideLayout13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2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3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5.png"/><Relationship Id="rId2" Type="http://schemas.openxmlformats.org/officeDocument/2006/relationships/image" Target="../media/image224.png"/><Relationship Id="rId1" Type="http://schemas.openxmlformats.org/officeDocument/2006/relationships/slideLayout" Target="../slideLayouts/slideLayout1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6.png"/><Relationship Id="rId1" Type="http://schemas.openxmlformats.org/officeDocument/2006/relationships/slideLayout" Target="../slideLayouts/slideLayout13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8.png"/><Relationship Id="rId2" Type="http://schemas.openxmlformats.org/officeDocument/2006/relationships/image" Target="../media/image227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1.png"/><Relationship Id="rId5" Type="http://schemas.openxmlformats.org/officeDocument/2006/relationships/image" Target="../media/image230.png"/><Relationship Id="rId4" Type="http://schemas.openxmlformats.org/officeDocument/2006/relationships/image" Target="../media/image229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2.png"/><Relationship Id="rId1" Type="http://schemas.openxmlformats.org/officeDocument/2006/relationships/slideLayout" Target="../slideLayouts/slideLayout13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.png"/><Relationship Id="rId2" Type="http://schemas.openxmlformats.org/officeDocument/2006/relationships/image" Target="../media/image23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37.png"/><Relationship Id="rId5" Type="http://schemas.openxmlformats.org/officeDocument/2006/relationships/image" Target="../media/image236.png"/><Relationship Id="rId4" Type="http://schemas.openxmlformats.org/officeDocument/2006/relationships/image" Target="../media/image235.png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90.png"/><Relationship Id="rId2" Type="http://schemas.openxmlformats.org/officeDocument/2006/relationships/image" Target="../media/image2280.png"/><Relationship Id="rId1" Type="http://schemas.openxmlformats.org/officeDocument/2006/relationships/slideLayout" Target="../slideLayouts/slideLayout13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9.png"/><Relationship Id="rId2" Type="http://schemas.openxmlformats.org/officeDocument/2006/relationships/image" Target="../media/image238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330.png"/><Relationship Id="rId4" Type="http://schemas.openxmlformats.org/officeDocument/2006/relationships/image" Target="../media/image2320.png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6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61.png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9.png"/><Relationship Id="rId3" Type="http://schemas.openxmlformats.org/officeDocument/2006/relationships/image" Target="../media/image241.png"/><Relationship Id="rId7" Type="http://schemas.openxmlformats.org/officeDocument/2006/relationships/image" Target="../media/image268.png"/><Relationship Id="rId2" Type="http://schemas.openxmlformats.org/officeDocument/2006/relationships/image" Target="../media/image2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7.png"/><Relationship Id="rId5" Type="http://schemas.openxmlformats.org/officeDocument/2006/relationships/image" Target="../media/image266.png"/><Relationship Id="rId4" Type="http://schemas.openxmlformats.org/officeDocument/2006/relationships/image" Target="../media/image2120.png"/><Relationship Id="rId9" Type="http://schemas.openxmlformats.org/officeDocument/2006/relationships/image" Target="../media/image2130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2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5.png"/><Relationship Id="rId5" Type="http://schemas.openxmlformats.org/officeDocument/2006/relationships/image" Target="../media/image243.png"/><Relationship Id="rId4" Type="http://schemas.openxmlformats.org/officeDocument/2006/relationships/image" Target="../media/image273.png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Análise de Regressão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1139FB4-5CAF-DF28-B77A-2EED085EEA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  <a:endParaRPr lang="pt-BR" dirty="0"/>
          </a:p>
        </p:txBody>
      </p:sp>
      <p:grpSp>
        <p:nvGrpSpPr>
          <p:cNvPr id="5123" name="Group 37"/>
          <p:cNvGrpSpPr>
            <a:grpSpLocks/>
          </p:cNvGrpSpPr>
          <p:nvPr/>
        </p:nvGrpSpPr>
        <p:grpSpPr bwMode="auto">
          <a:xfrm>
            <a:off x="914400" y="1501676"/>
            <a:ext cx="1563688" cy="2138363"/>
            <a:chOff x="576" y="1872"/>
            <a:chExt cx="985" cy="1347"/>
          </a:xfrm>
        </p:grpSpPr>
        <p:sp>
          <p:nvSpPr>
            <p:cNvPr id="5128" name="Rectangle 38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29" name="Text Box 39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endParaRPr lang="pt-BR" altLang="pt-BR" sz="2400" i="1">
                <a:latin typeface="Times New Roman" charset="0"/>
              </a:endParaRPr>
            </a:p>
          </p:txBody>
        </p:sp>
      </p:grpSp>
      <p:sp>
        <p:nvSpPr>
          <p:cNvPr id="5124" name="Line 48"/>
          <p:cNvSpPr>
            <a:spLocks noChangeShapeType="1"/>
          </p:cNvSpPr>
          <p:nvPr/>
        </p:nvSpPr>
        <p:spPr bwMode="auto">
          <a:xfrm>
            <a:off x="1981200" y="2035076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125" name="Text Box 49"/>
          <p:cNvSpPr txBox="1">
            <a:spLocks noChangeArrowheads="1"/>
          </p:cNvSpPr>
          <p:nvPr/>
        </p:nvSpPr>
        <p:spPr bwMode="auto">
          <a:xfrm>
            <a:off x="2554288" y="1854101"/>
            <a:ext cx="98135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atributos</a:t>
            </a:r>
          </a:p>
        </p:txBody>
      </p:sp>
      <p:sp>
        <p:nvSpPr>
          <p:cNvPr id="5126" name="Text Box 64"/>
          <p:cNvSpPr txBox="1">
            <a:spLocks noChangeArrowheads="1"/>
          </p:cNvSpPr>
          <p:nvPr/>
        </p:nvSpPr>
        <p:spPr bwMode="auto">
          <a:xfrm>
            <a:off x="3708400" y="1412776"/>
            <a:ext cx="4967288" cy="15273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qualquer tipo de estudo, há sempre a necessidade de se focar em um ou mais atributos (características) dos elementos que compõem esta população (</a:t>
            </a:r>
            <a:r>
              <a:rPr lang="pt-BR" altLang="pt-BR" sz="1600" dirty="0">
                <a:latin typeface="Times New Roman" charset="0"/>
                <a:sym typeface="Symbol" pitchFamily="18" charset="2"/>
              </a:rPr>
              <a:t>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652CC4-27B0-48CE-BE62-1E2281540BC2}" type="slidenum">
              <a:rPr lang="pt-BR"/>
              <a:pPr>
                <a:defRPr/>
              </a:pPr>
              <a:t>2</a:t>
            </a:fld>
            <a:endParaRPr lang="pt-BR" dirty="0"/>
          </a:p>
        </p:txBody>
      </p:sp>
      <p:pic>
        <p:nvPicPr>
          <p:cNvPr id="58371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85" y="4207993"/>
            <a:ext cx="1640229" cy="20642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Retângulo 14"/>
          <p:cNvSpPr/>
          <p:nvPr/>
        </p:nvSpPr>
        <p:spPr>
          <a:xfrm>
            <a:off x="1763688" y="3960492"/>
            <a:ext cx="274466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atributos quantitativos:</a:t>
            </a:r>
          </a:p>
          <a:p>
            <a:r>
              <a:rPr lang="pt-BR" dirty="0">
                <a:latin typeface="Tahoma" panose="020B0604030504040204" pitchFamily="34" charset="0"/>
              </a:rPr>
              <a:t>. altura total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da copa</a:t>
            </a:r>
          </a:p>
          <a:p>
            <a:r>
              <a:rPr lang="pt-BR" dirty="0">
                <a:latin typeface="Tahoma" panose="020B0604030504040204" pitchFamily="34" charset="0"/>
              </a:rPr>
              <a:t>. diâmetro do tronco (DAP)</a:t>
            </a:r>
          </a:p>
          <a:p>
            <a:r>
              <a:rPr lang="pt-BR" dirty="0">
                <a:latin typeface="Tahoma" panose="020B0604030504040204" pitchFamily="34" charset="0"/>
              </a:rPr>
              <a:t>. biomassa</a:t>
            </a:r>
          </a:p>
          <a:p>
            <a:r>
              <a:rPr lang="pt-BR" dirty="0">
                <a:latin typeface="Tahoma" panose="020B0604030504040204" pitchFamily="34" charset="0"/>
              </a:rPr>
              <a:t>. </a:t>
            </a:r>
            <a:r>
              <a:rPr lang="pt-BR" dirty="0" err="1">
                <a:latin typeface="Tahoma" panose="020B0604030504040204" pitchFamily="34" charset="0"/>
              </a:rPr>
              <a:t>etc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4788024" y="4349422"/>
            <a:ext cx="4176464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dirty="0">
                <a:latin typeface="Tahoma" panose="020B0604030504040204" pitchFamily="34" charset="0"/>
              </a:rPr>
              <a:t>Quando adquiridas sobre o mesmo indivíduo, estas variáveis guardam alguma relação entre si?</a:t>
            </a:r>
          </a:p>
          <a:p>
            <a:pPr marL="185738" indent="-185738"/>
            <a:endParaRPr 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dirty="0">
                <a:latin typeface="Tahoma" panose="020B0604030504040204" pitchFamily="34" charset="0"/>
              </a:rPr>
              <a:t>Há como aproveitar o conhecimento dessas relações em estudos dessa população?</a:t>
            </a:r>
          </a:p>
        </p:txBody>
      </p:sp>
      <p:sp>
        <p:nvSpPr>
          <p:cNvPr id="14" name="Retângulo 13"/>
          <p:cNvSpPr/>
          <p:nvPr/>
        </p:nvSpPr>
        <p:spPr>
          <a:xfrm>
            <a:off x="1811996" y="5719831"/>
            <a:ext cx="2425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Estes atributos constituem as variáveis em estudo.</a:t>
            </a:r>
          </a:p>
        </p:txBody>
      </p:sp>
    </p:spTree>
    <p:extLst>
      <p:ext uri="{BB962C8B-B14F-4D97-AF65-F5344CB8AC3E}">
        <p14:creationId xmlns:p14="http://schemas.microsoft.com/office/powerpoint/2010/main" val="1249859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3" grpId="0" build="p"/>
      <p:bldP spid="14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33" name="Grupo 9232"/>
          <p:cNvGrpSpPr/>
          <p:nvPr/>
        </p:nvGrpSpPr>
        <p:grpSpPr>
          <a:xfrm>
            <a:off x="1140694" y="4238074"/>
            <a:ext cx="6815682" cy="1783214"/>
            <a:chOff x="827584" y="3861048"/>
            <a:chExt cx="7427788" cy="1943362"/>
          </a:xfrm>
        </p:grpSpPr>
        <p:pic>
          <p:nvPicPr>
            <p:cNvPr id="56324" name="Picture 4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94621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7" name="Picture 7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61658" y="3861048"/>
              <a:ext cx="2093714" cy="193887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56326" name="Picture 6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7584" y="3861048"/>
              <a:ext cx="2093714" cy="194336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</p:grpSp>
      <p:cxnSp>
        <p:nvCxnSpPr>
          <p:cNvPr id="9228" name="Conector reto 9227"/>
          <p:cNvCxnSpPr/>
          <p:nvPr/>
        </p:nvCxnSpPr>
        <p:spPr bwMode="auto">
          <a:xfrm>
            <a:off x="6613302" y="4598207"/>
            <a:ext cx="1173267" cy="10638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230" name="Conector reto 9229"/>
          <p:cNvCxnSpPr/>
          <p:nvPr/>
        </p:nvCxnSpPr>
        <p:spPr bwMode="auto">
          <a:xfrm flipV="1">
            <a:off x="1606132" y="4437966"/>
            <a:ext cx="1262754" cy="8948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graphicFrame>
        <p:nvGraphicFramePr>
          <p:cNvPr id="9226" name="Tabela 92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2915201"/>
              </p:ext>
            </p:extLst>
          </p:nvPr>
        </p:nvGraphicFramePr>
        <p:xfrm>
          <a:off x="4467046" y="1412776"/>
          <a:ext cx="1231900" cy="428625"/>
        </p:xfrm>
        <a:graphic>
          <a:graphicData uri="http://schemas.openxmlformats.org/drawingml/2006/table">
            <a:tbl>
              <a:tblPr/>
              <a:tblGrid>
                <a:gridCol w="6745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73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17" name="Tabela 92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8064281"/>
              </p:ext>
            </p:extLst>
          </p:nvPr>
        </p:nvGraphicFramePr>
        <p:xfrm>
          <a:off x="4467046" y="1412776"/>
          <a:ext cx="2908302" cy="428625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224" name="Tabela 9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0152773"/>
              </p:ext>
            </p:extLst>
          </p:nvPr>
        </p:nvGraphicFramePr>
        <p:xfrm>
          <a:off x="4467046" y="1412776"/>
          <a:ext cx="2908302" cy="2324100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Z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138,6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22,2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21,3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27,0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0,59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33,6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15,9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0,86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467544" y="5924872"/>
            <a:ext cx="8229600" cy="960512"/>
          </a:xfrm>
        </p:spPr>
        <p:txBody>
          <a:bodyPr/>
          <a:lstStyle/>
          <a:p>
            <a:pPr marL="355600" indent="-3556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Muitos estudos buscam entender as relações de dependência entre variáveis de modo a construir modelos que permitam prever o comportamento de uma variável conhecendo-se os valores de outra ou outras variáveis</a:t>
            </a:r>
          </a:p>
          <a:p>
            <a:pPr marL="457200" indent="-457200" eaLnBrk="1" hangingPunct="1">
              <a:buFontTx/>
              <a:buNone/>
            </a:pPr>
            <a:endParaRPr lang="pt-BR" altLang="pt-BR" sz="1600" dirty="0"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3</a:t>
            </a:fld>
            <a:endParaRPr lang="pt-BR"/>
          </a:p>
        </p:txBody>
      </p:sp>
      <p:grpSp>
        <p:nvGrpSpPr>
          <p:cNvPr id="31" name="Grupo 30"/>
          <p:cNvGrpSpPr/>
          <p:nvPr/>
        </p:nvGrpSpPr>
        <p:grpSpPr>
          <a:xfrm>
            <a:off x="1989960" y="1687939"/>
            <a:ext cx="1861960" cy="1862909"/>
            <a:chOff x="853893" y="1710107"/>
            <a:chExt cx="1861960" cy="1862909"/>
          </a:xfrm>
        </p:grpSpPr>
        <p:sp>
          <p:nvSpPr>
            <p:cNvPr id="184" name="Retângulo 121"/>
            <p:cNvSpPr>
              <a:spLocks noChangeArrowheads="1"/>
            </p:cNvSpPr>
            <p:nvPr/>
          </p:nvSpPr>
          <p:spPr bwMode="auto">
            <a:xfrm>
              <a:off x="1511055" y="1710107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5" name="Retângulo 120"/>
            <p:cNvSpPr>
              <a:spLocks noChangeArrowheads="1"/>
            </p:cNvSpPr>
            <p:nvPr/>
          </p:nvSpPr>
          <p:spPr bwMode="auto">
            <a:xfrm>
              <a:off x="1292001" y="1929273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6" name="Retângulo 119"/>
            <p:cNvSpPr>
              <a:spLocks noChangeArrowheads="1"/>
            </p:cNvSpPr>
            <p:nvPr/>
          </p:nvSpPr>
          <p:spPr bwMode="auto">
            <a:xfrm>
              <a:off x="1072947" y="2148439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7" name="Retângulo 117"/>
            <p:cNvSpPr>
              <a:spLocks noChangeArrowheads="1"/>
            </p:cNvSpPr>
            <p:nvPr/>
          </p:nvSpPr>
          <p:spPr bwMode="auto">
            <a:xfrm>
              <a:off x="853893" y="2367604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26" name="Conector reto 25"/>
          <p:cNvCxnSpPr/>
          <p:nvPr/>
        </p:nvCxnSpPr>
        <p:spPr bwMode="auto">
          <a:xfrm flipV="1">
            <a:off x="1986639" y="1484784"/>
            <a:ext cx="1242036" cy="12579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triangle" w="lg" len="lg"/>
          </a:ln>
          <a:effectLst/>
        </p:spPr>
      </p:cxnSp>
      <p:sp>
        <p:nvSpPr>
          <p:cNvPr id="233" name="Retângulo 122"/>
          <p:cNvSpPr>
            <a:spLocks noChangeArrowheads="1"/>
          </p:cNvSpPr>
          <p:nvPr/>
        </p:nvSpPr>
        <p:spPr bwMode="auto">
          <a:xfrm>
            <a:off x="2362492" y="2284826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5" name="Retângulo 122"/>
          <p:cNvSpPr>
            <a:spLocks noChangeArrowheads="1"/>
          </p:cNvSpPr>
          <p:nvPr/>
        </p:nvSpPr>
        <p:spPr bwMode="auto">
          <a:xfrm>
            <a:off x="2585232" y="2067134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8" name="Retângulo 122"/>
          <p:cNvSpPr>
            <a:spLocks noChangeArrowheads="1"/>
          </p:cNvSpPr>
          <p:nvPr/>
        </p:nvSpPr>
        <p:spPr bwMode="auto">
          <a:xfrm>
            <a:off x="2807972" y="1845568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88" name="Retângulo 122"/>
          <p:cNvSpPr>
            <a:spLocks noChangeArrowheads="1"/>
          </p:cNvSpPr>
          <p:nvPr/>
        </p:nvSpPr>
        <p:spPr bwMode="auto">
          <a:xfrm>
            <a:off x="2153820" y="2509380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9" name="Grupo 28"/>
          <p:cNvGrpSpPr/>
          <p:nvPr/>
        </p:nvGrpSpPr>
        <p:grpSpPr>
          <a:xfrm>
            <a:off x="2209014" y="2564602"/>
            <a:ext cx="741560" cy="822302"/>
            <a:chOff x="1072947" y="2586770"/>
            <a:chExt cx="741560" cy="822302"/>
          </a:xfrm>
        </p:grpSpPr>
        <p:sp>
          <p:nvSpPr>
            <p:cNvPr id="189" name="Retângulo 123"/>
            <p:cNvSpPr>
              <a:spLocks noChangeArrowheads="1"/>
            </p:cNvSpPr>
            <p:nvPr/>
          </p:nvSpPr>
          <p:spPr bwMode="auto">
            <a:xfrm>
              <a:off x="1455861" y="275071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0" name="Retângulo 125"/>
            <p:cNvSpPr>
              <a:spLocks noChangeArrowheads="1"/>
            </p:cNvSpPr>
            <p:nvPr/>
          </p:nvSpPr>
          <p:spPr bwMode="auto">
            <a:xfrm>
              <a:off x="1251409" y="3079462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1" name="Retângulo 126"/>
            <p:cNvSpPr>
              <a:spLocks noChangeArrowheads="1"/>
            </p:cNvSpPr>
            <p:nvPr/>
          </p:nvSpPr>
          <p:spPr bwMode="auto">
            <a:xfrm>
              <a:off x="1292001" y="276532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92" name="Retângulo 127"/>
            <p:cNvSpPr>
              <a:spLocks noChangeArrowheads="1"/>
            </p:cNvSpPr>
            <p:nvPr/>
          </p:nvSpPr>
          <p:spPr bwMode="auto">
            <a:xfrm>
              <a:off x="1730109" y="2984489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3" name="Retângulo 128"/>
            <p:cNvSpPr>
              <a:spLocks noChangeArrowheads="1"/>
            </p:cNvSpPr>
            <p:nvPr/>
          </p:nvSpPr>
          <p:spPr bwMode="auto">
            <a:xfrm>
              <a:off x="1525657" y="3313237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4" name="Retângulo 129"/>
            <p:cNvSpPr>
              <a:spLocks noChangeArrowheads="1"/>
            </p:cNvSpPr>
            <p:nvPr/>
          </p:nvSpPr>
          <p:spPr bwMode="auto">
            <a:xfrm>
              <a:off x="1759313" y="335385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6" name="Retângulo 131"/>
            <p:cNvSpPr>
              <a:spLocks noChangeArrowheads="1"/>
            </p:cNvSpPr>
            <p:nvPr/>
          </p:nvSpPr>
          <p:spPr bwMode="auto">
            <a:xfrm>
              <a:off x="1730109" y="258677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7" name="Retângulo 132"/>
            <p:cNvSpPr>
              <a:spLocks noChangeArrowheads="1"/>
            </p:cNvSpPr>
            <p:nvPr/>
          </p:nvSpPr>
          <p:spPr bwMode="auto">
            <a:xfrm>
              <a:off x="1072947" y="3298628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69" name="Retângulo 127"/>
            <p:cNvSpPr>
              <a:spLocks noChangeArrowheads="1"/>
            </p:cNvSpPr>
            <p:nvPr/>
          </p:nvSpPr>
          <p:spPr bwMode="auto">
            <a:xfrm>
              <a:off x="1525657" y="3050785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9216" name="CaixaDeTexto 9215"/>
          <p:cNvSpPr txBox="1"/>
          <p:nvPr/>
        </p:nvSpPr>
        <p:spPr>
          <a:xfrm>
            <a:off x="2917544" y="2354116"/>
            <a:ext cx="27924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70" name="CaixaDeTexto 269"/>
          <p:cNvSpPr txBox="1"/>
          <p:nvPr/>
        </p:nvSpPr>
        <p:spPr>
          <a:xfrm>
            <a:off x="3144186" y="2122356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sp>
        <p:nvSpPr>
          <p:cNvPr id="271" name="CaixaDeTexto 270"/>
          <p:cNvSpPr txBox="1"/>
          <p:nvPr/>
        </p:nvSpPr>
        <p:spPr>
          <a:xfrm>
            <a:off x="3319960" y="1907105"/>
            <a:ext cx="31290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72" name="CaixaDeTexto 271"/>
          <p:cNvSpPr txBox="1"/>
          <p:nvPr/>
        </p:nvSpPr>
        <p:spPr>
          <a:xfrm>
            <a:off x="3582294" y="1687939"/>
            <a:ext cx="2696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</a:p>
        </p:txBody>
      </p:sp>
      <p:grpSp>
        <p:nvGrpSpPr>
          <p:cNvPr id="9237" name="Grupo 9236"/>
          <p:cNvGrpSpPr/>
          <p:nvPr/>
        </p:nvGrpSpPr>
        <p:grpSpPr>
          <a:xfrm>
            <a:off x="7463246" y="1497184"/>
            <a:ext cx="1573250" cy="461665"/>
            <a:chOff x="7307205" y="1650709"/>
            <a:chExt cx="1573250" cy="461665"/>
          </a:xfrm>
        </p:grpSpPr>
        <p:sp>
          <p:nvSpPr>
            <p:cNvPr id="9234" name="Retângulo 9233"/>
            <p:cNvSpPr/>
            <p:nvPr/>
          </p:nvSpPr>
          <p:spPr>
            <a:xfrm>
              <a:off x="7652234" y="1650709"/>
              <a:ext cx="122822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mesma posição</a:t>
              </a:r>
            </a:p>
            <a:p>
              <a:pPr algn="ctr"/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geográfica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9236" name="Conector de seta reta 9235"/>
            <p:cNvCxnSpPr/>
            <p:nvPr/>
          </p:nvCxnSpPr>
          <p:spPr bwMode="auto">
            <a:xfrm flipH="1">
              <a:off x="7307205" y="188154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</p:cxnSp>
      </p:grpSp>
      <p:sp>
        <p:nvSpPr>
          <p:cNvPr id="2" name="Retângulo 1"/>
          <p:cNvSpPr/>
          <p:nvPr/>
        </p:nvSpPr>
        <p:spPr>
          <a:xfrm>
            <a:off x="177279" y="1787332"/>
            <a:ext cx="1874441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Em imagens ou mapas, o relacionamento aparece pela posição geográfica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44" name="Retângulo 43"/>
          <p:cNvSpPr/>
          <p:nvPr/>
        </p:nvSpPr>
        <p:spPr>
          <a:xfrm>
            <a:off x="3347864" y="3882534"/>
            <a:ext cx="255831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 algn="ctr"/>
            <a:r>
              <a:rPr lang="pt-BR" altLang="pt-BR" dirty="0">
                <a:latin typeface="Tahoma" panose="020B0604030504040204" pitchFamily="34" charset="0"/>
                <a:cs typeface="Times New Roman" charset="0"/>
              </a:rPr>
              <a:t>Diagrama de dispersão</a:t>
            </a:r>
            <a:endParaRPr lang="pt-BR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233" grpId="0" animBg="1"/>
      <p:bldP spid="245" grpId="0" animBg="1"/>
      <p:bldP spid="248" grpId="0" animBg="1"/>
      <p:bldP spid="188" grpId="0" animBg="1"/>
      <p:bldP spid="4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Relacionamento entre Variáveis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19" name="Rectangle 3"/>
          <p:cNvSpPr txBox="1">
            <a:spLocks noChangeArrowheads="1"/>
          </p:cNvSpPr>
          <p:nvPr/>
        </p:nvSpPr>
        <p:spPr bwMode="auto">
          <a:xfrm>
            <a:off x="467544" y="1556792"/>
            <a:ext cx="6336704" cy="3564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457200" indent="-4572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  <a:cs typeface="Times New Roman" charset="0"/>
              </a:rPr>
              <a:t>Por exemplo:</a:t>
            </a:r>
          </a:p>
        </p:txBody>
      </p:sp>
      <p:grpSp>
        <p:nvGrpSpPr>
          <p:cNvPr id="9223" name="Grupo 9222"/>
          <p:cNvGrpSpPr/>
          <p:nvPr/>
        </p:nvGrpSpPr>
        <p:grpSpPr>
          <a:xfrm>
            <a:off x="6737208" y="4118512"/>
            <a:ext cx="1955024" cy="1193149"/>
            <a:chOff x="7109409" y="4797152"/>
            <a:chExt cx="1955024" cy="1193149"/>
          </a:xfrm>
        </p:grpSpPr>
        <p:cxnSp>
          <p:nvCxnSpPr>
            <p:cNvPr id="5" name="Conector reto 4"/>
            <p:cNvCxnSpPr/>
            <p:nvPr/>
          </p:nvCxnSpPr>
          <p:spPr bwMode="auto">
            <a:xfrm>
              <a:off x="7380312" y="4797152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9220" name="Conector reto 9219"/>
            <p:cNvCxnSpPr/>
            <p:nvPr/>
          </p:nvCxnSpPr>
          <p:spPr bwMode="auto">
            <a:xfrm>
              <a:off x="7380312" y="5711552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9221" name="CaixaDeTexto 9220"/>
            <p:cNvSpPr txBox="1"/>
            <p:nvPr/>
          </p:nvSpPr>
          <p:spPr>
            <a:xfrm rot="16200000">
              <a:off x="7074624" y="5115852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6" name="CaixaDeTexto 135"/>
            <p:cNvSpPr txBox="1"/>
            <p:nvPr/>
          </p:nvSpPr>
          <p:spPr>
            <a:xfrm>
              <a:off x="8493443" y="5713302"/>
              <a:ext cx="57099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tempo</a:t>
              </a:r>
            </a:p>
          </p:txBody>
        </p:sp>
        <p:sp>
          <p:nvSpPr>
            <p:cNvPr id="9222" name="Forma livre 9221"/>
            <p:cNvSpPr/>
            <p:nvPr/>
          </p:nvSpPr>
          <p:spPr bwMode="auto">
            <a:xfrm>
              <a:off x="7492621" y="5063319"/>
              <a:ext cx="1105469" cy="451270"/>
            </a:xfrm>
            <a:custGeom>
              <a:avLst/>
              <a:gdLst>
                <a:gd name="connsiteX0" fmla="*/ 0 w 1105469"/>
                <a:gd name="connsiteY0" fmla="*/ 0 h 451270"/>
                <a:gd name="connsiteX1" fmla="*/ 0 w 1105469"/>
                <a:gd name="connsiteY1" fmla="*/ 0 h 451270"/>
                <a:gd name="connsiteX2" fmla="*/ 95534 w 1105469"/>
                <a:gd name="connsiteY2" fmla="*/ 68239 h 451270"/>
                <a:gd name="connsiteX3" fmla="*/ 136478 w 1105469"/>
                <a:gd name="connsiteY3" fmla="*/ 109182 h 451270"/>
                <a:gd name="connsiteX4" fmla="*/ 259307 w 1105469"/>
                <a:gd name="connsiteY4" fmla="*/ 177421 h 451270"/>
                <a:gd name="connsiteX5" fmla="*/ 341194 w 1105469"/>
                <a:gd name="connsiteY5" fmla="*/ 232012 h 451270"/>
                <a:gd name="connsiteX6" fmla="*/ 382137 w 1105469"/>
                <a:gd name="connsiteY6" fmla="*/ 272956 h 451270"/>
                <a:gd name="connsiteX7" fmla="*/ 464024 w 1105469"/>
                <a:gd name="connsiteY7" fmla="*/ 300251 h 451270"/>
                <a:gd name="connsiteX8" fmla="*/ 586854 w 1105469"/>
                <a:gd name="connsiteY8" fmla="*/ 354842 h 451270"/>
                <a:gd name="connsiteX9" fmla="*/ 709683 w 1105469"/>
                <a:gd name="connsiteY9" fmla="*/ 395785 h 451270"/>
                <a:gd name="connsiteX10" fmla="*/ 941695 w 1105469"/>
                <a:gd name="connsiteY10" fmla="*/ 423081 h 451270"/>
                <a:gd name="connsiteX11" fmla="*/ 1050878 w 1105469"/>
                <a:gd name="connsiteY11" fmla="*/ 450377 h 451270"/>
                <a:gd name="connsiteX12" fmla="*/ 1105469 w 1105469"/>
                <a:gd name="connsiteY12" fmla="*/ 450377 h 451270"/>
                <a:gd name="connsiteX13" fmla="*/ 1091821 w 1105469"/>
                <a:gd name="connsiteY13" fmla="*/ 450377 h 4512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05469" h="451270">
                  <a:moveTo>
                    <a:pt x="0" y="0"/>
                  </a:moveTo>
                  <a:lnTo>
                    <a:pt x="0" y="0"/>
                  </a:lnTo>
                  <a:cubicBezTo>
                    <a:pt x="31845" y="22746"/>
                    <a:pt x="64975" y="43792"/>
                    <a:pt x="95534" y="68239"/>
                  </a:cubicBezTo>
                  <a:cubicBezTo>
                    <a:pt x="110606" y="80296"/>
                    <a:pt x="121243" y="97332"/>
                    <a:pt x="136478" y="109182"/>
                  </a:cubicBezTo>
                  <a:cubicBezTo>
                    <a:pt x="206873" y="163934"/>
                    <a:pt x="197530" y="156830"/>
                    <a:pt x="259307" y="177421"/>
                  </a:cubicBezTo>
                  <a:cubicBezTo>
                    <a:pt x="286603" y="195618"/>
                    <a:pt x="317997" y="208815"/>
                    <a:pt x="341194" y="232012"/>
                  </a:cubicBezTo>
                  <a:cubicBezTo>
                    <a:pt x="354842" y="245660"/>
                    <a:pt x="365265" y="263583"/>
                    <a:pt x="382137" y="272956"/>
                  </a:cubicBezTo>
                  <a:cubicBezTo>
                    <a:pt x="407288" y="286929"/>
                    <a:pt x="464024" y="300251"/>
                    <a:pt x="464024" y="300251"/>
                  </a:cubicBezTo>
                  <a:cubicBezTo>
                    <a:pt x="528908" y="343508"/>
                    <a:pt x="489405" y="322359"/>
                    <a:pt x="586854" y="354842"/>
                  </a:cubicBezTo>
                  <a:lnTo>
                    <a:pt x="709683" y="395785"/>
                  </a:lnTo>
                  <a:cubicBezTo>
                    <a:pt x="735545" y="404405"/>
                    <a:pt x="936558" y="422567"/>
                    <a:pt x="941695" y="423081"/>
                  </a:cubicBezTo>
                  <a:cubicBezTo>
                    <a:pt x="984217" y="437255"/>
                    <a:pt x="1001471" y="444887"/>
                    <a:pt x="1050878" y="450377"/>
                  </a:cubicBezTo>
                  <a:cubicBezTo>
                    <a:pt x="1068964" y="452387"/>
                    <a:pt x="1087272" y="450377"/>
                    <a:pt x="1105469" y="450377"/>
                  </a:cubicBezTo>
                  <a:lnTo>
                    <a:pt x="1091821" y="450377"/>
                  </a:lnTo>
                </a:path>
              </a:pathLst>
            </a:custGeom>
            <a:noFill/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Grupo 16"/>
          <p:cNvGrpSpPr/>
          <p:nvPr/>
        </p:nvGrpSpPr>
        <p:grpSpPr>
          <a:xfrm>
            <a:off x="6749791" y="2594376"/>
            <a:ext cx="1730603" cy="1152205"/>
            <a:chOff x="6749791" y="3482880"/>
            <a:chExt cx="1730603" cy="1152205"/>
          </a:xfrm>
        </p:grpSpPr>
        <p:cxnSp>
          <p:nvCxnSpPr>
            <p:cNvPr id="173" name="Conector reto 172"/>
            <p:cNvCxnSpPr/>
            <p:nvPr/>
          </p:nvCxnSpPr>
          <p:spPr bwMode="auto">
            <a:xfrm>
              <a:off x="7020693" y="3482880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74" name="Conector reto 173"/>
            <p:cNvCxnSpPr/>
            <p:nvPr/>
          </p:nvCxnSpPr>
          <p:spPr bwMode="auto">
            <a:xfrm>
              <a:off x="7020693" y="4397280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5" name="CaixaDeTexto 174"/>
            <p:cNvSpPr txBox="1"/>
            <p:nvPr/>
          </p:nvSpPr>
          <p:spPr>
            <a:xfrm rot="16200000">
              <a:off x="6485776" y="3801580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Umidade</a:t>
              </a:r>
            </a:p>
          </p:txBody>
        </p:sp>
        <p:sp>
          <p:nvSpPr>
            <p:cNvPr id="176" name="CaixaDeTexto 175"/>
            <p:cNvSpPr txBox="1"/>
            <p:nvPr/>
          </p:nvSpPr>
          <p:spPr>
            <a:xfrm>
              <a:off x="8133824" y="4358086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  <p:grpSp>
          <p:nvGrpSpPr>
            <p:cNvPr id="104" name="Grupo 103"/>
            <p:cNvGrpSpPr/>
            <p:nvPr/>
          </p:nvGrpSpPr>
          <p:grpSpPr>
            <a:xfrm>
              <a:off x="7054974" y="3645024"/>
              <a:ext cx="1132887" cy="720080"/>
              <a:chOff x="7054937" y="2660337"/>
              <a:chExt cx="1132887" cy="720080"/>
            </a:xfrm>
          </p:grpSpPr>
          <p:grpSp>
            <p:nvGrpSpPr>
              <p:cNvPr id="108" name="Grupo 107"/>
              <p:cNvGrpSpPr/>
              <p:nvPr/>
            </p:nvGrpSpPr>
            <p:grpSpPr>
              <a:xfrm>
                <a:off x="7101622" y="2948369"/>
                <a:ext cx="108000" cy="108000"/>
                <a:chOff x="7101622" y="2948369"/>
                <a:chExt cx="108000" cy="108000"/>
              </a:xfrm>
            </p:grpSpPr>
            <p:cxnSp>
              <p:nvCxnSpPr>
                <p:cNvPr id="211" name="Conector reto 210"/>
                <p:cNvCxnSpPr/>
                <p:nvPr/>
              </p:nvCxnSpPr>
              <p:spPr bwMode="auto">
                <a:xfrm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2" name="Conector reto 211"/>
                <p:cNvCxnSpPr/>
                <p:nvPr/>
              </p:nvCxnSpPr>
              <p:spPr bwMode="auto">
                <a:xfrm rot="5400000">
                  <a:off x="7155622" y="294836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9" name="Grupo 108"/>
              <p:cNvGrpSpPr/>
              <p:nvPr/>
            </p:nvGrpSpPr>
            <p:grpSpPr>
              <a:xfrm>
                <a:off x="7236245" y="3272417"/>
                <a:ext cx="108000" cy="108000"/>
                <a:chOff x="7236245" y="3272417"/>
                <a:chExt cx="108000" cy="108000"/>
              </a:xfrm>
            </p:grpSpPr>
            <p:cxnSp>
              <p:nvCxnSpPr>
                <p:cNvPr id="209" name="Conector reto 208"/>
                <p:cNvCxnSpPr/>
                <p:nvPr/>
              </p:nvCxnSpPr>
              <p:spPr bwMode="auto">
                <a:xfrm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10" name="Conector reto 209"/>
                <p:cNvCxnSpPr/>
                <p:nvPr/>
              </p:nvCxnSpPr>
              <p:spPr bwMode="auto">
                <a:xfrm rot="5400000">
                  <a:off x="7290245" y="327241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0" name="Grupo 109"/>
              <p:cNvGrpSpPr/>
              <p:nvPr/>
            </p:nvGrpSpPr>
            <p:grpSpPr>
              <a:xfrm>
                <a:off x="7265290" y="2876361"/>
                <a:ext cx="108000" cy="108000"/>
                <a:chOff x="7265290" y="2876361"/>
                <a:chExt cx="108000" cy="108000"/>
              </a:xfrm>
            </p:grpSpPr>
            <p:cxnSp>
              <p:nvCxnSpPr>
                <p:cNvPr id="207" name="Conector reto 206"/>
                <p:cNvCxnSpPr/>
                <p:nvPr/>
              </p:nvCxnSpPr>
              <p:spPr bwMode="auto">
                <a:xfrm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8" name="Conector reto 207"/>
                <p:cNvCxnSpPr/>
                <p:nvPr/>
              </p:nvCxnSpPr>
              <p:spPr bwMode="auto">
                <a:xfrm rot="5400000">
                  <a:off x="7319290" y="287636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1" name="Grupo 110"/>
              <p:cNvGrpSpPr/>
              <p:nvPr/>
            </p:nvGrpSpPr>
            <p:grpSpPr>
              <a:xfrm>
                <a:off x="8025824" y="2984385"/>
                <a:ext cx="108000" cy="108000"/>
                <a:chOff x="8025824" y="2984385"/>
                <a:chExt cx="108000" cy="108000"/>
              </a:xfrm>
            </p:grpSpPr>
            <p:cxnSp>
              <p:nvCxnSpPr>
                <p:cNvPr id="205" name="Conector reto 204"/>
                <p:cNvCxnSpPr/>
                <p:nvPr/>
              </p:nvCxnSpPr>
              <p:spPr bwMode="auto">
                <a:xfrm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6" name="Conector reto 205"/>
                <p:cNvCxnSpPr/>
                <p:nvPr/>
              </p:nvCxnSpPr>
              <p:spPr bwMode="auto">
                <a:xfrm rot="5400000">
                  <a:off x="8079824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2" name="Grupo 111"/>
              <p:cNvGrpSpPr/>
              <p:nvPr/>
            </p:nvGrpSpPr>
            <p:grpSpPr>
              <a:xfrm>
                <a:off x="7971824" y="2912377"/>
                <a:ext cx="108000" cy="108000"/>
                <a:chOff x="7971824" y="2912377"/>
                <a:chExt cx="108000" cy="108000"/>
              </a:xfrm>
            </p:grpSpPr>
            <p:cxnSp>
              <p:nvCxnSpPr>
                <p:cNvPr id="203" name="Conector reto 202"/>
                <p:cNvCxnSpPr/>
                <p:nvPr/>
              </p:nvCxnSpPr>
              <p:spPr bwMode="auto">
                <a:xfrm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4" name="Conector reto 203"/>
                <p:cNvCxnSpPr/>
                <p:nvPr/>
              </p:nvCxnSpPr>
              <p:spPr bwMode="auto">
                <a:xfrm rot="5400000">
                  <a:off x="8025824" y="291237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3" name="Grupo 112"/>
              <p:cNvGrpSpPr/>
              <p:nvPr/>
            </p:nvGrpSpPr>
            <p:grpSpPr>
              <a:xfrm>
                <a:off x="8079824" y="3164393"/>
                <a:ext cx="108000" cy="108000"/>
                <a:chOff x="8079824" y="3164393"/>
                <a:chExt cx="108000" cy="108000"/>
              </a:xfrm>
            </p:grpSpPr>
            <p:cxnSp>
              <p:nvCxnSpPr>
                <p:cNvPr id="201" name="Conector reto 200"/>
                <p:cNvCxnSpPr/>
                <p:nvPr/>
              </p:nvCxnSpPr>
              <p:spPr bwMode="auto">
                <a:xfrm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2" name="Conector reto 201"/>
                <p:cNvCxnSpPr/>
                <p:nvPr/>
              </p:nvCxnSpPr>
              <p:spPr bwMode="auto">
                <a:xfrm rot="5400000">
                  <a:off x="8133824" y="316439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4" name="Grupo 113"/>
              <p:cNvGrpSpPr/>
              <p:nvPr/>
            </p:nvGrpSpPr>
            <p:grpSpPr>
              <a:xfrm>
                <a:off x="7632532" y="2984385"/>
                <a:ext cx="108000" cy="108000"/>
                <a:chOff x="7632532" y="2984385"/>
                <a:chExt cx="108000" cy="108000"/>
              </a:xfrm>
            </p:grpSpPr>
            <p:cxnSp>
              <p:nvCxnSpPr>
                <p:cNvPr id="199" name="Conector reto 198"/>
                <p:cNvCxnSpPr/>
                <p:nvPr/>
              </p:nvCxnSpPr>
              <p:spPr bwMode="auto">
                <a:xfrm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200" name="Conector reto 199"/>
                <p:cNvCxnSpPr/>
                <p:nvPr/>
              </p:nvCxnSpPr>
              <p:spPr bwMode="auto">
                <a:xfrm rot="5400000">
                  <a:off x="7686532" y="2984385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5" name="Grupo 114"/>
              <p:cNvGrpSpPr/>
              <p:nvPr/>
            </p:nvGrpSpPr>
            <p:grpSpPr>
              <a:xfrm>
                <a:off x="7579124" y="2804353"/>
                <a:ext cx="108000" cy="108000"/>
                <a:chOff x="7579124" y="2804353"/>
                <a:chExt cx="108000" cy="108000"/>
              </a:xfrm>
            </p:grpSpPr>
            <p:cxnSp>
              <p:nvCxnSpPr>
                <p:cNvPr id="197" name="Conector reto 196"/>
                <p:cNvCxnSpPr/>
                <p:nvPr/>
              </p:nvCxnSpPr>
              <p:spPr bwMode="auto">
                <a:xfrm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8" name="Conector reto 197"/>
                <p:cNvCxnSpPr/>
                <p:nvPr/>
              </p:nvCxnSpPr>
              <p:spPr bwMode="auto">
                <a:xfrm rot="5400000">
                  <a:off x="7633124" y="280435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6" name="Grupo 115"/>
              <p:cNvGrpSpPr/>
              <p:nvPr/>
            </p:nvGrpSpPr>
            <p:grpSpPr>
              <a:xfrm>
                <a:off x="8013242" y="2768361"/>
                <a:ext cx="108000" cy="108000"/>
                <a:chOff x="8079824" y="2808667"/>
                <a:chExt cx="108000" cy="108000"/>
              </a:xfrm>
            </p:grpSpPr>
            <p:cxnSp>
              <p:nvCxnSpPr>
                <p:cNvPr id="195" name="Conector reto 194"/>
                <p:cNvCxnSpPr/>
                <p:nvPr/>
              </p:nvCxnSpPr>
              <p:spPr bwMode="auto">
                <a:xfrm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6" name="Conector reto 195"/>
                <p:cNvCxnSpPr/>
                <p:nvPr/>
              </p:nvCxnSpPr>
              <p:spPr bwMode="auto">
                <a:xfrm rot="5400000">
                  <a:off x="8133824" y="280866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7" name="Grupo 116"/>
              <p:cNvGrpSpPr/>
              <p:nvPr/>
            </p:nvGrpSpPr>
            <p:grpSpPr>
              <a:xfrm>
                <a:off x="7673154" y="2876361"/>
                <a:ext cx="108000" cy="108000"/>
                <a:chOff x="7971824" y="2588883"/>
                <a:chExt cx="108000" cy="108000"/>
              </a:xfrm>
            </p:grpSpPr>
            <p:cxnSp>
              <p:nvCxnSpPr>
                <p:cNvPr id="193" name="Conector reto 192"/>
                <p:cNvCxnSpPr/>
                <p:nvPr/>
              </p:nvCxnSpPr>
              <p:spPr bwMode="auto">
                <a:xfrm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94" name="Conector reto 193"/>
                <p:cNvCxnSpPr/>
                <p:nvPr/>
              </p:nvCxnSpPr>
              <p:spPr bwMode="auto">
                <a:xfrm rot="5400000">
                  <a:off x="8025824" y="258888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8" name="Grupo 117"/>
              <p:cNvGrpSpPr/>
              <p:nvPr/>
            </p:nvGrpSpPr>
            <p:grpSpPr>
              <a:xfrm>
                <a:off x="7714572" y="3128401"/>
                <a:ext cx="108000" cy="108000"/>
                <a:chOff x="8079824" y="2881229"/>
                <a:chExt cx="108000" cy="108000"/>
              </a:xfrm>
            </p:grpSpPr>
            <p:cxnSp>
              <p:nvCxnSpPr>
                <p:cNvPr id="171" name="Conector reto 170"/>
                <p:cNvCxnSpPr/>
                <p:nvPr/>
              </p:nvCxnSpPr>
              <p:spPr bwMode="auto">
                <a:xfrm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2" name="Conector reto 171"/>
                <p:cNvCxnSpPr/>
                <p:nvPr/>
              </p:nvCxnSpPr>
              <p:spPr bwMode="auto">
                <a:xfrm rot="5400000">
                  <a:off x="8133824" y="288122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9" name="Grupo 118"/>
              <p:cNvGrpSpPr/>
              <p:nvPr/>
            </p:nvGrpSpPr>
            <p:grpSpPr>
              <a:xfrm>
                <a:off x="7223668" y="3020377"/>
                <a:ext cx="108000" cy="108000"/>
                <a:chOff x="8079824" y="2570899"/>
                <a:chExt cx="108000" cy="108000"/>
              </a:xfrm>
            </p:grpSpPr>
            <p:cxnSp>
              <p:nvCxnSpPr>
                <p:cNvPr id="165" name="Conector reto 164"/>
                <p:cNvCxnSpPr/>
                <p:nvPr/>
              </p:nvCxnSpPr>
              <p:spPr bwMode="auto">
                <a:xfrm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8" name="Conector reto 167"/>
                <p:cNvCxnSpPr/>
                <p:nvPr/>
              </p:nvCxnSpPr>
              <p:spPr bwMode="auto">
                <a:xfrm rot="5400000">
                  <a:off x="8133824" y="257089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0" name="Grupo 119"/>
              <p:cNvGrpSpPr/>
              <p:nvPr/>
            </p:nvGrpSpPr>
            <p:grpSpPr>
              <a:xfrm>
                <a:off x="7319290" y="3272417"/>
                <a:ext cx="108000" cy="108000"/>
                <a:chOff x="8079824" y="2768939"/>
                <a:chExt cx="108000" cy="108000"/>
              </a:xfrm>
            </p:grpSpPr>
            <p:cxnSp>
              <p:nvCxnSpPr>
                <p:cNvPr id="159" name="Conector reto 158"/>
                <p:cNvCxnSpPr/>
                <p:nvPr/>
              </p:nvCxnSpPr>
              <p:spPr bwMode="auto">
                <a:xfrm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2" name="Conector reto 161"/>
                <p:cNvCxnSpPr/>
                <p:nvPr/>
              </p:nvCxnSpPr>
              <p:spPr bwMode="auto">
                <a:xfrm rot="5400000">
                  <a:off x="8133824" y="2768939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1" name="Grupo 120"/>
              <p:cNvGrpSpPr/>
              <p:nvPr/>
            </p:nvGrpSpPr>
            <p:grpSpPr>
              <a:xfrm>
                <a:off x="7373290" y="2732345"/>
                <a:ext cx="108000" cy="108000"/>
                <a:chOff x="8079824" y="2462216"/>
                <a:chExt cx="108000" cy="108000"/>
              </a:xfrm>
            </p:grpSpPr>
            <p:cxnSp>
              <p:nvCxnSpPr>
                <p:cNvPr id="153" name="Conector reto 152"/>
                <p:cNvCxnSpPr/>
                <p:nvPr/>
              </p:nvCxnSpPr>
              <p:spPr bwMode="auto">
                <a:xfrm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6" name="Conector reto 155"/>
                <p:cNvCxnSpPr/>
                <p:nvPr/>
              </p:nvCxnSpPr>
              <p:spPr bwMode="auto">
                <a:xfrm rot="5400000">
                  <a:off x="8133824" y="246221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2" name="Grupo 121"/>
              <p:cNvGrpSpPr/>
              <p:nvPr/>
            </p:nvGrpSpPr>
            <p:grpSpPr>
              <a:xfrm>
                <a:off x="7340871" y="2804353"/>
                <a:ext cx="108000" cy="108000"/>
                <a:chOff x="8079824" y="2387402"/>
                <a:chExt cx="108000" cy="108000"/>
              </a:xfrm>
            </p:grpSpPr>
            <p:cxnSp>
              <p:nvCxnSpPr>
                <p:cNvPr id="149" name="Conector reto 148"/>
                <p:cNvCxnSpPr/>
                <p:nvPr/>
              </p:nvCxnSpPr>
              <p:spPr bwMode="auto">
                <a:xfrm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0" name="Conector reto 149"/>
                <p:cNvCxnSpPr/>
                <p:nvPr/>
              </p:nvCxnSpPr>
              <p:spPr bwMode="auto">
                <a:xfrm rot="5400000">
                  <a:off x="8133824" y="23874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3" name="Grupo 122"/>
              <p:cNvGrpSpPr/>
              <p:nvPr/>
            </p:nvGrpSpPr>
            <p:grpSpPr>
              <a:xfrm>
                <a:off x="7054937" y="2732345"/>
                <a:ext cx="108000" cy="108000"/>
                <a:chOff x="8079824" y="2071827"/>
                <a:chExt cx="108000" cy="108000"/>
              </a:xfrm>
            </p:grpSpPr>
            <p:cxnSp>
              <p:nvCxnSpPr>
                <p:cNvPr id="146" name="Conector reto 145"/>
                <p:cNvCxnSpPr/>
                <p:nvPr/>
              </p:nvCxnSpPr>
              <p:spPr bwMode="auto">
                <a:xfrm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7" name="Conector reto 146"/>
                <p:cNvCxnSpPr/>
                <p:nvPr/>
              </p:nvCxnSpPr>
              <p:spPr bwMode="auto">
                <a:xfrm rot="5400000">
                  <a:off x="8133824" y="207182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4" name="Grupo 123"/>
              <p:cNvGrpSpPr/>
              <p:nvPr/>
            </p:nvGrpSpPr>
            <p:grpSpPr>
              <a:xfrm>
                <a:off x="7863824" y="2696353"/>
                <a:ext cx="108000" cy="108000"/>
                <a:chOff x="7632532" y="2900781"/>
                <a:chExt cx="108000" cy="108000"/>
              </a:xfrm>
            </p:grpSpPr>
            <p:cxnSp>
              <p:nvCxnSpPr>
                <p:cNvPr id="144" name="Conector reto 143"/>
                <p:cNvCxnSpPr/>
                <p:nvPr/>
              </p:nvCxnSpPr>
              <p:spPr bwMode="auto">
                <a:xfrm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5" name="Conector reto 144"/>
                <p:cNvCxnSpPr/>
                <p:nvPr/>
              </p:nvCxnSpPr>
              <p:spPr bwMode="auto">
                <a:xfrm rot="5400000">
                  <a:off x="7686532" y="2900781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5" name="Grupo 124"/>
              <p:cNvGrpSpPr/>
              <p:nvPr/>
            </p:nvGrpSpPr>
            <p:grpSpPr>
              <a:xfrm>
                <a:off x="7829494" y="2912377"/>
                <a:ext cx="108000" cy="108000"/>
                <a:chOff x="7632532" y="2934002"/>
                <a:chExt cx="108000" cy="108000"/>
              </a:xfrm>
            </p:grpSpPr>
            <p:cxnSp>
              <p:nvCxnSpPr>
                <p:cNvPr id="139" name="Conector reto 138"/>
                <p:cNvCxnSpPr/>
                <p:nvPr/>
              </p:nvCxnSpPr>
              <p:spPr bwMode="auto">
                <a:xfrm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3" name="Conector reto 142"/>
                <p:cNvCxnSpPr/>
                <p:nvPr/>
              </p:nvCxnSpPr>
              <p:spPr bwMode="auto">
                <a:xfrm rot="5400000">
                  <a:off x="7686532" y="293400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6" name="Grupo 125"/>
              <p:cNvGrpSpPr/>
              <p:nvPr/>
            </p:nvGrpSpPr>
            <p:grpSpPr>
              <a:xfrm>
                <a:off x="7394871" y="3056393"/>
                <a:ext cx="108000" cy="108000"/>
                <a:chOff x="7632532" y="2919343"/>
                <a:chExt cx="108000" cy="108000"/>
              </a:xfrm>
            </p:grpSpPr>
            <p:cxnSp>
              <p:nvCxnSpPr>
                <p:cNvPr id="137" name="Conector reto 136"/>
                <p:cNvCxnSpPr/>
                <p:nvPr/>
              </p:nvCxnSpPr>
              <p:spPr bwMode="auto">
                <a:xfrm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8" name="Conector reto 137"/>
                <p:cNvCxnSpPr/>
                <p:nvPr/>
              </p:nvCxnSpPr>
              <p:spPr bwMode="auto">
                <a:xfrm rot="5400000">
                  <a:off x="7686532" y="291934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7" name="Grupo 126"/>
              <p:cNvGrpSpPr/>
              <p:nvPr/>
            </p:nvGrpSpPr>
            <p:grpSpPr>
              <a:xfrm>
                <a:off x="7735413" y="2660337"/>
                <a:ext cx="108000" cy="108000"/>
                <a:chOff x="7632532" y="2619147"/>
                <a:chExt cx="108000" cy="108000"/>
              </a:xfrm>
            </p:grpSpPr>
            <p:cxnSp>
              <p:nvCxnSpPr>
                <p:cNvPr id="134" name="Conector reto 133"/>
                <p:cNvCxnSpPr/>
                <p:nvPr/>
              </p:nvCxnSpPr>
              <p:spPr bwMode="auto">
                <a:xfrm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5" name="Conector reto 134"/>
                <p:cNvCxnSpPr/>
                <p:nvPr/>
              </p:nvCxnSpPr>
              <p:spPr bwMode="auto">
                <a:xfrm rot="5400000">
                  <a:off x="7686532" y="2619147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8" name="Grupo 127"/>
              <p:cNvGrpSpPr/>
              <p:nvPr/>
            </p:nvGrpSpPr>
            <p:grpSpPr>
              <a:xfrm>
                <a:off x="7211457" y="3200409"/>
                <a:ext cx="108000" cy="108000"/>
                <a:chOff x="7632532" y="2824876"/>
                <a:chExt cx="108000" cy="108000"/>
              </a:xfrm>
            </p:grpSpPr>
            <p:cxnSp>
              <p:nvCxnSpPr>
                <p:cNvPr id="132" name="Conector reto 131"/>
                <p:cNvCxnSpPr/>
                <p:nvPr/>
              </p:nvCxnSpPr>
              <p:spPr bwMode="auto">
                <a:xfrm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3" name="Conector reto 132"/>
                <p:cNvCxnSpPr/>
                <p:nvPr/>
              </p:nvCxnSpPr>
              <p:spPr bwMode="auto">
                <a:xfrm rot="5400000">
                  <a:off x="7686532" y="2824876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29" name="Grupo 128"/>
              <p:cNvGrpSpPr/>
              <p:nvPr/>
            </p:nvGrpSpPr>
            <p:grpSpPr>
              <a:xfrm>
                <a:off x="7918928" y="3128401"/>
                <a:ext cx="108000" cy="108000"/>
                <a:chOff x="7632532" y="3290613"/>
                <a:chExt cx="108000" cy="108000"/>
              </a:xfrm>
            </p:grpSpPr>
            <p:cxnSp>
              <p:nvCxnSpPr>
                <p:cNvPr id="130" name="Conector reto 129"/>
                <p:cNvCxnSpPr/>
                <p:nvPr/>
              </p:nvCxnSpPr>
              <p:spPr bwMode="auto">
                <a:xfrm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31" name="Conector reto 130"/>
                <p:cNvCxnSpPr/>
                <p:nvPr/>
              </p:nvCxnSpPr>
              <p:spPr bwMode="auto">
                <a:xfrm rot="5400000">
                  <a:off x="7686532" y="3290613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</p:grpSp>
      <p:sp>
        <p:nvSpPr>
          <p:cNvPr id="14" name="Retângulo 13"/>
          <p:cNvSpPr/>
          <p:nvPr/>
        </p:nvSpPr>
        <p:spPr>
          <a:xfrm>
            <a:off x="467544" y="5652537"/>
            <a:ext cx="663407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biomassa, espera-se que tenha havido uma diminuição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Quanto à umidade, nada podemos afirmar</a:t>
            </a:r>
          </a:p>
        </p:txBody>
      </p:sp>
      <p:sp>
        <p:nvSpPr>
          <p:cNvPr id="15" name="Retângulo 14"/>
          <p:cNvSpPr/>
          <p:nvPr/>
        </p:nvSpPr>
        <p:spPr>
          <a:xfrm>
            <a:off x="465338" y="4046155"/>
            <a:ext cx="5906862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Se observarmos uma diminuição do valor deste índice de vegetação ao longo do tempo, o que podemos concluir quanto à mudança na biomassa da vegetação e na umidade superficial do solo deste lugar?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467544" y="1964432"/>
            <a:ext cx="5904656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altLang="pt-BR" kern="0" dirty="0">
                <a:latin typeface="Tahoma" panose="020B0604030504040204" pitchFamily="34" charset="0"/>
                <a:cs typeface="Times New Roman" charset="0"/>
              </a:rPr>
              <a:t>Considere que um determinado índice de vegetação (IV) apresenta valores baixos para vegetações com pequena biomassa e apresenta valores altos para vegetações com grande biomassa. Por outro lado, este mesmo índice não tem qualquer relação com a umidade superficial do solo.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0" name="Grupo 19"/>
          <p:cNvGrpSpPr/>
          <p:nvPr/>
        </p:nvGrpSpPr>
        <p:grpSpPr>
          <a:xfrm>
            <a:off x="6749791" y="1611083"/>
            <a:ext cx="1730603" cy="1151820"/>
            <a:chOff x="6749791" y="2499587"/>
            <a:chExt cx="1730603" cy="1151820"/>
          </a:xfrm>
        </p:grpSpPr>
        <p:cxnSp>
          <p:nvCxnSpPr>
            <p:cNvPr id="140" name="Conector reto 139"/>
            <p:cNvCxnSpPr/>
            <p:nvPr/>
          </p:nvCxnSpPr>
          <p:spPr bwMode="auto">
            <a:xfrm>
              <a:off x="7020693" y="2499587"/>
              <a:ext cx="0" cy="91440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</p:cxnSp>
        <p:cxnSp>
          <p:nvCxnSpPr>
            <p:cNvPr id="141" name="Conector reto 140"/>
            <p:cNvCxnSpPr/>
            <p:nvPr/>
          </p:nvCxnSpPr>
          <p:spPr bwMode="auto">
            <a:xfrm>
              <a:off x="7020693" y="3413987"/>
              <a:ext cx="1440160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2" name="CaixaDeTexto 141"/>
            <p:cNvSpPr txBox="1"/>
            <p:nvPr/>
          </p:nvSpPr>
          <p:spPr>
            <a:xfrm rot="16200000">
              <a:off x="6471349" y="2818287"/>
              <a:ext cx="83388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  <a:cs typeface="Times New Roman" panose="02020603050405020304" pitchFamily="18" charset="0"/>
                </a:rPr>
                <a:t>Biomassa</a:t>
              </a:r>
              <a:endParaRPr lang="pt-BR" dirty="0"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8" name="Grupo 17"/>
            <p:cNvGrpSpPr/>
            <p:nvPr/>
          </p:nvGrpSpPr>
          <p:grpSpPr>
            <a:xfrm>
              <a:off x="7054937" y="2564904"/>
              <a:ext cx="1132887" cy="808824"/>
              <a:chOff x="7054937" y="2564904"/>
              <a:chExt cx="1132887" cy="808824"/>
            </a:xfrm>
          </p:grpSpPr>
          <p:grpSp>
            <p:nvGrpSpPr>
              <p:cNvPr id="2" name="Grupo 1"/>
              <p:cNvGrpSpPr/>
              <p:nvPr/>
            </p:nvGrpSpPr>
            <p:grpSpPr>
              <a:xfrm>
                <a:off x="7101622" y="3093368"/>
                <a:ext cx="108000" cy="108000"/>
                <a:chOff x="7101622" y="3093368"/>
                <a:chExt cx="108000" cy="108000"/>
              </a:xfrm>
            </p:grpSpPr>
            <p:cxnSp>
              <p:nvCxnSpPr>
                <p:cNvPr id="9225" name="Conector reto 9224"/>
                <p:cNvCxnSpPr/>
                <p:nvPr/>
              </p:nvCxnSpPr>
              <p:spPr bwMode="auto">
                <a:xfrm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48" name="Conector reto 147"/>
                <p:cNvCxnSpPr/>
                <p:nvPr/>
              </p:nvCxnSpPr>
              <p:spPr bwMode="auto">
                <a:xfrm rot="5400000">
                  <a:off x="7155622" y="3093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" name="Grupo 5"/>
              <p:cNvGrpSpPr/>
              <p:nvPr/>
            </p:nvGrpSpPr>
            <p:grpSpPr>
              <a:xfrm>
                <a:off x="7236245" y="3201368"/>
                <a:ext cx="108000" cy="108000"/>
                <a:chOff x="7236245" y="3201368"/>
                <a:chExt cx="108000" cy="108000"/>
              </a:xfrm>
            </p:grpSpPr>
            <p:cxnSp>
              <p:nvCxnSpPr>
                <p:cNvPr id="151" name="Conector reto 150"/>
                <p:cNvCxnSpPr/>
                <p:nvPr/>
              </p:nvCxnSpPr>
              <p:spPr bwMode="auto">
                <a:xfrm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2" name="Conector reto 151"/>
                <p:cNvCxnSpPr/>
                <p:nvPr/>
              </p:nvCxnSpPr>
              <p:spPr bwMode="auto">
                <a:xfrm rot="5400000">
                  <a:off x="7290245" y="3201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4" name="Grupo 3"/>
              <p:cNvGrpSpPr/>
              <p:nvPr/>
            </p:nvGrpSpPr>
            <p:grpSpPr>
              <a:xfrm>
                <a:off x="7265290" y="2985368"/>
                <a:ext cx="108000" cy="108000"/>
                <a:chOff x="7265290" y="2985368"/>
                <a:chExt cx="108000" cy="108000"/>
              </a:xfrm>
            </p:grpSpPr>
            <p:cxnSp>
              <p:nvCxnSpPr>
                <p:cNvPr id="154" name="Conector reto 153"/>
                <p:cNvCxnSpPr/>
                <p:nvPr/>
              </p:nvCxnSpPr>
              <p:spPr bwMode="auto">
                <a:xfrm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5" name="Conector reto 154"/>
                <p:cNvCxnSpPr/>
                <p:nvPr/>
              </p:nvCxnSpPr>
              <p:spPr bwMode="auto">
                <a:xfrm rot="5400000">
                  <a:off x="7319290" y="2985368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" name="Grupo 9"/>
              <p:cNvGrpSpPr/>
              <p:nvPr/>
            </p:nvGrpSpPr>
            <p:grpSpPr>
              <a:xfrm>
                <a:off x="8025824" y="2755322"/>
                <a:ext cx="108000" cy="108000"/>
                <a:chOff x="8025824" y="2755322"/>
                <a:chExt cx="108000" cy="108000"/>
              </a:xfrm>
            </p:grpSpPr>
            <p:cxnSp>
              <p:nvCxnSpPr>
                <p:cNvPr id="157" name="Conector reto 156"/>
                <p:cNvCxnSpPr/>
                <p:nvPr/>
              </p:nvCxnSpPr>
              <p:spPr bwMode="auto">
                <a:xfrm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58" name="Conector reto 157"/>
                <p:cNvCxnSpPr/>
                <p:nvPr/>
              </p:nvCxnSpPr>
              <p:spPr bwMode="auto">
                <a:xfrm rot="5400000">
                  <a:off x="8079824" y="27553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" name="Grupo 8"/>
              <p:cNvGrpSpPr/>
              <p:nvPr/>
            </p:nvGrpSpPr>
            <p:grpSpPr>
              <a:xfrm>
                <a:off x="7971824" y="2659210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160" name="Conector reto 159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1" name="Conector reto 160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1" name="Grupo 10"/>
              <p:cNvGrpSpPr/>
              <p:nvPr/>
            </p:nvGrpSpPr>
            <p:grpSpPr>
              <a:xfrm>
                <a:off x="8079824" y="2605210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163" name="Conector reto 16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4" name="Conector reto 16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" name="Grupo 7"/>
              <p:cNvGrpSpPr/>
              <p:nvPr/>
            </p:nvGrpSpPr>
            <p:grpSpPr>
              <a:xfrm>
                <a:off x="7632532" y="276933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66" name="Conector reto 16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67" name="Conector reto 16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" name="Grupo 6"/>
              <p:cNvGrpSpPr/>
              <p:nvPr/>
            </p:nvGrpSpPr>
            <p:grpSpPr>
              <a:xfrm>
                <a:off x="7579124" y="2918522"/>
                <a:ext cx="108000" cy="108000"/>
                <a:chOff x="7579124" y="2918522"/>
                <a:chExt cx="108000" cy="108000"/>
              </a:xfrm>
            </p:grpSpPr>
            <p:cxnSp>
              <p:nvCxnSpPr>
                <p:cNvPr id="169" name="Conector reto 168"/>
                <p:cNvCxnSpPr/>
                <p:nvPr/>
              </p:nvCxnSpPr>
              <p:spPr bwMode="auto">
                <a:xfrm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70" name="Conector reto 169"/>
                <p:cNvCxnSpPr/>
                <p:nvPr/>
              </p:nvCxnSpPr>
              <p:spPr bwMode="auto">
                <a:xfrm rot="5400000">
                  <a:off x="7633124" y="291852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1" name="Grupo 60"/>
              <p:cNvGrpSpPr/>
              <p:nvPr/>
            </p:nvGrpSpPr>
            <p:grpSpPr>
              <a:xfrm>
                <a:off x="8013242" y="2564904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2" name="Conector reto 61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3" name="Conector reto 62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4" name="Grupo 63"/>
              <p:cNvGrpSpPr/>
              <p:nvPr/>
            </p:nvGrpSpPr>
            <p:grpSpPr>
              <a:xfrm>
                <a:off x="7673154" y="2946688"/>
                <a:ext cx="108000" cy="108000"/>
                <a:chOff x="7971824" y="2659210"/>
                <a:chExt cx="108000" cy="108000"/>
              </a:xfrm>
            </p:grpSpPr>
            <p:cxnSp>
              <p:nvCxnSpPr>
                <p:cNvPr id="65" name="Conector reto 64"/>
                <p:cNvCxnSpPr/>
                <p:nvPr/>
              </p:nvCxnSpPr>
              <p:spPr bwMode="auto">
                <a:xfrm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6" name="Conector reto 65"/>
                <p:cNvCxnSpPr/>
                <p:nvPr/>
              </p:nvCxnSpPr>
              <p:spPr bwMode="auto">
                <a:xfrm rot="5400000">
                  <a:off x="8025824" y="2659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67" name="Grupo 66"/>
              <p:cNvGrpSpPr/>
              <p:nvPr/>
            </p:nvGrpSpPr>
            <p:grpSpPr>
              <a:xfrm>
                <a:off x="7714572" y="2852382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68" name="Conector reto 67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69" name="Conector reto 68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0" name="Grupo 69"/>
              <p:cNvGrpSpPr/>
              <p:nvPr/>
            </p:nvGrpSpPr>
            <p:grpSpPr>
              <a:xfrm>
                <a:off x="7223668" y="3054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1" name="Conector reto 70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2" name="Conector reto 71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3" name="Grupo 72"/>
              <p:cNvGrpSpPr/>
              <p:nvPr/>
            </p:nvGrpSpPr>
            <p:grpSpPr>
              <a:xfrm>
                <a:off x="7319290" y="310868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4" name="Conector reto 73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5" name="Conector reto 74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6" name="Grupo 75"/>
              <p:cNvGrpSpPr/>
              <p:nvPr/>
            </p:nvGrpSpPr>
            <p:grpSpPr>
              <a:xfrm>
                <a:off x="7373290" y="2875339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77" name="Conector reto 76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78" name="Conector reto 77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79" name="Grupo 78"/>
              <p:cNvGrpSpPr/>
              <p:nvPr/>
            </p:nvGrpSpPr>
            <p:grpSpPr>
              <a:xfrm>
                <a:off x="7340871" y="3022161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0" name="Conector reto 79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1" name="Conector reto 80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2" name="Grupo 81"/>
              <p:cNvGrpSpPr/>
              <p:nvPr/>
            </p:nvGrpSpPr>
            <p:grpSpPr>
              <a:xfrm>
                <a:off x="7054937" y="3265728"/>
                <a:ext cx="108000" cy="108000"/>
                <a:chOff x="8079824" y="2605210"/>
                <a:chExt cx="108000" cy="108000"/>
              </a:xfrm>
            </p:grpSpPr>
            <p:cxnSp>
              <p:nvCxnSpPr>
                <p:cNvPr id="83" name="Conector reto 82"/>
                <p:cNvCxnSpPr/>
                <p:nvPr/>
              </p:nvCxnSpPr>
              <p:spPr bwMode="auto">
                <a:xfrm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4" name="Conector reto 83"/>
                <p:cNvCxnSpPr/>
                <p:nvPr/>
              </p:nvCxnSpPr>
              <p:spPr bwMode="auto">
                <a:xfrm rot="5400000">
                  <a:off x="8133824" y="2605210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5" name="Grupo 84"/>
              <p:cNvGrpSpPr/>
              <p:nvPr/>
            </p:nvGrpSpPr>
            <p:grpSpPr>
              <a:xfrm>
                <a:off x="7863824" y="2564904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6" name="Conector reto 85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87" name="Conector reto 86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88" name="Grupo 87"/>
              <p:cNvGrpSpPr/>
              <p:nvPr/>
            </p:nvGrpSpPr>
            <p:grpSpPr>
              <a:xfrm>
                <a:off x="7829494" y="2747707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89" name="Conector reto 88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0" name="Conector reto 89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1" name="Grupo 90"/>
              <p:cNvGrpSpPr/>
              <p:nvPr/>
            </p:nvGrpSpPr>
            <p:grpSpPr>
              <a:xfrm>
                <a:off x="7394871" y="290638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2" name="Conector reto 91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3" name="Conector reto 92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4" name="Grupo 93"/>
              <p:cNvGrpSpPr/>
              <p:nvPr/>
            </p:nvGrpSpPr>
            <p:grpSpPr>
              <a:xfrm>
                <a:off x="7735413" y="2810522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5" name="Conector reto 94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6" name="Conector reto 95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97" name="Grupo 96"/>
              <p:cNvGrpSpPr/>
              <p:nvPr/>
            </p:nvGrpSpPr>
            <p:grpSpPr>
              <a:xfrm>
                <a:off x="7211457" y="3144865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98" name="Conector reto 97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99" name="Conector reto 98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  <p:grpSp>
            <p:nvGrpSpPr>
              <p:cNvPr id="100" name="Grupo 99"/>
              <p:cNvGrpSpPr/>
              <p:nvPr/>
            </p:nvGrpSpPr>
            <p:grpSpPr>
              <a:xfrm>
                <a:off x="7918928" y="2607120"/>
                <a:ext cx="108000" cy="108000"/>
                <a:chOff x="7632532" y="2769332"/>
                <a:chExt cx="108000" cy="108000"/>
              </a:xfrm>
            </p:grpSpPr>
            <p:cxnSp>
              <p:nvCxnSpPr>
                <p:cNvPr id="101" name="Conector reto 100"/>
                <p:cNvCxnSpPr/>
                <p:nvPr/>
              </p:nvCxnSpPr>
              <p:spPr bwMode="auto">
                <a:xfrm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  <p:cxnSp>
              <p:nvCxnSpPr>
                <p:cNvPr id="102" name="Conector reto 101"/>
                <p:cNvCxnSpPr/>
                <p:nvPr/>
              </p:nvCxnSpPr>
              <p:spPr bwMode="auto">
                <a:xfrm rot="5400000">
                  <a:off x="7686532" y="2769332"/>
                  <a:ext cx="0" cy="108000"/>
                </a:xfrm>
                <a:prstGeom prst="line">
                  <a:avLst/>
                </a:prstGeom>
                <a:solidFill>
                  <a:schemeClr val="accent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</p:cxnSp>
          </p:grpSp>
        </p:grpSp>
        <p:sp>
          <p:nvSpPr>
            <p:cNvPr id="177" name="CaixaDeTexto 176"/>
            <p:cNvSpPr txBox="1"/>
            <p:nvPr/>
          </p:nvSpPr>
          <p:spPr>
            <a:xfrm>
              <a:off x="8133824" y="3374408"/>
              <a:ext cx="34657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IV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5381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14" grpId="0" build="p"/>
      <p:bldP spid="15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229600" cy="1752600"/>
          </a:xfrm>
        </p:spPr>
        <p:txBody>
          <a:bodyPr/>
          <a:lstStyle/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cs typeface="Times New Roman" charset="0"/>
              </a:rPr>
              <a:t>As variáveis podem possuir dois tipos de relações:</a:t>
            </a:r>
          </a:p>
          <a:p>
            <a:pPr marL="457200" indent="-457200" eaLnBrk="1" hangingPunct="1">
              <a:buClr>
                <a:srgbClr val="FF0000"/>
              </a:buClr>
              <a:buFontTx/>
              <a:buAutoNum type="arabicParenR"/>
            </a:pPr>
            <a:r>
              <a:rPr lang="pt-BR" altLang="pt-BR" sz="1600" dirty="0">
                <a:solidFill>
                  <a:srgbClr val="FF0000"/>
                </a:solidFill>
                <a:cs typeface="Times New Roman" charset="0"/>
              </a:rPr>
              <a:t>Funcional: </a:t>
            </a:r>
            <a:r>
              <a:rPr lang="pt-BR" altLang="pt-BR" sz="1600" dirty="0">
                <a:cs typeface="Times New Roman" charset="0"/>
              </a:rPr>
              <a:t>a relação é expressa por uma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fórmula matemática:  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)</a:t>
            </a: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o perímetro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e o lado (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L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) de um quadrado</a:t>
            </a:r>
          </a:p>
        </p:txBody>
      </p:sp>
      <p:sp>
        <p:nvSpPr>
          <p:cNvPr id="7" name="Retângulo 6"/>
          <p:cNvSpPr/>
          <p:nvPr/>
        </p:nvSpPr>
        <p:spPr>
          <a:xfrm>
            <a:off x="1500188" y="5292497"/>
            <a:ext cx="624016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 algn="just">
              <a:spcBef>
                <a:spcPct val="20000"/>
              </a:spcBef>
              <a:buClr>
                <a:srgbClr val="666600"/>
              </a:buClr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Todos os pontos caem perfeitamente sobre a linha que representa a relação funcional entre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L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P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</a:t>
            </a:fld>
            <a:endParaRPr lang="pt-BR"/>
          </a:p>
        </p:txBody>
      </p:sp>
      <p:grpSp>
        <p:nvGrpSpPr>
          <p:cNvPr id="10" name="Grupo 10"/>
          <p:cNvGrpSpPr>
            <a:grpSpLocks/>
          </p:cNvGrpSpPr>
          <p:nvPr/>
        </p:nvGrpSpPr>
        <p:grpSpPr bwMode="auto">
          <a:xfrm>
            <a:off x="2501422" y="2996952"/>
            <a:ext cx="4070828" cy="2093366"/>
            <a:chOff x="2501671" y="3429000"/>
            <a:chExt cx="4070593" cy="2093789"/>
          </a:xfrm>
        </p:grpSpPr>
        <p:pic>
          <p:nvPicPr>
            <p:cNvPr id="11" name="Picture 8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641" t="4887" r="2914" b="21803"/>
            <a:stretch>
              <a:fillRect/>
            </a:stretch>
          </p:blipFill>
          <p:spPr bwMode="auto">
            <a:xfrm>
              <a:off x="2857488" y="3429000"/>
              <a:ext cx="3714776" cy="185738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Retângulo 7"/>
            <p:cNvSpPr>
              <a:spLocks noChangeArrowheads="1"/>
            </p:cNvSpPr>
            <p:nvPr/>
          </p:nvSpPr>
          <p:spPr bwMode="auto">
            <a:xfrm>
              <a:off x="3682086" y="5214950"/>
              <a:ext cx="1991136" cy="30783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Lado do Quadrado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L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8"/>
            <p:cNvSpPr>
              <a:spLocks noChangeArrowheads="1"/>
            </p:cNvSpPr>
            <p:nvPr/>
          </p:nvSpPr>
          <p:spPr bwMode="auto">
            <a:xfrm rot="16200000">
              <a:off x="2032594" y="4076886"/>
              <a:ext cx="1245914" cy="3077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Perímetro (</a:t>
              </a:r>
              <a:r>
                <a:rPr lang="pt-BR" altLang="pt-BR" sz="14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</a:rPr>
                <a:t>P</a:t>
              </a:r>
              <a:r>
                <a:rPr lang="pt-BR" altLang="pt-BR" sz="1400" dirty="0">
                  <a:solidFill>
                    <a:srgbClr val="000000"/>
                  </a:solidFill>
                  <a:latin typeface="Tahoma" panose="020B0604030504040204" pitchFamily="34" charset="0"/>
                  <a:cs typeface="Times New Roman" charset="0"/>
                </a:rPr>
                <a:t>)</a:t>
              </a: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7188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19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63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2699201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242" name="Rectangle 2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Relação funcional x Relação estatística</a:t>
            </a:r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85800" y="1676400"/>
            <a:ext cx="8638728" cy="1968500"/>
          </a:xfrm>
        </p:spPr>
        <p:txBody>
          <a:bodyPr/>
          <a:lstStyle/>
          <a:p>
            <a:pPr marL="457200" indent="-457200" eaLnBrk="1" hangingPunct="1">
              <a:buClr>
                <a:srgbClr val="FF0000"/>
              </a:buClr>
              <a:buFontTx/>
              <a:buAutoNum type="arabicParenR" startAt="2"/>
            </a:pPr>
            <a:r>
              <a:rPr lang="pt-BR" altLang="pt-BR" sz="1600" dirty="0">
                <a:solidFill>
                  <a:srgbClr val="FF0000"/>
                </a:solidFill>
              </a:rPr>
              <a:t>Estatística: </a:t>
            </a:r>
            <a:r>
              <a:rPr lang="pt-BR" altLang="pt-BR" sz="1600" dirty="0">
                <a:solidFill>
                  <a:srgbClr val="000000"/>
                </a:solidFill>
              </a:rPr>
              <a:t>não há uma relação perfeita como no caso da relação funcional.</a:t>
            </a:r>
            <a:endParaRPr lang="pt-BR" altLang="pt-BR" sz="1600" i="1" dirty="0">
              <a:solidFill>
                <a:srgbClr val="000000"/>
              </a:solidFill>
              <a:latin typeface="Times New Roman" charset="0"/>
              <a:cs typeface="Times New Roman" charset="0"/>
              <a:sym typeface="Symbol" pitchFamily="18" charset="2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</a:rPr>
              <a:t>	As observações em geral não caem exatamente na linha que descreve a relação.</a:t>
            </a: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eaLnBrk="1" hangingPunct="1">
              <a:buFontTx/>
              <a:buNone/>
            </a:pP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Ex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: relação entre transparência da água e a </a:t>
            </a:r>
            <a:r>
              <a:rPr lang="pt-BR" altLang="pt-BR" sz="1600" dirty="0" err="1">
                <a:solidFill>
                  <a:srgbClr val="000000"/>
                </a:solidFill>
                <a:cs typeface="Times New Roman" charset="0"/>
              </a:rPr>
              <a:t>reflectância</a:t>
            </a:r>
            <a:r>
              <a:rPr lang="pt-BR" altLang="pt-BR" sz="1600" dirty="0">
                <a:solidFill>
                  <a:srgbClr val="000000"/>
                </a:solidFill>
                <a:cs typeface="Times New Roman" charset="0"/>
              </a:rPr>
              <a:t> na banda 3 TM5</a:t>
            </a:r>
          </a:p>
          <a:p>
            <a:pPr marL="457200" indent="-457200" eaLnBrk="1" hangingPunct="1">
              <a:buFontTx/>
              <a:buNone/>
            </a:pPr>
            <a:endParaRPr lang="pt-BR" altLang="pt-BR" sz="1600" i="1" dirty="0">
              <a:solidFill>
                <a:srgbClr val="000000"/>
              </a:solidFill>
              <a:cs typeface="Times New Roman" charset="0"/>
            </a:endParaRPr>
          </a:p>
          <a:p>
            <a:pPr marL="457200" indent="-457200" algn="ctr" eaLnBrk="1" hangingPunct="1">
              <a:buFontTx/>
              <a:buNone/>
            </a:pPr>
            <a:endParaRPr lang="pt-BR" altLang="pt-BR" sz="1600" dirty="0">
              <a:solidFill>
                <a:srgbClr val="000000"/>
              </a:solidFill>
              <a:cs typeface="Times New Roman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62611-E48A-4978-B482-1B708AF3AEFE}" type="slidenum">
              <a:rPr lang="pt-BR"/>
              <a:pPr>
                <a:defRPr/>
              </a:pPr>
              <a:t>6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2267744" y="5755322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2" name="Forma livre 1"/>
          <p:cNvSpPr/>
          <p:nvPr/>
        </p:nvSpPr>
        <p:spPr bwMode="auto">
          <a:xfrm>
            <a:off x="3598826" y="3101546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3" grpId="0" build="p"/>
      <p:bldP spid="4" grpId="0"/>
      <p:bldP spid="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Grau de Relacionamento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381027" y="4530606"/>
            <a:ext cx="843944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Como caracterizar o grau de relacionamento (ou associação)  entre pares de variáveis?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9600" y="1541586"/>
            <a:ext cx="2533650" cy="2103438"/>
            <a:chOff x="384" y="1162"/>
            <a:chExt cx="1596" cy="1325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115" name="Group 62"/>
          <p:cNvGrpSpPr>
            <a:grpSpLocks/>
          </p:cNvGrpSpPr>
          <p:nvPr/>
        </p:nvGrpSpPr>
        <p:grpSpPr bwMode="auto">
          <a:xfrm>
            <a:off x="5867400" y="1541586"/>
            <a:ext cx="2532063" cy="2103438"/>
            <a:chOff x="3696" y="1162"/>
            <a:chExt cx="1595" cy="1325"/>
          </a:xfrm>
        </p:grpSpPr>
        <p:sp>
          <p:nvSpPr>
            <p:cNvPr id="116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26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127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33" name="Line 93"/>
          <p:cNvSpPr>
            <a:spLocks noChangeShapeType="1"/>
          </p:cNvSpPr>
          <p:nvPr/>
        </p:nvSpPr>
        <p:spPr bwMode="auto">
          <a:xfrm flipV="1">
            <a:off x="1125538" y="1786061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263900" y="1541586"/>
            <a:ext cx="2532063" cy="2103438"/>
            <a:chOff x="3263900" y="1412875"/>
            <a:chExt cx="2532063" cy="2103438"/>
          </a:xfrm>
        </p:grpSpPr>
        <p:grpSp>
          <p:nvGrpSpPr>
            <p:cNvPr id="111" name="Group 42"/>
            <p:cNvGrpSpPr>
              <a:grpSpLocks/>
            </p:cNvGrpSpPr>
            <p:nvPr/>
          </p:nvGrpSpPr>
          <p:grpSpPr bwMode="auto">
            <a:xfrm>
              <a:off x="3263900" y="1412875"/>
              <a:ext cx="2532063" cy="2103438"/>
              <a:chOff x="1240" y="1162"/>
              <a:chExt cx="1595" cy="1325"/>
            </a:xfrm>
          </p:grpSpPr>
          <p:sp>
            <p:nvSpPr>
              <p:cNvPr id="11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9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4" name="Line 94"/>
          <p:cNvSpPr>
            <a:spLocks noChangeShapeType="1"/>
          </p:cNvSpPr>
          <p:nvPr/>
        </p:nvSpPr>
        <p:spPr bwMode="auto">
          <a:xfrm flipH="1" flipV="1">
            <a:off x="3883025" y="1757486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" name="Retângulo 11"/>
          <p:cNvSpPr/>
          <p:nvPr/>
        </p:nvSpPr>
        <p:spPr>
          <a:xfrm>
            <a:off x="3184216" y="5178678"/>
            <a:ext cx="277556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Covariância</a:t>
            </a:r>
          </a:p>
          <a:p>
            <a:pPr algn="ctr"/>
            <a:r>
              <a:rPr 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Coeficiente de Correlação</a:t>
            </a:r>
            <a:endParaRPr lang="pt-BR" sz="1800" dirty="0">
              <a:latin typeface="Tahoma" panose="020B0604030504040204" pitchFamily="34" charset="0"/>
            </a:endParaRPr>
          </a:p>
        </p:txBody>
      </p:sp>
      <p:sp>
        <p:nvSpPr>
          <p:cNvPr id="16" name="Retângulo 15"/>
          <p:cNvSpPr/>
          <p:nvPr/>
        </p:nvSpPr>
        <p:spPr>
          <a:xfrm>
            <a:off x="1043609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direta ou positiva</a:t>
            </a:r>
          </a:p>
        </p:txBody>
      </p:sp>
      <p:sp>
        <p:nvSpPr>
          <p:cNvPr id="135" name="Retângulo 134"/>
          <p:cNvSpPr/>
          <p:nvPr/>
        </p:nvSpPr>
        <p:spPr>
          <a:xfrm>
            <a:off x="36963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Relação inversa ou negativa</a:t>
            </a:r>
          </a:p>
        </p:txBody>
      </p:sp>
      <p:sp>
        <p:nvSpPr>
          <p:cNvPr id="136" name="Retângulo 135"/>
          <p:cNvSpPr/>
          <p:nvPr/>
        </p:nvSpPr>
        <p:spPr>
          <a:xfrm>
            <a:off x="6299817" y="3780329"/>
            <a:ext cx="18863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>
                <a:latin typeface="Tahoma" panose="020B0604030504040204" pitchFamily="34" charset="0"/>
              </a:rPr>
              <a:t>Ausência de relação</a:t>
            </a:r>
          </a:p>
        </p:txBody>
      </p:sp>
    </p:spTree>
    <p:extLst>
      <p:ext uri="{BB962C8B-B14F-4D97-AF65-F5344CB8AC3E}">
        <p14:creationId xmlns:p14="http://schemas.microsoft.com/office/powerpoint/2010/main" val="1178319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9" grpId="0"/>
      <p:bldP spid="133" grpId="0" animBg="1"/>
      <p:bldP spid="134" grpId="0" animBg="1"/>
      <p:bldP spid="12" grpId="0"/>
      <p:bldP spid="16" grpId="0"/>
      <p:bldP spid="135" grpId="0"/>
      <p:bldP spid="1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Covariância</a:t>
            </a:r>
          </a:p>
        </p:txBody>
      </p:sp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962982" y="3666268"/>
            <a:ext cx="117830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&gt; 0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6655310" y="3684503"/>
            <a:ext cx="11751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4315672" y="3685484"/>
            <a:ext cx="1143797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i="1" dirty="0" err="1">
                <a:latin typeface="Times New Roman" charset="0"/>
                <a:cs typeface="Times New Roman" charset="0"/>
              </a:rPr>
              <a:t>Cov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(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,</a:t>
            </a:r>
            <a:r>
              <a:rPr lang="pt-BR" altLang="pt-BR" sz="14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 &lt; 0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8</a:t>
            </a:fld>
            <a:endParaRPr lang="pt-BR"/>
          </a:p>
        </p:txBody>
      </p:sp>
      <p:sp>
        <p:nvSpPr>
          <p:cNvPr id="89" name="Retângulo 88"/>
          <p:cNvSpPr/>
          <p:nvPr/>
        </p:nvSpPr>
        <p:spPr>
          <a:xfrm>
            <a:off x="453035" y="5592142"/>
            <a:ext cx="8223421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5600" indent="-355600"/>
            <a:r>
              <a:rPr lang="pt-BR" dirty="0">
                <a:latin typeface="Tahoma" panose="020B0604030504040204" pitchFamily="34" charset="0"/>
              </a:rPr>
              <a:t>Quanto maior a covariância (em módulo), mais próximos estarão os pontos entorno da 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reta</a:t>
            </a:r>
            <a:r>
              <a:rPr lang="pt-BR" dirty="0">
                <a:latin typeface="Tahoma" panose="020B0604030504040204" pitchFamily="34" charset="0"/>
              </a:rPr>
              <a:t> que representa a tendência principal da nuvem de pontos</a:t>
            </a:r>
          </a:p>
          <a:p>
            <a:pPr marL="355600" indent="-355600"/>
            <a:r>
              <a:rPr lang="pt-BR" dirty="0">
                <a:latin typeface="Tahoma" panose="020B0604030504040204" pitchFamily="34" charset="0"/>
              </a:rPr>
              <a:t>Uma limitação da covariância é que seu valor calculado depende diretamente das unidades de medida, dificultando a comparação entre covariâncias.</a:t>
            </a:r>
          </a:p>
        </p:txBody>
      </p:sp>
      <p:sp>
        <p:nvSpPr>
          <p:cNvPr id="5" name="AutoShape 11" descr="Resultado de imagem para sample covariance formula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307975" y="1340768"/>
            <a:ext cx="8512497" cy="2232248"/>
            <a:chOff x="307975" y="3370640"/>
            <a:chExt cx="8512497" cy="2232248"/>
          </a:xfrm>
        </p:grpSpPr>
        <p:grpSp>
          <p:nvGrpSpPr>
            <p:cNvPr id="3" name="Grupo 2"/>
            <p:cNvGrpSpPr/>
            <p:nvPr/>
          </p:nvGrpSpPr>
          <p:grpSpPr>
            <a:xfrm>
              <a:off x="453035" y="3844241"/>
              <a:ext cx="3660375" cy="766990"/>
              <a:chOff x="-538201" y="4710135"/>
              <a:chExt cx="3660375" cy="766990"/>
            </a:xfrm>
          </p:grpSpPr>
          <p:graphicFrame>
            <p:nvGraphicFramePr>
              <p:cNvPr id="79" name="Object 6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63142127"/>
                  </p:ext>
                </p:extLst>
              </p:nvPr>
            </p:nvGraphicFramePr>
            <p:xfrm>
              <a:off x="-184786" y="4959157"/>
              <a:ext cx="3306960" cy="51796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" imgW="2755800" imgH="431640" progId="Equation.DSMT4">
                      <p:embed/>
                    </p:oleObj>
                  </mc:Choice>
                  <mc:Fallback>
                    <p:oleObj name="Equation" r:id="rId2" imgW="2755800" imgH="431640" progId="Equation.DSMT4">
                      <p:embed/>
                      <p:pic>
                        <p:nvPicPr>
                          <p:cNvPr id="79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84786" y="4959157"/>
                            <a:ext cx="3306960" cy="51796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0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4710135"/>
                <a:ext cx="143295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discretas:</a:t>
                </a:r>
              </a:p>
            </p:txBody>
          </p:sp>
        </p:grpSp>
        <p:grpSp>
          <p:nvGrpSpPr>
            <p:cNvPr id="4" name="Grupo 3"/>
            <p:cNvGrpSpPr/>
            <p:nvPr/>
          </p:nvGrpSpPr>
          <p:grpSpPr>
            <a:xfrm>
              <a:off x="453035" y="4666784"/>
              <a:ext cx="3319116" cy="811600"/>
              <a:chOff x="-538201" y="5382550"/>
              <a:chExt cx="3319116" cy="811600"/>
            </a:xfrm>
          </p:grpSpPr>
          <p:graphicFrame>
            <p:nvGraphicFramePr>
              <p:cNvPr id="83" name="Object 1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53387791"/>
                  </p:ext>
                </p:extLst>
              </p:nvPr>
            </p:nvGraphicFramePr>
            <p:xfrm>
              <a:off x="-175261" y="5630390"/>
              <a:ext cx="2956176" cy="56376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463480" imgH="469800" progId="Equation.DSMT4">
                      <p:embed/>
                    </p:oleObj>
                  </mc:Choice>
                  <mc:Fallback>
                    <p:oleObj name="Equation" r:id="rId4" imgW="2463480" imgH="469800" progId="Equation.DSMT4">
                      <p:embed/>
                      <p:pic>
                        <p:nvPicPr>
                          <p:cNvPr id="83" name="Object 1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-175261" y="5630390"/>
                            <a:ext cx="2956176" cy="56376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84" name="Text Box 16"/>
              <p:cNvSpPr txBox="1">
                <a:spLocks noChangeArrowheads="1"/>
              </p:cNvSpPr>
              <p:nvPr/>
            </p:nvSpPr>
            <p:spPr bwMode="auto">
              <a:xfrm>
                <a:off x="-538201" y="5382550"/>
                <a:ext cx="150874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solidFill>
                      <a:srgbClr val="FF3300"/>
                    </a:solidFill>
                    <a:latin typeface="Tahoma" panose="020B0604030504040204" pitchFamily="34" charset="0"/>
                  </a:rPr>
                  <a:t>v.a</a:t>
                </a:r>
                <a:r>
                  <a:rPr lang="pt-BR" altLang="pt-BR" sz="1600" dirty="0">
                    <a:solidFill>
                      <a:srgbClr val="FF3300"/>
                    </a:solidFill>
                    <a:latin typeface="Tahoma" panose="020B0604030504040204" pitchFamily="34" charset="0"/>
                  </a:rPr>
                  <a:t>. contínuas:</a:t>
                </a:r>
              </a:p>
            </p:txBody>
          </p:sp>
        </p:grpSp>
        <p:graphicFrame>
          <p:nvGraphicFramePr>
            <p:cNvPr id="88" name="Object 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34705101"/>
                </p:ext>
              </p:extLst>
            </p:nvPr>
          </p:nvGraphicFramePr>
          <p:xfrm>
            <a:off x="5867400" y="4302564"/>
            <a:ext cx="1920240" cy="73137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1600200" imgH="609480" progId="Equation.DSMT4">
                    <p:embed/>
                  </p:oleObj>
                </mc:Choice>
                <mc:Fallback>
                  <p:oleObj name="Equation" r:id="rId6" imgW="1600200" imgH="609480" progId="Equation.DSMT4">
                    <p:embed/>
                    <p:pic>
                      <p:nvPicPr>
                        <p:cNvPr id="88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67400" y="4302564"/>
                          <a:ext cx="1920240" cy="73137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0" name="Text Box 16"/>
            <p:cNvSpPr txBox="1">
              <a:spLocks noChangeArrowheads="1"/>
            </p:cNvSpPr>
            <p:nvPr/>
          </p:nvSpPr>
          <p:spPr bwMode="auto">
            <a:xfrm>
              <a:off x="5220072" y="3438880"/>
              <a:ext cx="360040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amostral</a:t>
              </a:r>
            </a:p>
          </p:txBody>
        </p:sp>
        <p:sp>
          <p:nvSpPr>
            <p:cNvPr id="91" name="Text Box 16"/>
            <p:cNvSpPr txBox="1">
              <a:spLocks noChangeArrowheads="1"/>
            </p:cNvSpPr>
            <p:nvPr/>
          </p:nvSpPr>
          <p:spPr bwMode="auto">
            <a:xfrm>
              <a:off x="307975" y="3438880"/>
              <a:ext cx="491209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3300"/>
                  </a:solidFill>
                  <a:latin typeface="Tahoma" panose="020B0604030504040204" pitchFamily="34" charset="0"/>
                </a:rPr>
                <a:t>Covariância populacional</a:t>
              </a:r>
            </a:p>
          </p:txBody>
        </p:sp>
        <p:grpSp>
          <p:nvGrpSpPr>
            <p:cNvPr id="14" name="Grupo 13"/>
            <p:cNvGrpSpPr/>
            <p:nvPr/>
          </p:nvGrpSpPr>
          <p:grpSpPr>
            <a:xfrm>
              <a:off x="307975" y="3370640"/>
              <a:ext cx="4914000" cy="2232248"/>
              <a:chOff x="307975" y="3288752"/>
              <a:chExt cx="4914000" cy="2232248"/>
            </a:xfrm>
          </p:grpSpPr>
          <p:sp>
            <p:nvSpPr>
              <p:cNvPr id="6" name="Retângulo 5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9" name="Conector reto 8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3" name="Conector reto 12"/>
              <p:cNvCxnSpPr/>
              <p:nvPr/>
            </p:nvCxnSpPr>
            <p:spPr bwMode="auto">
              <a:xfrm>
                <a:off x="307975" y="4584896"/>
                <a:ext cx="4912097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grpSp>
          <p:nvGrpSpPr>
            <p:cNvPr id="102" name="Grupo 101"/>
            <p:cNvGrpSpPr/>
            <p:nvPr/>
          </p:nvGrpSpPr>
          <p:grpSpPr>
            <a:xfrm>
              <a:off x="5220072" y="3370640"/>
              <a:ext cx="3600400" cy="2232248"/>
              <a:chOff x="307975" y="3288752"/>
              <a:chExt cx="4914000" cy="2232248"/>
            </a:xfrm>
          </p:grpSpPr>
          <p:sp>
            <p:nvSpPr>
              <p:cNvPr id="103" name="Retângulo 102"/>
              <p:cNvSpPr/>
              <p:nvPr/>
            </p:nvSpPr>
            <p:spPr bwMode="auto">
              <a:xfrm>
                <a:off x="307976" y="3288752"/>
                <a:ext cx="4912096" cy="2232248"/>
              </a:xfrm>
              <a:prstGeom prst="rect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cxnSp>
            <p:nvCxnSpPr>
              <p:cNvPr id="104" name="Conector reto 103"/>
              <p:cNvCxnSpPr/>
              <p:nvPr/>
            </p:nvCxnSpPr>
            <p:spPr bwMode="auto">
              <a:xfrm>
                <a:off x="307975" y="3717032"/>
                <a:ext cx="4914000" cy="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</p:grpSp>
      <p:sp>
        <p:nvSpPr>
          <p:cNvPr id="15" name="CaixaDeTexto 14"/>
          <p:cNvSpPr txBox="1"/>
          <p:nvPr/>
        </p:nvSpPr>
        <p:spPr>
          <a:xfrm>
            <a:off x="6186044" y="4982112"/>
            <a:ext cx="20583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e </a:t>
            </a:r>
            <a:r>
              <a:rPr lang="pt-BR" sz="12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sz="1200" dirty="0">
                <a:solidFill>
                  <a:srgbClr val="FF0000"/>
                </a:solidFill>
                <a:latin typeface="Tahoma" panose="020B0604030504040204" pitchFamily="34" charset="0"/>
              </a:rPr>
              <a:t> são independentes!</a:t>
            </a:r>
          </a:p>
        </p:txBody>
      </p:sp>
      <p:grpSp>
        <p:nvGrpSpPr>
          <p:cNvPr id="74" name="Group 30"/>
          <p:cNvGrpSpPr>
            <a:grpSpLocks/>
          </p:cNvGrpSpPr>
          <p:nvPr/>
        </p:nvGrpSpPr>
        <p:grpSpPr bwMode="auto">
          <a:xfrm>
            <a:off x="605524" y="3699616"/>
            <a:ext cx="2172497" cy="1807018"/>
            <a:chOff x="381" y="1162"/>
            <a:chExt cx="1599" cy="1330"/>
          </a:xfrm>
        </p:grpSpPr>
        <p:sp>
          <p:nvSpPr>
            <p:cNvPr id="7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7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1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2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93" name="Group 29"/>
            <p:cNvGrpSpPr>
              <a:grpSpLocks/>
            </p:cNvGrpSpPr>
            <p:nvPr/>
          </p:nvGrpSpPr>
          <p:grpSpPr bwMode="auto">
            <a:xfrm>
              <a:off x="381" y="1162"/>
              <a:ext cx="1599" cy="1330"/>
              <a:chOff x="1236" y="1162"/>
              <a:chExt cx="1599" cy="1330"/>
            </a:xfrm>
          </p:grpSpPr>
          <p:sp>
            <p:nvSpPr>
              <p:cNvPr id="94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5" name="Rectangle 26"/>
              <p:cNvSpPr>
                <a:spLocks noChangeArrowheads="1"/>
              </p:cNvSpPr>
              <p:nvPr/>
            </p:nvSpPr>
            <p:spPr bwMode="auto">
              <a:xfrm rot="16200000">
                <a:off x="1276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97" name="Group 62"/>
          <p:cNvGrpSpPr>
            <a:grpSpLocks/>
          </p:cNvGrpSpPr>
          <p:nvPr/>
        </p:nvGrpSpPr>
        <p:grpSpPr bwMode="auto">
          <a:xfrm>
            <a:off x="5863324" y="3699616"/>
            <a:ext cx="2171139" cy="1807018"/>
            <a:chOff x="3693" y="1162"/>
            <a:chExt cx="1598" cy="1330"/>
          </a:xfrm>
        </p:grpSpPr>
        <p:sp>
          <p:nvSpPr>
            <p:cNvPr id="98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5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6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7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8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09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grpSp>
          <p:nvGrpSpPr>
            <p:cNvPr id="111" name="Group 58"/>
            <p:cNvGrpSpPr>
              <a:grpSpLocks/>
            </p:cNvGrpSpPr>
            <p:nvPr/>
          </p:nvGrpSpPr>
          <p:grpSpPr bwMode="auto">
            <a:xfrm>
              <a:off x="3693" y="1162"/>
              <a:ext cx="1598" cy="1330"/>
              <a:chOff x="1237" y="1162"/>
              <a:chExt cx="1598" cy="1330"/>
            </a:xfrm>
          </p:grpSpPr>
          <p:sp>
            <p:nvSpPr>
              <p:cNvPr id="112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Rectangle 60"/>
              <p:cNvSpPr>
                <a:spLocks noChangeArrowheads="1"/>
              </p:cNvSpPr>
              <p:nvPr/>
            </p:nvSpPr>
            <p:spPr bwMode="auto">
              <a:xfrm rot="16200000">
                <a:off x="1277" y="1652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5" name="Line 93"/>
          <p:cNvSpPr>
            <a:spLocks noChangeShapeType="1"/>
          </p:cNvSpPr>
          <p:nvPr/>
        </p:nvSpPr>
        <p:spPr bwMode="auto">
          <a:xfrm flipV="1">
            <a:off x="1084594" y="3889498"/>
            <a:ext cx="1293444" cy="10475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none" w="med" len="med"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  <p:grpSp>
        <p:nvGrpSpPr>
          <p:cNvPr id="116" name="Grupo 115"/>
          <p:cNvGrpSpPr/>
          <p:nvPr/>
        </p:nvGrpSpPr>
        <p:grpSpPr>
          <a:xfrm>
            <a:off x="3259824" y="3699616"/>
            <a:ext cx="2171139" cy="1807019"/>
            <a:chOff x="3259138" y="1412875"/>
            <a:chExt cx="2536826" cy="2111376"/>
          </a:xfrm>
        </p:grpSpPr>
        <p:grpSp>
          <p:nvGrpSpPr>
            <p:cNvPr id="117" name="Group 42"/>
            <p:cNvGrpSpPr>
              <a:grpSpLocks/>
            </p:cNvGrpSpPr>
            <p:nvPr/>
          </p:nvGrpSpPr>
          <p:grpSpPr bwMode="auto">
            <a:xfrm>
              <a:off x="3259138" y="1412875"/>
              <a:ext cx="2536826" cy="2111376"/>
              <a:chOff x="1237" y="1162"/>
              <a:chExt cx="1598" cy="1330"/>
            </a:xfrm>
          </p:grpSpPr>
          <p:sp>
            <p:nvSpPr>
              <p:cNvPr id="128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8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X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9" name="Rectangle 44"/>
              <p:cNvSpPr>
                <a:spLocks noChangeArrowheads="1"/>
              </p:cNvSpPr>
              <p:nvPr/>
            </p:nvSpPr>
            <p:spPr bwMode="auto">
              <a:xfrm rot="16200000">
                <a:off x="1277" y="1653"/>
                <a:ext cx="80" cy="159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b="1" i="1" dirty="0">
                    <a:latin typeface="Times New Roman" charset="0"/>
                  </a:rPr>
                  <a:t>Y</a:t>
                </a:r>
                <a:endParaRPr lang="pt-BR" altLang="pt-BR" sz="14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sz="14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18" name="Oval 32"/>
            <p:cNvSpPr>
              <a:spLocks noChangeArrowheads="1"/>
            </p:cNvSpPr>
            <p:nvPr/>
          </p:nvSpPr>
          <p:spPr bwMode="auto">
            <a:xfrm flipH="1">
              <a:off x="4643438" y="19177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19" name="Oval 33"/>
            <p:cNvSpPr>
              <a:spLocks noChangeArrowheads="1"/>
            </p:cNvSpPr>
            <p:nvPr/>
          </p:nvSpPr>
          <p:spPr bwMode="auto">
            <a:xfrm flipH="1">
              <a:off x="4643438" y="2636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34"/>
            <p:cNvSpPr>
              <a:spLocks noChangeArrowheads="1"/>
            </p:cNvSpPr>
            <p:nvPr/>
          </p:nvSpPr>
          <p:spPr bwMode="auto">
            <a:xfrm flipH="1">
              <a:off x="4425950" y="24209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35"/>
            <p:cNvSpPr>
              <a:spLocks noChangeArrowheads="1"/>
            </p:cNvSpPr>
            <p:nvPr/>
          </p:nvSpPr>
          <p:spPr bwMode="auto">
            <a:xfrm flipH="1">
              <a:off x="3779838" y="1844675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36"/>
            <p:cNvSpPr>
              <a:spLocks noChangeArrowheads="1"/>
            </p:cNvSpPr>
            <p:nvPr/>
          </p:nvSpPr>
          <p:spPr bwMode="auto">
            <a:xfrm flipH="1">
              <a:off x="4213225" y="1701800"/>
              <a:ext cx="42863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37"/>
            <p:cNvSpPr>
              <a:spLocks noChangeArrowheads="1"/>
            </p:cNvSpPr>
            <p:nvPr/>
          </p:nvSpPr>
          <p:spPr bwMode="auto">
            <a:xfrm flipH="1">
              <a:off x="4724400" y="2382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4" name="Oval 38"/>
            <p:cNvSpPr>
              <a:spLocks noChangeArrowheads="1"/>
            </p:cNvSpPr>
            <p:nvPr/>
          </p:nvSpPr>
          <p:spPr bwMode="auto">
            <a:xfrm flipH="1">
              <a:off x="5180013" y="2763838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5" name="Oval 39"/>
            <p:cNvSpPr>
              <a:spLocks noChangeArrowheads="1"/>
            </p:cNvSpPr>
            <p:nvPr/>
          </p:nvSpPr>
          <p:spPr bwMode="auto">
            <a:xfrm flipH="1">
              <a:off x="5075238" y="23495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6" name="Oval 40"/>
            <p:cNvSpPr>
              <a:spLocks noChangeArrowheads="1"/>
            </p:cNvSpPr>
            <p:nvPr/>
          </p:nvSpPr>
          <p:spPr bwMode="auto">
            <a:xfrm flipH="1">
              <a:off x="4140200" y="2133600"/>
              <a:ext cx="44450" cy="5397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  <p:sp>
          <p:nvSpPr>
            <p:cNvPr id="127" name="Oval 41"/>
            <p:cNvSpPr>
              <a:spLocks noChangeArrowheads="1"/>
            </p:cNvSpPr>
            <p:nvPr/>
          </p:nvSpPr>
          <p:spPr bwMode="auto">
            <a:xfrm flipH="1">
              <a:off x="4427538" y="2060575"/>
              <a:ext cx="44450" cy="5556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31" name="Line 94"/>
          <p:cNvSpPr>
            <a:spLocks noChangeShapeType="1"/>
          </p:cNvSpPr>
          <p:nvPr/>
        </p:nvSpPr>
        <p:spPr bwMode="auto">
          <a:xfrm flipH="1" flipV="1">
            <a:off x="3855728" y="3956460"/>
            <a:ext cx="1171165" cy="110866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sz="14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057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53" grpId="0"/>
      <p:bldP spid="11355" grpId="0"/>
      <p:bldP spid="11356" grpId="0"/>
      <p:bldP spid="89" grpId="0" build="p"/>
      <p:bldP spid="15" grpId="0"/>
      <p:bldP spid="115" grpId="0" animBg="1"/>
      <p:bldP spid="1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grpSp>
        <p:nvGrpSpPr>
          <p:cNvPr id="8195" name="Group 30"/>
          <p:cNvGrpSpPr>
            <a:grpSpLocks/>
          </p:cNvGrpSpPr>
          <p:nvPr/>
        </p:nvGrpSpPr>
        <p:grpSpPr bwMode="auto">
          <a:xfrm>
            <a:off x="609600" y="1412875"/>
            <a:ext cx="2533650" cy="2103438"/>
            <a:chOff x="384" y="1162"/>
            <a:chExt cx="1596" cy="1325"/>
          </a:xfrm>
        </p:grpSpPr>
        <p:sp>
          <p:nvSpPr>
            <p:cNvPr id="8255" name="Oval 15"/>
            <p:cNvSpPr>
              <a:spLocks noChangeArrowheads="1"/>
            </p:cNvSpPr>
            <p:nvPr/>
          </p:nvSpPr>
          <p:spPr bwMode="auto">
            <a:xfrm>
              <a:off x="1202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6" name="Oval 16"/>
            <p:cNvSpPr>
              <a:spLocks noChangeArrowheads="1"/>
            </p:cNvSpPr>
            <p:nvPr/>
          </p:nvSpPr>
          <p:spPr bwMode="auto">
            <a:xfrm>
              <a:off x="903" y="191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7" name="Oval 17"/>
            <p:cNvSpPr>
              <a:spLocks noChangeArrowheads="1"/>
            </p:cNvSpPr>
            <p:nvPr/>
          </p:nvSpPr>
          <p:spPr bwMode="auto">
            <a:xfrm>
              <a:off x="1202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8" name="Oval 18"/>
            <p:cNvSpPr>
              <a:spLocks noChangeArrowheads="1"/>
            </p:cNvSpPr>
            <p:nvPr/>
          </p:nvSpPr>
          <p:spPr bwMode="auto">
            <a:xfrm>
              <a:off x="1579" y="12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9" name="Oval 19"/>
            <p:cNvSpPr>
              <a:spLocks noChangeArrowheads="1"/>
            </p:cNvSpPr>
            <p:nvPr/>
          </p:nvSpPr>
          <p:spPr bwMode="auto">
            <a:xfrm>
              <a:off x="1383" y="143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0" name="Oval 20"/>
            <p:cNvSpPr>
              <a:spLocks noChangeArrowheads="1"/>
            </p:cNvSpPr>
            <p:nvPr/>
          </p:nvSpPr>
          <p:spPr bwMode="auto">
            <a:xfrm>
              <a:off x="1014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1" name="Oval 21"/>
            <p:cNvSpPr>
              <a:spLocks noChangeArrowheads="1"/>
            </p:cNvSpPr>
            <p:nvPr/>
          </p:nvSpPr>
          <p:spPr bwMode="auto">
            <a:xfrm>
              <a:off x="727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2" name="Oval 22"/>
            <p:cNvSpPr>
              <a:spLocks noChangeArrowheads="1"/>
            </p:cNvSpPr>
            <p:nvPr/>
          </p:nvSpPr>
          <p:spPr bwMode="auto">
            <a:xfrm>
              <a:off x="793" y="188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3" name="Oval 23"/>
            <p:cNvSpPr>
              <a:spLocks noChangeArrowheads="1"/>
            </p:cNvSpPr>
            <p:nvPr/>
          </p:nvSpPr>
          <p:spPr bwMode="auto">
            <a:xfrm>
              <a:off x="1338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64" name="Oval 24"/>
            <p:cNvSpPr>
              <a:spLocks noChangeArrowheads="1"/>
            </p:cNvSpPr>
            <p:nvPr/>
          </p:nvSpPr>
          <p:spPr bwMode="auto">
            <a:xfrm>
              <a:off x="1403" y="15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65" name="Group 29"/>
            <p:cNvGrpSpPr>
              <a:grpSpLocks/>
            </p:cNvGrpSpPr>
            <p:nvPr/>
          </p:nvGrpSpPr>
          <p:grpSpPr bwMode="auto">
            <a:xfrm>
              <a:off x="384" y="1162"/>
              <a:ext cx="1596" cy="1325"/>
              <a:chOff x="1239" y="1162"/>
              <a:chExt cx="1596" cy="1325"/>
            </a:xfrm>
          </p:grpSpPr>
          <p:sp>
            <p:nvSpPr>
              <p:cNvPr id="8266" name="Rectangle 2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7" name="Rectangle 2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68" name="Freeform 2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6" name="Group 46"/>
          <p:cNvGrpSpPr>
            <a:grpSpLocks/>
          </p:cNvGrpSpPr>
          <p:nvPr/>
        </p:nvGrpSpPr>
        <p:grpSpPr bwMode="auto">
          <a:xfrm>
            <a:off x="3263900" y="1412875"/>
            <a:ext cx="2532063" cy="2103438"/>
            <a:chOff x="2064" y="1162"/>
            <a:chExt cx="1595" cy="1325"/>
          </a:xfrm>
        </p:grpSpPr>
        <p:sp>
          <p:nvSpPr>
            <p:cNvPr id="8241" name="Oval 32"/>
            <p:cNvSpPr>
              <a:spLocks noChangeArrowheads="1"/>
            </p:cNvSpPr>
            <p:nvPr/>
          </p:nvSpPr>
          <p:spPr bwMode="auto">
            <a:xfrm>
              <a:off x="2744" y="148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2" name="Oval 33"/>
            <p:cNvSpPr>
              <a:spLocks noChangeArrowheads="1"/>
            </p:cNvSpPr>
            <p:nvPr/>
          </p:nvSpPr>
          <p:spPr bwMode="auto">
            <a:xfrm>
              <a:off x="2744" y="193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3" name="Oval 34"/>
            <p:cNvSpPr>
              <a:spLocks noChangeArrowheads="1"/>
            </p:cNvSpPr>
            <p:nvPr/>
          </p:nvSpPr>
          <p:spPr bwMode="auto">
            <a:xfrm>
              <a:off x="2881" y="17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4" name="Oval 35"/>
            <p:cNvSpPr>
              <a:spLocks noChangeArrowheads="1"/>
            </p:cNvSpPr>
            <p:nvPr/>
          </p:nvSpPr>
          <p:spPr bwMode="auto">
            <a:xfrm>
              <a:off x="3288" y="14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5" name="Oval 36"/>
            <p:cNvSpPr>
              <a:spLocks noChangeArrowheads="1"/>
            </p:cNvSpPr>
            <p:nvPr/>
          </p:nvSpPr>
          <p:spPr bwMode="auto">
            <a:xfrm>
              <a:off x="3016" y="134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6" name="Oval 37"/>
            <p:cNvSpPr>
              <a:spLocks noChangeArrowheads="1"/>
            </p:cNvSpPr>
            <p:nvPr/>
          </p:nvSpPr>
          <p:spPr bwMode="auto">
            <a:xfrm>
              <a:off x="2693" y="177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7" name="Oval 38"/>
            <p:cNvSpPr>
              <a:spLocks noChangeArrowheads="1"/>
            </p:cNvSpPr>
            <p:nvPr/>
          </p:nvSpPr>
          <p:spPr bwMode="auto">
            <a:xfrm>
              <a:off x="2406" y="20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8" name="Oval 39"/>
            <p:cNvSpPr>
              <a:spLocks noChangeArrowheads="1"/>
            </p:cNvSpPr>
            <p:nvPr/>
          </p:nvSpPr>
          <p:spPr bwMode="auto">
            <a:xfrm>
              <a:off x="2472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49" name="Oval 40"/>
            <p:cNvSpPr>
              <a:spLocks noChangeArrowheads="1"/>
            </p:cNvSpPr>
            <p:nvPr/>
          </p:nvSpPr>
          <p:spPr bwMode="auto">
            <a:xfrm>
              <a:off x="3061" y="16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50" name="Oval 41"/>
            <p:cNvSpPr>
              <a:spLocks noChangeArrowheads="1"/>
            </p:cNvSpPr>
            <p:nvPr/>
          </p:nvSpPr>
          <p:spPr bwMode="auto">
            <a:xfrm>
              <a:off x="2880" y="157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51" name="Group 42"/>
            <p:cNvGrpSpPr>
              <a:grpSpLocks/>
            </p:cNvGrpSpPr>
            <p:nvPr/>
          </p:nvGrpSpPr>
          <p:grpSpPr bwMode="auto">
            <a:xfrm>
              <a:off x="2064" y="1162"/>
              <a:ext cx="1595" cy="1325"/>
              <a:chOff x="1240" y="1162"/>
              <a:chExt cx="1595" cy="1325"/>
            </a:xfrm>
          </p:grpSpPr>
          <p:sp>
            <p:nvSpPr>
              <p:cNvPr id="8252" name="Rectangle 43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3" name="Rectangle 44"/>
              <p:cNvSpPr>
                <a:spLocks noChangeArrowheads="1"/>
              </p:cNvSpPr>
              <p:nvPr/>
            </p:nvSpPr>
            <p:spPr bwMode="auto">
              <a:xfrm rot="-5400000">
                <a:off x="1278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54" name="Freeform 45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197" name="Group 62"/>
          <p:cNvGrpSpPr>
            <a:grpSpLocks/>
          </p:cNvGrpSpPr>
          <p:nvPr/>
        </p:nvGrpSpPr>
        <p:grpSpPr bwMode="auto">
          <a:xfrm>
            <a:off x="5867400" y="1412875"/>
            <a:ext cx="2532063" cy="2103438"/>
            <a:chOff x="3696" y="1162"/>
            <a:chExt cx="1595" cy="1325"/>
          </a:xfrm>
        </p:grpSpPr>
        <p:sp>
          <p:nvSpPr>
            <p:cNvPr id="8227" name="Oval 48"/>
            <p:cNvSpPr>
              <a:spLocks noChangeArrowheads="1"/>
            </p:cNvSpPr>
            <p:nvPr/>
          </p:nvSpPr>
          <p:spPr bwMode="auto">
            <a:xfrm>
              <a:off x="4512" y="143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8" name="Oval 49"/>
            <p:cNvSpPr>
              <a:spLocks noChangeArrowheads="1"/>
            </p:cNvSpPr>
            <p:nvPr/>
          </p:nvSpPr>
          <p:spPr bwMode="auto">
            <a:xfrm>
              <a:off x="4604" y="193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9" name="Oval 50"/>
            <p:cNvSpPr>
              <a:spLocks noChangeArrowheads="1"/>
            </p:cNvSpPr>
            <p:nvPr/>
          </p:nvSpPr>
          <p:spPr bwMode="auto">
            <a:xfrm>
              <a:off x="4694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0" name="Oval 51"/>
            <p:cNvSpPr>
              <a:spLocks noChangeArrowheads="1"/>
            </p:cNvSpPr>
            <p:nvPr/>
          </p:nvSpPr>
          <p:spPr bwMode="auto">
            <a:xfrm>
              <a:off x="4876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1" name="Oval 52"/>
            <p:cNvSpPr>
              <a:spLocks noChangeArrowheads="1"/>
            </p:cNvSpPr>
            <p:nvPr/>
          </p:nvSpPr>
          <p:spPr bwMode="auto">
            <a:xfrm>
              <a:off x="4740" y="1480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2" name="Oval 53"/>
            <p:cNvSpPr>
              <a:spLocks noChangeArrowheads="1"/>
            </p:cNvSpPr>
            <p:nvPr/>
          </p:nvSpPr>
          <p:spPr bwMode="auto">
            <a:xfrm>
              <a:off x="4461" y="172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3" name="Oval 54"/>
            <p:cNvSpPr>
              <a:spLocks noChangeArrowheads="1"/>
            </p:cNvSpPr>
            <p:nvPr/>
          </p:nvSpPr>
          <p:spPr bwMode="auto">
            <a:xfrm>
              <a:off x="4286" y="184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4" name="Oval 55"/>
            <p:cNvSpPr>
              <a:spLocks noChangeArrowheads="1"/>
            </p:cNvSpPr>
            <p:nvPr/>
          </p:nvSpPr>
          <p:spPr bwMode="auto">
            <a:xfrm>
              <a:off x="4331" y="157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5" name="Oval 56"/>
            <p:cNvSpPr>
              <a:spLocks noChangeArrowheads="1"/>
            </p:cNvSpPr>
            <p:nvPr/>
          </p:nvSpPr>
          <p:spPr bwMode="auto">
            <a:xfrm>
              <a:off x="4876" y="175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36" name="Oval 57"/>
            <p:cNvSpPr>
              <a:spLocks noChangeArrowheads="1"/>
            </p:cNvSpPr>
            <p:nvPr/>
          </p:nvSpPr>
          <p:spPr bwMode="auto">
            <a:xfrm>
              <a:off x="4604" y="1661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37" name="Group 58"/>
            <p:cNvGrpSpPr>
              <a:grpSpLocks/>
            </p:cNvGrpSpPr>
            <p:nvPr/>
          </p:nvGrpSpPr>
          <p:grpSpPr bwMode="auto">
            <a:xfrm>
              <a:off x="3696" y="1162"/>
              <a:ext cx="1595" cy="1325"/>
              <a:chOff x="1240" y="1162"/>
              <a:chExt cx="1595" cy="1325"/>
            </a:xfrm>
          </p:grpSpPr>
          <p:sp>
            <p:nvSpPr>
              <p:cNvPr id="8238" name="Rectangle 59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39" name="Rectangle 60"/>
              <p:cNvSpPr>
                <a:spLocks noChangeArrowheads="1"/>
              </p:cNvSpPr>
              <p:nvPr/>
            </p:nvSpPr>
            <p:spPr bwMode="auto">
              <a:xfrm rot="-5400000">
                <a:off x="1278" y="1654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40" name="Freeform 61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79"/>
          <p:cNvGrpSpPr>
            <a:grpSpLocks/>
          </p:cNvGrpSpPr>
          <p:nvPr/>
        </p:nvGrpSpPr>
        <p:grpSpPr bwMode="auto">
          <a:xfrm>
            <a:off x="609600" y="4221163"/>
            <a:ext cx="2533650" cy="2103437"/>
            <a:chOff x="384" y="2659"/>
            <a:chExt cx="1596" cy="1325"/>
          </a:xfrm>
        </p:grpSpPr>
        <p:sp>
          <p:nvSpPr>
            <p:cNvPr id="8213" name="Oval 64"/>
            <p:cNvSpPr>
              <a:spLocks noChangeArrowheads="1"/>
            </p:cNvSpPr>
            <p:nvPr/>
          </p:nvSpPr>
          <p:spPr bwMode="auto">
            <a:xfrm flipH="1">
              <a:off x="1216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4" name="Oval 65"/>
            <p:cNvSpPr>
              <a:spLocks noChangeArrowheads="1"/>
            </p:cNvSpPr>
            <p:nvPr/>
          </p:nvSpPr>
          <p:spPr bwMode="auto">
            <a:xfrm flipH="1">
              <a:off x="1515" y="3491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5" name="Oval 66"/>
            <p:cNvSpPr>
              <a:spLocks noChangeArrowheads="1"/>
            </p:cNvSpPr>
            <p:nvPr/>
          </p:nvSpPr>
          <p:spPr bwMode="auto">
            <a:xfrm flipH="1">
              <a:off x="1216" y="33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6" name="Oval 67"/>
            <p:cNvSpPr>
              <a:spLocks noChangeArrowheads="1"/>
            </p:cNvSpPr>
            <p:nvPr/>
          </p:nvSpPr>
          <p:spPr bwMode="auto">
            <a:xfrm flipH="1">
              <a:off x="839" y="284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7" name="Oval 68"/>
            <p:cNvSpPr>
              <a:spLocks noChangeArrowheads="1"/>
            </p:cNvSpPr>
            <p:nvPr/>
          </p:nvSpPr>
          <p:spPr bwMode="auto">
            <a:xfrm flipH="1">
              <a:off x="1036" y="3015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8" name="Oval 69"/>
            <p:cNvSpPr>
              <a:spLocks noChangeArrowheads="1"/>
            </p:cNvSpPr>
            <p:nvPr/>
          </p:nvSpPr>
          <p:spPr bwMode="auto">
            <a:xfrm flipH="1">
              <a:off x="1404" y="335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19" name="Oval 70"/>
            <p:cNvSpPr>
              <a:spLocks noChangeArrowheads="1"/>
            </p:cNvSpPr>
            <p:nvPr/>
          </p:nvSpPr>
          <p:spPr bwMode="auto">
            <a:xfrm flipH="1">
              <a:off x="1691" y="35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0" name="Oval 71"/>
            <p:cNvSpPr>
              <a:spLocks noChangeArrowheads="1"/>
            </p:cNvSpPr>
            <p:nvPr/>
          </p:nvSpPr>
          <p:spPr bwMode="auto">
            <a:xfrm flipH="1">
              <a:off x="1625" y="346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1" name="Oval 72"/>
            <p:cNvSpPr>
              <a:spLocks noChangeArrowheads="1"/>
            </p:cNvSpPr>
            <p:nvPr/>
          </p:nvSpPr>
          <p:spPr bwMode="auto">
            <a:xfrm flipH="1">
              <a:off x="1080" y="319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222" name="Oval 73"/>
            <p:cNvSpPr>
              <a:spLocks noChangeArrowheads="1"/>
            </p:cNvSpPr>
            <p:nvPr/>
          </p:nvSpPr>
          <p:spPr bwMode="auto">
            <a:xfrm flipH="1">
              <a:off x="1015" y="3148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8223" name="Group 74"/>
            <p:cNvGrpSpPr>
              <a:grpSpLocks/>
            </p:cNvGrpSpPr>
            <p:nvPr/>
          </p:nvGrpSpPr>
          <p:grpSpPr bwMode="auto">
            <a:xfrm>
              <a:off x="384" y="2659"/>
              <a:ext cx="1596" cy="1325"/>
              <a:chOff x="1239" y="1162"/>
              <a:chExt cx="1596" cy="1325"/>
            </a:xfrm>
          </p:grpSpPr>
          <p:sp>
            <p:nvSpPr>
              <p:cNvPr id="8224" name="Rectangle 75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85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5" name="Rectangle 76"/>
              <p:cNvSpPr>
                <a:spLocks noChangeArrowheads="1"/>
              </p:cNvSpPr>
              <p:nvPr/>
            </p:nvSpPr>
            <p:spPr bwMode="auto">
              <a:xfrm rot="-5400000">
                <a:off x="1277" y="1655"/>
                <a:ext cx="78" cy="1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26" name="Freeform 77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1346" name="Rectangle 82"/>
          <p:cNvSpPr>
            <a:spLocks noChangeArrowheads="1"/>
          </p:cNvSpPr>
          <p:nvPr/>
        </p:nvSpPr>
        <p:spPr bwMode="auto">
          <a:xfrm>
            <a:off x="3563938" y="3579813"/>
            <a:ext cx="503054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Correlação </a:t>
            </a:r>
            <a:r>
              <a:rPr lang="pt-BR" altLang="pt-BR" sz="1600" dirty="0">
                <a:latin typeface="Tahoma" panose="020B0604030504040204" pitchFamily="34" charset="0"/>
              </a:rPr>
              <a:t>(de Pearson)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mede o grau de relação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latin typeface="Tahoma" panose="020B0604030504040204" pitchFamily="34" charset="0"/>
              </a:rPr>
              <a:t>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</a:p>
        </p:txBody>
      </p:sp>
      <p:graphicFrame>
        <p:nvGraphicFramePr>
          <p:cNvPr id="11347" name="Object 83"/>
          <p:cNvGraphicFramePr>
            <a:graphicFrameLocks noChangeAspect="1"/>
          </p:cNvGraphicFramePr>
          <p:nvPr/>
        </p:nvGraphicFramePr>
        <p:xfrm>
          <a:off x="3255963" y="4475163"/>
          <a:ext cx="15843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320800" imgH="457200" progId="Equation.DSMT4">
                  <p:embed/>
                </p:oleObj>
              </mc:Choice>
              <mc:Fallback>
                <p:oleObj name="Equation" r:id="rId2" imgW="1320800" imgH="457200" progId="Equation.DSMT4">
                  <p:embed/>
                  <p:pic>
                    <p:nvPicPr>
                      <p:cNvPr id="11347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55963" y="4475163"/>
                        <a:ext cx="15843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0" name="Object 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9891226"/>
              </p:ext>
            </p:extLst>
          </p:nvPr>
        </p:nvGraphicFramePr>
        <p:xfrm>
          <a:off x="3225800" y="5157788"/>
          <a:ext cx="2257425" cy="1065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879560" imgH="888840" progId="Equation.DSMT4">
                  <p:embed/>
                </p:oleObj>
              </mc:Choice>
              <mc:Fallback>
                <p:oleObj name="Equation" r:id="rId4" imgW="1879560" imgH="888840" progId="Equation.DSMT4">
                  <p:embed/>
                  <p:pic>
                    <p:nvPicPr>
                      <p:cNvPr id="1135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25800" y="5157788"/>
                        <a:ext cx="2257425" cy="10652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1" name="Object 87"/>
          <p:cNvGraphicFramePr>
            <a:graphicFrameLocks noChangeAspect="1"/>
          </p:cNvGraphicFramePr>
          <p:nvPr/>
        </p:nvGraphicFramePr>
        <p:xfrm>
          <a:off x="5722938" y="4624388"/>
          <a:ext cx="752475" cy="198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622030" imgH="165028" progId="Equation.DSMT4">
                  <p:embed/>
                </p:oleObj>
              </mc:Choice>
              <mc:Fallback>
                <p:oleObj name="Equation" r:id="rId6" imgW="622030" imgH="165028" progId="Equation.DSMT4">
                  <p:embed/>
                  <p:pic>
                    <p:nvPicPr>
                      <p:cNvPr id="11351" name="Object 8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22938" y="4624388"/>
                        <a:ext cx="752475" cy="198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352" name="Object 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96567363"/>
              </p:ext>
            </p:extLst>
          </p:nvPr>
        </p:nvGraphicFramePr>
        <p:xfrm>
          <a:off x="5626100" y="5151438"/>
          <a:ext cx="3284538" cy="1201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30240" imgH="1002960" progId="Equation.DSMT4">
                  <p:embed/>
                </p:oleObj>
              </mc:Choice>
              <mc:Fallback>
                <p:oleObj name="Equation" r:id="rId8" imgW="2730240" imgH="1002960" progId="Equation.DSMT4">
                  <p:embed/>
                  <p:pic>
                    <p:nvPicPr>
                      <p:cNvPr id="11352" name="Object 8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26100" y="5151438"/>
                        <a:ext cx="3284538" cy="1201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353" name="Text Box 89"/>
          <p:cNvSpPr txBox="1">
            <a:spLocks noChangeArrowheads="1"/>
          </p:cNvSpPr>
          <p:nvPr/>
        </p:nvSpPr>
        <p:spPr bwMode="auto">
          <a:xfrm>
            <a:off x="1979613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0,9</a:t>
            </a:r>
          </a:p>
        </p:txBody>
      </p:sp>
      <p:sp>
        <p:nvSpPr>
          <p:cNvPr id="11354" name="Text Box 90"/>
          <p:cNvSpPr txBox="1">
            <a:spLocks noChangeArrowheads="1"/>
          </p:cNvSpPr>
          <p:nvPr/>
        </p:nvSpPr>
        <p:spPr bwMode="auto">
          <a:xfrm>
            <a:off x="4643438" y="2636838"/>
            <a:ext cx="80168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0,3</a:t>
            </a:r>
          </a:p>
        </p:txBody>
      </p:sp>
      <p:sp>
        <p:nvSpPr>
          <p:cNvPr id="11355" name="Text Box 91"/>
          <p:cNvSpPr txBox="1">
            <a:spLocks noChangeArrowheads="1"/>
          </p:cNvSpPr>
          <p:nvPr/>
        </p:nvSpPr>
        <p:spPr bwMode="auto">
          <a:xfrm>
            <a:off x="7451725" y="2708275"/>
            <a:ext cx="630238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0</a:t>
            </a:r>
          </a:p>
        </p:txBody>
      </p:sp>
      <p:sp>
        <p:nvSpPr>
          <p:cNvPr id="11356" name="Text Box 92"/>
          <p:cNvSpPr txBox="1">
            <a:spLocks noChangeArrowheads="1"/>
          </p:cNvSpPr>
          <p:nvPr/>
        </p:nvSpPr>
        <p:spPr bwMode="auto">
          <a:xfrm>
            <a:off x="1042988" y="5516563"/>
            <a:ext cx="935037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- 0,9</a:t>
            </a:r>
          </a:p>
        </p:txBody>
      </p:sp>
      <p:sp>
        <p:nvSpPr>
          <p:cNvPr id="11357" name="Line 93"/>
          <p:cNvSpPr>
            <a:spLocks noChangeShapeType="1"/>
          </p:cNvSpPr>
          <p:nvPr/>
        </p:nvSpPr>
        <p:spPr bwMode="auto">
          <a:xfrm flipV="1">
            <a:off x="1125538" y="1657350"/>
            <a:ext cx="1511300" cy="12239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8" name="Line 94"/>
          <p:cNvSpPr>
            <a:spLocks noChangeShapeType="1"/>
          </p:cNvSpPr>
          <p:nvPr/>
        </p:nvSpPr>
        <p:spPr bwMode="auto">
          <a:xfrm flipV="1">
            <a:off x="3779838" y="1628775"/>
            <a:ext cx="1368425" cy="1295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1359" name="Line 95"/>
          <p:cNvSpPr>
            <a:spLocks noChangeShapeType="1"/>
          </p:cNvSpPr>
          <p:nvPr/>
        </p:nvSpPr>
        <p:spPr bwMode="auto">
          <a:xfrm>
            <a:off x="1284288" y="4633913"/>
            <a:ext cx="1511300" cy="12239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75" name="Elipse 74"/>
          <p:cNvSpPr>
            <a:spLocks noChangeArrowheads="1"/>
          </p:cNvSpPr>
          <p:nvPr/>
        </p:nvSpPr>
        <p:spPr bwMode="auto">
          <a:xfrm>
            <a:off x="3643313" y="4406900"/>
            <a:ext cx="1071562" cy="357188"/>
          </a:xfrm>
          <a:prstGeom prst="ellipse">
            <a:avLst/>
          </a:prstGeom>
          <a:noFill/>
          <a:ln w="19050" algn="ctr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1130187-937B-4537-AC3E-E8A87C43E105}" type="slidenum">
              <a:rPr lang="pt-BR"/>
              <a:pPr>
                <a:defRPr/>
              </a:pPr>
              <a:t>9</a:t>
            </a:fld>
            <a:endParaRPr lang="pt-BR"/>
          </a:p>
        </p:txBody>
      </p:sp>
      <p:sp>
        <p:nvSpPr>
          <p:cNvPr id="77" name="Rectangle 82"/>
          <p:cNvSpPr>
            <a:spLocks noChangeArrowheads="1"/>
          </p:cNvSpPr>
          <p:nvPr/>
        </p:nvSpPr>
        <p:spPr bwMode="auto">
          <a:xfrm>
            <a:off x="6516216" y="4553832"/>
            <a:ext cx="153118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(adimensional)</a:t>
            </a:r>
            <a:endParaRPr lang="pt-BR" altLang="pt-BR" sz="1600" i="1" dirty="0">
              <a:latin typeface="Times New Roman" charset="0"/>
              <a:cs typeface="Times New Roman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46" grpId="0" build="p"/>
      <p:bldP spid="11353" grpId="0"/>
      <p:bldP spid="11354" grpId="0"/>
      <p:bldP spid="11355" grpId="0"/>
      <p:bldP spid="11356" grpId="0"/>
      <p:bldP spid="11357" grpId="0" animBg="1"/>
      <p:bldP spid="11358" grpId="0" animBg="1"/>
      <p:bldP spid="11359" grpId="0" animBg="1"/>
      <p:bldP spid="75" grpId="0" animBg="1"/>
      <p:bldP spid="77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10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4" name="Grupo 3"/>
          <p:cNvGrpSpPr/>
          <p:nvPr/>
        </p:nvGrpSpPr>
        <p:grpSpPr>
          <a:xfrm>
            <a:off x="313899" y="2060845"/>
            <a:ext cx="5824394" cy="4160782"/>
            <a:chOff x="313899" y="2060845"/>
            <a:chExt cx="5824394" cy="4160782"/>
          </a:xfrm>
        </p:grpSpPr>
        <p:sp>
          <p:nvSpPr>
            <p:cNvPr id="2" name="Retângulo 1"/>
            <p:cNvSpPr/>
            <p:nvPr/>
          </p:nvSpPr>
          <p:spPr bwMode="auto">
            <a:xfrm>
              <a:off x="313899" y="2060845"/>
              <a:ext cx="657701" cy="416078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3" name="Retângulo 52"/>
            <p:cNvSpPr/>
            <p:nvPr/>
          </p:nvSpPr>
          <p:spPr bwMode="auto">
            <a:xfrm>
              <a:off x="959736" y="2510205"/>
              <a:ext cx="657701" cy="3711422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3" name="Retângulo 62"/>
            <p:cNvSpPr/>
            <p:nvPr/>
          </p:nvSpPr>
          <p:spPr bwMode="auto">
            <a:xfrm>
              <a:off x="1605573" y="2997843"/>
              <a:ext cx="657701" cy="32237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4" name="Retângulo 63"/>
            <p:cNvSpPr/>
            <p:nvPr/>
          </p:nvSpPr>
          <p:spPr bwMode="auto">
            <a:xfrm>
              <a:off x="2251410" y="3437681"/>
              <a:ext cx="657701" cy="2783945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5" name="Retângulo 64"/>
            <p:cNvSpPr/>
            <p:nvPr/>
          </p:nvSpPr>
          <p:spPr bwMode="auto">
            <a:xfrm>
              <a:off x="2897247" y="3912243"/>
              <a:ext cx="657701" cy="2309383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6" name="Retângulo 65"/>
            <p:cNvSpPr/>
            <p:nvPr/>
          </p:nvSpPr>
          <p:spPr bwMode="auto">
            <a:xfrm>
              <a:off x="3543084" y="4363657"/>
              <a:ext cx="657701" cy="1857970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7" name="Retângulo 66"/>
            <p:cNvSpPr/>
            <p:nvPr/>
          </p:nvSpPr>
          <p:spPr bwMode="auto">
            <a:xfrm>
              <a:off x="4188921" y="4815067"/>
              <a:ext cx="657701" cy="1406559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8" name="Retângulo 67"/>
            <p:cNvSpPr/>
            <p:nvPr/>
          </p:nvSpPr>
          <p:spPr bwMode="auto">
            <a:xfrm>
              <a:off x="4834758" y="5289630"/>
              <a:ext cx="657701" cy="931996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9" name="Retângulo 68"/>
            <p:cNvSpPr/>
            <p:nvPr/>
          </p:nvSpPr>
          <p:spPr bwMode="auto">
            <a:xfrm>
              <a:off x="5480592" y="5764192"/>
              <a:ext cx="657701" cy="45743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7367"/>
            <a:chOff x="3153527" y="4361336"/>
            <a:chExt cx="7494477" cy="4492020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3844" y="2491676"/>
            <a:ext cx="4526722" cy="3256200"/>
            <a:chOff x="3153527" y="4361336"/>
            <a:chExt cx="5834036" cy="349310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82" name="CaixaDeTexto 81"/>
          <p:cNvSpPr txBox="1"/>
          <p:nvPr/>
        </p:nvSpPr>
        <p:spPr>
          <a:xfrm>
            <a:off x="323528" y="3540151"/>
            <a:ext cx="2467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Relação entre EVI, NDVI e frações do modelo de mistura (vegetação, solo e sombra) em 2 datas</a:t>
            </a:r>
          </a:p>
        </p:txBody>
      </p:sp>
      <p:sp>
        <p:nvSpPr>
          <p:cNvPr id="83" name="CaixaDeTexto 82"/>
          <p:cNvSpPr txBox="1"/>
          <p:nvPr/>
        </p:nvSpPr>
        <p:spPr>
          <a:xfrm>
            <a:off x="323528" y="4829653"/>
            <a:ext cx="386539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82563" indent="-182563"/>
            <a:r>
              <a:rPr lang="pt-BR" sz="1400" dirty="0">
                <a:latin typeface="Tahoma" panose="020B0604030504040204" pitchFamily="34" charset="0"/>
              </a:rPr>
              <a:t>É fundamental analisar o </a:t>
            </a:r>
            <a:r>
              <a:rPr 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gráfico de dispersão </a:t>
            </a:r>
            <a:r>
              <a:rPr lang="pt-BR" sz="1400" dirty="0">
                <a:latin typeface="Tahoma" panose="020B0604030504040204" pitchFamily="34" charset="0"/>
              </a:rPr>
              <a:t>para verificar se a relação é linear e os pontos estão bem distribuídos!</a:t>
            </a:r>
          </a:p>
        </p:txBody>
      </p:sp>
      <p:grpSp>
        <p:nvGrpSpPr>
          <p:cNvPr id="84" name="Grupo 83"/>
          <p:cNvGrpSpPr/>
          <p:nvPr/>
        </p:nvGrpSpPr>
        <p:grpSpPr>
          <a:xfrm>
            <a:off x="4202056" y="4357094"/>
            <a:ext cx="1942545" cy="1399312"/>
            <a:chOff x="3153527" y="4361336"/>
            <a:chExt cx="2503549" cy="1501118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11</a:t>
            </a:fld>
            <a:endParaRPr lang="pt-BR"/>
          </a:p>
        </p:txBody>
      </p:sp>
      <p:sp>
        <p:nvSpPr>
          <p:cNvPr id="14" name="Retângulo 2"/>
          <p:cNvSpPr>
            <a:spLocks noChangeArrowheads="1"/>
          </p:cNvSpPr>
          <p:nvPr/>
        </p:nvSpPr>
        <p:spPr bwMode="auto">
          <a:xfrm>
            <a:off x="179512" y="6624687"/>
            <a:ext cx="709871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</a:pPr>
            <a:r>
              <a:rPr lang="pt-BR" altLang="pt-BR" sz="700" dirty="0">
                <a:latin typeface="Tahoma" panose="020B0604030504040204" pitchFamily="34" charset="0"/>
              </a:rPr>
              <a:t>*Fonte: Souza e Guimarães et al. (2005)  - </a:t>
            </a:r>
            <a:r>
              <a:rPr lang="pt-BR" sz="700" dirty="0">
                <a:latin typeface="Tahoma" panose="020B0604030504040204" pitchFamily="34" charset="0"/>
              </a:rPr>
              <a:t>http://marte.sid.inpe.br/col/ltid.inpe.br/sbsr/2004/11.20.17.44/doc/2665.pdf</a:t>
            </a:r>
            <a:endParaRPr lang="pt-BR" sz="8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700" dirty="0">
              <a:latin typeface="Tahoma" panose="020B0604030504040204" pitchFamily="34" charset="0"/>
            </a:endParaRPr>
          </a:p>
        </p:txBody>
      </p:sp>
      <p:sp>
        <p:nvSpPr>
          <p:cNvPr id="23" name="Retângulo 22"/>
          <p:cNvSpPr/>
          <p:nvPr/>
        </p:nvSpPr>
        <p:spPr bwMode="auto">
          <a:xfrm>
            <a:off x="313899" y="1700805"/>
            <a:ext cx="5347902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5" name="Retângulo 44"/>
          <p:cNvSpPr/>
          <p:nvPr/>
        </p:nvSpPr>
        <p:spPr bwMode="auto">
          <a:xfrm rot="5400000">
            <a:off x="3795447" y="3313578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6" name="Retângulo 45"/>
          <p:cNvSpPr/>
          <p:nvPr/>
        </p:nvSpPr>
        <p:spPr bwMode="auto">
          <a:xfrm rot="5400000">
            <a:off x="-1392314" y="3389351"/>
            <a:ext cx="3585579" cy="36004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pic>
        <p:nvPicPr>
          <p:cNvPr id="1249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4" t="2395" r="1328" b="1718"/>
          <a:stretch/>
        </p:blipFill>
        <p:spPr bwMode="auto">
          <a:xfrm>
            <a:off x="313899" y="1600200"/>
            <a:ext cx="6476139" cy="46214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70" name="Grupo 69"/>
          <p:cNvGrpSpPr/>
          <p:nvPr/>
        </p:nvGrpSpPr>
        <p:grpSpPr>
          <a:xfrm>
            <a:off x="3553987" y="3887765"/>
            <a:ext cx="1942545" cy="1399312"/>
            <a:chOff x="3153527" y="4361336"/>
            <a:chExt cx="2503549" cy="1501118"/>
          </a:xfrm>
        </p:grpSpPr>
        <p:sp>
          <p:nvSpPr>
            <p:cNvPr id="71" name="Retângulo 70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2" name="Retângulo 71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3" name="Retângulo 72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38" name="Retângulo 37"/>
            <p:cNvSpPr/>
            <p:nvPr/>
          </p:nvSpPr>
          <p:spPr bwMode="auto">
            <a:xfrm>
              <a:off x="3174940" y="5357028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4" name="Grupo 73"/>
          <p:cNvGrpSpPr/>
          <p:nvPr/>
        </p:nvGrpSpPr>
        <p:grpSpPr>
          <a:xfrm>
            <a:off x="977590" y="2038370"/>
            <a:ext cx="5815083" cy="4188342"/>
            <a:chOff x="3153527" y="4361336"/>
            <a:chExt cx="7494477" cy="4493066"/>
          </a:xfrm>
        </p:grpSpPr>
        <p:sp>
          <p:nvSpPr>
            <p:cNvPr id="75" name="Retângulo 74"/>
            <p:cNvSpPr/>
            <p:nvPr/>
          </p:nvSpPr>
          <p:spPr bwMode="auto">
            <a:xfrm>
              <a:off x="9819999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6" name="Retângulo 7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7" name="Retângulo 76"/>
            <p:cNvSpPr/>
            <p:nvPr/>
          </p:nvSpPr>
          <p:spPr bwMode="auto">
            <a:xfrm>
              <a:off x="9820002" y="8349356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4" name="Retângulo 53"/>
            <p:cNvSpPr/>
            <p:nvPr/>
          </p:nvSpPr>
          <p:spPr bwMode="auto">
            <a:xfrm>
              <a:off x="3153686" y="8350402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78" name="Grupo 77"/>
          <p:cNvGrpSpPr/>
          <p:nvPr/>
        </p:nvGrpSpPr>
        <p:grpSpPr>
          <a:xfrm>
            <a:off x="1620048" y="2491675"/>
            <a:ext cx="4530518" cy="3263890"/>
            <a:chOff x="3148635" y="4361336"/>
            <a:chExt cx="5838928" cy="3501356"/>
          </a:xfrm>
        </p:grpSpPr>
        <p:sp>
          <p:nvSpPr>
            <p:cNvPr id="79" name="Retângulo 78"/>
            <p:cNvSpPr/>
            <p:nvPr/>
          </p:nvSpPr>
          <p:spPr bwMode="auto">
            <a:xfrm>
              <a:off x="8159558" y="4363753"/>
              <a:ext cx="828001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0" name="Retângulo 79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1" name="Retângulo 80"/>
            <p:cNvSpPr/>
            <p:nvPr/>
          </p:nvSpPr>
          <p:spPr bwMode="auto">
            <a:xfrm>
              <a:off x="8159561" y="7350442"/>
              <a:ext cx="828002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2" name="Retângulo 51"/>
            <p:cNvSpPr/>
            <p:nvPr/>
          </p:nvSpPr>
          <p:spPr bwMode="auto">
            <a:xfrm>
              <a:off x="3148635" y="7358692"/>
              <a:ext cx="827999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grpSp>
        <p:nvGrpSpPr>
          <p:cNvPr id="84" name="Grupo 83"/>
          <p:cNvGrpSpPr/>
          <p:nvPr/>
        </p:nvGrpSpPr>
        <p:grpSpPr>
          <a:xfrm>
            <a:off x="4202056" y="4357093"/>
            <a:ext cx="1942545" cy="1399801"/>
            <a:chOff x="3153527" y="4361336"/>
            <a:chExt cx="2503549" cy="1501643"/>
          </a:xfrm>
        </p:grpSpPr>
        <p:sp>
          <p:nvSpPr>
            <p:cNvPr id="85" name="Retângulo 84"/>
            <p:cNvSpPr/>
            <p:nvPr/>
          </p:nvSpPr>
          <p:spPr bwMode="auto">
            <a:xfrm>
              <a:off x="4829074" y="4363753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6" name="Retângulo 85"/>
            <p:cNvSpPr/>
            <p:nvPr/>
          </p:nvSpPr>
          <p:spPr bwMode="auto">
            <a:xfrm>
              <a:off x="3153527" y="4361336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 bwMode="auto">
            <a:xfrm>
              <a:off x="4829075" y="5358455"/>
              <a:ext cx="828001" cy="503999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51" name="Retângulo 50"/>
            <p:cNvSpPr/>
            <p:nvPr/>
          </p:nvSpPr>
          <p:spPr bwMode="auto">
            <a:xfrm>
              <a:off x="3167710" y="5358979"/>
              <a:ext cx="828000" cy="504000"/>
            </a:xfrm>
            <a:prstGeom prst="rect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70873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Rectangle 119"/>
          <p:cNvSpPr>
            <a:spLocks noChangeArrowheads="1"/>
          </p:cNvSpPr>
          <p:nvPr/>
        </p:nvSpPr>
        <p:spPr bwMode="auto">
          <a:xfrm>
            <a:off x="5852790" y="6219690"/>
            <a:ext cx="439738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>
                <a:latin typeface="Times New Roman" charset="0"/>
              </a:rPr>
              <a:t>X</a:t>
            </a:r>
          </a:p>
        </p:txBody>
      </p:sp>
      <p:sp>
        <p:nvSpPr>
          <p:cNvPr id="125" name="Rectangle 120"/>
          <p:cNvSpPr>
            <a:spLocks noChangeArrowheads="1"/>
          </p:cNvSpPr>
          <p:nvPr/>
        </p:nvSpPr>
        <p:spPr bwMode="auto">
          <a:xfrm rot="16200000">
            <a:off x="4839965" y="5340215"/>
            <a:ext cx="428625" cy="244475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t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dirty="0">
                <a:latin typeface="Times New Roman" charset="0"/>
                <a:sym typeface="Symbol" pitchFamily="18" charset="2"/>
              </a:rPr>
              <a:t></a:t>
            </a:r>
            <a:r>
              <a:rPr lang="pt-BR" altLang="pt-BR" sz="1600" b="1" i="1" dirty="0">
                <a:latin typeface="Times New Roman" charset="0"/>
              </a:rPr>
              <a:t>Y</a:t>
            </a:r>
          </a:p>
        </p:txBody>
      </p:sp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4100" name="Text Box 66"/>
          <p:cNvSpPr txBox="1">
            <a:spLocks noChangeArrowheads="1"/>
          </p:cNvSpPr>
          <p:nvPr/>
        </p:nvSpPr>
        <p:spPr bwMode="auto">
          <a:xfrm>
            <a:off x="468313" y="1340768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errôneas do coeficiente de correlação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alto coeficiente de correlação (em módulo) nem sempre indica que a equação de regressão estimada está bem ajustada aos dados. </a:t>
            </a:r>
          </a:p>
        </p:txBody>
      </p:sp>
      <p:grpSp>
        <p:nvGrpSpPr>
          <p:cNvPr id="2" name="Group 115"/>
          <p:cNvGrpSpPr>
            <a:grpSpLocks noChangeAspect="1"/>
          </p:cNvGrpSpPr>
          <p:nvPr/>
        </p:nvGrpSpPr>
        <p:grpSpPr bwMode="auto">
          <a:xfrm>
            <a:off x="1544240" y="2422500"/>
            <a:ext cx="2093913" cy="1779588"/>
            <a:chOff x="339" y="1797"/>
            <a:chExt cx="1597" cy="1357"/>
          </a:xfrm>
        </p:grpSpPr>
        <p:sp>
          <p:nvSpPr>
            <p:cNvPr id="9283" name="Oval 70"/>
            <p:cNvSpPr>
              <a:spLocks noChangeAspect="1" noChangeArrowheads="1"/>
            </p:cNvSpPr>
            <p:nvPr/>
          </p:nvSpPr>
          <p:spPr bwMode="auto">
            <a:xfrm>
              <a:off x="930" y="238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4" name="Oval 71"/>
            <p:cNvSpPr>
              <a:spLocks noChangeAspect="1" noChangeArrowheads="1"/>
            </p:cNvSpPr>
            <p:nvPr/>
          </p:nvSpPr>
          <p:spPr bwMode="auto">
            <a:xfrm>
              <a:off x="1535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5" name="Oval 74"/>
            <p:cNvSpPr>
              <a:spLocks noChangeAspect="1" noChangeArrowheads="1"/>
            </p:cNvSpPr>
            <p:nvPr/>
          </p:nvSpPr>
          <p:spPr bwMode="auto">
            <a:xfrm>
              <a:off x="683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86" name="Oval 77"/>
            <p:cNvSpPr>
              <a:spLocks noChangeAspect="1" noChangeArrowheads="1"/>
            </p:cNvSpPr>
            <p:nvPr/>
          </p:nvSpPr>
          <p:spPr bwMode="auto">
            <a:xfrm>
              <a:off x="1359" y="2202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87" name="Group 78"/>
            <p:cNvGrpSpPr>
              <a:grpSpLocks noChangeAspect="1"/>
            </p:cNvGrpSpPr>
            <p:nvPr/>
          </p:nvGrpSpPr>
          <p:grpSpPr bwMode="auto">
            <a:xfrm>
              <a:off x="339" y="1797"/>
              <a:ext cx="1597" cy="1357"/>
              <a:chOff x="1238" y="1162"/>
              <a:chExt cx="1597" cy="1357"/>
            </a:xfrm>
          </p:grpSpPr>
          <p:sp>
            <p:nvSpPr>
              <p:cNvPr id="9288" name="Rectangle 79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3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9" name="Rectangle 80"/>
              <p:cNvSpPr>
                <a:spLocks noChangeAspect="1" noChangeArrowheads="1"/>
              </p:cNvSpPr>
              <p:nvPr/>
            </p:nvSpPr>
            <p:spPr bwMode="auto">
              <a:xfrm rot="-5400000">
                <a:off x="1283" y="1630"/>
                <a:ext cx="95" cy="18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90" name="Freeform 81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4" name="Group 114"/>
          <p:cNvGrpSpPr>
            <a:grpSpLocks noChangeAspect="1"/>
          </p:cNvGrpSpPr>
          <p:nvPr/>
        </p:nvGrpSpPr>
        <p:grpSpPr bwMode="auto">
          <a:xfrm>
            <a:off x="3554474" y="2368525"/>
            <a:ext cx="2169653" cy="1833563"/>
            <a:chOff x="1872" y="1797"/>
            <a:chExt cx="1598" cy="1351"/>
          </a:xfrm>
        </p:grpSpPr>
        <p:sp>
          <p:nvSpPr>
            <p:cNvPr id="9269" name="Oval 83"/>
            <p:cNvSpPr>
              <a:spLocks noChangeAspect="1" noChangeArrowheads="1"/>
            </p:cNvSpPr>
            <p:nvPr/>
          </p:nvSpPr>
          <p:spPr bwMode="auto">
            <a:xfrm>
              <a:off x="2925" y="197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0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1" name="Oval 85"/>
            <p:cNvSpPr>
              <a:spLocks noChangeAspect="1" noChangeArrowheads="1"/>
            </p:cNvSpPr>
            <p:nvPr/>
          </p:nvSpPr>
          <p:spPr bwMode="auto">
            <a:xfrm>
              <a:off x="2290" y="2659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2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3" name="Oval 87"/>
            <p:cNvSpPr>
              <a:spLocks noChangeAspect="1" noChangeArrowheads="1"/>
            </p:cNvSpPr>
            <p:nvPr/>
          </p:nvSpPr>
          <p:spPr bwMode="auto">
            <a:xfrm>
              <a:off x="2971" y="1888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4" name="Oval 88"/>
            <p:cNvSpPr>
              <a:spLocks noChangeAspect="1" noChangeArrowheads="1"/>
            </p:cNvSpPr>
            <p:nvPr/>
          </p:nvSpPr>
          <p:spPr bwMode="auto">
            <a:xfrm>
              <a:off x="2336" y="26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5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6" name="Oval 90"/>
            <p:cNvSpPr>
              <a:spLocks noChangeAspect="1" noChangeArrowheads="1"/>
            </p:cNvSpPr>
            <p:nvPr/>
          </p:nvSpPr>
          <p:spPr bwMode="auto">
            <a:xfrm>
              <a:off x="2283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7" name="Oval 91"/>
            <p:cNvSpPr>
              <a:spLocks noChangeAspect="1" noChangeArrowheads="1"/>
            </p:cNvSpPr>
            <p:nvPr/>
          </p:nvSpPr>
          <p:spPr bwMode="auto">
            <a:xfrm>
              <a:off x="2971" y="202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78" name="Oval 92"/>
            <p:cNvSpPr>
              <a:spLocks noChangeAspect="1" noChangeArrowheads="1"/>
            </p:cNvSpPr>
            <p:nvPr/>
          </p:nvSpPr>
          <p:spPr bwMode="auto">
            <a:xfrm>
              <a:off x="3016" y="1979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79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280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1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82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04" name="Oval 116"/>
          <p:cNvSpPr>
            <a:spLocks noChangeArrowheads="1"/>
          </p:cNvSpPr>
          <p:nvPr/>
        </p:nvSpPr>
        <p:spPr bwMode="auto">
          <a:xfrm>
            <a:off x="4011215" y="3324200"/>
            <a:ext cx="296863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405" name="Oval 117"/>
          <p:cNvSpPr>
            <a:spLocks noChangeArrowheads="1"/>
          </p:cNvSpPr>
          <p:nvPr/>
        </p:nvSpPr>
        <p:spPr bwMode="auto">
          <a:xfrm>
            <a:off x="4952603" y="2457425"/>
            <a:ext cx="296862" cy="295275"/>
          </a:xfrm>
          <a:prstGeom prst="ellips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8" name="Group 139"/>
          <p:cNvGrpSpPr>
            <a:grpSpLocks/>
          </p:cNvGrpSpPr>
          <p:nvPr/>
        </p:nvGrpSpPr>
        <p:grpSpPr bwMode="auto">
          <a:xfrm>
            <a:off x="2410172" y="4625107"/>
            <a:ext cx="2170113" cy="1833563"/>
            <a:chOff x="2785" y="1821"/>
            <a:chExt cx="1367" cy="1155"/>
          </a:xfrm>
        </p:grpSpPr>
        <p:sp>
          <p:nvSpPr>
            <p:cNvPr id="9241" name="Oval 123"/>
            <p:cNvSpPr>
              <a:spLocks noChangeAspect="1" noChangeArrowheads="1"/>
            </p:cNvSpPr>
            <p:nvPr/>
          </p:nvSpPr>
          <p:spPr bwMode="auto">
            <a:xfrm>
              <a:off x="3297" y="229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2" name="Oval 124"/>
            <p:cNvSpPr>
              <a:spLocks noChangeAspect="1" noChangeArrowheads="1"/>
            </p:cNvSpPr>
            <p:nvPr/>
          </p:nvSpPr>
          <p:spPr bwMode="auto">
            <a:xfrm>
              <a:off x="3143" y="252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3" name="Oval 125"/>
            <p:cNvSpPr>
              <a:spLocks noChangeAspect="1" noChangeArrowheads="1"/>
            </p:cNvSpPr>
            <p:nvPr/>
          </p:nvSpPr>
          <p:spPr bwMode="auto">
            <a:xfrm>
              <a:off x="3238" y="23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4" name="Oval 126"/>
            <p:cNvSpPr>
              <a:spLocks noChangeAspect="1" noChangeArrowheads="1"/>
            </p:cNvSpPr>
            <p:nvPr/>
          </p:nvSpPr>
          <p:spPr bwMode="auto">
            <a:xfrm>
              <a:off x="3787" y="220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5" name="Oval 127"/>
            <p:cNvSpPr>
              <a:spLocks noChangeAspect="1" noChangeArrowheads="1"/>
            </p:cNvSpPr>
            <p:nvPr/>
          </p:nvSpPr>
          <p:spPr bwMode="auto">
            <a:xfrm>
              <a:off x="3651" y="2205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6" name="Oval 128"/>
            <p:cNvSpPr>
              <a:spLocks noChangeAspect="1" noChangeArrowheads="1"/>
            </p:cNvSpPr>
            <p:nvPr/>
          </p:nvSpPr>
          <p:spPr bwMode="auto">
            <a:xfrm>
              <a:off x="3197" y="2478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7" name="Oval 129"/>
            <p:cNvSpPr>
              <a:spLocks noChangeAspect="1" noChangeArrowheads="1"/>
            </p:cNvSpPr>
            <p:nvPr/>
          </p:nvSpPr>
          <p:spPr bwMode="auto">
            <a:xfrm>
              <a:off x="2987" y="272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8" name="Oval 130"/>
            <p:cNvSpPr>
              <a:spLocks noChangeAspect="1" noChangeArrowheads="1"/>
            </p:cNvSpPr>
            <p:nvPr/>
          </p:nvSpPr>
          <p:spPr bwMode="auto">
            <a:xfrm>
              <a:off x="3065" y="263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49" name="Oval 131"/>
            <p:cNvSpPr>
              <a:spLocks noChangeAspect="1" noChangeArrowheads="1"/>
            </p:cNvSpPr>
            <p:nvPr/>
          </p:nvSpPr>
          <p:spPr bwMode="auto">
            <a:xfrm>
              <a:off x="3414" y="2222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50" name="Oval 132"/>
            <p:cNvSpPr>
              <a:spLocks noChangeAspect="1" noChangeArrowheads="1"/>
            </p:cNvSpPr>
            <p:nvPr/>
          </p:nvSpPr>
          <p:spPr bwMode="auto">
            <a:xfrm>
              <a:off x="3515" y="2251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251" name="Group 133"/>
            <p:cNvGrpSpPr>
              <a:grpSpLocks noChangeAspect="1"/>
            </p:cNvGrpSpPr>
            <p:nvPr/>
          </p:nvGrpSpPr>
          <p:grpSpPr bwMode="auto">
            <a:xfrm>
              <a:off x="2785" y="1821"/>
              <a:ext cx="1367" cy="1155"/>
              <a:chOff x="1237" y="1162"/>
              <a:chExt cx="1598" cy="1351"/>
            </a:xfrm>
          </p:grpSpPr>
          <p:sp>
            <p:nvSpPr>
              <p:cNvPr id="9252" name="Rectangle 13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3" name="Rectangle 13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254" name="Freeform 13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2428" name="Line 140"/>
          <p:cNvSpPr>
            <a:spLocks noChangeShapeType="1"/>
          </p:cNvSpPr>
          <p:nvPr/>
        </p:nvSpPr>
        <p:spPr bwMode="auto">
          <a:xfrm flipV="1">
            <a:off x="1976040" y="2595538"/>
            <a:ext cx="1208088" cy="10318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0" name="Group 143"/>
          <p:cNvGrpSpPr>
            <a:grpSpLocks/>
          </p:cNvGrpSpPr>
          <p:nvPr/>
        </p:nvGrpSpPr>
        <p:grpSpPr bwMode="auto">
          <a:xfrm>
            <a:off x="1976040" y="2330425"/>
            <a:ext cx="1223963" cy="1368425"/>
            <a:chOff x="476" y="1797"/>
            <a:chExt cx="771" cy="862"/>
          </a:xfrm>
        </p:grpSpPr>
        <p:sp>
          <p:nvSpPr>
            <p:cNvPr id="9239" name="Freeform 141"/>
            <p:cNvSpPr>
              <a:spLocks/>
            </p:cNvSpPr>
            <p:nvPr/>
          </p:nvSpPr>
          <p:spPr bwMode="auto">
            <a:xfrm>
              <a:off x="476" y="1827"/>
              <a:ext cx="771" cy="83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771" h="832">
                  <a:moveTo>
                    <a:pt x="0" y="832"/>
                  </a:moveTo>
                  <a:cubicBezTo>
                    <a:pt x="11" y="635"/>
                    <a:pt x="23" y="439"/>
                    <a:pt x="91" y="424"/>
                  </a:cubicBezTo>
                  <a:cubicBezTo>
                    <a:pt x="159" y="409"/>
                    <a:pt x="310" y="809"/>
                    <a:pt x="408" y="741"/>
                  </a:cubicBezTo>
                  <a:cubicBezTo>
                    <a:pt x="506" y="673"/>
                    <a:pt x="620" y="30"/>
                    <a:pt x="680" y="15"/>
                  </a:cubicBezTo>
                  <a:cubicBezTo>
                    <a:pt x="740" y="0"/>
                    <a:pt x="755" y="325"/>
                    <a:pt x="771" y="651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9240" name="Text Box 142"/>
            <p:cNvSpPr txBox="1">
              <a:spLocks noChangeArrowheads="1"/>
            </p:cNvSpPr>
            <p:nvPr/>
          </p:nvSpPr>
          <p:spPr bwMode="auto">
            <a:xfrm>
              <a:off x="793" y="1797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2" name="Line 144"/>
          <p:cNvSpPr>
            <a:spLocks noChangeShapeType="1"/>
          </p:cNvSpPr>
          <p:nvPr/>
        </p:nvSpPr>
        <p:spPr bwMode="auto">
          <a:xfrm flipV="1">
            <a:off x="3920728" y="2401863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oup 147"/>
          <p:cNvGrpSpPr>
            <a:grpSpLocks/>
          </p:cNvGrpSpPr>
          <p:nvPr/>
        </p:nvGrpSpPr>
        <p:grpSpPr bwMode="auto">
          <a:xfrm>
            <a:off x="4423965" y="3122588"/>
            <a:ext cx="863600" cy="338137"/>
            <a:chOff x="2018" y="2296"/>
            <a:chExt cx="544" cy="213"/>
          </a:xfrm>
        </p:grpSpPr>
        <p:sp>
          <p:nvSpPr>
            <p:cNvPr id="9237" name="AutoShape 145"/>
            <p:cNvSpPr>
              <a:spLocks/>
            </p:cNvSpPr>
            <p:nvPr/>
          </p:nvSpPr>
          <p:spPr bwMode="auto">
            <a:xfrm rot="2731348">
              <a:off x="2267" y="2092"/>
              <a:ext cx="46" cy="544"/>
            </a:xfrm>
            <a:prstGeom prst="rightBrace">
              <a:avLst>
                <a:gd name="adj1" fmla="val 98551"/>
                <a:gd name="adj2" fmla="val 51102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38" name="Text Box 146"/>
            <p:cNvSpPr txBox="1">
              <a:spLocks noChangeArrowheads="1"/>
            </p:cNvSpPr>
            <p:nvPr/>
          </p:nvSpPr>
          <p:spPr bwMode="auto">
            <a:xfrm>
              <a:off x="2290" y="2296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2436" name="Line 148"/>
          <p:cNvSpPr>
            <a:spLocks noChangeShapeType="1"/>
          </p:cNvSpPr>
          <p:nvPr/>
        </p:nvSpPr>
        <p:spPr bwMode="auto">
          <a:xfrm flipV="1">
            <a:off x="2705448" y="5091832"/>
            <a:ext cx="1223962" cy="10080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438" name="Freeform 150"/>
          <p:cNvSpPr>
            <a:spLocks/>
          </p:cNvSpPr>
          <p:nvPr/>
        </p:nvSpPr>
        <p:spPr bwMode="auto">
          <a:xfrm>
            <a:off x="2772123" y="5234707"/>
            <a:ext cx="1228725" cy="869950"/>
          </a:xfrm>
          <a:custGeom>
            <a:avLst/>
            <a:gdLst>
              <a:gd name="T0" fmla="*/ 0 w 774"/>
              <a:gd name="T1" fmla="*/ 2147483647 h 548"/>
              <a:gd name="T2" fmla="*/ 2147483647 w 774"/>
              <a:gd name="T3" fmla="*/ 2147483647 h 548"/>
              <a:gd name="T4" fmla="*/ 2147483647 w 774"/>
              <a:gd name="T5" fmla="*/ 0 h 548"/>
              <a:gd name="T6" fmla="*/ 0 60000 65536"/>
              <a:gd name="T7" fmla="*/ 0 60000 65536"/>
              <a:gd name="T8" fmla="*/ 0 60000 65536"/>
              <a:gd name="T9" fmla="*/ 0 w 774"/>
              <a:gd name="T10" fmla="*/ 0 h 548"/>
              <a:gd name="T11" fmla="*/ 774 w 774"/>
              <a:gd name="T12" fmla="*/ 548 h 5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774" h="548">
                <a:moveTo>
                  <a:pt x="0" y="548"/>
                </a:moveTo>
                <a:cubicBezTo>
                  <a:pt x="52" y="479"/>
                  <a:pt x="175" y="227"/>
                  <a:pt x="304" y="136"/>
                </a:cubicBezTo>
                <a:cubicBezTo>
                  <a:pt x="433" y="45"/>
                  <a:pt x="599" y="22"/>
                  <a:pt x="774" y="0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12</a:t>
            </a:fld>
            <a:endParaRPr lang="pt-BR" dirty="0"/>
          </a:p>
        </p:txBody>
      </p:sp>
      <p:grpSp>
        <p:nvGrpSpPr>
          <p:cNvPr id="76" name="Group 143"/>
          <p:cNvGrpSpPr>
            <a:grpSpLocks/>
          </p:cNvGrpSpPr>
          <p:nvPr/>
        </p:nvGrpSpPr>
        <p:grpSpPr bwMode="auto">
          <a:xfrm>
            <a:off x="4159646" y="2601887"/>
            <a:ext cx="958850" cy="892175"/>
            <a:chOff x="476" y="1968"/>
            <a:chExt cx="604" cy="562"/>
          </a:xfrm>
        </p:grpSpPr>
        <p:sp>
          <p:nvSpPr>
            <p:cNvPr id="77" name="Freeform 141"/>
            <p:cNvSpPr>
              <a:spLocks/>
            </p:cNvSpPr>
            <p:nvPr/>
          </p:nvSpPr>
          <p:spPr bwMode="auto">
            <a:xfrm>
              <a:off x="476" y="1968"/>
              <a:ext cx="604" cy="562"/>
            </a:xfrm>
            <a:custGeom>
              <a:avLst/>
              <a:gdLst>
                <a:gd name="T0" fmla="*/ 0 w 771"/>
                <a:gd name="T1" fmla="*/ 832 h 832"/>
                <a:gd name="T2" fmla="*/ 91 w 771"/>
                <a:gd name="T3" fmla="*/ 424 h 832"/>
                <a:gd name="T4" fmla="*/ 408 w 771"/>
                <a:gd name="T5" fmla="*/ 741 h 832"/>
                <a:gd name="T6" fmla="*/ 680 w 771"/>
                <a:gd name="T7" fmla="*/ 15 h 832"/>
                <a:gd name="T8" fmla="*/ 771 w 771"/>
                <a:gd name="T9" fmla="*/ 651 h 83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771"/>
                <a:gd name="T16" fmla="*/ 0 h 832"/>
                <a:gd name="T17" fmla="*/ 771 w 771"/>
                <a:gd name="T18" fmla="*/ 832 h 832"/>
                <a:gd name="connsiteX0" fmla="*/ 0 w 8820"/>
                <a:gd name="connsiteY0" fmla="*/ 9820 h 9820"/>
                <a:gd name="connsiteX1" fmla="*/ 1180 w 8820"/>
                <a:gd name="connsiteY1" fmla="*/ 4916 h 9820"/>
                <a:gd name="connsiteX2" fmla="*/ 5292 w 8820"/>
                <a:gd name="connsiteY2" fmla="*/ 8726 h 9820"/>
                <a:gd name="connsiteX3" fmla="*/ 8820 w 8820"/>
                <a:gd name="connsiteY3" fmla="*/ 0 h 9820"/>
                <a:gd name="connsiteX0" fmla="*/ 0 w 10000"/>
                <a:gd name="connsiteY0" fmla="*/ 10000 h 10000"/>
                <a:gd name="connsiteX1" fmla="*/ 1338 w 10000"/>
                <a:gd name="connsiteY1" fmla="*/ 5006 h 10000"/>
                <a:gd name="connsiteX2" fmla="*/ 6446 w 10000"/>
                <a:gd name="connsiteY2" fmla="*/ 6165 h 10000"/>
                <a:gd name="connsiteX3" fmla="*/ 10000 w 10000"/>
                <a:gd name="connsiteY3" fmla="*/ 0 h 10000"/>
                <a:gd name="connsiteX0" fmla="*/ 0 w 8885"/>
                <a:gd name="connsiteY0" fmla="*/ 8454 h 8454"/>
                <a:gd name="connsiteX1" fmla="*/ 1338 w 8885"/>
                <a:gd name="connsiteY1" fmla="*/ 3460 h 8454"/>
                <a:gd name="connsiteX2" fmla="*/ 6446 w 8885"/>
                <a:gd name="connsiteY2" fmla="*/ 4619 h 8454"/>
                <a:gd name="connsiteX3" fmla="*/ 8885 w 8885"/>
                <a:gd name="connsiteY3" fmla="*/ 0 h 8454"/>
                <a:gd name="connsiteX0" fmla="*/ 0 w 10000"/>
                <a:gd name="connsiteY0" fmla="*/ 8135 h 8135"/>
                <a:gd name="connsiteX1" fmla="*/ 1506 w 10000"/>
                <a:gd name="connsiteY1" fmla="*/ 4093 h 8135"/>
                <a:gd name="connsiteX2" fmla="*/ 7255 w 10000"/>
                <a:gd name="connsiteY2" fmla="*/ 5464 h 8135"/>
                <a:gd name="connsiteX3" fmla="*/ 10000 w 10000"/>
                <a:gd name="connsiteY3" fmla="*/ 0 h 8135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7255 w 10000"/>
                <a:gd name="connsiteY2" fmla="*/ 6717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1506 w 10000"/>
                <a:gd name="connsiteY1" fmla="*/ 5031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  <a:gd name="connsiteX0" fmla="*/ 0 w 10000"/>
                <a:gd name="connsiteY0" fmla="*/ 10000 h 10000"/>
                <a:gd name="connsiteX1" fmla="*/ 2677 w 10000"/>
                <a:gd name="connsiteY1" fmla="*/ 4986 h 10000"/>
                <a:gd name="connsiteX2" fmla="*/ 6879 w 10000"/>
                <a:gd name="connsiteY2" fmla="*/ 6942 h 10000"/>
                <a:gd name="connsiteX3" fmla="*/ 10000 w 10000"/>
                <a:gd name="connsiteY3" fmla="*/ 0 h 1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00" h="10000">
                  <a:moveTo>
                    <a:pt x="0" y="10000"/>
                  </a:moveTo>
                  <a:cubicBezTo>
                    <a:pt x="307" y="6359"/>
                    <a:pt x="1364" y="5046"/>
                    <a:pt x="2677" y="4986"/>
                  </a:cubicBezTo>
                  <a:cubicBezTo>
                    <a:pt x="3990" y="4926"/>
                    <a:pt x="5868" y="6874"/>
                    <a:pt x="6879" y="6942"/>
                  </a:cubicBezTo>
                  <a:cubicBezTo>
                    <a:pt x="7890" y="7010"/>
                    <a:pt x="8882" y="3864"/>
                    <a:pt x="10000" y="0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78" name="Text Box 142"/>
            <p:cNvSpPr txBox="1">
              <a:spLocks noChangeArrowheads="1"/>
            </p:cNvSpPr>
            <p:nvPr/>
          </p:nvSpPr>
          <p:spPr bwMode="auto">
            <a:xfrm>
              <a:off x="547" y="2050"/>
              <a:ext cx="17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5" name="Retângulo 4"/>
          <p:cNvSpPr/>
          <p:nvPr/>
        </p:nvSpPr>
        <p:spPr>
          <a:xfrm>
            <a:off x="2112085" y="4162518"/>
            <a:ext cx="116538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Poucos pontos</a:t>
            </a:r>
          </a:p>
        </p:txBody>
      </p:sp>
      <p:sp>
        <p:nvSpPr>
          <p:cNvPr id="80" name="Retângulo 79"/>
          <p:cNvSpPr/>
          <p:nvPr/>
        </p:nvSpPr>
        <p:spPr>
          <a:xfrm>
            <a:off x="4050945" y="4162518"/>
            <a:ext cx="138852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Grupos de pontos</a:t>
            </a:r>
          </a:p>
        </p:txBody>
      </p:sp>
      <p:sp>
        <p:nvSpPr>
          <p:cNvPr id="81" name="Retângulo 80"/>
          <p:cNvSpPr/>
          <p:nvPr/>
        </p:nvSpPr>
        <p:spPr>
          <a:xfrm>
            <a:off x="2808247" y="6419100"/>
            <a:ext cx="158306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quase linear</a:t>
            </a:r>
          </a:p>
        </p:txBody>
      </p:sp>
      <p:grpSp>
        <p:nvGrpSpPr>
          <p:cNvPr id="83" name="Group 114"/>
          <p:cNvGrpSpPr>
            <a:grpSpLocks noChangeAspect="1"/>
          </p:cNvGrpSpPr>
          <p:nvPr/>
        </p:nvGrpSpPr>
        <p:grpSpPr bwMode="auto">
          <a:xfrm>
            <a:off x="5721412" y="2361237"/>
            <a:ext cx="2169653" cy="1833563"/>
            <a:chOff x="1872" y="1797"/>
            <a:chExt cx="1598" cy="1351"/>
          </a:xfrm>
        </p:grpSpPr>
        <p:sp>
          <p:nvSpPr>
            <p:cNvPr id="84" name="Oval 83"/>
            <p:cNvSpPr>
              <a:spLocks noChangeAspect="1" noChangeArrowheads="1"/>
            </p:cNvSpPr>
            <p:nvPr/>
          </p:nvSpPr>
          <p:spPr bwMode="auto">
            <a:xfrm>
              <a:off x="2438" y="258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5" name="Oval 84"/>
            <p:cNvSpPr>
              <a:spLocks noChangeAspect="1" noChangeArrowheads="1"/>
            </p:cNvSpPr>
            <p:nvPr/>
          </p:nvSpPr>
          <p:spPr bwMode="auto">
            <a:xfrm>
              <a:off x="2393" y="254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6" name="Oval 85"/>
            <p:cNvSpPr>
              <a:spLocks noChangeAspect="1" noChangeArrowheads="1"/>
            </p:cNvSpPr>
            <p:nvPr/>
          </p:nvSpPr>
          <p:spPr bwMode="auto">
            <a:xfrm>
              <a:off x="2290" y="263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7" name="Oval 86"/>
            <p:cNvSpPr>
              <a:spLocks noChangeAspect="1" noChangeArrowheads="1"/>
            </p:cNvSpPr>
            <p:nvPr/>
          </p:nvSpPr>
          <p:spPr bwMode="auto">
            <a:xfrm>
              <a:off x="3069" y="189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89" name="Oval 88"/>
            <p:cNvSpPr>
              <a:spLocks noChangeAspect="1" noChangeArrowheads="1"/>
            </p:cNvSpPr>
            <p:nvPr/>
          </p:nvSpPr>
          <p:spPr bwMode="auto">
            <a:xfrm>
              <a:off x="2364" y="260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0" name="Oval 89"/>
            <p:cNvSpPr>
              <a:spLocks noChangeAspect="1" noChangeArrowheads="1"/>
            </p:cNvSpPr>
            <p:nvPr/>
          </p:nvSpPr>
          <p:spPr bwMode="auto">
            <a:xfrm>
              <a:off x="2217" y="264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1" name="Oval 90"/>
            <p:cNvSpPr>
              <a:spLocks noChangeAspect="1" noChangeArrowheads="1"/>
            </p:cNvSpPr>
            <p:nvPr/>
          </p:nvSpPr>
          <p:spPr bwMode="auto">
            <a:xfrm>
              <a:off x="2482" y="252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2" name="Oval 91"/>
            <p:cNvSpPr>
              <a:spLocks noChangeAspect="1" noChangeArrowheads="1"/>
            </p:cNvSpPr>
            <p:nvPr/>
          </p:nvSpPr>
          <p:spPr bwMode="auto">
            <a:xfrm>
              <a:off x="2334" y="255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3" name="Oval 92"/>
            <p:cNvSpPr>
              <a:spLocks noChangeAspect="1" noChangeArrowheads="1"/>
            </p:cNvSpPr>
            <p:nvPr/>
          </p:nvSpPr>
          <p:spPr bwMode="auto">
            <a:xfrm>
              <a:off x="2262" y="258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94" name="Group 93"/>
            <p:cNvGrpSpPr>
              <a:grpSpLocks noChangeAspect="1"/>
            </p:cNvGrpSpPr>
            <p:nvPr/>
          </p:nvGrpSpPr>
          <p:grpSpPr bwMode="auto">
            <a:xfrm>
              <a:off x="1872" y="1797"/>
              <a:ext cx="1598" cy="1351"/>
              <a:chOff x="1237" y="1162"/>
              <a:chExt cx="1598" cy="1351"/>
            </a:xfrm>
          </p:grpSpPr>
          <p:sp>
            <p:nvSpPr>
              <p:cNvPr id="95" name="Rectangle 94"/>
              <p:cNvSpPr>
                <a:spLocks noChangeAspect="1" noChangeArrowheads="1"/>
              </p:cNvSpPr>
              <p:nvPr/>
            </p:nvSpPr>
            <p:spPr bwMode="auto">
              <a:xfrm>
                <a:off x="2064" y="2333"/>
                <a:ext cx="100" cy="1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6" name="Rectangle 95"/>
              <p:cNvSpPr>
                <a:spLocks noChangeAspect="1" noChangeArrowheads="1"/>
              </p:cNvSpPr>
              <p:nvPr/>
            </p:nvSpPr>
            <p:spPr bwMode="auto">
              <a:xfrm rot="16200000">
                <a:off x="1282" y="1634"/>
                <a:ext cx="92" cy="18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7" name="Freeform 96"/>
              <p:cNvSpPr>
                <a:spLocks noChangeAspect="1"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00" name="Line 144"/>
          <p:cNvSpPr>
            <a:spLocks noChangeShapeType="1"/>
          </p:cNvSpPr>
          <p:nvPr/>
        </p:nvSpPr>
        <p:spPr bwMode="auto">
          <a:xfrm flipV="1">
            <a:off x="6087666" y="2394575"/>
            <a:ext cx="1439862" cy="12969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07" name="Retângulo 106"/>
          <p:cNvSpPr/>
          <p:nvPr/>
        </p:nvSpPr>
        <p:spPr>
          <a:xfrm>
            <a:off x="6054127" y="4155230"/>
            <a:ext cx="17160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Ponto de alavancagem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(</a:t>
            </a:r>
            <a:r>
              <a:rPr lang="pt-BR" sz="1200" i="1" dirty="0" err="1">
                <a:latin typeface="Tahoma" panose="020B0604030504040204" pitchFamily="34" charset="0"/>
              </a:rPr>
              <a:t>leverage</a:t>
            </a:r>
            <a:r>
              <a:rPr lang="pt-BR" sz="1200" dirty="0">
                <a:latin typeface="Tahoma" panose="020B0604030504040204" pitchFamily="34" charset="0"/>
              </a:rPr>
              <a:t>)</a:t>
            </a:r>
          </a:p>
        </p:txBody>
      </p:sp>
      <p:grpSp>
        <p:nvGrpSpPr>
          <p:cNvPr id="108" name="Group 151"/>
          <p:cNvGrpSpPr>
            <a:grpSpLocks/>
          </p:cNvGrpSpPr>
          <p:nvPr/>
        </p:nvGrpSpPr>
        <p:grpSpPr bwMode="auto">
          <a:xfrm>
            <a:off x="5200327" y="4625840"/>
            <a:ext cx="1909763" cy="1538287"/>
            <a:chOff x="4263" y="1830"/>
            <a:chExt cx="1203" cy="969"/>
          </a:xfrm>
        </p:grpSpPr>
        <p:sp>
          <p:nvSpPr>
            <p:cNvPr id="109" name="Oval 98"/>
            <p:cNvSpPr>
              <a:spLocks noChangeAspect="1" noChangeArrowheads="1"/>
            </p:cNvSpPr>
            <p:nvPr/>
          </p:nvSpPr>
          <p:spPr bwMode="auto">
            <a:xfrm>
              <a:off x="4641" y="2341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0" name="Oval 99"/>
            <p:cNvSpPr>
              <a:spLocks noChangeAspect="1" noChangeArrowheads="1"/>
            </p:cNvSpPr>
            <p:nvPr/>
          </p:nvSpPr>
          <p:spPr bwMode="auto">
            <a:xfrm>
              <a:off x="4457" y="253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1" name="Oval 100"/>
            <p:cNvSpPr>
              <a:spLocks noChangeAspect="1" noChangeArrowheads="1"/>
            </p:cNvSpPr>
            <p:nvPr/>
          </p:nvSpPr>
          <p:spPr bwMode="auto">
            <a:xfrm>
              <a:off x="4552" y="2408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2" name="Oval 101"/>
            <p:cNvSpPr>
              <a:spLocks noChangeAspect="1" noChangeArrowheads="1"/>
            </p:cNvSpPr>
            <p:nvPr/>
          </p:nvSpPr>
          <p:spPr bwMode="auto">
            <a:xfrm>
              <a:off x="5102" y="1995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3" name="Oval 102"/>
            <p:cNvSpPr>
              <a:spLocks noChangeAspect="1" noChangeArrowheads="1"/>
            </p:cNvSpPr>
            <p:nvPr/>
          </p:nvSpPr>
          <p:spPr bwMode="auto">
            <a:xfrm>
              <a:off x="4954" y="2087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" name="Oval 103"/>
            <p:cNvSpPr>
              <a:spLocks noChangeAspect="1" noChangeArrowheads="1"/>
            </p:cNvSpPr>
            <p:nvPr/>
          </p:nvSpPr>
          <p:spPr bwMode="auto">
            <a:xfrm>
              <a:off x="4511" y="2460"/>
              <a:ext cx="23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5" name="Oval 104"/>
            <p:cNvSpPr>
              <a:spLocks noChangeAspect="1" noChangeArrowheads="1"/>
            </p:cNvSpPr>
            <p:nvPr/>
          </p:nvSpPr>
          <p:spPr bwMode="auto">
            <a:xfrm>
              <a:off x="4301" y="2713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6" name="Oval 105"/>
            <p:cNvSpPr>
              <a:spLocks noChangeAspect="1" noChangeArrowheads="1"/>
            </p:cNvSpPr>
            <p:nvPr/>
          </p:nvSpPr>
          <p:spPr bwMode="auto">
            <a:xfrm>
              <a:off x="4379" y="2616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106"/>
            <p:cNvSpPr>
              <a:spLocks noChangeAspect="1" noChangeArrowheads="1"/>
            </p:cNvSpPr>
            <p:nvPr/>
          </p:nvSpPr>
          <p:spPr bwMode="auto">
            <a:xfrm>
              <a:off x="4728" y="2260"/>
              <a:ext cx="24" cy="29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107"/>
            <p:cNvSpPr>
              <a:spLocks noChangeAspect="1" noChangeArrowheads="1"/>
            </p:cNvSpPr>
            <p:nvPr/>
          </p:nvSpPr>
          <p:spPr bwMode="auto">
            <a:xfrm>
              <a:off x="4806" y="2176"/>
              <a:ext cx="24" cy="30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Freeform 111"/>
            <p:cNvSpPr>
              <a:spLocks noChangeAspect="1"/>
            </p:cNvSpPr>
            <p:nvPr/>
          </p:nvSpPr>
          <p:spPr bwMode="auto">
            <a:xfrm>
              <a:off x="4263" y="1830"/>
              <a:ext cx="1203" cy="969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303 h 1179"/>
                <a:gd name="T4" fmla="*/ 43509 w 1271"/>
                <a:gd name="T5" fmla="*/ 303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123" name="Object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17258445"/>
              </p:ext>
            </p:extLst>
          </p:nvPr>
        </p:nvGraphicFramePr>
        <p:xfrm>
          <a:off x="6635886" y="5261695"/>
          <a:ext cx="1825625" cy="546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524000" imgH="457200" progId="Equation.DSMT4">
                  <p:embed/>
                </p:oleObj>
              </mc:Choice>
              <mc:Fallback>
                <p:oleObj name="Equation" r:id="rId2" imgW="1524000" imgH="457200" progId="Equation.DSMT4">
                  <p:embed/>
                  <p:pic>
                    <p:nvPicPr>
                      <p:cNvPr id="123" name="Object 1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635886" y="5261695"/>
                        <a:ext cx="1825625" cy="5461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6" name="Line 149"/>
          <p:cNvSpPr>
            <a:spLocks noChangeShapeType="1"/>
          </p:cNvSpPr>
          <p:nvPr/>
        </p:nvSpPr>
        <p:spPr bwMode="auto">
          <a:xfrm flipV="1">
            <a:off x="5309865" y="4840152"/>
            <a:ext cx="1171575" cy="11731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7" name="Retângulo 126"/>
          <p:cNvSpPr/>
          <p:nvPr/>
        </p:nvSpPr>
        <p:spPr>
          <a:xfrm>
            <a:off x="5315102" y="6405545"/>
            <a:ext cx="162897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Variáveis cumulativas</a:t>
            </a:r>
          </a:p>
        </p:txBody>
      </p:sp>
    </p:spTree>
    <p:extLst>
      <p:ext uri="{BB962C8B-B14F-4D97-AF65-F5344CB8AC3E}">
        <p14:creationId xmlns:p14="http://schemas.microsoft.com/office/powerpoint/2010/main" val="2525275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4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4" grpId="0" animBg="1"/>
      <p:bldP spid="125" grpId="0" animBg="1"/>
      <p:bldP spid="12404" grpId="0" animBg="1"/>
      <p:bldP spid="12405" grpId="0" animBg="1"/>
      <p:bldP spid="12428" grpId="0" animBg="1"/>
      <p:bldP spid="12432" grpId="0" animBg="1"/>
      <p:bldP spid="12436" grpId="0" animBg="1"/>
      <p:bldP spid="12438" grpId="0" animBg="1"/>
      <p:bldP spid="5" grpId="0"/>
      <p:bldP spid="80" grpId="0"/>
      <p:bldP spid="81" grpId="0"/>
      <p:bldP spid="100" grpId="0" animBg="1"/>
      <p:bldP spid="107" grpId="0"/>
      <p:bldP spid="126" grpId="0" animBg="1"/>
      <p:bldP spid="1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Coeficiente de Correlação</a:t>
            </a:r>
          </a:p>
        </p:txBody>
      </p:sp>
      <p:sp>
        <p:nvSpPr>
          <p:cNvPr id="23555" name="Text Box 3"/>
          <p:cNvSpPr txBox="1">
            <a:spLocks noChangeArrowheads="1"/>
          </p:cNvSpPr>
          <p:nvPr/>
        </p:nvSpPr>
        <p:spPr bwMode="auto">
          <a:xfrm>
            <a:off x="468313" y="1484784"/>
            <a:ext cx="7924800" cy="9541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42900" indent="-342900" eaLnBrk="0" hangingPunct="0">
              <a:spcBef>
                <a:spcPct val="50000"/>
              </a:spcBef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Interpretações errônea do coeficiente de correlação</a:t>
            </a:r>
          </a:p>
          <a:p>
            <a:pPr marL="285750" indent="-28575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Um coeficiente de correlação próximo de zero nem sempre indica que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X</a:t>
            </a:r>
            <a:r>
              <a:rPr lang="pt-BR" i="1" dirty="0">
                <a:latin typeface="Tahoma" panose="020B0604030504040204" pitchFamily="34" charset="0"/>
              </a:rPr>
              <a:t> </a:t>
            </a:r>
            <a:r>
              <a:rPr lang="pt-BR" dirty="0">
                <a:latin typeface="Tahoma" panose="020B0604030504040204" pitchFamily="34" charset="0"/>
              </a:rPr>
              <a:t>e 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 não são relacionadas.</a:t>
            </a:r>
          </a:p>
        </p:txBody>
      </p:sp>
      <p:grpSp>
        <p:nvGrpSpPr>
          <p:cNvPr id="2" name="Group 36"/>
          <p:cNvGrpSpPr>
            <a:grpSpLocks/>
          </p:cNvGrpSpPr>
          <p:nvPr/>
        </p:nvGrpSpPr>
        <p:grpSpPr bwMode="auto">
          <a:xfrm>
            <a:off x="661251" y="2573011"/>
            <a:ext cx="2117517" cy="1817323"/>
            <a:chOff x="550" y="1797"/>
            <a:chExt cx="1613" cy="1354"/>
          </a:xfrm>
        </p:grpSpPr>
        <p:sp>
          <p:nvSpPr>
            <p:cNvPr id="10311" name="Oval 5"/>
            <p:cNvSpPr>
              <a:spLocks noChangeArrowheads="1"/>
            </p:cNvSpPr>
            <p:nvPr/>
          </p:nvSpPr>
          <p:spPr bwMode="auto">
            <a:xfrm>
              <a:off x="1165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2" name="Oval 6"/>
            <p:cNvSpPr>
              <a:spLocks noChangeArrowheads="1"/>
            </p:cNvSpPr>
            <p:nvPr/>
          </p:nvSpPr>
          <p:spPr bwMode="auto">
            <a:xfrm>
              <a:off x="984" y="2625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3" name="Oval 7"/>
            <p:cNvSpPr>
              <a:spLocks noChangeArrowheads="1"/>
            </p:cNvSpPr>
            <p:nvPr/>
          </p:nvSpPr>
          <p:spPr bwMode="auto">
            <a:xfrm>
              <a:off x="984" y="243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4" name="Oval 8"/>
            <p:cNvSpPr>
              <a:spLocks noChangeArrowheads="1"/>
            </p:cNvSpPr>
            <p:nvPr/>
          </p:nvSpPr>
          <p:spPr bwMode="auto">
            <a:xfrm>
              <a:off x="1738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5" name="Oval 9"/>
            <p:cNvSpPr>
              <a:spLocks noChangeArrowheads="1"/>
            </p:cNvSpPr>
            <p:nvPr/>
          </p:nvSpPr>
          <p:spPr bwMode="auto">
            <a:xfrm>
              <a:off x="1566" y="2217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6" name="Oval 10"/>
            <p:cNvSpPr>
              <a:spLocks noChangeArrowheads="1"/>
            </p:cNvSpPr>
            <p:nvPr/>
          </p:nvSpPr>
          <p:spPr bwMode="auto">
            <a:xfrm>
              <a:off x="1047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7" name="Oval 11"/>
            <p:cNvSpPr>
              <a:spLocks noChangeArrowheads="1"/>
            </p:cNvSpPr>
            <p:nvPr/>
          </p:nvSpPr>
          <p:spPr bwMode="auto">
            <a:xfrm>
              <a:off x="1718" y="252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8" name="Oval 12"/>
            <p:cNvSpPr>
              <a:spLocks noChangeArrowheads="1"/>
            </p:cNvSpPr>
            <p:nvPr/>
          </p:nvSpPr>
          <p:spPr bwMode="auto">
            <a:xfrm>
              <a:off x="893" y="271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19" name="Oval 13"/>
            <p:cNvSpPr>
              <a:spLocks noChangeArrowheads="1"/>
            </p:cNvSpPr>
            <p:nvPr/>
          </p:nvSpPr>
          <p:spPr bwMode="auto">
            <a:xfrm>
              <a:off x="1301" y="197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20" name="Oval 14"/>
            <p:cNvSpPr>
              <a:spLocks noChangeArrowheads="1"/>
            </p:cNvSpPr>
            <p:nvPr/>
          </p:nvSpPr>
          <p:spPr bwMode="auto">
            <a:xfrm>
              <a:off x="1392" y="2067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10321" name="Group 15"/>
            <p:cNvGrpSpPr>
              <a:grpSpLocks/>
            </p:cNvGrpSpPr>
            <p:nvPr/>
          </p:nvGrpSpPr>
          <p:grpSpPr bwMode="auto">
            <a:xfrm>
              <a:off x="550" y="1797"/>
              <a:ext cx="1613" cy="1354"/>
              <a:chOff x="1222" y="1162"/>
              <a:chExt cx="1613" cy="1354"/>
            </a:xfrm>
          </p:grpSpPr>
          <p:sp>
            <p:nvSpPr>
              <p:cNvPr id="10323" name="Rectangle 16"/>
              <p:cNvSpPr>
                <a:spLocks noChangeArrowheads="1"/>
              </p:cNvSpPr>
              <p:nvPr/>
            </p:nvSpPr>
            <p:spPr bwMode="auto">
              <a:xfrm>
                <a:off x="2064" y="2333"/>
                <a:ext cx="104" cy="1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X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4" name="Rectangle 17"/>
              <p:cNvSpPr>
                <a:spLocks noChangeArrowheads="1"/>
              </p:cNvSpPr>
              <p:nvPr/>
            </p:nvSpPr>
            <p:spPr bwMode="auto">
              <a:xfrm rot="16200000">
                <a:off x="1269" y="1638"/>
                <a:ext cx="93" cy="1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0" tIns="0" rIns="0" bIns="0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b="1" i="1" dirty="0">
                    <a:latin typeface="Times New Roman" charset="0"/>
                  </a:rPr>
                  <a:t>Y</a:t>
                </a:r>
                <a:endParaRPr lang="pt-BR" altLang="pt-BR" sz="1600" i="1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25" name="Freeform 18"/>
              <p:cNvSpPr>
                <a:spLocks/>
              </p:cNvSpPr>
              <p:nvPr/>
            </p:nvSpPr>
            <p:spPr bwMode="auto">
              <a:xfrm>
                <a:off x="1429" y="1162"/>
                <a:ext cx="1406" cy="1134"/>
              </a:xfrm>
              <a:custGeom>
                <a:avLst/>
                <a:gdLst>
                  <a:gd name="T0" fmla="*/ 0 w 1271"/>
                  <a:gd name="T1" fmla="*/ 0 h 1179"/>
                  <a:gd name="T2" fmla="*/ 0 w 1271"/>
                  <a:gd name="T3" fmla="*/ 303 h 1179"/>
                  <a:gd name="T4" fmla="*/ 43509 w 1271"/>
                  <a:gd name="T5" fmla="*/ 303 h 1179"/>
                  <a:gd name="T6" fmla="*/ 0 60000 65536"/>
                  <a:gd name="T7" fmla="*/ 0 60000 65536"/>
                  <a:gd name="T8" fmla="*/ 0 60000 65536"/>
                  <a:gd name="T9" fmla="*/ 0 w 1271"/>
                  <a:gd name="T10" fmla="*/ 0 h 1179"/>
                  <a:gd name="T11" fmla="*/ 1271 w 1271"/>
                  <a:gd name="T12" fmla="*/ 1179 h 1179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271" h="1179">
                    <a:moveTo>
                      <a:pt x="0" y="0"/>
                    </a:moveTo>
                    <a:lnTo>
                      <a:pt x="0" y="1179"/>
                    </a:lnTo>
                    <a:lnTo>
                      <a:pt x="1271" y="1179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322" name="Oval 35"/>
            <p:cNvSpPr>
              <a:spLocks noChangeArrowheads="1"/>
            </p:cNvSpPr>
            <p:nvPr/>
          </p:nvSpPr>
          <p:spPr bwMode="auto">
            <a:xfrm>
              <a:off x="1610" y="2478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68"/>
          <p:cNvGrpSpPr>
            <a:grpSpLocks/>
          </p:cNvGrpSpPr>
          <p:nvPr/>
        </p:nvGrpSpPr>
        <p:grpSpPr bwMode="auto">
          <a:xfrm>
            <a:off x="3227258" y="2568075"/>
            <a:ext cx="2158954" cy="1817008"/>
            <a:chOff x="2132" y="1797"/>
            <a:chExt cx="1610" cy="1355"/>
          </a:xfrm>
        </p:grpSpPr>
        <p:grpSp>
          <p:nvGrpSpPr>
            <p:cNvPr id="10285" name="Group 37"/>
            <p:cNvGrpSpPr>
              <a:grpSpLocks/>
            </p:cNvGrpSpPr>
            <p:nvPr/>
          </p:nvGrpSpPr>
          <p:grpSpPr bwMode="auto">
            <a:xfrm>
              <a:off x="2132" y="1797"/>
              <a:ext cx="1610" cy="1355"/>
              <a:chOff x="2049" y="1162"/>
              <a:chExt cx="1610" cy="1355"/>
            </a:xfrm>
          </p:grpSpPr>
          <p:sp>
            <p:nvSpPr>
              <p:cNvPr id="10297" name="Oval 38"/>
              <p:cNvSpPr>
                <a:spLocks noChangeArrowheads="1"/>
              </p:cNvSpPr>
              <p:nvPr/>
            </p:nvSpPr>
            <p:spPr bwMode="auto">
              <a:xfrm>
                <a:off x="2744" y="148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8" name="Oval 39"/>
              <p:cNvSpPr>
                <a:spLocks noChangeArrowheads="1"/>
              </p:cNvSpPr>
              <p:nvPr/>
            </p:nvSpPr>
            <p:spPr bwMode="auto">
              <a:xfrm>
                <a:off x="2744" y="193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9" name="Oval 40"/>
              <p:cNvSpPr>
                <a:spLocks noChangeArrowheads="1"/>
              </p:cNvSpPr>
              <p:nvPr/>
            </p:nvSpPr>
            <p:spPr bwMode="auto">
              <a:xfrm>
                <a:off x="2881" y="179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0" name="Oval 41"/>
              <p:cNvSpPr>
                <a:spLocks noChangeArrowheads="1"/>
              </p:cNvSpPr>
              <p:nvPr/>
            </p:nvSpPr>
            <p:spPr bwMode="auto">
              <a:xfrm>
                <a:off x="3288" y="143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1" name="Oval 42"/>
              <p:cNvSpPr>
                <a:spLocks noChangeArrowheads="1"/>
              </p:cNvSpPr>
              <p:nvPr/>
            </p:nvSpPr>
            <p:spPr bwMode="auto">
              <a:xfrm>
                <a:off x="3016" y="134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2" name="Oval 43"/>
              <p:cNvSpPr>
                <a:spLocks noChangeArrowheads="1"/>
              </p:cNvSpPr>
              <p:nvPr/>
            </p:nvSpPr>
            <p:spPr bwMode="auto">
              <a:xfrm>
                <a:off x="2693" y="177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3" name="Oval 44"/>
              <p:cNvSpPr>
                <a:spLocks noChangeArrowheads="1"/>
              </p:cNvSpPr>
              <p:nvPr/>
            </p:nvSpPr>
            <p:spPr bwMode="auto">
              <a:xfrm>
                <a:off x="2406" y="20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4" name="Oval 45"/>
              <p:cNvSpPr>
                <a:spLocks noChangeArrowheads="1"/>
              </p:cNvSpPr>
              <p:nvPr/>
            </p:nvSpPr>
            <p:spPr bwMode="auto">
              <a:xfrm>
                <a:off x="2472" y="175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5" name="Oval 46"/>
              <p:cNvSpPr>
                <a:spLocks noChangeArrowheads="1"/>
              </p:cNvSpPr>
              <p:nvPr/>
            </p:nvSpPr>
            <p:spPr bwMode="auto">
              <a:xfrm>
                <a:off x="3061" y="161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06" name="Oval 47"/>
              <p:cNvSpPr>
                <a:spLocks noChangeArrowheads="1"/>
              </p:cNvSpPr>
              <p:nvPr/>
            </p:nvSpPr>
            <p:spPr bwMode="auto">
              <a:xfrm>
                <a:off x="2880" y="157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10307" name="Group 48"/>
              <p:cNvGrpSpPr>
                <a:grpSpLocks/>
              </p:cNvGrpSpPr>
              <p:nvPr/>
            </p:nvGrpSpPr>
            <p:grpSpPr bwMode="auto">
              <a:xfrm>
                <a:off x="2049" y="1162"/>
                <a:ext cx="1610" cy="1355"/>
                <a:chOff x="1225" y="1162"/>
                <a:chExt cx="1610" cy="1355"/>
              </a:xfrm>
            </p:grpSpPr>
            <p:sp>
              <p:nvSpPr>
                <p:cNvPr id="10308" name="Rectangle 49"/>
                <p:cNvSpPr>
                  <a:spLocks noChangeArrowheads="1"/>
                </p:cNvSpPr>
                <p:nvPr/>
              </p:nvSpPr>
              <p:spPr bwMode="auto">
                <a:xfrm>
                  <a:off x="2064" y="2333"/>
                  <a:ext cx="102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X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09" name="Rectangle 50"/>
                <p:cNvSpPr>
                  <a:spLocks noChangeArrowheads="1"/>
                </p:cNvSpPr>
                <p:nvPr/>
              </p:nvSpPr>
              <p:spPr bwMode="auto">
                <a:xfrm rot="16200000">
                  <a:off x="1270" y="1640"/>
                  <a:ext cx="93" cy="1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lIns="0" tIns="0" rIns="0" bIns="0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b="1" i="1" dirty="0">
                      <a:latin typeface="Times New Roman" charset="0"/>
                    </a:rPr>
                    <a:t>Y</a:t>
                  </a:r>
                  <a:endParaRPr lang="pt-BR" altLang="pt-BR" sz="1600" i="1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0310" name="Freeform 51"/>
                <p:cNvSpPr>
                  <a:spLocks/>
                </p:cNvSpPr>
                <p:nvPr/>
              </p:nvSpPr>
              <p:spPr bwMode="auto">
                <a:xfrm>
                  <a:off x="1429" y="1162"/>
                  <a:ext cx="1406" cy="1134"/>
                </a:xfrm>
                <a:custGeom>
                  <a:avLst/>
                  <a:gdLst>
                    <a:gd name="T0" fmla="*/ 0 w 1271"/>
                    <a:gd name="T1" fmla="*/ 0 h 1179"/>
                    <a:gd name="T2" fmla="*/ 0 w 1271"/>
                    <a:gd name="T3" fmla="*/ 303 h 1179"/>
                    <a:gd name="T4" fmla="*/ 43509 w 1271"/>
                    <a:gd name="T5" fmla="*/ 303 h 1179"/>
                    <a:gd name="T6" fmla="*/ 0 60000 65536"/>
                    <a:gd name="T7" fmla="*/ 0 60000 65536"/>
                    <a:gd name="T8" fmla="*/ 0 60000 65536"/>
                    <a:gd name="T9" fmla="*/ 0 w 1271"/>
                    <a:gd name="T10" fmla="*/ 0 h 1179"/>
                    <a:gd name="T11" fmla="*/ 1271 w 1271"/>
                    <a:gd name="T12" fmla="*/ 1179 h 1179"/>
                  </a:gdLst>
                  <a:ahLst/>
                  <a:cxnLst>
                    <a:cxn ang="T6">
                      <a:pos x="T0" y="T1"/>
                    </a:cxn>
                    <a:cxn ang="T7">
                      <a:pos x="T2" y="T3"/>
                    </a:cxn>
                    <a:cxn ang="T8">
                      <a:pos x="T4" y="T5"/>
                    </a:cxn>
                  </a:cxnLst>
                  <a:rect l="T9" t="T10" r="T11" b="T12"/>
                  <a:pathLst>
                    <a:path w="1271" h="1179">
                      <a:moveTo>
                        <a:pt x="0" y="0"/>
                      </a:moveTo>
                      <a:lnTo>
                        <a:pt x="0" y="1179"/>
                      </a:lnTo>
                      <a:lnTo>
                        <a:pt x="1271" y="1179"/>
                      </a:lnTo>
                    </a:path>
                  </a:pathLst>
                </a:custGeom>
                <a:noFill/>
                <a:ln w="9525">
                  <a:solidFill>
                    <a:schemeClr val="tx1"/>
                  </a:solidFill>
                  <a:round/>
                  <a:headEnd type="triangle" w="med" len="med"/>
                  <a:tailEnd type="triangl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grpSp>
          <p:nvGrpSpPr>
            <p:cNvPr id="10286" name="Group 67"/>
            <p:cNvGrpSpPr>
              <a:grpSpLocks/>
            </p:cNvGrpSpPr>
            <p:nvPr/>
          </p:nvGrpSpPr>
          <p:grpSpPr bwMode="auto">
            <a:xfrm flipH="1">
              <a:off x="2378" y="2047"/>
              <a:ext cx="910" cy="703"/>
              <a:chOff x="4084" y="2024"/>
              <a:chExt cx="910" cy="703"/>
            </a:xfrm>
          </p:grpSpPr>
          <p:sp>
            <p:nvSpPr>
              <p:cNvPr id="10287" name="Oval 5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8" name="Oval 5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89" name="Oval 5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0" name="Oval 5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1" name="Oval 5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2" name="Oval 5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3" name="Oval 5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4" name="Oval 6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5" name="Oval 6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96" name="Oval 6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8" name="Group 129"/>
          <p:cNvGrpSpPr>
            <a:grpSpLocks/>
          </p:cNvGrpSpPr>
          <p:nvPr/>
        </p:nvGrpSpPr>
        <p:grpSpPr bwMode="auto">
          <a:xfrm>
            <a:off x="5634263" y="2407196"/>
            <a:ext cx="1681571" cy="1319510"/>
            <a:chOff x="3908" y="1480"/>
            <a:chExt cx="1254" cy="984"/>
          </a:xfrm>
        </p:grpSpPr>
        <p:sp>
          <p:nvSpPr>
            <p:cNvPr id="10271" name="Oval 71"/>
            <p:cNvSpPr>
              <a:spLocks noChangeArrowheads="1"/>
            </p:cNvSpPr>
            <p:nvPr/>
          </p:nvSpPr>
          <p:spPr bwMode="auto">
            <a:xfrm>
              <a:off x="4432" y="169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2" name="Oval 72"/>
            <p:cNvSpPr>
              <a:spLocks noChangeArrowheads="1"/>
            </p:cNvSpPr>
            <p:nvPr/>
          </p:nvSpPr>
          <p:spPr bwMode="auto">
            <a:xfrm>
              <a:off x="4432" y="2007"/>
              <a:ext cx="20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3" name="Oval 73"/>
            <p:cNvSpPr>
              <a:spLocks noChangeArrowheads="1"/>
            </p:cNvSpPr>
            <p:nvPr/>
          </p:nvSpPr>
          <p:spPr bwMode="auto">
            <a:xfrm>
              <a:off x="4526" y="1914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4" name="Oval 74"/>
            <p:cNvSpPr>
              <a:spLocks noChangeArrowheads="1"/>
            </p:cNvSpPr>
            <p:nvPr/>
          </p:nvSpPr>
          <p:spPr bwMode="auto">
            <a:xfrm>
              <a:off x="4804" y="1666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5" name="Oval 75"/>
            <p:cNvSpPr>
              <a:spLocks noChangeArrowheads="1"/>
            </p:cNvSpPr>
            <p:nvPr/>
          </p:nvSpPr>
          <p:spPr bwMode="auto">
            <a:xfrm>
              <a:off x="4618" y="1604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6" name="Oval 76"/>
            <p:cNvSpPr>
              <a:spLocks noChangeArrowheads="1"/>
            </p:cNvSpPr>
            <p:nvPr/>
          </p:nvSpPr>
          <p:spPr bwMode="auto">
            <a:xfrm>
              <a:off x="4398" y="1897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7" name="Oval 77"/>
            <p:cNvSpPr>
              <a:spLocks noChangeArrowheads="1"/>
            </p:cNvSpPr>
            <p:nvPr/>
          </p:nvSpPr>
          <p:spPr bwMode="auto">
            <a:xfrm>
              <a:off x="4202" y="2061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8" name="Oval 78"/>
            <p:cNvSpPr>
              <a:spLocks noChangeArrowheads="1"/>
            </p:cNvSpPr>
            <p:nvPr/>
          </p:nvSpPr>
          <p:spPr bwMode="auto">
            <a:xfrm>
              <a:off x="4247" y="1883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79" name="Oval 79"/>
            <p:cNvSpPr>
              <a:spLocks noChangeArrowheads="1"/>
            </p:cNvSpPr>
            <p:nvPr/>
          </p:nvSpPr>
          <p:spPr bwMode="auto">
            <a:xfrm>
              <a:off x="4649" y="1790"/>
              <a:ext cx="19" cy="23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0" name="Oval 80"/>
            <p:cNvSpPr>
              <a:spLocks noChangeArrowheads="1"/>
            </p:cNvSpPr>
            <p:nvPr/>
          </p:nvSpPr>
          <p:spPr bwMode="auto">
            <a:xfrm>
              <a:off x="4525" y="1759"/>
              <a:ext cx="19" cy="2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81" name="Rectangle 82"/>
            <p:cNvSpPr>
              <a:spLocks noChangeArrowheads="1"/>
            </p:cNvSpPr>
            <p:nvPr/>
          </p:nvSpPr>
          <p:spPr bwMode="auto">
            <a:xfrm>
              <a:off x="4531" y="2280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2" name="Rectangle 83"/>
            <p:cNvSpPr>
              <a:spLocks noChangeArrowheads="1"/>
            </p:cNvSpPr>
            <p:nvPr/>
          </p:nvSpPr>
          <p:spPr bwMode="auto">
            <a:xfrm rot="16200000">
              <a:off x="3953" y="1764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83" name="Freeform 84"/>
            <p:cNvSpPr>
              <a:spLocks/>
            </p:cNvSpPr>
            <p:nvPr/>
          </p:nvSpPr>
          <p:spPr bwMode="auto">
            <a:xfrm>
              <a:off x="4097" y="1480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0284" name="Text Box 123"/>
            <p:cNvSpPr txBox="1">
              <a:spLocks noChangeArrowheads="1"/>
            </p:cNvSpPr>
            <p:nvPr/>
          </p:nvSpPr>
          <p:spPr bwMode="auto">
            <a:xfrm>
              <a:off x="4942" y="1765"/>
              <a:ext cx="220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A</a:t>
              </a:r>
            </a:p>
          </p:txBody>
        </p:sp>
      </p:grpSp>
      <p:grpSp>
        <p:nvGrpSpPr>
          <p:cNvPr id="9" name="Group 130"/>
          <p:cNvGrpSpPr>
            <a:grpSpLocks/>
          </p:cNvGrpSpPr>
          <p:nvPr/>
        </p:nvGrpSpPr>
        <p:grpSpPr bwMode="auto">
          <a:xfrm>
            <a:off x="5632004" y="3775348"/>
            <a:ext cx="1672184" cy="1319510"/>
            <a:chOff x="3908" y="2523"/>
            <a:chExt cx="1247" cy="984"/>
          </a:xfrm>
        </p:grpSpPr>
        <p:sp>
          <p:nvSpPr>
            <p:cNvPr id="10256" name="Rectangle 109"/>
            <p:cNvSpPr>
              <a:spLocks noChangeArrowheads="1"/>
            </p:cNvSpPr>
            <p:nvPr/>
          </p:nvSpPr>
          <p:spPr bwMode="auto">
            <a:xfrm>
              <a:off x="4531" y="3323"/>
              <a:ext cx="102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7" name="Rectangle 110"/>
            <p:cNvSpPr>
              <a:spLocks noChangeArrowheads="1"/>
            </p:cNvSpPr>
            <p:nvPr/>
          </p:nvSpPr>
          <p:spPr bwMode="auto">
            <a:xfrm rot="16200000">
              <a:off x="3953" y="2807"/>
              <a:ext cx="93" cy="1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0258" name="Freeform 111"/>
            <p:cNvSpPr>
              <a:spLocks/>
            </p:cNvSpPr>
            <p:nvPr/>
          </p:nvSpPr>
          <p:spPr bwMode="auto">
            <a:xfrm>
              <a:off x="4097" y="2523"/>
              <a:ext cx="960" cy="774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0259" name="Group 112"/>
            <p:cNvGrpSpPr>
              <a:grpSpLocks/>
            </p:cNvGrpSpPr>
            <p:nvPr/>
          </p:nvGrpSpPr>
          <p:grpSpPr bwMode="auto">
            <a:xfrm flipH="1">
              <a:off x="4126" y="2694"/>
              <a:ext cx="621" cy="480"/>
              <a:chOff x="4084" y="2024"/>
              <a:chExt cx="910" cy="703"/>
            </a:xfrm>
          </p:grpSpPr>
          <p:sp>
            <p:nvSpPr>
              <p:cNvPr id="10261" name="Oval 113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2" name="Oval 114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3" name="Oval 115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4" name="Oval 116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5" name="Oval 117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6" name="Oval 118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7" name="Oval 119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8" name="Oval 120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69" name="Oval 121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70" name="Oval 122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FF0000"/>
              </a:solidFill>
              <a:ln w="14288">
                <a:solidFill>
                  <a:srgbClr val="FF000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0260" name="Text Box 124"/>
            <p:cNvSpPr txBox="1">
              <a:spLocks noChangeArrowheads="1"/>
            </p:cNvSpPr>
            <p:nvPr/>
          </p:nvSpPr>
          <p:spPr bwMode="auto">
            <a:xfrm>
              <a:off x="4943" y="2791"/>
              <a:ext cx="212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B</a:t>
              </a:r>
            </a:p>
          </p:txBody>
        </p:sp>
      </p:grpSp>
      <p:sp>
        <p:nvSpPr>
          <p:cNvPr id="13439" name="Line 127"/>
          <p:cNvSpPr>
            <a:spLocks noChangeShapeType="1"/>
          </p:cNvSpPr>
          <p:nvPr/>
        </p:nvSpPr>
        <p:spPr bwMode="auto">
          <a:xfrm flipV="1">
            <a:off x="5054999" y="2903316"/>
            <a:ext cx="461949" cy="13026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0" name="Line 128"/>
          <p:cNvSpPr>
            <a:spLocks noChangeShapeType="1"/>
          </p:cNvSpPr>
          <p:nvPr/>
        </p:nvSpPr>
        <p:spPr bwMode="auto">
          <a:xfrm>
            <a:off x="5054997" y="3449904"/>
            <a:ext cx="460800" cy="30439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3" name="Line 131"/>
          <p:cNvSpPr>
            <a:spLocks noChangeShapeType="1"/>
          </p:cNvSpPr>
          <p:nvPr/>
        </p:nvSpPr>
        <p:spPr bwMode="auto">
          <a:xfrm>
            <a:off x="1043087" y="3451574"/>
            <a:ext cx="14400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4" name="Line 132"/>
          <p:cNvSpPr>
            <a:spLocks noChangeShapeType="1"/>
          </p:cNvSpPr>
          <p:nvPr/>
        </p:nvSpPr>
        <p:spPr bwMode="auto">
          <a:xfrm flipV="1">
            <a:off x="3628230" y="3325884"/>
            <a:ext cx="1260000" cy="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5" name="Line 133"/>
          <p:cNvSpPr>
            <a:spLocks noChangeShapeType="1"/>
          </p:cNvSpPr>
          <p:nvPr/>
        </p:nvSpPr>
        <p:spPr bwMode="auto">
          <a:xfrm flipV="1">
            <a:off x="6043224" y="2492852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6" name="Line 134"/>
          <p:cNvSpPr>
            <a:spLocks noChangeShapeType="1"/>
          </p:cNvSpPr>
          <p:nvPr/>
        </p:nvSpPr>
        <p:spPr bwMode="auto">
          <a:xfrm>
            <a:off x="5998897" y="3982821"/>
            <a:ext cx="791170" cy="73082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3447" name="Freeform 135"/>
          <p:cNvSpPr>
            <a:spLocks/>
          </p:cNvSpPr>
          <p:nvPr/>
        </p:nvSpPr>
        <p:spPr bwMode="auto">
          <a:xfrm>
            <a:off x="1087800" y="2884316"/>
            <a:ext cx="1206844" cy="1102203"/>
          </a:xfrm>
          <a:custGeom>
            <a:avLst/>
            <a:gdLst>
              <a:gd name="T0" fmla="*/ 0 w 862"/>
              <a:gd name="T1" fmla="*/ 2147483647 h 771"/>
              <a:gd name="T2" fmla="*/ 2147483647 w 862"/>
              <a:gd name="T3" fmla="*/ 0 h 771"/>
              <a:gd name="T4" fmla="*/ 2147483647 w 862"/>
              <a:gd name="T5" fmla="*/ 2147483647 h 771"/>
              <a:gd name="T6" fmla="*/ 0 60000 65536"/>
              <a:gd name="T7" fmla="*/ 0 60000 65536"/>
              <a:gd name="T8" fmla="*/ 0 60000 65536"/>
              <a:gd name="T9" fmla="*/ 0 w 862"/>
              <a:gd name="T10" fmla="*/ 0 h 771"/>
              <a:gd name="T11" fmla="*/ 862 w 862"/>
              <a:gd name="T12" fmla="*/ 771 h 771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862" h="771">
                <a:moveTo>
                  <a:pt x="0" y="771"/>
                </a:moveTo>
                <a:cubicBezTo>
                  <a:pt x="155" y="385"/>
                  <a:pt x="310" y="0"/>
                  <a:pt x="454" y="0"/>
                </a:cubicBezTo>
                <a:cubicBezTo>
                  <a:pt x="598" y="0"/>
                  <a:pt x="730" y="385"/>
                  <a:pt x="862" y="771"/>
                </a:cubicBezTo>
              </a:path>
            </a:pathLst>
          </a:custGeom>
          <a:noFill/>
          <a:ln w="9525">
            <a:solidFill>
              <a:schemeClr val="tx1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6" name="Retângulo 85"/>
          <p:cNvSpPr/>
          <p:nvPr/>
        </p:nvSpPr>
        <p:spPr>
          <a:xfrm>
            <a:off x="1149079" y="4361635"/>
            <a:ext cx="143077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Relação não linear</a:t>
            </a:r>
          </a:p>
        </p:txBody>
      </p:sp>
      <p:sp>
        <p:nvSpPr>
          <p:cNvPr id="87" name="Retângulo 86"/>
          <p:cNvSpPr/>
          <p:nvPr/>
        </p:nvSpPr>
        <p:spPr>
          <a:xfrm>
            <a:off x="3419872" y="4312305"/>
            <a:ext cx="20970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Mistura de grupos com relações diferentes</a:t>
            </a:r>
          </a:p>
        </p:txBody>
      </p:sp>
      <p:grpSp>
        <p:nvGrpSpPr>
          <p:cNvPr id="92" name="Group 112"/>
          <p:cNvGrpSpPr>
            <a:grpSpLocks/>
          </p:cNvGrpSpPr>
          <p:nvPr/>
        </p:nvGrpSpPr>
        <p:grpSpPr bwMode="auto">
          <a:xfrm flipH="1">
            <a:off x="3553588" y="2906680"/>
            <a:ext cx="1223323" cy="941240"/>
            <a:chOff x="4088" y="2028"/>
            <a:chExt cx="906" cy="688"/>
          </a:xfrm>
          <a:solidFill>
            <a:srgbClr val="FF0000"/>
          </a:solidFill>
        </p:grpSpPr>
        <p:sp>
          <p:nvSpPr>
            <p:cNvPr id="94" name="Oval 113"/>
            <p:cNvSpPr>
              <a:spLocks noChangeArrowheads="1"/>
            </p:cNvSpPr>
            <p:nvPr/>
          </p:nvSpPr>
          <p:spPr bwMode="auto">
            <a:xfrm>
              <a:off x="4422" y="215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5" name="Oval 114"/>
            <p:cNvSpPr>
              <a:spLocks noChangeArrowheads="1"/>
            </p:cNvSpPr>
            <p:nvPr/>
          </p:nvSpPr>
          <p:spPr bwMode="auto">
            <a:xfrm>
              <a:off x="4422" y="2605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6" name="Oval 115"/>
            <p:cNvSpPr>
              <a:spLocks noChangeArrowheads="1"/>
            </p:cNvSpPr>
            <p:nvPr/>
          </p:nvSpPr>
          <p:spPr bwMode="auto">
            <a:xfrm>
              <a:off x="4559" y="247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7" name="Oval 116"/>
            <p:cNvSpPr>
              <a:spLocks noChangeArrowheads="1"/>
            </p:cNvSpPr>
            <p:nvPr/>
          </p:nvSpPr>
          <p:spPr bwMode="auto">
            <a:xfrm>
              <a:off x="4967" y="2114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8" name="Oval 117"/>
            <p:cNvSpPr>
              <a:spLocks noChangeArrowheads="1"/>
            </p:cNvSpPr>
            <p:nvPr/>
          </p:nvSpPr>
          <p:spPr bwMode="auto">
            <a:xfrm>
              <a:off x="4693" y="2028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99" name="Oval 118"/>
            <p:cNvSpPr>
              <a:spLocks noChangeArrowheads="1"/>
            </p:cNvSpPr>
            <p:nvPr/>
          </p:nvSpPr>
          <p:spPr bwMode="auto">
            <a:xfrm>
              <a:off x="4369" y="24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0" name="Oval 119"/>
            <p:cNvSpPr>
              <a:spLocks noChangeArrowheads="1"/>
            </p:cNvSpPr>
            <p:nvPr/>
          </p:nvSpPr>
          <p:spPr bwMode="auto">
            <a:xfrm>
              <a:off x="4088" y="2682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1" name="Oval 120"/>
            <p:cNvSpPr>
              <a:spLocks noChangeArrowheads="1"/>
            </p:cNvSpPr>
            <p:nvPr/>
          </p:nvSpPr>
          <p:spPr bwMode="auto">
            <a:xfrm>
              <a:off x="4151" y="2429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2" name="Oval 121"/>
            <p:cNvSpPr>
              <a:spLocks noChangeArrowheads="1"/>
            </p:cNvSpPr>
            <p:nvPr/>
          </p:nvSpPr>
          <p:spPr bwMode="auto">
            <a:xfrm>
              <a:off x="4739" y="2293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03" name="Oval 122"/>
            <p:cNvSpPr>
              <a:spLocks noChangeArrowheads="1"/>
            </p:cNvSpPr>
            <p:nvPr/>
          </p:nvSpPr>
          <p:spPr bwMode="auto">
            <a:xfrm>
              <a:off x="4559" y="2250"/>
              <a:ext cx="27" cy="34"/>
            </a:xfrm>
            <a:prstGeom prst="ellipse">
              <a:avLst/>
            </a:prstGeom>
            <a:grpFill/>
            <a:ln w="14288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042294" y="5182935"/>
            <a:ext cx="756726" cy="529476"/>
            <a:chOff x="1907704" y="5412651"/>
            <a:chExt cx="756726" cy="529476"/>
          </a:xfrm>
          <a:noFill/>
        </p:grpSpPr>
        <p:sp>
          <p:nvSpPr>
            <p:cNvPr id="115" name="Oval 72"/>
            <p:cNvSpPr>
              <a:spLocks noChangeArrowheads="1"/>
            </p:cNvSpPr>
            <p:nvPr/>
          </p:nvSpPr>
          <p:spPr bwMode="auto">
            <a:xfrm>
              <a:off x="2097406" y="583371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7" name="Oval 74"/>
            <p:cNvSpPr>
              <a:spLocks noChangeArrowheads="1"/>
            </p:cNvSpPr>
            <p:nvPr/>
          </p:nvSpPr>
          <p:spPr bwMode="auto">
            <a:xfrm>
              <a:off x="2628430" y="5413993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8" name="Oval 75"/>
            <p:cNvSpPr>
              <a:spLocks noChangeArrowheads="1"/>
            </p:cNvSpPr>
            <p:nvPr/>
          </p:nvSpPr>
          <p:spPr bwMode="auto">
            <a:xfrm>
              <a:off x="2521153" y="5412651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0" name="Oval 77"/>
            <p:cNvSpPr>
              <a:spLocks noChangeArrowheads="1"/>
            </p:cNvSpPr>
            <p:nvPr/>
          </p:nvSpPr>
          <p:spPr bwMode="auto">
            <a:xfrm>
              <a:off x="1963311" y="5906127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1" name="Oval 78"/>
            <p:cNvSpPr>
              <a:spLocks noChangeArrowheads="1"/>
            </p:cNvSpPr>
            <p:nvPr/>
          </p:nvSpPr>
          <p:spPr bwMode="auto">
            <a:xfrm>
              <a:off x="2023654" y="5774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2" name="Oval 79"/>
            <p:cNvSpPr>
              <a:spLocks noChangeArrowheads="1"/>
            </p:cNvSpPr>
            <p:nvPr/>
          </p:nvSpPr>
          <p:spPr bwMode="auto">
            <a:xfrm>
              <a:off x="2562723" y="5542725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3" name="Oval 80"/>
            <p:cNvSpPr>
              <a:spLocks noChangeArrowheads="1"/>
            </p:cNvSpPr>
            <p:nvPr/>
          </p:nvSpPr>
          <p:spPr bwMode="auto">
            <a:xfrm>
              <a:off x="2396443" y="550115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Oval 74"/>
            <p:cNvSpPr>
              <a:spLocks noChangeArrowheads="1"/>
            </p:cNvSpPr>
            <p:nvPr/>
          </p:nvSpPr>
          <p:spPr bwMode="auto">
            <a:xfrm>
              <a:off x="2195736" y="578280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1" name="Oval 74"/>
            <p:cNvSpPr>
              <a:spLocks noChangeArrowheads="1"/>
            </p:cNvSpPr>
            <p:nvPr/>
          </p:nvSpPr>
          <p:spPr bwMode="auto">
            <a:xfrm>
              <a:off x="2123728" y="5733256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3" name="Oval 74"/>
            <p:cNvSpPr>
              <a:spLocks noChangeArrowheads="1"/>
            </p:cNvSpPr>
            <p:nvPr/>
          </p:nvSpPr>
          <p:spPr bwMode="auto">
            <a:xfrm>
              <a:off x="2458290" y="558924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5" name="Oval 74"/>
            <p:cNvSpPr>
              <a:spLocks noChangeArrowheads="1"/>
            </p:cNvSpPr>
            <p:nvPr/>
          </p:nvSpPr>
          <p:spPr bwMode="auto">
            <a:xfrm>
              <a:off x="2483768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6" name="Oval 74"/>
            <p:cNvSpPr>
              <a:spLocks noChangeArrowheads="1"/>
            </p:cNvSpPr>
            <p:nvPr/>
          </p:nvSpPr>
          <p:spPr bwMode="auto">
            <a:xfrm>
              <a:off x="1954234" y="5805264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7" name="Oval 74"/>
            <p:cNvSpPr>
              <a:spLocks noChangeArrowheads="1"/>
            </p:cNvSpPr>
            <p:nvPr/>
          </p:nvSpPr>
          <p:spPr bwMode="auto">
            <a:xfrm>
              <a:off x="2026242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8" name="Oval 74"/>
            <p:cNvSpPr>
              <a:spLocks noChangeArrowheads="1"/>
            </p:cNvSpPr>
            <p:nvPr/>
          </p:nvSpPr>
          <p:spPr bwMode="auto">
            <a:xfrm>
              <a:off x="1907704" y="587727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9" name="Oval 74"/>
            <p:cNvSpPr>
              <a:spLocks noChangeArrowheads="1"/>
            </p:cNvSpPr>
            <p:nvPr/>
          </p:nvSpPr>
          <p:spPr bwMode="auto">
            <a:xfrm>
              <a:off x="2555776" y="5486390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1" name="Oval 74"/>
            <p:cNvSpPr>
              <a:spLocks noChangeArrowheads="1"/>
            </p:cNvSpPr>
            <p:nvPr/>
          </p:nvSpPr>
          <p:spPr bwMode="auto">
            <a:xfrm>
              <a:off x="2492152" y="551723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4" name="Oval 74"/>
            <p:cNvSpPr>
              <a:spLocks noChangeArrowheads="1"/>
            </p:cNvSpPr>
            <p:nvPr/>
          </p:nvSpPr>
          <p:spPr bwMode="auto">
            <a:xfrm>
              <a:off x="2090800" y="57768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5" name="Oval 74"/>
            <p:cNvSpPr>
              <a:spLocks noChangeArrowheads="1"/>
            </p:cNvSpPr>
            <p:nvPr/>
          </p:nvSpPr>
          <p:spPr bwMode="auto">
            <a:xfrm>
              <a:off x="2007068" y="5828712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6" name="Oval 74"/>
            <p:cNvSpPr>
              <a:spLocks noChangeArrowheads="1"/>
            </p:cNvSpPr>
            <p:nvPr/>
          </p:nvSpPr>
          <p:spPr bwMode="auto">
            <a:xfrm>
              <a:off x="2393056" y="5564128"/>
              <a:ext cx="36000" cy="36000"/>
            </a:xfrm>
            <a:prstGeom prst="ellipse">
              <a:avLst/>
            </a:prstGeom>
            <a:grp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/>
          <p:nvPr/>
        </p:nvGrpSpPr>
        <p:grpSpPr>
          <a:xfrm>
            <a:off x="1569325" y="4897310"/>
            <a:ext cx="1540512" cy="1318993"/>
            <a:chOff x="1569325" y="4897310"/>
            <a:chExt cx="1540512" cy="1318993"/>
          </a:xfrm>
        </p:grpSpPr>
        <p:sp>
          <p:nvSpPr>
            <p:cNvPr id="124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5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26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5" name="Grupo 4"/>
            <p:cNvGrpSpPr/>
            <p:nvPr/>
          </p:nvGrpSpPr>
          <p:grpSpPr>
            <a:xfrm>
              <a:off x="2302970" y="5329101"/>
              <a:ext cx="265404" cy="213251"/>
              <a:chOff x="2168380" y="5558817"/>
              <a:chExt cx="265404" cy="213251"/>
            </a:xfrm>
          </p:grpSpPr>
          <p:sp>
            <p:nvSpPr>
              <p:cNvPr id="114" name="Oval 71"/>
              <p:cNvSpPr>
                <a:spLocks noChangeArrowheads="1"/>
              </p:cNvSpPr>
              <p:nvPr/>
            </p:nvSpPr>
            <p:spPr bwMode="auto">
              <a:xfrm>
                <a:off x="2271732" y="555881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Oval 73"/>
              <p:cNvSpPr>
                <a:spLocks noChangeArrowheads="1"/>
              </p:cNvSpPr>
              <p:nvPr/>
            </p:nvSpPr>
            <p:spPr bwMode="auto">
              <a:xfrm>
                <a:off x="2397784" y="5709005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8" name="Oval 74"/>
              <p:cNvSpPr>
                <a:spLocks noChangeArrowheads="1"/>
              </p:cNvSpPr>
              <p:nvPr/>
            </p:nvSpPr>
            <p:spPr bwMode="auto">
              <a:xfrm>
                <a:off x="2386282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0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2" name="Oval 74"/>
              <p:cNvSpPr>
                <a:spLocks noChangeArrowheads="1"/>
              </p:cNvSpPr>
              <p:nvPr/>
            </p:nvSpPr>
            <p:spPr bwMode="auto">
              <a:xfrm>
                <a:off x="2276128" y="573325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4" name="Oval 74"/>
              <p:cNvSpPr>
                <a:spLocks noChangeArrowheads="1"/>
              </p:cNvSpPr>
              <p:nvPr/>
            </p:nvSpPr>
            <p:spPr bwMode="auto">
              <a:xfrm>
                <a:off x="2195736" y="56304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0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2" name="Oval 74"/>
              <p:cNvSpPr>
                <a:spLocks noChangeArrowheads="1"/>
              </p:cNvSpPr>
              <p:nvPr/>
            </p:nvSpPr>
            <p:spPr bwMode="auto">
              <a:xfrm>
                <a:off x="2168380" y="570199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3" name="Oval 74"/>
              <p:cNvSpPr>
                <a:spLocks noChangeArrowheads="1"/>
              </p:cNvSpPr>
              <p:nvPr/>
            </p:nvSpPr>
            <p:spPr bwMode="auto">
              <a:xfrm>
                <a:off x="2262160" y="562441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7" name="Oval 74"/>
              <p:cNvSpPr>
                <a:spLocks noChangeArrowheads="1"/>
              </p:cNvSpPr>
              <p:nvPr/>
            </p:nvSpPr>
            <p:spPr bwMode="auto">
              <a:xfrm>
                <a:off x="2208296" y="573606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48" name="Retângulo 147"/>
          <p:cNvSpPr/>
          <p:nvPr/>
        </p:nvSpPr>
        <p:spPr>
          <a:xfrm>
            <a:off x="1814073" y="6142090"/>
            <a:ext cx="133940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Amostragem não</a:t>
            </a: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representativa</a:t>
            </a:r>
          </a:p>
        </p:txBody>
      </p:sp>
      <p:sp>
        <p:nvSpPr>
          <p:cNvPr id="14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68554F5B-1625-4E3A-B6E3-A97282658F01}" type="slidenum">
              <a:rPr lang="pt-BR"/>
              <a:pPr>
                <a:defRPr/>
              </a:pPr>
              <a:t>13</a:t>
            </a:fld>
            <a:endParaRPr lang="pt-BR" dirty="0"/>
          </a:p>
        </p:txBody>
      </p:sp>
      <p:cxnSp>
        <p:nvCxnSpPr>
          <p:cNvPr id="11" name="Conector reto 10"/>
          <p:cNvCxnSpPr>
            <a:endCxn id="117" idx="7"/>
          </p:cNvCxnSpPr>
          <p:nvPr/>
        </p:nvCxnSpPr>
        <p:spPr bwMode="auto">
          <a:xfrm flipV="1">
            <a:off x="1995037" y="5189549"/>
            <a:ext cx="798711" cy="522862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185" name="Grupo 184"/>
          <p:cNvGrpSpPr/>
          <p:nvPr/>
        </p:nvGrpSpPr>
        <p:grpSpPr>
          <a:xfrm>
            <a:off x="4170466" y="4896456"/>
            <a:ext cx="1540512" cy="1318993"/>
            <a:chOff x="1569325" y="4897310"/>
            <a:chExt cx="1540512" cy="1318993"/>
          </a:xfrm>
        </p:grpSpPr>
        <p:sp>
          <p:nvSpPr>
            <p:cNvPr id="186" name="Rectangle 82"/>
            <p:cNvSpPr>
              <a:spLocks noChangeArrowheads="1"/>
            </p:cNvSpPr>
            <p:nvPr/>
          </p:nvSpPr>
          <p:spPr bwMode="auto">
            <a:xfrm>
              <a:off x="2404489" y="5970082"/>
              <a:ext cx="136256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7" name="Rectangle 83"/>
            <p:cNvSpPr>
              <a:spLocks noChangeArrowheads="1"/>
            </p:cNvSpPr>
            <p:nvPr/>
          </p:nvSpPr>
          <p:spPr bwMode="auto">
            <a:xfrm rot="16200000">
              <a:off x="1629919" y="5278403"/>
              <a:ext cx="125034" cy="2462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88" name="Freeform 84"/>
            <p:cNvSpPr>
              <a:spLocks/>
            </p:cNvSpPr>
            <p:nvPr/>
          </p:nvSpPr>
          <p:spPr bwMode="auto">
            <a:xfrm>
              <a:off x="1822509" y="4897310"/>
              <a:ext cx="1287328" cy="1037907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1 h 1179"/>
                <a:gd name="T4" fmla="*/ 2 w 1271"/>
                <a:gd name="T5" fmla="*/ 1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89" name="Grupo 188"/>
            <p:cNvGrpSpPr/>
            <p:nvPr/>
          </p:nvGrpSpPr>
          <p:grpSpPr>
            <a:xfrm>
              <a:off x="2078875" y="5233683"/>
              <a:ext cx="792080" cy="572435"/>
              <a:chOff x="1944285" y="5463399"/>
              <a:chExt cx="792080" cy="572435"/>
            </a:xfrm>
          </p:grpSpPr>
          <p:sp>
            <p:nvSpPr>
              <p:cNvPr id="190" name="Oval 71"/>
              <p:cNvSpPr>
                <a:spLocks noChangeArrowheads="1"/>
              </p:cNvSpPr>
              <p:nvPr/>
            </p:nvSpPr>
            <p:spPr bwMode="auto">
              <a:xfrm>
                <a:off x="2052293" y="575535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1" name="Oval 73"/>
              <p:cNvSpPr>
                <a:spLocks noChangeArrowheads="1"/>
              </p:cNvSpPr>
              <p:nvPr/>
            </p:nvSpPr>
            <p:spPr bwMode="auto">
              <a:xfrm>
                <a:off x="2448341" y="553177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2" name="Oval 76"/>
              <p:cNvSpPr>
                <a:spLocks noChangeArrowheads="1"/>
              </p:cNvSpPr>
              <p:nvPr/>
            </p:nvSpPr>
            <p:spPr bwMode="auto">
              <a:xfrm>
                <a:off x="2226140" y="568620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3" name="Oval 74"/>
              <p:cNvSpPr>
                <a:spLocks noChangeArrowheads="1"/>
              </p:cNvSpPr>
              <p:nvPr/>
            </p:nvSpPr>
            <p:spPr bwMode="auto">
              <a:xfrm>
                <a:off x="2508890" y="5463399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" name="Oval 74"/>
              <p:cNvSpPr>
                <a:spLocks noChangeArrowheads="1"/>
              </p:cNvSpPr>
              <p:nvPr/>
            </p:nvSpPr>
            <p:spPr bwMode="auto">
              <a:xfrm>
                <a:off x="2314274" y="566124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5" name="Oval 74"/>
              <p:cNvSpPr>
                <a:spLocks noChangeArrowheads="1"/>
              </p:cNvSpPr>
              <p:nvPr/>
            </p:nvSpPr>
            <p:spPr bwMode="auto">
              <a:xfrm>
                <a:off x="1944285" y="5891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6" name="Oval 74"/>
              <p:cNvSpPr>
                <a:spLocks noChangeArrowheads="1"/>
              </p:cNvSpPr>
              <p:nvPr/>
            </p:nvSpPr>
            <p:spPr bwMode="auto">
              <a:xfrm>
                <a:off x="2137672" y="575506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7" name="Oval 74"/>
              <p:cNvSpPr>
                <a:spLocks noChangeArrowheads="1"/>
              </p:cNvSpPr>
              <p:nvPr/>
            </p:nvSpPr>
            <p:spPr bwMode="auto">
              <a:xfrm>
                <a:off x="2339752" y="55892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8" name="Oval 74"/>
              <p:cNvSpPr>
                <a:spLocks noChangeArrowheads="1"/>
              </p:cNvSpPr>
              <p:nvPr/>
            </p:nvSpPr>
            <p:spPr bwMode="auto">
              <a:xfrm>
                <a:off x="2268317" y="59998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9" name="Oval 74"/>
              <p:cNvSpPr>
                <a:spLocks noChangeArrowheads="1"/>
              </p:cNvSpPr>
              <p:nvPr/>
            </p:nvSpPr>
            <p:spPr bwMode="auto">
              <a:xfrm>
                <a:off x="2700365" y="58558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0" name="Oval 74"/>
              <p:cNvSpPr>
                <a:spLocks noChangeArrowheads="1"/>
              </p:cNvSpPr>
              <p:nvPr/>
            </p:nvSpPr>
            <p:spPr bwMode="auto">
              <a:xfrm>
                <a:off x="2005688" y="582010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01" name="Retângulo 200"/>
          <p:cNvSpPr/>
          <p:nvPr/>
        </p:nvSpPr>
        <p:spPr>
          <a:xfrm>
            <a:off x="4081667" y="6141236"/>
            <a:ext cx="200651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200" dirty="0">
                <a:latin typeface="Tahoma" panose="020B0604030504040204" pitchFamily="34" charset="0"/>
              </a:rPr>
              <a:t>Presença de </a:t>
            </a:r>
            <a:r>
              <a:rPr lang="pt-BR" sz="1200" dirty="0" err="1">
                <a:latin typeface="Tahoma" panose="020B0604030504040204" pitchFamily="34" charset="0"/>
              </a:rPr>
              <a:t>outliers</a:t>
            </a:r>
            <a:endParaRPr lang="pt-BR" sz="1200" dirty="0">
              <a:latin typeface="Tahoma" panose="020B0604030504040204" pitchFamily="34" charset="0"/>
            </a:endParaRPr>
          </a:p>
          <a:p>
            <a:pPr algn="ctr"/>
            <a:r>
              <a:rPr lang="pt-BR" sz="1200" dirty="0">
                <a:latin typeface="Tahoma" panose="020B0604030504040204" pitchFamily="34" charset="0"/>
              </a:rPr>
              <a:t>ou pontos de alavancagem</a:t>
            </a:r>
          </a:p>
        </p:txBody>
      </p:sp>
      <p:cxnSp>
        <p:nvCxnSpPr>
          <p:cNvPr id="202" name="Conector reto 201"/>
          <p:cNvCxnSpPr/>
          <p:nvPr/>
        </p:nvCxnSpPr>
        <p:spPr bwMode="auto">
          <a:xfrm flipV="1">
            <a:off x="4655388" y="5515290"/>
            <a:ext cx="864000" cy="109958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60992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439" grpId="0" animBg="1"/>
      <p:bldP spid="13440" grpId="0" animBg="1"/>
      <p:bldP spid="13443" grpId="0" animBg="1"/>
      <p:bldP spid="13444" grpId="0" animBg="1"/>
      <p:bldP spid="13445" grpId="0" animBg="1"/>
      <p:bldP spid="13446" grpId="0" animBg="1"/>
      <p:bldP spid="13447" grpId="0" animBg="1"/>
      <p:bldP spid="86" grpId="0"/>
      <p:bldP spid="87" grpId="0"/>
      <p:bldP spid="148" grpId="0"/>
      <p:bldP spid="20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/>
          <p:cNvSpPr txBox="1">
            <a:spLocks noChangeArrowheads="1"/>
          </p:cNvSpPr>
          <p:nvPr/>
        </p:nvSpPr>
        <p:spPr bwMode="auto">
          <a:xfrm>
            <a:off x="755576" y="1565549"/>
            <a:ext cx="7632848" cy="1519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determinar qual a função que melhor descreve a relação entre variáveis estudadas?</a:t>
            </a:r>
          </a:p>
          <a:p>
            <a:pPr marL="358775" indent="-358775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obter estimativas “confiáveis” de uma variável conhecendo-se o valor de outras variáveis?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14</a:t>
            </a:fld>
            <a:endParaRPr lang="pt-BR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6A8EABF-7540-C098-2DDD-E38527C298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3131249"/>
            <a:ext cx="4895850" cy="2998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31B84A46-41D6-B3CC-38D6-62C9545A84D4}"/>
              </a:ext>
            </a:extLst>
          </p:cNvPr>
          <p:cNvSpPr/>
          <p:nvPr/>
        </p:nvSpPr>
        <p:spPr>
          <a:xfrm>
            <a:off x="2267744" y="6187370"/>
            <a:ext cx="4895844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73050" indent="-273050"/>
            <a:r>
              <a:rPr lang="pt-BR" altLang="pt-BR" sz="1000" dirty="0">
                <a:latin typeface="Tahoma" panose="020B0604030504040204" pitchFamily="34" charset="0"/>
              </a:rPr>
              <a:t>Fonte: Adaptado de Santos, F.C.; Pereira Filho, W.; </a:t>
            </a:r>
            <a:r>
              <a:rPr lang="pt-BR" altLang="pt-BR" sz="1000" dirty="0" err="1">
                <a:latin typeface="Tahoma" panose="020B0604030504040204" pitchFamily="34" charset="0"/>
              </a:rPr>
              <a:t>Toniolo</a:t>
            </a:r>
            <a:r>
              <a:rPr lang="pt-BR" altLang="pt-BR" sz="1000" dirty="0">
                <a:latin typeface="Tahoma" panose="020B0604030504040204" pitchFamily="34" charset="0"/>
              </a:rPr>
              <a:t>, G.R.. Transparência associada à </a:t>
            </a:r>
            <a:r>
              <a:rPr lang="pt-BR" altLang="pt-BR" sz="1000" dirty="0" err="1">
                <a:latin typeface="Tahoma" panose="020B0604030504040204" pitchFamily="34" charset="0"/>
              </a:rPr>
              <a:t>reflectância</a:t>
            </a:r>
            <a:r>
              <a:rPr lang="pt-BR" altLang="pt-BR" sz="1000" dirty="0">
                <a:latin typeface="Tahoma" panose="020B0604030504040204" pitchFamily="34" charset="0"/>
              </a:rPr>
              <a:t> da água do reservatório Passo Real. In: XVII SBSR, 2015. p. 6653-6659</a:t>
            </a:r>
            <a:endParaRPr lang="pt-BR" sz="1000" dirty="0">
              <a:latin typeface="Tahoma" panose="020B0604030504040204" pitchFamily="34" charset="0"/>
            </a:endParaRPr>
          </a:p>
        </p:txBody>
      </p:sp>
      <p:sp>
        <p:nvSpPr>
          <p:cNvPr id="7" name="Forma livre 1">
            <a:extLst>
              <a:ext uri="{FF2B5EF4-FFF2-40B4-BE49-F238E27FC236}">
                <a16:creationId xmlns:a16="http://schemas.microsoft.com/office/drawing/2014/main" id="{86082709-9CE1-58E9-CCC4-B4E26A81E2FA}"/>
              </a:ext>
            </a:extLst>
          </p:cNvPr>
          <p:cNvSpPr/>
          <p:nvPr/>
        </p:nvSpPr>
        <p:spPr bwMode="auto">
          <a:xfrm>
            <a:off x="3598826" y="3533594"/>
            <a:ext cx="3073822" cy="1742302"/>
          </a:xfrm>
          <a:custGeom>
            <a:avLst/>
            <a:gdLst>
              <a:gd name="connsiteX0" fmla="*/ 0 w 3200400"/>
              <a:gd name="connsiteY0" fmla="*/ 0 h 1742302"/>
              <a:gd name="connsiteX1" fmla="*/ 1322173 w 3200400"/>
              <a:gd name="connsiteY1" fmla="*/ 1037967 h 1742302"/>
              <a:gd name="connsiteX2" fmla="*/ 3200400 w 3200400"/>
              <a:gd name="connsiteY2" fmla="*/ 1742302 h 17423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200400" h="1742302">
                <a:moveTo>
                  <a:pt x="0" y="0"/>
                </a:moveTo>
                <a:cubicBezTo>
                  <a:pt x="394386" y="373791"/>
                  <a:pt x="788773" y="747583"/>
                  <a:pt x="1322173" y="1037967"/>
                </a:cubicBezTo>
                <a:cubicBezTo>
                  <a:pt x="1855573" y="1328351"/>
                  <a:pt x="2527986" y="1535326"/>
                  <a:pt x="3200400" y="1742302"/>
                </a:cubicBezTo>
              </a:path>
            </a:pathLst>
          </a:custGeom>
          <a:noFill/>
          <a:ln w="28575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2656C04-4277-E6CA-10C7-B4A2672F7187}"/>
              </a:ext>
            </a:extLst>
          </p:cNvPr>
          <p:cNvSpPr txBox="1"/>
          <p:nvPr/>
        </p:nvSpPr>
        <p:spPr>
          <a:xfrm>
            <a:off x="5292080" y="4221088"/>
            <a:ext cx="3977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2800" dirty="0">
                <a:solidFill>
                  <a:srgbClr val="FF0000"/>
                </a:solidFill>
                <a:latin typeface="Tahoma" panose="020B0604030504040204" pitchFamily="34" charset="0"/>
              </a:rPr>
              <a:t>?</a:t>
            </a:r>
            <a:endParaRPr lang="pt-BR" sz="2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3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1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B8C79-C007-BB52-403C-FDCA0D2BF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8" name="Text Box 18">
            <a:extLst>
              <a:ext uri="{FF2B5EF4-FFF2-40B4-BE49-F238E27FC236}">
                <a16:creationId xmlns:a16="http://schemas.microsoft.com/office/drawing/2014/main" id="{764DF8A0-2016-5A81-822E-E407ECF698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1565549"/>
            <a:ext cx="8353425" cy="7901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“Método estatístico que utiliza a relação entre duas ou mais variáveis para que uma variável possa ser estimada (ou predita) a partir da outra ou das outras”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55AE08E9-5791-9628-F113-81C38AC8D2A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</a:t>
            </a:r>
          </a:p>
        </p:txBody>
      </p:sp>
      <p:sp>
        <p:nvSpPr>
          <p:cNvPr id="5126" name="Text Box 21">
            <a:extLst>
              <a:ext uri="{FF2B5EF4-FFF2-40B4-BE49-F238E27FC236}">
                <a16:creationId xmlns:a16="http://schemas.microsoft.com/office/drawing/2014/main" id="{8CEC653D-173F-9667-DF86-2761AD09B5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3175" y="6554788"/>
            <a:ext cx="59055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 err="1">
                <a:latin typeface="Tahoma" panose="020B0604030504040204" pitchFamily="34" charset="0"/>
              </a:rPr>
              <a:t>Neter</a:t>
            </a:r>
            <a:r>
              <a:rPr lang="pt-BR" altLang="pt-BR" sz="1400" dirty="0">
                <a:latin typeface="Tahoma" panose="020B0604030504040204" pitchFamily="34" charset="0"/>
              </a:rPr>
              <a:t>, J, et al, </a:t>
            </a:r>
            <a:r>
              <a:rPr lang="pt-BR" altLang="pt-BR" sz="1400" dirty="0" err="1">
                <a:latin typeface="Tahoma" panose="020B0604030504040204" pitchFamily="34" charset="0"/>
              </a:rPr>
              <a:t>Applied</a:t>
            </a:r>
            <a:r>
              <a:rPr lang="pt-BR" altLang="pt-BR" sz="1400" dirty="0">
                <a:latin typeface="Tahoma" panose="020B0604030504040204" pitchFamily="34" charset="0"/>
              </a:rPr>
              <a:t> Linear </a:t>
            </a:r>
            <a:r>
              <a:rPr lang="pt-BR" altLang="pt-BR" sz="1400" dirty="0" err="1">
                <a:latin typeface="Tahoma" panose="020B0604030504040204" pitchFamily="34" charset="0"/>
              </a:rPr>
              <a:t>Statistical</a:t>
            </a:r>
            <a:r>
              <a:rPr lang="pt-BR" altLang="pt-BR" sz="1400" dirty="0">
                <a:latin typeface="Tahoma" panose="020B0604030504040204" pitchFamily="34" charset="0"/>
              </a:rPr>
              <a:t> </a:t>
            </a:r>
            <a:r>
              <a:rPr lang="pt-BR" altLang="pt-BR" sz="1400" dirty="0" err="1">
                <a:latin typeface="Tahoma" panose="020B0604030504040204" pitchFamily="34" charset="0"/>
              </a:rPr>
              <a:t>Models</a:t>
            </a:r>
            <a:r>
              <a:rPr lang="pt-BR" altLang="pt-BR" sz="1400" dirty="0">
                <a:latin typeface="Tahoma" panose="020B0604030504040204" pitchFamily="34" charset="0"/>
              </a:rPr>
              <a:t>, McGraw Hill, 1996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B4619925-A3E4-5F21-44BA-CA303F29B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579CD28-78FA-407F-A4F3-134BA6092B9D}" type="slidenum">
              <a:rPr lang="pt-BR"/>
              <a:pPr>
                <a:defRPr/>
              </a:pPr>
              <a:t>15</a:t>
            </a:fld>
            <a:endParaRPr lang="pt-BR"/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7CD8D5AD-1685-AF14-7549-7A78011E99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0305" y="2708920"/>
            <a:ext cx="7810127" cy="22629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Na análise de regressão, a variável a ser estimada é chamada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e as variáveis que vão explicar essa variável são chamadas de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271463" indent="-2714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existência de uma relação estatística entre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a variável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independente 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não implica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realmente dependa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ou que exista uma relação de causa-efeito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72960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Análise de Regressão</a:t>
            </a:r>
          </a:p>
        </p:txBody>
      </p:sp>
      <p:sp>
        <p:nvSpPr>
          <p:cNvPr id="14339" name="Text Box 3"/>
          <p:cNvSpPr txBox="1">
            <a:spLocks noChangeArrowheads="1"/>
          </p:cNvSpPr>
          <p:nvPr/>
        </p:nvSpPr>
        <p:spPr bwMode="auto">
          <a:xfrm>
            <a:off x="251520" y="1659864"/>
            <a:ext cx="8712968" cy="29392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eaLnBrk="0" hangingPunct="0">
              <a:spcBef>
                <a:spcPct val="50000"/>
              </a:spcBef>
              <a:defRPr/>
            </a:pPr>
            <a:r>
              <a:rPr lang="pt-BR" dirty="0">
                <a:latin typeface="Tahoma" panose="020B0604030504040204" pitchFamily="34" charset="0"/>
              </a:rPr>
              <a:t>Para que serve uma análise de regressão?</a:t>
            </a:r>
          </a:p>
          <a:p>
            <a:pPr eaLnBrk="0" hangingPunct="0">
              <a:spcBef>
                <a:spcPct val="50000"/>
              </a:spcBef>
              <a:defRPr/>
            </a:pPr>
            <a:endParaRPr lang="pt-BR" dirty="0">
              <a:latin typeface="Tahoma" panose="020B0604030504040204" pitchFamily="34" charset="0"/>
            </a:endParaRP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as variáveis mais relevantes que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Encontrar a função que descreve como uma ou mais variáveis se relacionam com 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e estimar os parâmetros que definem esta função (</a:t>
            </a: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equação ajustada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177800" indent="-177800" eaLnBrk="0" hangingPunct="0">
              <a:spcBef>
                <a:spcPct val="50000"/>
              </a:spcBef>
              <a:buFont typeface="Arial" panose="020B0604020202020204" pitchFamily="34" charset="0"/>
              <a:buChar char="•"/>
              <a:defRPr/>
            </a:pPr>
            <a:r>
              <a:rPr lang="pt-BR" dirty="0">
                <a:latin typeface="Tahoma" panose="020B0604030504040204" pitchFamily="34" charset="0"/>
              </a:rPr>
              <a:t>Usar a equação ajustada para prever valores da variável dependente (</a:t>
            </a:r>
            <a:r>
              <a:rPr lang="pt-BR" i="1" dirty="0"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  <a:p>
            <a:pPr marL="342900" indent="-342900" eaLnBrk="0" hangingPunct="0">
              <a:spcBef>
                <a:spcPct val="50000"/>
              </a:spcBef>
              <a:defRPr/>
            </a:pPr>
            <a:endParaRPr lang="pt-BR" sz="1800" dirty="0">
              <a:latin typeface="Tahoma" panose="020B0604030504040204" pitchFamily="34" charset="0"/>
            </a:endParaRPr>
          </a:p>
          <a:p>
            <a:pPr marL="342900" indent="-342900" algn="ctr" eaLnBrk="0" hangingPunct="0">
              <a:spcBef>
                <a:spcPct val="50000"/>
              </a:spcBef>
              <a:defRPr/>
            </a:pPr>
            <a:r>
              <a:rPr lang="pt-BR" sz="2000" dirty="0">
                <a:solidFill>
                  <a:srgbClr val="FF0000"/>
                </a:solidFill>
                <a:latin typeface="Tahoma" panose="020B0604030504040204" pitchFamily="34" charset="0"/>
              </a:rPr>
              <a:t>Regressão Linear Simples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144BA4-CFF7-47B7-9F7F-0A0883599F2E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/>
          <p:cNvGrpSpPr/>
          <p:nvPr/>
        </p:nvGrpSpPr>
        <p:grpSpPr>
          <a:xfrm>
            <a:off x="814388" y="3323078"/>
            <a:ext cx="4211637" cy="3462219"/>
            <a:chOff x="814388" y="3323078"/>
            <a:chExt cx="4211637" cy="3462219"/>
          </a:xfrm>
        </p:grpSpPr>
        <p:pic>
          <p:nvPicPr>
            <p:cNvPr id="12393" name="Picture 10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50879" y="3323078"/>
              <a:ext cx="3425588" cy="308439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296" name="Text Box 34"/>
            <p:cNvSpPr txBox="1">
              <a:spLocks noChangeArrowheads="1"/>
            </p:cNvSpPr>
            <p:nvPr/>
          </p:nvSpPr>
          <p:spPr bwMode="auto">
            <a:xfrm>
              <a:off x="4702175" y="6418585"/>
              <a:ext cx="3238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</a:p>
          </p:txBody>
        </p:sp>
        <p:sp>
          <p:nvSpPr>
            <p:cNvPr id="12297" name="Text Box 35"/>
            <p:cNvSpPr txBox="1">
              <a:spLocks noChangeArrowheads="1"/>
            </p:cNvSpPr>
            <p:nvPr/>
          </p:nvSpPr>
          <p:spPr bwMode="auto">
            <a:xfrm>
              <a:off x="814388" y="3977010"/>
              <a:ext cx="311150" cy="366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  <p:sp>
          <p:nvSpPr>
            <p:cNvPr id="12299" name="Line 41"/>
            <p:cNvSpPr>
              <a:spLocks noChangeShapeType="1"/>
            </p:cNvSpPr>
            <p:nvPr/>
          </p:nvSpPr>
          <p:spPr bwMode="auto">
            <a:xfrm>
              <a:off x="1136650" y="6334447"/>
              <a:ext cx="369252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00" name="Line 42"/>
            <p:cNvSpPr>
              <a:spLocks noChangeShapeType="1"/>
            </p:cNvSpPr>
            <p:nvPr/>
          </p:nvSpPr>
          <p:spPr bwMode="auto">
            <a:xfrm flipV="1">
              <a:off x="1136650" y="3707135"/>
              <a:ext cx="0" cy="262731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sp>
        <p:nvSpPr>
          <p:cNvPr id="15399" name="Line 39"/>
          <p:cNvSpPr>
            <a:spLocks noChangeShapeType="1"/>
          </p:cNvSpPr>
          <p:nvPr/>
        </p:nvSpPr>
        <p:spPr bwMode="auto">
          <a:xfrm flipV="1">
            <a:off x="1131888" y="4186560"/>
            <a:ext cx="3233737" cy="1252537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407" name="Rectangle 47"/>
              <p:cNvSpPr>
                <a:spLocks noChangeArrowheads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15407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3957960"/>
                <a:ext cx="3429000" cy="400110"/>
              </a:xfrm>
              <a:prstGeom prst="rect">
                <a:avLst/>
              </a:prstGeom>
              <a:blipFill rotWithShape="1">
                <a:blip r:embed="rId3"/>
                <a:stretch>
                  <a:fillRect b="-1515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17</a:t>
            </a:fld>
            <a:endParaRPr lang="pt-BR"/>
          </a:p>
        </p:txBody>
      </p:sp>
      <p:sp>
        <p:nvSpPr>
          <p:cNvPr id="9" name="Retângulo 8"/>
          <p:cNvSpPr/>
          <p:nvPr/>
        </p:nvSpPr>
        <p:spPr>
          <a:xfrm>
            <a:off x="5026025" y="4472129"/>
            <a:ext cx="3506415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2563" indent="-182563"/>
            <a:r>
              <a:rPr lang="pt-BR" dirty="0">
                <a:latin typeface="Tahoma" panose="020B0604030504040204" pitchFamily="34" charset="0"/>
              </a:rPr>
              <a:t>A reta representa o valor médio da variável 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Y</a:t>
            </a:r>
            <a:r>
              <a:rPr lang="pt-BR" dirty="0">
                <a:latin typeface="Tahoma" panose="020B0604030504040204" pitchFamily="34" charset="0"/>
              </a:rPr>
              <a:t>) para todos os níveis da variável independente (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X</a:t>
            </a:r>
            <a:r>
              <a:rPr lang="pt-BR" dirty="0">
                <a:latin typeface="Tahoma" panose="020B0604030504040204" pitchFamily="34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6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upo 10"/>
          <p:cNvGrpSpPr>
            <a:grpSpLocks/>
          </p:cNvGrpSpPr>
          <p:nvPr/>
        </p:nvGrpSpPr>
        <p:grpSpPr bwMode="auto">
          <a:xfrm>
            <a:off x="5131559" y="1179300"/>
            <a:ext cx="3832929" cy="5370145"/>
            <a:chOff x="4981467" y="4214818"/>
            <a:chExt cx="3831164" cy="5367923"/>
          </a:xfrm>
        </p:grpSpPr>
        <p:sp>
          <p:nvSpPr>
            <p:cNvPr id="29" name="Arco 28"/>
            <p:cNvSpPr/>
            <p:nvPr/>
          </p:nvSpPr>
          <p:spPr bwMode="auto">
            <a:xfrm>
              <a:off x="4981467" y="4214818"/>
              <a:ext cx="1276482" cy="1257419"/>
            </a:xfrm>
            <a:prstGeom prst="arc">
              <a:avLst>
                <a:gd name="adj1" fmla="val 5269980"/>
                <a:gd name="adj2" fmla="val 11034734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0" name="CaixaDeTexto 7"/>
            <p:cNvSpPr txBox="1">
              <a:spLocks noChangeArrowheads="1"/>
            </p:cNvSpPr>
            <p:nvPr/>
          </p:nvSpPr>
          <p:spPr bwMode="auto">
            <a:xfrm>
              <a:off x="5421398" y="5331774"/>
              <a:ext cx="2243490" cy="5230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    variável independente*</a:t>
              </a:r>
              <a:endPara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explicativa)</a:t>
              </a:r>
            </a:p>
          </p:txBody>
        </p:sp>
        <p:sp>
          <p:nvSpPr>
            <p:cNvPr id="41" name="CaixaDeTexto 7"/>
            <p:cNvSpPr txBox="1">
              <a:spLocks noChangeArrowheads="1"/>
            </p:cNvSpPr>
            <p:nvPr/>
          </p:nvSpPr>
          <p:spPr bwMode="auto">
            <a:xfrm>
              <a:off x="5067816" y="8982825"/>
              <a:ext cx="3744815" cy="5999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marL="123825" indent="-123825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latin typeface="Tahoma" panose="020B0604030504040204" pitchFamily="34" charset="0"/>
                </a:rPr>
                <a:t>* na regressão clássica, a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variável independente</a:t>
              </a:r>
              <a:r>
                <a:rPr lang="pt-BR" altLang="pt-BR" sz="1100" dirty="0">
                  <a:latin typeface="Tahoma" panose="020B0604030504040204" pitchFamily="34" charset="0"/>
                </a:rPr>
                <a:t> não é considerada uma variável aleatória, ou seja, supõe-se que seus  </a:t>
              </a: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valores são fixos conhecidos</a:t>
              </a:r>
            </a:p>
          </p:txBody>
        </p:sp>
      </p:grpSp>
      <p:grpSp>
        <p:nvGrpSpPr>
          <p:cNvPr id="31" name="Grupo 9"/>
          <p:cNvGrpSpPr>
            <a:grpSpLocks/>
          </p:cNvGrpSpPr>
          <p:nvPr/>
        </p:nvGrpSpPr>
        <p:grpSpPr bwMode="auto">
          <a:xfrm>
            <a:off x="5596830" y="1520621"/>
            <a:ext cx="2219296" cy="751867"/>
            <a:chOff x="5446150" y="4625081"/>
            <a:chExt cx="2219781" cy="751067"/>
          </a:xfrm>
        </p:grpSpPr>
        <p:sp>
          <p:nvSpPr>
            <p:cNvPr id="32" name="Arco 31"/>
            <p:cNvSpPr/>
            <p:nvPr/>
          </p:nvSpPr>
          <p:spPr bwMode="auto">
            <a:xfrm>
              <a:off x="5446150" y="4625081"/>
              <a:ext cx="559467" cy="39557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" name="CaixaDeTexto 8"/>
            <p:cNvSpPr txBox="1">
              <a:spLocks noChangeArrowheads="1"/>
            </p:cNvSpPr>
            <p:nvPr/>
          </p:nvSpPr>
          <p:spPr bwMode="auto">
            <a:xfrm>
              <a:off x="5699899" y="4853487"/>
              <a:ext cx="1966032" cy="52266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componente aleatório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(erro ou resíduo)</a:t>
              </a:r>
            </a:p>
          </p:txBody>
        </p:sp>
      </p:grpSp>
      <p:grpSp>
        <p:nvGrpSpPr>
          <p:cNvPr id="34" name="Grupo 11"/>
          <p:cNvGrpSpPr>
            <a:grpSpLocks/>
          </p:cNvGrpSpPr>
          <p:nvPr/>
        </p:nvGrpSpPr>
        <p:grpSpPr bwMode="auto">
          <a:xfrm>
            <a:off x="3858613" y="507736"/>
            <a:ext cx="3791446" cy="2857885"/>
            <a:chOff x="3690445" y="2971752"/>
            <a:chExt cx="3791475" cy="2857211"/>
          </a:xfrm>
        </p:grpSpPr>
        <p:sp>
          <p:nvSpPr>
            <p:cNvPr id="35" name="Arco 34"/>
            <p:cNvSpPr/>
            <p:nvPr/>
          </p:nvSpPr>
          <p:spPr bwMode="auto">
            <a:xfrm>
              <a:off x="3690445" y="2971752"/>
              <a:ext cx="3791475" cy="2487408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6" name="CaixaDeTexto 13"/>
            <p:cNvSpPr txBox="1">
              <a:spLocks noChangeArrowheads="1"/>
            </p:cNvSpPr>
            <p:nvPr/>
          </p:nvSpPr>
          <p:spPr bwMode="auto">
            <a:xfrm>
              <a:off x="5585589" y="5305743"/>
              <a:ext cx="1850186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variável dependente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(variável resposta)</a:t>
              </a:r>
            </a:p>
          </p:txBody>
        </p:sp>
      </p:grpSp>
      <p:grpSp>
        <p:nvGrpSpPr>
          <p:cNvPr id="38" name="Grupo 37"/>
          <p:cNvGrpSpPr/>
          <p:nvPr/>
        </p:nvGrpSpPr>
        <p:grpSpPr>
          <a:xfrm>
            <a:off x="2195736" y="2849161"/>
            <a:ext cx="2084421" cy="625412"/>
            <a:chOff x="2051720" y="6182720"/>
            <a:chExt cx="2084421" cy="625412"/>
          </a:xfrm>
        </p:grpSpPr>
        <p:sp>
          <p:nvSpPr>
            <p:cNvPr id="39" name="Retângulo 38"/>
            <p:cNvSpPr/>
            <p:nvPr/>
          </p:nvSpPr>
          <p:spPr>
            <a:xfrm>
              <a:off x="2339752" y="6500355"/>
              <a:ext cx="1796389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sz="1400" dirty="0">
                  <a:latin typeface="Tahoma" panose="020B0604030504040204" pitchFamily="34" charset="0"/>
                </a:rPr>
                <a:t>erros independentes</a:t>
              </a:r>
            </a:p>
          </p:txBody>
        </p:sp>
        <p:sp>
          <p:nvSpPr>
            <p:cNvPr id="40" name="Arco 39"/>
            <p:cNvSpPr/>
            <p:nvPr/>
          </p:nvSpPr>
          <p:spPr bwMode="auto">
            <a:xfrm>
              <a:off x="2051720" y="6182720"/>
              <a:ext cx="559345" cy="466227"/>
            </a:xfrm>
            <a:prstGeom prst="arc">
              <a:avLst>
                <a:gd name="adj1" fmla="val 5269980"/>
                <a:gd name="adj2" fmla="val 10754393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triangle" w="med" len="med"/>
              <a:tailEnd type="none" w="med" len="med"/>
            </a:ln>
            <a:effectLst/>
          </p:spPr>
          <p:txBody>
            <a:bodyPr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37" name="CaixaDeTexto 8"/>
          <p:cNvSpPr txBox="1">
            <a:spLocks noChangeArrowheads="1"/>
          </p:cNvSpPr>
          <p:nvPr/>
        </p:nvSpPr>
        <p:spPr bwMode="auto">
          <a:xfrm>
            <a:off x="682136" y="1597722"/>
            <a:ext cx="166904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Pressuposições:</a:t>
            </a:r>
          </a:p>
        </p:txBody>
      </p:sp>
      <p:sp>
        <p:nvSpPr>
          <p:cNvPr id="3" name="Retângulo 2"/>
          <p:cNvSpPr/>
          <p:nvPr/>
        </p:nvSpPr>
        <p:spPr>
          <a:xfrm>
            <a:off x="5698731" y="3443068"/>
            <a:ext cx="288540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i="1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e </a:t>
            </a:r>
            <a:r>
              <a:rPr lang="pt-BR" i="1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dirty="0">
                <a:solidFill>
                  <a:srgbClr val="000000"/>
                </a:solidFill>
                <a:latin typeface="Tahoma" panose="020B0604030504040204" pitchFamily="34" charset="0"/>
                <a:cs typeface="Times New Roman" pitchFamily="18" charset="0"/>
              </a:rPr>
              <a:t> são parâmetros (fixos)</a:t>
            </a:r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d>
                        <m:d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=0</m:t>
                      </m:r>
                    </m:oMath>
                  </m:oMathPara>
                </a14:m>
                <a:endParaRPr lang="pt-BR" altLang="pt-BR" sz="1800" b="0" dirty="0">
                  <a:latin typeface="Tahoma" panose="020B0604030504040204" pitchFamily="34" charset="0"/>
                  <a:ea typeface="Cambria Math"/>
                  <a:sym typeface="Symbol" pitchFamily="18" charset="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𝑉𝑎𝑟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𝜎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  <a:ea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0" i="1" smtClean="0">
                          <a:latin typeface="Cambria Math"/>
                        </a:rPr>
                        <m:t>𝐶𝑜𝑣</m:t>
                      </m:r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𝑘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=0      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∀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𝑘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≠</m:t>
                      </m:r>
                      <m:r>
                        <a:rPr lang="pt-BR" sz="1800" b="0" i="1" smtClean="0">
                          <a:latin typeface="Cambria Math"/>
                          <a:ea typeface="Cambria Math"/>
                        </a:rPr>
                        <m:t>𝑗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038" y="1811054"/>
                <a:ext cx="2789546" cy="140192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99" grpId="0" animBg="1"/>
      <p:bldP spid="15407" grpId="0"/>
      <p:bldP spid="9" grpId="0"/>
      <p:bldP spid="37" grpId="0"/>
      <p:bldP spid="3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Simples</a:t>
            </a: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6274395" y="2518915"/>
            <a:ext cx="1177925" cy="1054101"/>
            <a:chOff x="3697" y="2135"/>
            <a:chExt cx="742" cy="664"/>
          </a:xfrm>
        </p:grpSpPr>
        <p:sp>
          <p:nvSpPr>
            <p:cNvPr id="10271" name="Text Box 8"/>
            <p:cNvSpPr txBox="1">
              <a:spLocks noChangeArrowheads="1"/>
            </p:cNvSpPr>
            <p:nvPr/>
          </p:nvSpPr>
          <p:spPr bwMode="auto">
            <a:xfrm>
              <a:off x="3697" y="2469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Inclinação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3" name="Line 9"/>
            <p:cNvSpPr>
              <a:spLocks noChangeShapeType="1"/>
            </p:cNvSpPr>
            <p:nvPr/>
          </p:nvSpPr>
          <p:spPr bwMode="auto">
            <a:xfrm>
              <a:off x="3697" y="2135"/>
              <a:ext cx="318" cy="32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4939257" y="2518915"/>
            <a:ext cx="1177925" cy="1054102"/>
            <a:chOff x="2890" y="2480"/>
            <a:chExt cx="742" cy="664"/>
          </a:xfrm>
        </p:grpSpPr>
        <p:sp>
          <p:nvSpPr>
            <p:cNvPr id="7" name="Text Box 11"/>
            <p:cNvSpPr txBox="1">
              <a:spLocks noChangeArrowheads="1"/>
            </p:cNvSpPr>
            <p:nvPr/>
          </p:nvSpPr>
          <p:spPr bwMode="auto">
            <a:xfrm>
              <a:off x="2890" y="2814"/>
              <a:ext cx="742" cy="3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Intercepto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r>
                <a:rPr lang="pt-BR" altLang="pt-BR" sz="1400" dirty="0">
                  <a:latin typeface="Tahoma" panose="020B0604030504040204" pitchFamily="34" charset="0"/>
                </a:rPr>
                <a:t>populacional</a:t>
              </a:r>
            </a:p>
          </p:txBody>
        </p:sp>
        <p:sp>
          <p:nvSpPr>
            <p:cNvPr id="12321" name="Line 12"/>
            <p:cNvSpPr>
              <a:spLocks noChangeShapeType="1"/>
            </p:cNvSpPr>
            <p:nvPr/>
          </p:nvSpPr>
          <p:spPr bwMode="auto">
            <a:xfrm flipH="1">
              <a:off x="3261" y="2480"/>
              <a:ext cx="97" cy="33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sz="1400" dirty="0">
                <a:latin typeface="Tahoma" panose="020B0604030504040204" pitchFamily="34" charset="0"/>
              </a:endParaRPr>
            </a:p>
          </p:txBody>
        </p:sp>
      </p:grpSp>
      <p:sp>
        <p:nvSpPr>
          <p:cNvPr id="12319" name="AutoShape 28"/>
          <p:cNvSpPr>
            <a:spLocks noChangeAspect="1" noChangeArrowheads="1"/>
          </p:cNvSpPr>
          <p:nvPr/>
        </p:nvSpPr>
        <p:spPr bwMode="auto">
          <a:xfrm>
            <a:off x="3462354" y="2276872"/>
            <a:ext cx="90488" cy="90488"/>
          </a:xfrm>
          <a:prstGeom prst="flowChartConnector">
            <a:avLst/>
          </a:prstGeom>
          <a:solidFill>
            <a:srgbClr val="FF99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50"/>
          <p:cNvGrpSpPr>
            <a:grpSpLocks/>
          </p:cNvGrpSpPr>
          <p:nvPr/>
        </p:nvGrpSpPr>
        <p:grpSpPr bwMode="auto">
          <a:xfrm>
            <a:off x="3013078" y="2217748"/>
            <a:ext cx="587375" cy="523877"/>
            <a:chOff x="1603" y="1409"/>
            <a:chExt cx="370" cy="330"/>
          </a:xfrm>
        </p:grpSpPr>
        <p:sp>
          <p:nvSpPr>
            <p:cNvPr id="12311" name="Line 30"/>
            <p:cNvSpPr>
              <a:spLocks noChangeShapeType="1"/>
            </p:cNvSpPr>
            <p:nvPr/>
          </p:nvSpPr>
          <p:spPr bwMode="auto">
            <a:xfrm>
              <a:off x="1916" y="1491"/>
              <a:ext cx="0" cy="20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312" name="Text Box 32"/>
                <p:cNvSpPr txBox="1">
                  <a:spLocks noChangeArrowheads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i="1" baseline="-25000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pt-BR" altLang="pt-BR" dirty="0">
                      <a:latin typeface="Times New Roman" charset="0"/>
                      <a:cs typeface="Times New Roman" charset="0"/>
                      <a:sym typeface="Mathematica1" pitchFamily="2" charset="2"/>
                    </a:rPr>
                    <a:t>{</a:t>
                  </a:r>
                  <a:endParaRPr lang="pt-BR" altLang="pt-BR" sz="1600" baseline="-25000" dirty="0">
                    <a:latin typeface="Times New Roman" charset="0"/>
                    <a:cs typeface="Times New Roman" charset="0"/>
                    <a:sym typeface="Mathematica1" pitchFamily="2" charset="2"/>
                  </a:endParaRPr>
                </a:p>
              </p:txBody>
            </p:sp>
          </mc:Choice>
          <mc:Fallback xmlns="">
            <p:sp>
              <p:nvSpPr>
                <p:cNvPr id="12312" name="Text Box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603" y="1409"/>
                  <a:ext cx="370" cy="330"/>
                </a:xfrm>
                <a:prstGeom prst="rect">
                  <a:avLst/>
                </a:prstGeom>
                <a:blipFill rotWithShape="1">
                  <a:blip r:embed="rId2"/>
                  <a:stretch>
                    <a:fillRect t="-11628" r="-16495" b="-3139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296" name="Text Box 34"/>
          <p:cNvSpPr txBox="1">
            <a:spLocks noChangeArrowheads="1"/>
          </p:cNvSpPr>
          <p:nvPr/>
        </p:nvSpPr>
        <p:spPr bwMode="auto">
          <a:xfrm>
            <a:off x="4702175" y="4583113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12297" name="Text Box 35"/>
          <p:cNvSpPr txBox="1">
            <a:spLocks noChangeArrowheads="1"/>
          </p:cNvSpPr>
          <p:nvPr/>
        </p:nvSpPr>
        <p:spPr bwMode="auto">
          <a:xfrm>
            <a:off x="814388" y="2141538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12299" name="Line 41"/>
          <p:cNvSpPr>
            <a:spLocks noChangeShapeType="1"/>
          </p:cNvSpPr>
          <p:nvPr/>
        </p:nvSpPr>
        <p:spPr bwMode="auto">
          <a:xfrm>
            <a:off x="1136650" y="4498975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2300" name="Line 42"/>
          <p:cNvSpPr>
            <a:spLocks noChangeShapeType="1"/>
          </p:cNvSpPr>
          <p:nvPr/>
        </p:nvSpPr>
        <p:spPr bwMode="auto">
          <a:xfrm flipV="1">
            <a:off x="1136650" y="1871663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oup 48"/>
          <p:cNvGrpSpPr>
            <a:grpSpLocks/>
          </p:cNvGrpSpPr>
          <p:nvPr/>
        </p:nvGrpSpPr>
        <p:grpSpPr bwMode="auto">
          <a:xfrm>
            <a:off x="1731021" y="3080998"/>
            <a:ext cx="733425" cy="300038"/>
            <a:chOff x="1205" y="1828"/>
            <a:chExt cx="462" cy="189"/>
          </a:xfrm>
        </p:grpSpPr>
        <p:sp>
          <p:nvSpPr>
            <p:cNvPr id="12309" name="Line 37"/>
            <p:cNvSpPr>
              <a:spLocks noChangeShapeType="1"/>
            </p:cNvSpPr>
            <p:nvPr/>
          </p:nvSpPr>
          <p:spPr bwMode="auto">
            <a:xfrm flipV="1">
              <a:off x="1667" y="1828"/>
              <a:ext cx="0" cy="1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310" name="Line 43"/>
            <p:cNvSpPr>
              <a:spLocks noChangeShapeType="1"/>
            </p:cNvSpPr>
            <p:nvPr/>
          </p:nvSpPr>
          <p:spPr bwMode="auto">
            <a:xfrm>
              <a:off x="1205" y="2017"/>
              <a:ext cx="44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5404" name="Rectangle 44"/>
          <p:cNvSpPr>
            <a:spLocks noChangeArrowheads="1"/>
          </p:cNvSpPr>
          <p:nvPr/>
        </p:nvSpPr>
        <p:spPr bwMode="auto">
          <a:xfrm>
            <a:off x="764513" y="3413434"/>
            <a:ext cx="48122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latin typeface="Times New Roman" charset="0"/>
              </a:rPr>
              <a:t> </a:t>
            </a:r>
            <a:r>
              <a:rPr lang="pt-BR" altLang="pt-BR" sz="1600" i="1" dirty="0">
                <a:latin typeface="Symbol" pitchFamily="18" charset="2"/>
                <a:sym typeface="Mathematica1" pitchFamily="2" charset="2"/>
              </a:rPr>
              <a:t>b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1800" dirty="0">
                <a:latin typeface="Times New Roman" charset="0"/>
              </a:rPr>
              <a:t> </a:t>
            </a:r>
          </a:p>
        </p:txBody>
      </p:sp>
      <p:sp>
        <p:nvSpPr>
          <p:cNvPr id="15405" name="Rectangle 45"/>
          <p:cNvSpPr>
            <a:spLocks noChangeArrowheads="1"/>
          </p:cNvSpPr>
          <p:nvPr/>
        </p:nvSpPr>
        <p:spPr bwMode="auto">
          <a:xfrm>
            <a:off x="2411760" y="3183359"/>
            <a:ext cx="44275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>
                <a:spLocks noChangeArrowheads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representa o valor de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373688"/>
                <a:ext cx="4572000" cy="369332"/>
              </a:xfrm>
              <a:prstGeom prst="rect">
                <a:avLst/>
              </a:prstGeom>
              <a:blipFill>
                <a:blip r:embed="rId3"/>
                <a:stretch>
                  <a:fillRect l="-1200" t="-10000" b="-26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etângulo 33"/>
              <p:cNvSpPr>
                <a:spLocks noChangeArrowheads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marL="355600" indent="-3556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 dirty="0">
                    <a:latin typeface="Tahoma" panose="020B0604030504040204" pitchFamily="34" charset="0"/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é o coeficiente angular da reta e representa o alteração em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𝑌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𝑋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é incrementado em uma unidade</a:t>
                </a: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34" name="Retângulo 3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2625" y="5838825"/>
                <a:ext cx="4572000" cy="861774"/>
              </a:xfrm>
              <a:prstGeom prst="rect">
                <a:avLst/>
              </a:prstGeom>
              <a:blipFill>
                <a:blip r:embed="rId4"/>
                <a:stretch>
                  <a:fillRect l="-1200" t="-4255" r="-1467" b="-7801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Espaço Reservado para Número de Slide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8CFA9B6-0F88-4304-A378-795B21144094}" type="slidenum">
              <a:rPr lang="pt-BR"/>
              <a:pPr>
                <a:defRPr/>
              </a:pPr>
              <a:t>18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47"/>
              <p:cNvSpPr>
                <a:spLocks noChangeArrowheads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𝐸</m:t>
                          </m:r>
                          <m:d>
                            <m:d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altLang="pt-BR" sz="2000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sSubPr>
                                <m:e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altLang="pt-BR" sz="2000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0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99384" y="2122488"/>
                <a:ext cx="3429000" cy="392993"/>
              </a:xfrm>
              <a:prstGeom prst="rect">
                <a:avLst/>
              </a:prstGeom>
              <a:blipFill rotWithShape="1">
                <a:blip r:embed="rId5"/>
                <a:stretch>
                  <a:fillRect b="-1692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Line 39"/>
          <p:cNvSpPr>
            <a:spLocks noChangeShapeType="1"/>
          </p:cNvSpPr>
          <p:nvPr/>
        </p:nvSpPr>
        <p:spPr bwMode="auto">
          <a:xfrm flipV="1">
            <a:off x="1619672" y="2351088"/>
            <a:ext cx="2745953" cy="1062346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1" name="Grupo 10"/>
          <p:cNvGrpSpPr/>
          <p:nvPr/>
        </p:nvGrpSpPr>
        <p:grpSpPr>
          <a:xfrm>
            <a:off x="3332495" y="2671768"/>
            <a:ext cx="348172" cy="2193548"/>
            <a:chOff x="3332495" y="2671768"/>
            <a:chExt cx="348172" cy="2193548"/>
          </a:xfrm>
        </p:grpSpPr>
        <p:cxnSp>
          <p:nvCxnSpPr>
            <p:cNvPr id="10" name="Conector reto 9"/>
            <p:cNvCxnSpPr/>
            <p:nvPr/>
          </p:nvCxnSpPr>
          <p:spPr bwMode="auto">
            <a:xfrm>
              <a:off x="3507598" y="2671768"/>
              <a:ext cx="0" cy="1827207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5" name="Text Box 34"/>
            <p:cNvSpPr txBox="1">
              <a:spLocks noChangeArrowheads="1"/>
            </p:cNvSpPr>
            <p:nvPr/>
          </p:nvSpPr>
          <p:spPr bwMode="auto">
            <a:xfrm>
              <a:off x="3332495" y="4526762"/>
              <a:ext cx="348172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</a:rPr>
                <a:t>i</a:t>
              </a:r>
            </a:p>
          </p:txBody>
        </p:sp>
      </p:grpSp>
      <p:grpSp>
        <p:nvGrpSpPr>
          <p:cNvPr id="14" name="Grupo 13"/>
          <p:cNvGrpSpPr/>
          <p:nvPr/>
        </p:nvGrpSpPr>
        <p:grpSpPr>
          <a:xfrm>
            <a:off x="1370183" y="3026951"/>
            <a:ext cx="2193705" cy="707680"/>
            <a:chOff x="1370183" y="3026951"/>
            <a:chExt cx="2193705" cy="707680"/>
          </a:xfrm>
        </p:grpSpPr>
        <p:grpSp>
          <p:nvGrpSpPr>
            <p:cNvPr id="13" name="Grupo 12"/>
            <p:cNvGrpSpPr/>
            <p:nvPr/>
          </p:nvGrpSpPr>
          <p:grpSpPr>
            <a:xfrm>
              <a:off x="1370183" y="3026951"/>
              <a:ext cx="914271" cy="707680"/>
              <a:chOff x="1370183" y="3026951"/>
              <a:chExt cx="914271" cy="707680"/>
            </a:xfrm>
          </p:grpSpPr>
          <p:sp>
            <p:nvSpPr>
              <p:cNvPr id="9" name="Arco 8"/>
              <p:cNvSpPr/>
              <p:nvPr/>
            </p:nvSpPr>
            <p:spPr bwMode="auto">
              <a:xfrm>
                <a:off x="1370183" y="3026951"/>
                <a:ext cx="733425" cy="707680"/>
              </a:xfrm>
              <a:prstGeom prst="arc">
                <a:avLst>
                  <a:gd name="adj1" fmla="val 20300363"/>
                  <a:gd name="adj2" fmla="val 0"/>
                </a:avLst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CaixaDeTexto 11"/>
              <p:cNvSpPr txBox="1"/>
              <p:nvPr/>
            </p:nvSpPr>
            <p:spPr>
              <a:xfrm>
                <a:off x="2019638" y="3151915"/>
                <a:ext cx="264816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200" i="1" dirty="0">
                    <a:latin typeface="Tahoma" panose="020B0604030504040204" pitchFamily="34" charset="0"/>
                    <a:sym typeface="Symbol"/>
                  </a:rPr>
                  <a:t></a:t>
                </a:r>
                <a:endParaRPr lang="pt-BR" sz="1200" i="1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3" name="Rectangle 45"/>
            <p:cNvSpPr>
              <a:spLocks noChangeArrowheads="1"/>
            </p:cNvSpPr>
            <p:nvPr/>
          </p:nvSpPr>
          <p:spPr bwMode="auto">
            <a:xfrm>
              <a:off x="2536043" y="3183359"/>
              <a:ext cx="1027845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= </a:t>
              </a:r>
              <a:r>
                <a:rPr lang="pt-BR" altLang="pt-BR" sz="1600" dirty="0" err="1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tan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(</a:t>
              </a:r>
              <a:r>
                <a:rPr lang="pt-BR" sz="1600" i="1" dirty="0">
                  <a:latin typeface="Tahoma" panose="020B0604030504040204" pitchFamily="34" charset="0"/>
                  <a:sym typeface="Symbol"/>
                </a:rPr>
                <a:t></a:t>
              </a:r>
              <a:r>
                <a:rPr lang="pt-BR" sz="1600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)</a:t>
              </a:r>
              <a:r>
                <a:rPr lang="pt-BR" altLang="pt-BR" sz="2400" dirty="0">
                  <a:latin typeface="Times New Roman" charset="0"/>
                </a:rPr>
                <a:t> 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Rectangle 47"/>
              <p:cNvSpPr>
                <a:spLocks noChangeArrowheads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20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20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20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20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20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2000" i="1" baseline="-25000" dirty="0">
                  <a:latin typeface="Times New Roman" charset="0"/>
                </a:endParaRPr>
              </a:p>
            </p:txBody>
          </p:sp>
        </mc:Choice>
        <mc:Fallback xmlns="">
          <p:sp>
            <p:nvSpPr>
              <p:cNvPr id="36" name="Rectangle 4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932127" y="1663973"/>
                <a:ext cx="2401793" cy="392993"/>
              </a:xfrm>
              <a:prstGeom prst="rect">
                <a:avLst/>
              </a:prstGeom>
              <a:blipFill rotWithShape="1">
                <a:blip r:embed="rId6"/>
                <a:stretch>
                  <a:fillRect b="-1875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Line 39"/>
          <p:cNvSpPr>
            <a:spLocks noChangeShapeType="1"/>
          </p:cNvSpPr>
          <p:nvPr/>
        </p:nvSpPr>
        <p:spPr bwMode="auto">
          <a:xfrm flipV="1">
            <a:off x="1136650" y="3413434"/>
            <a:ext cx="483021" cy="184666"/>
          </a:xfrm>
          <a:prstGeom prst="line">
            <a:avLst/>
          </a:prstGeom>
          <a:noFill/>
          <a:ln w="28575">
            <a:solidFill>
              <a:srgbClr val="FF0000"/>
            </a:solidFill>
            <a:prstDash val="sys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138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19" grpId="0" animBg="1"/>
      <p:bldP spid="15404" grpId="0"/>
      <p:bldP spid="15405" grpId="0"/>
      <p:bldP spid="4" grpId="0"/>
      <p:bldP spid="34" grpId="0"/>
      <p:bldP spid="3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387" name="Rectangle 3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</p:spPr>
            <p:txBody>
              <a:bodyPr/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geral não se conhece os valores de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0</a:t>
                </a:r>
                <a:r>
                  <a:rPr lang="pt-BR" altLang="pt-BR" sz="1800" dirty="0">
                    <a:sym typeface="Mathematica1" pitchFamily="2" charset="2"/>
                  </a:rPr>
                  <a:t>, </a:t>
                </a:r>
                <a:r>
                  <a:rPr lang="pt-BR" altLang="pt-BR" sz="1800" i="1" dirty="0">
                    <a:sym typeface="Symbol" pitchFamily="18" charset="2"/>
                  </a:rPr>
                  <a:t></a:t>
                </a:r>
                <a:r>
                  <a:rPr lang="pt-BR" altLang="pt-BR" sz="1800" baseline="-25000" dirty="0">
                    <a:latin typeface="Times New Roman" charset="0"/>
                    <a:cs typeface="Times New Roman" charset="0"/>
                  </a:rPr>
                  <a:t>1</a:t>
                </a:r>
                <a:r>
                  <a:rPr lang="pt-BR" altLang="pt-BR" sz="1600" dirty="0">
                    <a:latin typeface="Times New Roman" charset="0"/>
                    <a:cs typeface="Times New Roman" charset="0"/>
                  </a:rPr>
                  <a:t> </a:t>
                </a:r>
                <a:r>
                  <a:rPr lang="pt-BR" altLang="pt-BR" sz="1600" dirty="0"/>
                  <a:t>e </a:t>
                </a:r>
                <a:r>
                  <a:rPr lang="pt-BR" altLang="pt-BR" sz="1600" i="1" dirty="0">
                    <a:sym typeface="Symbol" pitchFamily="18" charset="2"/>
                  </a:rPr>
                  <a:t></a:t>
                </a:r>
                <a:r>
                  <a:rPr lang="pt-BR" altLang="pt-BR" sz="1600" baseline="30000" dirty="0">
                    <a:latin typeface="Times New Roman" charset="0"/>
                    <a:cs typeface="Times New Roman" charset="0"/>
                    <a:sym typeface="Symbol" pitchFamily="18" charset="2"/>
                  </a:rPr>
                  <a:t>2</a:t>
                </a:r>
                <a:r>
                  <a:rPr lang="pt-BR" altLang="pt-BR" sz="1600" dirty="0"/>
                  <a:t> 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Eles podem ser estimados através de dados obtidos por amostras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O método comumente utilizado na estimação dos parâmetros é o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método dos mínimos quadrados</a:t>
                </a:r>
                <a:r>
                  <a:rPr lang="pt-BR" altLang="pt-BR" sz="1600" dirty="0"/>
                  <a:t>, o qual considera os desvios quadráticos dos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  <a:r>
                  <a:rPr lang="pt-BR" altLang="pt-BR" sz="1600" i="1" baseline="-25000" dirty="0">
                    <a:latin typeface="Times New Roman" charset="0"/>
                    <a:cs typeface="Times New Roman" charset="0"/>
                  </a:rPr>
                  <a:t>i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 em relação a seu valor esperado:</a:t>
                </a:r>
              </a:p>
              <a:p>
                <a:pPr algn="ctr" eaLnBrk="1" hangingPunct="1">
                  <a:buFontTx/>
                  <a:buNone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2000" dirty="0">
                    <a:latin typeface="Times New Roman" charset="0"/>
                    <a:cs typeface="Times New Roman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SupPr>
                      <m:e>
                        <m:r>
                          <a:rPr lang="pt-BR" altLang="pt-BR" sz="20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                 </m:t>
                        </m:r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bSup>
                    <m:r>
                      <a:rPr lang="pt-BR" altLang="pt-BR" sz="2000" i="1">
                        <a:latin typeface="Cambria Math"/>
                        <a:ea typeface="Cambria Math"/>
                        <a:sym typeface="Symbol" pitchFamily="18" charset="2"/>
                      </a:rPr>
                      <m:t>=</m:t>
                    </m:r>
                    <m:sSup>
                      <m:sSupPr>
                        <m:ctrlPr>
                          <a:rPr lang="pt-BR" altLang="pt-BR" sz="20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altLang="pt-BR" sz="20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sz="20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altLang="pt-BR" sz="20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−(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altLang="pt-BR" sz="20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pt-BR" altLang="pt-BR" sz="2000" b="0" i="1" smtClean="0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sz="2000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pt-BR" altLang="pt-BR" sz="20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altLang="pt-BR" sz="20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2</m:t>
                        </m:r>
                      </m:sup>
                    </m:sSup>
                  </m:oMath>
                </a14:m>
                <a:endParaRPr lang="pt-BR" altLang="pt-BR" sz="2000" dirty="0">
                  <a:latin typeface="Times New Roman" charset="0"/>
                  <a:cs typeface="Times New Roman" charset="0"/>
                </a:endParaRPr>
              </a:p>
              <a:p>
                <a:pPr algn="ctr" eaLnBrk="1" hangingPunct="1">
                  <a:buFontTx/>
                  <a:buNone/>
                </a:pPr>
                <a:endParaRPr lang="pt-BR" altLang="pt-BR" sz="1600" dirty="0">
                  <a:latin typeface="Times New Roman" charset="0"/>
                  <a:cs typeface="Times New Roman" charset="0"/>
                </a:endParaRPr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Em particular, o método dos mínimos quadrados requer que consideremos a soma de </a:t>
                </a: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n</a:t>
                </a:r>
                <a:r>
                  <a:rPr lang="pt-BR" altLang="pt-BR" sz="1600" i="1" dirty="0"/>
                  <a:t> </a:t>
                </a:r>
                <a:r>
                  <a:rPr lang="pt-BR" altLang="pt-BR" sz="1600" dirty="0"/>
                  <a:t>desvios quadrados, denotado por </a:t>
                </a:r>
                <a:r>
                  <a:rPr lang="pt-BR" altLang="pt-BR" sz="1600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</a:rPr>
                  <a:t>Q</a:t>
                </a:r>
                <a:r>
                  <a:rPr lang="pt-BR" altLang="pt-BR" sz="1600" dirty="0"/>
                  <a:t>:</a:t>
                </a:r>
              </a:p>
            </p:txBody>
          </p:sp>
        </mc:Choice>
        <mc:Fallback xmlns="">
          <p:sp>
            <p:nvSpPr>
              <p:cNvPr id="16387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46125" y="1575296"/>
                <a:ext cx="8002588" cy="3827463"/>
              </a:xfrm>
              <a:blipFill rotWithShape="1">
                <a:blip r:embed="rId2"/>
                <a:stretch>
                  <a:fillRect l="-381" t="-955" r="-9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Times New Roman" pitchFamily="18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519AD16-41C9-45F7-B8C3-CEC7A4BBFC5D}" type="slidenum">
              <a:rPr lang="pt-BR"/>
              <a:pPr>
                <a:defRPr/>
              </a:pPr>
              <a:t>19</a:t>
            </a:fld>
            <a:endParaRPr lang="pt-BR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 bwMode="auto">
          <a:xfrm>
            <a:off x="746125" y="5533008"/>
            <a:ext cx="8016875" cy="1136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De acordo com o método dos mínimos quadrados, os estimadores de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 são aqueles, denotados por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i="1" kern="0" dirty="0">
                <a:latin typeface="Tahoma" panose="020B0604030504040204" pitchFamily="34" charset="0"/>
                <a:sym typeface="Mathematica1" pitchFamily="2" charset="2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Mathematica1" pitchFamily="2" charset="2"/>
              </a:rPr>
              <a:t>e </a:t>
            </a:r>
            <a:r>
              <a:rPr lang="pt-BR" altLang="pt-BR" sz="1600" i="1" kern="0" dirty="0">
                <a:latin typeface="Times New Roman" charset="0"/>
                <a:cs typeface="Times New Roman" charset="0"/>
                <a:sym typeface="Mathematica1" pitchFamily="2" charset="2"/>
              </a:rPr>
              <a:t>b</a:t>
            </a:r>
            <a:r>
              <a:rPr lang="pt-BR" altLang="pt-BR" sz="1600" kern="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, que tornam mínimo o valor de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. Isso é feito derivando-se </a:t>
            </a:r>
            <a:r>
              <a:rPr lang="pt-BR" altLang="pt-BR" sz="1800" i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</a:rPr>
              <a:t>Q</a:t>
            </a:r>
            <a:r>
              <a:rPr lang="pt-BR" altLang="pt-BR" sz="1600" kern="0" dirty="0">
                <a:latin typeface="Tahoma" panose="020B0604030504040204" pitchFamily="34" charset="0"/>
              </a:rPr>
              <a:t> em relação a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Mathematica1" pitchFamily="2" charset="2"/>
              </a:rPr>
              <a:t> e </a:t>
            </a:r>
            <a:r>
              <a:rPr lang="pt-BR" altLang="pt-BR" sz="1800" i="1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</a:rPr>
              <a:t>e igualando-se as expressões encontradas a zero.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  <a:ea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altLang="pt-BR" i="1">
                                      <a:latin typeface="Cambria Math" panose="02040503050406030204" pitchFamily="18" charset="0"/>
                                      <a:ea typeface="Cambria Math"/>
                                      <a:sym typeface="Symbol" pitchFamily="18" charset="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−(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altLang="pt-BR" i="1">
                                          <a:latin typeface="Cambria Math" panose="02040503050406030204" pitchFamily="18" charset="0"/>
                                          <a:ea typeface="Cambria Math"/>
                                          <a:sym typeface="Symbol" pitchFamily="18" charset="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altLang="pt-BR" i="1">
                                          <a:latin typeface="Cambria Math"/>
                                          <a:ea typeface="Cambria Math"/>
                                          <a:sym typeface="Symbol" pitchFamily="18" charset="2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altLang="pt-BR" i="1">
                                      <a:latin typeface="Cambria Math"/>
                                      <a:ea typeface="Cambria Math"/>
                                      <a:sym typeface="Symbol" pitchFamily="18" charset="2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117" y="4797439"/>
                <a:ext cx="3359766" cy="76450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87" grpId="0" build="p"/>
      <p:bldP spid="6" grpId="0" build="p"/>
      <p:bldP spid="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50"/>
          <p:cNvGrpSpPr>
            <a:grpSpLocks/>
          </p:cNvGrpSpPr>
          <p:nvPr/>
        </p:nvGrpSpPr>
        <p:grpSpPr bwMode="auto">
          <a:xfrm>
            <a:off x="4833719" y="1691313"/>
            <a:ext cx="328613" cy="338138"/>
            <a:chOff x="1706" y="1355"/>
            <a:chExt cx="207" cy="213"/>
          </a:xfrm>
        </p:grpSpPr>
        <p:sp>
          <p:nvSpPr>
            <p:cNvPr id="24" name="Line 30"/>
            <p:cNvSpPr>
              <a:spLocks noChangeShapeType="1"/>
            </p:cNvSpPr>
            <p:nvPr/>
          </p:nvSpPr>
          <p:spPr bwMode="auto">
            <a:xfrm>
              <a:off x="1913" y="1391"/>
              <a:ext cx="0" cy="159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5" name="Text Box 32"/>
            <p:cNvSpPr txBox="1">
              <a:spLocks noChangeArrowheads="1"/>
            </p:cNvSpPr>
            <p:nvPr/>
          </p:nvSpPr>
          <p:spPr bwMode="auto">
            <a:xfrm>
              <a:off x="1706" y="1355"/>
              <a:ext cx="198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e</a:t>
              </a:r>
              <a:r>
                <a:rPr lang="pt-BR" altLang="pt-BR" sz="1600" i="1" baseline="-25000" dirty="0">
                  <a:latin typeface="Times New Roman" charset="0"/>
                  <a:cs typeface="Times New Roman" charset="0"/>
                  <a:sym typeface="Mathematica1" pitchFamily="2" charset="2"/>
                </a:rPr>
                <a:t>i</a:t>
              </a:r>
            </a:p>
          </p:txBody>
        </p:sp>
      </p:grpSp>
      <p:grpSp>
        <p:nvGrpSpPr>
          <p:cNvPr id="3" name="Grupo 2"/>
          <p:cNvGrpSpPr/>
          <p:nvPr/>
        </p:nvGrpSpPr>
        <p:grpSpPr>
          <a:xfrm>
            <a:off x="2789216" y="1682328"/>
            <a:ext cx="2694612" cy="1969364"/>
            <a:chOff x="2789216" y="1682328"/>
            <a:chExt cx="2694612" cy="1969364"/>
          </a:xfrm>
        </p:grpSpPr>
        <p:sp>
          <p:nvSpPr>
            <p:cNvPr id="17" name="AutoShape 24"/>
            <p:cNvSpPr>
              <a:spLocks noChangeAspect="1" noChangeArrowheads="1"/>
            </p:cNvSpPr>
            <p:nvPr/>
          </p:nvSpPr>
          <p:spPr bwMode="auto">
            <a:xfrm>
              <a:off x="2789216" y="33440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AutoShape 24"/>
            <p:cNvSpPr>
              <a:spLocks noChangeAspect="1" noChangeArrowheads="1"/>
            </p:cNvSpPr>
            <p:nvPr/>
          </p:nvSpPr>
          <p:spPr bwMode="auto">
            <a:xfrm>
              <a:off x="2825328" y="356120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AutoShape 24"/>
            <p:cNvSpPr>
              <a:spLocks noChangeAspect="1" noChangeArrowheads="1"/>
            </p:cNvSpPr>
            <p:nvPr/>
          </p:nvSpPr>
          <p:spPr bwMode="auto">
            <a:xfrm>
              <a:off x="3560631" y="306896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AutoShape 24"/>
            <p:cNvSpPr>
              <a:spLocks noChangeAspect="1" noChangeArrowheads="1"/>
            </p:cNvSpPr>
            <p:nvPr/>
          </p:nvSpPr>
          <p:spPr bwMode="auto">
            <a:xfrm>
              <a:off x="3081576" y="35554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AutoShape 24"/>
            <p:cNvSpPr>
              <a:spLocks noChangeAspect="1" noChangeArrowheads="1"/>
            </p:cNvSpPr>
            <p:nvPr/>
          </p:nvSpPr>
          <p:spPr bwMode="auto">
            <a:xfrm>
              <a:off x="3266344" y="334890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AutoShape 24"/>
            <p:cNvSpPr>
              <a:spLocks noChangeAspect="1" noChangeArrowheads="1"/>
            </p:cNvSpPr>
            <p:nvPr/>
          </p:nvSpPr>
          <p:spPr bwMode="auto">
            <a:xfrm>
              <a:off x="3131840" y="336508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AutoShape 24"/>
            <p:cNvSpPr>
              <a:spLocks noChangeAspect="1" noChangeArrowheads="1"/>
            </p:cNvSpPr>
            <p:nvPr/>
          </p:nvSpPr>
          <p:spPr bwMode="auto">
            <a:xfrm>
              <a:off x="3180449" y="306435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" name="AutoShape 24"/>
            <p:cNvSpPr>
              <a:spLocks noChangeAspect="1" noChangeArrowheads="1"/>
            </p:cNvSpPr>
            <p:nvPr/>
          </p:nvSpPr>
          <p:spPr bwMode="auto">
            <a:xfrm>
              <a:off x="3601232" y="270892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6" name="AutoShape 24"/>
            <p:cNvSpPr>
              <a:spLocks noChangeAspect="1" noChangeArrowheads="1"/>
            </p:cNvSpPr>
            <p:nvPr/>
          </p:nvSpPr>
          <p:spPr bwMode="auto">
            <a:xfrm>
              <a:off x="5117088" y="1703219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7" name="AutoShape 24"/>
            <p:cNvSpPr>
              <a:spLocks noChangeAspect="1" noChangeArrowheads="1"/>
            </p:cNvSpPr>
            <p:nvPr/>
          </p:nvSpPr>
          <p:spPr bwMode="auto">
            <a:xfrm>
              <a:off x="4067944" y="2851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8" name="AutoShape 24"/>
            <p:cNvSpPr>
              <a:spLocks noChangeAspect="1" noChangeArrowheads="1"/>
            </p:cNvSpPr>
            <p:nvPr/>
          </p:nvSpPr>
          <p:spPr bwMode="auto">
            <a:xfrm>
              <a:off x="3915836" y="2684644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9" name="AutoShape 24"/>
            <p:cNvSpPr>
              <a:spLocks noChangeAspect="1" noChangeArrowheads="1"/>
            </p:cNvSpPr>
            <p:nvPr/>
          </p:nvSpPr>
          <p:spPr bwMode="auto">
            <a:xfrm>
              <a:off x="5305578" y="2117876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0" name="AutoShape 24"/>
            <p:cNvSpPr>
              <a:spLocks noChangeAspect="1" noChangeArrowheads="1"/>
            </p:cNvSpPr>
            <p:nvPr/>
          </p:nvSpPr>
          <p:spPr bwMode="auto">
            <a:xfrm>
              <a:off x="4220636" y="25406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1" name="AutoShape 24"/>
            <p:cNvSpPr>
              <a:spLocks noChangeAspect="1" noChangeArrowheads="1"/>
            </p:cNvSpPr>
            <p:nvPr/>
          </p:nvSpPr>
          <p:spPr bwMode="auto">
            <a:xfrm>
              <a:off x="3987844" y="24289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2" name="AutoShape 24"/>
            <p:cNvSpPr>
              <a:spLocks noChangeAspect="1" noChangeArrowheads="1"/>
            </p:cNvSpPr>
            <p:nvPr/>
          </p:nvSpPr>
          <p:spPr bwMode="auto">
            <a:xfrm>
              <a:off x="4345588" y="234888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3" name="AutoShape 24"/>
            <p:cNvSpPr>
              <a:spLocks noChangeAspect="1" noChangeArrowheads="1"/>
            </p:cNvSpPr>
            <p:nvPr/>
          </p:nvSpPr>
          <p:spPr bwMode="auto">
            <a:xfrm>
              <a:off x="4489896" y="223723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4" name="AutoShape 24"/>
            <p:cNvSpPr>
              <a:spLocks noChangeAspect="1" noChangeArrowheads="1"/>
            </p:cNvSpPr>
            <p:nvPr/>
          </p:nvSpPr>
          <p:spPr bwMode="auto">
            <a:xfrm>
              <a:off x="4860032" y="245436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5" name="AutoShape 24"/>
            <p:cNvSpPr>
              <a:spLocks noChangeAspect="1" noChangeArrowheads="1"/>
            </p:cNvSpPr>
            <p:nvPr/>
          </p:nvSpPr>
          <p:spPr bwMode="auto">
            <a:xfrm>
              <a:off x="4988156" y="2276872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6" name="AutoShape 24"/>
            <p:cNvSpPr>
              <a:spLocks noChangeAspect="1" noChangeArrowheads="1"/>
            </p:cNvSpPr>
            <p:nvPr/>
          </p:nvSpPr>
          <p:spPr bwMode="auto">
            <a:xfrm>
              <a:off x="4771840" y="2068940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57" name="AutoShape 24"/>
            <p:cNvSpPr>
              <a:spLocks noChangeAspect="1" noChangeArrowheads="1"/>
            </p:cNvSpPr>
            <p:nvPr/>
          </p:nvSpPr>
          <p:spPr bwMode="auto">
            <a:xfrm>
              <a:off x="5393340" y="1682328"/>
              <a:ext cx="90488" cy="90488"/>
            </a:xfrm>
            <a:prstGeom prst="flowChartConnector">
              <a:avLst/>
            </a:prstGeom>
            <a:solidFill>
              <a:srgbClr val="FF99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4339" name="Rectangle 4"/>
          <p:cNvSpPr>
            <a:spLocks noChangeArrowheads="1"/>
          </p:cNvSpPr>
          <p:nvPr/>
        </p:nvSpPr>
        <p:spPr bwMode="auto">
          <a:xfrm>
            <a:off x="685800" y="4267200"/>
            <a:ext cx="7772400" cy="1905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just" eaLnBrk="1" hangingPunct="1">
              <a:buClr>
                <a:schemeClr val="bg2"/>
              </a:buClr>
              <a:buFontTx/>
              <a:buNone/>
            </a:pPr>
            <a:endParaRPr lang="en-US" altLang="pt-BR" sz="2000" dirty="0">
              <a:latin typeface="Tahoma" panose="020B0604030504040204" pitchFamily="34" charset="0"/>
            </a:endParaRPr>
          </a:p>
        </p:txBody>
      </p:sp>
      <p:sp>
        <p:nvSpPr>
          <p:cNvPr id="13" name="Rectangle 2"/>
          <p:cNvSpPr txBox="1">
            <a:spLocks noChangeArrowheads="1"/>
          </p:cNvSpPr>
          <p:nvPr/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Estimação dos parâmetros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 e </a:t>
            </a:r>
            <a:r>
              <a:rPr 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sym typeface="Symbol"/>
              </a:rPr>
              <a:t></a:t>
            </a:r>
            <a:r>
              <a:rPr lang="pt-BR" sz="3200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sz="3200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cs typeface="Times New Roman" pitchFamily="18" charset="0"/>
            </a:endParaRPr>
          </a:p>
        </p:txBody>
      </p:sp>
      <p:sp>
        <p:nvSpPr>
          <p:cNvPr id="12" name="Text Box 24"/>
          <p:cNvSpPr txBox="1">
            <a:spLocks noChangeArrowheads="1"/>
          </p:cNvSpPr>
          <p:nvPr/>
        </p:nvSpPr>
        <p:spPr bwMode="auto">
          <a:xfrm>
            <a:off x="5580112" y="1800112"/>
            <a:ext cx="280410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(reta de regressão estimada)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D96C61-3F1E-4207-8ED7-4997CF47841B}" type="slidenum">
              <a:rPr lang="pt-BR"/>
              <a:pPr>
                <a:defRPr/>
              </a:pPr>
              <a:t>20</a:t>
            </a:fld>
            <a:endParaRPr lang="pt-BR"/>
          </a:p>
        </p:txBody>
      </p:sp>
      <p:sp>
        <p:nvSpPr>
          <p:cNvPr id="26" name="Text Box 34"/>
          <p:cNvSpPr txBox="1">
            <a:spLocks noChangeArrowheads="1"/>
          </p:cNvSpPr>
          <p:nvPr/>
        </p:nvSpPr>
        <p:spPr bwMode="auto">
          <a:xfrm>
            <a:off x="6359302" y="4142408"/>
            <a:ext cx="3238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X</a:t>
            </a:r>
          </a:p>
        </p:txBody>
      </p:sp>
      <p:sp>
        <p:nvSpPr>
          <p:cNvPr id="27" name="Text Box 35"/>
          <p:cNvSpPr txBox="1">
            <a:spLocks noChangeArrowheads="1"/>
          </p:cNvSpPr>
          <p:nvPr/>
        </p:nvSpPr>
        <p:spPr bwMode="auto">
          <a:xfrm>
            <a:off x="2471515" y="1700833"/>
            <a:ext cx="3111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Y</a:t>
            </a:r>
          </a:p>
        </p:txBody>
      </p:sp>
      <p:sp>
        <p:nvSpPr>
          <p:cNvPr id="28" name="Line 39"/>
          <p:cNvSpPr>
            <a:spLocks noChangeShapeType="1"/>
          </p:cNvSpPr>
          <p:nvPr/>
        </p:nvSpPr>
        <p:spPr bwMode="auto">
          <a:xfrm flipV="1">
            <a:off x="2793777" y="1745283"/>
            <a:ext cx="2782889" cy="177164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9" name="Line 41"/>
          <p:cNvSpPr>
            <a:spLocks noChangeShapeType="1"/>
          </p:cNvSpPr>
          <p:nvPr/>
        </p:nvSpPr>
        <p:spPr bwMode="auto">
          <a:xfrm>
            <a:off x="2793777" y="4058270"/>
            <a:ext cx="369252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0" name="Line 42"/>
          <p:cNvSpPr>
            <a:spLocks noChangeShapeType="1"/>
          </p:cNvSpPr>
          <p:nvPr/>
        </p:nvSpPr>
        <p:spPr bwMode="auto">
          <a:xfrm flipV="1">
            <a:off x="2793777" y="1430958"/>
            <a:ext cx="0" cy="262731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4" name="Rectangle 44"/>
          <p:cNvSpPr>
            <a:spLocks noChangeArrowheads="1"/>
          </p:cNvSpPr>
          <p:nvPr/>
        </p:nvSpPr>
        <p:spPr bwMode="auto">
          <a:xfrm>
            <a:off x="2339752" y="3250343"/>
            <a:ext cx="56457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400" dirty="0">
                <a:latin typeface="Times New Roman" charset="0"/>
              </a:rPr>
              <a:t> </a:t>
            </a:r>
            <a:r>
              <a:rPr lang="pt-BR" altLang="pt-BR" sz="2000" i="1" dirty="0"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400" dirty="0">
                <a:latin typeface="Times New Roman" charset="0"/>
              </a:rPr>
              <a:t> 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047902" y="2259194"/>
            <a:ext cx="1214175" cy="698588"/>
            <a:chOff x="4047902" y="2259194"/>
            <a:chExt cx="1214175" cy="698588"/>
          </a:xfrm>
        </p:grpSpPr>
        <p:grpSp>
          <p:nvGrpSpPr>
            <p:cNvPr id="31" name="Group 48"/>
            <p:cNvGrpSpPr>
              <a:grpSpLocks/>
            </p:cNvGrpSpPr>
            <p:nvPr/>
          </p:nvGrpSpPr>
          <p:grpSpPr bwMode="auto">
            <a:xfrm>
              <a:off x="4047902" y="2259194"/>
              <a:ext cx="733425" cy="461732"/>
              <a:chOff x="1205" y="1828"/>
              <a:chExt cx="462" cy="189"/>
            </a:xfrm>
          </p:grpSpPr>
          <p:sp>
            <p:nvSpPr>
              <p:cNvPr id="32" name="Line 37"/>
              <p:cNvSpPr>
                <a:spLocks noChangeShapeType="1"/>
              </p:cNvSpPr>
              <p:nvPr/>
            </p:nvSpPr>
            <p:spPr bwMode="auto">
              <a:xfrm flipV="1">
                <a:off x="1667" y="1828"/>
                <a:ext cx="0" cy="1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Line 43"/>
              <p:cNvSpPr>
                <a:spLocks noChangeShapeType="1"/>
              </p:cNvSpPr>
              <p:nvPr/>
            </p:nvSpPr>
            <p:spPr bwMode="auto">
              <a:xfrm>
                <a:off x="1205" y="2017"/>
                <a:ext cx="449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5" name="Rectangle 45"/>
            <p:cNvSpPr>
              <a:spLocks noChangeArrowheads="1"/>
            </p:cNvSpPr>
            <p:nvPr/>
          </p:nvSpPr>
          <p:spPr bwMode="auto">
            <a:xfrm>
              <a:off x="4761619" y="2373007"/>
              <a:ext cx="500458" cy="58477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panose="02020603050405020304" pitchFamily="18" charset="0"/>
                  <a:cs typeface="Times New Roman" panose="02020603050405020304" pitchFamily="18" charset="0"/>
                  <a:sym typeface="Symbol" pitchFamily="18" charset="2"/>
                </a:rPr>
                <a:t>b</a:t>
              </a:r>
              <a:r>
                <a:rPr lang="pt-BR" altLang="pt-BR" sz="2000" baseline="-25000" dirty="0">
                  <a:latin typeface="Times New Roman" charset="0"/>
                  <a:sym typeface="Mathematica1" pitchFamily="2" charset="2"/>
                </a:rPr>
                <a:t>1</a:t>
              </a:r>
              <a:r>
                <a:rPr lang="pt-BR" altLang="pt-BR" sz="3200" dirty="0">
                  <a:latin typeface="Times New Roman" charset="0"/>
                </a:rPr>
                <a:t> </a:t>
              </a:r>
            </a:p>
          </p:txBody>
        </p:sp>
      </p:grpSp>
      <p:sp>
        <p:nvSpPr>
          <p:cNvPr id="7" name="Retângulo 6"/>
          <p:cNvSpPr/>
          <p:nvPr/>
        </p:nvSpPr>
        <p:spPr>
          <a:xfrm>
            <a:off x="4032448" y="4469050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marL="355600" indent="-355600"/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dirty="0">
                <a:latin typeface="Tahoma" panose="020B0604030504040204" pitchFamily="34" charset="0"/>
              </a:rPr>
              <a:t> e </a:t>
            </a:r>
            <a:r>
              <a:rPr lang="pt-BR" altLang="pt-BR" sz="2000" i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Mathematica1" pitchFamily="2" charset="2"/>
              </a:rPr>
              <a:t>b</a:t>
            </a:r>
            <a:r>
              <a:rPr lang="pt-BR" altLang="pt-BR" sz="2000" baseline="-25000" dirty="0">
                <a:solidFill>
                  <a:srgbClr val="000000"/>
                </a:solidFill>
                <a:latin typeface="Times New Roman" charset="0"/>
                <a:sym typeface="Mathematica1" pitchFamily="2" charset="2"/>
              </a:rPr>
              <a:t>1</a:t>
            </a:r>
            <a:r>
              <a:rPr lang="pt-BR" altLang="pt-BR" dirty="0">
                <a:latin typeface="Tahoma" panose="020B0604030504040204" pitchFamily="34" charset="0"/>
              </a:rPr>
              <a:t> são </a:t>
            </a:r>
            <a:r>
              <a:rPr lang="pt-BR" altLang="pt-BR" dirty="0" err="1">
                <a:latin typeface="Tahoma" panose="020B0604030504040204" pitchFamily="34" charset="0"/>
              </a:rPr>
              <a:t>v.a</a:t>
            </a:r>
            <a:r>
              <a:rPr lang="pt-BR" altLang="pt-BR" dirty="0">
                <a:latin typeface="Tahoma" panose="020B0604030504040204" pitchFamily="34" charset="0"/>
              </a:rPr>
              <a:t>.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(não independentes!) </a:t>
            </a:r>
            <a:r>
              <a:rPr lang="pt-BR" altLang="pt-BR" dirty="0">
                <a:latin typeface="Tahoma" panose="020B0604030504040204" pitchFamily="34" charset="0"/>
              </a:rPr>
              <a:t>e portanto variam de amostra para amostra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8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8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8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8207" y="1484784"/>
                <a:ext cx="1575303" cy="376770"/>
              </a:xfrm>
              <a:prstGeom prst="rect">
                <a:avLst/>
              </a:prstGeom>
              <a:blipFill>
                <a:blip r:embed="rId2"/>
                <a:stretch>
                  <a:fillRect b="-327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CaixaDeTexto 57"/>
              <p:cNvSpPr txBox="1"/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d>
                                <m:d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</m:d>
                              <m:d>
                                <m:dPr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sz="2000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̅"/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sz="2000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000" i="1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2000" i="1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2000" i="1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2000" i="1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2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2000" i="1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20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8" name="CaixaDeTexto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4817657"/>
                <a:ext cx="3140219" cy="788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CaixaDeTexto 58"/>
              <p:cNvSpPr txBox="1"/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=</m:t>
                      </m:r>
                      <m:acc>
                        <m:accPr>
                          <m:chr m:val="̅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i="1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2000" b="0" i="1" smtClean="0">
                          <a:latin typeface="Cambria Math"/>
                        </a:rPr>
                        <m:t>−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acc>
                        <m:accPr>
                          <m:chr m:val="̅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𝑋</m:t>
                          </m:r>
                        </m:e>
                      </m:acc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9" name="CaixaDeTexto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452" y="6156915"/>
                <a:ext cx="1727139" cy="400110"/>
              </a:xfrm>
              <a:prstGeom prst="rect">
                <a:avLst/>
              </a:prstGeom>
              <a:blipFill>
                <a:blip r:embed="rId4"/>
                <a:stretch>
                  <a:fillRect r="-12721" b="-30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CaixaDeTexto 59"/>
              <p:cNvSpPr txBox="1"/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0" name="CaixaDeTexto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173161"/>
                <a:ext cx="1486561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CaixaDeTexto 60"/>
              <p:cNvSpPr txBox="1"/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</a:rPr>
                            <m:t>𝐸</m:t>
                          </m:r>
                          <m:r>
                            <a:rPr lang="pt-BR" sz="2000" b="0" i="1" smtClean="0">
                              <a:latin typeface="Cambria Math"/>
                            </a:rPr>
                            <m:t>(</m:t>
                          </m:r>
                          <m:r>
                            <a:rPr lang="pt-BR" sz="200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b="0" i="1" smtClean="0">
                          <a:latin typeface="Cambria Math"/>
                        </a:rPr>
                        <m:t>)=</m:t>
                      </m:r>
                      <m:sSub>
                        <m:sSubPr>
                          <m:ctrlPr>
                            <a:rPr lang="pt-BR" sz="20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1" name="CaixaDeTexto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32448" y="5589240"/>
                <a:ext cx="1474634" cy="400110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upo 8"/>
          <p:cNvGrpSpPr/>
          <p:nvPr/>
        </p:nvGrpSpPr>
        <p:grpSpPr>
          <a:xfrm>
            <a:off x="4032448" y="6152747"/>
            <a:ext cx="3331885" cy="408445"/>
            <a:chOff x="4032448" y="6152747"/>
            <a:chExt cx="3331885" cy="408445"/>
          </a:xfrm>
        </p:grpSpPr>
        <p:sp>
          <p:nvSpPr>
            <p:cNvPr id="17432" name="Text Box 24"/>
            <p:cNvSpPr txBox="1">
              <a:spLocks noChangeArrowheads="1"/>
            </p:cNvSpPr>
            <p:nvPr/>
          </p:nvSpPr>
          <p:spPr bwMode="auto">
            <a:xfrm>
              <a:off x="5523508" y="6203652"/>
              <a:ext cx="184082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(resíduo amostral)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CaixaDeTexto 61"/>
                <p:cNvSpPr txBox="1"/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𝑒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𝑌</m:t>
                                </m:r>
                              </m:e>
                            </m:acc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sz="20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62" name="CaixaDeTexto 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32448" y="6152747"/>
                  <a:ext cx="1493935" cy="408445"/>
                </a:xfrm>
                <a:prstGeom prst="rect">
                  <a:avLst/>
                </a:prstGeom>
                <a:blipFill>
                  <a:blip r:embed="rId7"/>
                  <a:stretch>
                    <a:fillRect t="-7463" r="-13821" b="-447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28" grpId="0" animBg="1"/>
      <p:bldP spid="34" grpId="0"/>
      <p:bldP spid="7" grpId="0"/>
      <p:bldP spid="8" grpId="0"/>
      <p:bldP spid="58" grpId="0"/>
      <p:bldP spid="59" grpId="0"/>
      <p:bldP spid="60" grpId="0"/>
      <p:bldP spid="6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𝑆𝑄𝐸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b="0" i="1" smtClean="0">
                                              <a:latin typeface="Cambria Math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1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2808511"/>
                <a:ext cx="4826065" cy="76450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221" name="Rectangle 3"/>
          <p:cNvSpPr>
            <a:spLocks noGrp="1" noChangeArrowheads="1"/>
          </p:cNvSpPr>
          <p:nvPr>
            <p:ph type="body" sz="half" idx="1"/>
          </p:nvPr>
        </p:nvSpPr>
        <p:spPr>
          <a:xfrm>
            <a:off x="452438" y="2439930"/>
            <a:ext cx="8291512" cy="423863"/>
          </a:xfrm>
        </p:spPr>
        <p:txBody>
          <a:bodyPr/>
          <a:lstStyle/>
          <a:p>
            <a:pPr eaLnBrk="1" hangingPunct="1">
              <a:lnSpc>
                <a:spcPct val="80000"/>
              </a:lnSpc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Soma dos quadrados dos erros ou resíduos 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solidFill>
                  <a:srgbClr val="FF0000"/>
                </a:solidFill>
              </a:rPr>
              <a:t>):</a:t>
            </a:r>
          </a:p>
        </p:txBody>
      </p:sp>
      <p:sp>
        <p:nvSpPr>
          <p:cNvPr id="8" name="Rectangle 5"/>
          <p:cNvSpPr>
            <a:spLocks noGrp="1" noChangeArrowheads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Estimação da Variância do Erro (</a:t>
            </a:r>
            <a:r>
              <a:rPr lang="pt-BR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baseline="30000" dirty="0">
                <a:latin typeface="Times New Roman" pitchFamily="18" charset="0"/>
                <a:cs typeface="Times New Roman" pitchFamily="18" charset="0"/>
                <a:sym typeface="Symbol" pitchFamily="18" charset="2"/>
              </a:rPr>
              <a:t>2</a:t>
            </a:r>
            <a:r>
              <a:rPr lang="pt-BR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342900" indent="-342900">
                  <a:lnSpc>
                    <a:spcPct val="8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Pode ser demonstrado que </a:t>
                </a:r>
                <a14:m>
                  <m:oMath xmlns:m="http://schemas.openxmlformats.org/officeDocument/2006/math"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𝑄𝑀𝐸</m:t>
                        </m:r>
                      </m:e>
                    </m:d>
                    <m:r>
                      <a:rPr lang="pt-BR" b="0" i="1" kern="0" smtClean="0">
                        <a:solidFill>
                          <a:srgbClr val="000000"/>
                        </a:solidFill>
                        <a:latin typeface="Cambria Math"/>
                        <a:cs typeface="+mn-cs"/>
                      </a:rPr>
                      <m:t>=</m:t>
                    </m:r>
                    <m:sSup>
                      <m:sSup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/>
                            <a:cs typeface="+mn-cs"/>
                          </a:rPr>
                        </m:ctrlPr>
                      </m:sSup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𝜎</m:t>
                        </m:r>
                      </m:e>
                      <m:sup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ea typeface="Cambria Math"/>
                            <a:cs typeface="+mn-cs"/>
                          </a:rPr>
                          <m:t>2</m:t>
                        </m:r>
                      </m:sup>
                    </m:sSup>
                  </m:oMath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+mn-cs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6017830"/>
                <a:ext cx="3909275" cy="289695"/>
              </a:xfrm>
              <a:prstGeom prst="rect">
                <a:avLst/>
              </a:prstGeom>
              <a:blipFill>
                <a:blip r:embed="rId3"/>
                <a:stretch>
                  <a:fillRect l="-779" t="-22917" b="-2500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Retângulo 8"/>
          <p:cNvSpPr/>
          <p:nvPr/>
        </p:nvSpPr>
        <p:spPr>
          <a:xfrm>
            <a:off x="452438" y="4631168"/>
            <a:ext cx="8532440" cy="4878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Portanto, o estimador de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</a:t>
            </a:r>
            <a:r>
              <a:rPr lang="pt-BR" kern="0" baseline="30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denominado de 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Quadrado Médio do Erro ou Resíduo (</a:t>
            </a:r>
            <a:r>
              <a:rPr lang="pt-BR" i="1" kern="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+mn-cs"/>
              </a:rPr>
              <a:t>)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, é dado pela razão entre a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– 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:</a:t>
            </a:r>
          </a:p>
        </p:txBody>
      </p:sp>
      <p:sp>
        <p:nvSpPr>
          <p:cNvPr id="10" name="Retângulo 9"/>
          <p:cNvSpPr/>
          <p:nvPr/>
        </p:nvSpPr>
        <p:spPr>
          <a:xfrm>
            <a:off x="452438" y="3972174"/>
            <a:ext cx="8075612" cy="487056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A soma dos quadrados dos erros tem </a:t>
            </a:r>
            <a:r>
              <a:rPr lang="pt-BR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n – </a:t>
            </a:r>
            <a:r>
              <a:rPr lang="pt-BR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graus de liberdade, pois 2 graus de liberdade foram perdidos por estimar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0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e </a:t>
            </a:r>
            <a:r>
              <a:rPr lang="pt-BR" i="1" kern="0" dirty="0">
                <a:solidFill>
                  <a:srgbClr val="000000"/>
                </a:solidFill>
                <a:latin typeface="Symbol" pitchFamily="18" charset="2"/>
                <a:cs typeface="+mn-cs"/>
              </a:rPr>
              <a:t>b</a:t>
            </a:r>
            <a:r>
              <a:rPr lang="pt-BR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10"/>
              <p:cNvSpPr/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</p:spPr>
            <p:txBody>
              <a:bodyPr>
                <a:spAutoFit/>
              </a:bodyPr>
              <a:lstStyle/>
              <a:p>
                <a:pPr marL="342900" indent="-342900">
                  <a:lnSpc>
                    <a:spcPct val="90000"/>
                  </a:lnSpc>
                  <a:spcBef>
                    <a:spcPct val="20000"/>
                  </a:spcBef>
                  <a:defRPr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A variância dos erros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denotada por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Symbol" pitchFamily="18" charset="2"/>
                  </a:rPr>
                  <a:t></a:t>
                </a:r>
                <a:r>
                  <a:rPr lang="pt-BR" kern="0" baseline="30000" dirty="0">
                    <a:solidFill>
                      <a:srgbClr val="000000"/>
                    </a:solidFill>
                    <a:latin typeface="Times New Roman" pitchFamily="18" charset="0"/>
                    <a:cs typeface="Times New Roman" pitchFamily="18" charset="0"/>
                    <a:sym typeface="Mathematica1" pitchFamily="2" charset="2"/>
                  </a:rPr>
                  <a:t>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, é um parâmetro do modelo de regressão, e necessita ser estimada através dos desvios quadráticos de </a:t>
                </a:r>
                <a:r>
                  <a:rPr lang="pt-BR" i="1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Y</a:t>
                </a:r>
                <a:r>
                  <a:rPr lang="pt-BR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 em torno de sua própria média estimada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+mn-cs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acc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+mn-cs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+mn-cs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+mn-cs"/>
                  </a:rPr>
                  <a:t>.</a:t>
                </a:r>
              </a:p>
            </p:txBody>
          </p:sp>
        </mc:Choice>
        <mc:Fallback xmlns="">
          <p:sp>
            <p:nvSpPr>
              <p:cNvPr id="11" name="Retângulo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52438" y="1484316"/>
                <a:ext cx="8296275" cy="783676"/>
              </a:xfrm>
              <a:prstGeom prst="rect">
                <a:avLst/>
              </a:prstGeom>
              <a:blipFill>
                <a:blip r:embed="rId4"/>
                <a:stretch>
                  <a:fillRect l="-367" t="-5426" b="-62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CF13268-A7D0-4A25-9F50-3C6A0BA43FD6}" type="slidenum">
              <a:rPr lang="pt-BR"/>
              <a:pPr>
                <a:defRPr/>
              </a:pPr>
              <a:t>21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𝑆𝑄𝐸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−2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1472" y="5290932"/>
                <a:ext cx="1443344" cy="554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221" grpId="0" build="p"/>
      <p:bldP spid="7" grpId="0"/>
      <p:bldP spid="9" grpId="0"/>
      <p:bldP spid="10" grpId="0"/>
      <p:bldP spid="1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 em Análise de Regressão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561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noFill/>
            </p:spPr>
            <p:txBody>
              <a:bodyPr/>
              <a:lstStyle/>
              <a:p>
                <a:pPr marL="182563" indent="-182563">
                  <a:buNone/>
                </a:pPr>
                <a:r>
                  <a:rPr lang="pt-BR" altLang="pt-BR" sz="1600" dirty="0"/>
                  <a:t>Para a estimação dos parâmetros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𝛽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/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, foi adotado o método dos mínimos quadrados e para tanto foi considerado que </a:t>
                </a:r>
                <a14:m>
                  <m:oMath xmlns:m="http://schemas.openxmlformats.org/officeDocument/2006/math"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altLang="pt-BR" sz="1600" i="1">
                        <a:latin typeface="Cambria Math"/>
                        <a:ea typeface="Cambria Math"/>
                        <a:sym typeface="Symbol" pitchFamily="18" charset="2"/>
                      </a:rPr>
                      <m:t>=0</m:t>
                    </m:r>
                  </m:oMath>
                </a14:m>
                <a:r>
                  <a:rPr lang="pt-BR" altLang="pt-BR" sz="1600" dirty="0">
                    <a:ea typeface="Cambria Math"/>
                    <a:sym typeface="Symbol" pitchFamily="18" charset="2"/>
                  </a:rPr>
                  <a:t>,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𝑉𝑎𝑟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</m:t>
                    </m:r>
                    <m:sSup>
                      <m:sSup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p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𝜎</m:t>
                        </m:r>
                      </m:e>
                      <m:sup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1600" dirty="0"/>
                  <a:t> 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r>
                  <a:rPr lang="pt-BR" sz="1600" dirty="0"/>
                  <a:t>. Note que </a:t>
                </a:r>
                <a:r>
                  <a:rPr lang="pt-BR" altLang="pt-BR" sz="1600" dirty="0"/>
                  <a:t>nenhuma consideração foi feita a respeito da distribuição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/>
                  <a:t>Qualquer inferência que se faça a partir da equação ajustada utilizando-se uma amostra, deve pressupor a existência de uma distribuição associada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. A distribuição mais comum de ser adotada nesse caso é a </a:t>
                </a:r>
                <a:r>
                  <a:rPr lang="pt-BR" altLang="pt-BR" sz="1600" dirty="0">
                    <a:solidFill>
                      <a:srgbClr val="FF0000"/>
                    </a:solidFill>
                  </a:rPr>
                  <a:t>distribuição normal</a:t>
                </a:r>
                <a:r>
                  <a:rPr lang="pt-BR" altLang="pt-BR" sz="1600" dirty="0"/>
                  <a:t>, ou seja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i="1" dirty="0">
                  <a:cs typeface="Times New Roman" charset="0"/>
                  <a:sym typeface="Symbol" pitchFamily="18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cs typeface="Times New Roman" charset="0"/>
                    <a:sym typeface="Symbol" pitchFamily="18" charset="2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𝜀</m:t>
                        </m:r>
                      </m:e>
                      <m: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~</m:t>
                    </m:r>
                    <m:r>
                      <a:rPr lang="pt-BR" altLang="pt-BR" sz="1600" b="0" i="1" smtClean="0">
                        <a:latin typeface="Cambria Math"/>
                        <a:ea typeface="Cambria Math"/>
                        <a:sym typeface="Symbol" pitchFamily="18" charset="2"/>
                      </a:rPr>
                      <m:t>𝑁</m:t>
                    </m:r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0,</m:t>
                        </m:r>
                        <m:sSup>
                          <m:sSup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pPr>
                          <m:e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𝜎</m:t>
                            </m:r>
                          </m:e>
                          <m:sup>
                            <m:r>
                              <a:rPr lang="pt-BR" altLang="pt-BR" sz="1600" b="0" i="1" smtClean="0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pt-BR" altLang="pt-BR" sz="1600" i="1" baseline="30000" dirty="0"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sz="1600" dirty="0">
                    <a:cs typeface="Times New Roman" charset="0"/>
                    <a:sym typeface="Mathematica1" pitchFamily="2" charset="2"/>
                  </a:rPr>
                  <a:t>e </a:t>
                </a:r>
                <a14:m>
                  <m:oMath xmlns:m="http://schemas.openxmlformats.org/officeDocument/2006/math">
                    <m:r>
                      <a:rPr lang="pt-BR" sz="1600" i="1">
                        <a:latin typeface="Cambria Math"/>
                      </a:rPr>
                      <m:t>𝐶𝑜𝑣</m:t>
                    </m:r>
                    <m:d>
                      <m:d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𝑘</m:t>
                            </m:r>
                          </m:sub>
                        </m:sSub>
                        <m:r>
                          <a:rPr lang="pt-BR" altLang="pt-BR" sz="16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pt-BR" altLang="pt-BR" sz="16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6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pt-BR" sz="1600" i="1">
                        <a:latin typeface="Cambria Math"/>
                      </a:rPr>
                      <m:t>=0</m:t>
                    </m:r>
                    <m:r>
                      <a:rPr lang="pt-BR" sz="1600" b="0" i="1" smtClean="0">
                        <a:latin typeface="Cambria Math"/>
                      </a:rPr>
                      <m:t> 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∀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600" i="1">
                        <a:latin typeface="Cambria Math"/>
                        <a:ea typeface="Cambria Math"/>
                      </a:rPr>
                      <m:t>𝑗</m:t>
                    </m:r>
                  </m:oMath>
                </a14:m>
                <a:endParaRPr lang="pt-BR" altLang="pt-BR" sz="1600" dirty="0">
                  <a:cs typeface="Times New Roman" charset="0"/>
                  <a:sym typeface="Mathematica1" pitchFamily="2" charset="2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/>
              </a:p>
            </p:txBody>
          </p:sp>
        </mc:Choice>
        <mc:Fallback xmlns="">
          <p:sp>
            <p:nvSpPr>
              <p:cNvPr id="23561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51520" y="1801490"/>
                <a:ext cx="8748464" cy="1987550"/>
              </a:xfrm>
              <a:blipFill>
                <a:blip r:embed="rId2"/>
                <a:stretch>
                  <a:fillRect l="-348" t="-920" r="-70" b="-2147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563" name="Oval 11"/>
          <p:cNvSpPr>
            <a:spLocks noChangeArrowheads="1"/>
          </p:cNvSpPr>
          <p:nvPr/>
        </p:nvSpPr>
        <p:spPr bwMode="auto">
          <a:xfrm>
            <a:off x="639534" y="3612400"/>
            <a:ext cx="1094181" cy="7207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upo 4"/>
          <p:cNvGrpSpPr/>
          <p:nvPr/>
        </p:nvGrpSpPr>
        <p:grpSpPr>
          <a:xfrm>
            <a:off x="179512" y="4590277"/>
            <a:ext cx="6120680" cy="2234905"/>
            <a:chOff x="179512" y="4590277"/>
            <a:chExt cx="6120680" cy="22349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98" name="Rectangle 47"/>
                <p:cNvSpPr>
                  <a:spLocks noChangeArrowheads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pt-BR" altLang="pt-BR" sz="1800" i="1">
                                        <a:latin typeface="Cambria Math" panose="02040503050406030204" pitchFamily="18" charset="0"/>
                                        <a:ea typeface="Cambria Math"/>
                                        <a:sym typeface="Symbol" pitchFamily="18" charset="2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𝑌</m:t>
                                    </m:r>
                                  </m:e>
                                  <m:sub>
                                    <m:r>
                                      <a:rPr lang="pt-BR" altLang="pt-BR" sz="1800" i="1">
                                        <a:latin typeface="Cambria Math"/>
                                        <a:ea typeface="Cambria Math"/>
                                        <a:sym typeface="Symbol" pitchFamily="18" charset="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=</m:t>
                            </m:r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pt-BR" altLang="pt-BR" sz="1800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+</m:t>
                        </m:r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𝛽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pt-BR" altLang="pt-BR" sz="1800" i="1" baseline="-25000" dirty="0">
                    <a:latin typeface="Times New Roman" charset="0"/>
                  </a:endParaRPr>
                </a:p>
              </p:txBody>
            </p:sp>
          </mc:Choice>
          <mc:Fallback xmlns="">
            <p:sp>
              <p:nvSpPr>
                <p:cNvPr id="16398" name="Rectangle 4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069429" y="4950600"/>
                  <a:ext cx="2230763" cy="362984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 b="-15000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" name="Grupo 2"/>
            <p:cNvGrpSpPr/>
            <p:nvPr/>
          </p:nvGrpSpPr>
          <p:grpSpPr>
            <a:xfrm>
              <a:off x="179512" y="4590277"/>
              <a:ext cx="4138932" cy="2234905"/>
              <a:chOff x="719584" y="3766529"/>
              <a:chExt cx="5501193" cy="2970487"/>
            </a:xfrm>
          </p:grpSpPr>
          <p:cxnSp>
            <p:nvCxnSpPr>
              <p:cNvPr id="16392" name="Conector de seta reta 3"/>
              <p:cNvCxnSpPr>
                <a:cxnSpLocks noChangeShapeType="1"/>
              </p:cNvCxnSpPr>
              <p:nvPr/>
            </p:nvCxnSpPr>
            <p:spPr bwMode="auto">
              <a:xfrm flipV="1">
                <a:off x="719584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3" name="Conector de seta reta 5"/>
              <p:cNvCxnSpPr>
                <a:cxnSpLocks noChangeShapeType="1"/>
              </p:cNvCxnSpPr>
              <p:nvPr/>
            </p:nvCxnSpPr>
            <p:spPr bwMode="auto">
              <a:xfrm>
                <a:off x="719584" y="6287032"/>
                <a:ext cx="5004664" cy="0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394" name="Conector reto 8"/>
              <p:cNvCxnSpPr>
                <a:cxnSpLocks noChangeShapeType="1"/>
              </p:cNvCxnSpPr>
              <p:nvPr/>
            </p:nvCxnSpPr>
            <p:spPr bwMode="auto">
              <a:xfrm flipV="1">
                <a:off x="1655812" y="4486673"/>
                <a:ext cx="4321053" cy="1368273"/>
              </a:xfrm>
              <a:prstGeom prst="line">
                <a:avLst/>
              </a:prstGeom>
              <a:noFill/>
              <a:ln w="28575" algn="ctr">
                <a:solidFill>
                  <a:schemeClr val="tx1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grpSp>
            <p:nvGrpSpPr>
              <p:cNvPr id="16395" name="Grupo 11"/>
              <p:cNvGrpSpPr>
                <a:grpSpLocks/>
              </p:cNvGrpSpPr>
              <p:nvPr/>
            </p:nvGrpSpPr>
            <p:grpSpPr bwMode="auto">
              <a:xfrm>
                <a:off x="1703902" y="5159663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8" name="Forma livre 6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9" name="Conector reto 10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6" name="Grupo 41"/>
              <p:cNvGrpSpPr>
                <a:grpSpLocks/>
              </p:cNvGrpSpPr>
              <p:nvPr/>
            </p:nvGrpSpPr>
            <p:grpSpPr bwMode="auto">
              <a:xfrm>
                <a:off x="3352502" y="4634759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6" name="Forma livre 42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7" name="Conector reto 43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pSp>
            <p:nvGrpSpPr>
              <p:cNvPr id="16397" name="Grupo 44"/>
              <p:cNvGrpSpPr>
                <a:grpSpLocks/>
              </p:cNvGrpSpPr>
              <p:nvPr/>
            </p:nvGrpSpPr>
            <p:grpSpPr bwMode="auto">
              <a:xfrm>
                <a:off x="5050313" y="4093452"/>
                <a:ext cx="857364" cy="972509"/>
                <a:chOff x="3051810" y="4513977"/>
                <a:chExt cx="857250" cy="972423"/>
              </a:xfrm>
            </p:grpSpPr>
            <p:sp>
              <p:nvSpPr>
                <p:cNvPr id="16404" name="Forma livre 45"/>
                <p:cNvSpPr>
                  <a:spLocks/>
                </p:cNvSpPr>
                <p:nvPr/>
              </p:nvSpPr>
              <p:spPr bwMode="auto">
                <a:xfrm>
                  <a:off x="3051810" y="4514850"/>
                  <a:ext cx="857250" cy="971550"/>
                </a:xfrm>
                <a:custGeom>
                  <a:avLst/>
                  <a:gdLst>
                    <a:gd name="T0" fmla="*/ 0 w 857250"/>
                    <a:gd name="T1" fmla="*/ 971550 h 971550"/>
                    <a:gd name="T2" fmla="*/ 91440 w 857250"/>
                    <a:gd name="T3" fmla="*/ 880110 h 971550"/>
                    <a:gd name="T4" fmla="*/ 148590 w 857250"/>
                    <a:gd name="T5" fmla="*/ 777240 h 971550"/>
                    <a:gd name="T6" fmla="*/ 217170 w 857250"/>
                    <a:gd name="T7" fmla="*/ 640080 h 971550"/>
                    <a:gd name="T8" fmla="*/ 262890 w 857250"/>
                    <a:gd name="T9" fmla="*/ 468630 h 971550"/>
                    <a:gd name="T10" fmla="*/ 320040 w 857250"/>
                    <a:gd name="T11" fmla="*/ 297180 h 971550"/>
                    <a:gd name="T12" fmla="*/ 354330 w 857250"/>
                    <a:gd name="T13" fmla="*/ 160020 h 971550"/>
                    <a:gd name="T14" fmla="*/ 400050 w 857250"/>
                    <a:gd name="T15" fmla="*/ 68580 h 971550"/>
                    <a:gd name="T16" fmla="*/ 445770 w 857250"/>
                    <a:gd name="T17" fmla="*/ 11430 h 971550"/>
                    <a:gd name="T18" fmla="*/ 468630 w 857250"/>
                    <a:gd name="T19" fmla="*/ 0 h 971550"/>
                    <a:gd name="T20" fmla="*/ 537210 w 857250"/>
                    <a:gd name="T21" fmla="*/ 34290 h 971550"/>
                    <a:gd name="T22" fmla="*/ 594360 w 857250"/>
                    <a:gd name="T23" fmla="*/ 148590 h 971550"/>
                    <a:gd name="T24" fmla="*/ 674370 w 857250"/>
                    <a:gd name="T25" fmla="*/ 205740 h 971550"/>
                    <a:gd name="T26" fmla="*/ 754380 w 857250"/>
                    <a:gd name="T27" fmla="*/ 205740 h 971550"/>
                    <a:gd name="T28" fmla="*/ 857250 w 857250"/>
                    <a:gd name="T29" fmla="*/ 137160 h 971550"/>
                    <a:gd name="T30" fmla="*/ 857250 w 857250"/>
                    <a:gd name="T31" fmla="*/ 137160 h 971550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  <a:gd name="T42" fmla="*/ 0 60000 65536"/>
                    <a:gd name="T43" fmla="*/ 0 60000 65536"/>
                    <a:gd name="T44" fmla="*/ 0 60000 65536"/>
                    <a:gd name="T45" fmla="*/ 0 60000 65536"/>
                    <a:gd name="T46" fmla="*/ 0 60000 65536"/>
                    <a:gd name="T47" fmla="*/ 0 60000 65536"/>
                  </a:gdLst>
                  <a:ahLst/>
                  <a:cxnLst>
                    <a:cxn ang="T32">
                      <a:pos x="T0" y="T1"/>
                    </a:cxn>
                    <a:cxn ang="T33">
                      <a:pos x="T2" y="T3"/>
                    </a:cxn>
                    <a:cxn ang="T34">
                      <a:pos x="T4" y="T5"/>
                    </a:cxn>
                    <a:cxn ang="T35">
                      <a:pos x="T6" y="T7"/>
                    </a:cxn>
                    <a:cxn ang="T36">
                      <a:pos x="T8" y="T9"/>
                    </a:cxn>
                    <a:cxn ang="T37">
                      <a:pos x="T10" y="T11"/>
                    </a:cxn>
                    <a:cxn ang="T38">
                      <a:pos x="T12" y="T13"/>
                    </a:cxn>
                    <a:cxn ang="T39">
                      <a:pos x="T14" y="T15"/>
                    </a:cxn>
                    <a:cxn ang="T40">
                      <a:pos x="T16" y="T17"/>
                    </a:cxn>
                    <a:cxn ang="T41">
                      <a:pos x="T18" y="T19"/>
                    </a:cxn>
                    <a:cxn ang="T42">
                      <a:pos x="T20" y="T21"/>
                    </a:cxn>
                    <a:cxn ang="T43">
                      <a:pos x="T22" y="T23"/>
                    </a:cxn>
                    <a:cxn ang="T44">
                      <a:pos x="T24" y="T25"/>
                    </a:cxn>
                    <a:cxn ang="T45">
                      <a:pos x="T26" y="T27"/>
                    </a:cxn>
                    <a:cxn ang="T46">
                      <a:pos x="T28" y="T29"/>
                    </a:cxn>
                    <a:cxn ang="T47">
                      <a:pos x="T30" y="T31"/>
                    </a:cxn>
                  </a:cxnLst>
                  <a:rect l="0" t="0" r="r" b="b"/>
                  <a:pathLst>
                    <a:path w="857250" h="971550">
                      <a:moveTo>
                        <a:pt x="0" y="971550"/>
                      </a:moveTo>
                      <a:lnTo>
                        <a:pt x="91440" y="880110"/>
                      </a:lnTo>
                      <a:lnTo>
                        <a:pt x="148590" y="777240"/>
                      </a:lnTo>
                      <a:lnTo>
                        <a:pt x="217170" y="640080"/>
                      </a:lnTo>
                      <a:lnTo>
                        <a:pt x="262890" y="468630"/>
                      </a:lnTo>
                      <a:lnTo>
                        <a:pt x="320040" y="297180"/>
                      </a:lnTo>
                      <a:lnTo>
                        <a:pt x="354330" y="160020"/>
                      </a:lnTo>
                      <a:lnTo>
                        <a:pt x="400050" y="68580"/>
                      </a:lnTo>
                      <a:lnTo>
                        <a:pt x="445770" y="11430"/>
                      </a:lnTo>
                      <a:lnTo>
                        <a:pt x="468630" y="0"/>
                      </a:lnTo>
                      <a:lnTo>
                        <a:pt x="537210" y="34290"/>
                      </a:lnTo>
                      <a:lnTo>
                        <a:pt x="594360" y="148590"/>
                      </a:lnTo>
                      <a:lnTo>
                        <a:pt x="674370" y="205740"/>
                      </a:lnTo>
                      <a:lnTo>
                        <a:pt x="754380" y="205740"/>
                      </a:lnTo>
                      <a:lnTo>
                        <a:pt x="857250" y="137160"/>
                      </a:lnTo>
                    </a:path>
                  </a:pathLst>
                </a:custGeom>
                <a:noFill/>
                <a:ln w="9525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none" w="med" len="med"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cxnSp>
              <p:nvCxnSpPr>
                <p:cNvPr id="16405" name="Conector reto 46"/>
                <p:cNvCxnSpPr>
                  <a:cxnSpLocks noChangeShapeType="1"/>
                </p:cNvCxnSpPr>
                <p:nvPr/>
              </p:nvCxnSpPr>
              <p:spPr bwMode="auto">
                <a:xfrm flipH="1">
                  <a:off x="3513238" y="4513977"/>
                  <a:ext cx="0" cy="540000"/>
                </a:xfrm>
                <a:prstGeom prst="line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cxnSp>
            <p:nvCxnSpPr>
              <p:cNvPr id="16399" name="Conector de seta reta 48"/>
              <p:cNvCxnSpPr>
                <a:cxnSpLocks noChangeShapeType="1"/>
              </p:cNvCxnSpPr>
              <p:nvPr/>
            </p:nvCxnSpPr>
            <p:spPr bwMode="auto">
              <a:xfrm flipV="1">
                <a:off x="1583299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0" name="Conector de seta reta 49"/>
              <p:cNvCxnSpPr>
                <a:cxnSpLocks noChangeShapeType="1"/>
              </p:cNvCxnSpPr>
              <p:nvPr/>
            </p:nvCxnSpPr>
            <p:spPr bwMode="auto">
              <a:xfrm flipV="1">
                <a:off x="2688345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6401" name="Conector de seta reta 50"/>
              <p:cNvCxnSpPr>
                <a:cxnSpLocks noChangeShapeType="1"/>
              </p:cNvCxnSpPr>
              <p:nvPr/>
            </p:nvCxnSpPr>
            <p:spPr bwMode="auto">
              <a:xfrm flipV="1">
                <a:off x="3844198" y="3910558"/>
                <a:ext cx="2376579" cy="2376474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prstDash val="sys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sp>
            <p:nvSpPr>
              <p:cNvPr id="16402" name="Retângulo 12"/>
              <p:cNvSpPr>
                <a:spLocks noChangeArrowheads="1"/>
              </p:cNvSpPr>
              <p:nvPr/>
            </p:nvSpPr>
            <p:spPr bwMode="auto">
              <a:xfrm>
                <a:off x="2573968" y="3766529"/>
                <a:ext cx="396720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sym typeface="Mathematica1" pitchFamily="2" charset="2"/>
                  </a:rPr>
                  <a:t>Y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03" name="Retângulo 13"/>
              <p:cNvSpPr>
                <a:spLocks noChangeArrowheads="1"/>
              </p:cNvSpPr>
              <p:nvPr/>
            </p:nvSpPr>
            <p:spPr bwMode="auto">
              <a:xfrm>
                <a:off x="5414506" y="6287033"/>
                <a:ext cx="411633" cy="4499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</a:rPr>
                  <a:t>X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E0A72D4-0AD5-4247-9FE8-771035939C6D}" type="slidenum">
              <a:rPr lang="pt-BR"/>
              <a:pPr>
                <a:defRPr/>
              </a:pPr>
              <a:t>22</a:t>
            </a:fld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4343006" y="5614283"/>
            <a:ext cx="4324654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65125" indent="-365125"/>
            <a:r>
              <a:rPr lang="pt-BR" altLang="pt-BR" sz="1400" dirty="0">
                <a:latin typeface="Tahoma" panose="020B0604030504040204" pitchFamily="34" charset="0"/>
              </a:rPr>
              <a:t>Os pressupostos devem ser verificados: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normalidade dos erros: teste de Shapiro-</a:t>
            </a:r>
            <a:r>
              <a:rPr lang="pt-BR" sz="1400" dirty="0" err="1">
                <a:latin typeface="Tahoma" panose="020B0604030504040204" pitchFamily="34" charset="0"/>
              </a:rPr>
              <a:t>Wilk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variância constante: teste </a:t>
            </a:r>
            <a:r>
              <a:rPr lang="pt-BR" sz="1400" dirty="0" err="1">
                <a:latin typeface="Tahoma" panose="020B0604030504040204" pitchFamily="34" charset="0"/>
              </a:rPr>
              <a:t>Breusch-Pagan</a:t>
            </a:r>
            <a:endParaRPr lang="pt-BR" sz="1400" dirty="0">
              <a:latin typeface="Tahom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400" dirty="0">
                <a:latin typeface="Tahoma" panose="020B0604030504040204" pitchFamily="34" charset="0"/>
              </a:rPr>
              <a:t>independência: garantida pela amostragem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Box 3"/>
              <p:cNvSpPr txBox="1">
                <a:spLocks noChangeArrowheads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 marL="342900" indent="-342900" algn="ctr" eaLnBrk="0" hangingPunct="0">
                  <a:spcBef>
                    <a:spcPct val="50000"/>
                  </a:spcBef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altLang="pt-BR" sz="180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altLang="pt-BR" sz="1800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sz="1800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altLang="pt-BR" sz="1800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sz="1800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800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800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sz="1800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sz="1800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sz="1800" b="0" i="1" smtClean="0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800" i="1" baseline="-25000" dirty="0">
                  <a:solidFill>
                    <a:srgbClr val="000000"/>
                  </a:solidFill>
                  <a:latin typeface="Times New Roman" pitchFamily="18" charset="0"/>
                  <a:cs typeface="Times New Roman" pitchFamily="18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7" name="Text 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1520" y="1377049"/>
                <a:ext cx="8712968" cy="369332"/>
              </a:xfrm>
              <a:prstGeom prst="rect">
                <a:avLst/>
              </a:prstGeom>
              <a:blipFill rotWithShape="1">
                <a:blip r:embed="rId4"/>
                <a:stretch>
                  <a:fillRect b="-15000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563" grpId="0" animBg="1"/>
      <p:bldP spid="4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/>
              <p:cNvSpPr txBox="1"/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CaixaDeTexto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541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ixaDeTexto 87"/>
              <p:cNvSpPr txBox="1"/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1800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sz="1800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sz="1800" b="0" i="1" smtClean="0">
                                  <a:latin typeface="Cambria Math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pt-BR" sz="1800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0" i="1" smtClean="0">
                              <a:latin typeface="Cambria Math"/>
                            </a:rPr>
                            <m:t>𝑄𝑀𝐸</m:t>
                          </m:r>
                        </m:num>
                        <m:den>
                          <m:nary>
                            <m:naryPr>
                              <m:chr m:val="∑"/>
                              <m:ctrlPr>
                                <a:rPr lang="pt-B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1800" b="0" i="1" smtClean="0">
                                  <a:latin typeface="Cambria Math"/>
                                </a:rPr>
                                <m:t>𝑖</m:t>
                              </m:r>
                              <m:r>
                                <a:rPr lang="pt-BR" sz="1800" b="0" i="1" smtClean="0">
                                  <a:latin typeface="Cambria Math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pt-BR" sz="1800" b="0" i="1" smtClean="0">
                                  <a:latin typeface="Cambria Math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pt-B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  <m:sub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pt-BR" sz="1800" b="0" i="1" smtClean="0">
                                          <a:latin typeface="Cambria Math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pt-BR" sz="18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pt-BR" sz="1800" b="0" i="1" smtClean="0">
                                              <a:latin typeface="Cambria Math"/>
                                            </a:rPr>
                                            <m:t>𝑋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pt-BR" sz="1800" b="0" i="1" smtClean="0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pt-BR" sz="18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8" name="CaixaDeTexto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653" y="3988778"/>
                <a:ext cx="2583207" cy="68429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462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7464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7466" name="Picture 25"/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746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746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747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746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endParaRPr lang="pt-BR" dirty="0"/>
          </a:p>
        </p:txBody>
      </p:sp>
      <p:sp>
        <p:nvSpPr>
          <p:cNvPr id="17415" name="Rectangle 20"/>
          <p:cNvSpPr>
            <a:spLocks noChangeArrowheads="1"/>
          </p:cNvSpPr>
          <p:nvPr/>
        </p:nvSpPr>
        <p:spPr bwMode="auto">
          <a:xfrm>
            <a:off x="4137868" y="2840038"/>
            <a:ext cx="13625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7416" name="Rectangle 21"/>
          <p:cNvSpPr>
            <a:spLocks noChangeArrowheads="1"/>
          </p:cNvSpPr>
          <p:nvPr/>
        </p:nvSpPr>
        <p:spPr bwMode="auto">
          <a:xfrm rot="-5400000">
            <a:off x="2976563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>
            <a:grpSpLocks/>
          </p:cNvGrpSpPr>
          <p:nvPr/>
        </p:nvGrpSpPr>
        <p:grpSpPr bwMode="auto">
          <a:xfrm>
            <a:off x="3347864" y="1838151"/>
            <a:ext cx="3156245" cy="338554"/>
            <a:chOff x="3758210" y="2103753"/>
            <a:chExt cx="3156247" cy="338555"/>
          </a:xfrm>
        </p:grpSpPr>
        <p:sp>
          <p:nvSpPr>
            <p:cNvPr id="17450" name="Line 37"/>
            <p:cNvSpPr>
              <a:spLocks noChangeShapeType="1"/>
            </p:cNvSpPr>
            <p:nvPr/>
          </p:nvSpPr>
          <p:spPr bwMode="auto">
            <a:xfrm>
              <a:off x="3758210" y="2314891"/>
              <a:ext cx="1223963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451" name="Text Box 38"/>
            <p:cNvSpPr txBox="1">
              <a:spLocks noChangeArrowheads="1"/>
            </p:cNvSpPr>
            <p:nvPr/>
          </p:nvSpPr>
          <p:spPr bwMode="auto">
            <a:xfrm>
              <a:off x="5053609" y="2103753"/>
              <a:ext cx="1860848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3332163" y="407702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39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40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60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744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744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63" name="Rectangle 47"/>
          <p:cNvSpPr>
            <a:spLocks noChangeArrowheads="1"/>
          </p:cNvSpPr>
          <p:nvPr/>
        </p:nvSpPr>
        <p:spPr bwMode="auto">
          <a:xfrm>
            <a:off x="5796136" y="1487959"/>
            <a:ext cx="20859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imes New Roman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  <a:sym typeface="Mathematica1" pitchFamily="2" charset="2"/>
              </a:rPr>
              <a:t>0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53" name="Grupo 52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7440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41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6" name="Grupo 55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743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9" name="Grupo 58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7436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437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D9A1B3E-0824-48F3-A93E-08D00FCA676C}" type="slidenum">
              <a:rPr lang="pt-BR"/>
              <a:pPr>
                <a:defRPr/>
              </a:pPr>
              <a:t>23</a:t>
            </a:fld>
            <a:endParaRPr lang="pt-BR"/>
          </a:p>
        </p:txBody>
      </p:sp>
      <p:sp>
        <p:nvSpPr>
          <p:cNvPr id="64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5" name="Rectangle 21"/>
          <p:cNvSpPr>
            <a:spLocks noChangeArrowheads="1"/>
          </p:cNvSpPr>
          <p:nvPr/>
        </p:nvSpPr>
        <p:spPr bwMode="auto">
          <a:xfrm rot="162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66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7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68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69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0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1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2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3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4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5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6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77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8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82" name="Rectangle 20"/>
          <p:cNvSpPr>
            <a:spLocks noChangeArrowheads="1"/>
          </p:cNvSpPr>
          <p:nvPr/>
        </p:nvSpPr>
        <p:spPr bwMode="auto">
          <a:xfrm>
            <a:off x="413310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79" name="Retângulo 78"/>
          <p:cNvSpPr>
            <a:spLocks noChangeArrowheads="1"/>
          </p:cNvSpPr>
          <p:nvPr/>
        </p:nvSpPr>
        <p:spPr bwMode="auto">
          <a:xfrm>
            <a:off x="179512" y="6158235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regressão não é significativa e, portanto, não há relação entre as variáveis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podem ser consideradas independentes).</a:t>
            </a:r>
          </a:p>
        </p:txBody>
      </p:sp>
      <p:sp>
        <p:nvSpPr>
          <p:cNvPr id="80" name="Retângulo 79"/>
          <p:cNvSpPr>
            <a:spLocks noChangeArrowheads="1"/>
          </p:cNvSpPr>
          <p:nvPr/>
        </p:nvSpPr>
        <p:spPr bwMode="auto">
          <a:xfrm>
            <a:off x="5796136" y="1879425"/>
            <a:ext cx="310809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existe uma relação entre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X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CaixaDeTexto 80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1" name="CaixaDeTexto 8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5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/>
              <p:cNvSpPr txBox="1"/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3" name="CaixaDeTexto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43894" cy="400110"/>
              </a:xfrm>
              <a:prstGeom prst="rect">
                <a:avLst/>
              </a:prstGeom>
              <a:blipFill>
                <a:blip r:embed="rId6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ixaDeTexto 83"/>
              <p:cNvSpPr txBox="1"/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84" name="CaixaDeTexto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094741"/>
                <a:ext cx="1320618" cy="707886"/>
              </a:xfrm>
              <a:prstGeom prst="rect">
                <a:avLst/>
              </a:prstGeom>
              <a:blipFill>
                <a:blip r:embed="rId7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upo 10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7448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" name="Retângulo 3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0" name="Grupo 9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7446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87" name="Retângulo 86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" name="Grupo 12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7444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2" name="Retângulo 11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9" name="CaixaDeTexto 88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9" name="CaixaDeTexto 8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07812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88" grpId="0"/>
      <p:bldP spid="7" grpId="0"/>
      <p:bldP spid="39" grpId="0"/>
      <p:bldP spid="40" grpId="0"/>
      <p:bldP spid="63" grpId="0"/>
      <p:bldP spid="79" grpId="0"/>
      <p:bldP spid="80" grpId="0"/>
      <p:bldP spid="3" grpId="0"/>
      <p:bldP spid="84" grpId="0" animBg="1"/>
      <p:bldP spid="8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6" name="CaixaDeTexto 75"/>
              <p:cNvSpPr txBox="1"/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2000" b="0" i="1" smtClean="0">
                        <a:latin typeface="Cambria Math"/>
                      </a:rPr>
                      <m:t>𝑡</m:t>
                    </m:r>
                    <m:r>
                      <a:rPr lang="pt-BR" sz="20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  <m:r>
                          <a:rPr lang="pt-BR" sz="2000" b="0" i="1" smtClean="0">
                            <a:latin typeface="Cambria Math"/>
                          </a:rPr>
                          <m:t>−</m:t>
                        </m:r>
                        <m:sSub>
                          <m:sSub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𝛽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/>
                                <a:ea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20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20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20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20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20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76" name="CaixaDeTexto 7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265" y="3052864"/>
                <a:ext cx="1965859" cy="58118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7" name="CaixaDeTexto 76"/>
              <p:cNvSpPr txBox="1"/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𝑠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𝑄𝑀𝐸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b="0" i="1" smtClean="0">
                                  <a:latin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b="0" i="1" smtClean="0">
                                  <a:latin typeface="Cambria Math"/>
                                </a:rPr>
                                <m:t>𝑛</m:t>
                              </m:r>
                            </m:den>
                          </m:f>
                          <m:r>
                            <a:rPr lang="pt-BR" b="0" i="1" smtClean="0">
                              <a:latin typeface="Cambria Math"/>
                            </a:rPr>
                            <m:t>+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𝑋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nary>
                                <m:naryPr>
                                  <m:chr m:val="∑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m:rPr>
                                      <m:brk m:alnAt="23"/>
                                    </m:rP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pt-BR" i="1">
                                      <a:latin typeface="Cambria Math"/>
                                    </a:rPr>
                                    <m:t>𝑛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pt-BR" i="1">
                                                  <a:latin typeface="Cambria Math"/>
                                                </a:rPr>
                                                <m:t>𝑋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den>
                          </m:f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7" name="CaixaDeTexto 7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08520" y="3988778"/>
                <a:ext cx="3328091" cy="64998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7" name="Grupo 34"/>
          <p:cNvGrpSpPr>
            <a:grpSpLocks/>
          </p:cNvGrpSpPr>
          <p:nvPr/>
        </p:nvGrpSpPr>
        <p:grpSpPr bwMode="auto">
          <a:xfrm>
            <a:off x="179512" y="5085184"/>
            <a:ext cx="5715000" cy="917575"/>
            <a:chOff x="714348" y="5940449"/>
            <a:chExt cx="5715000" cy="917575"/>
          </a:xfrm>
        </p:grpSpPr>
        <p:sp>
          <p:nvSpPr>
            <p:cNvPr id="18467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18468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sp>
        <p:nvSpPr>
          <p:cNvPr id="111" name="Retângulo 110"/>
          <p:cNvSpPr>
            <a:spLocks noChangeArrowheads="1"/>
          </p:cNvSpPr>
          <p:nvPr/>
        </p:nvSpPr>
        <p:spPr bwMode="auto">
          <a:xfrm>
            <a:off x="179512" y="6021288"/>
            <a:ext cx="87649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a reta de regressão passa pela origem. Isso não tem qualquer relação com a existência ou não de relação entre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.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Muitas vezes este teste é irrelevante (especialmente quando </a:t>
            </a:r>
            <a:r>
              <a:rPr lang="pt-BR" altLang="pt-BR" sz="1600" i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não tem significado prático)</a:t>
            </a:r>
          </a:p>
        </p:txBody>
      </p:sp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Teste de Hipótese para </a:t>
            </a:r>
            <a:r>
              <a:rPr lang="pt-BR" altLang="pt-BR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baseline="-25000" dirty="0"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endParaRPr lang="pt-BR" dirty="0"/>
          </a:p>
        </p:txBody>
      </p:sp>
      <p:sp>
        <p:nvSpPr>
          <p:cNvPr id="18438" name="Rectangle 21"/>
          <p:cNvSpPr>
            <a:spLocks noChangeArrowheads="1"/>
          </p:cNvSpPr>
          <p:nvPr/>
        </p:nvSpPr>
        <p:spPr bwMode="auto">
          <a:xfrm rot="-5400000">
            <a:off x="2971800" y="2044700"/>
            <a:ext cx="123825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Y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18439" name="Freeform 22"/>
          <p:cNvSpPr>
            <a:spLocks/>
          </p:cNvSpPr>
          <p:nvPr/>
        </p:nvSpPr>
        <p:spPr bwMode="auto">
          <a:xfrm>
            <a:off x="3187700" y="1570038"/>
            <a:ext cx="1524000" cy="1228725"/>
          </a:xfrm>
          <a:custGeom>
            <a:avLst/>
            <a:gdLst>
              <a:gd name="T0" fmla="*/ 0 w 1271"/>
              <a:gd name="T1" fmla="*/ 0 h 1179"/>
              <a:gd name="T2" fmla="*/ 0 w 1271"/>
              <a:gd name="T3" fmla="*/ 2147483647 h 1179"/>
              <a:gd name="T4" fmla="*/ 2147483647 w 1271"/>
              <a:gd name="T5" fmla="*/ 2147483647 h 1179"/>
              <a:gd name="T6" fmla="*/ 0 60000 65536"/>
              <a:gd name="T7" fmla="*/ 0 60000 65536"/>
              <a:gd name="T8" fmla="*/ 0 60000 65536"/>
              <a:gd name="T9" fmla="*/ 0 w 1271"/>
              <a:gd name="T10" fmla="*/ 0 h 1179"/>
              <a:gd name="T11" fmla="*/ 1271 w 1271"/>
              <a:gd name="T12" fmla="*/ 1179 h 1179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71" h="1179">
                <a:moveTo>
                  <a:pt x="0" y="0"/>
                </a:moveTo>
                <a:lnTo>
                  <a:pt x="0" y="1179"/>
                </a:lnTo>
                <a:lnTo>
                  <a:pt x="1271" y="1179"/>
                </a:ln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8440" name="Group 23"/>
          <p:cNvGrpSpPr>
            <a:grpSpLocks/>
          </p:cNvGrpSpPr>
          <p:nvPr/>
        </p:nvGrpSpPr>
        <p:grpSpPr bwMode="auto">
          <a:xfrm rot="17259631" flipH="1">
            <a:off x="3509169" y="1840706"/>
            <a:ext cx="808038" cy="498475"/>
            <a:chOff x="4084" y="2024"/>
            <a:chExt cx="910" cy="703"/>
          </a:xfrm>
        </p:grpSpPr>
        <p:sp>
          <p:nvSpPr>
            <p:cNvPr id="18486" name="Oval 24"/>
            <p:cNvSpPr>
              <a:spLocks noChangeArrowheads="1"/>
            </p:cNvSpPr>
            <p:nvPr/>
          </p:nvSpPr>
          <p:spPr bwMode="auto">
            <a:xfrm>
              <a:off x="4422" y="2160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7" name="Oval 25"/>
            <p:cNvSpPr>
              <a:spLocks noChangeArrowheads="1"/>
            </p:cNvSpPr>
            <p:nvPr/>
          </p:nvSpPr>
          <p:spPr bwMode="auto">
            <a:xfrm>
              <a:off x="4422" y="261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8" name="Oval 26"/>
            <p:cNvSpPr>
              <a:spLocks noChangeArrowheads="1"/>
            </p:cNvSpPr>
            <p:nvPr/>
          </p:nvSpPr>
          <p:spPr bwMode="auto">
            <a:xfrm>
              <a:off x="4559" y="2477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89" name="Oval 27"/>
            <p:cNvSpPr>
              <a:spLocks noChangeArrowheads="1"/>
            </p:cNvSpPr>
            <p:nvPr/>
          </p:nvSpPr>
          <p:spPr bwMode="auto">
            <a:xfrm>
              <a:off x="4966" y="2114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0" name="Oval 28"/>
            <p:cNvSpPr>
              <a:spLocks noChangeArrowheads="1"/>
            </p:cNvSpPr>
            <p:nvPr/>
          </p:nvSpPr>
          <p:spPr bwMode="auto">
            <a:xfrm>
              <a:off x="4694" y="2024"/>
              <a:ext cx="27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1" name="Oval 29"/>
            <p:cNvSpPr>
              <a:spLocks noChangeArrowheads="1"/>
            </p:cNvSpPr>
            <p:nvPr/>
          </p:nvSpPr>
          <p:spPr bwMode="auto">
            <a:xfrm>
              <a:off x="4371" y="245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2" name="Oval 30"/>
            <p:cNvSpPr>
              <a:spLocks noChangeArrowheads="1"/>
            </p:cNvSpPr>
            <p:nvPr/>
          </p:nvSpPr>
          <p:spPr bwMode="auto">
            <a:xfrm>
              <a:off x="4084" y="2693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3" name="Oval 31"/>
            <p:cNvSpPr>
              <a:spLocks noChangeArrowheads="1"/>
            </p:cNvSpPr>
            <p:nvPr/>
          </p:nvSpPr>
          <p:spPr bwMode="auto">
            <a:xfrm>
              <a:off x="4150" y="2432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4" name="Oval 32"/>
            <p:cNvSpPr>
              <a:spLocks noChangeArrowheads="1"/>
            </p:cNvSpPr>
            <p:nvPr/>
          </p:nvSpPr>
          <p:spPr bwMode="auto">
            <a:xfrm>
              <a:off x="4739" y="2296"/>
              <a:ext cx="28" cy="34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8495" name="Oval 33"/>
            <p:cNvSpPr>
              <a:spLocks noChangeArrowheads="1"/>
            </p:cNvSpPr>
            <p:nvPr/>
          </p:nvSpPr>
          <p:spPr bwMode="auto">
            <a:xfrm>
              <a:off x="4558" y="2250"/>
              <a:ext cx="28" cy="35"/>
            </a:xfrm>
            <a:prstGeom prst="ellipse">
              <a:avLst/>
            </a:prstGeom>
            <a:solidFill>
              <a:srgbClr val="000080"/>
            </a:solidFill>
            <a:ln w="14288">
              <a:solidFill>
                <a:srgbClr val="00008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2896389" y="2405396"/>
            <a:ext cx="628622" cy="338554"/>
            <a:chOff x="3327022" y="2413006"/>
            <a:chExt cx="627966" cy="338604"/>
          </a:xfrm>
        </p:grpSpPr>
        <p:sp>
          <p:nvSpPr>
            <p:cNvPr id="18484" name="Line 35"/>
            <p:cNvSpPr>
              <a:spLocks noChangeShapeType="1"/>
            </p:cNvSpPr>
            <p:nvPr/>
          </p:nvSpPr>
          <p:spPr bwMode="auto">
            <a:xfrm rot="20247635" flipV="1">
              <a:off x="3592044" y="2485364"/>
              <a:ext cx="362944" cy="884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8485" name="Retângulo 3"/>
            <p:cNvSpPr>
              <a:spLocks noChangeArrowheads="1"/>
            </p:cNvSpPr>
            <p:nvPr/>
          </p:nvSpPr>
          <p:spPr bwMode="auto">
            <a:xfrm>
              <a:off x="3327022" y="2413006"/>
              <a:ext cx="355817" cy="3386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b</a:t>
              </a:r>
              <a:r>
                <a:rPr lang="pt-BR" altLang="pt-BR" sz="1600" baseline="-25000" dirty="0">
                  <a:solidFill>
                    <a:srgbClr val="000000"/>
                  </a:solidFill>
                  <a:latin typeface="Times New Roman" charset="0"/>
                  <a:cs typeface="Times New Roman" charset="0"/>
                  <a:sym typeface="Mathematica1" pitchFamily="2" charset="2"/>
                </a:rPr>
                <a:t>0</a:t>
              </a:r>
              <a:endParaRPr lang="pt-BR" alt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38" name="Rectangle 47"/>
          <p:cNvSpPr>
            <a:spLocks noChangeArrowheads="1"/>
          </p:cNvSpPr>
          <p:nvPr/>
        </p:nvSpPr>
        <p:spPr bwMode="auto">
          <a:xfrm>
            <a:off x="5796136" y="1502422"/>
            <a:ext cx="2087563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2000" dirty="0">
                <a:latin typeface="Times New Roman" charset="0"/>
                <a:sym typeface="Mathematica1" pitchFamily="2" charset="2"/>
              </a:rPr>
              <a:t>E(</a:t>
            </a:r>
            <a:r>
              <a:rPr lang="pt-BR" altLang="pt-BR" sz="2000" i="1" dirty="0">
                <a:latin typeface="Times New Roman" charset="0"/>
                <a:sym typeface="Mathematica1" pitchFamily="2" charset="2"/>
              </a:rPr>
              <a:t>Y</a:t>
            </a:r>
            <a:r>
              <a:rPr lang="pt-BR" altLang="pt-BR" sz="2000" i="1" baseline="-25000" dirty="0">
                <a:latin typeface="Times New Roman" charset="0"/>
                <a:sym typeface="Mathematica1" pitchFamily="2" charset="2"/>
              </a:rPr>
              <a:t>i</a:t>
            </a:r>
            <a:r>
              <a:rPr lang="pt-BR" altLang="pt-BR" sz="2000" dirty="0">
                <a:latin typeface="Times New Roman" charset="0"/>
                <a:sym typeface="Mathematica1" pitchFamily="2" charset="2"/>
              </a:rPr>
              <a:t>) = </a:t>
            </a:r>
            <a:r>
              <a:rPr lang="pt-BR" altLang="pt-BR" sz="2000" i="1" dirty="0"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2000" baseline="-25000" dirty="0">
                <a:latin typeface="Times New Roman" charset="0"/>
              </a:rPr>
              <a:t>1</a:t>
            </a:r>
            <a:r>
              <a:rPr lang="pt-BR" altLang="pt-BR" sz="2000" i="1" dirty="0">
                <a:latin typeface="Times New Roman" charset="0"/>
              </a:rPr>
              <a:t> 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r>
              <a:rPr lang="pt-BR" altLang="pt-BR" sz="2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 ?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55" name="Retângulo 54"/>
          <p:cNvSpPr>
            <a:spLocks noChangeArrowheads="1"/>
          </p:cNvSpPr>
          <p:nvPr/>
        </p:nvSpPr>
        <p:spPr bwMode="auto">
          <a:xfrm>
            <a:off x="3337984" y="407716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50D612F-D459-4072-BCC6-13767AFCA69C}" type="slidenum">
              <a:rPr lang="pt-BR"/>
              <a:pPr>
                <a:defRPr/>
              </a:pPr>
              <a:t>24</a:t>
            </a:fld>
            <a:endParaRPr lang="pt-BR"/>
          </a:p>
        </p:txBody>
      </p:sp>
      <p:grpSp>
        <p:nvGrpSpPr>
          <p:cNvPr id="8" name="Grupo 7"/>
          <p:cNvGrpSpPr/>
          <p:nvPr/>
        </p:nvGrpSpPr>
        <p:grpSpPr>
          <a:xfrm>
            <a:off x="2759868" y="1875814"/>
            <a:ext cx="1889292" cy="1299721"/>
            <a:chOff x="2759868" y="1875814"/>
            <a:chExt cx="1889292" cy="1299721"/>
          </a:xfrm>
        </p:grpSpPr>
        <p:sp>
          <p:nvSpPr>
            <p:cNvPr id="112" name="Line 35"/>
            <p:cNvSpPr>
              <a:spLocks noChangeShapeType="1"/>
            </p:cNvSpPr>
            <p:nvPr/>
          </p:nvSpPr>
          <p:spPr bwMode="auto">
            <a:xfrm rot="20247635" flipV="1">
              <a:off x="2829813" y="1875814"/>
              <a:ext cx="1819347" cy="75213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13" name="Text Box 38"/>
            <p:cNvSpPr txBox="1">
              <a:spLocks noChangeArrowheads="1"/>
            </p:cNvSpPr>
            <p:nvPr/>
          </p:nvSpPr>
          <p:spPr bwMode="auto">
            <a:xfrm>
              <a:off x="2759868" y="2836981"/>
              <a:ext cx="2824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?</a:t>
              </a:r>
            </a:p>
          </p:txBody>
        </p:sp>
      </p:grpSp>
      <p:sp>
        <p:nvSpPr>
          <p:cNvPr id="114" name="Line 35"/>
          <p:cNvSpPr>
            <a:spLocks noChangeShapeType="1"/>
          </p:cNvSpPr>
          <p:nvPr/>
        </p:nvSpPr>
        <p:spPr bwMode="auto">
          <a:xfrm rot="20247635" flipV="1">
            <a:off x="3392488" y="1905000"/>
            <a:ext cx="1125537" cy="30321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CaixaDeTexto 68"/>
              <p:cNvSpPr txBox="1"/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sz="1400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sz="1400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9" name="CaixaDeTexto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8560" y="1541896"/>
                <a:ext cx="1260281" cy="313612"/>
              </a:xfrm>
              <a:prstGeom prst="rect">
                <a:avLst/>
              </a:prstGeom>
              <a:blipFill>
                <a:blip r:embed="rId4"/>
                <a:stretch>
                  <a:fillRect t="-19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ixaDeTexto 72"/>
              <p:cNvSpPr txBox="1"/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H</m:t>
                      </m:r>
                      <m:r>
                        <m:rPr>
                          <m:nor/>
                        </m:rPr>
                        <a:rPr lang="pt-BR" sz="2000" baseline="-25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2000" dirty="0" smtClean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: </m:t>
                      </m:r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sz="2000" i="1">
                              <a:latin typeface="Cambria Math"/>
                              <a:ea typeface="Cambria Math"/>
                            </a:rPr>
                            <m:t>0</m:t>
                          </m:r>
                        </m:sub>
                      </m:sSub>
                      <m:r>
                        <a:rPr lang="pt-BR" sz="2000" i="1">
                          <a:latin typeface="Cambria Math"/>
                          <a:ea typeface="Cambria Math"/>
                        </a:rPr>
                        <m:t>=</m:t>
                      </m:r>
                      <m:r>
                        <a:rPr lang="pt-BR" sz="2000" b="0" i="1" smtClean="0">
                          <a:latin typeface="Cambria Math"/>
                          <a:ea typeface="Cambria Math"/>
                        </a:rPr>
                        <m:t> ?</m:t>
                      </m:r>
                    </m:oMath>
                  </m:oMathPara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3" name="CaixaDeTexto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54730" cy="400110"/>
              </a:xfrm>
              <a:prstGeom prst="rect">
                <a:avLst/>
              </a:prstGeom>
              <a:blipFill>
                <a:blip r:embed="rId5"/>
                <a:stretch>
                  <a:fillRect b="-1846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CaixaDeTexto 73"/>
              <p:cNvSpPr txBox="1"/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20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20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2000" b="0" i="1" smtClean="0">
                            <a:latin typeface="Cambria Math"/>
                            <a:ea typeface="Cambria Math"/>
                          </a:rPr>
                          <m:t>0</m:t>
                        </m:r>
                      </m:sub>
                    </m:sSub>
                    <m:r>
                      <a:rPr lang="pt-BR" sz="2000" i="1">
                        <a:latin typeface="Cambria Math"/>
                        <a:ea typeface="Cambria Math"/>
                      </a:rPr>
                      <m:t>≠0</m:t>
                    </m:r>
                  </m:oMath>
                </a14:m>
                <a:endParaRPr lang="pt-BR" sz="20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74" name="CaixaDeTexto 7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87700" y="3112321"/>
                <a:ext cx="1320618" cy="707886"/>
              </a:xfrm>
              <a:prstGeom prst="rect">
                <a:avLst/>
              </a:prstGeom>
              <a:blipFill>
                <a:blip r:embed="rId6"/>
                <a:stretch>
                  <a:fillRect l="-5069" t="-5172" b="-1465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5" name="Retângulo 74"/>
          <p:cNvSpPr>
            <a:spLocks noChangeArrowheads="1"/>
          </p:cNvSpPr>
          <p:nvPr/>
        </p:nvSpPr>
        <p:spPr bwMode="auto">
          <a:xfrm>
            <a:off x="5796136" y="1879425"/>
            <a:ext cx="31838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regressão passa pela origem</a:t>
            </a:r>
            <a:r>
              <a:rPr lang="pt-BR" altLang="pt-BR" sz="1600" i="1" dirty="0">
                <a:latin typeface="Times New Roman" charset="0"/>
                <a:sym typeface="Mathematica1" pitchFamily="2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?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CaixaDeTexto 77"/>
              <p:cNvSpPr txBox="1"/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sz="1800" b="0" i="1" smtClean="0">
                        <a:latin typeface="Cambria Math"/>
                      </a:rPr>
                      <m:t>𝑡</m:t>
                    </m:r>
                    <m:r>
                      <a:rPr lang="pt-BR" sz="1800" b="0" i="1" smtClean="0">
                        <a:latin typeface="Cambria Math"/>
                      </a:rPr>
                      <m:t>=</m:t>
                    </m:r>
                    <m:f>
                      <m:f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8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sz="1800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num>
                      <m:den>
                        <m:r>
                          <a:rPr lang="pt-BR" sz="1800" b="0" i="1" smtClean="0">
                            <a:latin typeface="Cambria Math"/>
                          </a:rPr>
                          <m:t>𝑠</m:t>
                        </m:r>
                        <m:d>
                          <m:dPr>
                            <m:ctrlPr>
                              <a:rPr lang="pt-BR" sz="1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pt-BR" sz="18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den>
                    </m:f>
                    <m:r>
                      <a:rPr lang="pt-BR" sz="1800" b="0" i="1" smtClean="0">
                        <a:latin typeface="Cambria Math"/>
                      </a:rPr>
                      <m:t>~</m:t>
                    </m:r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</a:rPr>
                          <m:t>𝑛</m:t>
                        </m:r>
                        <m:r>
                          <a:rPr lang="pt-BR" sz="1800" b="0" i="1" smtClean="0">
                            <a:latin typeface="Cambria Math"/>
                          </a:rPr>
                          <m:t>−2</m:t>
                        </m:r>
                      </m:sub>
                    </m:sSub>
                  </m:oMath>
                </a14:m>
                <a:r>
                  <a:rPr lang="pt-BR" sz="1800" dirty="0">
                    <a:latin typeface="Tahoma" panose="020B0604030504040204" pitchFamily="34" charset="0"/>
                  </a:rPr>
                  <a:t> </a:t>
                </a:r>
                <a:endParaRPr lang="pt-BR" sz="20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8" name="CaixaDeTexto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712" y="4581128"/>
                <a:ext cx="1692579" cy="52411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" name="Rectangle 20"/>
          <p:cNvSpPr>
            <a:spLocks noChangeArrowheads="1"/>
          </p:cNvSpPr>
          <p:nvPr/>
        </p:nvSpPr>
        <p:spPr bwMode="auto">
          <a:xfrm>
            <a:off x="3876675" y="2840038"/>
            <a:ext cx="134938" cy="244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b="1" i="1" dirty="0">
                <a:latin typeface="Times New Roman" charset="0"/>
              </a:rPr>
              <a:t>X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grpSp>
        <p:nvGrpSpPr>
          <p:cNvPr id="109" name="Group 50"/>
          <p:cNvGrpSpPr>
            <a:grpSpLocks/>
          </p:cNvGrpSpPr>
          <p:nvPr/>
        </p:nvGrpSpPr>
        <p:grpSpPr bwMode="auto">
          <a:xfrm>
            <a:off x="5105400" y="2622623"/>
            <a:ext cx="4000500" cy="2657473"/>
            <a:chOff x="3264" y="2113"/>
            <a:chExt cx="2520" cy="1674"/>
          </a:xfrm>
        </p:grpSpPr>
        <p:grpSp>
          <p:nvGrpSpPr>
            <p:cNvPr id="110" name="Group 24"/>
            <p:cNvGrpSpPr>
              <a:grpSpLocks/>
            </p:cNvGrpSpPr>
            <p:nvPr/>
          </p:nvGrpSpPr>
          <p:grpSpPr bwMode="auto">
            <a:xfrm>
              <a:off x="3264" y="2113"/>
              <a:ext cx="2520" cy="1674"/>
              <a:chOff x="2988" y="1815"/>
              <a:chExt cx="2520" cy="1674"/>
            </a:xfrm>
          </p:grpSpPr>
          <p:pic>
            <p:nvPicPr>
              <p:cNvPr id="116" name="Picture 25"/>
              <p:cNvPicPr>
                <a:picLocks noChangeAspect="1" noChangeArrowheads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3296" t="9618" r="18376" b="11877"/>
              <a:stretch>
                <a:fillRect/>
              </a:stretch>
            </p:blipFill>
            <p:spPr bwMode="auto">
              <a:xfrm>
                <a:off x="3026" y="1872"/>
                <a:ext cx="2432" cy="13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17" name="Text Box 26"/>
              <p:cNvSpPr txBox="1">
                <a:spLocks noChangeArrowheads="1"/>
              </p:cNvSpPr>
              <p:nvPr/>
            </p:nvSpPr>
            <p:spPr bwMode="auto">
              <a:xfrm>
                <a:off x="2988" y="3158"/>
                <a:ext cx="283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-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8" name="Text Box 27"/>
              <p:cNvSpPr txBox="1">
                <a:spLocks noChangeArrowheads="1"/>
              </p:cNvSpPr>
              <p:nvPr/>
            </p:nvSpPr>
            <p:spPr bwMode="auto">
              <a:xfrm>
                <a:off x="5188" y="3160"/>
                <a:ext cx="320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dirty="0">
                    <a:latin typeface="Times New Roman" charset="0"/>
                  </a:rPr>
                  <a:t>+</a:t>
                </a:r>
                <a:r>
                  <a:rPr lang="pt-BR" altLang="pt-BR" sz="2000" dirty="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2000" dirty="0">
                  <a:latin typeface="Times New Roman" charset="0"/>
                </a:endParaRPr>
              </a:p>
            </p:txBody>
          </p:sp>
          <p:sp>
            <p:nvSpPr>
              <p:cNvPr id="119" name="Text Box 28"/>
              <p:cNvSpPr txBox="1">
                <a:spLocks noChangeArrowheads="1"/>
              </p:cNvSpPr>
              <p:nvPr/>
            </p:nvSpPr>
            <p:spPr bwMode="auto">
              <a:xfrm>
                <a:off x="4158" y="3239"/>
                <a:ext cx="196" cy="25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120" name="Line 29"/>
              <p:cNvSpPr>
                <a:spLocks noChangeShapeType="1"/>
              </p:cNvSpPr>
              <p:nvPr/>
            </p:nvSpPr>
            <p:spPr bwMode="auto">
              <a:xfrm>
                <a:off x="3024" y="3226"/>
                <a:ext cx="2448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Text Box 26"/>
              <p:cNvSpPr txBox="1">
                <a:spLocks noChangeArrowheads="1"/>
              </p:cNvSpPr>
              <p:nvPr/>
            </p:nvSpPr>
            <p:spPr bwMode="auto">
              <a:xfrm>
                <a:off x="4630" y="1815"/>
                <a:ext cx="326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</a:t>
                </a:r>
                <a:r>
                  <a:rPr lang="pt-BR" altLang="pt-BR" sz="2000" i="1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pt-BR" altLang="pt-BR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-2</a:t>
                </a:r>
              </a:p>
            </p:txBody>
          </p:sp>
        </p:grpSp>
        <p:sp>
          <p:nvSpPr>
            <p:cNvPr id="115" name="Line 30"/>
            <p:cNvSpPr>
              <a:spLocks noChangeShapeType="1"/>
            </p:cNvSpPr>
            <p:nvPr/>
          </p:nvSpPr>
          <p:spPr bwMode="auto">
            <a:xfrm flipH="1">
              <a:off x="4788" y="2266"/>
              <a:ext cx="144" cy="144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22" name="Text Box 33"/>
          <p:cNvSpPr txBox="1">
            <a:spLocks noChangeArrowheads="1"/>
          </p:cNvSpPr>
          <p:nvPr/>
        </p:nvSpPr>
        <p:spPr bwMode="auto">
          <a:xfrm>
            <a:off x="7551738" y="477844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sp>
        <p:nvSpPr>
          <p:cNvPr id="123" name="Text Box 34"/>
          <p:cNvSpPr txBox="1">
            <a:spLocks noChangeArrowheads="1"/>
          </p:cNvSpPr>
          <p:nvPr/>
        </p:nvSpPr>
        <p:spPr bwMode="auto">
          <a:xfrm>
            <a:off x="6324600" y="477844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-</a:t>
            </a:r>
            <a:r>
              <a:rPr lang="pt-BR" altLang="pt-BR" sz="2000" i="1" dirty="0" err="1">
                <a:latin typeface="Times New Roman" charset="0"/>
              </a:rPr>
              <a:t>t</a:t>
            </a:r>
            <a:r>
              <a:rPr lang="pt-BR" altLang="pt-BR" sz="2000" i="1" baseline="-25000" dirty="0" err="1">
                <a:latin typeface="Times New Roman" charset="0"/>
              </a:rPr>
              <a:t>crít</a:t>
            </a:r>
            <a:endParaRPr lang="pt-BR" altLang="pt-BR" sz="2000" i="1" baseline="-25000" dirty="0">
              <a:latin typeface="Times New Roman" charset="0"/>
            </a:endParaRPr>
          </a:p>
        </p:txBody>
      </p:sp>
      <p:grpSp>
        <p:nvGrpSpPr>
          <p:cNvPr id="124" name="Grupo 123"/>
          <p:cNvGrpSpPr>
            <a:grpSpLocks/>
          </p:cNvGrpSpPr>
          <p:nvPr/>
        </p:nvGrpSpPr>
        <p:grpSpPr bwMode="auto">
          <a:xfrm>
            <a:off x="6529388" y="5189612"/>
            <a:ext cx="1189037" cy="361950"/>
            <a:chOff x="6529932" y="5627017"/>
            <a:chExt cx="1188000" cy="362758"/>
          </a:xfrm>
        </p:grpSpPr>
        <p:sp>
          <p:nvSpPr>
            <p:cNvPr id="125" name="Rectangle 136"/>
            <p:cNvSpPr>
              <a:spLocks noChangeArrowheads="1"/>
            </p:cNvSpPr>
            <p:nvPr/>
          </p:nvSpPr>
          <p:spPr bwMode="auto">
            <a:xfrm>
              <a:off x="6761811" y="5650830"/>
              <a:ext cx="724246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6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27" name="Grupo 126"/>
          <p:cNvGrpSpPr>
            <a:grpSpLocks/>
          </p:cNvGrpSpPr>
          <p:nvPr/>
        </p:nvGrpSpPr>
        <p:grpSpPr bwMode="auto">
          <a:xfrm>
            <a:off x="7715250" y="5189609"/>
            <a:ext cx="863600" cy="362314"/>
            <a:chOff x="7721600" y="5588917"/>
            <a:chExt cx="863600" cy="363123"/>
          </a:xfrm>
        </p:grpSpPr>
        <p:sp>
          <p:nvSpPr>
            <p:cNvPr id="128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0" cy="3393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29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0" name="Grupo 129"/>
          <p:cNvGrpSpPr>
            <a:grpSpLocks/>
          </p:cNvGrpSpPr>
          <p:nvPr/>
        </p:nvGrpSpPr>
        <p:grpSpPr bwMode="auto">
          <a:xfrm>
            <a:off x="5667375" y="5189619"/>
            <a:ext cx="863600" cy="362340"/>
            <a:chOff x="5868144" y="5589241"/>
            <a:chExt cx="863600" cy="362758"/>
          </a:xfrm>
        </p:grpSpPr>
        <p:sp>
          <p:nvSpPr>
            <p:cNvPr id="131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.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2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33" name="Grupo 132"/>
          <p:cNvGrpSpPr/>
          <p:nvPr/>
        </p:nvGrpSpPr>
        <p:grpSpPr>
          <a:xfrm>
            <a:off x="7981944" y="3933534"/>
            <a:ext cx="766520" cy="684578"/>
            <a:chOff x="7981944" y="3933534"/>
            <a:chExt cx="766520" cy="684578"/>
          </a:xfrm>
        </p:grpSpPr>
        <p:sp>
          <p:nvSpPr>
            <p:cNvPr id="134" name="Line 36"/>
            <p:cNvSpPr>
              <a:spLocks noChangeShapeType="1"/>
            </p:cNvSpPr>
            <p:nvPr/>
          </p:nvSpPr>
          <p:spPr bwMode="auto">
            <a:xfrm flipV="1">
              <a:off x="7981944" y="4237112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5" name="Retângulo 134"/>
            <p:cNvSpPr/>
            <p:nvPr/>
          </p:nvSpPr>
          <p:spPr>
            <a:xfrm>
              <a:off x="8219152" y="3933534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6" name="Grupo 135"/>
          <p:cNvGrpSpPr/>
          <p:nvPr/>
        </p:nvGrpSpPr>
        <p:grpSpPr>
          <a:xfrm>
            <a:off x="5554663" y="3906238"/>
            <a:ext cx="750891" cy="695999"/>
            <a:chOff x="5554663" y="3906238"/>
            <a:chExt cx="750891" cy="695999"/>
          </a:xfrm>
        </p:grpSpPr>
        <p:sp>
          <p:nvSpPr>
            <p:cNvPr id="137" name="Line 39"/>
            <p:cNvSpPr>
              <a:spLocks noChangeShapeType="1"/>
            </p:cNvSpPr>
            <p:nvPr/>
          </p:nvSpPr>
          <p:spPr bwMode="auto">
            <a:xfrm flipH="1" flipV="1">
              <a:off x="6000754" y="4221237"/>
              <a:ext cx="304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8" name="Retângulo 137"/>
            <p:cNvSpPr/>
            <p:nvPr/>
          </p:nvSpPr>
          <p:spPr>
            <a:xfrm>
              <a:off x="5554663" y="3906238"/>
              <a:ext cx="529312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/2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  <p:grpSp>
        <p:nvGrpSpPr>
          <p:cNvPr id="139" name="Grupo 138"/>
          <p:cNvGrpSpPr/>
          <p:nvPr/>
        </p:nvGrpSpPr>
        <p:grpSpPr>
          <a:xfrm>
            <a:off x="6530975" y="2782962"/>
            <a:ext cx="1184275" cy="2073275"/>
            <a:chOff x="6530975" y="2782962"/>
            <a:chExt cx="1184275" cy="2073275"/>
          </a:xfrm>
        </p:grpSpPr>
        <p:sp>
          <p:nvSpPr>
            <p:cNvPr id="140" name="Freeform 32"/>
            <p:cNvSpPr>
              <a:spLocks/>
            </p:cNvSpPr>
            <p:nvPr/>
          </p:nvSpPr>
          <p:spPr bwMode="auto">
            <a:xfrm>
              <a:off x="6530975" y="2782962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41" name="Retângulo 140"/>
            <p:cNvSpPr/>
            <p:nvPr/>
          </p:nvSpPr>
          <p:spPr>
            <a:xfrm>
              <a:off x="6895796" y="3958738"/>
              <a:ext cx="49725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pt-BR" altLang="pt-BR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1-</a:t>
              </a:r>
              <a:r>
                <a:rPr lang="pt-BR" altLang="pt-BR" i="1" dirty="0">
                  <a:latin typeface="Cambria Math" panose="02040503050406030204" pitchFamily="18" charset="0"/>
                  <a:ea typeface="Cambria Math" panose="02040503050406030204" pitchFamily="18" charset="0"/>
                  <a:sym typeface="Symbol"/>
                </a:rPr>
                <a:t></a:t>
              </a:r>
              <a:endParaRPr lang="pt-BR" altLang="pt-BR" baseline="-25000" dirty="0">
                <a:latin typeface="Cambria Math" panose="02040503050406030204" pitchFamily="18" charset="0"/>
                <a:ea typeface="Cambria Math" panose="02040503050406030204" pitchFamily="18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111" grpId="0"/>
      <p:bldP spid="38" grpId="0"/>
      <p:bldP spid="55" grpId="0"/>
      <p:bldP spid="73" grpId="0"/>
      <p:bldP spid="74" grpId="0" animBg="1"/>
      <p:bldP spid="75" grpId="0"/>
      <p:bldP spid="78" grpId="0"/>
      <p:bldP spid="122" grpId="0"/>
      <p:bldP spid="12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sp>
        <p:nvSpPr>
          <p:cNvPr id="1945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19472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19473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19474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19477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8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79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0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1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2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3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4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5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486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9475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9476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sp>
        <p:nvSpPr>
          <p:cNvPr id="90" name="Rectangle 9"/>
          <p:cNvSpPr txBox="1">
            <a:spLocks noChangeArrowheads="1"/>
          </p:cNvSpPr>
          <p:nvPr/>
        </p:nvSpPr>
        <p:spPr bwMode="auto">
          <a:xfrm>
            <a:off x="4787900" y="3573463"/>
            <a:ext cx="2808288" cy="1808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0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b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Mathematica1" pitchFamily="2" charset="2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são variáveis aleatórias, então eles podem variar de amostra para amostra...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283A05-0094-4684-ADBD-7E595778FA21}" type="slidenum">
              <a:rPr lang="pt-BR"/>
              <a:pPr>
                <a:defRPr/>
              </a:pPr>
              <a:t>25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aixaDeTexto 30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1" name="CaixaDeTexto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Agrupar 12">
            <a:extLst>
              <a:ext uri="{FF2B5EF4-FFF2-40B4-BE49-F238E27FC236}">
                <a16:creationId xmlns:a16="http://schemas.microsoft.com/office/drawing/2014/main" id="{CEC9ADCA-140B-A324-5D82-FEBAE42886E3}"/>
              </a:ext>
            </a:extLst>
          </p:cNvPr>
          <p:cNvGrpSpPr/>
          <p:nvPr/>
        </p:nvGrpSpPr>
        <p:grpSpPr>
          <a:xfrm>
            <a:off x="4035114" y="2386580"/>
            <a:ext cx="2573556" cy="562869"/>
            <a:chOff x="4035114" y="2386580"/>
            <a:chExt cx="2573556" cy="562869"/>
          </a:xfrm>
        </p:grpSpPr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D57D9BA4-45E7-38D2-411C-D55BAE806CB5}"/>
                </a:ext>
              </a:extLst>
            </p:cNvPr>
            <p:cNvSpPr txBox="1"/>
            <p:nvPr/>
          </p:nvSpPr>
          <p:spPr>
            <a:xfrm>
              <a:off x="4400000" y="2386580"/>
              <a:ext cx="2208670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altLang="pt-BR" sz="1600" dirty="0"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  <a:sym typeface="Symbol" pitchFamily="18" charset="2"/>
                </a:rPr>
                <a:t>Estimador de 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E(</a:t>
              </a: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Y</a:t>
              </a:r>
              <a:r>
                <a:rPr lang="pt-BR" altLang="pt-BR" sz="1600" dirty="0">
                  <a:latin typeface="Times New Roman" charset="0"/>
                  <a:cs typeface="Times New Roman" charset="0"/>
                  <a:sym typeface="Symbol" pitchFamily="18" charset="2"/>
                </a:rPr>
                <a:t>)</a:t>
              </a:r>
              <a:endParaRPr lang="pt-BR" dirty="0"/>
            </a:p>
          </p:txBody>
        </p:sp>
        <p:cxnSp>
          <p:nvCxnSpPr>
            <p:cNvPr id="12" name="Conector de Seta Reta 11">
              <a:extLst>
                <a:ext uri="{FF2B5EF4-FFF2-40B4-BE49-F238E27FC236}">
                  <a16:creationId xmlns:a16="http://schemas.microsoft.com/office/drawing/2014/main" id="{2254E54B-DD46-194B-DB82-8D7F20B1F4CE}"/>
                </a:ext>
              </a:extLst>
            </p:cNvPr>
            <p:cNvCxnSpPr/>
            <p:nvPr/>
          </p:nvCxnSpPr>
          <p:spPr bwMode="auto">
            <a:xfrm flipH="1">
              <a:off x="4035114" y="2593398"/>
              <a:ext cx="357188" cy="356051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  <p:bldP spid="3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Inferências para 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endParaRPr lang="pt-BR" baseline="-25000" dirty="0"/>
          </a:p>
        </p:txBody>
      </p:sp>
      <p:grpSp>
        <p:nvGrpSpPr>
          <p:cNvPr id="20483" name="Grupo 29"/>
          <p:cNvGrpSpPr>
            <a:grpSpLocks/>
          </p:cNvGrpSpPr>
          <p:nvPr/>
        </p:nvGrpSpPr>
        <p:grpSpPr bwMode="auto">
          <a:xfrm>
            <a:off x="1084070" y="2872329"/>
            <a:ext cx="3327472" cy="2831912"/>
            <a:chOff x="3182629" y="3356992"/>
            <a:chExt cx="1627491" cy="1385035"/>
          </a:xfrm>
        </p:grpSpPr>
        <p:sp>
          <p:nvSpPr>
            <p:cNvPr id="20503" name="Rectangle 21"/>
            <p:cNvSpPr>
              <a:spLocks noChangeArrowheads="1"/>
            </p:cNvSpPr>
            <p:nvPr/>
          </p:nvSpPr>
          <p:spPr bwMode="auto">
            <a:xfrm rot="16200000">
              <a:off x="3212268" y="3355319"/>
              <a:ext cx="61152" cy="1204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Y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  <p:sp>
          <p:nvSpPr>
            <p:cNvPr id="20504" name="Freeform 22"/>
            <p:cNvSpPr>
              <a:spLocks/>
            </p:cNvSpPr>
            <p:nvPr/>
          </p:nvSpPr>
          <p:spPr bwMode="auto">
            <a:xfrm>
              <a:off x="3286120" y="3356992"/>
              <a:ext cx="1524000" cy="1228725"/>
            </a:xfrm>
            <a:custGeom>
              <a:avLst/>
              <a:gdLst>
                <a:gd name="T0" fmla="*/ 0 w 1271"/>
                <a:gd name="T1" fmla="*/ 0 h 1179"/>
                <a:gd name="T2" fmla="*/ 0 w 1271"/>
                <a:gd name="T3" fmla="*/ 2147483647 h 1179"/>
                <a:gd name="T4" fmla="*/ 2147483647 w 1271"/>
                <a:gd name="T5" fmla="*/ 2147483647 h 1179"/>
                <a:gd name="T6" fmla="*/ 0 60000 65536"/>
                <a:gd name="T7" fmla="*/ 0 60000 65536"/>
                <a:gd name="T8" fmla="*/ 0 60000 65536"/>
                <a:gd name="T9" fmla="*/ 0 w 1271"/>
                <a:gd name="T10" fmla="*/ 0 h 1179"/>
                <a:gd name="T11" fmla="*/ 1271 w 1271"/>
                <a:gd name="T12" fmla="*/ 1179 h 1179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271" h="1179">
                  <a:moveTo>
                    <a:pt x="0" y="0"/>
                  </a:moveTo>
                  <a:lnTo>
                    <a:pt x="0" y="1179"/>
                  </a:lnTo>
                  <a:lnTo>
                    <a:pt x="1271" y="1179"/>
                  </a:ln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pSp>
          <p:nvGrpSpPr>
            <p:cNvPr id="20505" name="Group 23"/>
            <p:cNvGrpSpPr>
              <a:grpSpLocks/>
            </p:cNvGrpSpPr>
            <p:nvPr/>
          </p:nvGrpSpPr>
          <p:grpSpPr bwMode="auto">
            <a:xfrm rot="17259631" flipH="1">
              <a:off x="3607060" y="3626648"/>
              <a:ext cx="807952" cy="498773"/>
              <a:chOff x="4084" y="2024"/>
              <a:chExt cx="910" cy="703"/>
            </a:xfrm>
          </p:grpSpPr>
          <p:sp>
            <p:nvSpPr>
              <p:cNvPr id="20508" name="Oval 24"/>
              <p:cNvSpPr>
                <a:spLocks noChangeArrowheads="1"/>
              </p:cNvSpPr>
              <p:nvPr/>
            </p:nvSpPr>
            <p:spPr bwMode="auto">
              <a:xfrm>
                <a:off x="4422" y="2160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09" name="Oval 25"/>
              <p:cNvSpPr>
                <a:spLocks noChangeArrowheads="1"/>
              </p:cNvSpPr>
              <p:nvPr/>
            </p:nvSpPr>
            <p:spPr bwMode="auto">
              <a:xfrm>
                <a:off x="4422" y="261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0" name="Oval 26"/>
              <p:cNvSpPr>
                <a:spLocks noChangeArrowheads="1"/>
              </p:cNvSpPr>
              <p:nvPr/>
            </p:nvSpPr>
            <p:spPr bwMode="auto">
              <a:xfrm>
                <a:off x="4559" y="2477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1" name="Oval 27"/>
              <p:cNvSpPr>
                <a:spLocks noChangeArrowheads="1"/>
              </p:cNvSpPr>
              <p:nvPr/>
            </p:nvSpPr>
            <p:spPr bwMode="auto">
              <a:xfrm>
                <a:off x="4966" y="2114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2" name="Oval 28"/>
              <p:cNvSpPr>
                <a:spLocks noChangeArrowheads="1"/>
              </p:cNvSpPr>
              <p:nvPr/>
            </p:nvSpPr>
            <p:spPr bwMode="auto">
              <a:xfrm>
                <a:off x="4694" y="2024"/>
                <a:ext cx="27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3" name="Oval 29"/>
              <p:cNvSpPr>
                <a:spLocks noChangeArrowheads="1"/>
              </p:cNvSpPr>
              <p:nvPr/>
            </p:nvSpPr>
            <p:spPr bwMode="auto">
              <a:xfrm>
                <a:off x="4371" y="245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4" name="Oval 30"/>
              <p:cNvSpPr>
                <a:spLocks noChangeArrowheads="1"/>
              </p:cNvSpPr>
              <p:nvPr/>
            </p:nvSpPr>
            <p:spPr bwMode="auto">
              <a:xfrm>
                <a:off x="4084" y="2693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5" name="Oval 31"/>
              <p:cNvSpPr>
                <a:spLocks noChangeArrowheads="1"/>
              </p:cNvSpPr>
              <p:nvPr/>
            </p:nvSpPr>
            <p:spPr bwMode="auto">
              <a:xfrm>
                <a:off x="4150" y="2432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6" name="Oval 32"/>
              <p:cNvSpPr>
                <a:spLocks noChangeArrowheads="1"/>
              </p:cNvSpPr>
              <p:nvPr/>
            </p:nvSpPr>
            <p:spPr bwMode="auto">
              <a:xfrm>
                <a:off x="4739" y="2296"/>
                <a:ext cx="28" cy="3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517" name="Oval 33"/>
              <p:cNvSpPr>
                <a:spLocks noChangeArrowheads="1"/>
              </p:cNvSpPr>
              <p:nvPr/>
            </p:nvSpPr>
            <p:spPr bwMode="auto">
              <a:xfrm>
                <a:off x="4558" y="2250"/>
                <a:ext cx="28" cy="35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0506" name="Line 35"/>
            <p:cNvSpPr>
              <a:spLocks noChangeShapeType="1"/>
            </p:cNvSpPr>
            <p:nvPr/>
          </p:nvSpPr>
          <p:spPr bwMode="auto">
            <a:xfrm rot="20247635" flipV="1">
              <a:off x="3490664" y="3691555"/>
              <a:ext cx="1125524" cy="30397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0507" name="Rectangle 20"/>
            <p:cNvSpPr>
              <a:spLocks noChangeArrowheads="1"/>
            </p:cNvSpPr>
            <p:nvPr/>
          </p:nvSpPr>
          <p:spPr bwMode="auto">
            <a:xfrm>
              <a:off x="4687665" y="4621605"/>
              <a:ext cx="66644" cy="12042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b="1" i="1" dirty="0">
                  <a:latin typeface="Times New Roman" charset="0"/>
                </a:rPr>
                <a:t>X</a:t>
              </a:r>
              <a:endParaRPr lang="pt-BR" altLang="pt-BR" sz="1600" i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486" name="Grupo 49"/>
          <p:cNvGrpSpPr>
            <a:grpSpLocks/>
          </p:cNvGrpSpPr>
          <p:nvPr/>
        </p:nvGrpSpPr>
        <p:grpSpPr bwMode="auto">
          <a:xfrm>
            <a:off x="982663" y="3673475"/>
            <a:ext cx="2070100" cy="2039938"/>
            <a:chOff x="2350252" y="3674037"/>
            <a:chExt cx="2070841" cy="2039677"/>
          </a:xfrm>
        </p:grpSpPr>
        <p:graphicFrame>
          <p:nvGraphicFramePr>
            <p:cNvPr id="20497" name="Objeto 50"/>
            <p:cNvGraphicFramePr>
              <a:graphicFrameLocks noChangeAspect="1"/>
            </p:cNvGraphicFramePr>
            <p:nvPr/>
          </p:nvGraphicFramePr>
          <p:xfrm>
            <a:off x="4154393" y="5427964"/>
            <a:ext cx="2667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77646" imgH="190335" progId="Equation.3">
                    <p:embed/>
                  </p:oleObj>
                </mc:Choice>
                <mc:Fallback>
                  <p:oleObj name="Equação" r:id="rId2" imgW="177646" imgH="190335" progId="Equation.3">
                    <p:embed/>
                    <p:pic>
                      <p:nvPicPr>
                        <p:cNvPr id="20497" name="Objeto 5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393" y="5427964"/>
                          <a:ext cx="2667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8" name="Objeto 51"/>
            <p:cNvGraphicFramePr>
              <a:graphicFrameLocks noChangeAspect="1"/>
            </p:cNvGraphicFramePr>
            <p:nvPr/>
          </p:nvGraphicFramePr>
          <p:xfrm>
            <a:off x="2350252" y="3674037"/>
            <a:ext cx="228600" cy="285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152334" imgH="190417" progId="Equation.3">
                    <p:embed/>
                  </p:oleObj>
                </mc:Choice>
                <mc:Fallback>
                  <p:oleObj name="Equação" r:id="rId4" imgW="152334" imgH="190417" progId="Equation.3">
                    <p:embed/>
                    <p:pic>
                      <p:nvPicPr>
                        <p:cNvPr id="20498" name="Objeto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0252" y="3674037"/>
                          <a:ext cx="228600" cy="285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499" name="Conector de seta reta 52"/>
            <p:cNvCxnSpPr>
              <a:cxnSpLocks noChangeShapeType="1"/>
            </p:cNvCxnSpPr>
            <p:nvPr/>
          </p:nvCxnSpPr>
          <p:spPr bwMode="auto">
            <a:xfrm>
              <a:off x="4291670" y="3873494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0500" name="Conector de seta reta 53"/>
            <p:cNvCxnSpPr>
              <a:cxnSpLocks noChangeShapeType="1"/>
            </p:cNvCxnSpPr>
            <p:nvPr/>
          </p:nvCxnSpPr>
          <p:spPr bwMode="auto">
            <a:xfrm rot="5400000">
              <a:off x="3500364" y="3089787"/>
              <a:ext cx="0" cy="1465814"/>
            </a:xfrm>
            <a:prstGeom prst="straightConnector1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01911246"/>
              </p:ext>
            </p:extLst>
          </p:nvPr>
        </p:nvGraphicFramePr>
        <p:xfrm>
          <a:off x="5445125" y="3397895"/>
          <a:ext cx="3208338" cy="1292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133600" imgH="863600" progId="Equation.3">
                  <p:embed/>
                </p:oleObj>
              </mc:Choice>
              <mc:Fallback>
                <p:oleObj name="Equação" r:id="rId6" imgW="2133600" imgH="863600" progId="Equation.3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45125" y="3397895"/>
                        <a:ext cx="3208338" cy="1292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77554153"/>
              </p:ext>
            </p:extLst>
          </p:nvPr>
        </p:nvGraphicFramePr>
        <p:xfrm>
          <a:off x="5386388" y="2708920"/>
          <a:ext cx="1543050" cy="723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028254" imgH="482391" progId="Equation.3">
                  <p:embed/>
                </p:oleObj>
              </mc:Choice>
              <mc:Fallback>
                <p:oleObj name="Equação" r:id="rId8" imgW="1028254" imgH="482391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708920"/>
                        <a:ext cx="1543050" cy="723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489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760413" y="1657350"/>
            <a:ext cx="7772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Considerando um determinado valor de 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X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/>
              <a:t>, quais as incertezas relacionadas às estimativas de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E(</a:t>
            </a:r>
            <a:r>
              <a:rPr lang="pt-BR" altLang="pt-BR" sz="1600" i="1" dirty="0" err="1">
                <a:latin typeface="Times New Roman" charset="0"/>
                <a:cs typeface="Times New Roman" charset="0"/>
                <a:sym typeface="Symbol" pitchFamily="18" charset="2"/>
              </a:rPr>
              <a:t>Y</a:t>
            </a:r>
            <a:r>
              <a:rPr lang="pt-BR" altLang="pt-BR" sz="1600" i="1" baseline="-25000" dirty="0" err="1">
                <a:latin typeface="Times New Roman" charset="0"/>
                <a:cs typeface="Times New Roman" charset="0"/>
                <a:sym typeface="Symbol" pitchFamily="18" charset="2"/>
              </a:rPr>
              <a:t>h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)</a:t>
            </a:r>
            <a:r>
              <a:rPr lang="pt-BR" altLang="pt-BR" sz="1600" dirty="0"/>
              <a:t>?</a:t>
            </a:r>
          </a:p>
        </p:txBody>
      </p:sp>
      <p:sp>
        <p:nvSpPr>
          <p:cNvPr id="12" name="Seta para baixo 11"/>
          <p:cNvSpPr>
            <a:spLocks noChangeArrowheads="1"/>
          </p:cNvSpPr>
          <p:nvPr/>
        </p:nvSpPr>
        <p:spPr bwMode="auto">
          <a:xfrm rot="2302243">
            <a:off x="8310563" y="3215332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4806950" y="5042818"/>
            <a:ext cx="3744939" cy="906462"/>
            <a:chOff x="4806976" y="5427860"/>
            <a:chExt cx="3744912" cy="905970"/>
          </a:xfrm>
        </p:grpSpPr>
        <p:graphicFrame>
          <p:nvGraphicFramePr>
            <p:cNvPr id="20493" name="Objeto 32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757190466"/>
                </p:ext>
              </p:extLst>
            </p:nvPr>
          </p:nvGraphicFramePr>
          <p:xfrm>
            <a:off x="8162180" y="5431974"/>
            <a:ext cx="325437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215806" imgH="228501" progId="Equation.3">
                    <p:embed/>
                  </p:oleObj>
                </mc:Choice>
                <mc:Fallback>
                  <p:oleObj name="Equação" r:id="rId10" imgW="215806" imgH="228501" progId="Equation.3">
                    <p:embed/>
                    <p:pic>
                      <p:nvPicPr>
                        <p:cNvPr id="20493" name="Objeto 3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62180" y="5431974"/>
                          <a:ext cx="325437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4" name="Objeto 33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2292496837"/>
                </p:ext>
              </p:extLst>
            </p:nvPr>
          </p:nvGraphicFramePr>
          <p:xfrm>
            <a:off x="7938123" y="5934076"/>
            <a:ext cx="554038" cy="3413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2" imgW="368300" imgH="228600" progId="Equation.3">
                    <p:embed/>
                  </p:oleObj>
                </mc:Choice>
                <mc:Fallback>
                  <p:oleObj name="Equação" r:id="rId12" imgW="368300" imgH="228600" progId="Equation.3">
                    <p:embed/>
                    <p:pic>
                      <p:nvPicPr>
                        <p:cNvPr id="20494" name="Objeto 3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38123" y="5934076"/>
                          <a:ext cx="554038" cy="3413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0495" name="Objeto 34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1164077761"/>
                </p:ext>
              </p:extLst>
            </p:nvPr>
          </p:nvGraphicFramePr>
          <p:xfrm>
            <a:off x="6175031" y="5660925"/>
            <a:ext cx="266700" cy="28416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177646" imgH="190335" progId="Equation.3">
                    <p:embed/>
                  </p:oleObj>
                </mc:Choice>
                <mc:Fallback>
                  <p:oleObj name="Equação" r:id="rId14" imgW="177646" imgH="190335" progId="Equation.3">
                    <p:embed/>
                    <p:pic>
                      <p:nvPicPr>
                        <p:cNvPr id="20495" name="Objeto 3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75031" y="5660925"/>
                          <a:ext cx="266700" cy="28416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0496" name="Rectangle 252"/>
            <p:cNvSpPr>
              <a:spLocks noChangeArrowheads="1"/>
            </p:cNvSpPr>
            <p:nvPr/>
          </p:nvSpPr>
          <p:spPr bwMode="auto">
            <a:xfrm>
              <a:off x="4806976" y="5427860"/>
              <a:ext cx="3744912" cy="90597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55600" indent="-3556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</a:rPr>
                <a:t>Interpretação: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quanto mais distante estiver de    , maiores serão as incertezas nas estimativas de</a:t>
              </a:r>
            </a:p>
            <a:p>
              <a:pPr indent="0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Por isso, extrapolações para faixa de valores de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</a:rPr>
                <a:t> extremos ou não observados devem ser evitadas!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2A6FEEC-E9C8-4E0D-979A-2A31CC885952}" type="slidenum">
              <a:rPr lang="pt-BR"/>
              <a:pPr>
                <a:defRPr/>
              </a:pPr>
              <a:t>26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CaixaDeTexto 37"/>
              <p:cNvSpPr txBox="1"/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𝑏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𝑋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38" name="CaixaDeTexto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330" y="2913416"/>
                <a:ext cx="1418593" cy="34522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Agrupar 5">
            <a:extLst>
              <a:ext uri="{FF2B5EF4-FFF2-40B4-BE49-F238E27FC236}">
                <a16:creationId xmlns:a16="http://schemas.microsoft.com/office/drawing/2014/main" id="{894AA367-32D8-896D-863D-EA90C7057C5A}"/>
              </a:ext>
            </a:extLst>
          </p:cNvPr>
          <p:cNvGrpSpPr/>
          <p:nvPr/>
        </p:nvGrpSpPr>
        <p:grpSpPr>
          <a:xfrm>
            <a:off x="1642173" y="3670624"/>
            <a:ext cx="2409999" cy="418764"/>
            <a:chOff x="1642173" y="3670624"/>
            <a:chExt cx="2409999" cy="418764"/>
          </a:xfrm>
        </p:grpSpPr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792C0E82-C5F9-DAE4-50B2-4381C2D61621}"/>
                </a:ext>
              </a:extLst>
            </p:cNvPr>
            <p:cNvSpPr/>
            <p:nvPr/>
          </p:nvSpPr>
          <p:spPr bwMode="auto">
            <a:xfrm rot="19430454">
              <a:off x="1642173" y="3670624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  <p:sp>
          <p:nvSpPr>
            <p:cNvPr id="8" name="Forma Livre: Forma 7">
              <a:extLst>
                <a:ext uri="{FF2B5EF4-FFF2-40B4-BE49-F238E27FC236}">
                  <a16:creationId xmlns:a16="http://schemas.microsoft.com/office/drawing/2014/main" id="{FA20E16C-0ABB-134C-5681-C1F0C8AAABF0}"/>
                </a:ext>
              </a:extLst>
            </p:cNvPr>
            <p:cNvSpPr/>
            <p:nvPr/>
          </p:nvSpPr>
          <p:spPr bwMode="auto">
            <a:xfrm rot="8630454">
              <a:off x="1811590" y="3907436"/>
              <a:ext cx="2240582" cy="181952"/>
            </a:xfrm>
            <a:custGeom>
              <a:avLst/>
              <a:gdLst>
                <a:gd name="connsiteX0" fmla="*/ 0 w 2422713"/>
                <a:gd name="connsiteY0" fmla="*/ 34630 h 298050"/>
                <a:gd name="connsiteX1" fmla="*/ 1141486 w 2422713"/>
                <a:gd name="connsiteY1" fmla="*/ 182993 h 298050"/>
                <a:gd name="connsiteX2" fmla="*/ 2240582 w 2422713"/>
                <a:gd name="connsiteY2" fmla="*/ 1324 h 298050"/>
                <a:gd name="connsiteX3" fmla="*/ 2410140 w 2422713"/>
                <a:gd name="connsiteY3" fmla="*/ 298050 h 298050"/>
                <a:gd name="connsiteX0" fmla="*/ 0 w 2240582"/>
                <a:gd name="connsiteY0" fmla="*/ 34630 h 183276"/>
                <a:gd name="connsiteX1" fmla="*/ 1141486 w 2240582"/>
                <a:gd name="connsiteY1" fmla="*/ 182993 h 183276"/>
                <a:gd name="connsiteX2" fmla="*/ 2240582 w 2240582"/>
                <a:gd name="connsiteY2" fmla="*/ 1324 h 183276"/>
                <a:gd name="connsiteX0" fmla="*/ 0 w 2240582"/>
                <a:gd name="connsiteY0" fmla="*/ 33306 h 181952"/>
                <a:gd name="connsiteX1" fmla="*/ 1141486 w 2240582"/>
                <a:gd name="connsiteY1" fmla="*/ 181669 h 181952"/>
                <a:gd name="connsiteX2" fmla="*/ 2240582 w 2240582"/>
                <a:gd name="connsiteY2" fmla="*/ 0 h 181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240582" h="181952">
                  <a:moveTo>
                    <a:pt x="0" y="33306"/>
                  </a:moveTo>
                  <a:cubicBezTo>
                    <a:pt x="384028" y="110263"/>
                    <a:pt x="768056" y="187220"/>
                    <a:pt x="1141486" y="181669"/>
                  </a:cubicBezTo>
                  <a:cubicBezTo>
                    <a:pt x="1514916" y="176118"/>
                    <a:pt x="1850499" y="86797"/>
                    <a:pt x="2240582" y="0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Comic Sans MS" pitchFamily="66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" imgW="799753" imgH="253890" progId="Equation.3">
                    <p:embed/>
                  </p:oleObj>
                </mc:Choice>
                <mc:Fallback>
                  <p:oleObj name="Equation" r:id="rId2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oup 251"/>
          <p:cNvGrpSpPr>
            <a:grpSpLocks/>
          </p:cNvGrpSpPr>
          <p:nvPr/>
        </p:nvGrpSpPr>
        <p:grpSpPr bwMode="auto">
          <a:xfrm>
            <a:off x="1476375" y="2205038"/>
            <a:ext cx="2735263" cy="3168650"/>
            <a:chOff x="930" y="1389"/>
            <a:chExt cx="1723" cy="1996"/>
          </a:xfrm>
        </p:grpSpPr>
        <p:sp>
          <p:nvSpPr>
            <p:cNvPr id="21529" name="Oval 241"/>
            <p:cNvSpPr>
              <a:spLocks noChangeAspect="1" noChangeArrowheads="1"/>
            </p:cNvSpPr>
            <p:nvPr/>
          </p:nvSpPr>
          <p:spPr bwMode="auto">
            <a:xfrm>
              <a:off x="1791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0" name="Oval 242"/>
            <p:cNvSpPr>
              <a:spLocks noChangeAspect="1" noChangeArrowheads="1"/>
            </p:cNvSpPr>
            <p:nvPr/>
          </p:nvSpPr>
          <p:spPr bwMode="auto">
            <a:xfrm>
              <a:off x="1701" y="2432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1" name="Oval 243"/>
            <p:cNvSpPr>
              <a:spLocks noChangeAspect="1" noChangeArrowheads="1"/>
            </p:cNvSpPr>
            <p:nvPr/>
          </p:nvSpPr>
          <p:spPr bwMode="auto">
            <a:xfrm>
              <a:off x="1247" y="2568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2" name="Oval 244"/>
            <p:cNvSpPr>
              <a:spLocks noChangeAspect="1" noChangeArrowheads="1"/>
            </p:cNvSpPr>
            <p:nvPr/>
          </p:nvSpPr>
          <p:spPr bwMode="auto">
            <a:xfrm>
              <a:off x="1383" y="2830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3" name="Oval 245"/>
            <p:cNvSpPr>
              <a:spLocks noChangeAspect="1" noChangeArrowheads="1"/>
            </p:cNvSpPr>
            <p:nvPr/>
          </p:nvSpPr>
          <p:spPr bwMode="auto">
            <a:xfrm>
              <a:off x="930" y="2966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4" name="Oval 246"/>
            <p:cNvSpPr>
              <a:spLocks noChangeAspect="1" noChangeArrowheads="1"/>
            </p:cNvSpPr>
            <p:nvPr/>
          </p:nvSpPr>
          <p:spPr bwMode="auto">
            <a:xfrm>
              <a:off x="930" y="332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5" name="Oval 247"/>
            <p:cNvSpPr>
              <a:spLocks noChangeAspect="1" noChangeArrowheads="1"/>
            </p:cNvSpPr>
            <p:nvPr/>
          </p:nvSpPr>
          <p:spPr bwMode="auto">
            <a:xfrm>
              <a:off x="2179" y="1933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6" name="Oval 248"/>
            <p:cNvSpPr>
              <a:spLocks noChangeAspect="1" noChangeArrowheads="1"/>
            </p:cNvSpPr>
            <p:nvPr/>
          </p:nvSpPr>
          <p:spPr bwMode="auto">
            <a:xfrm>
              <a:off x="2406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7" name="Oval 249"/>
            <p:cNvSpPr>
              <a:spLocks noChangeAspect="1" noChangeArrowheads="1"/>
            </p:cNvSpPr>
            <p:nvPr/>
          </p:nvSpPr>
          <p:spPr bwMode="auto">
            <a:xfrm>
              <a:off x="2587" y="1389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1538" name="Oval 250"/>
            <p:cNvSpPr>
              <a:spLocks noChangeAspect="1" noChangeArrowheads="1"/>
            </p:cNvSpPr>
            <p:nvPr/>
          </p:nvSpPr>
          <p:spPr bwMode="auto">
            <a:xfrm>
              <a:off x="2134" y="1471"/>
              <a:ext cx="66" cy="56"/>
            </a:xfrm>
            <a:prstGeom prst="ellips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61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1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39"/>
          <p:cNvGrpSpPr>
            <a:grpSpLocks/>
          </p:cNvGrpSpPr>
          <p:nvPr/>
        </p:nvGrpSpPr>
        <p:grpSpPr bwMode="auto">
          <a:xfrm>
            <a:off x="3332163" y="2278063"/>
            <a:ext cx="1057275" cy="1522412"/>
            <a:chOff x="2099" y="1435"/>
            <a:chExt cx="666" cy="959"/>
          </a:xfrm>
        </p:grpSpPr>
        <p:graphicFrame>
          <p:nvGraphicFramePr>
            <p:cNvPr id="21566" name="Object 202"/>
            <p:cNvGraphicFramePr>
              <a:graphicFrameLocks noChangeAspect="1"/>
            </p:cNvGraphicFramePr>
            <p:nvPr/>
          </p:nvGraphicFramePr>
          <p:xfrm>
            <a:off x="2099" y="1435"/>
            <a:ext cx="293" cy="95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164885" imgH="215619" progId="Equation.3">
                    <p:embed/>
                  </p:oleObj>
                </mc:Choice>
                <mc:Fallback>
                  <p:oleObj name="Equação" r:id="rId2" imgW="164885" imgH="215619" progId="Equation.3">
                    <p:embed/>
                    <p:pic>
                      <p:nvPicPr>
                        <p:cNvPr id="21566" name="Object 20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99" y="1435"/>
                          <a:ext cx="293" cy="95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567" name="Object 229"/>
            <p:cNvGraphicFramePr>
              <a:graphicFrameLocks noChangeAspect="1"/>
            </p:cNvGraphicFramePr>
            <p:nvPr/>
          </p:nvGraphicFramePr>
          <p:xfrm>
            <a:off x="2357" y="1770"/>
            <a:ext cx="408" cy="26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406224" imgH="241195" progId="Equation.3">
                    <p:embed/>
                  </p:oleObj>
                </mc:Choice>
                <mc:Fallback>
                  <p:oleObj name="Equation" r:id="rId4" imgW="406224" imgH="241195" progId="Equation.3">
                    <p:embed/>
                    <p:pic>
                      <p:nvPicPr>
                        <p:cNvPr id="21567" name="Object 22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57" y="1770"/>
                          <a:ext cx="408" cy="269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230"/>
          <p:cNvGrpSpPr>
            <a:grpSpLocks/>
          </p:cNvGrpSpPr>
          <p:nvPr/>
        </p:nvGrpSpPr>
        <p:grpSpPr bwMode="auto">
          <a:xfrm>
            <a:off x="2395538" y="1628775"/>
            <a:ext cx="931862" cy="668338"/>
            <a:chOff x="1509" y="1026"/>
            <a:chExt cx="587" cy="421"/>
          </a:xfrm>
        </p:grpSpPr>
        <p:sp>
          <p:nvSpPr>
            <p:cNvPr id="21564" name="Text Box 143"/>
            <p:cNvSpPr txBox="1">
              <a:spLocks noChangeAspect="1" noChangeArrowheads="1"/>
            </p:cNvSpPr>
            <p:nvPr/>
          </p:nvSpPr>
          <p:spPr bwMode="auto">
            <a:xfrm>
              <a:off x="1509" y="1026"/>
              <a:ext cx="23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2000" i="1" dirty="0">
                  <a:latin typeface="Times New Roman" charset="0"/>
                </a:rPr>
                <a:t>Y</a:t>
              </a:r>
              <a:r>
                <a:rPr lang="pt-BR" altLang="pt-BR" sz="2000" i="1" baseline="-25000" dirty="0">
                  <a:latin typeface="Times New Roman" charset="0"/>
                </a:rPr>
                <a:t>i</a:t>
              </a:r>
              <a:endParaRPr lang="pt-BR" altLang="pt-BR" sz="2000" i="1" dirty="0">
                <a:latin typeface="Times New Roman" charset="0"/>
              </a:endParaRPr>
            </a:p>
          </p:txBody>
        </p:sp>
        <p:sp>
          <p:nvSpPr>
            <p:cNvPr id="21565" name="Line 146"/>
            <p:cNvSpPr>
              <a:spLocks noChangeAspect="1" noChangeShapeType="1"/>
            </p:cNvSpPr>
            <p:nvPr/>
          </p:nvSpPr>
          <p:spPr bwMode="auto">
            <a:xfrm>
              <a:off x="1766" y="1255"/>
              <a:ext cx="330" cy="19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231"/>
          <p:cNvGrpSpPr>
            <a:grpSpLocks/>
          </p:cNvGrpSpPr>
          <p:nvPr/>
        </p:nvGrpSpPr>
        <p:grpSpPr bwMode="auto">
          <a:xfrm>
            <a:off x="1331913" y="2060575"/>
            <a:ext cx="2222500" cy="811213"/>
            <a:chOff x="839" y="1298"/>
            <a:chExt cx="1400" cy="511"/>
          </a:xfrm>
        </p:grpSpPr>
        <p:graphicFrame>
          <p:nvGraphicFramePr>
            <p:cNvPr id="21561" name="Object 148"/>
            <p:cNvGraphicFramePr>
              <a:graphicFrameLocks noChangeAspect="1"/>
            </p:cNvGraphicFramePr>
            <p:nvPr/>
          </p:nvGraphicFramePr>
          <p:xfrm>
            <a:off x="2010" y="1483"/>
            <a:ext cx="229" cy="32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64885" imgH="215619" progId="Equation.3">
                    <p:embed/>
                  </p:oleObj>
                </mc:Choice>
                <mc:Fallback>
                  <p:oleObj name="Equação" r:id="rId6" imgW="164885" imgH="215619" progId="Equation.3">
                    <p:embed/>
                    <p:pic>
                      <p:nvPicPr>
                        <p:cNvPr id="21561" name="Object 14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10" y="1483"/>
                          <a:ext cx="229" cy="326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62" name="Line 163"/>
            <p:cNvSpPr>
              <a:spLocks noChangeAspect="1" noChangeShapeType="1"/>
            </p:cNvSpPr>
            <p:nvPr/>
          </p:nvSpPr>
          <p:spPr bwMode="auto">
            <a:xfrm rot="809128">
              <a:off x="1259" y="1533"/>
              <a:ext cx="75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3" name="Object 224"/>
            <p:cNvGraphicFramePr>
              <a:graphicFrameLocks noChangeAspect="1"/>
            </p:cNvGraphicFramePr>
            <p:nvPr/>
          </p:nvGraphicFramePr>
          <p:xfrm>
            <a:off x="839" y="1298"/>
            <a:ext cx="394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393529" imgH="253890" progId="Equation.3">
                    <p:embed/>
                  </p:oleObj>
                </mc:Choice>
                <mc:Fallback>
                  <p:oleObj name="Equation" r:id="rId8" imgW="393529" imgH="253890" progId="Equation.3">
                    <p:embed/>
                    <p:pic>
                      <p:nvPicPr>
                        <p:cNvPr id="21563" name="Object 22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9" y="1298"/>
                          <a:ext cx="394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5" name="Group 234"/>
          <p:cNvGrpSpPr>
            <a:grpSpLocks/>
          </p:cNvGrpSpPr>
          <p:nvPr/>
        </p:nvGrpSpPr>
        <p:grpSpPr bwMode="auto">
          <a:xfrm>
            <a:off x="1268413" y="2854325"/>
            <a:ext cx="2279650" cy="892175"/>
            <a:chOff x="799" y="1798"/>
            <a:chExt cx="1436" cy="562"/>
          </a:xfrm>
        </p:grpSpPr>
        <p:graphicFrame>
          <p:nvGraphicFramePr>
            <p:cNvPr id="21558" name="Object 210"/>
            <p:cNvGraphicFramePr>
              <a:graphicFrameLocks noChangeAspect="1"/>
            </p:cNvGraphicFramePr>
            <p:nvPr/>
          </p:nvGraphicFramePr>
          <p:xfrm>
            <a:off x="2006" y="1798"/>
            <a:ext cx="229" cy="56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164885" imgH="215619" progId="Equation.3">
                    <p:embed/>
                  </p:oleObj>
                </mc:Choice>
                <mc:Fallback>
                  <p:oleObj name="Equação" r:id="rId10" imgW="164885" imgH="215619" progId="Equation.3">
                    <p:embed/>
                    <p:pic>
                      <p:nvPicPr>
                        <p:cNvPr id="21558" name="Object 2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006" y="1798"/>
                          <a:ext cx="229" cy="56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1559" name="Line 218"/>
            <p:cNvSpPr>
              <a:spLocks noChangeAspect="1" noChangeShapeType="1"/>
            </p:cNvSpPr>
            <p:nvPr/>
          </p:nvSpPr>
          <p:spPr bwMode="auto">
            <a:xfrm flipV="1">
              <a:off x="1218" y="2069"/>
              <a:ext cx="79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60" name="Object 225"/>
            <p:cNvGraphicFramePr>
              <a:graphicFrameLocks noChangeAspect="1"/>
            </p:cNvGraphicFramePr>
            <p:nvPr/>
          </p:nvGraphicFramePr>
          <p:xfrm>
            <a:off x="799" y="1933"/>
            <a:ext cx="407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406048" imgH="253780" progId="Equation.3">
                    <p:embed/>
                  </p:oleObj>
                </mc:Choice>
                <mc:Fallback>
                  <p:oleObj name="Equation" r:id="rId11" imgW="406048" imgH="253780" progId="Equation.3">
                    <p:embed/>
                    <p:pic>
                      <p:nvPicPr>
                        <p:cNvPr id="21560" name="Object 22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99" y="1933"/>
                          <a:ext cx="407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6" name="Group 233"/>
          <p:cNvGrpSpPr>
            <a:grpSpLocks/>
          </p:cNvGrpSpPr>
          <p:nvPr/>
        </p:nvGrpSpPr>
        <p:grpSpPr bwMode="auto">
          <a:xfrm>
            <a:off x="1379538" y="2636838"/>
            <a:ext cx="1846262" cy="447675"/>
            <a:chOff x="869" y="1661"/>
            <a:chExt cx="1163" cy="282"/>
          </a:xfrm>
        </p:grpSpPr>
        <p:sp>
          <p:nvSpPr>
            <p:cNvPr id="21556" name="Line 162"/>
            <p:cNvSpPr>
              <a:spLocks noChangeAspect="1" noChangeShapeType="1"/>
            </p:cNvSpPr>
            <p:nvPr/>
          </p:nvSpPr>
          <p:spPr bwMode="auto">
            <a:xfrm>
              <a:off x="1053" y="1802"/>
              <a:ext cx="979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57" name="Object 226"/>
            <p:cNvGraphicFramePr>
              <a:graphicFrameLocks noChangeAspect="1"/>
            </p:cNvGraphicFramePr>
            <p:nvPr/>
          </p:nvGraphicFramePr>
          <p:xfrm>
            <a:off x="869" y="1661"/>
            <a:ext cx="153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52268" imgH="253780" progId="Equation.3">
                    <p:embed/>
                  </p:oleObj>
                </mc:Choice>
                <mc:Fallback>
                  <p:oleObj name="Equation" r:id="rId13" imgW="152268" imgH="253780" progId="Equation.3">
                    <p:embed/>
                    <p:pic>
                      <p:nvPicPr>
                        <p:cNvPr id="21557" name="Object 22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9" y="1661"/>
                          <a:ext cx="153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 err="1"/>
              <a:t>Particionamento</a:t>
            </a:r>
            <a:r>
              <a:rPr lang="pt-BR" dirty="0"/>
              <a:t> do Erro</a:t>
            </a:r>
          </a:p>
        </p:txBody>
      </p:sp>
      <p:sp>
        <p:nvSpPr>
          <p:cNvPr id="21512" name="Rectangle 118"/>
          <p:cNvSpPr>
            <a:spLocks noChangeAspect="1" noChangeArrowheads="1"/>
          </p:cNvSpPr>
          <p:nvPr/>
        </p:nvSpPr>
        <p:spPr bwMode="auto">
          <a:xfrm>
            <a:off x="869950" y="1657350"/>
            <a:ext cx="3479800" cy="41449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6" name="Line 120"/>
          <p:cNvSpPr>
            <a:spLocks noChangeAspect="1" noChangeShapeType="1"/>
          </p:cNvSpPr>
          <p:nvPr/>
        </p:nvSpPr>
        <p:spPr bwMode="auto">
          <a:xfrm flipH="1">
            <a:off x="3424238" y="2335213"/>
            <a:ext cx="23812" cy="3470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1514" name="Line 121"/>
          <p:cNvSpPr>
            <a:spLocks noChangeAspect="1" noChangeShapeType="1"/>
          </p:cNvSpPr>
          <p:nvPr/>
        </p:nvSpPr>
        <p:spPr bwMode="auto">
          <a:xfrm flipV="1">
            <a:off x="1060450" y="1851025"/>
            <a:ext cx="3284538" cy="366395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24698" name="Rectangle 122"/>
          <p:cNvSpPr>
            <a:spLocks noChangeAspect="1" noChangeArrowheads="1"/>
          </p:cNvSpPr>
          <p:nvPr/>
        </p:nvSpPr>
        <p:spPr bwMode="auto">
          <a:xfrm>
            <a:off x="3371850" y="2790825"/>
            <a:ext cx="160338" cy="100013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4699" name="Oval 123"/>
          <p:cNvSpPr>
            <a:spLocks noChangeAspect="1" noChangeArrowheads="1"/>
          </p:cNvSpPr>
          <p:nvPr/>
        </p:nvSpPr>
        <p:spPr bwMode="auto">
          <a:xfrm>
            <a:off x="3397250" y="2332038"/>
            <a:ext cx="104775" cy="88900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1517" name="Group 124"/>
          <p:cNvGrpSpPr>
            <a:grpSpLocks/>
          </p:cNvGrpSpPr>
          <p:nvPr/>
        </p:nvGrpSpPr>
        <p:grpSpPr bwMode="auto">
          <a:xfrm>
            <a:off x="784225" y="5722938"/>
            <a:ext cx="3498850" cy="369887"/>
            <a:chOff x="3407" y="3786"/>
            <a:chExt cx="2204" cy="233"/>
          </a:xfrm>
        </p:grpSpPr>
        <p:sp>
          <p:nvSpPr>
            <p:cNvPr id="21543" name="Line 125"/>
            <p:cNvSpPr>
              <a:spLocks noChangeAspect="1" noChangeShapeType="1"/>
            </p:cNvSpPr>
            <p:nvPr/>
          </p:nvSpPr>
          <p:spPr bwMode="auto">
            <a:xfrm>
              <a:off x="3748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4" name="Line 126"/>
            <p:cNvSpPr>
              <a:spLocks noChangeAspect="1" noChangeShapeType="1"/>
            </p:cNvSpPr>
            <p:nvPr/>
          </p:nvSpPr>
          <p:spPr bwMode="auto">
            <a:xfrm>
              <a:off x="4313" y="3790"/>
              <a:ext cx="0" cy="4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5" name="Line 127"/>
            <p:cNvSpPr>
              <a:spLocks noChangeAspect="1" noChangeShapeType="1"/>
            </p:cNvSpPr>
            <p:nvPr/>
          </p:nvSpPr>
          <p:spPr bwMode="auto">
            <a:xfrm>
              <a:off x="459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6" name="Line 128"/>
            <p:cNvSpPr>
              <a:spLocks noChangeAspect="1" noChangeShapeType="1"/>
            </p:cNvSpPr>
            <p:nvPr/>
          </p:nvSpPr>
          <p:spPr bwMode="auto">
            <a:xfrm>
              <a:off x="4017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7" name="Line 129"/>
            <p:cNvSpPr>
              <a:spLocks noChangeAspect="1" noChangeShapeType="1"/>
            </p:cNvSpPr>
            <p:nvPr/>
          </p:nvSpPr>
          <p:spPr bwMode="auto">
            <a:xfrm>
              <a:off x="4851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8" name="Line 130"/>
            <p:cNvSpPr>
              <a:spLocks noChangeAspect="1" noChangeShapeType="1"/>
            </p:cNvSpPr>
            <p:nvPr/>
          </p:nvSpPr>
          <p:spPr bwMode="auto">
            <a:xfrm>
              <a:off x="5138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49" name="Line 131"/>
            <p:cNvSpPr>
              <a:spLocks noChangeAspect="1" noChangeShapeType="1"/>
            </p:cNvSpPr>
            <p:nvPr/>
          </p:nvSpPr>
          <p:spPr bwMode="auto">
            <a:xfrm>
              <a:off x="5433" y="3786"/>
              <a:ext cx="0" cy="4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1550" name="Rectangle 132"/>
            <p:cNvSpPr>
              <a:spLocks noChangeAspect="1" noChangeArrowheads="1"/>
            </p:cNvSpPr>
            <p:nvPr/>
          </p:nvSpPr>
          <p:spPr bwMode="auto">
            <a:xfrm>
              <a:off x="3589" y="3804"/>
              <a:ext cx="69" cy="75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bg1"/>
              </a:solidFill>
              <a:miter lim="800000"/>
              <a:headEnd/>
              <a:tailEnd/>
            </a:ln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pSp>
          <p:nvGrpSpPr>
            <p:cNvPr id="21551" name="Group 133"/>
            <p:cNvGrpSpPr>
              <a:grpSpLocks noChangeAspect="1"/>
            </p:cNvGrpSpPr>
            <p:nvPr/>
          </p:nvGrpSpPr>
          <p:grpSpPr bwMode="auto">
            <a:xfrm>
              <a:off x="3581" y="3804"/>
              <a:ext cx="79" cy="48"/>
              <a:chOff x="579" y="2508"/>
              <a:chExt cx="54" cy="30"/>
            </a:xfrm>
          </p:grpSpPr>
          <p:sp>
            <p:nvSpPr>
              <p:cNvPr id="21553" name="Line 134"/>
              <p:cNvSpPr>
                <a:spLocks noChangeAspect="1" noChangeShapeType="1"/>
              </p:cNvSpPr>
              <p:nvPr/>
            </p:nvSpPr>
            <p:spPr bwMode="auto">
              <a:xfrm>
                <a:off x="609" y="2508"/>
                <a:ext cx="0" cy="3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4" name="Line 135"/>
              <p:cNvSpPr>
                <a:spLocks noChangeAspect="1" noChangeShapeType="1"/>
              </p:cNvSpPr>
              <p:nvPr/>
            </p:nvSpPr>
            <p:spPr bwMode="auto">
              <a:xfrm flipH="1">
                <a:off x="609" y="2517"/>
                <a:ext cx="24" cy="1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555" name="Line 136"/>
              <p:cNvSpPr>
                <a:spLocks noChangeAspect="1" noChangeShapeType="1"/>
              </p:cNvSpPr>
              <p:nvPr/>
            </p:nvSpPr>
            <p:spPr bwMode="auto">
              <a:xfrm flipH="1">
                <a:off x="579" y="2511"/>
                <a:ext cx="24" cy="2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1552" name="Text Box 137"/>
            <p:cNvSpPr txBox="1">
              <a:spLocks noChangeAspect="1" noChangeArrowheads="1"/>
            </p:cNvSpPr>
            <p:nvPr/>
          </p:nvSpPr>
          <p:spPr bwMode="auto">
            <a:xfrm>
              <a:off x="3407" y="3788"/>
              <a:ext cx="2204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</a:rPr>
                <a:t>0     20           40           60            80 </a:t>
              </a:r>
            </a:p>
          </p:txBody>
        </p:sp>
      </p:grpSp>
      <p:sp>
        <p:nvSpPr>
          <p:cNvPr id="21518" name="Text Box 141"/>
          <p:cNvSpPr txBox="1">
            <a:spLocks noChangeAspect="1" noChangeArrowheads="1"/>
          </p:cNvSpPr>
          <p:nvPr/>
        </p:nvSpPr>
        <p:spPr bwMode="auto">
          <a:xfrm>
            <a:off x="4211638" y="5949950"/>
            <a:ext cx="339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X</a:t>
            </a:r>
          </a:p>
        </p:txBody>
      </p:sp>
      <p:sp>
        <p:nvSpPr>
          <p:cNvPr id="21519" name="Text Box 142"/>
          <p:cNvSpPr txBox="1">
            <a:spLocks noChangeAspect="1" noChangeArrowheads="1"/>
          </p:cNvSpPr>
          <p:nvPr/>
        </p:nvSpPr>
        <p:spPr bwMode="auto">
          <a:xfrm>
            <a:off x="473075" y="1460500"/>
            <a:ext cx="325438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Y</a:t>
            </a:r>
          </a:p>
        </p:txBody>
      </p:sp>
      <p:sp>
        <p:nvSpPr>
          <p:cNvPr id="24796" name="Rectangle 220"/>
          <p:cNvSpPr>
            <a:spLocks noChangeArrowheads="1"/>
          </p:cNvSpPr>
          <p:nvPr/>
        </p:nvSpPr>
        <p:spPr bwMode="auto">
          <a:xfrm>
            <a:off x="4932040" y="5394702"/>
            <a:ext cx="304711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SQTO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=       </a:t>
            </a:r>
            <a:r>
              <a:rPr lang="pt-BR" altLang="pt-BR" sz="1600" i="1" dirty="0" err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     +     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</a:p>
        </p:txBody>
      </p:sp>
      <p:grpSp>
        <p:nvGrpSpPr>
          <p:cNvPr id="21524" name="Group 240"/>
          <p:cNvGrpSpPr>
            <a:grpSpLocks/>
          </p:cNvGrpSpPr>
          <p:nvPr/>
        </p:nvGrpSpPr>
        <p:grpSpPr bwMode="auto">
          <a:xfrm>
            <a:off x="1476375" y="5141913"/>
            <a:ext cx="1797050" cy="447675"/>
            <a:chOff x="930" y="3239"/>
            <a:chExt cx="1132" cy="282"/>
          </a:xfrm>
        </p:grpSpPr>
        <p:sp>
          <p:nvSpPr>
            <p:cNvPr id="21541" name="Line 139"/>
            <p:cNvSpPr>
              <a:spLocks noChangeAspect="1" noChangeShapeType="1"/>
            </p:cNvSpPr>
            <p:nvPr/>
          </p:nvSpPr>
          <p:spPr bwMode="auto">
            <a:xfrm flipH="1" flipV="1">
              <a:off x="930" y="3268"/>
              <a:ext cx="302" cy="10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2" name="Object 223"/>
            <p:cNvGraphicFramePr>
              <a:graphicFrameLocks noChangeAspect="1"/>
            </p:cNvGraphicFramePr>
            <p:nvPr/>
          </p:nvGraphicFramePr>
          <p:xfrm>
            <a:off x="1260" y="3239"/>
            <a:ext cx="802" cy="28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799753" imgH="253890" progId="Equation.3">
                    <p:embed/>
                  </p:oleObj>
                </mc:Choice>
                <mc:Fallback>
                  <p:oleObj name="Equation" r:id="rId15" imgW="799753" imgH="253890" progId="Equation.3">
                    <p:embed/>
                    <p:pic>
                      <p:nvPicPr>
                        <p:cNvPr id="21542" name="Object 22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60" y="3239"/>
                          <a:ext cx="802" cy="28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0" name="Group 238"/>
          <p:cNvGrpSpPr>
            <a:grpSpLocks/>
          </p:cNvGrpSpPr>
          <p:nvPr/>
        </p:nvGrpSpPr>
        <p:grpSpPr bwMode="auto">
          <a:xfrm>
            <a:off x="582613" y="3516313"/>
            <a:ext cx="3784600" cy="336550"/>
            <a:chOff x="367" y="2215"/>
            <a:chExt cx="2384" cy="212"/>
          </a:xfrm>
        </p:grpSpPr>
        <p:sp>
          <p:nvSpPr>
            <p:cNvPr id="21539" name="Line 119"/>
            <p:cNvSpPr>
              <a:spLocks noChangeAspect="1" noChangeShapeType="1"/>
            </p:cNvSpPr>
            <p:nvPr/>
          </p:nvSpPr>
          <p:spPr bwMode="auto">
            <a:xfrm>
              <a:off x="548" y="2335"/>
              <a:ext cx="2203" cy="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21540" name="Object 228"/>
            <p:cNvGraphicFramePr>
              <a:graphicFrameLocks noChangeAspect="1"/>
            </p:cNvGraphicFramePr>
            <p:nvPr/>
          </p:nvGraphicFramePr>
          <p:xfrm>
            <a:off x="367" y="2215"/>
            <a:ext cx="153" cy="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152334" imgH="190417" progId="Equation.3">
                    <p:embed/>
                  </p:oleObj>
                </mc:Choice>
                <mc:Fallback>
                  <p:oleObj name="Equation" r:id="rId17" imgW="152334" imgH="190417" progId="Equation.3">
                    <p:embed/>
                    <p:pic>
                      <p:nvPicPr>
                        <p:cNvPr id="21540" name="Object 22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67" y="2215"/>
                          <a:ext cx="153" cy="2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28</a:t>
            </a:fld>
            <a:endParaRPr lang="pt-BR"/>
          </a:p>
        </p:txBody>
      </p:sp>
      <p:grpSp>
        <p:nvGrpSpPr>
          <p:cNvPr id="12" name="Grupo 11"/>
          <p:cNvGrpSpPr/>
          <p:nvPr/>
        </p:nvGrpSpPr>
        <p:grpSpPr>
          <a:xfrm>
            <a:off x="4427984" y="3553024"/>
            <a:ext cx="4355312" cy="452040"/>
            <a:chOff x="4427984" y="3553024"/>
            <a:chExt cx="4355312" cy="452040"/>
          </a:xfrm>
        </p:grpSpPr>
        <p:sp>
          <p:nvSpPr>
            <p:cNvPr id="62" name="Rectangle 9"/>
            <p:cNvSpPr txBox="1">
              <a:spLocks noChangeArrowheads="1"/>
            </p:cNvSpPr>
            <p:nvPr/>
          </p:nvSpPr>
          <p:spPr bwMode="auto">
            <a:xfrm>
              <a:off x="4750848" y="3553024"/>
              <a:ext cx="4032448" cy="4520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77800" indent="-177800"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Caso não existisse relação entre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charset="0"/>
                  <a:cs typeface="Times New Roman" charset="0"/>
                </a:rPr>
                <a:t>Y</a:t>
              </a:r>
            </a:p>
          </p:txBody>
        </p:sp>
        <p:cxnSp>
          <p:nvCxnSpPr>
            <p:cNvPr id="9" name="Conector de seta reta 8"/>
            <p:cNvCxnSpPr/>
            <p:nvPr/>
          </p:nvCxnSpPr>
          <p:spPr bwMode="auto">
            <a:xfrm flipH="1">
              <a:off x="4427984" y="3710296"/>
              <a:ext cx="36000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/>
              <p:cNvSpPr txBox="1"/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 smtClean="0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352" y="4077072"/>
                <a:ext cx="2699137" cy="370294"/>
              </a:xfrm>
              <a:prstGeom prst="rect">
                <a:avLst/>
              </a:prstGeom>
              <a:blipFill>
                <a:blip r:embed="rId19"/>
                <a:stretch>
                  <a:fillRect r="-203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7" name="CaixaDeTexto 66"/>
              <p:cNvSpPr txBox="1"/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i="1">
                              <a:latin typeface="Cambria Math"/>
                            </a:rPr>
                            <m:t>−</m:t>
                          </m:r>
                          <m:acc>
                            <m:accPr>
                              <m:chr m:val="̅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𝑌</m:t>
                              </m:r>
                            </m:e>
                          </m:acc>
                          <m:r>
                            <a:rPr lang="pt-BR" i="1">
                              <a:latin typeface="Cambria Math"/>
                            </a:rPr>
                            <m:t>)</m:t>
                          </m:r>
                          <m:r>
                            <a:rPr lang="pt-BR" i="1" baseline="3000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−</m:t>
                              </m:r>
                              <m:acc>
                                <m:accPr>
                                  <m:chr m:val="̅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</m:acc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/>
                            </a:rPr>
                            <m:t>𝑖</m:t>
                          </m:r>
                          <m:r>
                            <a:rPr lang="pt-BR" i="1">
                              <a:latin typeface="Cambria Math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𝑛</m:t>
                          </m:r>
                        </m:sup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𝑌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</a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𝑌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pt-BR" b="0" i="1" baseline="30000" smtClean="0">
                              <a:latin typeface="Cambria Math"/>
                            </a:rPr>
                            <m:t>2</m:t>
                          </m:r>
                        </m:e>
                      </m:nary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67" name="CaixaDeTexto 6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523900"/>
                <a:ext cx="3819892" cy="764505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5" name="Rectangle 9"/>
          <p:cNvSpPr txBox="1">
            <a:spLocks noChangeArrowheads="1"/>
          </p:cNvSpPr>
          <p:nvPr/>
        </p:nvSpPr>
        <p:spPr bwMode="auto">
          <a:xfrm>
            <a:off x="4716016" y="1529557"/>
            <a:ext cx="4032448" cy="9040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Assim como na Análise de Variância, na Análise de Regressão podemos analisar o erro (ou resíduo) sob diferentes aspectos...</a:t>
            </a:r>
          </a:p>
        </p:txBody>
      </p:sp>
      <p:sp>
        <p:nvSpPr>
          <p:cNvPr id="56" name="Text Box 143"/>
          <p:cNvSpPr txBox="1">
            <a:spLocks noChangeAspect="1" noChangeArrowheads="1"/>
          </p:cNvSpPr>
          <p:nvPr/>
        </p:nvSpPr>
        <p:spPr bwMode="auto">
          <a:xfrm>
            <a:off x="3235016" y="5786769"/>
            <a:ext cx="38985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pt-BR" altLang="pt-BR" sz="2000" i="1" dirty="0">
                <a:latin typeface="Times New Roman" charset="0"/>
              </a:rPr>
              <a:t>X</a:t>
            </a:r>
            <a:r>
              <a:rPr lang="pt-BR" altLang="pt-BR" sz="2000" i="1" baseline="-25000" dirty="0">
                <a:latin typeface="Times New Roman" charset="0"/>
              </a:rPr>
              <a:t>i</a:t>
            </a:r>
            <a:endParaRPr lang="pt-BR" altLang="pt-BR" sz="2000" i="1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3453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696" grpId="0" animBg="1"/>
      <p:bldP spid="24698" grpId="0" animBg="1"/>
      <p:bldP spid="24796" grpId="0"/>
      <p:bldP spid="8" grpId="0"/>
      <p:bldP spid="67" grpId="0"/>
      <p:bldP spid="5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783634"/>
              </p:ext>
            </p:extLst>
          </p:nvPr>
        </p:nvGraphicFramePr>
        <p:xfrm>
          <a:off x="5386388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86388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3797788"/>
              </p:ext>
            </p:extLst>
          </p:nvPr>
        </p:nvGraphicFramePr>
        <p:xfrm>
          <a:off x="5364163" y="2139950"/>
          <a:ext cx="2839356" cy="56113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2184120" imgH="431640" progId="Equation.DSMT4">
                  <p:embed/>
                </p:oleObj>
              </mc:Choice>
              <mc:Fallback>
                <p:oleObj name="Equation" r:id="rId4" imgW="2184120" imgH="43164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64163" y="2139950"/>
                        <a:ext cx="2839356" cy="56113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2660347"/>
              </p:ext>
            </p:extLst>
          </p:nvPr>
        </p:nvGraphicFramePr>
        <p:xfrm>
          <a:off x="2459038" y="4386585"/>
          <a:ext cx="2251075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270000" imgH="419100" progId="Equation.3">
                  <p:embed/>
                </p:oleObj>
              </mc:Choice>
              <mc:Fallback>
                <p:oleObj name="Equação" r:id="rId6" imgW="1270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59038" y="4386585"/>
                        <a:ext cx="2251075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3558" name="Group 110"/>
          <p:cNvGrpSpPr>
            <a:grpSpLocks/>
          </p:cNvGrpSpPr>
          <p:nvPr/>
        </p:nvGrpSpPr>
        <p:grpSpPr bwMode="auto">
          <a:xfrm>
            <a:off x="304801" y="1431925"/>
            <a:ext cx="5075238" cy="2622550"/>
            <a:chOff x="571" y="1378"/>
            <a:chExt cx="3197" cy="1652"/>
          </a:xfrm>
        </p:grpSpPr>
        <p:graphicFrame>
          <p:nvGraphicFramePr>
            <p:cNvPr id="23584" name="Object 1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27498543"/>
                </p:ext>
              </p:extLst>
            </p:nvPr>
          </p:nvGraphicFramePr>
          <p:xfrm>
            <a:off x="571" y="1378"/>
            <a:ext cx="3197" cy="165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ocument" r:id="rId8" imgW="5677264" imgH="2927625" progId="Word.Document.8">
                    <p:embed/>
                  </p:oleObj>
                </mc:Choice>
                <mc:Fallback>
                  <p:oleObj name="Document" r:id="rId8" imgW="5677264" imgH="2927625" progId="Word.Document.8">
                    <p:embed/>
                    <p:pic>
                      <p:nvPicPr>
                        <p:cNvPr id="23584" name="Object 1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" y="1378"/>
                          <a:ext cx="3197" cy="165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5" name="Object 112"/>
            <p:cNvGraphicFramePr>
              <a:graphicFrameLocks/>
            </p:cNvGraphicFramePr>
            <p:nvPr/>
          </p:nvGraphicFramePr>
          <p:xfrm>
            <a:off x="1413" y="1806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736600" imgH="431800" progId="Equation.3">
                    <p:embed/>
                  </p:oleObj>
                </mc:Choice>
                <mc:Fallback>
                  <p:oleObj name="Equação" r:id="rId10" imgW="736600" imgH="431800" progId="Equation.3">
                    <p:embed/>
                    <p:pic>
                      <p:nvPicPr>
                        <p:cNvPr id="23585" name="Object 11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1806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6" name="Object 113"/>
            <p:cNvGraphicFramePr>
              <a:graphicFrameLocks/>
            </p:cNvGraphicFramePr>
            <p:nvPr/>
          </p:nvGraphicFramePr>
          <p:xfrm>
            <a:off x="1388" y="2214"/>
            <a:ext cx="630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749160" imgH="431640" progId="Equation.DSMT4">
                    <p:embed/>
                  </p:oleObj>
                </mc:Choice>
                <mc:Fallback>
                  <p:oleObj name="Equation" r:id="rId12" imgW="749160" imgH="431640" progId="Equation.DSMT4">
                    <p:embed/>
                    <p:pic>
                      <p:nvPicPr>
                        <p:cNvPr id="23586" name="Object 113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88" y="2214"/>
                          <a:ext cx="630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7" name="Object 114"/>
            <p:cNvGraphicFramePr>
              <a:graphicFrameLocks/>
            </p:cNvGraphicFramePr>
            <p:nvPr/>
          </p:nvGraphicFramePr>
          <p:xfrm>
            <a:off x="1413" y="257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736600" imgH="431800" progId="Equation.3">
                    <p:embed/>
                  </p:oleObj>
                </mc:Choice>
                <mc:Fallback>
                  <p:oleObj name="Equação" r:id="rId14" imgW="736600" imgH="431800" progId="Equation.3">
                    <p:embed/>
                    <p:pic>
                      <p:nvPicPr>
                        <p:cNvPr id="23587" name="Object 1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413" y="257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8" name="Object 115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749800133"/>
                </p:ext>
              </p:extLst>
            </p:nvPr>
          </p:nvGraphicFramePr>
          <p:xfrm>
            <a:off x="2890" y="1797"/>
            <a:ext cx="605" cy="3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6" imgW="736600" imgH="431800" progId="Equation.3">
                    <p:embed/>
                  </p:oleObj>
                </mc:Choice>
                <mc:Fallback>
                  <p:oleObj name="Equação" r:id="rId16" imgW="736600" imgH="431800" progId="Equation.3">
                    <p:embed/>
                    <p:pic>
                      <p:nvPicPr>
                        <p:cNvPr id="23588" name="Object 11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0" y="1797"/>
                          <a:ext cx="605" cy="35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3589" name="Object 116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954239629"/>
                </p:ext>
              </p:extLst>
            </p:nvPr>
          </p:nvGraphicFramePr>
          <p:xfrm>
            <a:off x="2895" y="2160"/>
            <a:ext cx="636" cy="50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774360" imgH="609480" progId="Equation.DSMT4">
                    <p:embed/>
                  </p:oleObj>
                </mc:Choice>
                <mc:Fallback>
                  <p:oleObj name="Equation" r:id="rId17" imgW="774360" imgH="609480" progId="Equation.DSMT4">
                    <p:embed/>
                    <p:pic>
                      <p:nvPicPr>
                        <p:cNvPr id="23589" name="Object 116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895" y="2160"/>
                          <a:ext cx="636" cy="501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2397125" y="3953198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179512" y="4869160"/>
            <a:ext cx="5715000" cy="917575"/>
            <a:chOff x="714348" y="5940449"/>
            <a:chExt cx="5715000" cy="917575"/>
          </a:xfrm>
        </p:grpSpPr>
        <p:sp>
          <p:nvSpPr>
            <p:cNvPr id="2358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2358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5983288" y="4353619"/>
            <a:ext cx="1735137" cy="1309688"/>
            <a:chOff x="4160" y="3377"/>
            <a:chExt cx="1093" cy="825"/>
          </a:xfrm>
        </p:grpSpPr>
        <p:grpSp>
          <p:nvGrpSpPr>
            <p:cNvPr id="2357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2357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2358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358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2357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266584" imgH="228501" progId="Equation.DSMT4">
                      <p:embed/>
                    </p:oleObj>
                  </mc:Choice>
                  <mc:Fallback>
                    <p:oleObj name="Equation" r:id="rId19" imgW="266584" imgH="228501" progId="Equation.DSMT4">
                      <p:embed/>
                      <p:pic>
                        <p:nvPicPr>
                          <p:cNvPr id="2357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2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2357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2357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357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2357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7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5822950" y="3717032"/>
            <a:ext cx="2159000" cy="1557337"/>
            <a:chOff x="5822950" y="4097338"/>
            <a:chExt cx="2159000" cy="1557337"/>
          </a:xfrm>
        </p:grpSpPr>
        <p:graphicFrame>
          <p:nvGraphicFramePr>
            <p:cNvPr id="23565" name="Objeto 40"/>
            <p:cNvGraphicFramePr>
              <a:graphicFrameLocks/>
            </p:cNvGraphicFramePr>
            <p:nvPr/>
          </p:nvGraphicFramePr>
          <p:xfrm>
            <a:off x="6780212" y="4265703"/>
            <a:ext cx="608013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1" imgW="342751" imgH="241195" progId="Equation.3">
                    <p:embed/>
                  </p:oleObj>
                </mc:Choice>
                <mc:Fallback>
                  <p:oleObj name="Equação" r:id="rId21" imgW="342751" imgH="241195" progId="Equation.3">
                    <p:embed/>
                    <p:pic>
                      <p:nvPicPr>
                        <p:cNvPr id="2356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780212" y="4265703"/>
                          <a:ext cx="608013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2356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2356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56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2357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BEEAC7-77DE-4F83-BD2C-6FF2F4CC0A7F}" type="slidenum">
              <a:rPr lang="pt-BR"/>
              <a:pPr>
                <a:defRPr/>
              </a:pPr>
              <a:t>29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Retângulo 40"/>
              <p:cNvSpPr>
                <a:spLocks noChangeArrowheads="1"/>
              </p:cNvSpPr>
              <p:nvPr/>
            </p:nvSpPr>
            <p:spPr bwMode="auto">
              <a:xfrm>
                <a:off x="179512" y="5798195"/>
                <a:ext cx="8764910" cy="58477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marL="534988" indent="-534988" eaLnBrk="1" hangingPunct="1">
                  <a:spcBef>
                    <a:spcPct val="0"/>
                  </a:spcBef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Se </a:t>
                </a:r>
                <a:r>
                  <a:rPr lang="pt-BR" altLang="pt-BR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altLang="pt-BR" sz="16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for aceita, então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600" i="1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e, portanto, não há relação entre as variáveis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(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podem ser consideradas independentes).</a:t>
                </a:r>
              </a:p>
            </p:txBody>
          </p:sp>
        </mc:Choice>
        <mc:Fallback xmlns="">
          <p:sp>
            <p:nvSpPr>
              <p:cNvPr id="41" name="Retângulo 4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79512" y="5798195"/>
                <a:ext cx="8764910" cy="584775"/>
              </a:xfrm>
              <a:prstGeom prst="rect">
                <a:avLst/>
              </a:prstGeom>
              <a:blipFill>
                <a:blip r:embed="rId23"/>
                <a:stretch>
                  <a:fillRect l="-348" t="-4167" b="-12500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upo 4"/>
          <p:cNvGrpSpPr/>
          <p:nvPr/>
        </p:nvGrpSpPr>
        <p:grpSpPr>
          <a:xfrm>
            <a:off x="6660232" y="2678455"/>
            <a:ext cx="2261011" cy="1110585"/>
            <a:chOff x="6660232" y="2553603"/>
            <a:chExt cx="2261011" cy="1110585"/>
          </a:xfrm>
        </p:grpSpPr>
        <p:sp>
          <p:nvSpPr>
            <p:cNvPr id="42" name="Seta para baixo 41"/>
            <p:cNvSpPr>
              <a:spLocks noChangeArrowheads="1"/>
            </p:cNvSpPr>
            <p:nvPr/>
          </p:nvSpPr>
          <p:spPr bwMode="auto">
            <a:xfrm rot="9251051">
              <a:off x="7414415" y="2553603"/>
              <a:ext cx="360362" cy="569913"/>
            </a:xfrm>
            <a:prstGeom prst="downArrow">
              <a:avLst>
                <a:gd name="adj1" fmla="val 50000"/>
                <a:gd name="adj2" fmla="val 49978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Retângulo 42"/>
                <p:cNvSpPr>
                  <a:spLocks noChangeArrowheads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400" dirty="0">
                      <a:latin typeface="Tahoma" panose="020B0604030504040204" pitchFamily="34" charset="0"/>
                    </a:rPr>
                    <a:t>estimador tendencioso, exceto se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400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40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400" b="0" i="1" smtClean="0">
                              <a:latin typeface="Cambria Math"/>
                              <a:ea typeface="Cambria Math"/>
                            </a:rPr>
                            <m:t>1</m:t>
                          </m:r>
                        </m:sub>
                      </m:sSub>
                      <m:r>
                        <a:rPr lang="pt-BR" altLang="pt-BR" sz="1400" b="0" i="1" smtClean="0">
                          <a:latin typeface="Cambria Math"/>
                          <a:ea typeface="Cambria Math"/>
                        </a:rPr>
                        <m:t>=0</m:t>
                      </m:r>
                    </m:oMath>
                  </a14:m>
                  <a:endParaRPr lang="pt-BR" altLang="pt-BR" sz="1400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43" name="Retângulo 4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6660232" y="3140968"/>
                  <a:ext cx="2261011" cy="523220"/>
                </a:xfrm>
                <a:prstGeom prst="rect">
                  <a:avLst/>
                </a:prstGeom>
                <a:blipFill>
                  <a:blip r:embed="rId24"/>
                  <a:stretch>
                    <a:fillRect t="-2326" b="-10465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CaixaDeTexto 43"/>
              <p:cNvSpPr txBox="1"/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4" name="CaixaDeTexto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864" y="3933056"/>
                <a:ext cx="1206549" cy="646331"/>
              </a:xfrm>
              <a:prstGeom prst="rect">
                <a:avLst/>
              </a:prstGeom>
              <a:blipFill>
                <a:blip r:embed="rId25"/>
                <a:stretch>
                  <a:fillRect l="-4040" t="-4717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 Box 162"/>
          <p:cNvSpPr txBox="1">
            <a:spLocks noChangeArrowheads="1"/>
          </p:cNvSpPr>
          <p:nvPr/>
        </p:nvSpPr>
        <p:spPr bwMode="auto">
          <a:xfrm>
            <a:off x="179512" y="6402814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41" grpId="0"/>
      <p:bldP spid="44" grpId="0"/>
      <p:bldP spid="45" grpId="0" autoUpdateAnimBg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Coeficiente de Determinação</a:t>
            </a:r>
          </a:p>
        </p:txBody>
      </p:sp>
      <p:graphicFrame>
        <p:nvGraphicFramePr>
          <p:cNvPr id="24797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49974647"/>
              </p:ext>
            </p:extLst>
          </p:nvPr>
        </p:nvGraphicFramePr>
        <p:xfrm>
          <a:off x="683568" y="1484784"/>
          <a:ext cx="1141412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87320" imgH="419040" progId="Equation.DSMT4">
                  <p:embed/>
                </p:oleObj>
              </mc:Choice>
              <mc:Fallback>
                <p:oleObj name="Equation" r:id="rId2" imgW="787320" imgH="419040" progId="Equation.DSMT4">
                  <p:embed/>
                  <p:pic>
                    <p:nvPicPr>
                      <p:cNvPr id="24797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568" y="1484784"/>
                        <a:ext cx="1141412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28" name="Rectangle 252"/>
          <p:cNvSpPr>
            <a:spLocks noChangeArrowheads="1"/>
          </p:cNvSpPr>
          <p:nvPr/>
        </p:nvSpPr>
        <p:spPr bwMode="auto">
          <a:xfrm>
            <a:off x="395536" y="2204864"/>
            <a:ext cx="8280920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Interpretação: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mede a fração da variação total de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explicada pela regressão e por isso pode ser representada em porcentagem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  <a:sym typeface="Mathematica1" pitchFamily="2" charset="2"/>
              </a:rPr>
              <a:t> o coeficiente de determinação equivale ao quadrado do coeficiente de correlação para regressões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Mathematica1" pitchFamily="2" charset="2"/>
              </a:rPr>
              <a:t>lineares simples</a:t>
            </a: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BCA48A3-6665-498E-8B71-E163EC5620E4}" type="slidenum">
              <a:rPr lang="pt-BR"/>
              <a:pPr>
                <a:defRPr/>
              </a:pPr>
              <a:t>30</a:t>
            </a:fld>
            <a:endParaRPr lang="pt-BR"/>
          </a:p>
        </p:txBody>
      </p:sp>
      <p:graphicFrame>
        <p:nvGraphicFramePr>
          <p:cNvPr id="64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8163814"/>
              </p:ext>
            </p:extLst>
          </p:nvPr>
        </p:nvGraphicFramePr>
        <p:xfrm>
          <a:off x="1876102" y="1486033"/>
          <a:ext cx="2486025" cy="6000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419040" progId="Equation.DSMT4">
                  <p:embed/>
                </p:oleObj>
              </mc:Choice>
              <mc:Fallback>
                <p:oleObj name="Equation" r:id="rId4" imgW="1714320" imgH="419040" progId="Equation.DSMT4">
                  <p:embed/>
                  <p:pic>
                    <p:nvPicPr>
                      <p:cNvPr id="6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76102" y="1486033"/>
                        <a:ext cx="2486025" cy="6000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5" name="Text Box 222"/>
          <p:cNvSpPr txBox="1">
            <a:spLocks noChangeArrowheads="1"/>
          </p:cNvSpPr>
          <p:nvPr/>
        </p:nvSpPr>
        <p:spPr bwMode="auto">
          <a:xfrm>
            <a:off x="4860032" y="1558041"/>
            <a:ext cx="182086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0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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  <a:sym typeface="Symbol" pitchFamily="18" charset="2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 1</a:t>
            </a:r>
          </a:p>
        </p:txBody>
      </p:sp>
      <p:grpSp>
        <p:nvGrpSpPr>
          <p:cNvPr id="12" name="Grupo 11"/>
          <p:cNvGrpSpPr/>
          <p:nvPr/>
        </p:nvGrpSpPr>
        <p:grpSpPr>
          <a:xfrm>
            <a:off x="1002893" y="4110368"/>
            <a:ext cx="2898867" cy="2315597"/>
            <a:chOff x="323528" y="3861048"/>
            <a:chExt cx="2898867" cy="2315597"/>
          </a:xfrm>
        </p:grpSpPr>
        <p:pic>
          <p:nvPicPr>
            <p:cNvPr id="66" name="Picture 5"/>
            <p:cNvPicPr>
              <a:picLocks noChangeAspect="1" noChangeArrowheads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24" b="5855"/>
            <a:stretch/>
          </p:blipFill>
          <p:spPr bwMode="auto">
            <a:xfrm>
              <a:off x="323528" y="3861048"/>
              <a:ext cx="2898867" cy="2315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graphicFrame>
          <p:nvGraphicFramePr>
            <p:cNvPr id="9" name="Objeto 8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957219971"/>
                </p:ext>
              </p:extLst>
            </p:nvPr>
          </p:nvGraphicFramePr>
          <p:xfrm>
            <a:off x="899592" y="4149080"/>
            <a:ext cx="653358" cy="42805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825480" imgH="482400" progId="Equation.DSMT4">
                    <p:embed/>
                  </p:oleObj>
                </mc:Choice>
                <mc:Fallback>
                  <p:oleObj name="Equation" r:id="rId7" imgW="825480" imgH="482400" progId="Equation.DSMT4">
                    <p:embed/>
                    <p:pic>
                      <p:nvPicPr>
                        <p:cNvPr id="9" name="Objeto 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99592" y="4149080"/>
                          <a:ext cx="653358" cy="428054"/>
                        </a:xfrm>
                        <a:prstGeom prst="rect">
                          <a:avLst/>
                        </a:prstGeom>
                        <a:solidFill>
                          <a:schemeClr val="bg1"/>
                        </a:solidFill>
                        <a:ln>
                          <a:noFill/>
                        </a:ln>
                        <a:effectLst/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69" name="Retângulo 68"/>
            <p:cNvSpPr/>
            <p:nvPr/>
          </p:nvSpPr>
          <p:spPr bwMode="auto">
            <a:xfrm>
              <a:off x="914409" y="4354410"/>
              <a:ext cx="705264" cy="21602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p:sp>
        <p:nvSpPr>
          <p:cNvPr id="71" name="Rectangle 252"/>
          <p:cNvSpPr>
            <a:spLocks noChangeArrowheads="1"/>
          </p:cNvSpPr>
          <p:nvPr/>
        </p:nvSpPr>
        <p:spPr bwMode="auto">
          <a:xfrm>
            <a:off x="472106" y="3900014"/>
            <a:ext cx="3960440" cy="4377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Regressão passando pela origem (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 0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  <a:sym typeface="Mathematica1" pitchFamily="2" charset="2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1960749" y="3643356"/>
            <a:ext cx="98315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</a:t>
            </a:r>
            <a:endParaRPr lang="pt-BR" dirty="0">
              <a:latin typeface="Tahoma" panose="020B0604030504040204" pitchFamily="34" charset="0"/>
            </a:endParaRPr>
          </a:p>
        </p:txBody>
      </p:sp>
      <p:graphicFrame>
        <p:nvGraphicFramePr>
          <p:cNvPr id="73" name="Object 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1088109"/>
              </p:ext>
            </p:extLst>
          </p:nvPr>
        </p:nvGraphicFramePr>
        <p:xfrm>
          <a:off x="5584674" y="3954085"/>
          <a:ext cx="1040130" cy="108966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800100" imgH="838200" progId="Equation.3">
                  <p:embed/>
                </p:oleObj>
              </mc:Choice>
              <mc:Fallback>
                <p:oleObj name="Equation" r:id="rId9" imgW="800100" imgH="838200" progId="Equation.3">
                  <p:embed/>
                  <p:pic>
                    <p:nvPicPr>
                      <p:cNvPr id="73" name="Object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84674" y="3954085"/>
                        <a:ext cx="1040130" cy="108966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06203855"/>
              </p:ext>
            </p:extLst>
          </p:nvPr>
        </p:nvGraphicFramePr>
        <p:xfrm>
          <a:off x="6839834" y="4235106"/>
          <a:ext cx="1237713" cy="80863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52087" imgH="622030" progId="Equation.3">
                  <p:embed/>
                </p:oleObj>
              </mc:Choice>
              <mc:Fallback>
                <p:oleObj name="Equação" r:id="rId11" imgW="952087" imgH="622030" progId="Equation.3">
                  <p:embed/>
                  <p:pic>
                    <p:nvPicPr>
                      <p:cNvPr id="74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39834" y="4235106"/>
                        <a:ext cx="1237713" cy="80863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5" name="Object 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33028547"/>
              </p:ext>
            </p:extLst>
          </p:nvPr>
        </p:nvGraphicFramePr>
        <p:xfrm>
          <a:off x="4360538" y="5094509"/>
          <a:ext cx="1600776" cy="29705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1231366" imgH="228501" progId="Equation.3">
                  <p:embed/>
                </p:oleObj>
              </mc:Choice>
              <mc:Fallback>
                <p:oleObj name="Equação" r:id="rId13" imgW="1231366" imgH="228501" progId="Equation.3">
                  <p:embed/>
                  <p:pic>
                    <p:nvPicPr>
                      <p:cNvPr id="75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60538" y="5094509"/>
                        <a:ext cx="1600776" cy="297051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Text Box 12"/>
          <p:cNvSpPr txBox="1">
            <a:spLocks noChangeArrowheads="1"/>
          </p:cNvSpPr>
          <p:nvPr/>
        </p:nvSpPr>
        <p:spPr bwMode="auto">
          <a:xfrm>
            <a:off x="6001841" y="5057813"/>
            <a:ext cx="23145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solidFill>
                  <a:srgbClr val="FF0000"/>
                </a:solidFill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 pode ser negativo!)</a:t>
            </a:r>
          </a:p>
        </p:txBody>
      </p:sp>
      <p:grpSp>
        <p:nvGrpSpPr>
          <p:cNvPr id="77" name="Grupo 76"/>
          <p:cNvGrpSpPr>
            <a:grpSpLocks/>
          </p:cNvGrpSpPr>
          <p:nvPr/>
        </p:nvGrpSpPr>
        <p:grpSpPr bwMode="auto">
          <a:xfrm>
            <a:off x="4360538" y="5517232"/>
            <a:ext cx="3631703" cy="1202167"/>
            <a:chOff x="4154488" y="5328799"/>
            <a:chExt cx="3631703" cy="1202167"/>
          </a:xfrm>
        </p:grpSpPr>
        <p:graphicFrame>
          <p:nvGraphicFramePr>
            <p:cNvPr id="78" name="Object 1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218244378"/>
                </p:ext>
              </p:extLst>
            </p:nvPr>
          </p:nvGraphicFramePr>
          <p:xfrm>
            <a:off x="6036131" y="5328799"/>
            <a:ext cx="1750060" cy="11557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5" imgW="1346200" imgH="889000" progId="Equation.3">
                    <p:embed/>
                  </p:oleObj>
                </mc:Choice>
                <mc:Fallback>
                  <p:oleObj name="Equação" r:id="rId15" imgW="1346200" imgH="889000" progId="Equation.3">
                    <p:embed/>
                    <p:pic>
                      <p:nvPicPr>
                        <p:cNvPr id="78" name="Object 1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36131" y="5328799"/>
                          <a:ext cx="1750060" cy="11557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9" name="Object 1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32613952"/>
                </p:ext>
              </p:extLst>
            </p:nvPr>
          </p:nvGraphicFramePr>
          <p:xfrm>
            <a:off x="4154488" y="5805488"/>
            <a:ext cx="1700530" cy="29718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7" imgW="1308100" imgH="228600" progId="Equation.3">
                    <p:embed/>
                  </p:oleObj>
                </mc:Choice>
                <mc:Fallback>
                  <p:oleObj name="Equação" r:id="rId17" imgW="1308100" imgH="228600" progId="Equation.3">
                    <p:embed/>
                    <p:pic>
                      <p:nvPicPr>
                        <p:cNvPr id="79" name="Object 1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488" y="5805488"/>
                          <a:ext cx="1700530" cy="29718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0" name="Chave esquerda 2"/>
            <p:cNvSpPr>
              <a:spLocks/>
            </p:cNvSpPr>
            <p:nvPr/>
          </p:nvSpPr>
          <p:spPr bwMode="auto">
            <a:xfrm>
              <a:off x="5841975" y="5378838"/>
              <a:ext cx="216024" cy="1152128"/>
            </a:xfrm>
            <a:prstGeom prst="leftBrace">
              <a:avLst>
                <a:gd name="adj1" fmla="val 8321"/>
                <a:gd name="adj2" fmla="val 50000"/>
              </a:avLst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81" name="Grupo 80"/>
          <p:cNvGrpSpPr>
            <a:grpSpLocks/>
          </p:cNvGrpSpPr>
          <p:nvPr/>
        </p:nvGrpSpPr>
        <p:grpSpPr bwMode="auto">
          <a:xfrm>
            <a:off x="4391593" y="5071004"/>
            <a:ext cx="1497013" cy="324644"/>
            <a:chOff x="4446588" y="4729336"/>
            <a:chExt cx="1497806" cy="648072"/>
          </a:xfrm>
        </p:grpSpPr>
        <p:cxnSp>
          <p:nvCxnSpPr>
            <p:cNvPr id="82" name="Conector reto 5"/>
            <p:cNvCxnSpPr>
              <a:cxnSpLocks noChangeShapeType="1"/>
            </p:cNvCxnSpPr>
            <p:nvPr/>
          </p:nvCxnSpPr>
          <p:spPr bwMode="auto">
            <a:xfrm flipV="1"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3" name="Conector reto 18"/>
            <p:cNvCxnSpPr>
              <a:cxnSpLocks noChangeShapeType="1"/>
            </p:cNvCxnSpPr>
            <p:nvPr/>
          </p:nvCxnSpPr>
          <p:spPr bwMode="auto">
            <a:xfrm>
              <a:off x="4446588" y="4729336"/>
              <a:ext cx="1497806" cy="648072"/>
            </a:xfrm>
            <a:prstGeom prst="line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84" name="Retângulo 83"/>
          <p:cNvSpPr/>
          <p:nvPr/>
        </p:nvSpPr>
        <p:spPr>
          <a:xfrm>
            <a:off x="3856482" y="4265725"/>
            <a:ext cx="15087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indent="-342900" algn="ctr">
              <a:defRPr/>
            </a:pP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Y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1800" b="1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=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</a:t>
            </a:r>
            <a:r>
              <a:rPr lang="pt-BR" altLang="pt-BR" sz="1800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1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 X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i</a:t>
            </a:r>
            <a:r>
              <a:rPr lang="pt-BR" altLang="pt-BR" sz="2000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 </a:t>
            </a:r>
            <a:r>
              <a:rPr lang="pt-BR" altLang="pt-BR" sz="2000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</a:rPr>
              <a:t>+ </a:t>
            </a:r>
            <a:r>
              <a:rPr lang="pt-BR" altLang="pt-BR" sz="1800" i="1" kern="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Symbol" pitchFamily="18" charset="2"/>
              </a:rPr>
              <a:t></a:t>
            </a:r>
            <a:r>
              <a:rPr lang="pt-BR" altLang="pt-BR" sz="1800" i="1" kern="0" baseline="-25000" dirty="0">
                <a:solidFill>
                  <a:srgbClr val="000000"/>
                </a:solidFill>
                <a:latin typeface="Times New Roman" pitchFamily="18" charset="0"/>
                <a:cs typeface="Times New Roman" pitchFamily="18" charset="0"/>
                <a:sym typeface="Mathematica1" pitchFamily="2" charset="2"/>
              </a:rPr>
              <a:t>i</a:t>
            </a:r>
            <a:endParaRPr lang="pt-BR" altLang="pt-BR" sz="2000" kern="0" baseline="-25000" dirty="0">
              <a:solidFill>
                <a:srgbClr val="000000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5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828" grpId="0" build="p"/>
      <p:bldP spid="65" grpId="0" build="p"/>
      <p:bldP spid="71" grpId="0" build="p"/>
      <p:bldP spid="13" grpId="0"/>
      <p:bldP spid="76" grpId="0"/>
      <p:bldP spid="8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31</a:t>
            </a:fld>
            <a:endParaRPr lang="pt-BR" dirty="0"/>
          </a:p>
        </p:txBody>
      </p:sp>
      <p:pic>
        <p:nvPicPr>
          <p:cNvPr id="25032" name="Picture 45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5033" name="Picture 457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165713" y="1502191"/>
            <a:ext cx="4305425" cy="35340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34" name="Picture 458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9" y="1470462"/>
            <a:ext cx="4320941" cy="3600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8" name="Grupo 7"/>
          <p:cNvGrpSpPr/>
          <p:nvPr/>
        </p:nvGrpSpPr>
        <p:grpSpPr>
          <a:xfrm>
            <a:off x="4214937" y="1524608"/>
            <a:ext cx="1501272" cy="367294"/>
            <a:chOff x="4214937" y="1524608"/>
            <a:chExt cx="1501272" cy="367294"/>
          </a:xfrm>
        </p:grpSpPr>
        <p:sp>
          <p:nvSpPr>
            <p:cNvPr id="42" name="Seta para baixo 41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/>
                <p:cNvSpPr txBox="1"/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𝑌</m:t>
                            </m:r>
                          </m:e>
                        </m:acc>
                        <m:r>
                          <a:rPr lang="pt-BR" b="0" i="1" smtClean="0">
                            <a:latin typeface="Cambria Math"/>
                          </a:rPr>
                          <m:t>=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1</m:t>
                            </m:r>
                          </m:sub>
                        </m:sSub>
                        <m:r>
                          <a:rPr lang="pt-BR" b="0" i="1" smtClean="0">
                            <a:latin typeface="Cambria Math"/>
                          </a:rPr>
                          <m:t>𝑋</m:t>
                        </m:r>
                        <m:r>
                          <a:rPr lang="pt-BR" b="0" i="1" smtClean="0">
                            <a:latin typeface="Cambria Math"/>
                          </a:rPr>
                          <m:t>+</m:t>
                        </m:r>
                        <m:sSub>
                          <m:sSubPr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7" name="CaixaDeTexto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7616" y="1524608"/>
                  <a:ext cx="1418593" cy="34522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32</a:t>
            </a:fld>
            <a:endParaRPr lang="pt-BR" dirty="0"/>
          </a:p>
        </p:txBody>
      </p:sp>
      <p:pic>
        <p:nvPicPr>
          <p:cNvPr id="25028" name="Picture 45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1512920"/>
            <a:ext cx="4255772" cy="41886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029" name="Picture 45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2060848"/>
            <a:ext cx="3924300" cy="1790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4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9992" y="2627470"/>
            <a:ext cx="3905250" cy="3467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Grupo 10"/>
          <p:cNvGrpSpPr>
            <a:grpSpLocks/>
          </p:cNvGrpSpPr>
          <p:nvPr/>
        </p:nvGrpSpPr>
        <p:grpSpPr bwMode="auto">
          <a:xfrm>
            <a:off x="3057099" y="2708918"/>
            <a:ext cx="4014788" cy="1944967"/>
            <a:chOff x="-3415710" y="6486702"/>
            <a:chExt cx="4014797" cy="1944387"/>
          </a:xfrm>
        </p:grpSpPr>
        <p:sp>
          <p:nvSpPr>
            <p:cNvPr id="12" name="Retângulo 11"/>
            <p:cNvSpPr/>
            <p:nvPr/>
          </p:nvSpPr>
          <p:spPr>
            <a:xfrm>
              <a:off x="-3415710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3" name="Seta para baixo 12"/>
            <p:cNvSpPr/>
            <p:nvPr/>
          </p:nvSpPr>
          <p:spPr>
            <a:xfrm rot="7680000">
              <a:off x="473685" y="6920614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4" name="Seta para baixo 13"/>
          <p:cNvSpPr/>
          <p:nvPr/>
        </p:nvSpPr>
        <p:spPr>
          <a:xfrm rot="7680000">
            <a:off x="5349032" y="3710706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>
            <a:grpSpLocks/>
          </p:cNvGrpSpPr>
          <p:nvPr/>
        </p:nvGrpSpPr>
        <p:grpSpPr bwMode="auto">
          <a:xfrm>
            <a:off x="2583072" y="2708918"/>
            <a:ext cx="4506231" cy="1944967"/>
            <a:chOff x="-4042137" y="6486702"/>
            <a:chExt cx="4506240" cy="1944387"/>
          </a:xfrm>
        </p:grpSpPr>
        <p:sp>
          <p:nvSpPr>
            <p:cNvPr id="16" name="Retângulo 15"/>
            <p:cNvSpPr/>
            <p:nvPr/>
          </p:nvSpPr>
          <p:spPr>
            <a:xfrm>
              <a:off x="-4042137" y="6486702"/>
              <a:ext cx="468001" cy="194438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17" name="Seta para baixo 16"/>
            <p:cNvSpPr/>
            <p:nvPr/>
          </p:nvSpPr>
          <p:spPr>
            <a:xfrm rot="7680000">
              <a:off x="338701" y="7186575"/>
              <a:ext cx="7141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</p:grpSp>
      <p:sp>
        <p:nvSpPr>
          <p:cNvPr id="18" name="Seta para baixo 17"/>
          <p:cNvSpPr/>
          <p:nvPr/>
        </p:nvSpPr>
        <p:spPr>
          <a:xfrm rot="7680000">
            <a:off x="6645176" y="4358778"/>
            <a:ext cx="71437" cy="179387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2716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" name="Tabela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5067483"/>
              </p:ext>
            </p:extLst>
          </p:nvPr>
        </p:nvGraphicFramePr>
        <p:xfrm>
          <a:off x="2143125" y="2211388"/>
          <a:ext cx="6122988" cy="3835406"/>
        </p:xfrm>
        <a:graphic>
          <a:graphicData uri="http://schemas.openxmlformats.org/drawingml/2006/table">
            <a:tbl>
              <a:tblPr/>
              <a:tblGrid>
                <a:gridCol w="8668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687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7233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999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0357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RESUMO DOS RESULTADOS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195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Estatística de 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 múltiplo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0,9745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R-Quadrado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0,9496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R-quadrado ajustado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0,9424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0,6735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Observações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19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ANOVA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4344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gl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MQ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F de significação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Regressão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59,8002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131,8267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Resíduo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3,1754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0,4536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62,9756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 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Coeficientes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Erro padrão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Stat t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valor-P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inferiores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95% superiores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Interseção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0,1306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0,4893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0,2668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0,7973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-1,0265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1,2876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75801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X 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0,9983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0,0870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11,4816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8,55E-06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0,7927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1,2039</a:t>
                      </a:r>
                    </a:p>
                  </a:txBody>
                  <a:tcPr marL="8163" marR="8163" marT="816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pic>
        <p:nvPicPr>
          <p:cNvPr id="34" name="Picture 45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9968" y="1412776"/>
            <a:ext cx="3457136" cy="2880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EXCEL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/>
        </p:nvGraphicFramePr>
        <p:xfrm>
          <a:off x="539750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6768" name="Oval 144"/>
          <p:cNvSpPr>
            <a:spLocks noChangeArrowheads="1"/>
          </p:cNvSpPr>
          <p:nvPr/>
        </p:nvSpPr>
        <p:spPr bwMode="auto">
          <a:xfrm>
            <a:off x="3389313" y="3048000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1" name="Oval 147"/>
          <p:cNvSpPr>
            <a:spLocks noChangeArrowheads="1"/>
          </p:cNvSpPr>
          <p:nvPr/>
        </p:nvSpPr>
        <p:spPr bwMode="auto">
          <a:xfrm>
            <a:off x="5744628" y="4773613"/>
            <a:ext cx="6096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6" name="Oval 152"/>
          <p:cNvSpPr>
            <a:spLocks noChangeArrowheads="1"/>
          </p:cNvSpPr>
          <p:nvPr/>
        </p:nvSpPr>
        <p:spPr bwMode="auto">
          <a:xfrm>
            <a:off x="4932858" y="5645150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7" name="Oval 153"/>
          <p:cNvSpPr>
            <a:spLocks noChangeArrowheads="1"/>
          </p:cNvSpPr>
          <p:nvPr/>
        </p:nvSpPr>
        <p:spPr bwMode="auto">
          <a:xfrm>
            <a:off x="5796136" y="56546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78" name="Oval 154"/>
          <p:cNvSpPr>
            <a:spLocks noChangeArrowheads="1"/>
          </p:cNvSpPr>
          <p:nvPr/>
        </p:nvSpPr>
        <p:spPr bwMode="auto">
          <a:xfrm>
            <a:off x="4932858" y="5808663"/>
            <a:ext cx="503238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oup 157"/>
          <p:cNvGrpSpPr>
            <a:grpSpLocks/>
          </p:cNvGrpSpPr>
          <p:nvPr/>
        </p:nvGrpSpPr>
        <p:grpSpPr bwMode="auto">
          <a:xfrm>
            <a:off x="3390902" y="3551238"/>
            <a:ext cx="1109663" cy="357187"/>
            <a:chOff x="2375" y="2538"/>
            <a:chExt cx="699" cy="225"/>
          </a:xfrm>
        </p:grpSpPr>
        <p:sp>
          <p:nvSpPr>
            <p:cNvPr id="24773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74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2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200" i="1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4774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49" y="2538"/>
                  <a:ext cx="425" cy="199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" name="Group 159"/>
          <p:cNvGrpSpPr>
            <a:grpSpLocks/>
          </p:cNvGrpSpPr>
          <p:nvPr/>
        </p:nvGrpSpPr>
        <p:grpSpPr bwMode="auto">
          <a:xfrm>
            <a:off x="6521452" y="4757738"/>
            <a:ext cx="1506538" cy="323850"/>
            <a:chOff x="4194" y="3068"/>
            <a:chExt cx="949" cy="204"/>
          </a:xfrm>
        </p:grpSpPr>
        <p:sp>
          <p:nvSpPr>
            <p:cNvPr id="24771" name="Oval 151"/>
            <p:cNvSpPr>
              <a:spLocks noChangeArrowheads="1"/>
            </p:cNvSpPr>
            <p:nvPr/>
          </p:nvSpPr>
          <p:spPr bwMode="auto">
            <a:xfrm>
              <a:off x="4194" y="3090"/>
              <a:ext cx="482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2" name="Text Box 158"/>
            <p:cNvSpPr txBox="1">
              <a:spLocks noChangeArrowheads="1"/>
            </p:cNvSpPr>
            <p:nvPr/>
          </p:nvSpPr>
          <p:spPr bwMode="auto">
            <a:xfrm>
              <a:off x="4667" y="3068"/>
              <a:ext cx="476" cy="19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valor-P</a:t>
              </a:r>
            </a:p>
          </p:txBody>
        </p:sp>
      </p:grpSp>
      <p:sp>
        <p:nvSpPr>
          <p:cNvPr id="26784" name="Oval 160"/>
          <p:cNvSpPr>
            <a:spLocks noChangeArrowheads="1"/>
          </p:cNvSpPr>
          <p:nvPr/>
        </p:nvSpPr>
        <p:spPr bwMode="auto">
          <a:xfrm>
            <a:off x="3187448" y="56562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5" name="Oval 161"/>
          <p:cNvSpPr>
            <a:spLocks noChangeArrowheads="1"/>
          </p:cNvSpPr>
          <p:nvPr/>
        </p:nvSpPr>
        <p:spPr bwMode="auto">
          <a:xfrm>
            <a:off x="3187448" y="5818188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6786" name="Text Box 162"/>
          <p:cNvSpPr txBox="1">
            <a:spLocks noChangeArrowheads="1"/>
          </p:cNvSpPr>
          <p:nvPr/>
        </p:nvSpPr>
        <p:spPr bwMode="auto">
          <a:xfrm>
            <a:off x="323528" y="6273800"/>
            <a:ext cx="802610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Para regressão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linear simples</a:t>
            </a:r>
            <a:r>
              <a:rPr lang="pt-BR" altLang="pt-BR" sz="1600" dirty="0">
                <a:latin typeface="Tahoma" panose="020B0604030504040204" pitchFamily="34" charset="0"/>
              </a:rPr>
              <a:t>: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F</a:t>
            </a:r>
            <a:r>
              <a:rPr lang="pt-BR" altLang="pt-BR" sz="1600" dirty="0">
                <a:latin typeface="Tahoma" panose="020B0604030504040204" pitchFamily="34" charset="0"/>
              </a:rPr>
              <a:t> é equivalente ao teste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t</a:t>
            </a:r>
            <a:r>
              <a:rPr lang="pt-BR" altLang="pt-BR" sz="1600" dirty="0">
                <a:latin typeface="Tahoma" panose="020B0604030504040204" pitchFamily="34" charset="0"/>
              </a:rPr>
              <a:t> bilateral para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5" name="Group 163"/>
          <p:cNvGrpSpPr>
            <a:grpSpLocks/>
          </p:cNvGrpSpPr>
          <p:nvPr/>
        </p:nvGrpSpPr>
        <p:grpSpPr bwMode="auto">
          <a:xfrm>
            <a:off x="4930250" y="4881563"/>
            <a:ext cx="938213" cy="357187"/>
            <a:chOff x="2375" y="2538"/>
            <a:chExt cx="591" cy="225"/>
          </a:xfrm>
        </p:grpSpPr>
        <p:sp>
          <p:nvSpPr>
            <p:cNvPr id="24769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770" name="Text Box 165"/>
            <p:cNvSpPr txBox="1">
              <a:spLocks noChangeArrowheads="1"/>
            </p:cNvSpPr>
            <p:nvPr/>
          </p:nvSpPr>
          <p:spPr bwMode="auto">
            <a:xfrm>
              <a:off x="2652" y="2538"/>
              <a:ext cx="314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 dirty="0">
                  <a:solidFill>
                    <a:srgbClr val="FF0000"/>
                  </a:solidFill>
                  <a:latin typeface="Cambria Math" panose="02040503050406030204" pitchFamily="18" charset="0"/>
                  <a:ea typeface="Cambria Math" panose="02040503050406030204" pitchFamily="18" charset="0"/>
                  <a:cs typeface="Times New Roman" charset="0"/>
                  <a:sym typeface="Symbol" pitchFamily="18" charset="2"/>
                </a:rPr>
                <a:t>QME</a:t>
              </a:r>
              <a:endParaRPr lang="pt-BR" altLang="pt-BR" sz="1200" baseline="30000" dirty="0">
                <a:solidFill>
                  <a:srgbClr val="FF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Times New Roman" charset="0"/>
                <a:sym typeface="Symbol" pitchFamily="18" charset="2"/>
              </a:endParaRPr>
            </a:p>
          </p:txBody>
        </p:sp>
      </p:grpSp>
      <p:sp>
        <p:nvSpPr>
          <p:cNvPr id="31" name="Oval 144"/>
          <p:cNvSpPr>
            <a:spLocks noChangeArrowheads="1"/>
          </p:cNvSpPr>
          <p:nvPr/>
        </p:nvSpPr>
        <p:spPr bwMode="auto">
          <a:xfrm>
            <a:off x="5830241" y="1906158"/>
            <a:ext cx="613967" cy="14446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2" name="Oval 160"/>
          <p:cNvSpPr>
            <a:spLocks noChangeArrowheads="1"/>
          </p:cNvSpPr>
          <p:nvPr/>
        </p:nvSpPr>
        <p:spPr bwMode="auto">
          <a:xfrm>
            <a:off x="6264547" y="1776374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Oval 161"/>
          <p:cNvSpPr>
            <a:spLocks noChangeArrowheads="1"/>
          </p:cNvSpPr>
          <p:nvPr/>
        </p:nvSpPr>
        <p:spPr bwMode="auto">
          <a:xfrm>
            <a:off x="5851172" y="1778647"/>
            <a:ext cx="324000" cy="144000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4427F4C-573F-40BD-9D45-6E67DB8161E0}" type="slidenum">
              <a:rPr lang="pt-BR"/>
              <a:pPr>
                <a:defRPr/>
              </a:pPr>
              <a:t>33</a:t>
            </a:fld>
            <a:endParaRPr lang="pt-BR" dirty="0"/>
          </a:p>
        </p:txBody>
      </p:sp>
      <p:sp>
        <p:nvSpPr>
          <p:cNvPr id="26779" name="Oval 155"/>
          <p:cNvSpPr>
            <a:spLocks noChangeArrowheads="1"/>
          </p:cNvSpPr>
          <p:nvPr/>
        </p:nvSpPr>
        <p:spPr bwMode="auto">
          <a:xfrm>
            <a:off x="5759300" y="5818188"/>
            <a:ext cx="5842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5" name="Oval 151"/>
          <p:cNvSpPr>
            <a:spLocks noChangeArrowheads="1"/>
          </p:cNvSpPr>
          <p:nvPr/>
        </p:nvSpPr>
        <p:spPr bwMode="auto">
          <a:xfrm>
            <a:off x="6525566" y="4784422"/>
            <a:ext cx="765175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9" name="Grupo 8"/>
          <p:cNvGrpSpPr/>
          <p:nvPr/>
        </p:nvGrpSpPr>
        <p:grpSpPr>
          <a:xfrm>
            <a:off x="3424864" y="2924960"/>
            <a:ext cx="468000" cy="144000"/>
            <a:chOff x="8892480" y="4225280"/>
            <a:chExt cx="792088" cy="288032"/>
          </a:xfrm>
        </p:grpSpPr>
        <p:cxnSp>
          <p:nvCxnSpPr>
            <p:cNvPr id="8" name="Conector reto 7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36" name="Conector reto 35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37" name="Grupo 36"/>
          <p:cNvGrpSpPr/>
          <p:nvPr/>
        </p:nvGrpSpPr>
        <p:grpSpPr>
          <a:xfrm>
            <a:off x="3892550" y="3180574"/>
            <a:ext cx="1951339" cy="461665"/>
            <a:chOff x="4214937" y="1551904"/>
            <a:chExt cx="1951339" cy="461665"/>
          </a:xfrm>
        </p:grpSpPr>
        <p:sp>
          <p:nvSpPr>
            <p:cNvPr id="38" name="Seta para baixo 37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9" name="CaixaDeTexto 38"/>
            <p:cNvSpPr txBox="1"/>
            <p:nvPr/>
          </p:nvSpPr>
          <p:spPr>
            <a:xfrm>
              <a:off x="4347734" y="1551904"/>
              <a:ext cx="181854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importante em regressões múltiplas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0" name="Grupo 39"/>
          <p:cNvGrpSpPr/>
          <p:nvPr/>
        </p:nvGrpSpPr>
        <p:grpSpPr>
          <a:xfrm>
            <a:off x="6521452" y="5544528"/>
            <a:ext cx="1835652" cy="524438"/>
            <a:chOff x="8892480" y="4225280"/>
            <a:chExt cx="792088" cy="288032"/>
          </a:xfrm>
        </p:grpSpPr>
        <p:cxnSp>
          <p:nvCxnSpPr>
            <p:cNvPr id="41" name="Conector reto 40"/>
            <p:cNvCxnSpPr/>
            <p:nvPr/>
          </p:nvCxnSpPr>
          <p:spPr bwMode="auto">
            <a:xfrm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42" name="Conector reto 41"/>
            <p:cNvCxnSpPr/>
            <p:nvPr/>
          </p:nvCxnSpPr>
          <p:spPr bwMode="auto">
            <a:xfrm flipH="1">
              <a:off x="8892480" y="4225280"/>
              <a:ext cx="792088" cy="28803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43" name="Grupo 42"/>
          <p:cNvGrpSpPr/>
          <p:nvPr/>
        </p:nvGrpSpPr>
        <p:grpSpPr>
          <a:xfrm>
            <a:off x="6026820" y="5270144"/>
            <a:ext cx="1951339" cy="276999"/>
            <a:chOff x="4214937" y="1623316"/>
            <a:chExt cx="1951339" cy="276999"/>
          </a:xfrm>
        </p:grpSpPr>
        <p:sp>
          <p:nvSpPr>
            <p:cNvPr id="44" name="Seta para baixo 43"/>
            <p:cNvSpPr/>
            <p:nvPr/>
          </p:nvSpPr>
          <p:spPr>
            <a:xfrm rot="13920000" flipV="1">
              <a:off x="4268912" y="1766490"/>
              <a:ext cx="71437" cy="179387"/>
            </a:xfrm>
            <a:prstGeom prst="down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45" name="CaixaDeTexto 44"/>
            <p:cNvSpPr txBox="1"/>
            <p:nvPr/>
          </p:nvSpPr>
          <p:spPr>
            <a:xfrm>
              <a:off x="4347734" y="1623316"/>
              <a:ext cx="18185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b="0" dirty="0">
                  <a:latin typeface="Tahoma" panose="020B0604030504040204" pitchFamily="34" charset="0"/>
                </a:rPr>
                <a:t>bilateral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286484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 nodeType="clickPar">
                      <p:stCondLst>
                        <p:cond delay="indefinite"/>
                      </p:stCondLst>
                      <p:childTnLst>
                        <p:par>
                          <p:cTn id="4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 nodeType="clickPar">
                      <p:stCondLst>
                        <p:cond delay="indefinite"/>
                      </p:stCondLst>
                      <p:childTnLst>
                        <p:par>
                          <p:cTn id="5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 nodeType="clickPar">
                      <p:stCondLst>
                        <p:cond delay="indefinite"/>
                      </p:stCondLst>
                      <p:childTnLst>
                        <p:par>
                          <p:cTn id="5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 nodeType="clickPar">
                      <p:stCondLst>
                        <p:cond delay="indefinite"/>
                      </p:stCondLst>
                      <p:childTnLst>
                        <p:par>
                          <p:cTn id="6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6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68" grpId="0" animBg="1" autoUpdateAnimBg="0"/>
      <p:bldP spid="26771" grpId="0" animBg="1" autoUpdateAnimBg="0"/>
      <p:bldP spid="26776" grpId="0" animBg="1" autoUpdateAnimBg="0"/>
      <p:bldP spid="26777" grpId="0" animBg="1" autoUpdateAnimBg="0"/>
      <p:bldP spid="26778" grpId="0" animBg="1" autoUpdateAnimBg="0"/>
      <p:bldP spid="26784" grpId="0" animBg="1" autoUpdateAnimBg="0"/>
      <p:bldP spid="26785" grpId="0" animBg="1" autoUpdateAnimBg="0"/>
      <p:bldP spid="26786" grpId="0" autoUpdateAnimBg="0"/>
      <p:bldP spid="31" grpId="0" animBg="1" autoUpdateAnimBg="0"/>
      <p:bldP spid="32" grpId="0" animBg="1" autoUpdateAnimBg="0"/>
      <p:bldP spid="33" grpId="0" animBg="1" autoUpdateAnimBg="0"/>
      <p:bldP spid="26779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13523" y="1509713"/>
            <a:ext cx="3590925" cy="22367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Regressão no R</a:t>
            </a:r>
          </a:p>
        </p:txBody>
      </p:sp>
      <p:graphicFrame>
        <p:nvGraphicFramePr>
          <p:cNvPr id="26761" name="Group 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1724270"/>
              </p:ext>
            </p:extLst>
          </p:nvPr>
        </p:nvGraphicFramePr>
        <p:xfrm>
          <a:off x="323528" y="1520825"/>
          <a:ext cx="1219200" cy="30480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X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1" i="1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Y</a:t>
                      </a:r>
                      <a:endParaRPr kumimoji="0" lang="pt-BR" sz="2400" b="1" i="1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1,9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2,5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4,3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6,3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7,8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8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7,0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4475"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</a:t>
                      </a:r>
                      <a:endParaRPr kumimoji="0" lang="pt-BR" sz="24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pt-B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18" charset="0"/>
                          <a:cs typeface="Times New Roman" pitchFamily="18" charset="0"/>
                        </a:rPr>
                        <a:t>9,1</a:t>
                      </a:r>
                      <a:endParaRPr kumimoji="0" lang="pt-BR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 anchor="b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5639" name="Text Box 62"/>
          <p:cNvSpPr txBox="1">
            <a:spLocks noChangeArrowheads="1"/>
          </p:cNvSpPr>
          <p:nvPr/>
        </p:nvSpPr>
        <p:spPr bwMode="auto">
          <a:xfrm>
            <a:off x="1637258" y="1509713"/>
            <a:ext cx="3582988" cy="160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x &lt;- c(1,2,3,4,5,6,7,8,9)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y &lt;- c(1.1,1.9,2.5,4.3,6.1,6.3,7.8,7,9.1)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(x, y,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xlim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c(1,9),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ylim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= c(1,10))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(y ~ x)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abline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ypred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predict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endParaRPr lang="pt-BR" altLang="pt-BR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1667421" y="3365500"/>
            <a:ext cx="4776787" cy="32321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Call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(formula = y ~ x)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Min       1Q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3Q      Max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-1.11722 -0.22722 -0.01556  0.17944  0.97778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Coefficients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Estimate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t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Intercept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 0.13056    0.48930   0.267    0.797   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            	0.99833    0.08695  11.482 8.55e-06 ***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 ‘***’ 0.001 ‘**’ 0.01 ‘*’ 0.05 ‘.’ 0.1 ‘ ’ 1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Residual standard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error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0.6735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degrees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freedom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Multiple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0.9496,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Adjusted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R-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squared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 0.9424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F-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statistic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131.8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DF,  p-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8.547e-06</a:t>
            </a:r>
          </a:p>
        </p:txBody>
      </p:sp>
      <p:grpSp>
        <p:nvGrpSpPr>
          <p:cNvPr id="42" name="Group 157"/>
          <p:cNvGrpSpPr>
            <a:grpSpLocks/>
          </p:cNvGrpSpPr>
          <p:nvPr/>
        </p:nvGrpSpPr>
        <p:grpSpPr bwMode="auto">
          <a:xfrm>
            <a:off x="3419041" y="5836894"/>
            <a:ext cx="1271588" cy="357187"/>
            <a:chOff x="2375" y="2538"/>
            <a:chExt cx="801" cy="2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657" name="Text Box 156"/>
                <p:cNvSpPr txBox="1">
                  <a:spLocks noChangeArrowheads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  <a:extLs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ad>
                          <m:radPr>
                            <m:degHide m:val="on"/>
                            <m:ctrlP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charset="0"/>
                                <a:sym typeface="Symbol" pitchFamily="18" charset="2"/>
                              </a:rPr>
                            </m:ctrlPr>
                          </m:radPr>
                          <m:deg/>
                          <m:e>
                            <m:r>
                              <a:rPr lang="pt-BR" altLang="pt-BR" sz="1400" i="1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charset="0"/>
                                <a:sym typeface="Symbol" pitchFamily="18" charset="2"/>
                              </a:rPr>
                              <m:t>𝑄𝑀𝐸</m:t>
                            </m:r>
                          </m:e>
                        </m:rad>
                      </m:oMath>
                    </m:oMathPara>
                  </a14:m>
                  <a:endParaRPr lang="pt-BR" altLang="pt-BR" sz="160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5657" name="Text Box 15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03" y="2538"/>
                  <a:ext cx="473" cy="223"/>
                </a:xfrm>
                <a:prstGeom prst="rect">
                  <a:avLst/>
                </a:prstGeom>
                <a:blipFill rotWithShape="1">
                  <a:blip r:embed="rId3"/>
                  <a:stretch>
                    <a:fillRect/>
                  </a:stretch>
                </a:blip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658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52" name="Oval 152"/>
          <p:cNvSpPr>
            <a:spLocks noChangeArrowheads="1"/>
          </p:cNvSpPr>
          <p:nvPr/>
        </p:nvSpPr>
        <p:spPr bwMode="auto">
          <a:xfrm>
            <a:off x="3851920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3" name="Oval 153"/>
          <p:cNvSpPr>
            <a:spLocks noChangeArrowheads="1"/>
          </p:cNvSpPr>
          <p:nvPr/>
        </p:nvSpPr>
        <p:spPr bwMode="auto">
          <a:xfrm>
            <a:off x="4427984" y="4995863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4" name="Oval 154"/>
          <p:cNvSpPr>
            <a:spLocks noChangeArrowheads="1"/>
          </p:cNvSpPr>
          <p:nvPr/>
        </p:nvSpPr>
        <p:spPr bwMode="auto">
          <a:xfrm>
            <a:off x="3995936" y="5172075"/>
            <a:ext cx="503237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5" name="Oval 155"/>
          <p:cNvSpPr>
            <a:spLocks noChangeArrowheads="1"/>
          </p:cNvSpPr>
          <p:nvPr/>
        </p:nvSpPr>
        <p:spPr bwMode="auto">
          <a:xfrm>
            <a:off x="4479231" y="5181600"/>
            <a:ext cx="698500" cy="271463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6" name="Oval 160"/>
          <p:cNvSpPr>
            <a:spLocks noChangeArrowheads="1"/>
          </p:cNvSpPr>
          <p:nvPr/>
        </p:nvSpPr>
        <p:spPr bwMode="auto">
          <a:xfrm>
            <a:off x="2502154" y="4995863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7" name="Oval 161"/>
          <p:cNvSpPr>
            <a:spLocks noChangeArrowheads="1"/>
          </p:cNvSpPr>
          <p:nvPr/>
        </p:nvSpPr>
        <p:spPr bwMode="auto">
          <a:xfrm>
            <a:off x="2638634" y="5172075"/>
            <a:ext cx="596900" cy="288925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5" name="Group 157"/>
          <p:cNvGrpSpPr>
            <a:grpSpLocks/>
          </p:cNvGrpSpPr>
          <p:nvPr/>
        </p:nvGrpSpPr>
        <p:grpSpPr bwMode="auto">
          <a:xfrm>
            <a:off x="3148884" y="6015038"/>
            <a:ext cx="854075" cy="355600"/>
            <a:chOff x="2375" y="2538"/>
            <a:chExt cx="538" cy="225"/>
          </a:xfrm>
        </p:grpSpPr>
        <p:sp>
          <p:nvSpPr>
            <p:cNvPr id="25653" name="Text Box 156"/>
            <p:cNvSpPr txBox="1">
              <a:spLocks noChangeArrowheads="1"/>
            </p:cNvSpPr>
            <p:nvPr/>
          </p:nvSpPr>
          <p:spPr bwMode="auto">
            <a:xfrm>
              <a:off x="2703" y="2538"/>
              <a:ext cx="210" cy="21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r</a:t>
              </a:r>
              <a:r>
                <a:rPr lang="pt-BR" altLang="pt-BR" sz="1600" baseline="3000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  <p:sp>
          <p:nvSpPr>
            <p:cNvPr id="25654" name="Oval 145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155D8D-EB84-406A-8828-67DF596D2BDB}" type="slidenum">
              <a:rPr lang="pt-BR"/>
              <a:pPr>
                <a:defRPr/>
              </a:pPr>
              <a:t>34</a:t>
            </a:fld>
            <a:endParaRPr lang="pt-BR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5434359" y="3556807"/>
            <a:ext cx="3818161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Table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Response: y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F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value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(&gt;F)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             1     59.8        59.8     131.8  8.55e-06</a:t>
            </a:r>
            <a:r>
              <a:rPr lang="pt-BR" altLang="pt-BR" sz="900" dirty="0">
                <a:latin typeface="Arial" panose="020B0604020202020204" pitchFamily="34" charset="0"/>
                <a:cs typeface="Arial" panose="020B0604020202020204" pitchFamily="34" charset="0"/>
              </a:rPr>
              <a:t>***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Residuals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7    3.175      0.454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Signif.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codes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0 ‘***’ 0.001 ‘**’ 0.01 ‘*’ 0.05 ‘.’ 0.1 ‘ ’ 1</a:t>
            </a:r>
          </a:p>
        </p:txBody>
      </p:sp>
      <p:sp>
        <p:nvSpPr>
          <p:cNvPr id="28" name="Text Box 62"/>
          <p:cNvSpPr txBox="1">
            <a:spLocks noChangeArrowheads="1"/>
          </p:cNvSpPr>
          <p:nvPr/>
        </p:nvSpPr>
        <p:spPr bwMode="auto">
          <a:xfrm>
            <a:off x="1638792" y="2795939"/>
            <a:ext cx="3582988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 typeface="Comic Sans MS" pitchFamily="66" charset="0"/>
              <a:buChar char="&gt;"/>
            </a:pP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anova(</a:t>
            </a:r>
            <a:r>
              <a:rPr lang="pt-BR" altLang="pt-BR" sz="14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pt-BR" altLang="pt-BR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4537305" y="4107304"/>
            <a:ext cx="4304734" cy="2460184"/>
            <a:chOff x="4537305" y="4107304"/>
            <a:chExt cx="4304734" cy="2460184"/>
          </a:xfrm>
        </p:grpSpPr>
        <p:grpSp>
          <p:nvGrpSpPr>
            <p:cNvPr id="49" name="Group 159"/>
            <p:cNvGrpSpPr>
              <a:grpSpLocks/>
            </p:cNvGrpSpPr>
            <p:nvPr/>
          </p:nvGrpSpPr>
          <p:grpSpPr bwMode="auto">
            <a:xfrm>
              <a:off x="4537305" y="6243638"/>
              <a:ext cx="1474792" cy="323850"/>
              <a:chOff x="4104" y="3068"/>
              <a:chExt cx="929" cy="204"/>
            </a:xfrm>
          </p:grpSpPr>
          <p:sp>
            <p:nvSpPr>
              <p:cNvPr id="25655" name="Text Box 158"/>
              <p:cNvSpPr txBox="1">
                <a:spLocks noChangeArrowheads="1"/>
              </p:cNvSpPr>
              <p:nvPr/>
            </p:nvSpPr>
            <p:spPr bwMode="auto">
              <a:xfrm>
                <a:off x="4557" y="3068"/>
                <a:ext cx="476" cy="19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4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valor-P</a:t>
                </a:r>
              </a:p>
            </p:txBody>
          </p:sp>
          <p:sp>
            <p:nvSpPr>
              <p:cNvPr id="25656" name="Oval 151"/>
              <p:cNvSpPr>
                <a:spLocks noChangeArrowheads="1"/>
              </p:cNvSpPr>
              <p:nvPr/>
            </p:nvSpPr>
            <p:spPr bwMode="auto">
              <a:xfrm>
                <a:off x="4104" y="3090"/>
                <a:ext cx="482" cy="182"/>
              </a:xfrm>
              <a:prstGeom prst="ellips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31" name="Oval 151"/>
            <p:cNvSpPr>
              <a:spLocks noChangeArrowheads="1"/>
            </p:cNvSpPr>
            <p:nvPr/>
          </p:nvSpPr>
          <p:spPr bwMode="auto">
            <a:xfrm>
              <a:off x="8076864" y="4107304"/>
              <a:ext cx="765175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460240" y="4108136"/>
            <a:ext cx="5602976" cy="2468877"/>
            <a:chOff x="2460240" y="4108136"/>
            <a:chExt cx="5602976" cy="2468877"/>
          </a:xfrm>
        </p:grpSpPr>
        <p:sp>
          <p:nvSpPr>
            <p:cNvPr id="48" name="Oval 147"/>
            <p:cNvSpPr>
              <a:spLocks noChangeArrowheads="1"/>
            </p:cNvSpPr>
            <p:nvPr/>
          </p:nvSpPr>
          <p:spPr bwMode="auto">
            <a:xfrm>
              <a:off x="2460240" y="6288088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" name="Oval 147"/>
            <p:cNvSpPr>
              <a:spLocks noChangeArrowheads="1"/>
            </p:cNvSpPr>
            <p:nvPr/>
          </p:nvSpPr>
          <p:spPr bwMode="auto">
            <a:xfrm>
              <a:off x="7631416" y="4108136"/>
              <a:ext cx="431800" cy="288925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5" name="Group 163"/>
          <p:cNvGrpSpPr>
            <a:grpSpLocks/>
          </p:cNvGrpSpPr>
          <p:nvPr/>
        </p:nvGrpSpPr>
        <p:grpSpPr bwMode="auto">
          <a:xfrm>
            <a:off x="7077922" y="4289361"/>
            <a:ext cx="898526" cy="436563"/>
            <a:chOff x="2375" y="2581"/>
            <a:chExt cx="566" cy="275"/>
          </a:xfrm>
        </p:grpSpPr>
        <p:sp>
          <p:nvSpPr>
            <p:cNvPr id="36" name="Oval 164"/>
            <p:cNvSpPr>
              <a:spLocks noChangeArrowheads="1"/>
            </p:cNvSpPr>
            <p:nvPr/>
          </p:nvSpPr>
          <p:spPr bwMode="auto">
            <a:xfrm>
              <a:off x="2375" y="2581"/>
              <a:ext cx="317" cy="182"/>
            </a:xfrm>
            <a:prstGeom prst="ellips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165"/>
                <p:cNvSpPr txBox="1">
                  <a:spLocks noChangeArrowheads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altLang="pt-BR" sz="1200" i="1" dirty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charset="0"/>
                            <a:sym typeface="Symbol" pitchFamily="18" charset="2"/>
                          </a:rPr>
                          <m:t>QME</m:t>
                        </m:r>
                      </m:oMath>
                    </m:oMathPara>
                  </a14:m>
                  <a:endParaRPr lang="pt-BR" altLang="pt-BR" sz="1600" baseline="30000" dirty="0">
                    <a:solidFill>
                      <a:srgbClr val="FF0000"/>
                    </a:solidFill>
                    <a:latin typeface="Times New Roman" charset="0"/>
                    <a:cs typeface="Times New Roman" charset="0"/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7" name="Text Box 16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611" y="2684"/>
                  <a:ext cx="330" cy="172"/>
                </a:xfrm>
                <a:prstGeom prst="rect">
                  <a:avLst/>
                </a:prstGeom>
                <a:blipFill rotWithShape="1">
                  <a:blip r:embed="rId4"/>
                  <a:stretch>
                    <a:fillRect b="-6667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" name="Oval 160"/>
          <p:cNvSpPr>
            <a:spLocks noChangeArrowheads="1"/>
          </p:cNvSpPr>
          <p:nvPr/>
        </p:nvSpPr>
        <p:spPr bwMode="auto">
          <a:xfrm>
            <a:off x="2174938" y="2132856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8" name="Oval 160"/>
          <p:cNvSpPr>
            <a:spLocks noChangeArrowheads="1"/>
          </p:cNvSpPr>
          <p:nvPr/>
        </p:nvSpPr>
        <p:spPr bwMode="auto">
          <a:xfrm>
            <a:off x="2482502" y="2538121"/>
            <a:ext cx="928717" cy="376452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 nodeType="clickPar">
                      <p:stCondLst>
                        <p:cond delay="indefinite"/>
                      </p:stCondLst>
                      <p:childTnLst>
                        <p:par>
                          <p:cTn id="2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 nodeType="clickPar">
                      <p:stCondLst>
                        <p:cond delay="indefinite"/>
                      </p:stCondLst>
                      <p:childTnLst>
                        <p:par>
                          <p:cTn id="2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3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 nodeType="clickPar">
                      <p:stCondLst>
                        <p:cond delay="indefinite"/>
                      </p:stCondLst>
                      <p:childTnLst>
                        <p:par>
                          <p:cTn id="4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 nodeType="clickPar">
                      <p:stCondLst>
                        <p:cond delay="indefinite"/>
                      </p:stCondLst>
                      <p:childTnLst>
                        <p:par>
                          <p:cTn id="4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 nodeType="clickPar">
                      <p:stCondLst>
                        <p:cond delay="indefinite"/>
                      </p:stCondLst>
                      <p:childTnLst>
                        <p:par>
                          <p:cTn id="5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 nodeType="clickPar">
                      <p:stCondLst>
                        <p:cond delay="indefinite"/>
                      </p:stCondLst>
                      <p:childTnLst>
                        <p:par>
                          <p:cTn id="57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2" grpId="0" animBg="1" autoUpdateAnimBg="0"/>
      <p:bldP spid="53" grpId="0" animBg="1" autoUpdateAnimBg="0"/>
      <p:bldP spid="54" grpId="0" animBg="1" autoUpdateAnimBg="0"/>
      <p:bldP spid="55" grpId="0" animBg="1" autoUpdateAnimBg="0"/>
      <p:bldP spid="56" grpId="0" animBg="1" autoUpdateAnimBg="0"/>
      <p:bldP spid="57" grpId="0" animBg="1" autoUpdateAnimBg="0"/>
      <p:bldP spid="3" grpId="0"/>
      <p:bldP spid="28" grpId="0"/>
      <p:bldP spid="33" grpId="0" animBg="1" autoUpdateAnimBg="0"/>
      <p:bldP spid="38" grpId="0" animBg="1" autoUpdateAnimBg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8" name="Object 10"/>
          <p:cNvGraphicFramePr>
            <a:graphicFrameLocks/>
          </p:cNvGraphicFramePr>
          <p:nvPr/>
        </p:nvGraphicFramePr>
        <p:xfrm>
          <a:off x="573088" y="2506663"/>
          <a:ext cx="16224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812447" imgH="241195" progId="Equation.3">
                  <p:embed/>
                </p:oleObj>
              </mc:Choice>
              <mc:Fallback>
                <p:oleObj name="Equation" r:id="rId2" imgW="812447" imgH="241195" progId="Equation.3">
                  <p:embed/>
                  <p:pic>
                    <p:nvPicPr>
                      <p:cNvPr id="27658" name="Object 1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3088" y="2506663"/>
                        <a:ext cx="16224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9" name="Object 11"/>
          <p:cNvGraphicFramePr>
            <a:graphicFrameLocks/>
          </p:cNvGraphicFramePr>
          <p:nvPr/>
        </p:nvGraphicFramePr>
        <p:xfrm>
          <a:off x="2790825" y="2506663"/>
          <a:ext cx="3119438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562100" imgH="228600" progId="Equation.3">
                  <p:embed/>
                </p:oleObj>
              </mc:Choice>
              <mc:Fallback>
                <p:oleObj name="Equation" r:id="rId4" imgW="1562100" imgH="228600" progId="Equation.3">
                  <p:embed/>
                  <p:pic>
                    <p:nvPicPr>
                      <p:cNvPr id="27659" name="Object 1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90825" y="2506663"/>
                        <a:ext cx="3119438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60" name="Object 12"/>
          <p:cNvGraphicFramePr>
            <a:graphicFrameLocks/>
          </p:cNvGraphicFramePr>
          <p:nvPr/>
        </p:nvGraphicFramePr>
        <p:xfrm>
          <a:off x="6443663" y="2506663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60" name="Object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06663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4" name="Text Box 16"/>
          <p:cNvSpPr txBox="1">
            <a:spLocks noChangeArrowheads="1"/>
          </p:cNvSpPr>
          <p:nvPr/>
        </p:nvSpPr>
        <p:spPr bwMode="auto">
          <a:xfrm>
            <a:off x="482600" y="2093913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graphicFrame>
        <p:nvGraphicFramePr>
          <p:cNvPr id="27675" name="Object 27"/>
          <p:cNvGraphicFramePr>
            <a:graphicFrameLocks/>
          </p:cNvGraphicFramePr>
          <p:nvPr/>
        </p:nvGraphicFramePr>
        <p:xfrm>
          <a:off x="7235825" y="3135313"/>
          <a:ext cx="1698625" cy="415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850531" imgH="241195" progId="Equation.3">
                  <p:embed/>
                </p:oleObj>
              </mc:Choice>
              <mc:Fallback>
                <p:oleObj name="Equation" r:id="rId8" imgW="850531" imgH="241195" progId="Equation.3">
                  <p:embed/>
                  <p:pic>
                    <p:nvPicPr>
                      <p:cNvPr id="27675" name="Object 27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35825" y="3135313"/>
                        <a:ext cx="1698625" cy="415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76" name="Rectangle 28"/>
          <p:cNvSpPr>
            <a:spLocks noChangeArrowheads="1"/>
          </p:cNvSpPr>
          <p:nvPr/>
        </p:nvSpPr>
        <p:spPr bwMode="auto">
          <a:xfrm>
            <a:off x="7019925" y="2989263"/>
            <a:ext cx="2016125" cy="65087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35</a:t>
            </a:fld>
            <a:endParaRPr lang="pt-BR"/>
          </a:p>
        </p:txBody>
      </p:sp>
      <p:pic>
        <p:nvPicPr>
          <p:cNvPr id="16" name="Picture 2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45098"/>
            <a:ext cx="3859758" cy="23201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7" name="Picture 7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9" name="Text Box 16"/>
          <p:cNvSpPr txBox="1">
            <a:spLocks noChangeArrowheads="1"/>
          </p:cNvSpPr>
          <p:nvPr/>
        </p:nvSpPr>
        <p:spPr bwMode="auto">
          <a:xfrm rot="16200000">
            <a:off x="-117645" y="4851837"/>
            <a:ext cx="12490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exponencial</a:t>
            </a:r>
          </a:p>
        </p:txBody>
      </p:sp>
      <p:sp>
        <p:nvSpPr>
          <p:cNvPr id="20" name="Seta para baixo 19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Oval 153">
            <a:extLst>
              <a:ext uri="{FF2B5EF4-FFF2-40B4-BE49-F238E27FC236}">
                <a16:creationId xmlns:a16="http://schemas.microsoft.com/office/drawing/2014/main" id="{E23C0564-3108-4116-7DEB-63AEC2B5E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4507" y="4123140"/>
            <a:ext cx="647253" cy="216917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5B1E7832-5DBF-E72D-63CC-128D0A935C8B}"/>
              </a:ext>
            </a:extLst>
          </p:cNvPr>
          <p:cNvSpPr txBox="1"/>
          <p:nvPr/>
        </p:nvSpPr>
        <p:spPr>
          <a:xfrm>
            <a:off x="2165317" y="4302601"/>
            <a:ext cx="1398571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/>
            <a:r>
              <a:rPr lang="pt-BR" altLang="pt-BR" sz="1000" dirty="0">
                <a:latin typeface="Arial" panose="020B0604020202020204" pitchFamily="34" charset="0"/>
                <a:cs typeface="Arial" panose="020B0604020202020204" pitchFamily="34" charset="0"/>
              </a:rPr>
              <a:t>calculado com base no modelo linear!</a:t>
            </a:r>
            <a:endParaRPr lang="pt-BR" sz="1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64" grpId="0"/>
      <p:bldP spid="27676" grpId="0" animBg="1"/>
      <p:bldP spid="19" grpId="0"/>
      <p:bldP spid="20" grpId="0" animBg="1"/>
      <p:bldP spid="3" grpId="0" animBg="1"/>
      <p:bldP spid="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Modelos Linearizáveis</a:t>
            </a:r>
          </a:p>
        </p:txBody>
      </p:sp>
      <p:sp>
        <p:nvSpPr>
          <p:cNvPr id="26627" name="Rectangle 5"/>
          <p:cNvSpPr>
            <a:spLocks noChangeArrowheads="1"/>
          </p:cNvSpPr>
          <p:nvPr/>
        </p:nvSpPr>
        <p:spPr bwMode="auto">
          <a:xfrm>
            <a:off x="468313" y="1430338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Modelo Padrão: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Y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=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1600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1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 +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</a:p>
        </p:txBody>
      </p:sp>
      <p:graphicFrame>
        <p:nvGraphicFramePr>
          <p:cNvPr id="27655" name="Object 7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57966439"/>
              </p:ext>
            </p:extLst>
          </p:nvPr>
        </p:nvGraphicFramePr>
        <p:xfrm>
          <a:off x="560388" y="2538000"/>
          <a:ext cx="1571625" cy="4175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787400" imgH="241300" progId="Equation.3">
                  <p:embed/>
                </p:oleObj>
              </mc:Choice>
              <mc:Fallback>
                <p:oleObj name="Equação" r:id="rId2" imgW="787400" imgH="241300" progId="Equation.3">
                  <p:embed/>
                  <p:pic>
                    <p:nvPicPr>
                      <p:cNvPr id="27655" name="Object 7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0388" y="2538000"/>
                        <a:ext cx="1571625" cy="4175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6" name="Object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66492467"/>
              </p:ext>
            </p:extLst>
          </p:nvPr>
        </p:nvGraphicFramePr>
        <p:xfrm>
          <a:off x="2627313" y="2538000"/>
          <a:ext cx="3448050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7200" imgH="228600" progId="Equation.3">
                  <p:embed/>
                </p:oleObj>
              </mc:Choice>
              <mc:Fallback>
                <p:oleObj name="Equation" r:id="rId4" imgW="1727200" imgH="228600" progId="Equation.3">
                  <p:embed/>
                  <p:pic>
                    <p:nvPicPr>
                      <p:cNvPr id="27656" name="Object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2538000"/>
                        <a:ext cx="3448050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657" name="Object 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60543163"/>
              </p:ext>
            </p:extLst>
          </p:nvPr>
        </p:nvGraphicFramePr>
        <p:xfrm>
          <a:off x="6443663" y="2538000"/>
          <a:ext cx="2306637" cy="395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155700" imgH="228600" progId="Equation.3">
                  <p:embed/>
                </p:oleObj>
              </mc:Choice>
              <mc:Fallback>
                <p:oleObj name="Equation" r:id="rId6" imgW="1155700" imgH="228600" progId="Equation.3">
                  <p:embed/>
                  <p:pic>
                    <p:nvPicPr>
                      <p:cNvPr id="27657" name="Object 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43663" y="2538000"/>
                        <a:ext cx="2306637" cy="395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65" name="Text Box 17"/>
          <p:cNvSpPr txBox="1">
            <a:spLocks noChangeArrowheads="1"/>
          </p:cNvSpPr>
          <p:nvPr/>
        </p:nvSpPr>
        <p:spPr bwMode="auto">
          <a:xfrm>
            <a:off x="482600" y="2091912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grpSp>
        <p:nvGrpSpPr>
          <p:cNvPr id="3" name="Grupo 2"/>
          <p:cNvGrpSpPr/>
          <p:nvPr/>
        </p:nvGrpSpPr>
        <p:grpSpPr>
          <a:xfrm>
            <a:off x="7019925" y="2989263"/>
            <a:ext cx="2016125" cy="650875"/>
            <a:chOff x="7019925" y="2989263"/>
            <a:chExt cx="2016125" cy="650875"/>
          </a:xfrm>
        </p:grpSpPr>
        <p:graphicFrame>
          <p:nvGraphicFramePr>
            <p:cNvPr id="27675" name="Object 27"/>
            <p:cNvGraphicFramePr>
              <a:graphicFrameLocks/>
            </p:cNvGraphicFramePr>
            <p:nvPr>
              <p:extLst>
                <p:ext uri="{D42A27DB-BD31-4B8C-83A1-F6EECF244321}">
                  <p14:modId xmlns:p14="http://schemas.microsoft.com/office/powerpoint/2010/main" val="3529414926"/>
                </p:ext>
              </p:extLst>
            </p:nvPr>
          </p:nvGraphicFramePr>
          <p:xfrm>
            <a:off x="7235825" y="3135313"/>
            <a:ext cx="1698625" cy="41592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8" imgW="850531" imgH="241195" progId="Equation.3">
                    <p:embed/>
                  </p:oleObj>
                </mc:Choice>
                <mc:Fallback>
                  <p:oleObj name="Equation" r:id="rId8" imgW="850531" imgH="241195" progId="Equation.3">
                    <p:embed/>
                    <p:pic>
                      <p:nvPicPr>
                        <p:cNvPr id="27675" name="Object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235825" y="3135313"/>
                          <a:ext cx="1698625" cy="41592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27676" name="Rectangle 28"/>
            <p:cNvSpPr>
              <a:spLocks noChangeArrowheads="1"/>
            </p:cNvSpPr>
            <p:nvPr/>
          </p:nvSpPr>
          <p:spPr bwMode="auto">
            <a:xfrm>
              <a:off x="7019925" y="2989263"/>
              <a:ext cx="2016125" cy="650875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9CCF51-AFE8-4582-BCCE-6D793386D5E0}" type="slidenum">
              <a:rPr lang="pt-BR"/>
              <a:pPr>
                <a:defRPr/>
              </a:pPr>
              <a:t>36</a:t>
            </a:fld>
            <a:endParaRPr lang="pt-BR"/>
          </a:p>
        </p:txBody>
      </p:sp>
      <p:sp>
        <p:nvSpPr>
          <p:cNvPr id="18" name="Text Box 16"/>
          <p:cNvSpPr txBox="1">
            <a:spLocks noChangeArrowheads="1"/>
          </p:cNvSpPr>
          <p:nvPr/>
        </p:nvSpPr>
        <p:spPr bwMode="auto">
          <a:xfrm>
            <a:off x="482600" y="6054387"/>
            <a:ext cx="8337872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adoção de uma  série de transformações (logaritmo, potência, inverso, </a:t>
            </a:r>
            <a:r>
              <a:rPr lang="pt-BR" altLang="pt-BR" sz="1600" dirty="0" err="1">
                <a:latin typeface="Tahoma" panose="020B0604030504040204" pitchFamily="34" charset="0"/>
              </a:rPr>
              <a:t>etc</a:t>
            </a:r>
            <a:r>
              <a:rPr lang="pt-BR" altLang="pt-BR" sz="1600" dirty="0">
                <a:latin typeface="Tahoma" panose="020B0604030504040204" pitchFamily="34" charset="0"/>
              </a:rPr>
              <a:t>) em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ou ambos permite que o modelo linear simples possa ser utilizado para representar relações mais complexas  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 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sym typeface="Symbol"/>
              </a:rPr>
              <a:t>Modelos Lineares Generalizados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pic>
        <p:nvPicPr>
          <p:cNvPr id="17" name="Picture 8"/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297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9"/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717032"/>
            <a:ext cx="3859758" cy="23762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" name="Text Box 17"/>
          <p:cNvSpPr txBox="1">
            <a:spLocks noChangeArrowheads="1"/>
          </p:cNvSpPr>
          <p:nvPr/>
        </p:nvSpPr>
        <p:spPr bwMode="auto">
          <a:xfrm rot="16200000">
            <a:off x="8993" y="4735886"/>
            <a:ext cx="99578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potencial</a:t>
            </a:r>
          </a:p>
        </p:txBody>
      </p:sp>
      <p:sp>
        <p:nvSpPr>
          <p:cNvPr id="21" name="Seta para baixo 20"/>
          <p:cNvSpPr>
            <a:spLocks noChangeArrowheads="1"/>
          </p:cNvSpPr>
          <p:nvPr/>
        </p:nvSpPr>
        <p:spPr bwMode="auto">
          <a:xfrm rot="16200000">
            <a:off x="4627367" y="4620208"/>
            <a:ext cx="360362" cy="569913"/>
          </a:xfrm>
          <a:prstGeom prst="downArrow">
            <a:avLst>
              <a:gd name="adj1" fmla="val 50000"/>
              <a:gd name="adj2" fmla="val 49978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8490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  <p:bldP spid="20" grpId="0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" name="Group 25"/>
          <p:cNvGrpSpPr>
            <a:grpSpLocks/>
          </p:cNvGrpSpPr>
          <p:nvPr/>
        </p:nvGrpSpPr>
        <p:grpSpPr bwMode="auto">
          <a:xfrm>
            <a:off x="5651500" y="5653559"/>
            <a:ext cx="2397125" cy="439737"/>
            <a:chOff x="340" y="3226"/>
            <a:chExt cx="1510" cy="277"/>
          </a:xfrm>
        </p:grpSpPr>
        <p:sp>
          <p:nvSpPr>
            <p:cNvPr id="27658" name="Rectangle 23"/>
            <p:cNvSpPr>
              <a:spLocks noChangeArrowheads="1"/>
            </p:cNvSpPr>
            <p:nvPr/>
          </p:nvSpPr>
          <p:spPr bwMode="auto">
            <a:xfrm>
              <a:off x="340" y="3265"/>
              <a:ext cx="705" cy="2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Resíduo =</a:t>
              </a:r>
            </a:p>
          </p:txBody>
        </p:sp>
        <p:graphicFrame>
          <p:nvGraphicFramePr>
            <p:cNvPr id="27659" name="Object 24"/>
            <p:cNvGraphicFramePr>
              <a:graphicFrameLocks/>
            </p:cNvGraphicFramePr>
            <p:nvPr/>
          </p:nvGraphicFramePr>
          <p:xfrm>
            <a:off x="1034" y="3226"/>
            <a:ext cx="816" cy="27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2" imgW="647419" imgH="253890" progId="Equation.3">
                    <p:embed/>
                  </p:oleObj>
                </mc:Choice>
                <mc:Fallback>
                  <p:oleObj name="Equação" r:id="rId2" imgW="647419" imgH="253890" progId="Equation.3">
                    <p:embed/>
                    <p:pic>
                      <p:nvPicPr>
                        <p:cNvPr id="27659" name="Object 2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3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034" y="3226"/>
                          <a:ext cx="816" cy="27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32"/>
          <p:cNvGrpSpPr>
            <a:grpSpLocks/>
          </p:cNvGrpSpPr>
          <p:nvPr/>
        </p:nvGrpSpPr>
        <p:grpSpPr bwMode="auto">
          <a:xfrm>
            <a:off x="4610100" y="2510309"/>
            <a:ext cx="3902075" cy="3230562"/>
            <a:chOff x="2904" y="1223"/>
            <a:chExt cx="2458" cy="2035"/>
          </a:xfrm>
        </p:grpSpPr>
        <p:pic>
          <p:nvPicPr>
            <p:cNvPr id="27656" name="Picture 27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04" y="1223"/>
              <a:ext cx="2458" cy="203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7657" name="Line 28"/>
            <p:cNvSpPr>
              <a:spLocks noChangeShapeType="1"/>
            </p:cNvSpPr>
            <p:nvPr/>
          </p:nvSpPr>
          <p:spPr bwMode="auto">
            <a:xfrm>
              <a:off x="3418" y="2081"/>
              <a:ext cx="1785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FF8376E2-24C4-95D1-D33B-6DF2C30CBDF1}"/>
              </a:ext>
            </a:extLst>
          </p:cNvPr>
          <p:cNvGrpSpPr/>
          <p:nvPr/>
        </p:nvGrpSpPr>
        <p:grpSpPr>
          <a:xfrm>
            <a:off x="755650" y="2496021"/>
            <a:ext cx="3902075" cy="3230563"/>
            <a:chOff x="755650" y="2496021"/>
            <a:chExt cx="3902075" cy="3230563"/>
          </a:xfrm>
        </p:grpSpPr>
        <p:pic>
          <p:nvPicPr>
            <p:cNvPr id="27652" name="Picture 26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5650" y="2496021"/>
              <a:ext cx="3902075" cy="323056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654" name="Object 31"/>
                <p:cNvSpPr txBox="1"/>
                <p:nvPr/>
              </p:nvSpPr>
              <p:spPr bwMode="auto">
                <a:xfrm>
                  <a:off x="1547664" y="2924944"/>
                  <a:ext cx="1512168" cy="41160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ffectLst/>
              </p:spPr>
              <p:txBody>
                <a:bodyPr>
                  <a:normAutofit fontScale="62500" lnSpcReduction="20000"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=0,9983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+0,1306</m:t>
                        </m:r>
                      </m:oMath>
                      <m:oMath xmlns:m="http://schemas.openxmlformats.org/officeDocument/2006/math">
                        <m:sSup>
                          <m:sSupPr>
                            <m:ctrlP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=0,9496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27654" name="Object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547664" y="2924944"/>
                  <a:ext cx="1512168" cy="41160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noFill/>
                </a:ln>
                <a:effectLst/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D6B7C8E-030E-4F06-980F-74F3281E6386}" type="slidenum">
              <a:rPr lang="pt-BR"/>
              <a:pPr>
                <a:defRPr/>
              </a:pPr>
              <a:t>37</a:t>
            </a:fld>
            <a:endParaRPr lang="pt-BR"/>
          </a:p>
        </p:txBody>
      </p:sp>
      <p:sp>
        <p:nvSpPr>
          <p:cNvPr id="12" name="Text Box 16"/>
          <p:cNvSpPr txBox="1">
            <a:spLocks noChangeArrowheads="1"/>
          </p:cNvSpPr>
          <p:nvPr/>
        </p:nvSpPr>
        <p:spPr bwMode="auto">
          <a:xfrm>
            <a:off x="488789" y="1479257"/>
            <a:ext cx="833787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65125" indent="-3651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uma etapa fundamental na Análise de Regressão pois auxilia na identificação de problemas que afetam diretamente a interpretação dos resultados</a:t>
            </a:r>
            <a:endParaRPr lang="pt-BR" altLang="pt-BR" sz="1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499992" y="2204864"/>
            <a:ext cx="4032447" cy="4176464"/>
            <a:chOff x="4499992" y="2204864"/>
            <a:chExt cx="4032447" cy="4176464"/>
          </a:xfrm>
        </p:grpSpPr>
        <p:sp>
          <p:nvSpPr>
            <p:cNvPr id="5" name="Retângulo 4"/>
            <p:cNvSpPr/>
            <p:nvPr/>
          </p:nvSpPr>
          <p:spPr bwMode="auto">
            <a:xfrm>
              <a:off x="4499992" y="2204864"/>
              <a:ext cx="4012183" cy="4176464"/>
            </a:xfrm>
            <a:prstGeom prst="rect">
              <a:avLst/>
            </a:prstGeom>
            <a:solidFill>
              <a:schemeClr val="bg1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grpSp>
          <p:nvGrpSpPr>
            <p:cNvPr id="13" name="Grupo 12"/>
            <p:cNvGrpSpPr/>
            <p:nvPr/>
          </p:nvGrpSpPr>
          <p:grpSpPr>
            <a:xfrm>
              <a:off x="4610100" y="2510309"/>
              <a:ext cx="3922339" cy="3594100"/>
              <a:chOff x="4732338" y="1941513"/>
              <a:chExt cx="3922339" cy="3594100"/>
            </a:xfrm>
          </p:grpSpPr>
          <p:sp>
            <p:nvSpPr>
              <p:cNvPr id="14" name="Text Box 7"/>
              <p:cNvSpPr txBox="1">
                <a:spLocks noChangeArrowheads="1"/>
              </p:cNvSpPr>
              <p:nvPr/>
            </p:nvSpPr>
            <p:spPr bwMode="auto">
              <a:xfrm>
                <a:off x="4787900" y="5157788"/>
                <a:ext cx="2319338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  <a:cs typeface="Times New Roman" charset="0"/>
                  </a:rPr>
                  <a:t>Resíduo Padronizado =</a:t>
                </a:r>
              </a:p>
            </p:txBody>
          </p:sp>
          <p:graphicFrame>
            <p:nvGraphicFramePr>
              <p:cNvPr id="15" name="Object 24"/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907896108"/>
                  </p:ext>
                </p:extLst>
              </p:nvPr>
            </p:nvGraphicFramePr>
            <p:xfrm>
              <a:off x="6858000" y="5095875"/>
              <a:ext cx="1397000" cy="4397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7" imgW="698197" imgH="253890" progId="Equation.3">
                      <p:embed/>
                    </p:oleObj>
                  </mc:Choice>
                  <mc:Fallback>
                    <p:oleObj name="Equação" r:id="rId7" imgW="698197" imgH="253890" progId="Equation.3">
                      <p:embed/>
                      <p:pic>
                        <p:nvPicPr>
                          <p:cNvPr id="15" name="Object 2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8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6858000" y="5095875"/>
                            <a:ext cx="1397000" cy="4397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pSp>
            <p:nvGrpSpPr>
              <p:cNvPr id="16" name="Grupo 1"/>
              <p:cNvGrpSpPr>
                <a:grpSpLocks/>
              </p:cNvGrpSpPr>
              <p:nvPr/>
            </p:nvGrpSpPr>
            <p:grpSpPr bwMode="auto">
              <a:xfrm>
                <a:off x="4732338" y="1941513"/>
                <a:ext cx="3922339" cy="3230562"/>
                <a:chOff x="4732725" y="1941513"/>
                <a:chExt cx="3921940" cy="3230562"/>
              </a:xfrm>
            </p:grpSpPr>
            <p:pic>
              <p:nvPicPr>
                <p:cNvPr id="17" name="Picture 12"/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0242"/>
                <a:stretch>
                  <a:fillRect/>
                </a:stretch>
              </p:blipFill>
              <p:spPr bwMode="auto">
                <a:xfrm>
                  <a:off x="5152639" y="1941513"/>
                  <a:ext cx="3502026" cy="323056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" name="Line 14"/>
                <p:cNvSpPr>
                  <a:spLocks noChangeShapeType="1"/>
                </p:cNvSpPr>
                <p:nvPr/>
              </p:nvSpPr>
              <p:spPr bwMode="auto">
                <a:xfrm>
                  <a:off x="5421314" y="3297684"/>
                  <a:ext cx="283368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19" name="Text Box 7"/>
                <p:cNvSpPr txBox="1">
                  <a:spLocks noChangeArrowheads="1"/>
                </p:cNvSpPr>
                <p:nvPr/>
              </p:nvSpPr>
              <p:spPr bwMode="auto">
                <a:xfrm rot="-5400000">
                  <a:off x="4037839" y="3115774"/>
                  <a:ext cx="1666771" cy="2769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200">
                      <a:latin typeface="Times New Roman" charset="0"/>
                      <a:cs typeface="Times New Roman" charset="0"/>
                    </a:rPr>
                    <a:t>Resíduos Padronizados</a:t>
                  </a:r>
                </a:p>
              </p:txBody>
            </p:sp>
          </p:grpSp>
        </p:grp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</a:p>
        </p:txBody>
      </p:sp>
      <p:grpSp>
        <p:nvGrpSpPr>
          <p:cNvPr id="29699" name="Group 46"/>
          <p:cNvGrpSpPr>
            <a:grpSpLocks/>
          </p:cNvGrpSpPr>
          <p:nvPr/>
        </p:nvGrpSpPr>
        <p:grpSpPr bwMode="auto">
          <a:xfrm>
            <a:off x="323850" y="1462088"/>
            <a:ext cx="2735263" cy="2660650"/>
            <a:chOff x="204" y="556"/>
            <a:chExt cx="1723" cy="1676"/>
          </a:xfrm>
        </p:grpSpPr>
        <p:pic>
          <p:nvPicPr>
            <p:cNvPr id="29735" name="Picture 1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017"/>
            <a:stretch>
              <a:fillRect/>
            </a:stretch>
          </p:blipFill>
          <p:spPr bwMode="auto">
            <a:xfrm>
              <a:off x="270" y="655"/>
              <a:ext cx="165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63" name="Rectangle 19"/>
            <p:cNvSpPr>
              <a:spLocks noChangeArrowheads="1"/>
            </p:cNvSpPr>
            <p:nvPr/>
          </p:nvSpPr>
          <p:spPr bwMode="auto">
            <a:xfrm>
              <a:off x="566" y="1154"/>
              <a:ext cx="1089" cy="316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  <a:defRPr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7" name="Line 11"/>
            <p:cNvSpPr>
              <a:spLocks noChangeShapeType="1"/>
            </p:cNvSpPr>
            <p:nvPr/>
          </p:nvSpPr>
          <p:spPr bwMode="auto">
            <a:xfrm flipV="1">
              <a:off x="410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8" name="Text Box 14"/>
            <p:cNvSpPr txBox="1">
              <a:spLocks noChangeArrowheads="1"/>
            </p:cNvSpPr>
            <p:nvPr/>
          </p:nvSpPr>
          <p:spPr bwMode="auto">
            <a:xfrm>
              <a:off x="870" y="556"/>
              <a:ext cx="485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“ideal”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39" name="Rectangle 35"/>
            <p:cNvSpPr>
              <a:spLocks noChangeArrowheads="1"/>
            </p:cNvSpPr>
            <p:nvPr/>
          </p:nvSpPr>
          <p:spPr bwMode="auto">
            <a:xfrm>
              <a:off x="340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40" name="Rectangle 38"/>
            <p:cNvSpPr>
              <a:spLocks noChangeArrowheads="1"/>
            </p:cNvSpPr>
            <p:nvPr/>
          </p:nvSpPr>
          <p:spPr bwMode="auto">
            <a:xfrm>
              <a:off x="204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47"/>
          <p:cNvGrpSpPr>
            <a:grpSpLocks/>
          </p:cNvGrpSpPr>
          <p:nvPr/>
        </p:nvGrpSpPr>
        <p:grpSpPr bwMode="auto">
          <a:xfrm>
            <a:off x="3203575" y="1462088"/>
            <a:ext cx="2736850" cy="2660650"/>
            <a:chOff x="2018" y="556"/>
            <a:chExt cx="1724" cy="1676"/>
          </a:xfrm>
        </p:grpSpPr>
        <p:pic>
          <p:nvPicPr>
            <p:cNvPr id="29729" name="Picture 15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594"/>
            <a:stretch>
              <a:fillRect/>
            </a:stretch>
          </p:blipFill>
          <p:spPr bwMode="auto">
            <a:xfrm>
              <a:off x="2115" y="655"/>
              <a:ext cx="1627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7" name="Freeform 16"/>
            <p:cNvSpPr>
              <a:spLocks/>
            </p:cNvSpPr>
            <p:nvPr/>
          </p:nvSpPr>
          <p:spPr bwMode="auto">
            <a:xfrm>
              <a:off x="2336" y="972"/>
              <a:ext cx="1089" cy="681"/>
            </a:xfrm>
            <a:custGeom>
              <a:avLst/>
              <a:gdLst>
                <a:gd name="T0" fmla="*/ 0 w 1089"/>
                <a:gd name="T1" fmla="*/ 273 h 681"/>
                <a:gd name="T2" fmla="*/ 1089 w 1089"/>
                <a:gd name="T3" fmla="*/ 0 h 681"/>
                <a:gd name="T4" fmla="*/ 1089 w 1089"/>
                <a:gd name="T5" fmla="*/ 681 h 681"/>
                <a:gd name="T6" fmla="*/ 0 w 1089"/>
                <a:gd name="T7" fmla="*/ 409 h 681"/>
                <a:gd name="T8" fmla="*/ 0 w 1089"/>
                <a:gd name="T9" fmla="*/ 273 h 681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9"/>
                <a:gd name="T16" fmla="*/ 0 h 681"/>
                <a:gd name="T17" fmla="*/ 1089 w 1089"/>
                <a:gd name="T18" fmla="*/ 681 h 681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9" h="681">
                  <a:moveTo>
                    <a:pt x="0" y="273"/>
                  </a:moveTo>
                  <a:lnTo>
                    <a:pt x="1089" y="0"/>
                  </a:lnTo>
                  <a:lnTo>
                    <a:pt x="1089" y="681"/>
                  </a:lnTo>
                  <a:lnTo>
                    <a:pt x="0" y="409"/>
                  </a:lnTo>
                  <a:lnTo>
                    <a:pt x="0" y="273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1" name="Line 17"/>
            <p:cNvSpPr>
              <a:spLocks noChangeShapeType="1"/>
            </p:cNvSpPr>
            <p:nvPr/>
          </p:nvSpPr>
          <p:spPr bwMode="auto">
            <a:xfrm flipV="1">
              <a:off x="2225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32" name="Text Box 18"/>
            <p:cNvSpPr txBox="1">
              <a:spLocks noChangeArrowheads="1"/>
            </p:cNvSpPr>
            <p:nvPr/>
          </p:nvSpPr>
          <p:spPr bwMode="auto">
            <a:xfrm>
              <a:off x="2359" y="556"/>
              <a:ext cx="1082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charset="0"/>
                  <a:cs typeface="Times New Roman" charset="0"/>
                  <a:sym typeface="Symbol" pitchFamily="18" charset="2"/>
                </a:rPr>
                <a:t></a:t>
              </a:r>
              <a:r>
                <a:rPr lang="pt-BR" altLang="pt-BR" sz="1600" baseline="30000" dirty="0"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não constante</a:t>
              </a:r>
            </a:p>
          </p:txBody>
        </p:sp>
        <p:sp>
          <p:nvSpPr>
            <p:cNvPr id="29733" name="Rectangle 36"/>
            <p:cNvSpPr>
              <a:spLocks noChangeArrowheads="1"/>
            </p:cNvSpPr>
            <p:nvPr/>
          </p:nvSpPr>
          <p:spPr bwMode="auto">
            <a:xfrm>
              <a:off x="2109" y="1888"/>
              <a:ext cx="1581" cy="1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34" name="Rectangle 39"/>
            <p:cNvSpPr>
              <a:spLocks noChangeArrowheads="1"/>
            </p:cNvSpPr>
            <p:nvPr/>
          </p:nvSpPr>
          <p:spPr bwMode="auto">
            <a:xfrm>
              <a:off x="2018" y="754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oup 48"/>
          <p:cNvGrpSpPr>
            <a:grpSpLocks/>
          </p:cNvGrpSpPr>
          <p:nvPr/>
        </p:nvGrpSpPr>
        <p:grpSpPr bwMode="auto">
          <a:xfrm>
            <a:off x="6011863" y="1468438"/>
            <a:ext cx="2736850" cy="2654300"/>
            <a:chOff x="3787" y="560"/>
            <a:chExt cx="1724" cy="1672"/>
          </a:xfrm>
        </p:grpSpPr>
        <p:pic>
          <p:nvPicPr>
            <p:cNvPr id="29723" name="Picture 24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496"/>
            <a:stretch>
              <a:fillRect/>
            </a:stretch>
          </p:blipFill>
          <p:spPr bwMode="auto">
            <a:xfrm>
              <a:off x="3825" y="655"/>
              <a:ext cx="1686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51" name="Freeform 25"/>
            <p:cNvSpPr>
              <a:spLocks/>
            </p:cNvSpPr>
            <p:nvPr/>
          </p:nvSpPr>
          <p:spPr bwMode="auto">
            <a:xfrm>
              <a:off x="4195" y="1067"/>
              <a:ext cx="1079" cy="479"/>
            </a:xfrm>
            <a:custGeom>
              <a:avLst/>
              <a:gdLst>
                <a:gd name="T0" fmla="*/ 0 w 1079"/>
                <a:gd name="T1" fmla="*/ 321 h 479"/>
                <a:gd name="T2" fmla="*/ 521 w 1079"/>
                <a:gd name="T3" fmla="*/ 0 h 479"/>
                <a:gd name="T4" fmla="*/ 1079 w 1079"/>
                <a:gd name="T5" fmla="*/ 321 h 479"/>
                <a:gd name="T6" fmla="*/ 1067 w 1079"/>
                <a:gd name="T7" fmla="*/ 479 h 479"/>
                <a:gd name="T8" fmla="*/ 515 w 1079"/>
                <a:gd name="T9" fmla="*/ 163 h 479"/>
                <a:gd name="T10" fmla="*/ 1 w 1079"/>
                <a:gd name="T11" fmla="*/ 463 h 479"/>
                <a:gd name="T12" fmla="*/ 0 w 1079"/>
                <a:gd name="T13" fmla="*/ 321 h 47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079"/>
                <a:gd name="T22" fmla="*/ 0 h 479"/>
                <a:gd name="T23" fmla="*/ 1079 w 1079"/>
                <a:gd name="T24" fmla="*/ 479 h 47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079" h="479">
                  <a:moveTo>
                    <a:pt x="0" y="321"/>
                  </a:moveTo>
                  <a:cubicBezTo>
                    <a:pt x="87" y="245"/>
                    <a:pt x="341" y="0"/>
                    <a:pt x="521" y="0"/>
                  </a:cubicBezTo>
                  <a:cubicBezTo>
                    <a:pt x="701" y="0"/>
                    <a:pt x="988" y="241"/>
                    <a:pt x="1079" y="321"/>
                  </a:cubicBezTo>
                  <a:lnTo>
                    <a:pt x="1067" y="479"/>
                  </a:lnTo>
                  <a:cubicBezTo>
                    <a:pt x="973" y="453"/>
                    <a:pt x="693" y="166"/>
                    <a:pt x="515" y="163"/>
                  </a:cubicBezTo>
                  <a:cubicBezTo>
                    <a:pt x="337" y="160"/>
                    <a:pt x="87" y="437"/>
                    <a:pt x="1" y="463"/>
                  </a:cubicBezTo>
                  <a:lnTo>
                    <a:pt x="0" y="321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5" name="Line 26"/>
            <p:cNvSpPr>
              <a:spLocks noChangeShapeType="1"/>
            </p:cNvSpPr>
            <p:nvPr/>
          </p:nvSpPr>
          <p:spPr bwMode="auto">
            <a:xfrm flipV="1">
              <a:off x="3994" y="1324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6" name="Text Box 27"/>
            <p:cNvSpPr txBox="1">
              <a:spLocks noChangeArrowheads="1"/>
            </p:cNvSpPr>
            <p:nvPr/>
          </p:nvSpPr>
          <p:spPr bwMode="auto">
            <a:xfrm>
              <a:off x="4218" y="560"/>
              <a:ext cx="987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linearidade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7" name="Rectangle 37"/>
            <p:cNvSpPr>
              <a:spLocks noChangeArrowheads="1"/>
            </p:cNvSpPr>
            <p:nvPr/>
          </p:nvSpPr>
          <p:spPr bwMode="auto">
            <a:xfrm>
              <a:off x="3923" y="1888"/>
              <a:ext cx="1542" cy="13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728" name="Rectangle 40"/>
            <p:cNvSpPr>
              <a:spLocks noChangeArrowheads="1"/>
            </p:cNvSpPr>
            <p:nvPr/>
          </p:nvSpPr>
          <p:spPr bwMode="auto">
            <a:xfrm>
              <a:off x="3787" y="709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" name="Group 49"/>
          <p:cNvGrpSpPr>
            <a:grpSpLocks/>
          </p:cNvGrpSpPr>
          <p:nvPr/>
        </p:nvGrpSpPr>
        <p:grpSpPr bwMode="auto">
          <a:xfrm>
            <a:off x="3131816" y="4054476"/>
            <a:ext cx="2735262" cy="2687638"/>
            <a:chOff x="204" y="2292"/>
            <a:chExt cx="1723" cy="1693"/>
          </a:xfrm>
        </p:grpSpPr>
        <p:pic>
          <p:nvPicPr>
            <p:cNvPr id="29717" name="Picture 30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864"/>
            <a:stretch>
              <a:fillRect/>
            </a:stretch>
          </p:blipFill>
          <p:spPr bwMode="auto">
            <a:xfrm>
              <a:off x="248" y="2387"/>
              <a:ext cx="1679" cy="15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6645" name="Freeform 31"/>
            <p:cNvSpPr>
              <a:spLocks/>
            </p:cNvSpPr>
            <p:nvPr/>
          </p:nvSpPr>
          <p:spPr bwMode="auto">
            <a:xfrm>
              <a:off x="567" y="2775"/>
              <a:ext cx="1081" cy="564"/>
            </a:xfrm>
            <a:custGeom>
              <a:avLst/>
              <a:gdLst>
                <a:gd name="T0" fmla="*/ 0 w 1081"/>
                <a:gd name="T1" fmla="*/ 422 h 564"/>
                <a:gd name="T2" fmla="*/ 1081 w 1081"/>
                <a:gd name="T3" fmla="*/ 0 h 564"/>
                <a:gd name="T4" fmla="*/ 1081 w 1081"/>
                <a:gd name="T5" fmla="*/ 158 h 564"/>
                <a:gd name="T6" fmla="*/ 1 w 1081"/>
                <a:gd name="T7" fmla="*/ 564 h 564"/>
                <a:gd name="T8" fmla="*/ 0 w 1081"/>
                <a:gd name="T9" fmla="*/ 422 h 564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1081"/>
                <a:gd name="T16" fmla="*/ 0 h 564"/>
                <a:gd name="T17" fmla="*/ 1081 w 1081"/>
                <a:gd name="T18" fmla="*/ 564 h 564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1081" h="564">
                  <a:moveTo>
                    <a:pt x="0" y="422"/>
                  </a:moveTo>
                  <a:lnTo>
                    <a:pt x="1081" y="0"/>
                  </a:lnTo>
                  <a:lnTo>
                    <a:pt x="1081" y="158"/>
                  </a:lnTo>
                  <a:lnTo>
                    <a:pt x="1" y="564"/>
                  </a:lnTo>
                  <a:lnTo>
                    <a:pt x="0" y="422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19" name="Line 32"/>
            <p:cNvSpPr>
              <a:spLocks noChangeShapeType="1"/>
            </p:cNvSpPr>
            <p:nvPr/>
          </p:nvSpPr>
          <p:spPr bwMode="auto">
            <a:xfrm flipV="1">
              <a:off x="410" y="3056"/>
              <a:ext cx="1394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9720" name="Text Box 33"/>
            <p:cNvSpPr txBox="1">
              <a:spLocks noChangeArrowheads="1"/>
            </p:cNvSpPr>
            <p:nvPr/>
          </p:nvSpPr>
          <p:spPr bwMode="auto">
            <a:xfrm>
              <a:off x="539" y="2292"/>
              <a:ext cx="1186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não independência</a:t>
              </a:r>
              <a:endParaRPr lang="pt-BR" altLang="pt-BR" sz="1600" dirty="0">
                <a:latin typeface="Tahoma" panose="020B0604030504040204" pitchFamily="34" charset="0"/>
                <a:sym typeface="Symbol" pitchFamily="18" charset="2"/>
              </a:endParaRPr>
            </a:p>
          </p:txBody>
        </p:sp>
        <p:sp>
          <p:nvSpPr>
            <p:cNvPr id="29721" name="Text Box 34"/>
            <p:cNvSpPr txBox="1">
              <a:spLocks noChangeArrowheads="1"/>
            </p:cNvSpPr>
            <p:nvPr/>
          </p:nvSpPr>
          <p:spPr bwMode="auto">
            <a:xfrm>
              <a:off x="339" y="3617"/>
              <a:ext cx="1588" cy="3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outra variável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imes New Roman" charset="0"/>
                  <a:cs typeface="Times New Roman" charset="0"/>
                </a:rPr>
                <a:t>(</a:t>
              </a:r>
              <a:r>
                <a:rPr lang="pt-BR" altLang="pt-BR" sz="1600" dirty="0" err="1">
                  <a:latin typeface="Times New Roman" charset="0"/>
                  <a:cs typeface="Times New Roman" charset="0"/>
                </a:rPr>
                <a:t>ex</a:t>
              </a:r>
              <a:r>
                <a:rPr lang="pt-BR" altLang="pt-BR" sz="1600" dirty="0">
                  <a:latin typeface="Times New Roman" charset="0"/>
                  <a:cs typeface="Times New Roman" charset="0"/>
                </a:rPr>
                <a:t>: ordem cronológica)</a:t>
              </a:r>
            </a:p>
          </p:txBody>
        </p:sp>
        <p:sp>
          <p:nvSpPr>
            <p:cNvPr id="29722" name="Rectangle 41"/>
            <p:cNvSpPr>
              <a:spLocks noChangeArrowheads="1"/>
            </p:cNvSpPr>
            <p:nvPr/>
          </p:nvSpPr>
          <p:spPr bwMode="auto">
            <a:xfrm>
              <a:off x="204" y="2478"/>
              <a:ext cx="181" cy="11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 algn="ctr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29703" name="CaixaDeTexto 41"/>
          <p:cNvSpPr txBox="1">
            <a:spLocks noChangeArrowheads="1"/>
          </p:cNvSpPr>
          <p:nvPr/>
        </p:nvSpPr>
        <p:spPr bwMode="auto">
          <a:xfrm rot="-5400000">
            <a:off x="-337344" y="2542382"/>
            <a:ext cx="1609725" cy="2778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>
                <a:latin typeface="Times New Roman" charset="0"/>
                <a:cs typeface="Times New Roman" charset="0"/>
              </a:rPr>
              <a:t>Resíduos Padronizados</a:t>
            </a:r>
          </a:p>
        </p:txBody>
      </p:sp>
      <p:grpSp>
        <p:nvGrpSpPr>
          <p:cNvPr id="6" name="Grupo 43"/>
          <p:cNvGrpSpPr>
            <a:grpSpLocks/>
          </p:cNvGrpSpPr>
          <p:nvPr/>
        </p:nvGrpSpPr>
        <p:grpSpPr bwMode="auto">
          <a:xfrm>
            <a:off x="323528" y="4054475"/>
            <a:ext cx="2735263" cy="2660650"/>
            <a:chOff x="1765300" y="4054498"/>
            <a:chExt cx="2735263" cy="2660650"/>
          </a:xfrm>
        </p:grpSpPr>
        <p:grpSp>
          <p:nvGrpSpPr>
            <p:cNvPr id="29706" name="Group 66"/>
            <p:cNvGrpSpPr>
              <a:grpSpLocks/>
            </p:cNvGrpSpPr>
            <p:nvPr/>
          </p:nvGrpSpPr>
          <p:grpSpPr bwMode="auto">
            <a:xfrm>
              <a:off x="1765300" y="4054498"/>
              <a:ext cx="2735263" cy="2660650"/>
              <a:chOff x="2155" y="2535"/>
              <a:chExt cx="1723" cy="1676"/>
            </a:xfrm>
          </p:grpSpPr>
          <p:grpSp>
            <p:nvGrpSpPr>
              <p:cNvPr id="29708" name="Group 57"/>
              <p:cNvGrpSpPr>
                <a:grpSpLocks/>
              </p:cNvGrpSpPr>
              <p:nvPr/>
            </p:nvGrpSpPr>
            <p:grpSpPr bwMode="auto">
              <a:xfrm>
                <a:off x="2155" y="2535"/>
                <a:ext cx="1723" cy="1676"/>
                <a:chOff x="204" y="556"/>
                <a:chExt cx="1723" cy="1676"/>
              </a:xfrm>
            </p:grpSpPr>
            <p:pic>
              <p:nvPicPr>
                <p:cNvPr id="29711" name="Picture 58"/>
                <p:cNvPicPr>
                  <a:picLocks noChangeAspect="1" noChangeArrowheads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4960"/>
                <a:stretch>
                  <a:fillRect/>
                </a:stretch>
              </p:blipFill>
              <p:spPr bwMode="auto">
                <a:xfrm>
                  <a:off x="307" y="655"/>
                  <a:ext cx="1620" cy="157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26639" name="Rectangle 59"/>
                <p:cNvSpPr>
                  <a:spLocks noChangeArrowheads="1"/>
                </p:cNvSpPr>
                <p:nvPr/>
              </p:nvSpPr>
              <p:spPr bwMode="auto">
                <a:xfrm>
                  <a:off x="566" y="1154"/>
                  <a:ext cx="1089" cy="316"/>
                </a:xfrm>
                <a:prstGeom prst="rect">
                  <a:avLst/>
                </a:prstGeom>
                <a:solidFill>
                  <a:schemeClr val="bg1">
                    <a:lumMod val="65000"/>
                  </a:schemeClr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  <a:defRPr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3" name="Line 60"/>
                <p:cNvSpPr>
                  <a:spLocks noChangeShapeType="1"/>
                </p:cNvSpPr>
                <p:nvPr/>
              </p:nvSpPr>
              <p:spPr bwMode="auto">
                <a:xfrm flipV="1">
                  <a:off x="410" y="1324"/>
                  <a:ext cx="1394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prstDash val="dash"/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4" name="Text Box 61"/>
                <p:cNvSpPr txBox="1">
                  <a:spLocks noChangeArrowheads="1"/>
                </p:cNvSpPr>
                <p:nvPr/>
              </p:nvSpPr>
              <p:spPr bwMode="auto">
                <a:xfrm>
                  <a:off x="824" y="556"/>
                  <a:ext cx="580" cy="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  <a:cs typeface="Times New Roman" charset="0"/>
                      <a:sym typeface="Symbol" pitchFamily="18" charset="2"/>
                    </a:rPr>
                    <a:t>“outlier”</a:t>
                  </a:r>
                  <a:endParaRPr lang="pt-BR" altLang="pt-BR" sz="1600" dirty="0">
                    <a:latin typeface="Tahoma" panose="020B0604030504040204" pitchFamily="34" charset="0"/>
                    <a:sym typeface="Symbol" pitchFamily="18" charset="2"/>
                  </a:endParaRPr>
                </a:p>
              </p:txBody>
            </p:sp>
            <p:sp>
              <p:nvSpPr>
                <p:cNvPr id="29715" name="Rectangle 62"/>
                <p:cNvSpPr>
                  <a:spLocks noChangeArrowheads="1"/>
                </p:cNvSpPr>
                <p:nvPr/>
              </p:nvSpPr>
              <p:spPr bwMode="auto">
                <a:xfrm>
                  <a:off x="340" y="1888"/>
                  <a:ext cx="1542" cy="136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29716" name="Rectangle 63"/>
                <p:cNvSpPr>
                  <a:spLocks noChangeArrowheads="1"/>
                </p:cNvSpPr>
                <p:nvPr/>
              </p:nvSpPr>
              <p:spPr bwMode="auto">
                <a:xfrm>
                  <a:off x="204" y="754"/>
                  <a:ext cx="181" cy="117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algn="ctr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29709" name="Oval 64"/>
              <p:cNvSpPr>
                <a:spLocks noChangeArrowheads="1"/>
              </p:cNvSpPr>
              <p:nvPr/>
            </p:nvSpPr>
            <p:spPr bwMode="auto">
              <a:xfrm>
                <a:off x="3061" y="2931"/>
                <a:ext cx="45" cy="45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710" name="Line 65"/>
              <p:cNvSpPr>
                <a:spLocks noChangeShapeType="1"/>
              </p:cNvSpPr>
              <p:nvPr/>
            </p:nvSpPr>
            <p:spPr bwMode="auto">
              <a:xfrm flipH="1">
                <a:off x="3135" y="2931"/>
                <a:ext cx="335" cy="22"/>
              </a:xfrm>
              <a:prstGeom prst="line">
                <a:avLst/>
              </a:prstGeom>
              <a:noFill/>
              <a:ln w="9525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9707" name="CaixaDeTexto 42"/>
            <p:cNvSpPr txBox="1">
              <a:spLocks noChangeArrowheads="1"/>
            </p:cNvSpPr>
            <p:nvPr/>
          </p:nvSpPr>
          <p:spPr bwMode="auto">
            <a:xfrm rot="-5400000">
              <a:off x="1106530" y="5136069"/>
              <a:ext cx="160973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>
                  <a:latin typeface="Times New Roman" charset="0"/>
                  <a:cs typeface="Times New Roman" charset="0"/>
                </a:rPr>
                <a:t>Resíduos Padronizados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6307D1-4677-43B6-8F69-45E62EE01A9A}" type="slidenum">
              <a:rPr lang="pt-BR"/>
              <a:pPr>
                <a:defRPr/>
              </a:pPr>
              <a:t>38</a:t>
            </a:fld>
            <a:endParaRPr lang="pt-BR" dirty="0"/>
          </a:p>
        </p:txBody>
      </p:sp>
      <p:sp>
        <p:nvSpPr>
          <p:cNvPr id="45" name="Text Box 34"/>
          <p:cNvSpPr txBox="1">
            <a:spLocks noChangeArrowheads="1"/>
          </p:cNvSpPr>
          <p:nvPr/>
        </p:nvSpPr>
        <p:spPr bwMode="auto">
          <a:xfrm>
            <a:off x="6176964" y="4241475"/>
            <a:ext cx="2787524" cy="2308324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Essa análise qualitativa pode antecipar muitos problemas e indicar a necessidade de adequação do modelo a ser utilizado e/ou a necessidade de retirada ou adição de amostras</a:t>
            </a:r>
          </a:p>
          <a:p>
            <a:pPr marL="174625" indent="-1746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Não exclui a utilização de testes e análises específicas!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722" name="Objeto 1"/>
          <p:cNvGraphicFramePr>
            <a:graphicFrameLocks/>
          </p:cNvGraphicFramePr>
          <p:nvPr/>
        </p:nvGraphicFramePr>
        <p:xfrm>
          <a:off x="2562225" y="2122488"/>
          <a:ext cx="4060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05100" imgH="241300" progId="Equation.3">
                  <p:embed/>
                </p:oleObj>
              </mc:Choice>
              <mc:Fallback>
                <p:oleObj name="Equação" r:id="rId2" imgW="2705100" imgH="241300" progId="Equation.3">
                  <p:embed/>
                  <p:pic>
                    <p:nvPicPr>
                      <p:cNvPr id="3072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62225" y="2122488"/>
                        <a:ext cx="4060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/>
          </p:cNvGraphicFramePr>
          <p:nvPr/>
        </p:nvGraphicFramePr>
        <p:xfrm>
          <a:off x="503238" y="2584450"/>
          <a:ext cx="165893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104900" imgH="241300" progId="Equation.3">
                  <p:embed/>
                </p:oleObj>
              </mc:Choice>
              <mc:Fallback>
                <p:oleObj name="Equação" r:id="rId4" imgW="1104900" imgH="241300" progId="Equation.3">
                  <p:embed/>
                  <p:pic>
                    <p:nvPicPr>
                      <p:cNvPr id="10" name="Objeto 9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584450"/>
                        <a:ext cx="165893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/>
          <p:cNvGraphicFramePr>
            <a:graphicFrameLocks/>
          </p:cNvGraphicFramePr>
          <p:nvPr/>
        </p:nvGraphicFramePr>
        <p:xfrm>
          <a:off x="503238" y="2973388"/>
          <a:ext cx="17160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41300" progId="Equation.3">
                  <p:embed/>
                </p:oleObj>
              </mc:Choice>
              <mc:Fallback>
                <p:oleObj name="Equação" r:id="rId6" imgW="1143000" imgH="241300" progId="Equation.3">
                  <p:embed/>
                  <p:pic>
                    <p:nvPicPr>
                      <p:cNvPr id="11" name="Objeto 10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2973388"/>
                        <a:ext cx="17160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/>
          </p:cNvGraphicFramePr>
          <p:nvPr/>
        </p:nvGraphicFramePr>
        <p:xfrm>
          <a:off x="503238" y="3335338"/>
          <a:ext cx="2301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52334" imgH="228501" progId="Equation.3">
                  <p:embed/>
                </p:oleObj>
              </mc:Choice>
              <mc:Fallback>
                <p:oleObj name="Equação" r:id="rId8" imgW="152334" imgH="228501" progId="Equation.3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3238" y="3335338"/>
                        <a:ext cx="2301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/>
        </p:nvGraphicFramePr>
        <p:xfrm>
          <a:off x="2513013" y="5157788"/>
          <a:ext cx="4403725" cy="1028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933700" imgH="685800" progId="Equation.3">
                  <p:embed/>
                </p:oleObj>
              </mc:Choice>
              <mc:Fallback>
                <p:oleObj name="Equação" r:id="rId10" imgW="2933700" imgH="685800" progId="Equation.3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3" y="5157788"/>
                        <a:ext cx="4403725" cy="1028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0729" name="Retângulo 2"/>
          <p:cNvSpPr>
            <a:spLocks noChangeArrowheads="1"/>
          </p:cNvSpPr>
          <p:nvPr/>
        </p:nvSpPr>
        <p:spPr bwMode="auto">
          <a:xfrm>
            <a:off x="755650" y="1628775"/>
            <a:ext cx="792003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800" dirty="0">
                <a:latin typeface="Tahoma" panose="020B0604030504040204" pitchFamily="34" charset="0"/>
              </a:rPr>
              <a:t>Modelo Geral</a:t>
            </a:r>
          </a:p>
        </p:txBody>
      </p:sp>
      <p:sp>
        <p:nvSpPr>
          <p:cNvPr id="27658" name="Retângulo 2"/>
          <p:cNvSpPr>
            <a:spLocks noChangeArrowheads="1"/>
          </p:cNvSpPr>
          <p:nvPr/>
        </p:nvSpPr>
        <p:spPr bwMode="auto">
          <a:xfrm>
            <a:off x="2195513" y="2584450"/>
            <a:ext cx="67691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parâmetros do modelo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no total)</a:t>
            </a:r>
          </a:p>
        </p:txBody>
      </p:sp>
      <p:sp>
        <p:nvSpPr>
          <p:cNvPr id="27659" name="Retângulo 2"/>
          <p:cNvSpPr>
            <a:spLocks noChangeArrowheads="1"/>
          </p:cNvSpPr>
          <p:nvPr/>
        </p:nvSpPr>
        <p:spPr bwMode="auto">
          <a:xfrm>
            <a:off x="2268538" y="2932113"/>
            <a:ext cx="36718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valores fixos conhecidos</a:t>
            </a:r>
          </a:p>
        </p:txBody>
      </p:sp>
      <p:sp>
        <p:nvSpPr>
          <p:cNvPr id="27660" name="Retângulo 2"/>
          <p:cNvSpPr>
            <a:spLocks noChangeArrowheads="1"/>
          </p:cNvSpPr>
          <p:nvPr/>
        </p:nvSpPr>
        <p:spPr bwMode="auto">
          <a:xfrm>
            <a:off x="755650" y="3332163"/>
            <a:ext cx="45370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são erros independentes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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  <a:sym typeface="Symbol" pitchFamily="18" charset="2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~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(0,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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)</a:t>
            </a:r>
          </a:p>
        </p:txBody>
      </p:sp>
      <p:sp>
        <p:nvSpPr>
          <p:cNvPr id="27661" name="Retângulo 2"/>
          <p:cNvSpPr>
            <a:spLocks noChangeArrowheads="1"/>
          </p:cNvSpPr>
          <p:nvPr/>
        </p:nvSpPr>
        <p:spPr bwMode="auto">
          <a:xfrm>
            <a:off x="684213" y="4338638"/>
            <a:ext cx="7991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Fazendo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0,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1</a:t>
            </a:r>
            <a:r>
              <a:rPr lang="pt-BR" altLang="pt-BR" sz="1600" dirty="0">
                <a:latin typeface="Tahoma" panose="020B0604030504040204" pitchFamily="34" charset="0"/>
              </a:rPr>
              <a:t>, podemos reescrever o modelo como</a:t>
            </a:r>
            <a:endParaRPr lang="pt-BR" altLang="pt-BR" sz="1600" dirty="0">
              <a:latin typeface="Times New Roman" charset="0"/>
              <a:cs typeface="Times New Roman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5CFFCA-04DF-4609-89E7-D0383A781C04}" type="slidenum">
              <a:rPr lang="pt-BR"/>
              <a:pPr>
                <a:defRPr/>
              </a:pPr>
              <a:t>39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10ECE5AB-1E4F-9E91-2677-4A9538B67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3238" y="3751255"/>
                <a:ext cx="745313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42900" indent="-3429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>
                  <a:spcBef>
                    <a:spcPct val="5000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cada observação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deve conter valores para todos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(valores relacionados)</a:t>
                </a:r>
              </a:p>
            </p:txBody>
          </p:sp>
        </mc:Choice>
        <mc:Fallback xmlns="">
          <p:sp>
            <p:nvSpPr>
              <p:cNvPr id="3" name="Retângulo 2">
                <a:extLst>
                  <a:ext uri="{FF2B5EF4-FFF2-40B4-BE49-F238E27FC236}">
                    <a16:creationId xmlns:a16="http://schemas.microsoft.com/office/drawing/2014/main" id="{10ECE5AB-1E4F-9E91-2677-4A9538B67E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03238" y="3751255"/>
                <a:ext cx="7453138" cy="338554"/>
              </a:xfrm>
              <a:prstGeom prst="rect">
                <a:avLst/>
              </a:prstGeom>
              <a:blipFill>
                <a:blip r:embed="rId12"/>
                <a:stretch>
                  <a:fillRect l="-491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658" grpId="0"/>
      <p:bldP spid="27659" grpId="0"/>
      <p:bldP spid="27660" grpId="0"/>
      <p:bldP spid="27661" grpId="0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Casos Especiais</a:t>
            </a:r>
            <a:endParaRPr lang="pt-BR" dirty="0"/>
          </a:p>
        </p:txBody>
      </p:sp>
      <p:sp>
        <p:nvSpPr>
          <p:cNvPr id="28675" name="Retângulo 2"/>
          <p:cNvSpPr>
            <a:spLocks noChangeArrowheads="1"/>
          </p:cNvSpPr>
          <p:nvPr/>
        </p:nvSpPr>
        <p:spPr bwMode="auto">
          <a:xfrm>
            <a:off x="250825" y="1412875"/>
            <a:ext cx="8713788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Regressão Polinomial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de 3</a:t>
            </a:r>
            <a:r>
              <a:rPr lang="pt-BR" altLang="pt-BR" sz="1600" u="sng" baseline="30000" dirty="0">
                <a:solidFill>
                  <a:schemeClr val="tx2"/>
                </a:solidFill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grau com uma variável independente:</a:t>
            </a:r>
          </a:p>
        </p:txBody>
      </p:sp>
      <p:graphicFrame>
        <p:nvGraphicFramePr>
          <p:cNvPr id="28676" name="Objeto 3"/>
          <p:cNvGraphicFramePr>
            <a:graphicFrameLocks/>
          </p:cNvGraphicFramePr>
          <p:nvPr/>
        </p:nvGraphicFramePr>
        <p:xfrm>
          <a:off x="3019425" y="2152650"/>
          <a:ext cx="31464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95500" imgH="241300" progId="Equation.3">
                  <p:embed/>
                </p:oleObj>
              </mc:Choice>
              <mc:Fallback>
                <p:oleObj name="Equação" r:id="rId2" imgW="2095500" imgH="241300" progId="Equation.3">
                  <p:embed/>
                  <p:pic>
                    <p:nvPicPr>
                      <p:cNvPr id="28676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019425" y="2152650"/>
                        <a:ext cx="31464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77" name="Grupo 5"/>
          <p:cNvGrpSpPr>
            <a:grpSpLocks/>
          </p:cNvGrpSpPr>
          <p:nvPr/>
        </p:nvGrpSpPr>
        <p:grpSpPr bwMode="auto">
          <a:xfrm>
            <a:off x="268288" y="2636838"/>
            <a:ext cx="5562600" cy="381000"/>
            <a:chOff x="395536" y="2611358"/>
            <a:chExt cx="5562741" cy="381000"/>
          </a:xfrm>
        </p:grpSpPr>
        <p:sp>
          <p:nvSpPr>
            <p:cNvPr id="31760" name="Retângulo 4"/>
            <p:cNvSpPr>
              <a:spLocks noChangeArrowheads="1"/>
            </p:cNvSpPr>
            <p:nvPr/>
          </p:nvSpPr>
          <p:spPr bwMode="auto">
            <a:xfrm>
              <a:off x="395536" y="2624212"/>
              <a:ext cx="556274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,                 e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61" name="Objeto 17"/>
            <p:cNvGraphicFramePr>
              <a:graphicFrameLocks/>
            </p:cNvGraphicFramePr>
            <p:nvPr/>
          </p:nvGraphicFramePr>
          <p:xfrm>
            <a:off x="2206928" y="2630408"/>
            <a:ext cx="8572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571252" imgH="241195" progId="Equation.3">
                    <p:embed/>
                  </p:oleObj>
                </mc:Choice>
                <mc:Fallback>
                  <p:oleObj name="Equação" r:id="rId4" imgW="571252" imgH="241195" progId="Equation.3">
                    <p:embed/>
                    <p:pic>
                      <p:nvPicPr>
                        <p:cNvPr id="31761" name="Objeto 1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06928" y="2630408"/>
                          <a:ext cx="8572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2" name="Objeto 18"/>
            <p:cNvGraphicFramePr>
              <a:graphicFrameLocks/>
            </p:cNvGraphicFramePr>
            <p:nvPr/>
          </p:nvGraphicFramePr>
          <p:xfrm>
            <a:off x="3186832" y="2611358"/>
            <a:ext cx="933450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622030" imgH="253890" progId="Equation.3">
                    <p:embed/>
                  </p:oleObj>
                </mc:Choice>
                <mc:Fallback>
                  <p:oleObj name="Equação" r:id="rId6" imgW="622030" imgH="253890" progId="Equation.3">
                    <p:embed/>
                    <p:pic>
                      <p:nvPicPr>
                        <p:cNvPr id="31762" name="Objeto 18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186832" y="2611358"/>
                          <a:ext cx="933450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763" name="Objeto 19"/>
            <p:cNvGraphicFramePr>
              <a:graphicFrameLocks/>
            </p:cNvGraphicFramePr>
            <p:nvPr/>
          </p:nvGraphicFramePr>
          <p:xfrm>
            <a:off x="4308277" y="2611358"/>
            <a:ext cx="915987" cy="3810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8" imgW="609336" imgH="253890" progId="Equation.3">
                    <p:embed/>
                  </p:oleObj>
                </mc:Choice>
                <mc:Fallback>
                  <p:oleObj name="Equação" r:id="rId8" imgW="609336" imgH="253890" progId="Equation.3">
                    <p:embed/>
                    <p:pic>
                      <p:nvPicPr>
                        <p:cNvPr id="31763" name="Objeto 19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08277" y="2611358"/>
                          <a:ext cx="915987" cy="3810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78" name="Objeto 20"/>
          <p:cNvGraphicFramePr>
            <a:graphicFrameLocks/>
          </p:cNvGraphicFramePr>
          <p:nvPr/>
        </p:nvGraphicFramePr>
        <p:xfrm>
          <a:off x="2924175" y="314166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78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314166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79" name="Retângulo 6"/>
          <p:cNvSpPr>
            <a:spLocks noChangeArrowheads="1"/>
          </p:cNvSpPr>
          <p:nvPr/>
        </p:nvSpPr>
        <p:spPr bwMode="auto">
          <a:xfrm>
            <a:off x="395288" y="5694363"/>
            <a:ext cx="8208962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Importante: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o modelo geral de regressão linear não é restrito às superfícies planas. O termo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refere-se ao fato de que ele é </a:t>
            </a:r>
            <a:r>
              <a:rPr lang="pt-BR" altLang="pt-BR" sz="1600" dirty="0">
                <a:solidFill>
                  <a:srgbClr val="FF3300"/>
                </a:solidFill>
                <a:latin typeface="Tahoma" panose="020B0604030504040204" pitchFamily="34" charset="0"/>
              </a:rPr>
              <a:t>linear nos parâmetros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não na forma da superfície.</a:t>
            </a:r>
          </a:p>
        </p:txBody>
      </p:sp>
      <p:sp>
        <p:nvSpPr>
          <p:cNvPr id="28680" name="Retângulo 23"/>
          <p:cNvSpPr>
            <a:spLocks noChangeArrowheads="1"/>
          </p:cNvSpPr>
          <p:nvPr/>
        </p:nvSpPr>
        <p:spPr bwMode="auto">
          <a:xfrm>
            <a:off x="268288" y="3644900"/>
            <a:ext cx="8713787" cy="615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dirty="0">
                <a:solidFill>
                  <a:srgbClr val="FF3300"/>
                </a:solidFill>
                <a:latin typeface="Tahoma" panose="020B0604030504040204" pitchFamily="34" charset="0"/>
              </a:rPr>
              <a:t>Efeito de Interação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de regressão com duas variáveis independentes:</a:t>
            </a:r>
          </a:p>
        </p:txBody>
      </p:sp>
      <p:graphicFrame>
        <p:nvGraphicFramePr>
          <p:cNvPr id="28681" name="Objeto 24"/>
          <p:cNvGraphicFramePr>
            <a:graphicFrameLocks/>
          </p:cNvGraphicFramePr>
          <p:nvPr/>
        </p:nvGraphicFramePr>
        <p:xfrm>
          <a:off x="2649538" y="4316413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451100" imgH="241300" progId="Equation.3">
                  <p:embed/>
                </p:oleObj>
              </mc:Choice>
              <mc:Fallback>
                <p:oleObj name="Equação" r:id="rId12" imgW="2451100" imgH="241300" progId="Equation.3">
                  <p:embed/>
                  <p:pic>
                    <p:nvPicPr>
                      <p:cNvPr id="28681" name="Objeto 24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49538" y="4316413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8682" name="Grupo 25"/>
          <p:cNvGrpSpPr>
            <a:grpSpLocks/>
          </p:cNvGrpSpPr>
          <p:nvPr/>
        </p:nvGrpSpPr>
        <p:grpSpPr bwMode="auto">
          <a:xfrm>
            <a:off x="268288" y="4733925"/>
            <a:ext cx="3806825" cy="368300"/>
            <a:chOff x="395536" y="2624212"/>
            <a:chExt cx="3805850" cy="368082"/>
          </a:xfrm>
        </p:grpSpPr>
        <p:sp>
          <p:nvSpPr>
            <p:cNvPr id="31758" name="Retângulo 26"/>
            <p:cNvSpPr>
              <a:spLocks noChangeArrowheads="1"/>
            </p:cNvSpPr>
            <p:nvPr/>
          </p:nvSpPr>
          <p:spPr bwMode="auto">
            <a:xfrm>
              <a:off x="395536" y="2624212"/>
              <a:ext cx="380585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tx2"/>
                  </a:solidFill>
                  <a:latin typeface="Tahoma" panose="020B0604030504040204" pitchFamily="34" charset="0"/>
                </a:rPr>
                <a:t>Se considerarmos                       então</a:t>
              </a: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1759" name="Objeto 27"/>
            <p:cNvGraphicFramePr>
              <a:graphicFrameLocks/>
            </p:cNvGraphicFramePr>
            <p:nvPr/>
          </p:nvGraphicFramePr>
          <p:xfrm>
            <a:off x="2151906" y="2630344"/>
            <a:ext cx="131445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4" imgW="876300" imgH="241300" progId="Equation.3">
                    <p:embed/>
                  </p:oleObj>
                </mc:Choice>
                <mc:Fallback>
                  <p:oleObj name="Equação" r:id="rId14" imgW="876300" imgH="241300" progId="Equation.3">
                    <p:embed/>
                    <p:pic>
                      <p:nvPicPr>
                        <p:cNvPr id="31759" name="Objeto 27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51906" y="2630344"/>
                          <a:ext cx="131445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28683" name="Objeto 30"/>
          <p:cNvGraphicFramePr>
            <a:graphicFrameLocks/>
          </p:cNvGraphicFramePr>
          <p:nvPr/>
        </p:nvGraphicFramePr>
        <p:xfrm>
          <a:off x="2924175" y="5157788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2235200" imgH="241300" progId="Equation.3">
                  <p:embed/>
                </p:oleObj>
              </mc:Choice>
              <mc:Fallback>
                <p:oleObj name="Equação" r:id="rId10" imgW="2235200" imgH="241300" progId="Equation.3">
                  <p:embed/>
                  <p:pic>
                    <p:nvPicPr>
                      <p:cNvPr id="28683" name="Objeto 30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24175" y="5157788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Oval 144"/>
          <p:cNvSpPr>
            <a:spLocks noChangeArrowheads="1"/>
          </p:cNvSpPr>
          <p:nvPr/>
        </p:nvSpPr>
        <p:spPr bwMode="auto">
          <a:xfrm>
            <a:off x="5156200" y="4291013"/>
            <a:ext cx="784225" cy="357187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71FCF8-6248-4E35-AC41-C20CE8FFE8A1}" type="slidenum">
              <a:rPr lang="pt-BR"/>
              <a:pPr>
                <a:defRPr/>
              </a:pPr>
              <a:t>40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 nodeType="clickPar">
                      <p:stCondLst>
                        <p:cond delay="indefinite"/>
                      </p:stCondLst>
                      <p:childTnLst>
                        <p:par>
                          <p:cTn id="1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 nodeType="clickPar">
                      <p:stCondLst>
                        <p:cond delay="indefinite"/>
                      </p:stCondLst>
                      <p:childTnLst>
                        <p:par>
                          <p:cTn id="25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 nodeType="after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675" grpId="0" build="p"/>
      <p:bldP spid="28679" grpId="0"/>
      <p:bldP spid="28680" grpId="0" build="p"/>
      <p:bldP spid="18" grpId="0" animBg="1" autoUpdateAnimBg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2795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2799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0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1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2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3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4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5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6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7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8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09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0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1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2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2813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2796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2797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2798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2771" name="Objeto 1"/>
          <p:cNvGraphicFramePr>
            <a:graphicFrameLocks/>
          </p:cNvGraphicFramePr>
          <p:nvPr/>
        </p:nvGraphicFramePr>
        <p:xfrm>
          <a:off x="3305175" y="2203450"/>
          <a:ext cx="257333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714500" imgH="241300" progId="Equation.3">
                  <p:embed/>
                </p:oleObj>
              </mc:Choice>
              <mc:Fallback>
                <p:oleObj name="Equação" r:id="rId2" imgW="1714500" imgH="241300" progId="Equation.3">
                  <p:embed/>
                  <p:pic>
                    <p:nvPicPr>
                      <p:cNvPr id="32771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05175" y="2203450"/>
                        <a:ext cx="257333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2773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55950" y="3382963"/>
            <a:ext cx="3332163" cy="2660650"/>
            <a:chOff x="2568412" y="2796619"/>
            <a:chExt cx="4071069" cy="3250676"/>
          </a:xfrm>
        </p:grpSpPr>
        <p:sp>
          <p:nvSpPr>
            <p:cNvPr id="32788" name="Forma livre 32798"/>
            <p:cNvSpPr>
              <a:spLocks/>
            </p:cNvSpPr>
            <p:nvPr/>
          </p:nvSpPr>
          <p:spPr bwMode="auto">
            <a:xfrm>
              <a:off x="2568412" y="2796619"/>
              <a:ext cx="4071069" cy="3250676"/>
            </a:xfrm>
            <a:custGeom>
              <a:avLst/>
              <a:gdLst>
                <a:gd name="T0" fmla="*/ 0 w 4071069"/>
                <a:gd name="T1" fmla="*/ 1143654 h 3250676"/>
                <a:gd name="T2" fmla="*/ 2984368 w 4071069"/>
                <a:gd name="T3" fmla="*/ 0 h 3250676"/>
                <a:gd name="T4" fmla="*/ 4071069 w 4071069"/>
                <a:gd name="T5" fmla="*/ 2095761 h 3250676"/>
                <a:gd name="T6" fmla="*/ 1091414 w 4071069"/>
                <a:gd name="T7" fmla="*/ 3250676 h 3250676"/>
                <a:gd name="T8" fmla="*/ 0 w 4071069"/>
                <a:gd name="T9" fmla="*/ 1143654 h 3250676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71069" h="3250676">
                  <a:moveTo>
                    <a:pt x="0" y="1143654"/>
                  </a:moveTo>
                  <a:lnTo>
                    <a:pt x="2984368" y="0"/>
                  </a:lnTo>
                  <a:lnTo>
                    <a:pt x="4071069" y="2095761"/>
                  </a:lnTo>
                  <a:lnTo>
                    <a:pt x="1091414" y="3250676"/>
                  </a:lnTo>
                  <a:lnTo>
                    <a:pt x="0" y="1143654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2789" name="Conector reto 32784"/>
            <p:cNvCxnSpPr>
              <a:cxnSpLocks noChangeShapeType="1"/>
            </p:cNvCxnSpPr>
            <p:nvPr/>
          </p:nvCxnSpPr>
          <p:spPr bwMode="auto">
            <a:xfrm>
              <a:off x="3315401" y="3651990"/>
              <a:ext cx="1088305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0" name="Conector reto 32786"/>
            <p:cNvCxnSpPr>
              <a:cxnSpLocks noChangeShapeType="1"/>
            </p:cNvCxnSpPr>
            <p:nvPr/>
          </p:nvCxnSpPr>
          <p:spPr bwMode="auto">
            <a:xfrm>
              <a:off x="4061507" y="3365890"/>
              <a:ext cx="1082694" cy="209807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1" name="Conector reto 32788"/>
            <p:cNvCxnSpPr>
              <a:cxnSpLocks noChangeShapeType="1"/>
            </p:cNvCxnSpPr>
            <p:nvPr/>
          </p:nvCxnSpPr>
          <p:spPr bwMode="auto">
            <a:xfrm flipH="1">
              <a:off x="3393939" y="4358827"/>
              <a:ext cx="296759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2" name="Conector reto 32790"/>
            <p:cNvCxnSpPr>
              <a:cxnSpLocks noChangeShapeType="1"/>
            </p:cNvCxnSpPr>
            <p:nvPr/>
          </p:nvCxnSpPr>
          <p:spPr bwMode="auto">
            <a:xfrm flipH="1">
              <a:off x="3113448" y="3837114"/>
              <a:ext cx="297881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3" name="Conector reto 32792"/>
            <p:cNvCxnSpPr>
              <a:cxnSpLocks noChangeShapeType="1"/>
            </p:cNvCxnSpPr>
            <p:nvPr/>
          </p:nvCxnSpPr>
          <p:spPr bwMode="auto">
            <a:xfrm flipH="1">
              <a:off x="2844177" y="3315401"/>
              <a:ext cx="2984422" cy="1155622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94" name="Conector reto 32795"/>
            <p:cNvCxnSpPr>
              <a:cxnSpLocks noChangeShapeType="1"/>
            </p:cNvCxnSpPr>
            <p:nvPr/>
          </p:nvCxnSpPr>
          <p:spPr bwMode="auto">
            <a:xfrm>
              <a:off x="4807612" y="3079789"/>
              <a:ext cx="1093914" cy="210368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8" y="5011738"/>
            <a:ext cx="3085028" cy="396875"/>
            <a:chOff x="5708050" y="5011030"/>
            <a:chExt cx="3087153" cy="397252"/>
          </a:xfrm>
        </p:grpSpPr>
        <p:sp>
          <p:nvSpPr>
            <p:cNvPr id="32786" name="Forma livre 27661"/>
            <p:cNvSpPr>
              <a:spLocks/>
            </p:cNvSpPr>
            <p:nvPr/>
          </p:nvSpPr>
          <p:spPr bwMode="auto">
            <a:xfrm>
              <a:off x="5708050" y="5093658"/>
              <a:ext cx="776857" cy="314624"/>
            </a:xfrm>
            <a:custGeom>
              <a:avLst/>
              <a:gdLst>
                <a:gd name="T0" fmla="*/ 0 w 776857"/>
                <a:gd name="T1" fmla="*/ 314624 h 314624"/>
                <a:gd name="T2" fmla="*/ 776857 w 776857"/>
                <a:gd name="T3" fmla="*/ 0 h 314624"/>
                <a:gd name="T4" fmla="*/ 776857 w 776857"/>
                <a:gd name="T5" fmla="*/ 162944 h 314624"/>
                <a:gd name="T6" fmla="*/ 0 w 776857"/>
                <a:gd name="T7" fmla="*/ 314624 h 314624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14624">
                  <a:moveTo>
                    <a:pt x="0" y="314624"/>
                  </a:moveTo>
                  <a:lnTo>
                    <a:pt x="776857" y="0"/>
                  </a:lnTo>
                  <a:lnTo>
                    <a:pt x="776857" y="162944"/>
                  </a:lnTo>
                  <a:lnTo>
                    <a:pt x="0" y="314624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7" name="CaixaDeTexto 27662"/>
            <p:cNvSpPr txBox="1">
              <a:spLocks noChangeArrowheads="1"/>
            </p:cNvSpPr>
            <p:nvPr/>
          </p:nvSpPr>
          <p:spPr bwMode="auto">
            <a:xfrm>
              <a:off x="6516216" y="5011030"/>
              <a:ext cx="2278987" cy="33887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r>
                <a:rPr lang="pt-BR" sz="16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(para qualquer valor de </a:t>
              </a:r>
              <a:r>
                <a:rPr lang="pt-BR" sz="12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sz="12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2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)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942460" y="4254500"/>
            <a:ext cx="2677036" cy="966788"/>
            <a:chOff x="942213" y="4254691"/>
            <a:chExt cx="2677005" cy="966335"/>
          </a:xfrm>
        </p:grpSpPr>
        <p:sp>
          <p:nvSpPr>
            <p:cNvPr id="32784" name="Forma livre 116"/>
            <p:cNvSpPr>
              <a:spLocks/>
            </p:cNvSpPr>
            <p:nvPr/>
          </p:nvSpPr>
          <p:spPr bwMode="auto">
            <a:xfrm>
              <a:off x="3159623" y="4325557"/>
              <a:ext cx="459595" cy="895469"/>
            </a:xfrm>
            <a:custGeom>
              <a:avLst/>
              <a:gdLst>
                <a:gd name="T0" fmla="*/ 459595 w 459595"/>
                <a:gd name="T1" fmla="*/ 895469 h 895469"/>
                <a:gd name="T2" fmla="*/ 0 w 459595"/>
                <a:gd name="T3" fmla="*/ 0 h 895469"/>
                <a:gd name="T4" fmla="*/ 5751 w 459595"/>
                <a:gd name="T5" fmla="*/ 231956 h 895469"/>
                <a:gd name="T6" fmla="*/ 459595 w 459595"/>
                <a:gd name="T7" fmla="*/ 895469 h 895469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459595" h="895469">
                  <a:moveTo>
                    <a:pt x="459595" y="895469"/>
                  </a:moveTo>
                  <a:lnTo>
                    <a:pt x="0" y="0"/>
                  </a:lnTo>
                  <a:lnTo>
                    <a:pt x="5751" y="231956"/>
                  </a:lnTo>
                  <a:lnTo>
                    <a:pt x="459595" y="895469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2785" name="CaixaDeTexto 118"/>
            <p:cNvSpPr txBox="1">
              <a:spLocks noChangeArrowheads="1"/>
            </p:cNvSpPr>
            <p:nvPr/>
          </p:nvSpPr>
          <p:spPr bwMode="auto">
            <a:xfrm>
              <a:off x="942213" y="4254691"/>
              <a:ext cx="2261362" cy="3383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kumimoji="0" lang="pt-B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Times New Roman" panose="02020603050405020304" pitchFamily="18" charset="0"/>
                  <a:sym typeface="Symbol"/>
                </a:rPr>
                <a:t>(para qualquer valor de </a:t>
              </a:r>
              <a:r>
                <a:rPr kumimoji="0" lang="pt-BR" sz="1200" b="0" i="1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  <a:sym typeface="Symbol"/>
                </a:rPr>
                <a:t>X</a:t>
              </a:r>
              <a:r>
                <a:rPr kumimoji="0" lang="pt-BR" sz="1200" b="0" i="0" u="none" strike="noStrike" kern="1200" cap="none" spc="0" normalizeH="0" baseline="-2500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  <a:sym typeface="Symbol"/>
                </a:rPr>
                <a:t>1</a:t>
              </a:r>
              <a:r>
                <a:rPr kumimoji="0" lang="pt-BR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ahoma" panose="020B0604030504040204" pitchFamily="34" charset="0"/>
                  <a:ea typeface="+mn-ea"/>
                  <a:cs typeface="Times New Roman" panose="02020603050405020304" pitchFamily="18" charset="0"/>
                  <a:sym typeface="Symbol"/>
                </a:rPr>
                <a:t>)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2779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2780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2781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2782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2783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8E41FB4-BCFE-43EE-B537-950F30C673D2}" type="slidenum">
              <a:rPr lang="pt-BR"/>
              <a:pPr>
                <a:defRPr/>
              </a:pPr>
              <a:t>41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rupo 67"/>
          <p:cNvGrpSpPr>
            <a:grpSpLocks/>
          </p:cNvGrpSpPr>
          <p:nvPr/>
        </p:nvGrpSpPr>
        <p:grpSpPr bwMode="auto">
          <a:xfrm>
            <a:off x="2835275" y="2898775"/>
            <a:ext cx="3652838" cy="3406775"/>
            <a:chOff x="2835654" y="2898426"/>
            <a:chExt cx="3652603" cy="3407387"/>
          </a:xfrm>
        </p:grpSpPr>
        <p:grpSp>
          <p:nvGrpSpPr>
            <p:cNvPr id="33819" name="Grupo 64"/>
            <p:cNvGrpSpPr>
              <a:grpSpLocks/>
            </p:cNvGrpSpPr>
            <p:nvPr/>
          </p:nvGrpSpPr>
          <p:grpSpPr bwMode="auto">
            <a:xfrm>
              <a:off x="3157906" y="2898426"/>
              <a:ext cx="3330351" cy="3262292"/>
              <a:chOff x="2571404" y="2205644"/>
              <a:chExt cx="4067694" cy="3984567"/>
            </a:xfrm>
          </p:grpSpPr>
          <p:cxnSp>
            <p:nvCxnSpPr>
              <p:cNvPr id="33823" name="Conector reto 2"/>
              <p:cNvCxnSpPr>
                <a:cxnSpLocks noChangeShapeType="1"/>
              </p:cNvCxnSpPr>
              <p:nvPr/>
            </p:nvCxnSpPr>
            <p:spPr bwMode="auto">
              <a:xfrm flipH="1" flipV="1">
                <a:off x="2576945" y="4699462"/>
                <a:ext cx="1075113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4" name="Conector reto 4"/>
              <p:cNvCxnSpPr>
                <a:cxnSpLocks noChangeShapeType="1"/>
              </p:cNvCxnSpPr>
              <p:nvPr/>
            </p:nvCxnSpPr>
            <p:spPr bwMode="auto">
              <a:xfrm flipH="1" flipV="1">
                <a:off x="3319549" y="4566458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5" name="Conector reto 6"/>
              <p:cNvCxnSpPr>
                <a:cxnSpLocks noChangeShapeType="1"/>
              </p:cNvCxnSpPr>
              <p:nvPr/>
            </p:nvCxnSpPr>
            <p:spPr bwMode="auto">
              <a:xfrm flipH="1" flipV="1">
                <a:off x="4062153" y="4438996"/>
                <a:ext cx="1080654" cy="148520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6" name="Conector reto 8"/>
              <p:cNvCxnSpPr>
                <a:cxnSpLocks noChangeShapeType="1"/>
              </p:cNvCxnSpPr>
              <p:nvPr/>
            </p:nvCxnSpPr>
            <p:spPr bwMode="auto">
              <a:xfrm flipH="1" flipV="1">
                <a:off x="4804756" y="4294909"/>
                <a:ext cx="1080655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7" name="Conector reto 15"/>
              <p:cNvCxnSpPr>
                <a:cxnSpLocks noChangeShapeType="1"/>
              </p:cNvCxnSpPr>
              <p:nvPr/>
            </p:nvCxnSpPr>
            <p:spPr bwMode="auto">
              <a:xfrm flipH="1" flipV="1">
                <a:off x="5552902" y="4167447"/>
                <a:ext cx="1080654" cy="1479666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8" name="Conector reto 17"/>
              <p:cNvCxnSpPr>
                <a:cxnSpLocks noChangeShapeType="1"/>
              </p:cNvCxnSpPr>
              <p:nvPr/>
            </p:nvCxnSpPr>
            <p:spPr bwMode="auto">
              <a:xfrm flipV="1">
                <a:off x="2582487" y="4161905"/>
                <a:ext cx="2970415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29" name="Conector reto 19"/>
              <p:cNvCxnSpPr>
                <a:cxnSpLocks noChangeShapeType="1"/>
              </p:cNvCxnSpPr>
              <p:nvPr/>
            </p:nvCxnSpPr>
            <p:spPr bwMode="auto">
              <a:xfrm flipV="1">
                <a:off x="3640975" y="5647113"/>
                <a:ext cx="2998123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0" name="Conector reto 21"/>
              <p:cNvCxnSpPr>
                <a:cxnSpLocks noChangeShapeType="1"/>
              </p:cNvCxnSpPr>
              <p:nvPr/>
            </p:nvCxnSpPr>
            <p:spPr bwMode="auto">
              <a:xfrm flipV="1">
                <a:off x="2848495" y="4533207"/>
                <a:ext cx="2975956" cy="537557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1" name="Conector reto 23"/>
              <p:cNvCxnSpPr>
                <a:cxnSpLocks noChangeShapeType="1"/>
              </p:cNvCxnSpPr>
              <p:nvPr/>
            </p:nvCxnSpPr>
            <p:spPr bwMode="auto">
              <a:xfrm flipV="1">
                <a:off x="3103418" y="4915593"/>
                <a:ext cx="2992582" cy="52647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2" name="Conector reto 25"/>
              <p:cNvCxnSpPr>
                <a:cxnSpLocks noChangeShapeType="1"/>
              </p:cNvCxnSpPr>
              <p:nvPr/>
            </p:nvCxnSpPr>
            <p:spPr bwMode="auto">
              <a:xfrm flipV="1">
                <a:off x="3380509" y="5281353"/>
                <a:ext cx="2992582" cy="543098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3" name="Conector reto 27"/>
              <p:cNvCxnSpPr>
                <a:cxnSpLocks noChangeShapeType="1"/>
              </p:cNvCxnSpPr>
              <p:nvPr/>
            </p:nvCxnSpPr>
            <p:spPr bwMode="auto">
              <a:xfrm flipH="1" flipV="1">
                <a:off x="2571404" y="2754284"/>
                <a:ext cx="11083" cy="1950720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4" name="Conector reto 29"/>
              <p:cNvCxnSpPr>
                <a:cxnSpLocks noChangeShapeType="1"/>
              </p:cNvCxnSpPr>
              <p:nvPr/>
            </p:nvCxnSpPr>
            <p:spPr bwMode="auto">
              <a:xfrm flipV="1">
                <a:off x="5558444" y="2205644"/>
                <a:ext cx="0" cy="1961803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5" name="Conector reto 32767"/>
              <p:cNvCxnSpPr>
                <a:cxnSpLocks noChangeShapeType="1"/>
              </p:cNvCxnSpPr>
              <p:nvPr/>
            </p:nvCxnSpPr>
            <p:spPr bwMode="auto">
              <a:xfrm flipV="1">
                <a:off x="6633556" y="3690851"/>
                <a:ext cx="5542" cy="1956262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6" name="Conector reto 32772"/>
              <p:cNvCxnSpPr>
                <a:cxnSpLocks noChangeShapeType="1"/>
              </p:cNvCxnSpPr>
              <p:nvPr/>
            </p:nvCxnSpPr>
            <p:spPr bwMode="auto">
              <a:xfrm flipV="1">
                <a:off x="2576945" y="2205644"/>
                <a:ext cx="2987040" cy="554181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837" name="Conector reto 32774"/>
              <p:cNvCxnSpPr>
                <a:cxnSpLocks noChangeShapeType="1"/>
              </p:cNvCxnSpPr>
              <p:nvPr/>
            </p:nvCxnSpPr>
            <p:spPr bwMode="auto">
              <a:xfrm>
                <a:off x="5575069" y="2205644"/>
                <a:ext cx="1064029" cy="1490749"/>
              </a:xfrm>
              <a:prstGeom prst="lin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33820" name="CaixaDeTexto 66"/>
            <p:cNvSpPr txBox="1">
              <a:spLocks noChangeArrowheads="1"/>
            </p:cNvSpPr>
            <p:nvPr/>
          </p:nvSpPr>
          <p:spPr bwMode="auto">
            <a:xfrm rot="-631934">
              <a:off x="5220324" y="5967259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33821" name="CaixaDeTexto 100"/>
            <p:cNvSpPr txBox="1">
              <a:spLocks noChangeArrowheads="1"/>
            </p:cNvSpPr>
            <p:nvPr/>
          </p:nvSpPr>
          <p:spPr bwMode="auto">
            <a:xfrm rot="3039062">
              <a:off x="3185202" y="5412772"/>
              <a:ext cx="37863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6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33822" name="CaixaDeTexto 101"/>
            <p:cNvSpPr txBox="1">
              <a:spLocks noChangeArrowheads="1"/>
            </p:cNvSpPr>
            <p:nvPr/>
          </p:nvSpPr>
          <p:spPr bwMode="auto">
            <a:xfrm>
              <a:off x="2835654" y="3382276"/>
              <a:ext cx="29848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>
                  <a:latin typeface="Times New Roman" charset="0"/>
                  <a:cs typeface="Times New Roman" charset="0"/>
                </a:rPr>
                <a:t>Y</a:t>
              </a:r>
            </a:p>
          </p:txBody>
        </p:sp>
      </p:grpSp>
      <p:graphicFrame>
        <p:nvGraphicFramePr>
          <p:cNvPr id="33795" name="Objeto 1"/>
          <p:cNvGraphicFramePr>
            <a:graphicFrameLocks/>
          </p:cNvGraphicFramePr>
          <p:nvPr/>
        </p:nvGraphicFramePr>
        <p:xfrm>
          <a:off x="2752725" y="2203450"/>
          <a:ext cx="36798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451100" imgH="241300" progId="Equation.3">
                  <p:embed/>
                </p:oleObj>
              </mc:Choice>
              <mc:Fallback>
                <p:oleObj name="Equação" r:id="rId2" imgW="2451100" imgH="241300" progId="Equation.3">
                  <p:embed/>
                  <p:pic>
                    <p:nvPicPr>
                      <p:cNvPr id="33795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2725" y="2203450"/>
                        <a:ext cx="36798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Modelo de Regressão Linear Múltipla</a:t>
            </a:r>
            <a:endParaRPr lang="pt-BR" dirty="0"/>
          </a:p>
        </p:txBody>
      </p:sp>
      <p:sp>
        <p:nvSpPr>
          <p:cNvPr id="33797" name="Retângulo 2"/>
          <p:cNvSpPr>
            <a:spLocks noChangeArrowheads="1"/>
          </p:cNvSpPr>
          <p:nvPr/>
        </p:nvSpPr>
        <p:spPr bwMode="auto">
          <a:xfrm>
            <a:off x="611188" y="1628775"/>
            <a:ext cx="792003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Exemplo: duas variáveis independentes com interação</a:t>
            </a:r>
          </a:p>
        </p:txBody>
      </p:sp>
      <p:grpSp>
        <p:nvGrpSpPr>
          <p:cNvPr id="64" name="Grupo 63"/>
          <p:cNvGrpSpPr>
            <a:grpSpLocks/>
          </p:cNvGrpSpPr>
          <p:nvPr/>
        </p:nvGrpSpPr>
        <p:grpSpPr bwMode="auto">
          <a:xfrm>
            <a:off x="3165475" y="3602038"/>
            <a:ext cx="3322638" cy="2441575"/>
            <a:chOff x="2579842" y="3379495"/>
            <a:chExt cx="4059639" cy="2667800"/>
          </a:xfrm>
        </p:grpSpPr>
        <p:sp>
          <p:nvSpPr>
            <p:cNvPr id="33812" name="Forma livre 32798"/>
            <p:cNvSpPr>
              <a:spLocks/>
            </p:cNvSpPr>
            <p:nvPr/>
          </p:nvSpPr>
          <p:spPr bwMode="auto">
            <a:xfrm>
              <a:off x="2579842" y="3379495"/>
              <a:ext cx="4059639" cy="2667800"/>
            </a:xfrm>
            <a:custGeom>
              <a:avLst/>
              <a:gdLst>
                <a:gd name="T0" fmla="*/ 0 w 4059639"/>
                <a:gd name="T1" fmla="*/ 61170 h 2667800"/>
                <a:gd name="T2" fmla="*/ 2972938 w 4059639"/>
                <a:gd name="T3" fmla="*/ 0 h 2667800"/>
                <a:gd name="T4" fmla="*/ 4059639 w 4059639"/>
                <a:gd name="T5" fmla="*/ 1512885 h 2667800"/>
                <a:gd name="T6" fmla="*/ 1079984 w 4059639"/>
                <a:gd name="T7" fmla="*/ 2667800 h 2667800"/>
                <a:gd name="T8" fmla="*/ 0 w 4059639"/>
                <a:gd name="T9" fmla="*/ 61170 h 2667800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0" t="0" r="r" b="b"/>
              <a:pathLst>
                <a:path w="4059639" h="2667800">
                  <a:moveTo>
                    <a:pt x="0" y="61170"/>
                  </a:moveTo>
                  <a:lnTo>
                    <a:pt x="2972938" y="0"/>
                  </a:lnTo>
                  <a:lnTo>
                    <a:pt x="4059639" y="1512885"/>
                  </a:lnTo>
                  <a:lnTo>
                    <a:pt x="1079984" y="2667800"/>
                  </a:lnTo>
                  <a:lnTo>
                    <a:pt x="0" y="61170"/>
                  </a:lnTo>
                  <a:close/>
                </a:path>
              </a:pathLst>
            </a:custGeom>
            <a:solidFill>
              <a:srgbClr val="3B3B3B">
                <a:alpha val="67842"/>
              </a:srgb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cxnSp>
          <p:nvCxnSpPr>
            <p:cNvPr id="33813" name="Conector reto 32784"/>
            <p:cNvCxnSpPr>
              <a:cxnSpLocks noChangeShapeType="1"/>
            </p:cNvCxnSpPr>
            <p:nvPr/>
          </p:nvCxnSpPr>
          <p:spPr bwMode="auto">
            <a:xfrm>
              <a:off x="3338481" y="3428172"/>
              <a:ext cx="1065224" cy="2327499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4" name="Conector reto 32786"/>
            <p:cNvCxnSpPr>
              <a:cxnSpLocks noChangeShapeType="1"/>
            </p:cNvCxnSpPr>
            <p:nvPr/>
          </p:nvCxnSpPr>
          <p:spPr bwMode="auto">
            <a:xfrm>
              <a:off x="4069984" y="3410642"/>
              <a:ext cx="1074216" cy="205332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5" name="Conector reto 32788"/>
            <p:cNvCxnSpPr>
              <a:cxnSpLocks noChangeShapeType="1"/>
            </p:cNvCxnSpPr>
            <p:nvPr/>
          </p:nvCxnSpPr>
          <p:spPr bwMode="auto">
            <a:xfrm flipH="1">
              <a:off x="3410327" y="4509195"/>
              <a:ext cx="2952137" cy="911567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6" name="Conector reto 32790"/>
            <p:cNvCxnSpPr>
              <a:cxnSpLocks noChangeShapeType="1"/>
            </p:cNvCxnSpPr>
            <p:nvPr/>
          </p:nvCxnSpPr>
          <p:spPr bwMode="auto">
            <a:xfrm flipH="1">
              <a:off x="3142543" y="4129376"/>
              <a:ext cx="2952138" cy="625241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7" name="Conector reto 32792"/>
            <p:cNvCxnSpPr>
              <a:cxnSpLocks noChangeShapeType="1"/>
            </p:cNvCxnSpPr>
            <p:nvPr/>
          </p:nvCxnSpPr>
          <p:spPr bwMode="auto">
            <a:xfrm flipH="1">
              <a:off x="2874761" y="3761244"/>
              <a:ext cx="2945607" cy="338916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18" name="Conector reto 32795"/>
            <p:cNvCxnSpPr>
              <a:cxnSpLocks noChangeShapeType="1"/>
            </p:cNvCxnSpPr>
            <p:nvPr/>
          </p:nvCxnSpPr>
          <p:spPr bwMode="auto">
            <a:xfrm>
              <a:off x="4821081" y="3393112"/>
              <a:ext cx="1080444" cy="179035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27665" name="Grupo 27664"/>
          <p:cNvGrpSpPr>
            <a:grpSpLocks/>
          </p:cNvGrpSpPr>
          <p:nvPr/>
        </p:nvGrpSpPr>
        <p:grpSpPr bwMode="auto">
          <a:xfrm>
            <a:off x="5708651" y="4935538"/>
            <a:ext cx="2690862" cy="396875"/>
            <a:chOff x="5708050" y="5011030"/>
            <a:chExt cx="2690757" cy="397252"/>
          </a:xfrm>
        </p:grpSpPr>
        <p:sp>
          <p:nvSpPr>
            <p:cNvPr id="33810" name="Forma livre 27661"/>
            <p:cNvSpPr>
              <a:spLocks/>
            </p:cNvSpPr>
            <p:nvPr/>
          </p:nvSpPr>
          <p:spPr bwMode="auto">
            <a:xfrm>
              <a:off x="5708050" y="5067900"/>
              <a:ext cx="776857" cy="340382"/>
            </a:xfrm>
            <a:custGeom>
              <a:avLst/>
              <a:gdLst>
                <a:gd name="T0" fmla="*/ 0 w 776857"/>
                <a:gd name="T1" fmla="*/ 340382 h 340382"/>
                <a:gd name="T2" fmla="*/ 776857 w 776857"/>
                <a:gd name="T3" fmla="*/ 0 h 340382"/>
                <a:gd name="T4" fmla="*/ 776857 w 776857"/>
                <a:gd name="T5" fmla="*/ 188702 h 340382"/>
                <a:gd name="T6" fmla="*/ 0 w 776857"/>
                <a:gd name="T7" fmla="*/ 340382 h 340382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776857" h="340382">
                  <a:moveTo>
                    <a:pt x="0" y="340382"/>
                  </a:moveTo>
                  <a:lnTo>
                    <a:pt x="776857" y="0"/>
                  </a:lnTo>
                  <a:lnTo>
                    <a:pt x="776857" y="188702"/>
                  </a:lnTo>
                  <a:lnTo>
                    <a:pt x="0" y="340382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27663" name="CaixaDeTexto 27662"/>
            <p:cNvSpPr txBox="1"/>
            <p:nvPr/>
          </p:nvSpPr>
          <p:spPr>
            <a:xfrm>
              <a:off x="6516057" y="5011030"/>
              <a:ext cx="1882750" cy="338876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>
                <a:defRPr/>
              </a:pPr>
              <a:r>
                <a:rPr lang="pt-BR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1</a:t>
              </a:r>
              <a:r>
                <a:rPr lang="pt-BR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 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(considerando </a:t>
              </a:r>
              <a:r>
                <a:rPr lang="pt-BR" sz="1200" i="1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X</a:t>
              </a:r>
              <a:r>
                <a:rPr lang="pt-BR" sz="1200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2</a:t>
              </a:r>
              <a:r>
                <a: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 = 0</a:t>
              </a:r>
              <a:r>
                <a:rPr 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panose="02020603050405020304" pitchFamily="18" charset="0"/>
                  <a:sym typeface="Symbol"/>
                </a:rPr>
                <a:t>)</a:t>
              </a:r>
              <a:endParaRPr lang="pt-BR" sz="1200" dirty="0">
                <a:solidFill>
                  <a:srgbClr val="FF0000"/>
                </a:solidFill>
                <a:latin typeface="Tahoma" panose="020B0604030504040204" pitchFamily="34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7666" name="Grupo 27665"/>
          <p:cNvGrpSpPr>
            <a:grpSpLocks/>
          </p:cNvGrpSpPr>
          <p:nvPr/>
        </p:nvGrpSpPr>
        <p:grpSpPr bwMode="auto">
          <a:xfrm>
            <a:off x="611188" y="3678238"/>
            <a:ext cx="2930525" cy="992187"/>
            <a:chOff x="611560" y="4325558"/>
            <a:chExt cx="2930384" cy="992060"/>
          </a:xfrm>
        </p:grpSpPr>
        <p:sp>
          <p:nvSpPr>
            <p:cNvPr id="33808" name="Forma livre 116"/>
            <p:cNvSpPr>
              <a:spLocks/>
            </p:cNvSpPr>
            <p:nvPr/>
          </p:nvSpPr>
          <p:spPr bwMode="auto">
            <a:xfrm>
              <a:off x="3158933" y="4325558"/>
              <a:ext cx="383011" cy="992060"/>
            </a:xfrm>
            <a:custGeom>
              <a:avLst/>
              <a:gdLst>
                <a:gd name="T0" fmla="*/ 383011 w 383011"/>
                <a:gd name="T1" fmla="*/ 992060 h 992060"/>
                <a:gd name="T2" fmla="*/ 689 w 383011"/>
                <a:gd name="T3" fmla="*/ 0 h 992060"/>
                <a:gd name="T4" fmla="*/ 0 w 383011"/>
                <a:gd name="T5" fmla="*/ 380063 h 992060"/>
                <a:gd name="T6" fmla="*/ 383011 w 383011"/>
                <a:gd name="T7" fmla="*/ 992060 h 9920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383011" h="992060">
                  <a:moveTo>
                    <a:pt x="383011" y="992060"/>
                  </a:moveTo>
                  <a:lnTo>
                    <a:pt x="689" y="0"/>
                  </a:lnTo>
                  <a:cubicBezTo>
                    <a:pt x="459" y="126688"/>
                    <a:pt x="230" y="253375"/>
                    <a:pt x="0" y="380063"/>
                  </a:cubicBezTo>
                  <a:lnTo>
                    <a:pt x="383011" y="992060"/>
                  </a:lnTo>
                  <a:close/>
                </a:path>
              </a:pathLst>
            </a:custGeom>
            <a:solidFill>
              <a:srgbClr val="FF9999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sp>
          <p:nvSpPr>
            <p:cNvPr id="33809" name="CaixaDeTexto 118"/>
            <p:cNvSpPr txBox="1">
              <a:spLocks noChangeArrowheads="1"/>
            </p:cNvSpPr>
            <p:nvPr/>
          </p:nvSpPr>
          <p:spPr bwMode="auto">
            <a:xfrm>
              <a:off x="611560" y="4364799"/>
              <a:ext cx="2521209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(considerando </a:t>
              </a:r>
              <a:r>
                <a:rPr lang="pt-BR" altLang="pt-BR" sz="12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X</a:t>
              </a:r>
              <a:r>
                <a:rPr lang="pt-BR" altLang="pt-BR" sz="12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1</a:t>
              </a:r>
              <a:r>
                <a:rPr lang="pt-BR" altLang="pt-BR" sz="12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 = 0</a:t>
              </a: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cs typeface="Times New Roman" charset="0"/>
                  <a:sym typeface="Symbol" pitchFamily="18" charset="2"/>
                </a:rPr>
                <a:t>) </a:t>
              </a: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2</a:t>
              </a:r>
            </a:p>
          </p:txBody>
        </p:sp>
      </p:grpSp>
      <p:grpSp>
        <p:nvGrpSpPr>
          <p:cNvPr id="27664" name="Grupo 27663"/>
          <p:cNvGrpSpPr>
            <a:grpSpLocks/>
          </p:cNvGrpSpPr>
          <p:nvPr/>
        </p:nvGrpSpPr>
        <p:grpSpPr bwMode="auto">
          <a:xfrm>
            <a:off x="3008313" y="5935663"/>
            <a:ext cx="1211262" cy="546100"/>
            <a:chOff x="3008711" y="5935506"/>
            <a:chExt cx="1210545" cy="546203"/>
          </a:xfrm>
        </p:grpSpPr>
        <p:sp>
          <p:nvSpPr>
            <p:cNvPr id="33803" name="CaixaDeTexto 94"/>
            <p:cNvSpPr txBox="1">
              <a:spLocks noChangeArrowheads="1"/>
            </p:cNvSpPr>
            <p:nvPr/>
          </p:nvSpPr>
          <p:spPr bwMode="auto">
            <a:xfrm rot="-660000">
              <a:off x="3931998" y="6143155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sp>
          <p:nvSpPr>
            <p:cNvPr id="33804" name="CaixaDeTexto 104"/>
            <p:cNvSpPr txBox="1">
              <a:spLocks noChangeArrowheads="1"/>
            </p:cNvSpPr>
            <p:nvPr/>
          </p:nvSpPr>
          <p:spPr bwMode="auto">
            <a:xfrm rot="3060000">
              <a:off x="3776612" y="6067487"/>
              <a:ext cx="287258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>
                  <a:latin typeface="Times New Roman" charset="0"/>
                  <a:cs typeface="Times New Roman" charset="0"/>
                </a:rPr>
                <a:t>0</a:t>
              </a:r>
            </a:p>
          </p:txBody>
        </p:sp>
        <p:cxnSp>
          <p:nvCxnSpPr>
            <p:cNvPr id="33805" name="Conector reto 27650"/>
            <p:cNvCxnSpPr>
              <a:cxnSpLocks noChangeShapeType="1"/>
            </p:cNvCxnSpPr>
            <p:nvPr/>
          </p:nvCxnSpPr>
          <p:spPr bwMode="auto">
            <a:xfrm>
              <a:off x="4049031" y="6047615"/>
              <a:ext cx="0" cy="108000"/>
            </a:xfrm>
            <a:prstGeom prst="line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33806" name="Conector de seta reta 27654"/>
            <p:cNvCxnSpPr>
              <a:cxnSpLocks noChangeShapeType="1"/>
            </p:cNvCxnSpPr>
            <p:nvPr/>
          </p:nvCxnSpPr>
          <p:spPr bwMode="auto">
            <a:xfrm flipV="1">
              <a:off x="3381234" y="6096000"/>
              <a:ext cx="593866" cy="5615"/>
            </a:xfrm>
            <a:prstGeom prst="straightConnector1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3807" name="CaixaDeTexto 119"/>
            <p:cNvSpPr txBox="1">
              <a:spLocks noChangeArrowheads="1"/>
            </p:cNvSpPr>
            <p:nvPr/>
          </p:nvSpPr>
          <p:spPr bwMode="auto">
            <a:xfrm>
              <a:off x="3008711" y="5935506"/>
              <a:ext cx="36580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 pitchFamily="18" charset="2"/>
                </a:rPr>
                <a:t></a:t>
              </a:r>
              <a:r>
                <a:rPr lang="pt-BR" altLang="pt-BR" sz="16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0</a:t>
              </a:r>
              <a:endParaRPr lang="pt-BR" altLang="pt-BR" sz="1600" baseline="-25000" dirty="0">
                <a:solidFill>
                  <a:srgbClr val="FF0000"/>
                </a:solidFill>
                <a:latin typeface="Times New Roman" charset="0"/>
                <a:cs typeface="Times New Roman" charset="0"/>
              </a:endParaRP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968F6B-118A-45C6-8119-DDC104CD583B}" type="slidenum">
              <a:rPr lang="pt-BR"/>
              <a:pPr>
                <a:defRPr/>
              </a:pPr>
              <a:t>42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Objeto 20"/>
          <p:cNvGraphicFramePr>
            <a:graphicFrameLocks/>
          </p:cNvGraphicFramePr>
          <p:nvPr/>
        </p:nvGraphicFramePr>
        <p:xfrm>
          <a:off x="2413000" y="2679700"/>
          <a:ext cx="311467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057400" imgH="939800" progId="Equation.3">
                  <p:embed/>
                </p:oleObj>
              </mc:Choice>
              <mc:Fallback>
                <p:oleObj name="Equação" r:id="rId2" imgW="2057400" imgH="939800" progId="Equation.3">
                  <p:embed/>
                  <p:pic>
                    <p:nvPicPr>
                      <p:cNvPr id="21" name="Objeto 20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13000" y="2679700"/>
                        <a:ext cx="311467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Objeto 31"/>
          <p:cNvGraphicFramePr>
            <a:graphicFrameLocks/>
          </p:cNvGraphicFramePr>
          <p:nvPr/>
        </p:nvGraphicFramePr>
        <p:xfrm>
          <a:off x="7137400" y="2679700"/>
          <a:ext cx="808038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533169" imgH="939392" progId="Equation.3">
                  <p:embed/>
                </p:oleObj>
              </mc:Choice>
              <mc:Fallback>
                <p:oleObj name="Equação" r:id="rId4" imgW="533169" imgH="939392" progId="Equation.3">
                  <p:embed/>
                  <p:pic>
                    <p:nvPicPr>
                      <p:cNvPr id="32" name="Objeto 3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137400" y="2679700"/>
                        <a:ext cx="808038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Objeto 32"/>
          <p:cNvGraphicFramePr>
            <a:graphicFrameLocks/>
          </p:cNvGraphicFramePr>
          <p:nvPr/>
        </p:nvGraphicFramePr>
        <p:xfrm>
          <a:off x="1138238" y="4899025"/>
          <a:ext cx="9620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634725" imgH="939392" progId="Equation.3">
                  <p:embed/>
                </p:oleObj>
              </mc:Choice>
              <mc:Fallback>
                <p:oleObj name="Equação" r:id="rId6" imgW="634725" imgH="939392" progId="Equation.3">
                  <p:embed/>
                  <p:pic>
                    <p:nvPicPr>
                      <p:cNvPr id="33" name="Objeto 32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4899025"/>
                        <a:ext cx="9620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" name="Objeto 33"/>
          <p:cNvGraphicFramePr>
            <a:graphicFrameLocks/>
          </p:cNvGraphicFramePr>
          <p:nvPr/>
        </p:nvGraphicFramePr>
        <p:xfrm>
          <a:off x="5940425" y="2679700"/>
          <a:ext cx="1000125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660113" imgH="939392" progId="Equation.3">
                  <p:embed/>
                </p:oleObj>
              </mc:Choice>
              <mc:Fallback>
                <p:oleObj name="Equação" r:id="rId8" imgW="660113" imgH="939392" progId="Equation.3">
                  <p:embed/>
                  <p:pic>
                    <p:nvPicPr>
                      <p:cNvPr id="34" name="Objeto 33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940425" y="2679700"/>
                        <a:ext cx="1000125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1" name="Rectangle 3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>
                <a:cs typeface="Times New Roman" pitchFamily="18" charset="0"/>
              </a:rPr>
              <a:t>Notação Matricial</a:t>
            </a:r>
            <a:endParaRPr lang="pt-BR" dirty="0"/>
          </a:p>
        </p:txBody>
      </p:sp>
      <p:sp>
        <p:nvSpPr>
          <p:cNvPr id="34823" name="Retângulo 2"/>
          <p:cNvSpPr>
            <a:spLocks noChangeArrowheads="1"/>
          </p:cNvSpPr>
          <p:nvPr/>
        </p:nvSpPr>
        <p:spPr bwMode="auto">
          <a:xfrm>
            <a:off x="2286000" y="1412875"/>
            <a:ext cx="4572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42900" indent="-342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Modelo Geral</a:t>
            </a:r>
          </a:p>
        </p:txBody>
      </p:sp>
      <p:graphicFrame>
        <p:nvGraphicFramePr>
          <p:cNvPr id="2" name="Objeto 1"/>
          <p:cNvGraphicFramePr>
            <a:graphicFrameLocks/>
          </p:cNvGraphicFramePr>
          <p:nvPr/>
        </p:nvGraphicFramePr>
        <p:xfrm>
          <a:off x="4033838" y="1989138"/>
          <a:ext cx="10763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710891" imgH="203112" progId="Equation.3">
                  <p:embed/>
                </p:oleObj>
              </mc:Choice>
              <mc:Fallback>
                <p:oleObj name="Equação" r:id="rId10" imgW="710891" imgH="203112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33838" y="1989138"/>
                        <a:ext cx="10763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/>
          </p:cNvGraphicFramePr>
          <p:nvPr/>
        </p:nvGraphicFramePr>
        <p:xfrm>
          <a:off x="1138238" y="2679700"/>
          <a:ext cx="865187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571252" imgH="939392" progId="Equation.3">
                  <p:embed/>
                </p:oleObj>
              </mc:Choice>
              <mc:Fallback>
                <p:oleObj name="Equação" r:id="rId12" imgW="571252" imgH="939392" progId="Equation.3">
                  <p:embed/>
                  <p:pic>
                    <p:nvPicPr>
                      <p:cNvPr id="20" name="Objeto 19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38238" y="2679700"/>
                        <a:ext cx="865187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Objeto 34"/>
          <p:cNvGraphicFramePr>
            <a:graphicFrameLocks/>
          </p:cNvGraphicFramePr>
          <p:nvPr/>
        </p:nvGraphicFramePr>
        <p:xfrm>
          <a:off x="1547813" y="4132263"/>
          <a:ext cx="442912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35" name="Objeto 34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4132263"/>
                        <a:ext cx="442912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7" name="Objeto 36"/>
          <p:cNvGraphicFramePr>
            <a:graphicFrameLocks/>
          </p:cNvGraphicFramePr>
          <p:nvPr/>
        </p:nvGraphicFramePr>
        <p:xfrm>
          <a:off x="3889375" y="4132263"/>
          <a:ext cx="519113" cy="247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6" imgW="342603" imgH="164957" progId="Equation.3">
                  <p:embed/>
                </p:oleObj>
              </mc:Choice>
              <mc:Fallback>
                <p:oleObj name="Equação" r:id="rId16" imgW="342603" imgH="164957" progId="Equation.3">
                  <p:embed/>
                  <p:pic>
                    <p:nvPicPr>
                      <p:cNvPr id="37" name="Objeto 36"/>
                      <p:cNvPicPr>
                        <a:picLocks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89375" y="4132263"/>
                        <a:ext cx="519113" cy="247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" name="Objeto 38"/>
          <p:cNvGraphicFramePr>
            <a:graphicFrameLocks/>
          </p:cNvGraphicFramePr>
          <p:nvPr/>
        </p:nvGraphicFramePr>
        <p:xfrm>
          <a:off x="6391275" y="4132263"/>
          <a:ext cx="479425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8" imgW="317225" imgH="203024" progId="Equation.3">
                  <p:embed/>
                </p:oleObj>
              </mc:Choice>
              <mc:Fallback>
                <p:oleObj name="Equação" r:id="rId18" imgW="317225" imgH="203024" progId="Equation.3">
                  <p:embed/>
                  <p:pic>
                    <p:nvPicPr>
                      <p:cNvPr id="39" name="Objeto 38"/>
                      <p:cNvPicPr>
                        <a:picLocks noChangeArrowheads="1"/>
                      </p:cNvPicPr>
                      <p:nvPr/>
                    </p:nvPicPr>
                    <p:blipFill>
                      <a:blip r:embed="rId1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91275" y="4132263"/>
                        <a:ext cx="479425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/>
        </p:nvGraphicFramePr>
        <p:xfrm>
          <a:off x="7486650" y="4132263"/>
          <a:ext cx="442913" cy="266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291847" imgH="177646" progId="Equation.3">
                  <p:embed/>
                </p:oleObj>
              </mc:Choice>
              <mc:Fallback>
                <p:oleObj name="Equação" r:id="rId14" imgW="291847" imgH="177646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486650" y="4132263"/>
                        <a:ext cx="442913" cy="266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" name="Objeto 40"/>
          <p:cNvGraphicFramePr>
            <a:graphicFrameLocks/>
          </p:cNvGraphicFramePr>
          <p:nvPr/>
        </p:nvGraphicFramePr>
        <p:xfrm>
          <a:off x="4449763" y="5391150"/>
          <a:ext cx="769937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0" imgW="507780" imgH="215806" progId="Equation.3">
                  <p:embed/>
                </p:oleObj>
              </mc:Choice>
              <mc:Fallback>
                <p:oleObj name="Equação" r:id="rId20" imgW="507780" imgH="215806" progId="Equation.3">
                  <p:embed/>
                  <p:pic>
                    <p:nvPicPr>
                      <p:cNvPr id="41" name="Objeto 40"/>
                      <p:cNvPicPr>
                        <a:picLocks noChangeArrowheads="1"/>
                      </p:cNvPicPr>
                      <p:nvPr/>
                    </p:nvPicPr>
                    <p:blipFill>
                      <a:blip r:embed="rId2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49763" y="5391150"/>
                        <a:ext cx="769937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2" name="Objeto 41"/>
          <p:cNvGraphicFramePr>
            <a:graphicFrameLocks/>
          </p:cNvGraphicFramePr>
          <p:nvPr/>
        </p:nvGraphicFramePr>
        <p:xfrm>
          <a:off x="6365875" y="5391150"/>
          <a:ext cx="942975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2" imgW="622030" imgH="215806" progId="Equation.3">
                  <p:embed/>
                </p:oleObj>
              </mc:Choice>
              <mc:Fallback>
                <p:oleObj name="Equação" r:id="rId22" imgW="622030" imgH="215806" progId="Equation.3">
                  <p:embed/>
                  <p:pic>
                    <p:nvPicPr>
                      <p:cNvPr id="42" name="Objeto 41"/>
                      <p:cNvPicPr>
                        <a:picLocks noChangeArrowheads="1"/>
                      </p:cNvPicPr>
                      <p:nvPr/>
                    </p:nvPicPr>
                    <p:blipFill>
                      <a:blip r:embed="rId2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365875" y="5391150"/>
                        <a:ext cx="942975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66925" y="5391150"/>
          <a:ext cx="1462088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4" imgW="965200" imgH="241300" progId="Equation.3">
                  <p:embed/>
                </p:oleObj>
              </mc:Choice>
              <mc:Fallback>
                <p:oleObj name="Equação" r:id="rId24" imgW="965200" imgH="2413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2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66925" y="5391150"/>
                        <a:ext cx="1462088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419889-D740-4403-87D9-D573693E28E0}" type="slidenum">
              <a:rPr lang="pt-BR"/>
              <a:pPr>
                <a:defRPr/>
              </a:pPr>
              <a:t>43</a:t>
            </a:fld>
            <a:endParaRPr lang="pt-BR"/>
          </a:p>
        </p:txBody>
      </p:sp>
      <p:grpSp>
        <p:nvGrpSpPr>
          <p:cNvPr id="7" name="Grupo 6"/>
          <p:cNvGrpSpPr/>
          <p:nvPr/>
        </p:nvGrpSpPr>
        <p:grpSpPr>
          <a:xfrm>
            <a:off x="2961564" y="4080680"/>
            <a:ext cx="5608567" cy="769779"/>
            <a:chOff x="2988860" y="4107976"/>
            <a:chExt cx="5608567" cy="76977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2"/>
                <p:cNvSpPr>
                  <a:spLocks noChangeArrowheads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>
                  <a:spAutoFit/>
                </a:bodyPr>
                <a:lstStyle>
                  <a:lvl1pPr marL="342900" indent="-342900"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>
                    <a:spcBef>
                      <a:spcPct val="50000"/>
                    </a:spcBef>
                    <a:buFontTx/>
                    <a:buNone/>
                  </a:pPr>
                  <a:r>
                    <a:rPr lang="pt-BR" altLang="pt-BR" sz="1600" dirty="0">
                      <a:latin typeface="Tahoma" panose="020B0604030504040204" pitchFamily="34" charset="0"/>
                    </a:rPr>
                    <a:t>primeira coluna de 1’s para representar o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altLang="pt-BR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600" b="0" i="1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600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</m:oMath>
                  </a14:m>
                  <a:endParaRPr lang="pt-BR" altLang="pt-BR" sz="1600" dirty="0">
                    <a:latin typeface="Times New Roman" charset="0"/>
                    <a:cs typeface="Times New Roman" charset="0"/>
                  </a:endParaRPr>
                </a:p>
              </p:txBody>
            </p:sp>
          </mc:Choice>
          <mc:Fallback xmlns="">
            <p:sp>
              <p:nvSpPr>
                <p:cNvPr id="18" name="Retângulo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340843" y="4539201"/>
                  <a:ext cx="5256584" cy="338554"/>
                </a:xfrm>
                <a:prstGeom prst="rect">
                  <a:avLst/>
                </a:prstGeom>
                <a:blipFill>
                  <a:blip r:embed="rId26"/>
                  <a:stretch>
                    <a:fillRect l="-696" t="-7143" b="-19643"/>
                  </a:stretch>
                </a:blipFill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Forma livre 5"/>
            <p:cNvSpPr/>
            <p:nvPr/>
          </p:nvSpPr>
          <p:spPr bwMode="auto">
            <a:xfrm>
              <a:off x="2988860" y="4107976"/>
              <a:ext cx="395785" cy="600502"/>
            </a:xfrm>
            <a:custGeom>
              <a:avLst/>
              <a:gdLst>
                <a:gd name="connsiteX0" fmla="*/ 0 w 395785"/>
                <a:gd name="connsiteY0" fmla="*/ 0 h 600502"/>
                <a:gd name="connsiteX1" fmla="*/ 68239 w 395785"/>
                <a:gd name="connsiteY1" fmla="*/ 436728 h 600502"/>
                <a:gd name="connsiteX2" fmla="*/ 395785 w 395785"/>
                <a:gd name="connsiteY2" fmla="*/ 600502 h 600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5785" h="600502">
                  <a:moveTo>
                    <a:pt x="0" y="0"/>
                  </a:moveTo>
                  <a:cubicBezTo>
                    <a:pt x="1137" y="168322"/>
                    <a:pt x="2275" y="336644"/>
                    <a:pt x="68239" y="436728"/>
                  </a:cubicBezTo>
                  <a:cubicBezTo>
                    <a:pt x="134203" y="536812"/>
                    <a:pt x="264994" y="568657"/>
                    <a:pt x="395785" y="600502"/>
                  </a:cubicBezTo>
                </a:path>
              </a:pathLst>
            </a:cu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stealth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to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4621828"/>
              </p:ext>
            </p:extLst>
          </p:nvPr>
        </p:nvGraphicFramePr>
        <p:xfrm>
          <a:off x="5478460" y="2874963"/>
          <a:ext cx="1205100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27000" imgH="253800" progId="Equation.DSMT4">
                  <p:embed/>
                </p:oleObj>
              </mc:Choice>
              <mc:Fallback>
                <p:oleObj name="Equation" r:id="rId2" imgW="927000" imgH="2538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8460" y="2874963"/>
                        <a:ext cx="1205100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Objeto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0330495"/>
              </p:ext>
            </p:extLst>
          </p:nvPr>
        </p:nvGraphicFramePr>
        <p:xfrm>
          <a:off x="5489572" y="2273300"/>
          <a:ext cx="1386684" cy="329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066680" imgH="253800" progId="Equation.DSMT4">
                  <p:embed/>
                </p:oleObj>
              </mc:Choice>
              <mc:Fallback>
                <p:oleObj name="Equation" r:id="rId4" imgW="1066680" imgH="253800" progId="Equation.DSMT4">
                  <p:embed/>
                  <p:pic>
                    <p:nvPicPr>
                      <p:cNvPr id="38" name="Objeto 37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89572" y="2273300"/>
                        <a:ext cx="1386684" cy="3299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" name="Objeto 39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11657639"/>
              </p:ext>
            </p:extLst>
          </p:nvPr>
        </p:nvGraphicFramePr>
        <p:xfrm>
          <a:off x="3954463" y="4510459"/>
          <a:ext cx="2476500" cy="6286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397000" imgH="419100" progId="Equation.3">
                  <p:embed/>
                </p:oleObj>
              </mc:Choice>
              <mc:Fallback>
                <p:oleObj name="Equação" r:id="rId6" imgW="1397000" imgH="419100" progId="Equation.3">
                  <p:embed/>
                  <p:pic>
                    <p:nvPicPr>
                      <p:cNvPr id="40" name="Objeto 39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4463" y="4510459"/>
                        <a:ext cx="2476500" cy="6286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ANOVA x Análise de Regressão</a:t>
            </a:r>
          </a:p>
        </p:txBody>
      </p:sp>
      <p:sp>
        <p:nvSpPr>
          <p:cNvPr id="35" name="Retângulo 34"/>
          <p:cNvSpPr>
            <a:spLocks noChangeArrowheads="1"/>
          </p:cNvSpPr>
          <p:nvPr/>
        </p:nvSpPr>
        <p:spPr bwMode="auto">
          <a:xfrm>
            <a:off x="3929063" y="4077072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grpSp>
        <p:nvGrpSpPr>
          <p:cNvPr id="47" name="Grupo 34"/>
          <p:cNvGrpSpPr>
            <a:grpSpLocks/>
          </p:cNvGrpSpPr>
          <p:nvPr/>
        </p:nvGrpSpPr>
        <p:grpSpPr bwMode="auto">
          <a:xfrm>
            <a:off x="434975" y="4887689"/>
            <a:ext cx="5715000" cy="917575"/>
            <a:chOff x="714348" y="5940449"/>
            <a:chExt cx="5715000" cy="917575"/>
          </a:xfrm>
        </p:grpSpPr>
        <p:sp>
          <p:nvSpPr>
            <p:cNvPr id="35872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5873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</a:t>
              </a:r>
              <a:r>
                <a:rPr lang="pt-BR" altLang="pt-BR" sz="1600" i="1" dirty="0">
                  <a:latin typeface="Times New Roman" charset="0"/>
                </a:rPr>
                <a:t>F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F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60" name="Group 129"/>
          <p:cNvGrpSpPr>
            <a:grpSpLocks/>
          </p:cNvGrpSpPr>
          <p:nvPr/>
        </p:nvGrpSpPr>
        <p:grpSpPr bwMode="auto">
          <a:xfrm>
            <a:off x="6821488" y="4733925"/>
            <a:ext cx="1735137" cy="1309688"/>
            <a:chOff x="4160" y="3377"/>
            <a:chExt cx="1093" cy="825"/>
          </a:xfrm>
        </p:grpSpPr>
        <p:grpSp>
          <p:nvGrpSpPr>
            <p:cNvPr id="35861" name="Group 130"/>
            <p:cNvGrpSpPr>
              <a:grpSpLocks/>
            </p:cNvGrpSpPr>
            <p:nvPr/>
          </p:nvGrpSpPr>
          <p:grpSpPr bwMode="auto">
            <a:xfrm>
              <a:off x="4572" y="3377"/>
              <a:ext cx="543" cy="597"/>
              <a:chOff x="4572" y="3377"/>
              <a:chExt cx="543" cy="597"/>
            </a:xfrm>
          </p:grpSpPr>
          <p:grpSp>
            <p:nvGrpSpPr>
              <p:cNvPr id="35868" name="Group 131"/>
              <p:cNvGrpSpPr>
                <a:grpSpLocks/>
              </p:cNvGrpSpPr>
              <p:nvPr/>
            </p:nvGrpSpPr>
            <p:grpSpPr bwMode="auto">
              <a:xfrm>
                <a:off x="4683" y="3377"/>
                <a:ext cx="432" cy="367"/>
                <a:chOff x="4683" y="3377"/>
                <a:chExt cx="432" cy="367"/>
              </a:xfrm>
            </p:grpSpPr>
            <p:sp>
              <p:nvSpPr>
                <p:cNvPr id="35870" name="Freeform 132" descr="Diagonal para cima clara"/>
                <p:cNvSpPr>
                  <a:spLocks/>
                </p:cNvSpPr>
                <p:nvPr/>
              </p:nvSpPr>
              <p:spPr bwMode="auto">
                <a:xfrm>
                  <a:off x="4683" y="3377"/>
                  <a:ext cx="432" cy="367"/>
                </a:xfrm>
                <a:custGeom>
                  <a:avLst/>
                  <a:gdLst>
                    <a:gd name="T0" fmla="*/ 0 w 432"/>
                    <a:gd name="T1" fmla="*/ 0 h 367"/>
                    <a:gd name="T2" fmla="*/ 0 w 432"/>
                    <a:gd name="T3" fmla="*/ 367 h 367"/>
                    <a:gd name="T4" fmla="*/ 432 w 432"/>
                    <a:gd name="T5" fmla="*/ 367 h 367"/>
                    <a:gd name="T6" fmla="*/ 360 w 432"/>
                    <a:gd name="T7" fmla="*/ 355 h 367"/>
                    <a:gd name="T8" fmla="*/ 310 w 432"/>
                    <a:gd name="T9" fmla="*/ 338 h 367"/>
                    <a:gd name="T10" fmla="*/ 250 w 432"/>
                    <a:gd name="T11" fmla="*/ 305 h 367"/>
                    <a:gd name="T12" fmla="*/ 202 w 432"/>
                    <a:gd name="T13" fmla="*/ 261 h 367"/>
                    <a:gd name="T14" fmla="*/ 154 w 432"/>
                    <a:gd name="T15" fmla="*/ 204 h 367"/>
                    <a:gd name="T16" fmla="*/ 103 w 432"/>
                    <a:gd name="T17" fmla="*/ 141 h 367"/>
                    <a:gd name="T18" fmla="*/ 58 w 432"/>
                    <a:gd name="T19" fmla="*/ 79 h 367"/>
                    <a:gd name="T20" fmla="*/ 14 w 432"/>
                    <a:gd name="T21" fmla="*/ 21 h 367"/>
                    <a:gd name="T22" fmla="*/ 0 w 432"/>
                    <a:gd name="T23" fmla="*/ 0 h 367"/>
                    <a:gd name="T24" fmla="*/ 0 w 432"/>
                    <a:gd name="T25" fmla="*/ 0 h 367"/>
                    <a:gd name="T26" fmla="*/ 0 60000 65536"/>
                    <a:gd name="T27" fmla="*/ 0 60000 65536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w 432"/>
                    <a:gd name="T40" fmla="*/ 0 h 367"/>
                    <a:gd name="T41" fmla="*/ 432 w 432"/>
                    <a:gd name="T42" fmla="*/ 367 h 367"/>
                  </a:gdLst>
                  <a:ahLst/>
                  <a:cxnLst>
                    <a:cxn ang="T26">
                      <a:pos x="T0" y="T1"/>
                    </a:cxn>
                    <a:cxn ang="T27">
                      <a:pos x="T2" y="T3"/>
                    </a:cxn>
                    <a:cxn ang="T28">
                      <a:pos x="T4" y="T5"/>
                    </a:cxn>
                    <a:cxn ang="T29">
                      <a:pos x="T6" y="T7"/>
                    </a:cxn>
                    <a:cxn ang="T30">
                      <a:pos x="T8" y="T9"/>
                    </a:cxn>
                    <a:cxn ang="T31">
                      <a:pos x="T10" y="T11"/>
                    </a:cxn>
                    <a:cxn ang="T32">
                      <a:pos x="T12" y="T13"/>
                    </a:cxn>
                    <a:cxn ang="T33">
                      <a:pos x="T14" y="T15"/>
                    </a:cxn>
                    <a:cxn ang="T34">
                      <a:pos x="T16" y="T17"/>
                    </a:cxn>
                    <a:cxn ang="T35">
                      <a:pos x="T18" y="T19"/>
                    </a:cxn>
                    <a:cxn ang="T36">
                      <a:pos x="T20" y="T21"/>
                    </a:cxn>
                    <a:cxn ang="T37">
                      <a:pos x="T22" y="T23"/>
                    </a:cxn>
                    <a:cxn ang="T38">
                      <a:pos x="T24" y="T25"/>
                    </a:cxn>
                  </a:cxnLst>
                  <a:rect l="T39" t="T40" r="T41" b="T42"/>
                  <a:pathLst>
                    <a:path w="432" h="367">
                      <a:moveTo>
                        <a:pt x="0" y="0"/>
                      </a:moveTo>
                      <a:lnTo>
                        <a:pt x="0" y="367"/>
                      </a:lnTo>
                      <a:lnTo>
                        <a:pt x="432" y="367"/>
                      </a:lnTo>
                      <a:lnTo>
                        <a:pt x="360" y="355"/>
                      </a:lnTo>
                      <a:lnTo>
                        <a:pt x="310" y="338"/>
                      </a:lnTo>
                      <a:lnTo>
                        <a:pt x="250" y="305"/>
                      </a:lnTo>
                      <a:lnTo>
                        <a:pt x="202" y="261"/>
                      </a:lnTo>
                      <a:lnTo>
                        <a:pt x="154" y="204"/>
                      </a:lnTo>
                      <a:lnTo>
                        <a:pt x="103" y="141"/>
                      </a:lnTo>
                      <a:lnTo>
                        <a:pt x="58" y="79"/>
                      </a:lnTo>
                      <a:lnTo>
                        <a:pt x="14" y="21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pattFill prst="ltUpDiag">
                  <a:fgClr>
                    <a:schemeClr val="tx1"/>
                  </a:fgClr>
                  <a:bgClr>
                    <a:srgbClr val="FFFFFF"/>
                  </a:bgClr>
                </a:patt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35871" name="Text Box 133"/>
                <p:cNvSpPr txBox="1">
                  <a:spLocks noChangeArrowheads="1"/>
                </p:cNvSpPr>
                <p:nvPr/>
              </p:nvSpPr>
              <p:spPr bwMode="auto">
                <a:xfrm>
                  <a:off x="4830" y="3410"/>
                  <a:ext cx="197" cy="21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en-US" altLang="pt-BR" sz="1600" i="1">
                      <a:latin typeface="Times New Roman" charset="0"/>
                      <a:sym typeface="Symbol" pitchFamily="18" charset="2"/>
                    </a:rPr>
                    <a:t></a:t>
                  </a:r>
                  <a:endParaRPr lang="en-US" altLang="pt-BR" sz="1600">
                    <a:latin typeface="Times New Roman" charset="0"/>
                    <a:sym typeface="Symbol" pitchFamily="18" charset="2"/>
                  </a:endParaRPr>
                </a:p>
              </p:txBody>
            </p:sp>
          </p:grpSp>
          <p:graphicFrame>
            <p:nvGraphicFramePr>
              <p:cNvPr id="35869" name="Object 134"/>
              <p:cNvGraphicFramePr>
                <a:graphicFrameLocks noChangeAspect="1"/>
              </p:cNvGraphicFramePr>
              <p:nvPr/>
            </p:nvGraphicFramePr>
            <p:xfrm>
              <a:off x="4572" y="3767"/>
              <a:ext cx="240" cy="20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66584" imgH="228501" progId="Equation.DSMT4">
                      <p:embed/>
                    </p:oleObj>
                  </mc:Choice>
                  <mc:Fallback>
                    <p:oleObj name="Equation" r:id="rId8" imgW="266584" imgH="228501" progId="Equation.DSMT4">
                      <p:embed/>
                      <p:pic>
                        <p:nvPicPr>
                          <p:cNvPr id="35869" name="Object 13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572" y="3767"/>
                            <a:ext cx="240" cy="207"/>
                          </a:xfrm>
                          <a:prstGeom prst="rect">
                            <a:avLst/>
                          </a:prstGeom>
                          <a:solidFill>
                            <a:schemeClr val="bg1"/>
                          </a:solidFill>
                          <a:ln>
                            <a:noFill/>
                          </a:ln>
                          <a:extLs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5862" name="Group 135"/>
            <p:cNvGrpSpPr>
              <a:grpSpLocks/>
            </p:cNvGrpSpPr>
            <p:nvPr/>
          </p:nvGrpSpPr>
          <p:grpSpPr bwMode="auto">
            <a:xfrm>
              <a:off x="4160" y="3974"/>
              <a:ext cx="544" cy="228"/>
              <a:chOff x="4160" y="3974"/>
              <a:chExt cx="544" cy="228"/>
            </a:xfrm>
          </p:grpSpPr>
          <p:sp>
            <p:nvSpPr>
              <p:cNvPr id="35866" name="Rectangle 136"/>
              <p:cNvSpPr>
                <a:spLocks noChangeArrowheads="1"/>
              </p:cNvSpPr>
              <p:nvPr/>
            </p:nvSpPr>
            <p:spPr bwMode="auto">
              <a:xfrm>
                <a:off x="4209" y="3989"/>
                <a:ext cx="457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ac.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7" name="AutoShape 137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5863" name="Group 138"/>
            <p:cNvGrpSpPr>
              <a:grpSpLocks/>
            </p:cNvGrpSpPr>
            <p:nvPr/>
          </p:nvGrpSpPr>
          <p:grpSpPr bwMode="auto">
            <a:xfrm>
              <a:off x="4709" y="3974"/>
              <a:ext cx="544" cy="228"/>
              <a:chOff x="4160" y="3974"/>
              <a:chExt cx="544" cy="228"/>
            </a:xfrm>
          </p:grpSpPr>
          <p:sp>
            <p:nvSpPr>
              <p:cNvPr id="35864" name="Rectangle 139"/>
              <p:cNvSpPr>
                <a:spLocks noChangeArrowheads="1"/>
              </p:cNvSpPr>
              <p:nvPr/>
            </p:nvSpPr>
            <p:spPr bwMode="auto">
              <a:xfrm>
                <a:off x="4189" y="3989"/>
                <a:ext cx="482" cy="2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 err="1">
                    <a:latin typeface="Tahoma" panose="020B0604030504040204" pitchFamily="34" charset="0"/>
                  </a:rPr>
                  <a:t>rej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. </a:t>
                </a:r>
                <a:r>
                  <a:rPr lang="pt-BR" altLang="pt-BR" sz="1600" dirty="0">
                    <a:latin typeface="Times New Roman" charset="0"/>
                  </a:rPr>
                  <a:t>H</a:t>
                </a:r>
                <a:r>
                  <a:rPr lang="pt-BR" altLang="pt-BR" sz="1600" baseline="-25000" dirty="0">
                    <a:latin typeface="Times New Roman" charset="0"/>
                  </a:rPr>
                  <a:t>0</a:t>
                </a:r>
                <a:endParaRPr lang="en-US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65" name="AutoShape 140"/>
              <p:cNvSpPr>
                <a:spLocks/>
              </p:cNvSpPr>
              <p:nvPr/>
            </p:nvSpPr>
            <p:spPr bwMode="auto">
              <a:xfrm rot="-5400000">
                <a:off x="4410" y="3724"/>
                <a:ext cx="44" cy="544"/>
              </a:xfrm>
              <a:prstGeom prst="leftBrace">
                <a:avLst>
                  <a:gd name="adj1" fmla="val 103030"/>
                  <a:gd name="adj2" fmla="val 50000"/>
                </a:avLst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661150" y="4097338"/>
            <a:ext cx="2159000" cy="1557337"/>
            <a:chOff x="5822950" y="4097338"/>
            <a:chExt cx="2159000" cy="1557337"/>
          </a:xfrm>
        </p:grpSpPr>
        <p:graphicFrame>
          <p:nvGraphicFramePr>
            <p:cNvPr id="35855" name="Objeto 40"/>
            <p:cNvGraphicFramePr>
              <a:graphicFrameLocks/>
            </p:cNvGraphicFramePr>
            <p:nvPr/>
          </p:nvGraphicFramePr>
          <p:xfrm>
            <a:off x="6667178" y="4265613"/>
            <a:ext cx="833438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0" imgW="469696" imgH="241195" progId="Equation.3">
                    <p:embed/>
                  </p:oleObj>
                </mc:Choice>
                <mc:Fallback>
                  <p:oleObj name="Equação" r:id="rId10" imgW="469696" imgH="241195" progId="Equation.3">
                    <p:embed/>
                    <p:pic>
                      <p:nvPicPr>
                        <p:cNvPr id="35855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1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667178" y="4265613"/>
                          <a:ext cx="833438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5856" name="Group 117"/>
            <p:cNvGrpSpPr>
              <a:grpSpLocks/>
            </p:cNvGrpSpPr>
            <p:nvPr/>
          </p:nvGrpSpPr>
          <p:grpSpPr bwMode="auto">
            <a:xfrm>
              <a:off x="5822950" y="4097338"/>
              <a:ext cx="2159000" cy="1557337"/>
              <a:chOff x="4059" y="2976"/>
              <a:chExt cx="1360" cy="981"/>
            </a:xfrm>
          </p:grpSpPr>
          <p:sp>
            <p:nvSpPr>
              <p:cNvPr id="35857" name="Freeform 118"/>
              <p:cNvSpPr>
                <a:spLocks/>
              </p:cNvSpPr>
              <p:nvPr/>
            </p:nvSpPr>
            <p:spPr bwMode="auto">
              <a:xfrm>
                <a:off x="4149" y="2976"/>
                <a:ext cx="1104" cy="768"/>
              </a:xfrm>
              <a:custGeom>
                <a:avLst/>
                <a:gdLst>
                  <a:gd name="T0" fmla="*/ 0 w 1104"/>
                  <a:gd name="T1" fmla="*/ 0 h 768"/>
                  <a:gd name="T2" fmla="*/ 0 w 1104"/>
                  <a:gd name="T3" fmla="*/ 768 h 768"/>
                  <a:gd name="T4" fmla="*/ 1104 w 1104"/>
                  <a:gd name="T5" fmla="*/ 768 h 768"/>
                  <a:gd name="T6" fmla="*/ 0 60000 65536"/>
                  <a:gd name="T7" fmla="*/ 0 60000 65536"/>
                  <a:gd name="T8" fmla="*/ 0 60000 65536"/>
                  <a:gd name="T9" fmla="*/ 0 w 1104"/>
                  <a:gd name="T10" fmla="*/ 0 h 768"/>
                  <a:gd name="T11" fmla="*/ 1104 w 1104"/>
                  <a:gd name="T12" fmla="*/ 768 h 768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104" h="768">
                    <a:moveTo>
                      <a:pt x="0" y="0"/>
                    </a:moveTo>
                    <a:lnTo>
                      <a:pt x="0" y="768"/>
                    </a:lnTo>
                    <a:lnTo>
                      <a:pt x="1104" y="768"/>
                    </a:ln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8" name="Freeform 119"/>
              <p:cNvSpPr>
                <a:spLocks/>
              </p:cNvSpPr>
              <p:nvPr/>
            </p:nvSpPr>
            <p:spPr bwMode="auto">
              <a:xfrm>
                <a:off x="4145" y="3125"/>
                <a:ext cx="1034" cy="645"/>
              </a:xfrm>
              <a:custGeom>
                <a:avLst/>
                <a:gdLst>
                  <a:gd name="T0" fmla="*/ 0 w 1034"/>
                  <a:gd name="T1" fmla="*/ 617 h 645"/>
                  <a:gd name="T2" fmla="*/ 274 w 1034"/>
                  <a:gd name="T3" fmla="*/ 12 h 645"/>
                  <a:gd name="T4" fmla="*/ 773 w 1034"/>
                  <a:gd name="T5" fmla="*/ 545 h 645"/>
                  <a:gd name="T6" fmla="*/ 1034 w 1034"/>
                  <a:gd name="T7" fmla="*/ 614 h 645"/>
                  <a:gd name="T8" fmla="*/ 0 60000 65536"/>
                  <a:gd name="T9" fmla="*/ 0 60000 65536"/>
                  <a:gd name="T10" fmla="*/ 0 60000 65536"/>
                  <a:gd name="T11" fmla="*/ 0 60000 65536"/>
                  <a:gd name="T12" fmla="*/ 0 w 1034"/>
                  <a:gd name="T13" fmla="*/ 0 h 645"/>
                  <a:gd name="T14" fmla="*/ 1034 w 1034"/>
                  <a:gd name="T15" fmla="*/ 645 h 645"/>
                </a:gdLst>
                <a:ahLst/>
                <a:cxnLst>
                  <a:cxn ang="T8">
                    <a:pos x="T0" y="T1"/>
                  </a:cxn>
                  <a:cxn ang="T9">
                    <a:pos x="T2" y="T3"/>
                  </a:cxn>
                  <a:cxn ang="T10">
                    <a:pos x="T4" y="T5"/>
                  </a:cxn>
                  <a:cxn ang="T11">
                    <a:pos x="T6" y="T7"/>
                  </a:cxn>
                </a:cxnLst>
                <a:rect l="T12" t="T13" r="T14" b="T15"/>
                <a:pathLst>
                  <a:path w="1034" h="645">
                    <a:moveTo>
                      <a:pt x="0" y="617"/>
                    </a:moveTo>
                    <a:cubicBezTo>
                      <a:pt x="46" y="516"/>
                      <a:pt x="145" y="24"/>
                      <a:pt x="274" y="12"/>
                    </a:cubicBezTo>
                    <a:cubicBezTo>
                      <a:pt x="403" y="0"/>
                      <a:pt x="646" y="445"/>
                      <a:pt x="773" y="545"/>
                    </a:cubicBezTo>
                    <a:cubicBezTo>
                      <a:pt x="900" y="645"/>
                      <a:pt x="980" y="600"/>
                      <a:pt x="1034" y="614"/>
                    </a:cubicBezTo>
                  </a:path>
                </a:pathLst>
              </a:custGeom>
              <a:noFill/>
              <a:ln w="19050">
                <a:solidFill>
                  <a:schemeClr val="accent2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859" name="Text Box 120"/>
              <p:cNvSpPr txBox="1">
                <a:spLocks noChangeArrowheads="1"/>
              </p:cNvSpPr>
              <p:nvPr/>
            </p:nvSpPr>
            <p:spPr bwMode="auto">
              <a:xfrm>
                <a:off x="4059" y="3735"/>
                <a:ext cx="180" cy="2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>
                    <a:latin typeface="Times New Roman" charset="0"/>
                  </a:rPr>
                  <a:t>0</a:t>
                </a:r>
              </a:p>
            </p:txBody>
          </p:sp>
          <p:sp>
            <p:nvSpPr>
              <p:cNvPr id="35860" name="Text Box 121"/>
              <p:cNvSpPr txBox="1">
                <a:spLocks noChangeArrowheads="1"/>
              </p:cNvSpPr>
              <p:nvPr/>
            </p:nvSpPr>
            <p:spPr bwMode="auto">
              <a:xfrm>
                <a:off x="5119" y="3726"/>
                <a:ext cx="300" cy="23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>
                    <a:latin typeface="Times New Roman" charset="0"/>
                  </a:rPr>
                  <a:t>+</a:t>
                </a:r>
                <a:r>
                  <a:rPr lang="pt-BR" altLang="pt-BR" sz="1800">
                    <a:latin typeface="Times New Roman" charset="0"/>
                    <a:sym typeface="Symbol" pitchFamily="18" charset="2"/>
                  </a:rPr>
                  <a:t></a:t>
                </a:r>
                <a:endParaRPr lang="pt-BR" altLang="pt-BR" sz="1800">
                  <a:latin typeface="Times New Roman" charset="0"/>
                </a:endParaRPr>
              </a:p>
            </p:txBody>
          </p:sp>
        </p:grpSp>
      </p:grpSp>
      <p:sp>
        <p:nvSpPr>
          <p:cNvPr id="37" name="Oval 144"/>
          <p:cNvSpPr>
            <a:spLocks noChangeArrowheads="1"/>
          </p:cNvSpPr>
          <p:nvPr/>
        </p:nvSpPr>
        <p:spPr bwMode="auto">
          <a:xfrm>
            <a:off x="2881313" y="2276475"/>
            <a:ext cx="784225" cy="357188"/>
          </a:xfrm>
          <a:prstGeom prst="ellips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35853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89532492"/>
              </p:ext>
            </p:extLst>
          </p:nvPr>
        </p:nvGraphicFramePr>
        <p:xfrm>
          <a:off x="5476696" y="1547813"/>
          <a:ext cx="2839720" cy="3136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2184400" imgH="241300" progId="Equation.3">
                  <p:embed/>
                </p:oleObj>
              </mc:Choice>
              <mc:Fallback>
                <p:oleObj name="Equação" r:id="rId12" imgW="2184400" imgH="241300" progId="Equation.3">
                  <p:embed/>
                  <p:pic>
                    <p:nvPicPr>
                      <p:cNvPr id="35853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76696" y="1547813"/>
                        <a:ext cx="2839720" cy="31369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2A8EBF-1FDD-4455-9993-DF1A1BF0E509}" type="slidenum">
              <a:rPr lang="pt-BR"/>
              <a:pPr>
                <a:defRPr/>
              </a:pPr>
              <a:t>44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303213" y="1425575"/>
            <a:ext cx="5276850" cy="2724150"/>
            <a:chOff x="303213" y="1425575"/>
            <a:chExt cx="5276850" cy="2724150"/>
          </a:xfrm>
        </p:grpSpPr>
        <p:grpSp>
          <p:nvGrpSpPr>
            <p:cNvPr id="35846" name="Group 110"/>
            <p:cNvGrpSpPr>
              <a:grpSpLocks/>
            </p:cNvGrpSpPr>
            <p:nvPr/>
          </p:nvGrpSpPr>
          <p:grpSpPr bwMode="auto">
            <a:xfrm>
              <a:off x="303213" y="1425575"/>
              <a:ext cx="5276850" cy="2724150"/>
              <a:chOff x="570" y="1374"/>
              <a:chExt cx="3324" cy="1716"/>
            </a:xfrm>
          </p:grpSpPr>
          <p:graphicFrame>
            <p:nvGraphicFramePr>
              <p:cNvPr id="35874" name="Object 11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90473278"/>
                  </p:ext>
                </p:extLst>
              </p:nvPr>
            </p:nvGraphicFramePr>
            <p:xfrm>
              <a:off x="570" y="1374"/>
              <a:ext cx="3324" cy="1716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Document" r:id="rId14" imgW="5677264" imgH="2932305" progId="Word.Document.8">
                      <p:embed/>
                    </p:oleObj>
                  </mc:Choice>
                  <mc:Fallback>
                    <p:oleObj name="Document" r:id="rId14" imgW="5677264" imgH="2932305" progId="Word.Document.8">
                      <p:embed/>
                      <p:pic>
                        <p:nvPicPr>
                          <p:cNvPr id="35874" name="Object 1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5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70" y="1374"/>
                            <a:ext cx="3324" cy="1716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ffectLst/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  <a:ext uri="{AF507438-7753-43E0-B8FC-AC1667EBCBE1}">
                              <a14:hiddenEffects xmlns:a14="http://schemas.microsoft.com/office/drawing/2010/main">
                                <a:effectLst>
                                  <a:outerShdw dist="35921" dir="2700000" algn="ctr" rotWithShape="0">
                                    <a:srgbClr val="808080"/>
                                  </a:outerShdw>
                                </a:effectLst>
                              </a14:hiddenEffects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6" name="Object 113"/>
              <p:cNvGraphicFramePr>
                <a:graphicFrameLocks/>
              </p:cNvGraphicFramePr>
              <p:nvPr/>
            </p:nvGraphicFramePr>
            <p:xfrm>
              <a:off x="1362" y="2318"/>
              <a:ext cx="683" cy="14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6" imgW="812447" imgH="177723" progId="Equation.3">
                      <p:embed/>
                    </p:oleObj>
                  </mc:Choice>
                  <mc:Fallback>
                    <p:oleObj name="Equação" r:id="rId16" imgW="812447" imgH="177723" progId="Equation.3">
                      <p:embed/>
                      <p:pic>
                        <p:nvPicPr>
                          <p:cNvPr id="35876" name="Object 113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62" y="2318"/>
                            <a:ext cx="683" cy="145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5877" name="Object 114"/>
              <p:cNvGraphicFramePr>
                <a:graphicFrameLocks/>
              </p:cNvGraphicFramePr>
              <p:nvPr/>
            </p:nvGraphicFramePr>
            <p:xfrm>
              <a:off x="1413" y="2577"/>
              <a:ext cx="605" cy="35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ção" r:id="rId18" imgW="736600" imgH="431800" progId="Equation.3">
                      <p:embed/>
                    </p:oleObj>
                  </mc:Choice>
                  <mc:Fallback>
                    <p:oleObj name="Equação" r:id="rId18" imgW="736600" imgH="431800" progId="Equation.3">
                      <p:embed/>
                      <p:pic>
                        <p:nvPicPr>
                          <p:cNvPr id="35877" name="Object 114"/>
                          <p:cNvPicPr>
                            <a:picLocks noChangeArrowheads="1"/>
                          </p:cNvPicPr>
                          <p:nvPr/>
                        </p:nvPicPr>
                        <p:blipFill>
                          <a:blip r:embed="rId19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13" y="2577"/>
                            <a:ext cx="605" cy="35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aphicFrame>
          <p:nvGraphicFramePr>
            <p:cNvPr id="41" name="Objeto 4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61352802"/>
                </p:ext>
              </p:extLst>
            </p:nvPr>
          </p:nvGraphicFramePr>
          <p:xfrm>
            <a:off x="1602256" y="2336161"/>
            <a:ext cx="1122363" cy="2651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0" imgW="863280" imgH="203040" progId="Equation.DSMT4">
                    <p:embed/>
                  </p:oleObj>
                </mc:Choice>
                <mc:Fallback>
                  <p:oleObj name="Equation" r:id="rId20" imgW="863280" imgH="203040" progId="Equation.DSMT4">
                    <p:embed/>
                    <p:pic>
                      <p:nvPicPr>
                        <p:cNvPr id="41" name="Objeto 40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1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02256" y="2336161"/>
                          <a:ext cx="1122363" cy="26511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2" name="Objeto 41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06370387"/>
                </p:ext>
              </p:extLst>
            </p:nvPr>
          </p:nvGraphicFramePr>
          <p:xfrm>
            <a:off x="4228105" y="2181225"/>
            <a:ext cx="6604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2" imgW="507960" imgH="419040" progId="Equation.DSMT4">
                    <p:embed/>
                  </p:oleObj>
                </mc:Choice>
                <mc:Fallback>
                  <p:oleObj name="Equation" r:id="rId22" imgW="507960" imgH="419040" progId="Equation.DSMT4">
                    <p:embed/>
                    <p:pic>
                      <p:nvPicPr>
                        <p:cNvPr id="42" name="Objeto 41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3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28105" y="2181225"/>
                          <a:ext cx="6604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3" name="Objeto 4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21237855"/>
                </p:ext>
              </p:extLst>
            </p:nvPr>
          </p:nvGraphicFramePr>
          <p:xfrm>
            <a:off x="4337998" y="2854016"/>
            <a:ext cx="495300" cy="54768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4" imgW="380880" imgH="419040" progId="Equation.DSMT4">
                    <p:embed/>
                  </p:oleObj>
                </mc:Choice>
                <mc:Fallback>
                  <p:oleObj name="Equation" r:id="rId24" imgW="380880" imgH="419040" progId="Equation.DSMT4">
                    <p:embed/>
                    <p:pic>
                      <p:nvPicPr>
                        <p:cNvPr id="43" name="Objeto 42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25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37998" y="2854016"/>
                          <a:ext cx="495300" cy="54768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4" name="CaixaDeTexto 43"/>
          <p:cNvSpPr txBox="1"/>
          <p:nvPr/>
        </p:nvSpPr>
        <p:spPr>
          <a:xfrm>
            <a:off x="323528" y="5949280"/>
            <a:ext cx="849662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dirty="0">
                <a:latin typeface="Tahoma" panose="020B0604030504040204" pitchFamily="34" charset="0"/>
              </a:rPr>
              <a:t> o coeficiente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baseline="-25000" dirty="0">
                <a:latin typeface="Tahoma" panose="020B0604030504040204" pitchFamily="34" charset="0"/>
                <a:sym typeface="Symbol"/>
              </a:rPr>
              <a:t>0</a:t>
            </a:r>
            <a:r>
              <a:rPr lang="pt-BR" dirty="0">
                <a:latin typeface="Tahoma" panose="020B0604030504040204" pitchFamily="34" charset="0"/>
              </a:rPr>
              <a:t> não tem nenhuma influência sobre este teste</a:t>
            </a:r>
          </a:p>
          <a:p>
            <a:pPr defTabSz="531813"/>
            <a:r>
              <a:rPr lang="pt-BR" dirty="0">
                <a:latin typeface="Tahoma" panose="020B0604030504040204" pitchFamily="34" charset="0"/>
              </a:rPr>
              <a:t>	o teste F não é capaz de identificar qual ou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de zero, nem 	    quais </a:t>
            </a:r>
            <a:r>
              <a:rPr lang="pt-BR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i="1" baseline="-25000" dirty="0">
                <a:latin typeface="Tahoma" panose="020B0604030504040204" pitchFamily="34" charset="0"/>
                <a:sym typeface="Symbol"/>
              </a:rPr>
              <a:t>k</a:t>
            </a:r>
            <a:r>
              <a:rPr lang="pt-BR" dirty="0">
                <a:latin typeface="Tahoma" panose="020B0604030504040204" pitchFamily="34" charset="0"/>
              </a:rPr>
              <a:t> são diferentes entre si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CaixaDeTexto 44"/>
              <p:cNvSpPr txBox="1"/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="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0</a:t>
                </a:r>
                <a:r>
                  <a:rPr lang="pt-BR" sz="1800" b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=0 (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𝑘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=1,…,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𝑝</m:t>
                    </m:r>
                    <m:r>
                      <a:rPr lang="pt-BR" sz="1800" b="0" i="1" smtClean="0">
                        <a:latin typeface="Cambria Math"/>
                        <a:ea typeface="Cambria Math"/>
                      </a:rPr>
                      <m:t>−1)</m:t>
                    </m:r>
                  </m:oMath>
                </a14:m>
                <a:endParaRPr lang="pt-BR" sz="1800" b="0" dirty="0">
                  <a:latin typeface="Tahoma" panose="020B0604030504040204" pitchFamily="34" charset="0"/>
                  <a:ea typeface="Cambria Math"/>
                </a:endParaRPr>
              </a:p>
              <a:p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H</a:t>
                </a:r>
                <a:r>
                  <a:rPr lang="pt-BR" sz="1800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lang="pt-BR" sz="1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pelo menos um dos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800" i="1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 </m:t>
                        </m:r>
                        <m:r>
                          <a:rPr lang="pt-BR" sz="1800" i="1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sz="1800" b="0" i="1" smtClean="0">
                            <a:latin typeface="Cambria Math"/>
                            <a:ea typeface="Cambria Math"/>
                          </a:rPr>
                          <m:t>𝑘</m:t>
                        </m:r>
                      </m:sub>
                    </m:sSub>
                    <m:r>
                      <a:rPr lang="pt-BR" sz="1800" i="1" smtClean="0">
                        <a:latin typeface="Cambria Math"/>
                        <a:ea typeface="Cambria Math"/>
                      </a:rPr>
                      <m:t>≠</m:t>
                    </m:r>
                    <m:r>
                      <a:rPr lang="pt-BR" sz="1800" i="1">
                        <a:latin typeface="Cambria Math"/>
                        <a:ea typeface="Cambria Math"/>
                      </a:rPr>
                      <m:t>0</m:t>
                    </m:r>
                  </m:oMath>
                </a14:m>
                <a:endParaRPr lang="pt-BR" sz="1800" dirty="0">
                  <a:latin typeface="Tahoma" panose="020B0604030504040204" pitchFamily="34" charset="0"/>
                  <a:ea typeface="Cambria Math"/>
                </a:endParaRPr>
              </a:p>
            </p:txBody>
          </p:sp>
        </mc:Choice>
        <mc:Fallback xmlns="">
          <p:sp>
            <p:nvSpPr>
              <p:cNvPr id="45" name="CaixaDeTexto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4077072"/>
                <a:ext cx="3040384" cy="646331"/>
              </a:xfrm>
              <a:prstGeom prst="rect">
                <a:avLst/>
              </a:prstGeom>
              <a:blipFill>
                <a:blip r:embed="rId26"/>
                <a:stretch>
                  <a:fillRect l="-1603" t="-5660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7" grpId="0" animBg="1" autoUpdateAnimBg="0"/>
      <p:bldP spid="4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Agrupar 14">
            <a:extLst>
              <a:ext uri="{FF2B5EF4-FFF2-40B4-BE49-F238E27FC236}">
                <a16:creationId xmlns:a16="http://schemas.microsoft.com/office/drawing/2014/main" id="{384F3A13-02AE-1E03-3614-5ECEC702578A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4363244" y="3676650"/>
            <a:chExt cx="3225064" cy="2749534"/>
          </a:xfrm>
        </p:grpSpPr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08486CCB-B2DA-2C3A-7051-89702FC69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63244" y="3676650"/>
              <a:ext cx="3225064" cy="2749534"/>
            </a:xfrm>
            <a:prstGeom prst="rect">
              <a:avLst/>
            </a:prstGeom>
          </p:spPr>
        </p:pic>
        <p:sp>
          <p:nvSpPr>
            <p:cNvPr id="18" name="Retângulo 2">
              <a:extLst>
                <a:ext uri="{FF2B5EF4-FFF2-40B4-BE49-F238E27FC236}">
                  <a16:creationId xmlns:a16="http://schemas.microsoft.com/office/drawing/2014/main" id="{DC487DB2-EF4E-634B-923A-DDDA4D8AA9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0072" y="5517232"/>
              <a:ext cx="1957587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Linear Simples</a:t>
              </a:r>
            </a:p>
          </p:txBody>
        </p:sp>
        <p:sp>
          <p:nvSpPr>
            <p:cNvPr id="19" name="Retângulo 2">
              <a:extLst>
                <a:ext uri="{FF2B5EF4-FFF2-40B4-BE49-F238E27FC236}">
                  <a16:creationId xmlns:a16="http://schemas.microsoft.com/office/drawing/2014/main" id="{F240C5C8-003A-9C7D-AD65-5EA8B49A30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6056" y="3957552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0,8870</a:t>
              </a:r>
            </a:p>
          </p:txBody>
        </p:sp>
      </p:grp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A192305C-2634-0361-4881-F0A778B602D3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8748713" y="2404082"/>
            <a:chExt cx="3225064" cy="2749534"/>
          </a:xfrm>
        </p:grpSpPr>
        <p:pic>
          <p:nvPicPr>
            <p:cNvPr id="20" name="Imagem 19">
              <a:extLst>
                <a:ext uri="{FF2B5EF4-FFF2-40B4-BE49-F238E27FC236}">
                  <a16:creationId xmlns:a16="http://schemas.microsoft.com/office/drawing/2014/main" id="{F983BFD3-C503-ABD5-863C-A9133B413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748713" y="2404082"/>
              <a:ext cx="3225064" cy="2749534"/>
            </a:xfrm>
            <a:prstGeom prst="rect">
              <a:avLst/>
            </a:prstGeom>
          </p:spPr>
        </p:pic>
        <p:sp>
          <p:nvSpPr>
            <p:cNvPr id="21" name="Retângulo 2">
              <a:extLst>
                <a:ext uri="{FF2B5EF4-FFF2-40B4-BE49-F238E27FC236}">
                  <a16:creationId xmlns:a16="http://schemas.microsoft.com/office/drawing/2014/main" id="{F0632E0C-12D7-9ECC-E5B7-A95CE46315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389517" y="4244664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2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22" name="Retângulo 2">
              <a:extLst>
                <a:ext uri="{FF2B5EF4-FFF2-40B4-BE49-F238E27FC236}">
                  <a16:creationId xmlns:a16="http://schemas.microsoft.com/office/drawing/2014/main" id="{50DF55E6-0B15-F232-2E98-D719F72F82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61525" y="2684984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0,8968</a:t>
              </a:r>
            </a:p>
          </p:txBody>
        </p:sp>
      </p:grpSp>
      <p:grpSp>
        <p:nvGrpSpPr>
          <p:cNvPr id="27" name="Agrupar 26">
            <a:extLst>
              <a:ext uri="{FF2B5EF4-FFF2-40B4-BE49-F238E27FC236}">
                <a16:creationId xmlns:a16="http://schemas.microsoft.com/office/drawing/2014/main" id="{44091659-E481-9AA7-4413-8D8D9162E347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-1894791" y="3957552"/>
            <a:chExt cx="3225064" cy="2749534"/>
          </a:xfrm>
        </p:grpSpPr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2D3653A1-3C64-88AB-5F1D-68DAB8B9A5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894791" y="3957552"/>
              <a:ext cx="3225064" cy="2749534"/>
            </a:xfrm>
            <a:prstGeom prst="rect">
              <a:avLst/>
            </a:prstGeom>
          </p:spPr>
        </p:pic>
        <p:sp>
          <p:nvSpPr>
            <p:cNvPr id="25" name="Retângulo 2">
              <a:extLst>
                <a:ext uri="{FF2B5EF4-FFF2-40B4-BE49-F238E27FC236}">
                  <a16:creationId xmlns:a16="http://schemas.microsoft.com/office/drawing/2014/main" id="{E6678C5C-4AB6-DB07-1C8D-FE527CC0B6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253987" y="5798134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3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26" name="Retângulo 2">
              <a:extLst>
                <a:ext uri="{FF2B5EF4-FFF2-40B4-BE49-F238E27FC236}">
                  <a16:creationId xmlns:a16="http://schemas.microsoft.com/office/drawing/2014/main" id="{3FDA3481-FA2F-FF85-FE48-95D8DE5B5F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-1181979" y="4238454"/>
              <a:ext cx="1116011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0,9735</a:t>
              </a:r>
            </a:p>
          </p:txBody>
        </p:sp>
      </p:grpSp>
      <p:grpSp>
        <p:nvGrpSpPr>
          <p:cNvPr id="28" name="Agrupar 27">
            <a:extLst>
              <a:ext uri="{FF2B5EF4-FFF2-40B4-BE49-F238E27FC236}">
                <a16:creationId xmlns:a16="http://schemas.microsoft.com/office/drawing/2014/main" id="{855C81F5-B5F4-9174-A65F-4564F2E9A0B5}"/>
              </a:ext>
            </a:extLst>
          </p:cNvPr>
          <p:cNvGrpSpPr/>
          <p:nvPr/>
        </p:nvGrpSpPr>
        <p:grpSpPr>
          <a:xfrm>
            <a:off x="4363244" y="3676650"/>
            <a:ext cx="3225064" cy="2749534"/>
            <a:chOff x="4363244" y="3676650"/>
            <a:chExt cx="3225064" cy="2749534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9829B771-AED1-05FA-2F59-6A27CC89E0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63244" y="3676650"/>
              <a:ext cx="3225064" cy="2749534"/>
            </a:xfrm>
            <a:prstGeom prst="rect">
              <a:avLst/>
            </a:prstGeom>
          </p:spPr>
        </p:pic>
        <p:sp>
          <p:nvSpPr>
            <p:cNvPr id="36880" name="Retângulo 2"/>
            <p:cNvSpPr>
              <a:spLocks noChangeArrowheads="1"/>
            </p:cNvSpPr>
            <p:nvPr/>
          </p:nvSpPr>
          <p:spPr bwMode="auto">
            <a:xfrm>
              <a:off x="5004048" y="5517232"/>
              <a:ext cx="2514856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latin typeface="Tahoma" panose="020B0604030504040204" pitchFamily="34" charset="0"/>
                </a:rPr>
                <a:t>Modelo Polinomial de 4</a:t>
              </a:r>
              <a:r>
                <a:rPr lang="pt-BR" altLang="pt-BR" sz="1400" u="sng" baseline="30000" dirty="0">
                  <a:latin typeface="Tahoma" panose="020B0604030504040204" pitchFamily="34" charset="0"/>
                </a:rPr>
                <a:t>o</a:t>
              </a:r>
              <a:r>
                <a:rPr lang="pt-BR" altLang="pt-BR" sz="1400" dirty="0">
                  <a:latin typeface="Tahoma" panose="020B0604030504040204" pitchFamily="34" charset="0"/>
                </a:rPr>
                <a:t> grau</a:t>
              </a:r>
            </a:p>
          </p:txBody>
        </p:sp>
        <p:sp>
          <p:nvSpPr>
            <p:cNvPr id="8" name="Retângulo 2">
              <a:extLst>
                <a:ext uri="{FF2B5EF4-FFF2-40B4-BE49-F238E27FC236}">
                  <a16:creationId xmlns:a16="http://schemas.microsoft.com/office/drawing/2014/main" id="{BC29686C-51DE-7339-9513-9133946014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76056" y="3957552"/>
              <a:ext cx="65434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pt-BR" altLang="pt-BR" sz="16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r>
                <a:rPr lang="pt-BR" altLang="pt-B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= 1</a:t>
              </a:r>
            </a:p>
          </p:txBody>
        </p:sp>
      </p:grpSp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41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926698" imgH="863225" progId="Equation.3">
                  <p:embed/>
                </p:oleObj>
              </mc:Choice>
              <mc:Fallback>
                <p:oleObj name="Equação" r:id="rId6" imgW="926698" imgH="863225" progId="Equation.3">
                  <p:embed/>
                  <p:pic>
                    <p:nvPicPr>
                      <p:cNvPr id="41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(cuidado com </a:t>
            </a:r>
            <a:r>
              <a:rPr lang="pt-BR" altLang="pt-BR" sz="1600" i="1" dirty="0" err="1">
                <a:solidFill>
                  <a:srgbClr val="FF0000"/>
                </a:solidFill>
                <a:latin typeface="Tahoma" panose="020B0604030504040204" pitchFamily="34" charset="0"/>
              </a:rPr>
              <a:t>overfitting</a:t>
            </a:r>
            <a:r>
              <a:rPr lang="pt-BR" altLang="pt-BR" sz="1600" dirty="0">
                <a:latin typeface="Tahoma" panose="020B0604030504040204" pitchFamily="34" charset="0"/>
              </a:rPr>
              <a:t>).</a:t>
            </a:r>
          </a:p>
        </p:txBody>
      </p: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2632075" y="3246438"/>
            <a:ext cx="590488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 mas não faz nenhum sentido!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1665FA9-5723-4E95-BF78-7B37087B80B2}" type="slidenum">
              <a:rPr lang="pt-BR"/>
              <a:pPr>
                <a:defRPr/>
              </a:pPr>
              <a:t>45</a:t>
            </a:fld>
            <a:endParaRPr lang="pt-BR"/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D94D7E4E-975D-07DF-3757-DEADD01C72B7}"/>
              </a:ext>
            </a:extLst>
          </p:cNvPr>
          <p:cNvSpPr txBox="1"/>
          <p:nvPr/>
        </p:nvSpPr>
        <p:spPr>
          <a:xfrm>
            <a:off x="5634061" y="3926774"/>
            <a:ext cx="47872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altLang="pt-BR" sz="1800" dirty="0">
                <a:solidFill>
                  <a:srgbClr val="FF0000"/>
                </a:solidFill>
                <a:latin typeface="Tahoma" panose="020B0604030504040204" pitchFamily="34" charset="0"/>
              </a:rPr>
              <a:t>?!</a:t>
            </a:r>
            <a:endParaRPr lang="pt-BR" sz="1800" dirty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42" grpId="0" build="p"/>
      <p:bldP spid="2" grpId="0"/>
      <p:bldP spid="30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Coeficiente de Determinação Múltiplo</a:t>
            </a:r>
          </a:p>
        </p:txBody>
      </p:sp>
      <p:sp>
        <p:nvSpPr>
          <p:cNvPr id="37891" name="Rectangle 220"/>
          <p:cNvSpPr>
            <a:spLocks noChangeArrowheads="1"/>
          </p:cNvSpPr>
          <p:nvPr/>
        </p:nvSpPr>
        <p:spPr bwMode="auto">
          <a:xfrm>
            <a:off x="771525" y="1628775"/>
            <a:ext cx="2312988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800" i="1">
                <a:latin typeface="Times New Roman" charset="0"/>
                <a:cs typeface="Times New Roman" charset="0"/>
              </a:rPr>
              <a:t>SQTO</a:t>
            </a:r>
            <a:r>
              <a:rPr lang="pt-BR" altLang="pt-BR" sz="1800">
                <a:latin typeface="Times New Roman" charset="0"/>
                <a:cs typeface="Times New Roman" charset="0"/>
              </a:rPr>
              <a:t> =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SQReg</a:t>
            </a:r>
            <a:r>
              <a:rPr lang="pt-BR" altLang="pt-BR" sz="1800">
                <a:latin typeface="Times New Roman" charset="0"/>
                <a:cs typeface="Times New Roman" charset="0"/>
              </a:rPr>
              <a:t> + </a:t>
            </a:r>
            <a:r>
              <a:rPr lang="pt-BR" altLang="pt-BR" sz="1800" i="1">
                <a:latin typeface="Times New Roman" charset="0"/>
                <a:cs typeface="Times New Roman" charset="0"/>
              </a:rPr>
              <a:t>SQE</a:t>
            </a:r>
          </a:p>
        </p:txBody>
      </p:sp>
      <p:graphicFrame>
        <p:nvGraphicFramePr>
          <p:cNvPr id="37892" name="Object 221"/>
          <p:cNvGraphicFramePr>
            <a:graphicFrameLocks noChangeAspect="1"/>
          </p:cNvGraphicFramePr>
          <p:nvPr/>
        </p:nvGraphicFramePr>
        <p:xfrm>
          <a:off x="771525" y="2205038"/>
          <a:ext cx="1343025" cy="12366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926698" imgH="863225" progId="Equation.3">
                  <p:embed/>
                </p:oleObj>
              </mc:Choice>
              <mc:Fallback>
                <p:oleObj name="Equação" r:id="rId2" imgW="926698" imgH="863225" progId="Equation.3">
                  <p:embed/>
                  <p:pic>
                    <p:nvPicPr>
                      <p:cNvPr id="37892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2205038"/>
                        <a:ext cx="1343025" cy="12366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893" name="Rectangle 252"/>
          <p:cNvSpPr>
            <a:spLocks noChangeArrowheads="1"/>
          </p:cNvSpPr>
          <p:nvPr/>
        </p:nvSpPr>
        <p:spPr bwMode="auto">
          <a:xfrm>
            <a:off x="2268538" y="2246313"/>
            <a:ext cx="6480175" cy="1182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  <a:cs typeface="Times New Roman" charset="0"/>
              </a:rPr>
              <a:t>Atenção: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é fortemente influenciado pelo número de parâmetros considerados no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Quanto maior o número de parâmetros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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), melhor o ajuste e portanto maior 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baseline="30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.</a:t>
            </a:r>
          </a:p>
        </p:txBody>
      </p:sp>
      <p:graphicFrame>
        <p:nvGraphicFramePr>
          <p:cNvPr id="37894" name="Object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25421938"/>
              </p:ext>
            </p:extLst>
          </p:nvPr>
        </p:nvGraphicFramePr>
        <p:xfrm>
          <a:off x="771525" y="3666112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37894" name="Object 2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1525" y="3666112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3260725" y="3810575"/>
            <a:ext cx="440415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Coeficiente de Determinação Múltiplo Ajustado</a:t>
            </a:r>
          </a:p>
        </p:txBody>
      </p:sp>
      <p:sp>
        <p:nvSpPr>
          <p:cNvPr id="45" name="Rectangle 252"/>
          <p:cNvSpPr>
            <a:spLocks noChangeArrowheads="1"/>
          </p:cNvSpPr>
          <p:nvPr/>
        </p:nvSpPr>
        <p:spPr bwMode="auto">
          <a:xfrm>
            <a:off x="3260725" y="4242375"/>
            <a:ext cx="4968875" cy="914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Este coeficiente pode até diminuir se as variáveis acrescentadas ao modelo não representarem contribuições importantes.</a:t>
            </a:r>
          </a:p>
        </p:txBody>
      </p:sp>
      <p:sp>
        <p:nvSpPr>
          <p:cNvPr id="37897" name="Retângulo 1"/>
          <p:cNvSpPr>
            <a:spLocks noChangeArrowheads="1"/>
          </p:cNvSpPr>
          <p:nvPr/>
        </p:nvSpPr>
        <p:spPr bwMode="auto">
          <a:xfrm>
            <a:off x="2632075" y="3246438"/>
            <a:ext cx="3462338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, o ajuste é perfeito!!!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FE71086-4552-4CD4-8CF2-EC46733F5136}" type="slidenum">
              <a:rPr lang="pt-BR"/>
              <a:pPr>
                <a:defRPr/>
              </a:pPr>
              <a:t>46</a:t>
            </a:fld>
            <a:endParaRPr lang="pt-BR"/>
          </a:p>
        </p:txBody>
      </p:sp>
      <p:sp>
        <p:nvSpPr>
          <p:cNvPr id="3" name="Rectangle 252">
            <a:extLst>
              <a:ext uri="{FF2B5EF4-FFF2-40B4-BE49-F238E27FC236}">
                <a16:creationId xmlns:a16="http://schemas.microsoft.com/office/drawing/2014/main" id="{F55AA4C4-53C7-94AA-06EC-A955AAF409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" y="6093296"/>
            <a:ext cx="8220397" cy="91481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o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altLang="pt-BR" sz="16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 continua sendo o índice que traduz o quanto da variação total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é explicada pela regressão!</a:t>
            </a:r>
          </a:p>
        </p:txBody>
      </p:sp>
      <p:sp>
        <p:nvSpPr>
          <p:cNvPr id="10" name="CaixaDeTexto 9"/>
          <p:cNvSpPr txBox="1"/>
          <p:nvPr/>
        </p:nvSpPr>
        <p:spPr>
          <a:xfrm>
            <a:off x="2019770" y="5307346"/>
            <a:ext cx="57205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Coeficiente de Correlação Múltiplo</a:t>
            </a:r>
            <a:endParaRPr lang="pt-BR" sz="14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grpSp>
        <p:nvGrpSpPr>
          <p:cNvPr id="16" name="Agrupar 15">
            <a:extLst>
              <a:ext uri="{FF2B5EF4-FFF2-40B4-BE49-F238E27FC236}">
                <a16:creationId xmlns:a16="http://schemas.microsoft.com/office/drawing/2014/main" id="{D3BB04F0-7C2A-2E60-83C5-69E6985910CD}"/>
              </a:ext>
            </a:extLst>
          </p:cNvPr>
          <p:cNvGrpSpPr/>
          <p:nvPr/>
        </p:nvGrpSpPr>
        <p:grpSpPr>
          <a:xfrm>
            <a:off x="944386" y="5199346"/>
            <a:ext cx="627275" cy="526083"/>
            <a:chOff x="6880448" y="4892663"/>
            <a:chExt cx="1728192" cy="1449399"/>
          </a:xfrm>
        </p:grpSpPr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01A5B8ED-D57C-694D-9BCA-8B66DB232D9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80448" y="4892663"/>
              <a:ext cx="1728192" cy="144939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Conector reto 13">
              <a:extLst>
                <a:ext uri="{FF2B5EF4-FFF2-40B4-BE49-F238E27FC236}">
                  <a16:creationId xmlns:a16="http://schemas.microsoft.com/office/drawing/2014/main" id="{257004B3-A5F9-964D-6540-76EC0FC565D3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80448" y="4892663"/>
              <a:ext cx="1728192" cy="144939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C9CD0F1-28CC-7BB4-5801-B04608149A69}"/>
                  </a:ext>
                </a:extLst>
              </p:cNvPr>
              <p:cNvSpPr txBox="1"/>
              <p:nvPr/>
            </p:nvSpPr>
            <p:spPr>
              <a:xfrm>
                <a:off x="771525" y="5214834"/>
                <a:ext cx="974241" cy="4001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𝑟</m:t>
                      </m:r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pt-BR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pt-BR" b="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8" name="CaixaDeTexto 7">
                <a:extLst>
                  <a:ext uri="{FF2B5EF4-FFF2-40B4-BE49-F238E27FC236}">
                    <a16:creationId xmlns:a16="http://schemas.microsoft.com/office/drawing/2014/main" id="{4C9CD0F1-28CC-7BB4-5801-B04608149A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525" y="5214834"/>
                <a:ext cx="974241" cy="40017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74EA3D-F16E-0428-01A4-0596E220B26A}"/>
              </a:ext>
            </a:extLst>
          </p:cNvPr>
          <p:cNvSpPr txBox="1"/>
          <p:nvPr/>
        </p:nvSpPr>
        <p:spPr>
          <a:xfrm>
            <a:off x="2411760" y="5546375"/>
            <a:ext cx="20882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>
                <a:latin typeface="Tahoma" panose="020B0604030504040204" pitchFamily="34" charset="0"/>
              </a:rPr>
              <a:t>(evite usar este índice!)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 build="p"/>
      <p:bldP spid="3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/>
          </p:cNvGraphicFramePr>
          <p:nvPr/>
        </p:nvGraphicFramePr>
        <p:xfrm>
          <a:off x="2033588" y="2947988"/>
          <a:ext cx="1601787" cy="83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066800" imgH="558800" progId="Equation.3">
                  <p:embed/>
                </p:oleObj>
              </mc:Choice>
              <mc:Fallback>
                <p:oleObj name="Equação" r:id="rId2" imgW="1066800" imgH="5588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33588" y="2947988"/>
                        <a:ext cx="1601787" cy="838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37" name="Grupo 36"/>
          <p:cNvGrpSpPr>
            <a:grpSpLocks/>
          </p:cNvGrpSpPr>
          <p:nvPr/>
        </p:nvGrpSpPr>
        <p:grpSpPr bwMode="auto">
          <a:xfrm>
            <a:off x="5105400" y="2953097"/>
            <a:ext cx="4000500" cy="2652712"/>
            <a:chOff x="5105400" y="3065463"/>
            <a:chExt cx="4000500" cy="2652713"/>
          </a:xfrm>
        </p:grpSpPr>
        <p:grpSp>
          <p:nvGrpSpPr>
            <p:cNvPr id="38948" name="Group 50"/>
            <p:cNvGrpSpPr>
              <a:grpSpLocks/>
            </p:cNvGrpSpPr>
            <p:nvPr/>
          </p:nvGrpSpPr>
          <p:grpSpPr bwMode="auto">
            <a:xfrm>
              <a:off x="5105400" y="3151188"/>
              <a:ext cx="4000500" cy="2566988"/>
              <a:chOff x="3264" y="2170"/>
              <a:chExt cx="2520" cy="1617"/>
            </a:xfrm>
          </p:grpSpPr>
          <p:grpSp>
            <p:nvGrpSpPr>
              <p:cNvPr id="38950" name="Group 24"/>
              <p:cNvGrpSpPr>
                <a:grpSpLocks/>
              </p:cNvGrpSpPr>
              <p:nvPr/>
            </p:nvGrpSpPr>
            <p:grpSpPr bwMode="auto">
              <a:xfrm>
                <a:off x="3264" y="2170"/>
                <a:ext cx="2520" cy="1617"/>
                <a:chOff x="2988" y="1872"/>
                <a:chExt cx="2520" cy="1617"/>
              </a:xfrm>
            </p:grpSpPr>
            <p:pic>
              <p:nvPicPr>
                <p:cNvPr id="38952" name="Picture 25"/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23296" t="9618" r="18376" b="11877"/>
                <a:stretch>
                  <a:fillRect/>
                </a:stretch>
              </p:blipFill>
              <p:spPr bwMode="auto">
                <a:xfrm>
                  <a:off x="3026" y="1872"/>
                  <a:ext cx="2432" cy="139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38953" name="Text Box 26"/>
                <p:cNvSpPr txBox="1">
                  <a:spLocks noChangeArrowheads="1"/>
                </p:cNvSpPr>
                <p:nvPr/>
              </p:nvSpPr>
              <p:spPr bwMode="auto">
                <a:xfrm>
                  <a:off x="2988" y="3158"/>
                  <a:ext cx="283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-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4" name="Text Box 27"/>
                <p:cNvSpPr txBox="1">
                  <a:spLocks noChangeArrowheads="1"/>
                </p:cNvSpPr>
                <p:nvPr/>
              </p:nvSpPr>
              <p:spPr bwMode="auto">
                <a:xfrm>
                  <a:off x="5188" y="3160"/>
                  <a:ext cx="320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+</a:t>
                  </a:r>
                  <a:r>
                    <a:rPr lang="pt-BR" altLang="pt-BR" sz="2000">
                      <a:latin typeface="Times New Roman" charset="0"/>
                      <a:sym typeface="Symbol" pitchFamily="18" charset="2"/>
                    </a:rPr>
                    <a:t></a:t>
                  </a:r>
                  <a:endParaRPr lang="pt-BR" altLang="pt-BR" sz="2000">
                    <a:latin typeface="Times New Roman" charset="0"/>
                  </a:endParaRPr>
                </a:p>
              </p:txBody>
            </p:sp>
            <p:sp>
              <p:nvSpPr>
                <p:cNvPr id="38955" name="Text Box 28"/>
                <p:cNvSpPr txBox="1">
                  <a:spLocks noChangeArrowheads="1"/>
                </p:cNvSpPr>
                <p:nvPr/>
              </p:nvSpPr>
              <p:spPr bwMode="auto">
                <a:xfrm>
                  <a:off x="4158" y="3239"/>
                  <a:ext cx="196" cy="25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>
                  <a:spAutoFit/>
                </a:bodyPr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algn="ctr"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pt-BR" altLang="pt-BR" sz="2000">
                      <a:latin typeface="Times New Roman" charset="0"/>
                    </a:rPr>
                    <a:t>0</a:t>
                  </a:r>
                </a:p>
              </p:txBody>
            </p:sp>
            <p:sp>
              <p:nvSpPr>
                <p:cNvPr id="38956" name="Line 29"/>
                <p:cNvSpPr>
                  <a:spLocks noChangeShapeType="1"/>
                </p:cNvSpPr>
                <p:nvPr/>
              </p:nvSpPr>
              <p:spPr bwMode="auto">
                <a:xfrm>
                  <a:off x="3024" y="3226"/>
                  <a:ext cx="2448" cy="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  <p:sp>
            <p:nvSpPr>
              <p:cNvPr id="38951" name="Line 30"/>
              <p:cNvSpPr>
                <a:spLocks noChangeShapeType="1"/>
              </p:cNvSpPr>
              <p:nvPr/>
            </p:nvSpPr>
            <p:spPr bwMode="auto">
              <a:xfrm flipH="1">
                <a:off x="4788" y="2266"/>
                <a:ext cx="144" cy="144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38949" name="Object 40"/>
            <p:cNvGraphicFramePr>
              <a:graphicFrameLocks noChangeAspect="1"/>
            </p:cNvGraphicFramePr>
            <p:nvPr/>
          </p:nvGraphicFramePr>
          <p:xfrm>
            <a:off x="7791450" y="3065463"/>
            <a:ext cx="381000" cy="3619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5" imgW="253890" imgH="241195" progId="Equation.3">
                    <p:embed/>
                  </p:oleObj>
                </mc:Choice>
                <mc:Fallback>
                  <p:oleObj name="Equação" r:id="rId5" imgW="253890" imgH="241195" progId="Equation.3">
                    <p:embed/>
                    <p:pic>
                      <p:nvPicPr>
                        <p:cNvPr id="38949" name="Object 4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791450" y="3065463"/>
                          <a:ext cx="381000" cy="3619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53" name="Object 13"/>
          <p:cNvGraphicFramePr>
            <a:graphicFrameLocks noChangeAspect="1"/>
          </p:cNvGraphicFramePr>
          <p:nvPr/>
        </p:nvGraphicFramePr>
        <p:xfrm>
          <a:off x="468313" y="1625600"/>
          <a:ext cx="1579562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1054100" imgH="431800" progId="Equation.3">
                  <p:embed/>
                </p:oleObj>
              </mc:Choice>
              <mc:Fallback>
                <p:oleObj name="Equação" r:id="rId7" imgW="1054100" imgH="431800" progId="Equation.3">
                  <p:embed/>
                  <p:pic>
                    <p:nvPicPr>
                      <p:cNvPr id="53" name="Object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1625600"/>
                        <a:ext cx="1579562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Object 16"/>
          <p:cNvGraphicFramePr>
            <a:graphicFrameLocks/>
          </p:cNvGraphicFramePr>
          <p:nvPr/>
        </p:nvGraphicFramePr>
        <p:xfrm>
          <a:off x="427038" y="3090863"/>
          <a:ext cx="1393825" cy="7921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698500" imgH="457200" progId="Equation.3">
                  <p:embed/>
                </p:oleObj>
              </mc:Choice>
              <mc:Fallback>
                <p:oleObj name="Equação" r:id="rId9" imgW="698500" imgH="457200" progId="Equation.3">
                  <p:embed/>
                  <p:pic>
                    <p:nvPicPr>
                      <p:cNvPr id="54" name="Object 16"/>
                      <p:cNvPicPr>
                        <a:picLocks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27038" y="3090863"/>
                        <a:ext cx="1393825" cy="7921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Object 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8693541"/>
              </p:ext>
            </p:extLst>
          </p:nvPr>
        </p:nvGraphicFramePr>
        <p:xfrm>
          <a:off x="517525" y="4365104"/>
          <a:ext cx="1408113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39392" imgH="431613" progId="Equation.3">
                  <p:embed/>
                </p:oleObj>
              </mc:Choice>
              <mc:Fallback>
                <p:oleObj name="Equação" r:id="rId11" imgW="939392" imgH="431613" progId="Equation.3">
                  <p:embed/>
                  <p:pic>
                    <p:nvPicPr>
                      <p:cNvPr id="74" name="Object 4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" y="4365104"/>
                        <a:ext cx="1408113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Retângulo 75"/>
          <p:cNvSpPr>
            <a:spLocks noChangeArrowheads="1"/>
          </p:cNvSpPr>
          <p:nvPr/>
        </p:nvSpPr>
        <p:spPr bwMode="auto">
          <a:xfrm>
            <a:off x="461963" y="4005064"/>
            <a:ext cx="18119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verdadeira: </a:t>
            </a:r>
          </a:p>
        </p:txBody>
      </p:sp>
      <p:sp>
        <p:nvSpPr>
          <p:cNvPr id="77" name="Text Box 33"/>
          <p:cNvSpPr txBox="1">
            <a:spLocks noChangeArrowheads="1"/>
          </p:cNvSpPr>
          <p:nvPr/>
        </p:nvSpPr>
        <p:spPr bwMode="auto">
          <a:xfrm>
            <a:off x="7551738" y="5104159"/>
            <a:ext cx="493712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sp>
        <p:nvSpPr>
          <p:cNvPr id="78" name="Text Box 34"/>
          <p:cNvSpPr txBox="1">
            <a:spLocks noChangeArrowheads="1"/>
          </p:cNvSpPr>
          <p:nvPr/>
        </p:nvSpPr>
        <p:spPr bwMode="auto">
          <a:xfrm>
            <a:off x="6324600" y="5104159"/>
            <a:ext cx="579438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2000" i="1">
                <a:latin typeface="Times New Roman" charset="0"/>
              </a:rPr>
              <a:t>-t</a:t>
            </a:r>
            <a:r>
              <a:rPr lang="pt-BR" altLang="pt-BR" sz="2000" i="1" baseline="-25000">
                <a:latin typeface="Times New Roman" charset="0"/>
              </a:rPr>
              <a:t>crít</a:t>
            </a:r>
          </a:p>
        </p:txBody>
      </p:sp>
      <p:grpSp>
        <p:nvGrpSpPr>
          <p:cNvPr id="79" name="Group 35"/>
          <p:cNvGrpSpPr>
            <a:grpSpLocks/>
          </p:cNvGrpSpPr>
          <p:nvPr/>
        </p:nvGrpSpPr>
        <p:grpSpPr bwMode="auto">
          <a:xfrm>
            <a:off x="7981950" y="4197697"/>
            <a:ext cx="611188" cy="746125"/>
            <a:chOff x="4800" y="2602"/>
            <a:chExt cx="385" cy="470"/>
          </a:xfrm>
        </p:grpSpPr>
        <p:sp>
          <p:nvSpPr>
            <p:cNvPr id="38946" name="Line 36"/>
            <p:cNvSpPr>
              <a:spLocks noChangeShapeType="1"/>
            </p:cNvSpPr>
            <p:nvPr/>
          </p:nvSpPr>
          <p:spPr bwMode="auto">
            <a:xfrm flipV="1">
              <a:off x="4800" y="2832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7" name="Object 11"/>
            <p:cNvGraphicFramePr>
              <a:graphicFrameLocks noChangeAspect="1"/>
            </p:cNvGraphicFramePr>
            <p:nvPr/>
          </p:nvGraphicFramePr>
          <p:xfrm>
            <a:off x="5025" y="2602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177646" imgH="393359" progId="Equation.DSMT4">
                    <p:embed/>
                  </p:oleObj>
                </mc:Choice>
                <mc:Fallback>
                  <p:oleObj name="Equation" r:id="rId13" imgW="177646" imgH="393359" progId="Equation.DSMT4">
                    <p:embed/>
                    <p:pic>
                      <p:nvPicPr>
                        <p:cNvPr id="38947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025" y="2602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2" name="Group 38"/>
          <p:cNvGrpSpPr>
            <a:grpSpLocks/>
          </p:cNvGrpSpPr>
          <p:nvPr/>
        </p:nvGrpSpPr>
        <p:grpSpPr bwMode="auto">
          <a:xfrm>
            <a:off x="5748338" y="4181822"/>
            <a:ext cx="557212" cy="746125"/>
            <a:chOff x="2769" y="2544"/>
            <a:chExt cx="351" cy="470"/>
          </a:xfrm>
        </p:grpSpPr>
        <p:sp>
          <p:nvSpPr>
            <p:cNvPr id="38944" name="Line 39"/>
            <p:cNvSpPr>
              <a:spLocks noChangeShapeType="1"/>
            </p:cNvSpPr>
            <p:nvPr/>
          </p:nvSpPr>
          <p:spPr bwMode="auto">
            <a:xfrm flipH="1" flipV="1">
              <a:off x="2928" y="2774"/>
              <a:ext cx="192" cy="2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5" name="Object 10"/>
            <p:cNvGraphicFramePr>
              <a:graphicFrameLocks noChangeAspect="1"/>
            </p:cNvGraphicFramePr>
            <p:nvPr/>
          </p:nvGraphicFramePr>
          <p:xfrm>
            <a:off x="2769" y="2544"/>
            <a:ext cx="160" cy="35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177646" imgH="393359" progId="Equation.DSMT4">
                    <p:embed/>
                  </p:oleObj>
                </mc:Choice>
                <mc:Fallback>
                  <p:oleObj name="Equation" r:id="rId15" imgW="177646" imgH="393359" progId="Equation.DSMT4">
                    <p:embed/>
                    <p:pic>
                      <p:nvPicPr>
                        <p:cNvPr id="38945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69" y="2544"/>
                          <a:ext cx="160" cy="35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5" name="Grupo 84"/>
          <p:cNvGrpSpPr>
            <a:grpSpLocks/>
          </p:cNvGrpSpPr>
          <p:nvPr/>
        </p:nvGrpSpPr>
        <p:grpSpPr bwMode="auto">
          <a:xfrm>
            <a:off x="6530975" y="3108672"/>
            <a:ext cx="1184275" cy="2073275"/>
            <a:chOff x="6530975" y="3221038"/>
            <a:chExt cx="1184275" cy="2073275"/>
          </a:xfrm>
        </p:grpSpPr>
        <p:sp>
          <p:nvSpPr>
            <p:cNvPr id="38942" name="Freeform 32"/>
            <p:cNvSpPr>
              <a:spLocks/>
            </p:cNvSpPr>
            <p:nvPr/>
          </p:nvSpPr>
          <p:spPr bwMode="auto">
            <a:xfrm>
              <a:off x="6530975" y="3221038"/>
              <a:ext cx="1184275" cy="2073275"/>
            </a:xfrm>
            <a:custGeom>
              <a:avLst/>
              <a:gdLst>
                <a:gd name="T0" fmla="*/ 0 w 440"/>
                <a:gd name="T1" fmla="*/ 2147483647 h 771"/>
                <a:gd name="T2" fmla="*/ 2147483647 w 440"/>
                <a:gd name="T3" fmla="*/ 2147483647 h 771"/>
                <a:gd name="T4" fmla="*/ 2147483647 w 440"/>
                <a:gd name="T5" fmla="*/ 2147483647 h 771"/>
                <a:gd name="T6" fmla="*/ 2147483647 w 440"/>
                <a:gd name="T7" fmla="*/ 2147483647 h 771"/>
                <a:gd name="T8" fmla="*/ 2147483647 w 440"/>
                <a:gd name="T9" fmla="*/ 2147483647 h 771"/>
                <a:gd name="T10" fmla="*/ 2147483647 w 440"/>
                <a:gd name="T11" fmla="*/ 2147483647 h 771"/>
                <a:gd name="T12" fmla="*/ 2147483647 w 440"/>
                <a:gd name="T13" fmla="*/ 2147483647 h 771"/>
                <a:gd name="T14" fmla="*/ 2147483647 w 440"/>
                <a:gd name="T15" fmla="*/ 2147483647 h 771"/>
                <a:gd name="T16" fmla="*/ 2147483647 w 440"/>
                <a:gd name="T17" fmla="*/ 2147483647 h 771"/>
                <a:gd name="T18" fmla="*/ 2147483647 w 440"/>
                <a:gd name="T19" fmla="*/ 2147483647 h 771"/>
                <a:gd name="T20" fmla="*/ 2147483647 w 440"/>
                <a:gd name="T21" fmla="*/ 0 h 771"/>
                <a:gd name="T22" fmla="*/ 2147483647 w 440"/>
                <a:gd name="T23" fmla="*/ 0 h 771"/>
                <a:gd name="T24" fmla="*/ 2147483647 w 440"/>
                <a:gd name="T25" fmla="*/ 2147483647 h 771"/>
                <a:gd name="T26" fmla="*/ 2147483647 w 440"/>
                <a:gd name="T27" fmla="*/ 2147483647 h 771"/>
                <a:gd name="T28" fmla="*/ 2147483647 w 440"/>
                <a:gd name="T29" fmla="*/ 2147483647 h 771"/>
                <a:gd name="T30" fmla="*/ 2147483647 w 440"/>
                <a:gd name="T31" fmla="*/ 2147483647 h 771"/>
                <a:gd name="T32" fmla="*/ 2147483647 w 440"/>
                <a:gd name="T33" fmla="*/ 2147483647 h 771"/>
                <a:gd name="T34" fmla="*/ 2147483647 w 440"/>
                <a:gd name="T35" fmla="*/ 2147483647 h 771"/>
                <a:gd name="T36" fmla="*/ 2147483647 w 440"/>
                <a:gd name="T37" fmla="*/ 2147483647 h 771"/>
                <a:gd name="T38" fmla="*/ 2147483647 w 440"/>
                <a:gd name="T39" fmla="*/ 2147483647 h 771"/>
                <a:gd name="T40" fmla="*/ 2147483647 w 440"/>
                <a:gd name="T41" fmla="*/ 2147483647 h 771"/>
                <a:gd name="T42" fmla="*/ 2147483647 w 440"/>
                <a:gd name="T43" fmla="*/ 2147483647 h 771"/>
                <a:gd name="T44" fmla="*/ 2147483647 w 440"/>
                <a:gd name="T45" fmla="*/ 2147483647 h 771"/>
                <a:gd name="T46" fmla="*/ 0 w 440"/>
                <a:gd name="T47" fmla="*/ 2147483647 h 771"/>
                <a:gd name="T48" fmla="*/ 0 w 440"/>
                <a:gd name="T49" fmla="*/ 2147483647 h 771"/>
                <a:gd name="T50" fmla="*/ 0 60000 65536"/>
                <a:gd name="T51" fmla="*/ 0 60000 65536"/>
                <a:gd name="T52" fmla="*/ 0 60000 65536"/>
                <a:gd name="T53" fmla="*/ 0 60000 65536"/>
                <a:gd name="T54" fmla="*/ 0 60000 65536"/>
                <a:gd name="T55" fmla="*/ 0 60000 65536"/>
                <a:gd name="T56" fmla="*/ 0 60000 65536"/>
                <a:gd name="T57" fmla="*/ 0 60000 65536"/>
                <a:gd name="T58" fmla="*/ 0 60000 65536"/>
                <a:gd name="T59" fmla="*/ 0 60000 65536"/>
                <a:gd name="T60" fmla="*/ 0 60000 65536"/>
                <a:gd name="T61" fmla="*/ 0 60000 65536"/>
                <a:gd name="T62" fmla="*/ 0 60000 65536"/>
                <a:gd name="T63" fmla="*/ 0 60000 65536"/>
                <a:gd name="T64" fmla="*/ 0 60000 65536"/>
                <a:gd name="T65" fmla="*/ 0 60000 65536"/>
                <a:gd name="T66" fmla="*/ 0 60000 65536"/>
                <a:gd name="T67" fmla="*/ 0 60000 65536"/>
                <a:gd name="T68" fmla="*/ 0 60000 65536"/>
                <a:gd name="T69" fmla="*/ 0 60000 65536"/>
                <a:gd name="T70" fmla="*/ 0 60000 65536"/>
                <a:gd name="T71" fmla="*/ 0 60000 65536"/>
                <a:gd name="T72" fmla="*/ 0 60000 65536"/>
                <a:gd name="T73" fmla="*/ 0 60000 65536"/>
                <a:gd name="T74" fmla="*/ 0 60000 65536"/>
                <a:gd name="T75" fmla="*/ 0 w 440"/>
                <a:gd name="T76" fmla="*/ 0 h 771"/>
                <a:gd name="T77" fmla="*/ 440 w 440"/>
                <a:gd name="T78" fmla="*/ 771 h 771"/>
              </a:gdLst>
              <a:ahLst/>
              <a:cxnLst>
                <a:cxn ang="T50">
                  <a:pos x="T0" y="T1"/>
                </a:cxn>
                <a:cxn ang="T51">
                  <a:pos x="T2" y="T3"/>
                </a:cxn>
                <a:cxn ang="T52">
                  <a:pos x="T4" y="T5"/>
                </a:cxn>
                <a:cxn ang="T53">
                  <a:pos x="T6" y="T7"/>
                </a:cxn>
                <a:cxn ang="T54">
                  <a:pos x="T8" y="T9"/>
                </a:cxn>
                <a:cxn ang="T55">
                  <a:pos x="T10" y="T11"/>
                </a:cxn>
                <a:cxn ang="T56">
                  <a:pos x="T12" y="T13"/>
                </a:cxn>
                <a:cxn ang="T57">
                  <a:pos x="T14" y="T15"/>
                </a:cxn>
                <a:cxn ang="T58">
                  <a:pos x="T16" y="T17"/>
                </a:cxn>
                <a:cxn ang="T59">
                  <a:pos x="T18" y="T19"/>
                </a:cxn>
                <a:cxn ang="T60">
                  <a:pos x="T20" y="T21"/>
                </a:cxn>
                <a:cxn ang="T61">
                  <a:pos x="T22" y="T23"/>
                </a:cxn>
                <a:cxn ang="T62">
                  <a:pos x="T24" y="T25"/>
                </a:cxn>
                <a:cxn ang="T63">
                  <a:pos x="T26" y="T27"/>
                </a:cxn>
                <a:cxn ang="T64">
                  <a:pos x="T28" y="T29"/>
                </a:cxn>
                <a:cxn ang="T65">
                  <a:pos x="T30" y="T31"/>
                </a:cxn>
                <a:cxn ang="T66">
                  <a:pos x="T32" y="T33"/>
                </a:cxn>
                <a:cxn ang="T67">
                  <a:pos x="T34" y="T35"/>
                </a:cxn>
                <a:cxn ang="T68">
                  <a:pos x="T36" y="T37"/>
                </a:cxn>
                <a:cxn ang="T69">
                  <a:pos x="T38" y="T39"/>
                </a:cxn>
                <a:cxn ang="T70">
                  <a:pos x="T40" y="T41"/>
                </a:cxn>
                <a:cxn ang="T71">
                  <a:pos x="T42" y="T43"/>
                </a:cxn>
                <a:cxn ang="T72">
                  <a:pos x="T44" y="T45"/>
                </a:cxn>
                <a:cxn ang="T73">
                  <a:pos x="T46" y="T47"/>
                </a:cxn>
                <a:cxn ang="T74">
                  <a:pos x="T48" y="T49"/>
                </a:cxn>
              </a:cxnLst>
              <a:rect l="T75" t="T76" r="T77" b="T78"/>
              <a:pathLst>
                <a:path w="440" h="771">
                  <a:moveTo>
                    <a:pt x="0" y="406"/>
                  </a:moveTo>
                  <a:lnTo>
                    <a:pt x="22" y="353"/>
                  </a:lnTo>
                  <a:lnTo>
                    <a:pt x="41" y="298"/>
                  </a:lnTo>
                  <a:lnTo>
                    <a:pt x="63" y="240"/>
                  </a:lnTo>
                  <a:lnTo>
                    <a:pt x="89" y="180"/>
                  </a:lnTo>
                  <a:lnTo>
                    <a:pt x="111" y="130"/>
                  </a:lnTo>
                  <a:lnTo>
                    <a:pt x="132" y="82"/>
                  </a:lnTo>
                  <a:lnTo>
                    <a:pt x="156" y="44"/>
                  </a:lnTo>
                  <a:lnTo>
                    <a:pt x="176" y="20"/>
                  </a:lnTo>
                  <a:lnTo>
                    <a:pt x="200" y="3"/>
                  </a:lnTo>
                  <a:lnTo>
                    <a:pt x="216" y="0"/>
                  </a:lnTo>
                  <a:lnTo>
                    <a:pt x="236" y="0"/>
                  </a:lnTo>
                  <a:lnTo>
                    <a:pt x="252" y="12"/>
                  </a:lnTo>
                  <a:lnTo>
                    <a:pt x="276" y="34"/>
                  </a:lnTo>
                  <a:lnTo>
                    <a:pt x="303" y="72"/>
                  </a:lnTo>
                  <a:lnTo>
                    <a:pt x="324" y="123"/>
                  </a:lnTo>
                  <a:lnTo>
                    <a:pt x="346" y="173"/>
                  </a:lnTo>
                  <a:lnTo>
                    <a:pt x="375" y="243"/>
                  </a:lnTo>
                  <a:lnTo>
                    <a:pt x="396" y="298"/>
                  </a:lnTo>
                  <a:lnTo>
                    <a:pt x="420" y="348"/>
                  </a:lnTo>
                  <a:lnTo>
                    <a:pt x="432" y="382"/>
                  </a:lnTo>
                  <a:lnTo>
                    <a:pt x="440" y="404"/>
                  </a:lnTo>
                  <a:lnTo>
                    <a:pt x="440" y="771"/>
                  </a:lnTo>
                  <a:lnTo>
                    <a:pt x="0" y="771"/>
                  </a:lnTo>
                  <a:lnTo>
                    <a:pt x="0" y="406"/>
                  </a:lnTo>
                  <a:close/>
                </a:path>
              </a:pathLst>
            </a:custGeom>
            <a:solidFill>
              <a:srgbClr val="C0C0C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pt-BR" dirty="0">
                <a:latin typeface="Tahoma" panose="020B0604030504040204" pitchFamily="34" charset="0"/>
              </a:endParaRPr>
            </a:p>
          </p:txBody>
        </p:sp>
        <p:graphicFrame>
          <p:nvGraphicFramePr>
            <p:cNvPr id="38943" name="Object 8"/>
            <p:cNvGraphicFramePr>
              <a:graphicFrameLocks noChangeAspect="1"/>
            </p:cNvGraphicFramePr>
            <p:nvPr/>
          </p:nvGraphicFramePr>
          <p:xfrm>
            <a:off x="6888163" y="4443413"/>
            <a:ext cx="490538" cy="252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7" imgW="342603" imgH="177646" progId="Equation.DSMT4">
                    <p:embed/>
                  </p:oleObj>
                </mc:Choice>
                <mc:Fallback>
                  <p:oleObj name="Equation" r:id="rId17" imgW="342603" imgH="177646" progId="Equation.DSMT4">
                    <p:embed/>
                    <p:pic>
                      <p:nvPicPr>
                        <p:cNvPr id="38943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888163" y="4443413"/>
                          <a:ext cx="490538" cy="252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88" name="Grupo 34"/>
          <p:cNvGrpSpPr>
            <a:grpSpLocks/>
          </p:cNvGrpSpPr>
          <p:nvPr/>
        </p:nvGrpSpPr>
        <p:grpSpPr bwMode="auto">
          <a:xfrm>
            <a:off x="35496" y="5085184"/>
            <a:ext cx="5715000" cy="917575"/>
            <a:chOff x="714348" y="5940449"/>
            <a:chExt cx="5715000" cy="917575"/>
          </a:xfrm>
        </p:grpSpPr>
        <p:sp>
          <p:nvSpPr>
            <p:cNvPr id="38940" name="Text Box 62"/>
            <p:cNvSpPr txBox="1">
              <a:spLocks noChangeArrowheads="1"/>
            </p:cNvSpPr>
            <p:nvPr/>
          </p:nvSpPr>
          <p:spPr bwMode="auto">
            <a:xfrm>
              <a:off x="714348" y="5940449"/>
              <a:ext cx="3124200" cy="3365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Região Crítica:</a:t>
              </a:r>
            </a:p>
          </p:txBody>
        </p:sp>
        <p:sp>
          <p:nvSpPr>
            <p:cNvPr id="38941" name="Text Box 64"/>
            <p:cNvSpPr txBox="1">
              <a:spLocks noChangeArrowheads="1"/>
            </p:cNvSpPr>
            <p:nvPr/>
          </p:nvSpPr>
          <p:spPr bwMode="auto">
            <a:xfrm>
              <a:off x="1123923" y="6276999"/>
              <a:ext cx="5305425" cy="5810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aceito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se 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ahoma" panose="020B0604030504040204" pitchFamily="34" charset="0"/>
                </a:rPr>
                <a:t>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(</a:t>
              </a:r>
              <a:r>
                <a:rPr lang="pt-BR" altLang="pt-BR" sz="1600" dirty="0">
                  <a:latin typeface="Times New Roman" charset="0"/>
                </a:rPr>
                <a:t>–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>
                  <a:latin typeface="Times New Roman" charset="0"/>
                </a:rPr>
                <a:t>t</a:t>
              </a:r>
              <a:r>
                <a:rPr lang="pt-BR" altLang="pt-BR" sz="1600" dirty="0">
                  <a:latin typeface="Times New Roman" charset="0"/>
                </a:rPr>
                <a:t> &lt;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dirty="0">
                  <a:latin typeface="Times New Roman" charset="0"/>
                  <a:sym typeface="Symbol" pitchFamily="18" charset="2"/>
                </a:rPr>
                <a:t>1 -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  <a:endParaRPr lang="pt-BR" altLang="pt-BR" sz="1600" i="1" baseline="-25000" dirty="0">
                <a:latin typeface="Times New Roman" charset="0"/>
              </a:endParaRPr>
            </a:p>
            <a:p>
              <a:pPr eaLnBrk="1" hangingPunct="1">
                <a:spcBef>
                  <a:spcPct val="0"/>
                </a:spcBef>
              </a:pPr>
              <a:r>
                <a:rPr lang="pt-BR" altLang="pt-BR" sz="1600" dirty="0">
                  <a:latin typeface="Tahoma" panose="020B0604030504040204" pitchFamily="34" charset="0"/>
                </a:rPr>
                <a:t>rejeito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r>
                <a:rPr lang="pt-BR" altLang="pt-BR" sz="1600" dirty="0">
                  <a:latin typeface="Tahoma" panose="020B0604030504040204" pitchFamily="34" charset="0"/>
                </a:rPr>
                <a:t> caso contrário    </a:t>
              </a:r>
              <a:r>
                <a:rPr lang="pt-BR" altLang="pt-BR" sz="1600" dirty="0">
                  <a:latin typeface="Tahoma" panose="020B0604030504040204" pitchFamily="34" charset="0"/>
                  <a:sym typeface="Symbol" pitchFamily="18" charset="2"/>
                </a:rPr>
                <a:t> </a:t>
              </a:r>
              <a:r>
                <a:rPr lang="pt-BR" altLang="pt-BR" sz="1600" i="1" dirty="0">
                  <a:latin typeface="Times New Roman" charset="0"/>
                  <a:sym typeface="Symbol" pitchFamily="18" charset="2"/>
                </a:rPr>
                <a:t>P</a:t>
              </a:r>
              <a:r>
                <a:rPr lang="pt-BR" altLang="pt-BR" sz="1600" dirty="0">
                  <a:latin typeface="Times New Roman" charset="0"/>
                </a:rPr>
                <a:t>(|</a:t>
              </a:r>
              <a:r>
                <a:rPr lang="pt-BR" altLang="pt-BR" sz="1600" i="1" dirty="0">
                  <a:latin typeface="Times New Roman" charset="0"/>
                </a:rPr>
                <a:t>t|</a:t>
              </a:r>
              <a:r>
                <a:rPr lang="pt-BR" altLang="pt-BR" sz="1600" dirty="0">
                  <a:latin typeface="Times New Roman" charset="0"/>
                </a:rPr>
                <a:t> &gt; </a:t>
              </a:r>
              <a:r>
                <a:rPr lang="pt-BR" altLang="pt-BR" sz="1600" i="1" dirty="0" err="1">
                  <a:latin typeface="Times New Roman" charset="0"/>
                </a:rPr>
                <a:t>t</a:t>
              </a:r>
              <a:r>
                <a:rPr lang="pt-BR" altLang="pt-BR" sz="1600" i="1" baseline="-25000" dirty="0" err="1">
                  <a:latin typeface="Times New Roman" charset="0"/>
                </a:rPr>
                <a:t>crít</a:t>
              </a:r>
              <a:r>
                <a:rPr lang="pt-BR" altLang="pt-BR" sz="1600" dirty="0">
                  <a:latin typeface="Times New Roman" charset="0"/>
                </a:rPr>
                <a:t>) = </a:t>
              </a:r>
              <a:r>
                <a:rPr lang="pt-BR" altLang="pt-BR" sz="1600" i="1" dirty="0">
                  <a:latin typeface="Tahoma" panose="020B0604030504040204" pitchFamily="34" charset="0"/>
                  <a:sym typeface="Symbol" pitchFamily="18" charset="2"/>
                </a:rPr>
                <a:t></a:t>
              </a:r>
            </a:p>
          </p:txBody>
        </p:sp>
      </p:grpSp>
      <p:grpSp>
        <p:nvGrpSpPr>
          <p:cNvPr id="93" name="Grupo 92"/>
          <p:cNvGrpSpPr>
            <a:grpSpLocks/>
          </p:cNvGrpSpPr>
          <p:nvPr/>
        </p:nvGrpSpPr>
        <p:grpSpPr bwMode="auto">
          <a:xfrm>
            <a:off x="6529388" y="5515322"/>
            <a:ext cx="1189037" cy="361950"/>
            <a:chOff x="6529932" y="5627017"/>
            <a:chExt cx="1188000" cy="362368"/>
          </a:xfrm>
        </p:grpSpPr>
        <p:sp>
          <p:nvSpPr>
            <p:cNvPr id="38938" name="Rectangle 136"/>
            <p:cNvSpPr>
              <a:spLocks noChangeArrowheads="1"/>
            </p:cNvSpPr>
            <p:nvPr/>
          </p:nvSpPr>
          <p:spPr bwMode="auto">
            <a:xfrm>
              <a:off x="6759408" y="5650830"/>
              <a:ext cx="729051" cy="3385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ac,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9" name="AutoShape 137"/>
            <p:cNvSpPr>
              <a:spLocks/>
            </p:cNvSpPr>
            <p:nvPr/>
          </p:nvSpPr>
          <p:spPr bwMode="auto">
            <a:xfrm rot="-5400000">
              <a:off x="7089007" y="5067942"/>
              <a:ext cx="69850" cy="1188000"/>
            </a:xfrm>
            <a:prstGeom prst="leftBrace">
              <a:avLst>
                <a:gd name="adj1" fmla="val 102992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6" name="Grupo 95"/>
          <p:cNvGrpSpPr>
            <a:grpSpLocks/>
          </p:cNvGrpSpPr>
          <p:nvPr/>
        </p:nvGrpSpPr>
        <p:grpSpPr bwMode="auto">
          <a:xfrm>
            <a:off x="7715250" y="5515329"/>
            <a:ext cx="863600" cy="362340"/>
            <a:chOff x="7721600" y="5588917"/>
            <a:chExt cx="863600" cy="362758"/>
          </a:xfrm>
        </p:grpSpPr>
        <p:sp>
          <p:nvSpPr>
            <p:cNvPr id="38936" name="Rectangle 139"/>
            <p:cNvSpPr>
              <a:spLocks noChangeArrowheads="1"/>
            </p:cNvSpPr>
            <p:nvPr/>
          </p:nvSpPr>
          <p:spPr bwMode="auto">
            <a:xfrm>
              <a:off x="7769047" y="5612730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7" name="AutoShape 140"/>
            <p:cNvSpPr>
              <a:spLocks/>
            </p:cNvSpPr>
            <p:nvPr/>
          </p:nvSpPr>
          <p:spPr bwMode="auto">
            <a:xfrm rot="-5400000">
              <a:off x="8118475" y="5192042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99" name="Grupo 98"/>
          <p:cNvGrpSpPr>
            <a:grpSpLocks/>
          </p:cNvGrpSpPr>
          <p:nvPr/>
        </p:nvGrpSpPr>
        <p:grpSpPr bwMode="auto">
          <a:xfrm>
            <a:off x="5667375" y="5515329"/>
            <a:ext cx="863600" cy="362340"/>
            <a:chOff x="5868144" y="5589241"/>
            <a:chExt cx="863600" cy="362758"/>
          </a:xfrm>
        </p:grpSpPr>
        <p:sp>
          <p:nvSpPr>
            <p:cNvPr id="38934" name="Rectangle 139"/>
            <p:cNvSpPr>
              <a:spLocks noChangeArrowheads="1"/>
            </p:cNvSpPr>
            <p:nvPr/>
          </p:nvSpPr>
          <p:spPr bwMode="auto">
            <a:xfrm>
              <a:off x="5915591" y="5613054"/>
              <a:ext cx="765531" cy="3389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 err="1">
                  <a:latin typeface="Tahoma" panose="020B0604030504040204" pitchFamily="34" charset="0"/>
                </a:rPr>
                <a:t>rej</a:t>
              </a:r>
              <a:r>
                <a:rPr lang="pt-BR" altLang="pt-BR" sz="1600" dirty="0">
                  <a:latin typeface="Tahoma" panose="020B0604030504040204" pitchFamily="34" charset="0"/>
                </a:rPr>
                <a:t>, </a:t>
              </a:r>
              <a:r>
                <a:rPr lang="pt-BR" altLang="pt-BR" sz="1600" dirty="0">
                  <a:latin typeface="Times New Roman" charset="0"/>
                </a:rPr>
                <a:t>H</a:t>
              </a:r>
              <a:r>
                <a:rPr lang="pt-BR" altLang="pt-BR" sz="1600" baseline="-25000" dirty="0">
                  <a:latin typeface="Times New Roman" charset="0"/>
                </a:rPr>
                <a:t>0</a:t>
              </a:r>
              <a:endParaRPr lang="en-US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935" name="AutoShape 140"/>
            <p:cNvSpPr>
              <a:spLocks/>
            </p:cNvSpPr>
            <p:nvPr/>
          </p:nvSpPr>
          <p:spPr bwMode="auto">
            <a:xfrm rot="-5400000">
              <a:off x="6265019" y="5192366"/>
              <a:ext cx="69850" cy="863600"/>
            </a:xfrm>
            <a:prstGeom prst="leftBrace">
              <a:avLst>
                <a:gd name="adj1" fmla="val 103030"/>
                <a:gd name="adj2" fmla="val 50000"/>
              </a:avLst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6" name="Elipse 5"/>
          <p:cNvSpPr>
            <a:spLocks noChangeArrowheads="1"/>
          </p:cNvSpPr>
          <p:nvPr/>
        </p:nvSpPr>
        <p:spPr bwMode="auto">
          <a:xfrm rot="1200000">
            <a:off x="3197225" y="1893888"/>
            <a:ext cx="3709988" cy="579437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3" name="Objeto 42"/>
          <p:cNvGraphicFramePr>
            <a:graphicFrameLocks/>
          </p:cNvGraphicFramePr>
          <p:nvPr/>
        </p:nvGraphicFramePr>
        <p:xfrm>
          <a:off x="6840538" y="2001838"/>
          <a:ext cx="14224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9" imgW="939392" imgH="241195" progId="Equation.3">
                  <p:embed/>
                </p:oleObj>
              </mc:Choice>
              <mc:Fallback>
                <p:oleObj name="Equação" r:id="rId19" imgW="939392" imgH="241195" progId="Equation.3">
                  <p:embed/>
                  <p:pic>
                    <p:nvPicPr>
                      <p:cNvPr id="43" name="Objeto 42"/>
                      <p:cNvPicPr>
                        <a:picLocks noChangeArrowheads="1"/>
                      </p:cNvPicPr>
                      <p:nvPr/>
                    </p:nvPicPr>
                    <p:blipFill>
                      <a:blip r:embed="rId2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40538" y="2001838"/>
                        <a:ext cx="142240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4" name="Objeto 43"/>
          <p:cNvGraphicFramePr>
            <a:graphicFrameLocks/>
          </p:cNvGraphicFramePr>
          <p:nvPr/>
        </p:nvGraphicFramePr>
        <p:xfrm>
          <a:off x="2574925" y="1484313"/>
          <a:ext cx="4306888" cy="144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1" imgW="2844800" imgH="965200" progId="Equation.3">
                  <p:embed/>
                </p:oleObj>
              </mc:Choice>
              <mc:Fallback>
                <p:oleObj name="Equação" r:id="rId21" imgW="2844800" imgH="965200" progId="Equation.3">
                  <p:embed/>
                  <p:pic>
                    <p:nvPicPr>
                      <p:cNvPr id="44" name="Objeto 43"/>
                      <p:cNvPicPr>
                        <a:picLocks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74925" y="1484313"/>
                        <a:ext cx="4306888" cy="1447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78BED3-D06A-452E-87B2-F28B1BCA2826}" type="slidenum">
              <a:rPr lang="pt-BR"/>
              <a:pPr>
                <a:defRPr/>
              </a:pPr>
              <a:t>47</a:t>
            </a:fld>
            <a:endParaRPr lang="pt-BR"/>
          </a:p>
        </p:txBody>
      </p:sp>
      <p:sp>
        <p:nvSpPr>
          <p:cNvPr id="45" name="Retângulo 44"/>
          <p:cNvSpPr>
            <a:spLocks noChangeArrowheads="1"/>
          </p:cNvSpPr>
          <p:nvPr/>
        </p:nvSpPr>
        <p:spPr bwMode="auto">
          <a:xfrm>
            <a:off x="35496" y="5995144"/>
            <a:ext cx="876491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4988" indent="-534988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se 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r>
              <a:rPr lang="pt-BR" altLang="pt-BR" sz="1600" dirty="0">
                <a:latin typeface="Tahoma" panose="020B0604030504040204" pitchFamily="34" charset="0"/>
              </a:rPr>
              <a:t> for aceita, então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k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dirty="0">
                <a:latin typeface="Tahoma" panose="020B0604030504040204" pitchFamily="34" charset="0"/>
                <a:sym typeface="Symbol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e, portanto, a variável </a:t>
            </a:r>
            <a:r>
              <a:rPr lang="pt-BR" altLang="pt-BR" sz="16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não contribui significativamente para explicar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" name="Retângulo 2"/>
          <p:cNvSpPr/>
          <p:nvPr/>
        </p:nvSpPr>
        <p:spPr>
          <a:xfrm>
            <a:off x="35496" y="6243115"/>
            <a:ext cx="876491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34988" indent="-534988"/>
            <a:r>
              <a:rPr lang="pt-BR" altLang="pt-BR" dirty="0">
                <a:latin typeface="Tahoma" panose="020B0604030504040204" pitchFamily="34" charset="0"/>
              </a:rPr>
              <a:t>                              (considerando que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todas</a:t>
            </a:r>
            <a:r>
              <a:rPr lang="pt-BR" altLang="pt-BR" dirty="0">
                <a:latin typeface="Tahoma" panose="020B0604030504040204" pitchFamily="34" charset="0"/>
              </a:rPr>
              <a:t> as demais variáveis independentes estejam presentes no modelo).</a:t>
            </a:r>
          </a:p>
        </p:txBody>
      </p:sp>
      <p:grpSp>
        <p:nvGrpSpPr>
          <p:cNvPr id="9" name="Grupo 8"/>
          <p:cNvGrpSpPr/>
          <p:nvPr/>
        </p:nvGrpSpPr>
        <p:grpSpPr>
          <a:xfrm>
            <a:off x="3305541" y="3518424"/>
            <a:ext cx="1554492" cy="964278"/>
            <a:chOff x="3305541" y="3518424"/>
            <a:chExt cx="1554492" cy="964278"/>
          </a:xfrm>
        </p:grpSpPr>
        <p:sp>
          <p:nvSpPr>
            <p:cNvPr id="4" name="Retângulo 3"/>
            <p:cNvSpPr/>
            <p:nvPr/>
          </p:nvSpPr>
          <p:spPr>
            <a:xfrm>
              <a:off x="3364361" y="3836371"/>
              <a:ext cx="149567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os outros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j</a:t>
              </a:r>
              <a:r>
                <a:rPr lang="pt-BR" altLang="pt-BR" sz="1200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 estão no modelo, menos o </a:t>
              </a:r>
              <a:r>
                <a:rPr lang="pt-BR" altLang="pt-BR" sz="1200" i="1" dirty="0">
                  <a:solidFill>
                    <a:srgbClr val="FF0000"/>
                  </a:solidFill>
                  <a:latin typeface="Tahoma" panose="020B0604030504040204" pitchFamily="34" charset="0"/>
                  <a:sym typeface="Symbol"/>
                </a:rPr>
                <a:t></a:t>
              </a:r>
              <a:r>
                <a:rPr lang="pt-BR" altLang="pt-BR" sz="1200" i="1" baseline="-250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sym typeface="Symbol"/>
                </a:rPr>
                <a:t>k</a:t>
              </a:r>
              <a:endParaRPr lang="pt-BR" sz="1200" i="1" baseline="-250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cxnSp>
          <p:nvCxnSpPr>
            <p:cNvPr id="8" name="Conector de seta reta 7"/>
            <p:cNvCxnSpPr/>
            <p:nvPr/>
          </p:nvCxnSpPr>
          <p:spPr bwMode="auto">
            <a:xfrm flipH="1" flipV="1">
              <a:off x="3305541" y="3518424"/>
              <a:ext cx="353883" cy="26335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/>
      <p:bldP spid="77" grpId="0"/>
      <p:bldP spid="78" grpId="0"/>
      <p:bldP spid="6" grpId="0" animBg="1"/>
      <p:bldP spid="45" grpId="0"/>
      <p:bldP spid="3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402207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3626714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804542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6768783" y="2444419"/>
            <a:ext cx="2280317" cy="531336"/>
            <a:chOff x="5426075" y="4697122"/>
            <a:chExt cx="2280207" cy="530995"/>
          </a:xfrm>
        </p:grpSpPr>
        <p:sp>
          <p:nvSpPr>
            <p:cNvPr id="40078" name="Elipse 9"/>
            <p:cNvSpPr>
              <a:spLocks noChangeArrowheads="1"/>
            </p:cNvSpPr>
            <p:nvPr/>
          </p:nvSpPr>
          <p:spPr bwMode="auto">
            <a:xfrm>
              <a:off x="5426075" y="4697122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9" name="Retângulo 11"/>
            <p:cNvSpPr>
              <a:spLocks noChangeArrowheads="1"/>
            </p:cNvSpPr>
            <p:nvPr/>
          </p:nvSpPr>
          <p:spPr bwMode="auto">
            <a:xfrm>
              <a:off x="5749558" y="4920537"/>
              <a:ext cx="1956724" cy="3075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 significativo</a:t>
              </a:r>
            </a:p>
          </p:txBody>
        </p:sp>
      </p:grpSp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6462105" y="3888344"/>
            <a:ext cx="2707990" cy="613200"/>
            <a:chOff x="4753954" y="6077836"/>
            <a:chExt cx="2707637" cy="613202"/>
          </a:xfrm>
        </p:grpSpPr>
        <p:sp>
          <p:nvSpPr>
            <p:cNvPr id="40076" name="Elipse 57"/>
            <p:cNvSpPr>
              <a:spLocks noChangeArrowheads="1"/>
            </p:cNvSpPr>
            <p:nvPr/>
          </p:nvSpPr>
          <p:spPr bwMode="auto">
            <a:xfrm>
              <a:off x="4753954" y="6077836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077" name="Retângulo 13"/>
            <p:cNvSpPr>
              <a:spLocks noChangeArrowheads="1"/>
            </p:cNvSpPr>
            <p:nvPr/>
          </p:nvSpPr>
          <p:spPr bwMode="auto">
            <a:xfrm>
              <a:off x="5384049" y="6194556"/>
              <a:ext cx="2077542" cy="3077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significativos a 5%</a:t>
              </a:r>
            </a:p>
          </p:txBody>
        </p:sp>
        <p:sp>
          <p:nvSpPr>
            <p:cNvPr id="21" name="Elipse 57"/>
            <p:cNvSpPr>
              <a:spLocks noChangeArrowheads="1"/>
            </p:cNvSpPr>
            <p:nvPr/>
          </p:nvSpPr>
          <p:spPr bwMode="auto">
            <a:xfrm>
              <a:off x="4753954" y="6455293"/>
              <a:ext cx="594140" cy="23574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5685309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48</a:t>
            </a:fld>
            <a:endParaRPr lang="pt-BR"/>
          </a:p>
        </p:txBody>
      </p:sp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254000" y="5663456"/>
            <a:ext cx="8890000" cy="1077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não se pode considerar que todos os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 pitchFamily="18" charset="2"/>
              </a:rPr>
              <a:t>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  <a:sym typeface="Symbol" pitchFamily="18" charset="2"/>
              </a:rPr>
              <a:t>k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cujas estatísticas t são não significativas, sejam simultaneamente iguais a zero!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Este problema pode ocorrer quando as variáveis independentes são correlacionadas (problema de colinearidade)</a:t>
            </a:r>
          </a:p>
        </p:txBody>
      </p:sp>
      <p:sp>
        <p:nvSpPr>
          <p:cNvPr id="10" name="Retângulo 9"/>
          <p:cNvSpPr/>
          <p:nvPr/>
        </p:nvSpPr>
        <p:spPr>
          <a:xfrm>
            <a:off x="3707904" y="4890646"/>
            <a:ext cx="272863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Conclusão: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e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𝛽</a:t>
            </a:r>
            <a:r>
              <a:rPr lang="pt-BR" altLang="pt-BR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dirty="0">
                <a:solidFill>
                  <a:schemeClr val="tx2"/>
                </a:solidFill>
                <a:latin typeface="Tahoma" panose="020B0604030504040204" pitchFamily="34" charset="0"/>
              </a:rPr>
              <a:t> ? </a:t>
            </a:r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14" name="Grupo 13"/>
          <p:cNvGrpSpPr/>
          <p:nvPr/>
        </p:nvGrpSpPr>
        <p:grpSpPr>
          <a:xfrm>
            <a:off x="3743160" y="4912254"/>
            <a:ext cx="2592288" cy="338554"/>
            <a:chOff x="3784104" y="4966846"/>
            <a:chExt cx="2592288" cy="338554"/>
          </a:xfrm>
        </p:grpSpPr>
        <p:cxnSp>
          <p:nvCxnSpPr>
            <p:cNvPr id="13" name="Conector reto 12"/>
            <p:cNvCxnSpPr/>
            <p:nvPr/>
          </p:nvCxnSpPr>
          <p:spPr bwMode="auto">
            <a:xfrm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/>
            <p:cNvCxnSpPr/>
            <p:nvPr/>
          </p:nvCxnSpPr>
          <p:spPr bwMode="auto">
            <a:xfrm flipH="1">
              <a:off x="3784104" y="4966846"/>
              <a:ext cx="2592288" cy="33855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08316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build="p"/>
      <p:bldP spid="10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ea typeface="+mj-ea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40963" name="Retângulo 46"/>
          <p:cNvSpPr>
            <a:spLocks noChangeArrowheads="1"/>
          </p:cNvSpPr>
          <p:nvPr/>
        </p:nvSpPr>
        <p:spPr bwMode="auto">
          <a:xfrm>
            <a:off x="374650" y="1412875"/>
            <a:ext cx="41052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Considere um modelo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completo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dado por:</a:t>
            </a:r>
          </a:p>
        </p:txBody>
      </p:sp>
      <p:graphicFrame>
        <p:nvGraphicFramePr>
          <p:cNvPr id="40964" name="Objeto 51"/>
          <p:cNvGraphicFramePr>
            <a:graphicFrameLocks/>
          </p:cNvGraphicFramePr>
          <p:nvPr/>
        </p:nvGraphicFramePr>
        <p:xfrm>
          <a:off x="2093913" y="1858963"/>
          <a:ext cx="413702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755900" imgH="241300" progId="Equation.3">
                  <p:embed/>
                </p:oleObj>
              </mc:Choice>
              <mc:Fallback>
                <p:oleObj name="Equação" r:id="rId2" imgW="2755900" imgH="241300" progId="Equation.3">
                  <p:embed/>
                  <p:pic>
                    <p:nvPicPr>
                      <p:cNvPr id="40964" name="Objeto 5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93913" y="1858963"/>
                        <a:ext cx="413702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3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57184436"/>
              </p:ext>
            </p:extLst>
          </p:nvPr>
        </p:nvGraphicFramePr>
        <p:xfrm>
          <a:off x="766763" y="2776538"/>
          <a:ext cx="20764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384300" imgH="457200" progId="Equation.3">
                  <p:embed/>
                </p:oleObj>
              </mc:Choice>
              <mc:Fallback>
                <p:oleObj name="Equação" r:id="rId4" imgW="1384300" imgH="457200" progId="Equation.3">
                  <p:embed/>
                  <p:pic>
                    <p:nvPicPr>
                      <p:cNvPr id="32773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6763" y="2776538"/>
                        <a:ext cx="20764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774" name="Objeto 54"/>
          <p:cNvGraphicFramePr>
            <a:graphicFrameLocks/>
          </p:cNvGraphicFramePr>
          <p:nvPr/>
        </p:nvGraphicFramePr>
        <p:xfrm>
          <a:off x="2627313" y="4124325"/>
          <a:ext cx="26304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752600" imgH="241300" progId="Equation.3">
                  <p:embed/>
                </p:oleObj>
              </mc:Choice>
              <mc:Fallback>
                <p:oleObj name="Equação" r:id="rId6" imgW="1752600" imgH="241300" progId="Equation.3">
                  <p:embed/>
                  <p:pic>
                    <p:nvPicPr>
                      <p:cNvPr id="32774" name="Objeto 54"/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627313" y="4124325"/>
                        <a:ext cx="26304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5" name="Retângulo 55"/>
          <p:cNvSpPr>
            <a:spLocks noChangeArrowheads="1"/>
          </p:cNvSpPr>
          <p:nvPr/>
        </p:nvSpPr>
        <p:spPr bwMode="auto">
          <a:xfrm>
            <a:off x="374650" y="3676650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Se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for verdadeiro então, o modelo é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reduzido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para:</a:t>
            </a:r>
          </a:p>
        </p:txBody>
      </p:sp>
      <p:sp>
        <p:nvSpPr>
          <p:cNvPr id="32776" name="Retângulo 56"/>
          <p:cNvSpPr>
            <a:spLocks noChangeArrowheads="1"/>
          </p:cNvSpPr>
          <p:nvPr/>
        </p:nvSpPr>
        <p:spPr bwMode="auto">
          <a:xfrm>
            <a:off x="374650" y="2330450"/>
            <a:ext cx="87122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Suponha que se queira testar as hipóteses</a:t>
            </a:r>
          </a:p>
        </p:txBody>
      </p:sp>
      <p:sp>
        <p:nvSpPr>
          <p:cNvPr id="32777" name="Retângulo 57"/>
          <p:cNvSpPr>
            <a:spLocks noChangeArrowheads="1"/>
          </p:cNvSpPr>
          <p:nvPr/>
        </p:nvSpPr>
        <p:spPr bwMode="auto">
          <a:xfrm>
            <a:off x="374650" y="4594225"/>
            <a:ext cx="8713788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Neste caso:</a:t>
            </a:r>
          </a:p>
        </p:txBody>
      </p:sp>
      <p:graphicFrame>
        <p:nvGraphicFramePr>
          <p:cNvPr id="32778" name="Objeto 58"/>
          <p:cNvGraphicFramePr>
            <a:graphicFrameLocks/>
          </p:cNvGraphicFramePr>
          <p:nvPr/>
        </p:nvGraphicFramePr>
        <p:xfrm>
          <a:off x="1338263" y="5040313"/>
          <a:ext cx="3525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349500" imgH="431800" progId="Equation.3">
                  <p:embed/>
                </p:oleObj>
              </mc:Choice>
              <mc:Fallback>
                <p:oleObj name="Equação" r:id="rId8" imgW="2349500" imgH="431800" progId="Equation.3">
                  <p:embed/>
                  <p:pic>
                    <p:nvPicPr>
                      <p:cNvPr id="32778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8263" y="5040313"/>
                        <a:ext cx="3525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79" name="Retângulo 59"/>
          <p:cNvSpPr>
            <a:spLocks noChangeArrowheads="1"/>
          </p:cNvSpPr>
          <p:nvPr/>
        </p:nvSpPr>
        <p:spPr bwMode="auto">
          <a:xfrm>
            <a:off x="374650" y="5797550"/>
            <a:ext cx="871220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355600" indent="-3556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onde </a:t>
            </a:r>
            <a:r>
              <a:rPr lang="pt-BR" altLang="pt-BR" sz="1600" i="1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p</a:t>
            </a:r>
            <a:r>
              <a:rPr lang="pt-BR" altLang="pt-BR" sz="1600" i="1" baseline="-25000" dirty="0" err="1">
                <a:solidFill>
                  <a:schemeClr val="tx2"/>
                </a:solidFill>
                <a:latin typeface="Times New Roman" charset="0"/>
                <a:cs typeface="Times New Roman" charset="0"/>
              </a:rPr>
              <a:t>C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-R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é o número de parâmetros testados em </a:t>
            </a:r>
            <a:r>
              <a:rPr lang="pt-BR" altLang="pt-BR" sz="16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H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charset="0"/>
                <a:cs typeface="Times New Roman" charset="0"/>
              </a:rPr>
              <a:t>0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, ou seja, o número de parâmetros ausentes no modelo reduzido</a:t>
            </a:r>
          </a:p>
        </p:txBody>
      </p:sp>
      <p:graphicFrame>
        <p:nvGraphicFramePr>
          <p:cNvPr id="32780" name="Objeto 58"/>
          <p:cNvGraphicFramePr>
            <a:graphicFrameLocks/>
          </p:cNvGraphicFramePr>
          <p:nvPr/>
        </p:nvGraphicFramePr>
        <p:xfrm>
          <a:off x="5508625" y="5002213"/>
          <a:ext cx="18288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219200" imgH="457200" progId="Equation.3">
                  <p:embed/>
                </p:oleObj>
              </mc:Choice>
              <mc:Fallback>
                <p:oleObj name="Equação" r:id="rId10" imgW="1219200" imgH="457200" progId="Equation.3">
                  <p:embed/>
                  <p:pic>
                    <p:nvPicPr>
                      <p:cNvPr id="32780" name="Objeto 58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508625" y="5002213"/>
                        <a:ext cx="182880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BC517A-EE28-4B47-B495-8EEAB3A067F3}" type="slidenum">
              <a:rPr lang="pt-BR"/>
              <a:pPr>
                <a:defRPr/>
              </a:pPr>
              <a:t>49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775" grpId="0"/>
      <p:bldP spid="32776" grpId="0"/>
      <p:bldP spid="32777" grpId="0"/>
      <p:bldP spid="3277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596783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7844539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50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663174"/>
              </p:ext>
            </p:extLst>
          </p:nvPr>
        </p:nvGraphicFramePr>
        <p:xfrm>
          <a:off x="3779912" y="360957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3168,92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1584,46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6245,37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367,37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" name="Objeto 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81107380"/>
              </p:ext>
            </p:extLst>
          </p:nvPr>
        </p:nvGraphicFramePr>
        <p:xfrm>
          <a:off x="3798888" y="3260155"/>
          <a:ext cx="2592387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26920" imgH="241200" progId="Equation.DSMT4">
                  <p:embed/>
                </p:oleObj>
              </mc:Choice>
              <mc:Fallback>
                <p:oleObj name="Equation" r:id="rId4" imgW="1726920" imgH="241200" progId="Equation.DSMT4">
                  <p:embed/>
                  <p:pic>
                    <p:nvPicPr>
                      <p:cNvPr id="9" name="Objeto 8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98888" y="3260155"/>
                        <a:ext cx="2592387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Retângulo 18"/>
          <p:cNvSpPr/>
          <p:nvPr/>
        </p:nvSpPr>
        <p:spPr bwMode="auto">
          <a:xfrm>
            <a:off x="3563888" y="3068960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aphicFrame>
        <p:nvGraphicFramePr>
          <p:cNvPr id="12" name="Objeto 1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3567932"/>
              </p:ext>
            </p:extLst>
          </p:nvPr>
        </p:nvGraphicFramePr>
        <p:xfrm>
          <a:off x="3558059" y="4868863"/>
          <a:ext cx="3144837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095200" imgH="431640" progId="Equation.DSMT4">
                  <p:embed/>
                </p:oleObj>
              </mc:Choice>
              <mc:Fallback>
                <p:oleObj name="Equation" r:id="rId6" imgW="2095200" imgH="431640" progId="Equation.DSMT4">
                  <p:embed/>
                  <p:pic>
                    <p:nvPicPr>
                      <p:cNvPr id="12" name="Objeto 11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58059" y="4868863"/>
                        <a:ext cx="3144837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3" name="Objeto 2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3127357"/>
              </p:ext>
            </p:extLst>
          </p:nvPr>
        </p:nvGraphicFramePr>
        <p:xfrm>
          <a:off x="3490913" y="5574754"/>
          <a:ext cx="3811587" cy="590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539800" imgH="393480" progId="Equation.DSMT4">
                  <p:embed/>
                </p:oleObj>
              </mc:Choice>
              <mc:Fallback>
                <p:oleObj name="Equation" r:id="rId8" imgW="2539800" imgH="393480" progId="Equation.DSMT4">
                  <p:embed/>
                  <p:pic>
                    <p:nvPicPr>
                      <p:cNvPr id="23" name="Objeto 22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490913" y="5574754"/>
                        <a:ext cx="3811587" cy="5905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tângulo 6"/>
          <p:cNvSpPr>
            <a:spLocks noChangeArrowheads="1"/>
          </p:cNvSpPr>
          <p:nvPr/>
        </p:nvSpPr>
        <p:spPr bwMode="auto">
          <a:xfrm>
            <a:off x="254000" y="6237312"/>
            <a:ext cx="863848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Conclusão: os modelos completo e reduzido são diferentes e portanto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não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se deve retirar as duas variáveis de uma só vez!</a:t>
            </a:r>
          </a:p>
        </p:txBody>
      </p:sp>
      <p:sp>
        <p:nvSpPr>
          <p:cNvPr id="2" name="Retângulo 1"/>
          <p:cNvSpPr/>
          <p:nvPr/>
        </p:nvSpPr>
        <p:spPr>
          <a:xfrm>
            <a:off x="7393960" y="5683706"/>
            <a:ext cx="1137234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altLang="pt-BR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 0</a:t>
            </a:r>
            <a:endParaRPr lang="pt-BR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4967835" y="2464602"/>
            <a:ext cx="684246" cy="1945616"/>
            <a:chOff x="4967835" y="2464602"/>
            <a:chExt cx="684246" cy="1945616"/>
          </a:xfrm>
        </p:grpSpPr>
        <p:sp>
          <p:nvSpPr>
            <p:cNvPr id="16" name="Elipse 9"/>
            <p:cNvSpPr>
              <a:spLocks noChangeArrowheads="1"/>
            </p:cNvSpPr>
            <p:nvPr/>
          </p:nvSpPr>
          <p:spPr bwMode="auto">
            <a:xfrm>
              <a:off x="4967835" y="2464602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Elipse 9"/>
            <p:cNvSpPr>
              <a:spLocks noChangeArrowheads="1"/>
            </p:cNvSpPr>
            <p:nvPr/>
          </p:nvSpPr>
          <p:spPr bwMode="auto">
            <a:xfrm>
              <a:off x="4967835" y="4171940"/>
              <a:ext cx="684246" cy="23827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36647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uild="p"/>
      <p:bldP spid="2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7725135"/>
              </p:ext>
            </p:extLst>
          </p:nvPr>
        </p:nvGraphicFramePr>
        <p:xfrm>
          <a:off x="3779912" y="1905653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6019743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Teste de Hipótese para múltiplos </a:t>
            </a:r>
            <a:r>
              <a:rPr lang="pt-BR" altLang="pt-BR" sz="3200" i="1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Symbol" pitchFamily="18" charset="2"/>
              </a:rPr>
              <a:t></a:t>
            </a:r>
            <a:r>
              <a:rPr lang="pt-BR" altLang="pt-BR" sz="3200" i="1" kern="0" baseline="-2500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imes New Roman" charset="0"/>
                <a:cs typeface="Times New Roman" charset="0"/>
                <a:sym typeface="Mathematica1" pitchFamily="2" charset="2"/>
              </a:rPr>
              <a:t>k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45297803"/>
              </p:ext>
            </p:extLst>
          </p:nvPr>
        </p:nvGraphicFramePr>
        <p:xfrm>
          <a:off x="3779912" y="1556792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912" y="1556792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51</a:t>
            </a:fld>
            <a:endParaRPr lang="pt-BR"/>
          </a:p>
        </p:txBody>
      </p:sp>
      <p:sp>
        <p:nvSpPr>
          <p:cNvPr id="10" name="Retângulo 9"/>
          <p:cNvSpPr/>
          <p:nvPr/>
        </p:nvSpPr>
        <p:spPr bwMode="auto">
          <a:xfrm>
            <a:off x="3563888" y="1412776"/>
            <a:ext cx="4536504" cy="1656184"/>
          </a:xfrm>
          <a:prstGeom prst="rect">
            <a:avLst/>
          </a:prstGeom>
          <a:noFill/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grpSp>
        <p:nvGrpSpPr>
          <p:cNvPr id="15" name="Grupo 14"/>
          <p:cNvGrpSpPr/>
          <p:nvPr/>
        </p:nvGrpSpPr>
        <p:grpSpPr>
          <a:xfrm>
            <a:off x="3995936" y="3836466"/>
            <a:ext cx="3672408" cy="1958400"/>
            <a:chOff x="3635896" y="4797152"/>
            <a:chExt cx="3672408" cy="1958400"/>
          </a:xfrm>
        </p:grpSpPr>
        <p:pic>
          <p:nvPicPr>
            <p:cNvPr id="16" name="Picture 11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35896" y="4797152"/>
              <a:ext cx="2594200" cy="19584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8" name="Retângulo 6"/>
            <p:cNvSpPr>
              <a:spLocks noChangeArrowheads="1"/>
            </p:cNvSpPr>
            <p:nvPr/>
          </p:nvSpPr>
          <p:spPr bwMode="auto">
            <a:xfrm>
              <a:off x="5006958" y="5794866"/>
              <a:ext cx="2301346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marL="177800" indent="-177800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r>
                <a:rPr lang="pt-BR" altLang="pt-BR" sz="1600" dirty="0">
                  <a:latin typeface="Tahoma" panose="020B0604030504040204" pitchFamily="34" charset="0"/>
                </a:rPr>
                <a:t> e </a:t>
              </a:r>
              <a:r>
                <a:rPr lang="pt-BR" altLang="pt-BR" sz="16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altLang="pt-BR" sz="1600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pt-BR" altLang="pt-BR" sz="1600" dirty="0">
                  <a:latin typeface="Tahoma" panose="020B0604030504040204" pitchFamily="34" charset="0"/>
                </a:rPr>
                <a:t> são colineares!</a:t>
              </a:r>
            </a:p>
          </p:txBody>
        </p:sp>
      </p:grpSp>
      <p:sp>
        <p:nvSpPr>
          <p:cNvPr id="2" name="Retângulo 1"/>
          <p:cNvSpPr/>
          <p:nvPr/>
        </p:nvSpPr>
        <p:spPr>
          <a:xfrm>
            <a:off x="4211960" y="3446085"/>
            <a:ext cx="12778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altLang="pt-BR" dirty="0">
                <a:latin typeface="Tahoma" panose="020B0604030504040204" pitchFamily="34" charset="0"/>
              </a:rPr>
              <a:t>De fato:</a:t>
            </a: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CaixaDeTexto 2"/>
          <p:cNvSpPr txBox="1"/>
          <p:nvPr/>
        </p:nvSpPr>
        <p:spPr>
          <a:xfrm>
            <a:off x="4355976" y="5877272"/>
            <a:ext cx="35107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Mas afinal, quem eu retiro,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1</a:t>
            </a:r>
            <a:r>
              <a:rPr lang="pt-BR" dirty="0">
                <a:latin typeface="Tahoma" panose="020B0604030504040204" pitchFamily="34" charset="0"/>
              </a:rPr>
              <a:t> ou </a:t>
            </a:r>
            <a:r>
              <a:rPr lang="pt-BR" i="1" dirty="0">
                <a:latin typeface="Cambria Math" panose="02040503050406030204" pitchFamily="18" charset="0"/>
                <a:ea typeface="Cambria Math" panose="02040503050406030204" pitchFamily="18" charset="0"/>
              </a:rPr>
              <a:t>X</a:t>
            </a:r>
            <a:r>
              <a:rPr lang="pt-BR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3</a:t>
            </a:r>
            <a:r>
              <a:rPr lang="pt-BR" dirty="0">
                <a:latin typeface="Tahoma" panose="020B0604030504040204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408519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548638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tângulo 6"/>
              <p:cNvSpPr>
                <a:spLocks noChangeArrowheads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provoca a perda da significância do coeficiente </a:t>
                </a:r>
                <a:r>
                  <a:rPr lang="pt-BR" altLang="pt-BR" sz="1600" i="1" dirty="0">
                    <a:latin typeface="Tahoma" panose="020B0604030504040204" pitchFamily="34" charset="0"/>
                    <a:sym typeface="Symbol"/>
                  </a:rPr>
                  <a:t></a:t>
                </a:r>
                <a:r>
                  <a:rPr lang="pt-BR" altLang="pt-BR" sz="1600" i="1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  <a:sym typeface="Symbol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  <a:sym typeface="Symbol"/>
                  </a:rPr>
                  <a:t> 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associado à variável independente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que é relacionada a outra ou outras variáveis independentes. Isso acontece pois, nesse caso, a variância do estimador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𝑠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altLang="pt-B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𝑏</m:t>
                            </m:r>
                          </m:e>
                          <m:sub>
                            <m:r>
                              <a:rPr lang="pt-BR" altLang="pt-BR" sz="1600" b="0" i="1" smtClean="0">
                                <a:latin typeface="Cambria Math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superestimada.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A detecção da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nem sempre é fácil e em geral recorre-se à análise do fator de inflação da variância (</a:t>
                </a:r>
                <a:r>
                  <a:rPr lang="pt-BR" altLang="pt-BR" sz="1600" i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–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Variance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Inflation</a:t>
                </a:r>
                <a:r>
                  <a:rPr lang="pt-BR" altLang="pt-BR" sz="1600" i="1" dirty="0">
                    <a:latin typeface="Tahoma" panose="020B0604030504040204" pitchFamily="34" charset="0"/>
                  </a:rPr>
                  <a:t> </a:t>
                </a:r>
                <a:r>
                  <a:rPr lang="pt-BR" altLang="pt-BR" sz="1600" i="1" dirty="0" err="1">
                    <a:latin typeface="Tahoma" panose="020B0604030504040204" pitchFamily="34" charset="0"/>
                  </a:rPr>
                  <a:t>Factor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):</a:t>
                </a:r>
              </a:p>
            </p:txBody>
          </p:sp>
        </mc:Choice>
        <mc:Fallback xmlns="">
          <p:sp>
            <p:nvSpPr>
              <p:cNvPr id="11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35896" y="1988840"/>
                <a:ext cx="5328592" cy="2308324"/>
              </a:xfrm>
              <a:prstGeom prst="rect">
                <a:avLst/>
              </a:prstGeom>
              <a:blipFill>
                <a:blip r:embed="rId2"/>
                <a:stretch>
                  <a:fillRect l="-571" t="-792" b="-237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ixaDeTexto 1"/>
              <p:cNvSpPr txBox="1"/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𝑘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1−</m:t>
                          </m:r>
                          <m:sSubSup>
                            <m:sSub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CaixaDeTexto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1363" y="4365104"/>
                <a:ext cx="1488869" cy="617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onde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1600" i="1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  <m:sup>
                        <m:r>
                          <a:rPr lang="pt-BR" sz="1600" i="1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é o coeficiente de determinação obtido da regressão entre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independentes.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614710" y="5150348"/>
                <a:ext cx="5529290" cy="594522"/>
              </a:xfrm>
              <a:prstGeom prst="rect">
                <a:avLst/>
              </a:prstGeom>
              <a:blipFill>
                <a:blip r:embed="rId4"/>
                <a:stretch>
                  <a:fillRect l="-662" t="-2062" b="-13402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52</a:t>
            </a:fld>
            <a:endParaRPr lang="pt-BR"/>
          </a:p>
        </p:txBody>
      </p:sp>
      <p:graphicFrame>
        <p:nvGraphicFramePr>
          <p:cNvPr id="3" name="Objeto 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717800" imgH="241300" progId="Equation.DSMT4">
                  <p:embed/>
                </p:oleObj>
              </mc:Choice>
              <mc:Fallback>
                <p:oleObj name="Equation" r:id="rId5" imgW="2717800" imgH="241300" progId="Equation.DSMT4">
                  <p:embed/>
                  <p:pic>
                    <p:nvPicPr>
                      <p:cNvPr id="3" name="Objeto 2"/>
                      <p:cNvPicPr>
                        <a:picLocks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tângulo 6"/>
              <p:cNvSpPr>
                <a:spLocks noChangeArrowheads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Em geral,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𝑉𝐼𝐹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𝑘</m:t>
                        </m:r>
                      </m:sub>
                    </m:sSub>
                    <m:r>
                      <a:rPr lang="pt-BR" sz="1600" b="0" i="1" smtClean="0">
                        <a:latin typeface="Cambria Math"/>
                      </a:rPr>
                      <m:t>&gt;10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então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altLang="pt-BR" sz="1600" i="1" baseline="-250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têm forte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771800" y="6114782"/>
                <a:ext cx="6192688" cy="338554"/>
              </a:xfrm>
              <a:prstGeom prst="rect">
                <a:avLst/>
              </a:prstGeom>
              <a:blipFill>
                <a:blip r:embed="rId7"/>
                <a:stretch>
                  <a:fillRect l="-591" t="-7143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5363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2" grpId="0"/>
      <p:bldP spid="14" grpId="0" build="p"/>
      <p:bldP spid="10" grpId="0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647005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210713"/>
                <a:ext cx="3309880" cy="34932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tângulo 6"/>
              <p:cNvSpPr>
                <a:spLocks noChangeArrowheads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Exemplo: calculando-se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para a variável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4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07904" y="2010326"/>
                <a:ext cx="4896544" cy="338554"/>
              </a:xfrm>
              <a:prstGeom prst="rect">
                <a:avLst/>
              </a:prstGeom>
              <a:blipFill>
                <a:blip r:embed="rId3"/>
                <a:stretch>
                  <a:fillRect l="-623" t="-7273" b="-2363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ixaDeTexto 15"/>
              <p:cNvSpPr txBox="1"/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=14,04−0,003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2,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,50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3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r>
                        <a:rPr lang="pt-BR" i="1" smtClean="0">
                          <a:latin typeface="Cambria Math"/>
                        </a:rPr>
                        <m:t>0</m:t>
                      </m:r>
                      <m:r>
                        <a:rPr lang="pt-BR" b="0" i="1" smtClean="0">
                          <a:latin typeface="Cambria Math"/>
                        </a:rPr>
                        <m:t>,0009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4</m:t>
                          </m:r>
                          <m:r>
                            <a:rPr lang="pt-BR" i="1">
                              <a:latin typeface="Cambria Math"/>
                            </a:rPr>
                            <m:t>,</m:t>
                          </m:r>
                          <m:r>
                            <a:rPr lang="pt-BR" i="1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6" name="CaixaDeTexto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4653723"/>
                <a:ext cx="4461991" cy="34932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tângulo 6"/>
              <p:cNvSpPr/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/>
                            </a:rPr>
                            <m:t>2</m:t>
                          </m:r>
                        </m:sup>
                      </m:sSubSup>
                      <m:r>
                        <a:rPr lang="pt-BR" b="0" i="1" smtClean="0">
                          <a:latin typeface="Cambria Math"/>
                        </a:rPr>
                        <m:t>=0,9994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7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096733"/>
                <a:ext cx="1327095" cy="3483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CaixaDeTexto 17"/>
              <p:cNvSpPr txBox="1"/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𝑉𝐼𝐹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/>
                            </a:rPr>
                            <m:t>1−0,9994</m:t>
                          </m:r>
                        </m:den>
                      </m:f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1606,4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8" name="CaixaDeTexto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944" y="5538718"/>
                <a:ext cx="2761462" cy="5809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tângulo 6"/>
              <p:cNvSpPr>
                <a:spLocks noChangeArrowheads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Estima-se a regressão entre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as demais variáveis independentes;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Calcula-se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pt-BR" altLang="pt-BR" sz="1600" baseline="30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e</a:t>
                </a:r>
              </a:p>
              <a:p>
                <a:pPr eaLnBrk="1" hangingPunct="1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Obtém-se o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</a:t>
                </a:r>
              </a:p>
            </p:txBody>
          </p:sp>
        </mc:Choice>
        <mc:Fallback xmlns="">
          <p:sp>
            <p:nvSpPr>
              <p:cNvPr id="15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21552" y="2420888"/>
                <a:ext cx="3960440" cy="1569660"/>
              </a:xfrm>
              <a:prstGeom prst="rect">
                <a:avLst/>
              </a:prstGeom>
              <a:blipFill>
                <a:blip r:embed="rId7"/>
                <a:stretch>
                  <a:fillRect l="-769" b="-1163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53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2717800" imgH="241300" progId="Equation.DSMT4">
                  <p:embed/>
                </p:oleObj>
              </mc:Choice>
              <mc:Fallback>
                <p:oleObj name="Equation" r:id="rId8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296562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  <p:bldP spid="7" grpId="0"/>
      <p:bldP spid="18" grpId="0"/>
      <p:bldP spid="15" grpId="0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98350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 err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Multicolinearidade</a:t>
            </a: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 no R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p:sp>
        <p:nvSpPr>
          <p:cNvPr id="11" name="Retângulo 6"/>
          <p:cNvSpPr>
            <a:spLocks noChangeArrowheads="1"/>
          </p:cNvSpPr>
          <p:nvPr/>
        </p:nvSpPr>
        <p:spPr bwMode="auto">
          <a:xfrm>
            <a:off x="3635896" y="1988840"/>
            <a:ext cx="5328592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Y &lt;- c(11.7, ... ,89.29)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X1 &lt;- c(126.92, ... ,212.29)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X2 &lt;- c(174.56, ... ,53.56)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X3 &lt;- c(226.69, ... ,392.89)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X4 &lt;- c(364.26, ... ,1186.3)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lm(Y~X1+X2+X3+X4)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(car)</a:t>
            </a:r>
          </a:p>
          <a:p>
            <a:pPr marL="0" indent="0" eaLnBrk="1" hangingPunct="1">
              <a:spcBef>
                <a:spcPct val="0"/>
              </a:spcBef>
              <a:buNone/>
            </a:pP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&gt; 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s-E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s-E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3" name="Rectangle 3"/>
          <p:cNvSpPr>
            <a:spLocks noChangeArrowheads="1"/>
          </p:cNvSpPr>
          <p:nvPr/>
        </p:nvSpPr>
        <p:spPr bwMode="auto">
          <a:xfrm>
            <a:off x="3851920" y="3634572"/>
            <a:ext cx="3312368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X1	X2	X3	X4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1606.4	1.01	1602.7	1.12 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Elipse 57"/>
          <p:cNvSpPr>
            <a:spLocks noChangeArrowheads="1"/>
          </p:cNvSpPr>
          <p:nvPr/>
        </p:nvSpPr>
        <p:spPr bwMode="auto">
          <a:xfrm>
            <a:off x="3563888" y="3573016"/>
            <a:ext cx="954257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9" name="Elipse 57"/>
          <p:cNvSpPr>
            <a:spLocks noChangeArrowheads="1"/>
          </p:cNvSpPr>
          <p:nvPr/>
        </p:nvSpPr>
        <p:spPr bwMode="auto">
          <a:xfrm>
            <a:off x="5436096" y="3573016"/>
            <a:ext cx="851185" cy="49244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tângulo 6"/>
              <p:cNvSpPr>
                <a:spLocks noChangeArrowheads="1"/>
              </p:cNvSpPr>
              <p:nvPr/>
            </p:nvSpPr>
            <p:spPr bwMode="auto">
              <a:xfrm>
                <a:off x="3779912" y="4437112"/>
                <a:ext cx="4752528" cy="181588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Neste caso, explica-se a baixa significância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latin typeface="Cambria Math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pela </a:t>
                </a:r>
                <a:r>
                  <a:rPr lang="pt-BR" altLang="pt-BR" sz="1600" dirty="0" err="1">
                    <a:latin typeface="Tahoma" panose="020B0604030504040204" pitchFamily="34" charset="0"/>
                  </a:rPr>
                  <a:t>multicolinearidade</a:t>
                </a: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Pode-se então eliminar a variável que apresente o maior </a:t>
                </a:r>
                <a:r>
                  <a:rPr lang="pt-BR" altLang="pt-BR" sz="16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 </a:t>
                </a:r>
                <a:r>
                  <a:rPr lang="pt-BR" altLang="pt-BR" sz="1600" dirty="0"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e, em seguida, </a:t>
                </a:r>
                <a:r>
                  <a:rPr lang="pt-BR" altLang="pt-BR" sz="1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repete-se a análise 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É importante que a eliminação das variáveis seja feita uma a uma até que não haja </a:t>
                </a:r>
                <a:r>
                  <a:rPr lang="pt-BR" altLang="pt-BR" sz="1600" i="1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VIFs</a:t>
                </a:r>
                <a:r>
                  <a:rPr lang="pt-BR" altLang="pt-BR" sz="1600" dirty="0">
                    <a:latin typeface="Tahoma" panose="020B0604030504040204" pitchFamily="34" charset="0"/>
                  </a:rPr>
                  <a:t> muito altos</a:t>
                </a:r>
              </a:p>
            </p:txBody>
          </p:sp>
        </mc:Choice>
        <mc:Fallback xmlns="">
          <p:sp>
            <p:nvSpPr>
              <p:cNvPr id="20" name="Retângulo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779912" y="4437112"/>
                <a:ext cx="4752528" cy="1815882"/>
              </a:xfrm>
              <a:prstGeom prst="rect">
                <a:avLst/>
              </a:prstGeom>
              <a:blipFill>
                <a:blip r:embed="rId2"/>
                <a:stretch>
                  <a:fillRect l="-641" t="-1007" r="-1667" b="-3356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54</a:t>
            </a:fld>
            <a:endParaRPr lang="pt-BR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467340"/>
              </p:ext>
            </p:extLst>
          </p:nvPr>
        </p:nvGraphicFramePr>
        <p:xfrm>
          <a:off x="3779838" y="1557338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17800" imgH="241300" progId="Equation.DSMT4">
                  <p:embed/>
                </p:oleObj>
              </mc:Choice>
              <mc:Fallback>
                <p:oleObj name="Equation" r:id="rId3" imgW="2717800" imgH="241300" progId="Equation.DSMT4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79838" y="1557338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70600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9" grpId="0" animBg="1"/>
      <p:bldP spid="20" grpId="0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3" name="Tabela 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6444449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2338,64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587,45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2,78E-16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24" name="Tabe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5270038"/>
              </p:ext>
            </p:extLst>
          </p:nvPr>
        </p:nvGraphicFramePr>
        <p:xfrm>
          <a:off x="3754644" y="3356992"/>
          <a:ext cx="3314700" cy="13068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64,4359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4,8424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13,3067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-0,2129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0,3081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-0,6908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-29,5575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1,04E-14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4237060"/>
              </p:ext>
            </p:extLst>
          </p:nvPr>
        </p:nvGraphicFramePr>
        <p:xfrm>
          <a:off x="307975" y="1443426"/>
          <a:ext cx="30480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145,83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73,34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79,87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131,55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196,54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273,91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sp>
        <p:nvSpPr>
          <p:cNvPr id="40076" name="Elipse 57"/>
          <p:cNvSpPr>
            <a:spLocks noChangeArrowheads="1"/>
          </p:cNvSpPr>
          <p:nvPr/>
        </p:nvSpPr>
        <p:spPr bwMode="auto">
          <a:xfrm>
            <a:off x="6462101" y="3888338"/>
            <a:ext cx="594217" cy="235744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3226636"/>
              </p:ext>
            </p:extLst>
          </p:nvPr>
        </p:nvGraphicFramePr>
        <p:xfrm>
          <a:off x="3728259" y="1484784"/>
          <a:ext cx="40798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717640" imgH="241200" progId="Equation.DSMT4">
                  <p:embed/>
                </p:oleObj>
              </mc:Choice>
              <mc:Fallback>
                <p:oleObj name="Equation" r:id="rId2" imgW="271764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28259" y="1484784"/>
                        <a:ext cx="40798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Retângulo 6"/>
          <p:cNvSpPr>
            <a:spLocks noChangeArrowheads="1"/>
          </p:cNvSpPr>
          <p:nvPr/>
        </p:nvSpPr>
        <p:spPr bwMode="auto">
          <a:xfrm>
            <a:off x="3707904" y="4869160"/>
            <a:ext cx="4464496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Outra maneira é eliminar-se primeiramente a variável que apresenta o maior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valor-P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não significativo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Em seguida, refaz-se a análise</a:t>
            </a:r>
          </a:p>
        </p:txBody>
      </p:sp>
      <p:sp>
        <p:nvSpPr>
          <p:cNvPr id="10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55</a:t>
            </a:fld>
            <a:endParaRPr lang="pt-BR"/>
          </a:p>
        </p:txBody>
      </p:sp>
      <p:grpSp>
        <p:nvGrpSpPr>
          <p:cNvPr id="5" name="Grupo 4"/>
          <p:cNvGrpSpPr/>
          <p:nvPr/>
        </p:nvGrpSpPr>
        <p:grpSpPr>
          <a:xfrm>
            <a:off x="4607247" y="1412776"/>
            <a:ext cx="360040" cy="432048"/>
            <a:chOff x="8248600" y="2281064"/>
            <a:chExt cx="360040" cy="432048"/>
          </a:xfrm>
        </p:grpSpPr>
        <p:cxnSp>
          <p:nvCxnSpPr>
            <p:cNvPr id="3" name="Conector reto 2"/>
            <p:cNvCxnSpPr/>
            <p:nvPr/>
          </p:nvCxnSpPr>
          <p:spPr bwMode="auto">
            <a:xfrm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2" name="Conector reto 11"/>
            <p:cNvCxnSpPr/>
            <p:nvPr/>
          </p:nvCxnSpPr>
          <p:spPr bwMode="auto">
            <a:xfrm flipH="1">
              <a:off x="8248600" y="2281064"/>
              <a:ext cx="360040" cy="432048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2984439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076" grpId="0" animBg="1"/>
      <p:bldP spid="22" grpId="0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41" name="Picture 12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1880" y="4623322"/>
            <a:ext cx="2962275" cy="22431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868340"/>
              </p:ext>
            </p:extLst>
          </p:nvPr>
        </p:nvGraphicFramePr>
        <p:xfrm>
          <a:off x="3754644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9352,67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3117,56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809,56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1,12E-17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9414,28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113714"/>
              </p:ext>
            </p:extLst>
          </p:nvPr>
        </p:nvGraphicFramePr>
        <p:xfrm>
          <a:off x="3754644" y="3356992"/>
          <a:ext cx="3314700" cy="1116330"/>
        </p:xfrm>
        <a:graphic>
          <a:graphicData uri="http://schemas.openxmlformats.org/drawingml/2006/table">
            <a:tbl>
              <a:tblPr/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Stat t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61,4478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2,1408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28,7030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3,44E-15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-0,4734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-30,0637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1,66E-15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40,0206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1,81E-17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</a:p>
                  </a:txBody>
                  <a:tcPr marL="9528" marR="9528" marT="953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-5,1698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9,31E-05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6" name="Tabela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741428"/>
              </p:ext>
            </p:extLst>
          </p:nvPr>
        </p:nvGraphicFramePr>
        <p:xfrm>
          <a:off x="307975" y="1443426"/>
          <a:ext cx="2438400" cy="4038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174,56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226,69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364,26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129,40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329,68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592,57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148,78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1151,11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327,56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97,81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850,26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695,32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30,31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235,10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820,23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141,01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294,77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884,83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152,29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291,09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338,08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46,15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140,37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508,84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128,83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334,06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764,28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204,97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709,91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58,22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295,87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84,14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284,87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50,34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620,11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53,56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392,89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1186,30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</a:rPr>
              <a:t>Eliminando-se variáveis independentes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</a:endParaRPr>
          </a:p>
        </p:txBody>
      </p:sp>
      <p:graphicFrame>
        <p:nvGraphicFramePr>
          <p:cNvPr id="4" name="Objeto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75063809"/>
              </p:ext>
            </p:extLst>
          </p:nvPr>
        </p:nvGraphicFramePr>
        <p:xfrm>
          <a:off x="3719513" y="1484313"/>
          <a:ext cx="3355975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234880" imgH="241200" progId="Equation.DSMT4">
                  <p:embed/>
                </p:oleObj>
              </mc:Choice>
              <mc:Fallback>
                <p:oleObj name="Equation" r:id="rId3" imgW="2234880" imgH="241200" progId="Equation.DSMT4">
                  <p:embed/>
                  <p:pic>
                    <p:nvPicPr>
                      <p:cNvPr id="4" name="Objeto 3"/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719513" y="1484313"/>
                        <a:ext cx="3355975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3247C6-760D-4EFA-A2D8-D2108044775A}" type="slidenum">
              <a:rPr lang="pt-BR"/>
              <a:pPr>
                <a:defRPr/>
              </a:pPr>
              <a:t>56</a:t>
            </a:fld>
            <a:endParaRPr lang="pt-BR"/>
          </a:p>
        </p:txBody>
      </p:sp>
      <p:graphicFrame>
        <p:nvGraphicFramePr>
          <p:cNvPr id="7" name="Tabela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139293"/>
              </p:ext>
            </p:extLst>
          </p:nvPr>
        </p:nvGraphicFramePr>
        <p:xfrm>
          <a:off x="2771800" y="1443427"/>
          <a:ext cx="609600" cy="4038757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25419">
                <a:tc>
                  <a:txBody>
                    <a:bodyPr/>
                    <a:lstStyle/>
                    <a:p>
                      <a:pPr algn="ctr" rtl="0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21,25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32,16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26,51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42,23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48,71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47,57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54,49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7242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86,67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849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06115336"/>
              </p:ext>
            </p:extLst>
          </p:nvPr>
        </p:nvGraphicFramePr>
        <p:xfrm>
          <a:off x="2994298" y="1453744"/>
          <a:ext cx="209550" cy="2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39680" imgH="203040" progId="Equation.DSMT4">
                  <p:embed/>
                </p:oleObj>
              </mc:Choice>
              <mc:Fallback>
                <p:oleObj name="Equation" r:id="rId5" imgW="139680" imgH="20304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994298" y="1453744"/>
                        <a:ext cx="209550" cy="216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" name="Grupo 1"/>
          <p:cNvGrpSpPr/>
          <p:nvPr/>
        </p:nvGrpSpPr>
        <p:grpSpPr>
          <a:xfrm>
            <a:off x="6372200" y="3861048"/>
            <a:ext cx="2462958" cy="675368"/>
            <a:chOff x="6372200" y="3861048"/>
            <a:chExt cx="2462958" cy="675368"/>
          </a:xfrm>
        </p:grpSpPr>
        <p:sp>
          <p:nvSpPr>
            <p:cNvPr id="12" name="Elipse 57"/>
            <p:cNvSpPr>
              <a:spLocks noChangeArrowheads="1"/>
            </p:cNvSpPr>
            <p:nvPr/>
          </p:nvSpPr>
          <p:spPr bwMode="auto">
            <a:xfrm>
              <a:off x="6372200" y="3861048"/>
              <a:ext cx="774195" cy="6753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" name="Retângulo 13"/>
            <p:cNvSpPr>
              <a:spLocks noChangeArrowheads="1"/>
            </p:cNvSpPr>
            <p:nvPr/>
          </p:nvSpPr>
          <p:spPr bwMode="auto">
            <a:xfrm>
              <a:off x="7152774" y="4005064"/>
              <a:ext cx="1682384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todos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1609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609F0CC-DC97-B6B3-0E50-2707267707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671713" y="1429156"/>
            <a:ext cx="2355830" cy="208275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/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22213013"/>
                  </p:ext>
                </p:extLst>
              </p:nvPr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/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/>
              <p:cNvSpPr txBox="1"/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474788"/>
                <a:ext cx="3298825" cy="381000"/>
              </a:xfrm>
              <a:prstGeom prst="rect">
                <a:avLst/>
              </a:prstGeom>
              <a:blipFill>
                <a:blip r:embed="rId5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6"/>
          <p:cNvSpPr>
            <a:spLocks noChangeArrowheads="1"/>
          </p:cNvSpPr>
          <p:nvPr/>
        </p:nvSpPr>
        <p:spPr bwMode="auto">
          <a:xfrm>
            <a:off x="2843808" y="4653136"/>
            <a:ext cx="5904656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pode todos os coeficientes serem não significativos com o valor-P do teste F tão pequeno?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Atenção</a:t>
            </a:r>
            <a:r>
              <a:rPr lang="pt-BR" altLang="pt-BR" sz="1600" dirty="0">
                <a:latin typeface="Tahoma" panose="020B0604030504040204" pitchFamily="34" charset="0"/>
              </a:rPr>
              <a:t>: Termos polinomiais e interações podem apresentar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altLang="pt-BR" sz="1600" dirty="0">
                <a:latin typeface="Tahoma" panose="020B0604030504040204" pitchFamily="34" charset="0"/>
              </a:rPr>
              <a:t> alto pois podem apresentar relações quase lineares entre os termos do polinômio.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avaliar a significância dos coeficientes nesse caso?</a:t>
            </a:r>
          </a:p>
        </p:txBody>
      </p:sp>
      <p:graphicFrame>
        <p:nvGraphicFramePr>
          <p:cNvPr id="14" name="Tabela 13"/>
          <p:cNvGraphicFramePr>
            <a:graphicFrameLocks noGrp="1"/>
          </p:cNvGraphicFramePr>
          <p:nvPr/>
        </p:nvGraphicFramePr>
        <p:xfrm>
          <a:off x="2962556" y="206084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3,4926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1,1642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323,7193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1,58E-14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3,5501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/>
              <p:cNvGraphicFramePr>
                <a:graphicFrameLocks noGrp="1"/>
              </p:cNvGraphicFramePr>
              <p:nvPr/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31159387"/>
                  </p:ext>
                </p:extLst>
              </p:nvPr>
            </p:nvGraphicFramePr>
            <p:xfrm>
              <a:off x="2962556" y="3356992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1,2692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1,5608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0,8132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0,4281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3,9589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2,6748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0,1583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-2,3363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1,4873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-1,5709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0,1358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0,5291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0,2681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1,9739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8" name="Tabela 17"/>
              <p:cNvGraphicFramePr>
                <a:graphicFrameLocks noGrp="1"/>
              </p:cNvGraphicFramePr>
              <p:nvPr/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8" name="Tabela 1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42110261"/>
                  </p:ext>
                </p:extLst>
              </p:nvPr>
            </p:nvGraphicFramePr>
            <p:xfrm>
              <a:off x="6660232" y="3701797"/>
              <a:ext cx="1001528" cy="771525"/>
            </p:xfrm>
            <a:graphic>
              <a:graphicData uri="http://schemas.openxmlformats.org/drawingml/2006/table">
                <a:tbl>
                  <a:tblPr/>
                  <a:tblGrid>
                    <a:gridCol w="20142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VIF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blipFill>
                          <a:blip r:embed="rId7"/>
                          <a:stretch>
                            <a:fillRect t="-109375" r="-403030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7480,64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7"/>
                          <a:stretch>
                            <a:fillRect t="-216129" r="-403030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32554,03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7"/>
                          <a:stretch>
                            <a:fillRect t="-296970" r="-403030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9028,64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1" name="Elipse 20"/>
          <p:cNvSpPr/>
          <p:nvPr/>
        </p:nvSpPr>
        <p:spPr bwMode="auto">
          <a:xfrm>
            <a:off x="6876256" y="386305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5" name="Elipse 24"/>
          <p:cNvSpPr/>
          <p:nvPr/>
        </p:nvSpPr>
        <p:spPr bwMode="auto">
          <a:xfrm>
            <a:off x="5595848" y="3879948"/>
            <a:ext cx="824695" cy="646252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57</a:t>
            </a:fld>
            <a:endParaRPr lang="pt-BR"/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63DB611A-7981-6D5B-AF3C-699522E16552}"/>
              </a:ext>
            </a:extLst>
          </p:cNvPr>
          <p:cNvSpPr/>
          <p:nvPr/>
        </p:nvSpPr>
        <p:spPr bwMode="auto">
          <a:xfrm>
            <a:off x="6008195" y="2378743"/>
            <a:ext cx="652037" cy="324595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379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  <p:bldP spid="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9C7F0-A6DA-977B-C73C-3BDD8FFA1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ela 5">
                <a:extLst>
                  <a:ext uri="{FF2B5EF4-FFF2-40B4-BE49-F238E27FC236}">
                    <a16:creationId xmlns:a16="http://schemas.microsoft.com/office/drawing/2014/main" id="{E15A48D4-5636-F83B-15EA-B532675E66A2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07975" y="1443426"/>
              <a:ext cx="2438400" cy="4038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</a:tblGrid>
                  <a:tr h="2286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9010" r="-19901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000" r="-101000" b="-16815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1000" r="-1000" b="-16815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8,87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2,62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3,24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7,19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2,79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2,25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1,49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3,87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2,47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15,07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1,59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3,72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5,03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2,55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16,58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4,01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1,89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6,75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2,36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5,57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13,14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3,64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1,27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1,61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2,05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4,52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2,33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5,43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12,65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20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7" name="Rectangle 2">
            <a:extLst>
              <a:ext uri="{FF2B5EF4-FFF2-40B4-BE49-F238E27FC236}">
                <a16:creationId xmlns:a16="http://schemas.microsoft.com/office/drawing/2014/main" id="{4F5A947B-0B3B-D3E9-EB18-48CFAF84E3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92138"/>
            <a:ext cx="9144000" cy="703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anchor="ctr"/>
          <a:lstStyle/>
          <a:p>
            <a:pPr algn="ctr">
              <a:defRPr/>
            </a:pPr>
            <a:r>
              <a:rPr lang="pt-BR" sz="3200" kern="0" dirty="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Tahoma" panose="020B0604030504040204" pitchFamily="34" charset="0"/>
                <a:ea typeface="+mj-ea"/>
                <a:cs typeface="+mj-cs"/>
              </a:rPr>
              <a:t>Regressões Polinomiais</a:t>
            </a:r>
            <a:endParaRPr lang="pt-BR" sz="3200" i="1" kern="0" dirty="0">
              <a:solidFill>
                <a:srgbClr val="FF3300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Tahoma" panose="020B0604030504040204" pitchFamily="34" charset="0"/>
              <a:ea typeface="+mj-ea"/>
              <a:cs typeface="+mj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/>
              <p:nvPr/>
            </p:nvSpPr>
            <p:spPr bwMode="auto">
              <a:xfrm>
                <a:off x="2916238" y="1340768"/>
                <a:ext cx="3298825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Objeto 3">
                <a:extLst>
                  <a:ext uri="{FF2B5EF4-FFF2-40B4-BE49-F238E27FC236}">
                    <a16:creationId xmlns:a16="http://schemas.microsoft.com/office/drawing/2014/main" id="{474C11E4-3E55-34DB-5B7F-0661B1DC4F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16238" y="1340768"/>
                <a:ext cx="3298825" cy="381000"/>
              </a:xfrm>
              <a:prstGeom prst="rect">
                <a:avLst/>
              </a:prstGeom>
              <a:blipFill>
                <a:blip r:embed="rId3"/>
                <a:stretch>
                  <a:fillRect b="-322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843808" y="3645024"/>
                <a:ext cx="5992217" cy="153888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177800" indent="-177800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Observe que agora os termos </a:t>
                </a:r>
                <a14:m>
                  <m:oMath xmlns:m="http://schemas.openxmlformats.org/officeDocument/2006/math"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são significativos 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 não é significativo e portanto pode ser descartado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endParaRP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Para se estimar os parâmetros do polinômio, deve-se realizar a regressão clássica:</a:t>
                </a:r>
              </a:p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pt-BR" sz="14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	&gt; 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poly(X,2, </a:t>
                </a:r>
                <a:r>
                  <a:rPr lang="en-US" altLang="pt-BR" sz="1200" dirty="0">
                    <a:solidFill>
                      <a:srgbClr val="FF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raw=TRUE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))) 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ou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summary(</a:t>
                </a:r>
                <a:r>
                  <a:rPr lang="en-US" altLang="pt-BR" sz="1200" dirty="0" err="1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lm</a:t>
                </a:r>
                <a:r>
                  <a:rPr lang="en-US" altLang="pt-BR" sz="120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(Y ~ X + I(X^2)))</a:t>
                </a:r>
                <a:endParaRPr lang="pt-BR" altLang="pt-BR" sz="14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Retângulo 6">
                <a:extLst>
                  <a:ext uri="{FF2B5EF4-FFF2-40B4-BE49-F238E27FC236}">
                    <a16:creationId xmlns:a16="http://schemas.microsoft.com/office/drawing/2014/main" id="{ACB02775-D3F9-1EC5-7692-625814465A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43808" y="3645024"/>
                <a:ext cx="5992217" cy="1538883"/>
              </a:xfrm>
              <a:prstGeom prst="rect">
                <a:avLst/>
              </a:prstGeom>
              <a:blipFill>
                <a:blip r:embed="rId4"/>
                <a:stretch>
                  <a:fillRect l="-611" t="-1190" r="-713" b="-3175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6" name="Tabela 15">
                <a:extLst>
                  <a:ext uri="{FF2B5EF4-FFF2-40B4-BE49-F238E27FC236}">
                    <a16:creationId xmlns:a16="http://schemas.microsoft.com/office/drawing/2014/main" id="{D3FAE5A2-513E-3125-3E65-99F0D30A5D0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532101554"/>
                  </p:ext>
                </p:extLst>
              </p:nvPr>
            </p:nvGraphicFramePr>
            <p:xfrm>
              <a:off x="2962556" y="2528694"/>
              <a:ext cx="3314700" cy="11163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4,0205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0,0141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285,710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&lt; 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83186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1,8190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28,904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3,08e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83186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0,4147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6,590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6,22e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475758" r="-383186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0,0778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0,0629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1,237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0,234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5" name="Elipse 24">
            <a:extLst>
              <a:ext uri="{FF2B5EF4-FFF2-40B4-BE49-F238E27FC236}">
                <a16:creationId xmlns:a16="http://schemas.microsoft.com/office/drawing/2014/main" id="{77BED44D-27F4-1E20-FFFA-DDBD846773A9}"/>
              </a:ext>
            </a:extLst>
          </p:cNvPr>
          <p:cNvSpPr/>
          <p:nvPr/>
        </p:nvSpPr>
        <p:spPr bwMode="auto">
          <a:xfrm>
            <a:off x="5595848" y="3051650"/>
            <a:ext cx="824695" cy="413148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9" name="Espaço Reservado para Número de Slide 2">
            <a:extLst>
              <a:ext uri="{FF2B5EF4-FFF2-40B4-BE49-F238E27FC236}">
                <a16:creationId xmlns:a16="http://schemas.microsoft.com/office/drawing/2014/main" id="{DA11B24E-9FA5-9A80-9CCA-42108B99B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58</a:t>
            </a:fld>
            <a:endParaRPr lang="pt-BR"/>
          </a:p>
        </p:txBody>
      </p:sp>
      <p:sp>
        <p:nvSpPr>
          <p:cNvPr id="2" name="Retângulo 6">
            <a:extLst>
              <a:ext uri="{FF2B5EF4-FFF2-40B4-BE49-F238E27FC236}">
                <a16:creationId xmlns:a16="http://schemas.microsoft.com/office/drawing/2014/main" id="{804ED02C-4BD3-A9D1-C497-5A4EBDED08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3808" y="1672704"/>
            <a:ext cx="606674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7800" indent="-1778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No R, é possível gerar uma regressão polinomial usando transformações ortogonais:</a:t>
            </a:r>
            <a:br>
              <a:rPr lang="pt-BR" altLang="pt-BR" sz="1600" dirty="0">
                <a:latin typeface="Tahoma" panose="020B0604030504040204" pitchFamily="34" charset="0"/>
              </a:rPr>
            </a:br>
            <a:r>
              <a:rPr lang="pt-BR" altLang="pt-BR" sz="1600" dirty="0">
                <a:latin typeface="Tahoma" panose="020B0604030504040204" pitchFamily="34" charset="0"/>
              </a:rPr>
              <a:t>&gt; </a:t>
            </a: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summary(</a:t>
            </a:r>
            <a:r>
              <a:rPr lang="en-US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 ~ poly(X,3)))</a:t>
            </a:r>
            <a:endParaRPr lang="en-US" altLang="pt-BR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024390"/>
                  </p:ext>
                </p:extLst>
              </p:nvPr>
            </p:nvGraphicFramePr>
            <p:xfrm>
              <a:off x="2962556" y="5307290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marL="0" marR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1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ela 2">
                <a:extLst>
                  <a:ext uri="{FF2B5EF4-FFF2-40B4-BE49-F238E27FC236}">
                    <a16:creationId xmlns:a16="http://schemas.microsoft.com/office/drawing/2014/main" id="{0A12153F-10CB-A181-DACF-760EB2618E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2024390"/>
                  </p:ext>
                </p:extLst>
              </p:nvPr>
            </p:nvGraphicFramePr>
            <p:xfrm>
              <a:off x="2962556" y="5307290"/>
              <a:ext cx="3314700" cy="925830"/>
            </p:xfrm>
            <a:graphic>
              <a:graphicData uri="http://schemas.openxmlformats.org/drawingml/2006/table">
                <a:tbl>
                  <a:tblPr/>
                  <a:tblGrid>
                    <a:gridCol w="685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8001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4,3188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0,3113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13,875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1,06e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83186" b="-1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-1,3081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0,3477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-3,763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0,0016</a:t>
                          </a:r>
                          <a:endParaRPr lang="pt-BR" sz="1100" b="0" i="0" u="none" strike="noStrike" baseline="30000" dirty="0">
                            <a:solidFill>
                              <a:srgbClr val="000000"/>
                            </a:solidFill>
                            <a:effectLst/>
                            <a:latin typeface="Calibri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8" marR="9528" marT="9538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381818" r="-383186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0,6013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0,0927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5,55e</a:t>
                          </a:r>
                          <a:r>
                            <a:rPr lang="pt-BR" sz="1100" b="0" i="0" u="none" strike="noStrike" baseline="30000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-6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5" name="Agrupar 14">
            <a:extLst>
              <a:ext uri="{FF2B5EF4-FFF2-40B4-BE49-F238E27FC236}">
                <a16:creationId xmlns:a16="http://schemas.microsoft.com/office/drawing/2014/main" id="{82B9DAB6-4FCF-7EB6-BE8E-A8248B814CFF}"/>
              </a:ext>
            </a:extLst>
          </p:cNvPr>
          <p:cNvGrpSpPr/>
          <p:nvPr/>
        </p:nvGrpSpPr>
        <p:grpSpPr>
          <a:xfrm>
            <a:off x="4572000" y="5383490"/>
            <a:ext cx="1781150" cy="1250013"/>
            <a:chOff x="4572000" y="5747722"/>
            <a:chExt cx="1781150" cy="1250013"/>
          </a:xfrm>
        </p:grpSpPr>
        <p:grpSp>
          <p:nvGrpSpPr>
            <p:cNvPr id="10" name="Agrupar 9">
              <a:extLst>
                <a:ext uri="{FF2B5EF4-FFF2-40B4-BE49-F238E27FC236}">
                  <a16:creationId xmlns:a16="http://schemas.microsoft.com/office/drawing/2014/main" id="{CBED6ADD-2366-B4CF-6C02-1970E7301F47}"/>
                </a:ext>
              </a:extLst>
            </p:cNvPr>
            <p:cNvGrpSpPr/>
            <p:nvPr/>
          </p:nvGrpSpPr>
          <p:grpSpPr>
            <a:xfrm>
              <a:off x="4572000" y="5747722"/>
              <a:ext cx="1781150" cy="925830"/>
              <a:chOff x="5800328" y="5747722"/>
              <a:chExt cx="648072" cy="925830"/>
            </a:xfrm>
          </p:grpSpPr>
          <p:cxnSp>
            <p:nvCxnSpPr>
              <p:cNvPr id="8" name="Conector reto 7">
                <a:extLst>
                  <a:ext uri="{FF2B5EF4-FFF2-40B4-BE49-F238E27FC236}">
                    <a16:creationId xmlns:a16="http://schemas.microsoft.com/office/drawing/2014/main" id="{62763BA8-D0C1-CB82-59FF-BEDCDC50867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9" name="Conector reto 8">
                <a:extLst>
                  <a:ext uri="{FF2B5EF4-FFF2-40B4-BE49-F238E27FC236}">
                    <a16:creationId xmlns:a16="http://schemas.microsoft.com/office/drawing/2014/main" id="{4E31DF9B-7599-9882-2B0A-881C56C89A9D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5800328" y="5747722"/>
                <a:ext cx="648072" cy="925830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rgbClr val="FF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</p:grpSp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EECB0DE0-13AD-3689-E604-C6A4DD243EDD}"/>
                </a:ext>
              </a:extLst>
            </p:cNvPr>
            <p:cNvSpPr txBox="1"/>
            <p:nvPr/>
          </p:nvSpPr>
          <p:spPr>
            <a:xfrm>
              <a:off x="4613986" y="6720736"/>
              <a:ext cx="166327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altLang="pt-BR" sz="1200" dirty="0">
                  <a:latin typeface="Tahoma" panose="020B0604030504040204" pitchFamily="34" charset="0"/>
                </a:rPr>
                <a:t>ignore esses valores!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</p:grpSp>
      <p:sp>
        <p:nvSpPr>
          <p:cNvPr id="20" name="Elipse 19">
            <a:extLst>
              <a:ext uri="{FF2B5EF4-FFF2-40B4-BE49-F238E27FC236}">
                <a16:creationId xmlns:a16="http://schemas.microsoft.com/office/drawing/2014/main" id="{493CE470-4426-F01D-BC17-DD3C31726AD0}"/>
              </a:ext>
            </a:extLst>
          </p:cNvPr>
          <p:cNvSpPr/>
          <p:nvPr/>
        </p:nvSpPr>
        <p:spPr bwMode="auto">
          <a:xfrm>
            <a:off x="3633592" y="5307290"/>
            <a:ext cx="824695" cy="1002030"/>
          </a:xfrm>
          <a:prstGeom prst="ellipse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5C66B94-65E7-C45C-FAB8-2AE097AE393A}"/>
              </a:ext>
            </a:extLst>
          </p:cNvPr>
          <p:cNvSpPr txBox="1"/>
          <p:nvPr/>
        </p:nvSpPr>
        <p:spPr>
          <a:xfrm>
            <a:off x="6459532" y="2636912"/>
            <a:ext cx="24510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Cuidado</a:t>
            </a:r>
            <a:r>
              <a:rPr lang="pt-BR" altLang="pt-BR" sz="1400" dirty="0">
                <a:latin typeface="Tahoma" panose="020B0604030504040204" pitchFamily="34" charset="0"/>
              </a:rPr>
              <a:t>: os valores estimados dos parâmetros não podem ser diretamente interpretados</a:t>
            </a:r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4CADE452-422C-D121-0346-EA4CDAE3CF49}"/>
              </a:ext>
            </a:extLst>
          </p:cNvPr>
          <p:cNvGrpSpPr/>
          <p:nvPr/>
        </p:nvGrpSpPr>
        <p:grpSpPr>
          <a:xfrm>
            <a:off x="3765421" y="2908101"/>
            <a:ext cx="597801" cy="682918"/>
            <a:chOff x="5800328" y="5747722"/>
            <a:chExt cx="648072" cy="925830"/>
          </a:xfrm>
        </p:grpSpPr>
        <p:cxnSp>
          <p:nvCxnSpPr>
            <p:cNvPr id="22" name="Conector reto 21">
              <a:extLst>
                <a:ext uri="{FF2B5EF4-FFF2-40B4-BE49-F238E27FC236}">
                  <a16:creationId xmlns:a16="http://schemas.microsoft.com/office/drawing/2014/main" id="{9D41C66E-E826-0B59-9142-6C9D831DF6D5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5800328" y="5747722"/>
              <a:ext cx="648072" cy="92583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Conector reto 22">
              <a:extLst>
                <a:ext uri="{FF2B5EF4-FFF2-40B4-BE49-F238E27FC236}">
                  <a16:creationId xmlns:a16="http://schemas.microsoft.com/office/drawing/2014/main" id="{CB4FF4B7-69B8-4BDE-F1FD-14DB51EEB26F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5800328" y="5747722"/>
              <a:ext cx="648072" cy="92583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pic>
        <p:nvPicPr>
          <p:cNvPr id="24" name="Imagem 23">
            <a:extLst>
              <a:ext uri="{FF2B5EF4-FFF2-40B4-BE49-F238E27FC236}">
                <a16:creationId xmlns:a16="http://schemas.microsoft.com/office/drawing/2014/main" id="{264C740A-20CD-84E1-256B-F52362EE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83424" y="5169559"/>
            <a:ext cx="1905000" cy="168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8324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0" grpId="0" animBg="1"/>
      <p:bldP spid="11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987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23528" y="1496509"/>
                <a:ext cx="8604250" cy="4573560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Variáveis indicadoras (ou </a:t>
                </a:r>
                <a:r>
                  <a:rPr lang="pt-BR" altLang="pt-BR" sz="1600" i="1" dirty="0" err="1"/>
                  <a:t>dummies</a:t>
                </a:r>
                <a:r>
                  <a:rPr lang="pt-BR" altLang="pt-BR" sz="1600" dirty="0"/>
                  <a:t>) são variáveis que só podem assumir dois valores: 0 ou 1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Elas são amplamente utilizadas na regressão podendo aparecer isoladas ou interagindo com outras variáveis independentes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361950" lvl="0" indent="-361950" eaLnBrk="1" hangingPunct="1">
                  <a:spcBef>
                    <a:spcPct val="0"/>
                  </a:spcBef>
                  <a:buNone/>
                  <a:defRPr/>
                </a:pPr>
                <a:r>
                  <a:rPr kumimoji="0" lang="pt-BR" sz="15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pt-BR" sz="15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𝑌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=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0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𝛽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𝑋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𝑊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  <m:r>
                      <a:rPr kumimoji="0" lang="pt-BR" sz="1500" b="0" i="1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+mn-ea"/>
                      </a:rPr>
                      <m:t>+</m:t>
                    </m:r>
                    <m:sSub>
                      <m:sSubPr>
                        <m:ctrlP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</m:ctrlPr>
                      </m:sSubPr>
                      <m:e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𝜉</m:t>
                        </m:r>
                      </m:e>
                      <m:sub>
                        <m:r>
                          <a:rPr kumimoji="0" lang="pt-BR" sz="15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+mn-ea"/>
                          </a:rPr>
                          <m:t>𝑖</m:t>
                        </m:r>
                      </m:sub>
                    </m:sSub>
                  </m:oMath>
                </a14:m>
                <a:r>
                  <a:rPr kumimoji="0" lang="pt-BR" sz="15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ea typeface="+mn-ea"/>
                    <a:cs typeface="Arial" charset="0"/>
                  </a:rPr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kumimoji="0" lang="pt-BR" sz="15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ea typeface="+mn-ea"/>
                  <a:cs typeface="Arial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Com esse modelo, é possível ajustar 2 regressões simultaneamente: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dirty="0" smtClean="0"/>
                        <m:t>se</m:t>
                      </m:r>
                      <m:r>
                        <m:rPr>
                          <m:nor/>
                        </m:rPr>
                        <a:rPr lang="pt-BR" altLang="pt-BR" sz="1600" dirty="0" smtClean="0"/>
                        <m:t> 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pt-BR" sz="160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60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600" i="1" kern="12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pt-BR" sz="1600" b="0" i="1" kern="120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kern="120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Aplicações: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Representar variáveis categóricas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Verificar se certos parâmetros diferem entre grupos (comparação de modelos)</a:t>
                </a:r>
              </a:p>
              <a:p>
                <a:pPr eaLnBrk="1" hangingPunct="1">
                  <a:buFontTx/>
                  <a:buAutoNum type="alphaLcParenR"/>
                </a:pPr>
                <a:r>
                  <a:rPr lang="pt-BR" altLang="pt-BR" sz="1600" dirty="0"/>
                  <a:t>Modelar mudanças abruptas ou estruturais</a:t>
                </a:r>
              </a:p>
            </p:txBody>
          </p:sp>
        </mc:Choice>
        <mc:Fallback xmlns="">
          <p:sp>
            <p:nvSpPr>
              <p:cNvPr id="41987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3528" y="1496509"/>
                <a:ext cx="8604250" cy="4573560"/>
              </a:xfrm>
              <a:blipFill>
                <a:blip r:embed="rId2"/>
                <a:stretch>
                  <a:fillRect l="-354" t="-399" b="-66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59</a:t>
            </a:fld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987" grpId="0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60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Se uma variável categórica for representada por apenas 2 classes (classes A e B) então apenas uma variável indicadora precisa ser definida.</a:t>
                </a:r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i="1" dirty="0">
                                    <a:latin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i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pertencer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a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b="0" i="0" dirty="0" smtClean="0"/>
                                  <m:t>Classe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B</m:t>
                                </m:r>
                                <m:r>
                                  <m:rPr>
                                    <m:nor/>
                                  </m:rPr>
                                  <a:rPr lang="pt-BR" altLang="pt-BR" sz="1600" dirty="0"/>
                                  <m:t>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altLang="pt-BR" sz="1800" dirty="0"/>
              </a:p>
              <a:p>
                <a:pPr eaLnBrk="1" hangingPunct="1">
                  <a:buFontTx/>
                  <a:buNone/>
                </a:pPr>
                <a:endParaRPr lang="pt-BR" altLang="pt-BR" sz="1600" dirty="0"/>
              </a:p>
              <a:p>
                <a:pPr eaLnBrk="1" hangingPunct="1">
                  <a:buFontTx/>
                  <a:buNone/>
                </a:pPr>
                <a:r>
                  <a:rPr lang="pt-BR" altLang="pt-BR" sz="1600" dirty="0"/>
                  <a:t>Agora, se houverem 3 classes (classes A, B e C), são necessárias 2 variáveis indicadoras:</a:t>
                </a:r>
              </a:p>
            </p:txBody>
          </p:sp>
        </mc:Choice>
        <mc:Fallback xmlns="">
          <p:sp>
            <p:nvSpPr>
              <p:cNvPr id="13" name="Rectangle 9">
                <a:extLst>
                  <a:ext uri="{FF2B5EF4-FFF2-40B4-BE49-F238E27FC236}">
                    <a16:creationId xmlns:a16="http://schemas.microsoft.com/office/drawing/2014/main" id="{5D5D80E9-AA0F-014D-FC48-57C5EB2F3E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39750" y="1496509"/>
                <a:ext cx="8424738" cy="2020425"/>
              </a:xfrm>
              <a:blipFill>
                <a:blip r:embed="rId2"/>
                <a:stretch>
                  <a:fillRect l="-434" t="-904" b="-27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7692272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60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  <m:r>
                                      <a:rPr lang="pt-BR" sz="16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60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ela 8">
                <a:extLst>
                  <a:ext uri="{FF2B5EF4-FFF2-40B4-BE49-F238E27FC236}">
                    <a16:creationId xmlns:a16="http://schemas.microsoft.com/office/drawing/2014/main" id="{1EF2EB5F-18DF-3EA5-EEDE-5E31EB35AAF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7692272"/>
                  </p:ext>
                </p:extLst>
              </p:nvPr>
            </p:nvGraphicFramePr>
            <p:xfrm>
              <a:off x="755576" y="3890998"/>
              <a:ext cx="2304256" cy="14833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03965">
                      <a:extLst>
                        <a:ext uri="{9D8B030D-6E8A-4147-A177-3AD203B41FA5}">
                          <a16:colId xmlns:a16="http://schemas.microsoft.com/office/drawing/2014/main" val="3651238146"/>
                        </a:ext>
                      </a:extLst>
                    </a:gridCol>
                    <a:gridCol w="703965">
                      <a:extLst>
                        <a:ext uri="{9D8B030D-6E8A-4147-A177-3AD203B41FA5}">
                          <a16:colId xmlns:a16="http://schemas.microsoft.com/office/drawing/2014/main" val="2671211714"/>
                        </a:ext>
                      </a:extLst>
                    </a:gridCol>
                    <a:gridCol w="896326">
                      <a:extLst>
                        <a:ext uri="{9D8B030D-6E8A-4147-A177-3AD203B41FA5}">
                          <a16:colId xmlns:a16="http://schemas.microsoft.com/office/drawing/2014/main" val="405785981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862" t="-4918" r="-2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862" t="-4918" r="-129310" b="-31147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Classe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91001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018300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B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06083417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60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3769174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/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𝑌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=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0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𝛽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𝑋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𝑊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1</m:t>
                          </m:r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6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+mn-ea"/>
                        </a:rPr>
                        <m:t>+</m:t>
                      </m:r>
                      <m:sSub>
                        <m:sSubPr>
                          <m:ctrlP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</m:ctrlPr>
                        </m:sSubPr>
                        <m:e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𝜉</m:t>
                          </m:r>
                        </m:e>
                        <m:sub>
                          <m:r>
                            <a:rPr kumimoji="0" lang="pt-BR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+mn-ea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b="0" i="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A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B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1600" b="0" i="1" kern="12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kern="120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 eaLnBrk="1" hangingPunct="1"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Classe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C</m:t>
                      </m:r>
                      <m:r>
                        <m:rPr>
                          <m:nor/>
                        </m:rPr>
                        <a:rPr lang="pt-BR" altLang="pt-BR" sz="1600" b="0" i="0" dirty="0" smtClean="0">
                          <a:latin typeface="Tahoma" panose="020B0604030504040204" pitchFamily="34" charset="0"/>
                        </a:rPr>
                        <m:t>: </m:t>
                      </m:r>
                      <m:sSub>
                        <m:sSubPr>
                          <m:ctrlP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 kern="12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)+(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F1DBDD6E-E58A-CD65-CF92-A34E0EF67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3701350"/>
                <a:ext cx="5760640" cy="1815882"/>
              </a:xfrm>
              <a:prstGeom prst="rect">
                <a:avLst/>
              </a:prstGeom>
              <a:blipFill>
                <a:blip r:embed="rId4"/>
                <a:stretch>
                  <a:fillRect b="-16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2618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1E4E3290-E570-F1F9-AD0B-886292E30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E34490C7-582F-8166-643D-2BCDBE5DEF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675" y="1824442"/>
            <a:ext cx="3287200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Variável Categórica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61</a:t>
            </a:fld>
            <a:endParaRPr lang="pt-BR"/>
          </a:p>
        </p:txBody>
      </p:sp>
      <p:graphicFrame>
        <p:nvGraphicFramePr>
          <p:cNvPr id="5" name="Tabela 4">
            <a:extLst>
              <a:ext uri="{FF2B5EF4-FFF2-40B4-BE49-F238E27FC236}">
                <a16:creationId xmlns:a16="http://schemas.microsoft.com/office/drawing/2014/main" id="{2B785813-F5B5-B5D6-65AF-CA6CEAB06B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0324414"/>
              </p:ext>
            </p:extLst>
          </p:nvPr>
        </p:nvGraphicFramePr>
        <p:xfrm>
          <a:off x="323528" y="1484784"/>
          <a:ext cx="18288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91853033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493721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1990568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4463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94528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6437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53,89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18,95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20643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64,07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2746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40,24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5958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45,58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15,28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158609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58,38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21,38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58582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B0F0"/>
                          </a:solidFill>
                          <a:effectLst/>
                          <a:latin typeface="Times New Roman" panose="02020603050405020304" pitchFamily="18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8755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967185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72,26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3709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46,38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6885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55,43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2991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41,69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0167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77,42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72365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83,79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imes New Roman" panose="02020603050405020304" pitchFamily="18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091732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59,24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38688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52,63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19493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49,82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61356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44,5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7449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62,79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31432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48,27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635832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42,39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C000"/>
                          </a:solidFill>
                          <a:effectLst/>
                          <a:latin typeface="Times New Roman" panose="02020603050405020304" pitchFamily="18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863810"/>
                  </a:ext>
                </a:extLst>
              </a:tr>
            </a:tbl>
          </a:graphicData>
        </a:graphic>
      </p:graphicFrame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F48AFBB-D193-0580-A8CF-569B84967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7515593"/>
              </p:ext>
            </p:extLst>
          </p:nvPr>
        </p:nvGraphicFramePr>
        <p:xfrm>
          <a:off x="2152328" y="1484784"/>
          <a:ext cx="2438400" cy="4381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5348399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89927665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77861811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9395196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W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83226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397387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1896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838910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187523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10125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07349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9396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17,35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3234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20,97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0329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14,09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41334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990457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12,53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02864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89435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24,83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664026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13,17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06370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16,92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63213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15756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875554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11,04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4541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19,88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53924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</a:rPr>
                        <a:t>23,67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763752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/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pt-BR" sz="12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8A00A86B-CD2B-C783-5EDE-4BC942CDA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3094" y="1470695"/>
                <a:ext cx="4201393" cy="276999"/>
              </a:xfrm>
              <a:prstGeom prst="rect">
                <a:avLst/>
              </a:prstGeom>
              <a:blipFill>
                <a:blip r:embed="rId4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BABE41BA-DA7A-36BC-DBA4-B51AEF029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2056867"/>
              </p:ext>
            </p:extLst>
          </p:nvPr>
        </p:nvGraphicFramePr>
        <p:xfrm>
          <a:off x="5031754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3160,54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632,11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834,31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9,56E-19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12,12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0,7576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3172,66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899243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kumimoji="0" lang="pt-BR" sz="11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Tabela 14">
                <a:extLst>
                  <a:ext uri="{FF2B5EF4-FFF2-40B4-BE49-F238E27FC236}">
                    <a16:creationId xmlns:a16="http://schemas.microsoft.com/office/drawing/2014/main" id="{15A2B26C-23D8-7BEF-CE09-B22C0F4216F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53899243"/>
                  </p:ext>
                </p:extLst>
              </p:nvPr>
            </p:nvGraphicFramePr>
            <p:xfrm>
              <a:off x="5031754" y="5229200"/>
              <a:ext cx="3083496" cy="1497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17,06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14,82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9,15E-11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293750" r="-379245" b="-4375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1,92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0,06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30,44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1,36E-15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06452" r="-379245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-17,71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-9,58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5,01E-08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490625" r="-379245" b="-2406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80,27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40,01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1,81E-17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9085527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5"/>
                          <a:stretch>
                            <a:fillRect t="-609677" r="-379245" b="-14838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15,16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6,54E-11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80500914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t="-666667" r="-379245" b="-393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-46,65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1,59E-18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8" name="Grupo 15">
            <a:extLst>
              <a:ext uri="{FF2B5EF4-FFF2-40B4-BE49-F238E27FC236}">
                <a16:creationId xmlns:a16="http://schemas.microsoft.com/office/drawing/2014/main" id="{07DEBE1B-AF89-6919-2403-D0135C52343E}"/>
              </a:ext>
            </a:extLst>
          </p:cNvPr>
          <p:cNvGrpSpPr>
            <a:grpSpLocks/>
          </p:cNvGrpSpPr>
          <p:nvPr/>
        </p:nvGrpSpPr>
        <p:grpSpPr bwMode="auto">
          <a:xfrm>
            <a:off x="7787323" y="4530732"/>
            <a:ext cx="1295903" cy="626456"/>
            <a:chOff x="5426075" y="4724400"/>
            <a:chExt cx="1295348" cy="627172"/>
          </a:xfrm>
        </p:grpSpPr>
        <p:sp>
          <p:nvSpPr>
            <p:cNvPr id="19" name="Elipse 9">
              <a:extLst>
                <a:ext uri="{FF2B5EF4-FFF2-40B4-BE49-F238E27FC236}">
                  <a16:creationId xmlns:a16="http://schemas.microsoft.com/office/drawing/2014/main" id="{D21C4DA3-9B38-ECE0-D58F-50CDF9C518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0" name="Retângulo 11">
              <a:extLst>
                <a:ext uri="{FF2B5EF4-FFF2-40B4-BE49-F238E27FC236}">
                  <a16:creationId xmlns:a16="http://schemas.microsoft.com/office/drawing/2014/main" id="{1DB446EA-9AA3-3296-2329-16A9DFB582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2" name="Elipse 9">
            <a:extLst>
              <a:ext uri="{FF2B5EF4-FFF2-40B4-BE49-F238E27FC236}">
                <a16:creationId xmlns:a16="http://schemas.microsoft.com/office/drawing/2014/main" id="{DAA6C0A2-5FFC-1DF4-16F5-129CAC7025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70787" y="5519997"/>
            <a:ext cx="864096" cy="126827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2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84A0-A93B-4F59-5676-58AA458EA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EBE1CE0-72CA-B7E5-FD61-841DD3BEF8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  <a:endParaRPr lang="pt-BR" dirty="0">
              <a:highlight>
                <a:srgbClr val="FFFF00"/>
              </a:highlight>
            </a:endParaRPr>
          </a:p>
        </p:txBody>
      </p:sp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5256C124-CF74-664D-2E09-89D853579A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5941085"/>
              </p:ext>
            </p:extLst>
          </p:nvPr>
        </p:nvGraphicFramePr>
        <p:xfrm>
          <a:off x="755576" y="2658364"/>
          <a:ext cx="2679700" cy="2808288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90350"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Tahoma" panose="020B0604030504040204" pitchFamily="34" charset="0"/>
                        </a:rPr>
                        <a:t>Região A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chemeClr val="accent6"/>
                          </a:solidFill>
                          <a:effectLst/>
                          <a:latin typeface="Tahoma" panose="020B0604030504040204" pitchFamily="34" charset="0"/>
                        </a:rPr>
                        <a:t>Região B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11,40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4,17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0,09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17,69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8,92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27,48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4,39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16,23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32,65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6,19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23,28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5,13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39,46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7,38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34,33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6,97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39,73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8,47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35,93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8,11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48,76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9,94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44,53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9,53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53,30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11,14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48,57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11,08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60,71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12,95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53,37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12,36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65,65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14,75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58,11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13,64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63,21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14,30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22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</a:pPr>
                      <a:endParaRPr lang="pt-BR" sz="1100">
                        <a:effectLst/>
                        <a:latin typeface="Calibri"/>
                      </a:endParaRPr>
                    </a:p>
                  </a:txBody>
                  <a:tcPr marL="9525" marR="9525" marT="9518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64,67</a:t>
                      </a:r>
                      <a:endParaRPr lang="pt-BR" sz="110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lnSpc>
                          <a:spcPts val="1500"/>
                        </a:lnSpc>
                        <a:spcAft>
                          <a:spcPts val="0"/>
                        </a:spcAft>
                      </a:pPr>
                      <a:r>
                        <a:rPr lang="pt-BR" sz="1100" kern="1200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Times New Roman"/>
                          <a:cs typeface="Times New Roman" panose="02020603050405020304" pitchFamily="18" charset="0"/>
                        </a:rPr>
                        <a:t>14,96</a:t>
                      </a:r>
                      <a:endParaRPr lang="pt-BR" sz="1100" dirty="0">
                        <a:effectLst/>
                        <a:latin typeface="Times New Roman" panose="02020603050405020304" pitchFamily="18" charset="0"/>
                        <a:ea typeface="Calibri"/>
                        <a:cs typeface="Times New Roman" panose="02020603050405020304" pitchFamily="18" charset="0"/>
                      </a:endParaRPr>
                    </a:p>
                  </a:txBody>
                  <a:tcPr marL="9525" marR="9525" marT="951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4" name="Gráfico 10">
            <a:extLst>
              <a:ext uri="{FF2B5EF4-FFF2-40B4-BE49-F238E27FC236}">
                <a16:creationId xmlns:a16="http://schemas.microsoft.com/office/drawing/2014/main" id="{7FC872F2-4593-F48B-7776-5C2CE153C45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05915174"/>
              </p:ext>
            </p:extLst>
          </p:nvPr>
        </p:nvGraphicFramePr>
        <p:xfrm>
          <a:off x="3581400" y="2284941"/>
          <a:ext cx="5014913" cy="3867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34905" name="Objeto 6">
            <a:extLst>
              <a:ext uri="{FF2B5EF4-FFF2-40B4-BE49-F238E27FC236}">
                <a16:creationId xmlns:a16="http://schemas.microsoft.com/office/drawing/2014/main" id="{18F3B684-C9AC-EDA9-E979-E5668CE01D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69810928"/>
              </p:ext>
            </p:extLst>
          </p:nvPr>
        </p:nvGraphicFramePr>
        <p:xfrm>
          <a:off x="6450013" y="4683653"/>
          <a:ext cx="21732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47560" imgH="228600" progId="Equation.DSMT4">
                  <p:embed/>
                </p:oleObj>
              </mc:Choice>
              <mc:Fallback>
                <p:oleObj name="Equation" r:id="rId3" imgW="1447560" imgH="228600" progId="Equation.DSMT4">
                  <p:embed/>
                  <p:pic>
                    <p:nvPicPr>
                      <p:cNvPr id="34905" name="Objeto 6">
                        <a:extLst>
                          <a:ext uri="{FF2B5EF4-FFF2-40B4-BE49-F238E27FC236}">
                            <a16:creationId xmlns:a16="http://schemas.microsoft.com/office/drawing/2014/main" id="{18F3B684-C9AC-EDA9-E979-E5668CE01D46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50013" y="4683653"/>
                        <a:ext cx="21732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06" name="Objeto 7">
            <a:extLst>
              <a:ext uri="{FF2B5EF4-FFF2-40B4-BE49-F238E27FC236}">
                <a16:creationId xmlns:a16="http://schemas.microsoft.com/office/drawing/2014/main" id="{67A80668-F21B-1651-B5A9-8DA888B44D2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62117703"/>
              </p:ext>
            </p:extLst>
          </p:nvPr>
        </p:nvGraphicFramePr>
        <p:xfrm>
          <a:off x="6477000" y="5044016"/>
          <a:ext cx="2154238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434960" imgH="228600" progId="Equation.DSMT4">
                  <p:embed/>
                </p:oleObj>
              </mc:Choice>
              <mc:Fallback>
                <p:oleObj name="Equation" r:id="rId5" imgW="1434960" imgH="228600" progId="Equation.DSMT4">
                  <p:embed/>
                  <p:pic>
                    <p:nvPicPr>
                      <p:cNvPr id="34906" name="Objeto 7">
                        <a:extLst>
                          <a:ext uri="{FF2B5EF4-FFF2-40B4-BE49-F238E27FC236}">
                            <a16:creationId xmlns:a16="http://schemas.microsoft.com/office/drawing/2014/main" id="{67A80668-F21B-1651-B5A9-8DA888B44D2D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6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477000" y="5044016"/>
                        <a:ext cx="2154238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Retângulo 2">
            <a:extLst>
              <a:ext uri="{FF2B5EF4-FFF2-40B4-BE49-F238E27FC236}">
                <a16:creationId xmlns:a16="http://schemas.microsoft.com/office/drawing/2014/main" id="{C65D2FFA-9D57-82B3-4864-296A259B02C5}"/>
              </a:ext>
            </a:extLst>
          </p:cNvPr>
          <p:cNvSpPr/>
          <p:nvPr/>
        </p:nvSpPr>
        <p:spPr bwMode="auto">
          <a:xfrm>
            <a:off x="450850" y="6330806"/>
            <a:ext cx="8064500" cy="338554"/>
          </a:xfrm>
          <a:prstGeom prst="rect">
            <a:avLst/>
          </a:prstGeom>
        </p:spPr>
        <p:txBody>
          <a:bodyPr>
            <a:spAutoFit/>
          </a:bodyPr>
          <a:lstStyle/>
          <a:p>
            <a:pPr marL="342900" indent="-342900">
              <a:spcBef>
                <a:spcPct val="20000"/>
              </a:spcBef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</a:rPr>
              <a:t>Para que ambas regressões sejam a mesma: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0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 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  <a:cs typeface="+mn-cs"/>
                <a:sym typeface="Symbol"/>
              </a:rPr>
              <a:t>e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A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i="1" kern="0" dirty="0">
                <a:solidFill>
                  <a:srgbClr val="000000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i="1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B</a:t>
            </a:r>
            <a:r>
              <a:rPr lang="pt-BR" altLang="pt-BR" kern="0" baseline="-250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1</a:t>
            </a:r>
            <a:endParaRPr lang="pt-BR" altLang="pt-BR" kern="0" dirty="0">
              <a:solidFill>
                <a:srgbClr val="000000"/>
              </a:solidFill>
              <a:latin typeface="Tahoma" panose="020B0604030504040204" pitchFamily="34" charset="0"/>
              <a:cs typeface="+mn-cs"/>
            </a:endParaRP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F1E0AF4-4F0E-F968-8067-1DE58BD65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399F43D-57B3-4E2C-AF28-2A0E52581706}" type="slidenum">
              <a:rPr lang="pt-BR"/>
              <a:pPr>
                <a:defRPr/>
              </a:pPr>
              <a:t>62</a:t>
            </a:fld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93F5BE7-87EC-2594-9281-C674DE8E1B3D}"/>
              </a:ext>
            </a:extLst>
          </p:cNvPr>
          <p:cNvSpPr/>
          <p:nvPr/>
        </p:nvSpPr>
        <p:spPr>
          <a:xfrm>
            <a:off x="4606777" y="5877272"/>
            <a:ext cx="350839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1400" dirty="0">
                <a:latin typeface="Tahoma" panose="020B0604030504040204" pitchFamily="34" charset="0"/>
              </a:rPr>
              <a:t>as relações parecem ser mesmo lineares! </a:t>
            </a:r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8BBE3CD1-C956-E950-03C6-10718775F437}"/>
              </a:ext>
            </a:extLst>
          </p:cNvPr>
          <p:cNvGrpSpPr/>
          <p:nvPr/>
        </p:nvGrpSpPr>
        <p:grpSpPr>
          <a:xfrm>
            <a:off x="3581400" y="2284941"/>
            <a:ext cx="5099684" cy="3860800"/>
            <a:chOff x="3581400" y="1903413"/>
            <a:chExt cx="5099684" cy="3860800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7"/>
                </a:graphicData>
              </a:graphic>
            </p:graphicFrame>
          </mc:Choice>
          <mc:Fallback xmlns="">
            <p:graphicFrame>
              <p:nvGraphicFramePr>
                <p:cNvPr id="2" name="Gráfico 12">
                  <a:extLst>
                    <a:ext uri="{FF2B5EF4-FFF2-40B4-BE49-F238E27FC236}">
                      <a16:creationId xmlns:a16="http://schemas.microsoft.com/office/drawing/2014/main" id="{953C9DE5-43B8-525C-F7C0-07F05A845554}"/>
                    </a:ext>
                  </a:extLst>
                </p:cNvPr>
                <p:cNvGraphicFramePr>
                  <a:graphicFrameLocks/>
                </p:cNvGraphicFramePr>
                <p:nvPr/>
              </p:nvGraphicFramePr>
              <p:xfrm>
                <a:off x="3581400" y="1903413"/>
                <a:ext cx="5013325" cy="3860800"/>
              </p:xfrm>
              <a:graphic>
                <a:graphicData uri="http://schemas.openxmlformats.org/drawingml/2006/chart">
                  <c:chart xmlns:c="http://schemas.openxmlformats.org/drawingml/2006/chart" xmlns:r="http://schemas.openxmlformats.org/officeDocument/2006/relationships" r:id="rId8"/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/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3,94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8,77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rgbClr val="FF0000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=0,995</m:t>
                        </m:r>
                      </m:oMath>
                    </m:oMathPara>
                  </a14:m>
                  <a:endParaRPr lang="pt-BR" sz="1200" b="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1" name="Retângulo 10">
                  <a:extLst>
                    <a:ext uri="{FF2B5EF4-FFF2-40B4-BE49-F238E27FC236}">
                      <a16:creationId xmlns:a16="http://schemas.microsoft.com/office/drawing/2014/main" id="{7E4F0AA7-26B1-D219-E1EF-0B0E69F00CC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29944" y="2420888"/>
                  <a:ext cx="1280094" cy="651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/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4,1</m:t>
                        </m:r>
                        <m:r>
                          <m:rPr>
                            <m:nor/>
                          </m:rPr>
                          <a:rPr lang="pt-BR" sz="1200" b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</m:t>
                        </m:r>
                        <m:r>
                          <m:rPr>
                            <m:nor/>
                          </m:rPr>
                          <a:rPr lang="pt-BR" sz="1200" b="0" i="0" dirty="0" smtClean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39</m:t>
                        </m:r>
                      </m:oMath>
                    </m:oMathPara>
                  </a14:m>
                  <a:endParaRPr lang="pt-BR" sz="1200" b="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pt-BR" sz="1200" b="0" i="1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pt-BR" sz="1200" b="0" i="1" smtClean="0">
                            <a:solidFill>
                              <a:schemeClr val="accent6"/>
                            </a:solidFill>
                            <a:latin typeface="Cambria Math"/>
                            <a:cs typeface="Times New Roman" panose="02020603050405020304" pitchFamily="18" charset="0"/>
                          </a:rPr>
                          <m:t>=0,997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2" name="Retângulo 11">
                  <a:extLst>
                    <a:ext uri="{FF2B5EF4-FFF2-40B4-BE49-F238E27FC236}">
                      <a16:creationId xmlns:a16="http://schemas.microsoft.com/office/drawing/2014/main" id="{7D8526A8-392C-F839-D95E-8CBA087471C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00990" y="3284984"/>
                  <a:ext cx="1280094" cy="651332"/>
                </a:xfrm>
                <a:prstGeom prst="rect">
                  <a:avLst/>
                </a:prstGeom>
                <a:blipFill>
                  <a:blip r:embed="rId10"/>
                  <a:stretch>
                    <a:fillRect t="-9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Rectangle 9">
            <a:extLst>
              <a:ext uri="{FF2B5EF4-FFF2-40B4-BE49-F238E27FC236}">
                <a16:creationId xmlns:a16="http://schemas.microsoft.com/office/drawing/2014/main" id="{844F88B7-A106-CA88-3426-03E9B2F4796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539750" y="1340768"/>
            <a:ext cx="8280400" cy="763588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Suponha que temos 2 modelos ajustados para 2 regiões distintas.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Como saber se os parâmetros de ambos os modelos são iguais, ou seja, se ambas as regiões possuem o mesmo modelo?</a:t>
            </a:r>
          </a:p>
        </p:txBody>
      </p:sp>
    </p:spTree>
    <p:extLst>
      <p:ext uri="{BB962C8B-B14F-4D97-AF65-F5344CB8AC3E}">
        <p14:creationId xmlns:p14="http://schemas.microsoft.com/office/powerpoint/2010/main" val="2802904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3" grpId="0"/>
      <p:bldP spid="1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EAAF3-2572-8515-5FEA-276ECE451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72D2997-2D26-9A78-65F4-20B20B1C763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D39F6A5-C785-61C0-0CE1-4B271CB865E5}"/>
              </a:ext>
            </a:extLst>
          </p:cNvPr>
          <p:cNvGraphicFramePr>
            <a:graphicFrameLocks noGrp="1"/>
          </p:cNvGraphicFramePr>
          <p:nvPr/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5897" name="Objeto 5">
            <a:extLst>
              <a:ext uri="{FF2B5EF4-FFF2-40B4-BE49-F238E27FC236}">
                <a16:creationId xmlns:a16="http://schemas.microsoft.com/office/drawing/2014/main" id="{8D6AE66C-8C0E-CA8D-C087-3D93B46823C1}"/>
              </a:ext>
            </a:extLst>
          </p:cNvPr>
          <p:cNvGraphicFramePr>
            <a:graphicFrameLocks/>
          </p:cNvGraphicFramePr>
          <p:nvPr/>
        </p:nvGraphicFramePr>
        <p:xfrm>
          <a:off x="3994150" y="3617913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35897" name="Objeto 5">
                        <a:extLst>
                          <a:ext uri="{FF2B5EF4-FFF2-40B4-BE49-F238E27FC236}">
                            <a16:creationId xmlns:a16="http://schemas.microsoft.com/office/drawing/2014/main" id="{8D6AE66C-8C0E-CA8D-C087-3D93B46823C1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4150" y="3617913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3B0F23B5-CD43-1318-8110-D08700419F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19475" y="2060575"/>
            <a:ext cx="5040313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Define-se uma nova variável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kern="0" dirty="0">
                <a:latin typeface="Tahoma" panose="020B0604030504040204" pitchFamily="34" charset="0"/>
              </a:rPr>
              <a:t>:</a:t>
            </a:r>
          </a:p>
        </p:txBody>
      </p:sp>
      <p:grpSp>
        <p:nvGrpSpPr>
          <p:cNvPr id="35899" name="Grupo 6">
            <a:extLst>
              <a:ext uri="{FF2B5EF4-FFF2-40B4-BE49-F238E27FC236}">
                <a16:creationId xmlns:a16="http://schemas.microsoft.com/office/drawing/2014/main" id="{5F795F18-F641-F9C4-2AAD-4B0BA75E53E2}"/>
              </a:ext>
            </a:extLst>
          </p:cNvPr>
          <p:cNvGrpSpPr>
            <a:grpSpLocks/>
          </p:cNvGrpSpPr>
          <p:nvPr/>
        </p:nvGrpSpPr>
        <p:grpSpPr bwMode="auto">
          <a:xfrm>
            <a:off x="3779838" y="2700645"/>
            <a:ext cx="3950362" cy="731840"/>
            <a:chOff x="3779912" y="2990267"/>
            <a:chExt cx="3950556" cy="730843"/>
          </a:xfrm>
        </p:grpSpPr>
        <p:graphicFrame>
          <p:nvGraphicFramePr>
            <p:cNvPr id="43149" name="Objeto 10">
              <a:extLst>
                <a:ext uri="{FF2B5EF4-FFF2-40B4-BE49-F238E27FC236}">
                  <a16:creationId xmlns:a16="http://schemas.microsoft.com/office/drawing/2014/main" id="{D9F545C5-F07E-409F-89C0-AD39110EBC2C}"/>
                </a:ext>
              </a:extLst>
            </p:cNvPr>
            <p:cNvGraphicFramePr>
              <a:graphicFrameLocks/>
            </p:cNvGraphicFramePr>
            <p:nvPr/>
          </p:nvGraphicFramePr>
          <p:xfrm>
            <a:off x="3779912" y="2996952"/>
            <a:ext cx="742950" cy="685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495085" imgH="457002" progId="Equation.3">
                    <p:embed/>
                  </p:oleObj>
                </mc:Choice>
                <mc:Fallback>
                  <p:oleObj name="Equação" r:id="rId4" imgW="495085" imgH="457002" progId="Equation.3">
                    <p:embed/>
                    <p:pic>
                      <p:nvPicPr>
                        <p:cNvPr id="43149" name="Objeto 10">
                          <a:extLst>
                            <a:ext uri="{FF2B5EF4-FFF2-40B4-BE49-F238E27FC236}">
                              <a16:creationId xmlns:a16="http://schemas.microsoft.com/office/drawing/2014/main" id="{D9F545C5-F07E-409F-89C0-AD39110EBC2C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79912" y="2996952"/>
                          <a:ext cx="742950" cy="685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2" name="Rectangle 9">
              <a:extLst>
                <a:ext uri="{FF2B5EF4-FFF2-40B4-BE49-F238E27FC236}">
                  <a16:creationId xmlns:a16="http://schemas.microsoft.com/office/drawing/2014/main" id="{04FB19F1-D7E7-A120-6664-3A87280A8D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2990267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A</a:t>
              </a:r>
            </a:p>
          </p:txBody>
        </p:sp>
        <p:sp>
          <p:nvSpPr>
            <p:cNvPr id="13" name="Rectangle 9">
              <a:extLst>
                <a:ext uri="{FF2B5EF4-FFF2-40B4-BE49-F238E27FC236}">
                  <a16:creationId xmlns:a16="http://schemas.microsoft.com/office/drawing/2014/main" id="{71F82C03-19CB-587A-53BB-825D9C47564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90221" y="3339043"/>
              <a:ext cx="3240247" cy="38206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eaLnBrk="1" hangingPunct="1">
                <a:buFontTx/>
                <a:buNone/>
                <a:defRPr/>
              </a:pPr>
              <a:r>
                <a:rPr lang="pt-BR" altLang="pt-BR" sz="1600" kern="0" dirty="0">
                  <a:latin typeface="Tahoma" panose="020B0604030504040204" pitchFamily="34" charset="0"/>
                </a:rPr>
                <a:t>se </a:t>
              </a:r>
              <a:r>
                <a:rPr lang="pt-BR" altLang="pt-BR" sz="1600" i="1" kern="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pt-BR" altLang="pt-BR" sz="1600" kern="0" dirty="0">
                  <a:latin typeface="Tahoma" panose="020B0604030504040204" pitchFamily="34" charset="0"/>
                </a:rPr>
                <a:t> pertencer a Região B</a:t>
              </a:r>
            </a:p>
          </p:txBody>
        </p:sp>
      </p:grpSp>
      <p:sp>
        <p:nvSpPr>
          <p:cNvPr id="9" name="Retângulo 8">
            <a:extLst>
              <a:ext uri="{FF2B5EF4-FFF2-40B4-BE49-F238E27FC236}">
                <a16:creationId xmlns:a16="http://schemas.microsoft.com/office/drawing/2014/main" id="{B06B2C70-A471-2A58-C935-ECE1E6AA0A5A}"/>
              </a:ext>
            </a:extLst>
          </p:cNvPr>
          <p:cNvSpPr/>
          <p:nvPr/>
        </p:nvSpPr>
        <p:spPr>
          <a:xfrm>
            <a:off x="3492500" y="4173538"/>
            <a:ext cx="2299027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A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0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02DDD27F-B617-3173-29DE-FC2AFFA164EA}"/>
              </a:ext>
            </a:extLst>
          </p:cNvPr>
          <p:cNvSpPr/>
          <p:nvPr/>
        </p:nvSpPr>
        <p:spPr>
          <a:xfrm>
            <a:off x="3492500" y="5311775"/>
            <a:ext cx="2278188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Para Região B (</a:t>
            </a:r>
            <a:r>
              <a:rPr lang="pt-BR" altLang="pt-BR" i="1" kern="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i="1" kern="0" baseline="-250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= 1</a:t>
            </a:r>
            <a:r>
              <a:rPr lang="pt-BR" altLang="pt-BR" kern="0" dirty="0">
                <a:solidFill>
                  <a:srgbClr val="000000"/>
                </a:solidFill>
                <a:latin typeface="Tahoma" panose="020B0604030504040204" pitchFamily="34" charset="0"/>
              </a:rPr>
              <a:t>):</a:t>
            </a:r>
            <a:endParaRPr 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35902" name="Objeto 17">
            <a:extLst>
              <a:ext uri="{FF2B5EF4-FFF2-40B4-BE49-F238E27FC236}">
                <a16:creationId xmlns:a16="http://schemas.microsoft.com/office/drawing/2014/main" id="{EC6AFEA6-62B1-E851-1ACF-E6408F0CC0C7}"/>
              </a:ext>
            </a:extLst>
          </p:cNvPr>
          <p:cNvGraphicFramePr>
            <a:graphicFrameLocks/>
          </p:cNvGraphicFramePr>
          <p:nvPr/>
        </p:nvGraphicFramePr>
        <p:xfrm>
          <a:off x="4532313" y="4756150"/>
          <a:ext cx="1716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143000" imgH="228600" progId="Equation.3">
                  <p:embed/>
                </p:oleObj>
              </mc:Choice>
              <mc:Fallback>
                <p:oleObj name="Equação" r:id="rId6" imgW="1143000" imgH="228600" progId="Equation.3">
                  <p:embed/>
                  <p:pic>
                    <p:nvPicPr>
                      <p:cNvPr id="35902" name="Objeto 17">
                        <a:extLst>
                          <a:ext uri="{FF2B5EF4-FFF2-40B4-BE49-F238E27FC236}">
                            <a16:creationId xmlns:a16="http://schemas.microsoft.com/office/drawing/2014/main" id="{EC6AFEA6-62B1-E851-1ACF-E6408F0CC0C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32313" y="4756150"/>
                        <a:ext cx="1716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903" name="Objeto 18">
            <a:extLst>
              <a:ext uri="{FF2B5EF4-FFF2-40B4-BE49-F238E27FC236}">
                <a16:creationId xmlns:a16="http://schemas.microsoft.com/office/drawing/2014/main" id="{1D4C3E80-64B9-5184-47EE-E312D0FCF527}"/>
              </a:ext>
            </a:extLst>
          </p:cNvPr>
          <p:cNvGraphicFramePr>
            <a:graphicFrameLocks/>
          </p:cNvGraphicFramePr>
          <p:nvPr/>
        </p:nvGraphicFramePr>
        <p:xfrm>
          <a:off x="3960813" y="5894388"/>
          <a:ext cx="2859087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905000" imgH="228600" progId="Equation.3">
                  <p:embed/>
                </p:oleObj>
              </mc:Choice>
              <mc:Fallback>
                <p:oleObj name="Equação" r:id="rId8" imgW="1905000" imgH="228600" progId="Equation.3">
                  <p:embed/>
                  <p:pic>
                    <p:nvPicPr>
                      <p:cNvPr id="35903" name="Objeto 18">
                        <a:extLst>
                          <a:ext uri="{FF2B5EF4-FFF2-40B4-BE49-F238E27FC236}">
                            <a16:creationId xmlns:a16="http://schemas.microsoft.com/office/drawing/2014/main" id="{1D4C3E80-64B9-5184-47EE-E312D0FCF527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60813" y="5894388"/>
                        <a:ext cx="2859087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8">
            <a:extLst>
              <a:ext uri="{FF2B5EF4-FFF2-40B4-BE49-F238E27FC236}">
                <a16:creationId xmlns:a16="http://schemas.microsoft.com/office/drawing/2014/main" id="{9EB17758-C44C-2A30-A37B-188E915A5A08}"/>
              </a:ext>
            </a:extLst>
          </p:cNvPr>
          <p:cNvGraphicFramePr>
            <a:graphicFrameLocks/>
          </p:cNvGraphicFramePr>
          <p:nvPr/>
        </p:nvGraphicFramePr>
        <p:xfrm>
          <a:off x="4302125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660113" imgH="469696" progId="Equation.3">
                  <p:embed/>
                </p:oleObj>
              </mc:Choice>
              <mc:Fallback>
                <p:oleObj name="Equação" r:id="rId10" imgW="660113" imgH="469696" progId="Equation.3">
                  <p:embed/>
                  <p:pic>
                    <p:nvPicPr>
                      <p:cNvPr id="16" name="Objeto 18">
                        <a:extLst>
                          <a:ext uri="{FF2B5EF4-FFF2-40B4-BE49-F238E27FC236}">
                            <a16:creationId xmlns:a16="http://schemas.microsoft.com/office/drawing/2014/main" id="{9EB17758-C44C-2A30-A37B-188E915A5A08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02125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" name="Objeto 1">
            <a:extLst>
              <a:ext uri="{FF2B5EF4-FFF2-40B4-BE49-F238E27FC236}">
                <a16:creationId xmlns:a16="http://schemas.microsoft.com/office/drawing/2014/main" id="{55D15D7C-B9EE-A79D-9B82-B3FB4DA986AF}"/>
              </a:ext>
            </a:extLst>
          </p:cNvPr>
          <p:cNvGraphicFramePr>
            <a:graphicFrameLocks/>
          </p:cNvGraphicFramePr>
          <p:nvPr/>
        </p:nvGraphicFramePr>
        <p:xfrm>
          <a:off x="5310188" y="5922963"/>
          <a:ext cx="990600" cy="704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660113" imgH="469696" progId="Equation.3">
                  <p:embed/>
                </p:oleObj>
              </mc:Choice>
              <mc:Fallback>
                <p:oleObj name="Equação" r:id="rId12" imgW="660113" imgH="469696" progId="Equation.3">
                  <p:embed/>
                  <p:pic>
                    <p:nvPicPr>
                      <p:cNvPr id="2" name="Objeto 1">
                        <a:extLst>
                          <a:ext uri="{FF2B5EF4-FFF2-40B4-BE49-F238E27FC236}">
                            <a16:creationId xmlns:a16="http://schemas.microsoft.com/office/drawing/2014/main" id="{55D15D7C-B9EE-A79D-9B82-B3FB4DA986A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10188" y="5922963"/>
                        <a:ext cx="990600" cy="704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4799835-1543-FEF5-4986-224CF19259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821FC86-08EB-43E7-95AF-571782B6A6FC}" type="slidenum">
              <a:rPr lang="pt-BR"/>
              <a:pPr>
                <a:defRPr/>
              </a:pPr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13264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9" grpId="0"/>
      <p:bldP spid="17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4035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4035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" name="Rectangle 9"/>
          <p:cNvSpPr txBox="1">
            <a:spLocks noChangeArrowheads="1"/>
          </p:cNvSpPr>
          <p:nvPr/>
        </p:nvSpPr>
        <p:spPr bwMode="auto">
          <a:xfrm>
            <a:off x="3419475" y="2924175"/>
            <a:ext cx="5184775" cy="10810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Conclusões possíveis:</a:t>
            </a:r>
          </a:p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=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ambas regiões possuem a mesma regressão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2" name="Rectangle 9"/>
          <p:cNvSpPr txBox="1">
            <a:spLocks noChangeArrowheads="1"/>
          </p:cNvSpPr>
          <p:nvPr/>
        </p:nvSpPr>
        <p:spPr bwMode="auto">
          <a:xfrm>
            <a:off x="3419475" y="4221088"/>
            <a:ext cx="5184775" cy="107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2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intercepto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23" name="Rectangle 9"/>
          <p:cNvSpPr txBox="1">
            <a:spLocks noChangeArrowheads="1"/>
          </p:cNvSpPr>
          <p:nvPr/>
        </p:nvSpPr>
        <p:spPr bwMode="auto">
          <a:xfrm>
            <a:off x="3419475" y="5084763"/>
            <a:ext cx="5184775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lnSpc>
                <a:spcPct val="150000"/>
              </a:lnSpc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Se </a:t>
            </a:r>
            <a:r>
              <a:rPr lang="pt-BR" altLang="pt-BR" sz="1600" i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</a:t>
            </a:r>
            <a:r>
              <a:rPr lang="pt-BR" altLang="pt-BR" sz="1600" kern="0" baseline="-2500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kern="0" dirty="0"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  0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, então as regressões diferem-se entre si pelo coeficiente angular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0526363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00951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382338C-BC6B-4F79-A4CA-EAD65077BB1F}" type="slidenum">
              <a:rPr lang="pt-BR"/>
              <a:pPr>
                <a:defRPr/>
              </a:pPr>
              <a:t>64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  <p:bldP spid="2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45059" name="Objeto 5"/>
          <p:cNvGraphicFramePr>
            <a:graphicFrameLocks/>
          </p:cNvGraphicFramePr>
          <p:nvPr/>
        </p:nvGraphicFramePr>
        <p:xfrm>
          <a:off x="3851275" y="2349500"/>
          <a:ext cx="32416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159000" imgH="228600" progId="Equation.3">
                  <p:embed/>
                </p:oleObj>
              </mc:Choice>
              <mc:Fallback>
                <p:oleObj name="Equação" r:id="rId2" imgW="2159000" imgH="228600" progId="Equation.3">
                  <p:embed/>
                  <p:pic>
                    <p:nvPicPr>
                      <p:cNvPr id="45059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32416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9176491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1771657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XW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7692,29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2564,10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1499,97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8,9E-22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30,77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1116014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8,77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6,86E-09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3,94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40,84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3,36E-19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423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-5,38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1,14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-4,70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9944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XW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0,1915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7" name="Grupo 6"/>
          <p:cNvGrpSpPr>
            <a:grpSpLocks/>
          </p:cNvGrpSpPr>
          <p:nvPr/>
        </p:nvGrpSpPr>
        <p:grpSpPr bwMode="auto">
          <a:xfrm>
            <a:off x="6075363" y="2314575"/>
            <a:ext cx="647700" cy="431800"/>
            <a:chOff x="6088360" y="2353072"/>
            <a:chExt cx="648072" cy="432048"/>
          </a:xfrm>
        </p:grpSpPr>
        <p:cxnSp>
          <p:nvCxnSpPr>
            <p:cNvPr id="45258" name="Conector reto 5"/>
            <p:cNvCxnSpPr>
              <a:cxnSpLocks noChangeShapeType="1"/>
            </p:cNvCxnSpPr>
            <p:nvPr/>
          </p:nvCxnSpPr>
          <p:spPr bwMode="auto">
            <a:xfrm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5259" name="Conector reto 15"/>
            <p:cNvCxnSpPr>
              <a:cxnSpLocks noChangeShapeType="1"/>
            </p:cNvCxnSpPr>
            <p:nvPr/>
          </p:nvCxnSpPr>
          <p:spPr bwMode="auto">
            <a:xfrm flipH="1">
              <a:off x="6088360" y="2353072"/>
              <a:ext cx="648072" cy="432048"/>
            </a:xfrm>
            <a:prstGeom prst="lin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5" name="Grupo 4"/>
          <p:cNvGrpSpPr>
            <a:grpSpLocks/>
          </p:cNvGrpSpPr>
          <p:nvPr/>
        </p:nvGrpSpPr>
        <p:grpSpPr bwMode="auto">
          <a:xfrm>
            <a:off x="6161088" y="5237163"/>
            <a:ext cx="2820987" cy="307975"/>
            <a:chOff x="6161088" y="5237748"/>
            <a:chExt cx="2820843" cy="307777"/>
          </a:xfrm>
        </p:grpSpPr>
        <p:sp>
          <p:nvSpPr>
            <p:cNvPr id="45256" name="Elipse 13"/>
            <p:cNvSpPr>
              <a:spLocks noChangeArrowheads="1"/>
            </p:cNvSpPr>
            <p:nvPr/>
          </p:nvSpPr>
          <p:spPr bwMode="auto">
            <a:xfrm>
              <a:off x="6161088" y="5267325"/>
              <a:ext cx="684212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7" name="Retângulo 1"/>
            <p:cNvSpPr>
              <a:spLocks noChangeArrowheads="1"/>
            </p:cNvSpPr>
            <p:nvPr/>
          </p:nvSpPr>
          <p:spPr bwMode="auto">
            <a:xfrm>
              <a:off x="6823968" y="5237748"/>
              <a:ext cx="2157963" cy="30777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não significativo (</a:t>
              </a:r>
              <a:r>
                <a:rPr lang="pt-BR" altLang="pt-BR" sz="1400" i="1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</a:t>
              </a:r>
              <a:r>
                <a:rPr lang="pt-BR" altLang="pt-BR" sz="1400" baseline="-25000" dirty="0">
                  <a:solidFill>
                    <a:srgbClr val="FF0000"/>
                  </a:solidFill>
                  <a:latin typeface="Times New Roman" charset="0"/>
                  <a:cs typeface="Times New Roman" charset="0"/>
                  <a:sym typeface="Symbol" pitchFamily="18" charset="2"/>
                </a:rPr>
                <a:t>3</a:t>
              </a:r>
              <a:r>
                <a:rPr lang="pt-BR" altLang="pt-BR" sz="1400" dirty="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 = 0</a:t>
              </a: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)</a:t>
              </a:r>
            </a:p>
          </p:txBody>
        </p:sp>
      </p:grpSp>
      <p:grpSp>
        <p:nvGrpSpPr>
          <p:cNvPr id="16" name="Grupo 15"/>
          <p:cNvGrpSpPr>
            <a:grpSpLocks/>
          </p:cNvGrpSpPr>
          <p:nvPr/>
        </p:nvGrpSpPr>
        <p:grpSpPr bwMode="auto">
          <a:xfrm>
            <a:off x="6700838" y="3268664"/>
            <a:ext cx="1796221" cy="523220"/>
            <a:chOff x="5426075" y="4546680"/>
            <a:chExt cx="1795452" cy="523818"/>
          </a:xfrm>
        </p:grpSpPr>
        <p:sp>
          <p:nvSpPr>
            <p:cNvPr id="45254" name="Elipse 9"/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255" name="Retângulo 11"/>
            <p:cNvSpPr>
              <a:spLocks noChangeArrowheads="1"/>
            </p:cNvSpPr>
            <p:nvPr/>
          </p:nvSpPr>
          <p:spPr bwMode="auto">
            <a:xfrm>
              <a:off x="6110288" y="4546680"/>
              <a:ext cx="1111239" cy="52381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4A4A6D-B92D-42AE-B7F4-FBB808383CA3}" type="slidenum">
              <a:rPr lang="pt-BR"/>
              <a:pPr>
                <a:defRPr/>
              </a:pPr>
              <a:t>65</a:t>
            </a:fld>
            <a:endParaRPr lang="pt-BR"/>
          </a:p>
        </p:txBody>
      </p:sp>
      <p:sp>
        <p:nvSpPr>
          <p:cNvPr id="18" name="Retângulo 6"/>
          <p:cNvSpPr>
            <a:spLocks noChangeArrowheads="1"/>
          </p:cNvSpPr>
          <p:nvPr/>
        </p:nvSpPr>
        <p:spPr bwMode="auto">
          <a:xfrm>
            <a:off x="3491879" y="5796553"/>
            <a:ext cx="489654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Elimina-se o termo </a:t>
            </a:r>
            <a:r>
              <a:rPr lang="pt-BR" altLang="pt-BR" sz="1600" i="1" dirty="0">
                <a:solidFill>
                  <a:schemeClr val="tx2"/>
                </a:solidFill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/>
              </a:rPr>
              <a:t>3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pt-BR" altLang="pt-BR" sz="1600" i="1" baseline="-25000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e refaz-se a análise...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Comparação de modelos</a:t>
            </a:r>
          </a:p>
        </p:txBody>
      </p:sp>
      <p:graphicFrame>
        <p:nvGraphicFramePr>
          <p:cNvPr id="10" name="Tabela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793497"/>
              </p:ext>
            </p:extLst>
          </p:nvPr>
        </p:nvGraphicFramePr>
        <p:xfrm>
          <a:off x="468313" y="1989138"/>
          <a:ext cx="1219200" cy="4419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17,69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27,48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39,73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60,71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65,65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4,17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16,23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23,28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5,13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34,33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6,97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35,93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9,53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48,57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11,08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53,37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12,36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58,11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13,64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63,21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64,67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14,96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11" name="Tabela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5409412"/>
              </p:ext>
            </p:extLst>
          </p:nvPr>
        </p:nvGraphicFramePr>
        <p:xfrm>
          <a:off x="468313" y="1989138"/>
          <a:ext cx="2438400" cy="44196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8600">
                <a:tc rowSpan="2"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 vMerge="1"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3708400" y="3068638"/>
          <a:ext cx="3657600" cy="9715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gl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7689,14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3844,57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2153,57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4,03E-23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33,92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7723,06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4" name="Tabela 3"/>
          <p:cNvGraphicFramePr>
            <a:graphicFrameLocks noGrp="1"/>
          </p:cNvGraphicFramePr>
          <p:nvPr/>
        </p:nvGraphicFramePr>
        <p:xfrm>
          <a:off x="3708400" y="4365625"/>
          <a:ext cx="3119438" cy="915989"/>
        </p:xfrm>
        <a:graphic>
          <a:graphicData uri="http://schemas.openxmlformats.org/drawingml/2006/table">
            <a:tbl>
              <a:tblPr/>
              <a:tblGrid>
                <a:gridCol w="6814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39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660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48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801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Coeficientes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Erro padrão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t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valor-P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Interseção</a:t>
                      </a: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7,97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12,41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1,46E-10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4,04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65,56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7,44E-24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396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</a:t>
                      </a:r>
                      <a:endParaRPr lang="pt-BR" sz="1100" b="0" i="0" u="none" strike="noStrike" baseline="-25000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6" marR="9526" marT="9534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-4,03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0,57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-7,03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1,09E-06</a:t>
                      </a:r>
                    </a:p>
                  </a:txBody>
                  <a:tcPr marL="9523" marR="9523" marT="9521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46268" name="Objeto 5"/>
          <p:cNvGraphicFramePr>
            <a:graphicFrameLocks/>
          </p:cNvGraphicFramePr>
          <p:nvPr/>
        </p:nvGraphicFramePr>
        <p:xfrm>
          <a:off x="3851275" y="2349500"/>
          <a:ext cx="2365375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574800" imgH="228600" progId="Equation.3">
                  <p:embed/>
                </p:oleObj>
              </mc:Choice>
              <mc:Fallback>
                <p:oleObj name="Equação" r:id="rId2" imgW="1574800" imgH="228600" progId="Equation.3">
                  <p:embed/>
                  <p:pic>
                    <p:nvPicPr>
                      <p:cNvPr id="46268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851275" y="2349500"/>
                        <a:ext cx="2365375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" name="Retângulo 6"/>
          <p:cNvSpPr>
            <a:spLocks noChangeArrowheads="1"/>
          </p:cNvSpPr>
          <p:nvPr/>
        </p:nvSpPr>
        <p:spPr bwMode="auto">
          <a:xfrm>
            <a:off x="2555875" y="5519738"/>
            <a:ext cx="6337300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Conclusão: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a 5% de significância, as regressões de ambas regiões possuem o mesmo coeficiente angular. Elas diferem-se apenas pelo intercepto.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Em média, as estimativas de </a:t>
            </a:r>
            <a:r>
              <a:rPr lang="pt-BR" altLang="pt-BR" sz="1600" i="1" dirty="0">
                <a:solidFill>
                  <a:schemeClr val="tx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solidFill>
                  <a:schemeClr val="tx2"/>
                </a:solidFill>
                <a:latin typeface="Tahoma" panose="020B0604030504040204" pitchFamily="34" charset="0"/>
              </a:rPr>
              <a:t> para a região B são menores que para a região A em 4,03 unidades.</a:t>
            </a:r>
          </a:p>
        </p:txBody>
      </p:sp>
      <p:sp>
        <p:nvSpPr>
          <p:cNvPr id="20" name="Elipse 19"/>
          <p:cNvSpPr>
            <a:spLocks noChangeArrowheads="1"/>
          </p:cNvSpPr>
          <p:nvPr/>
        </p:nvSpPr>
        <p:spPr bwMode="auto">
          <a:xfrm>
            <a:off x="4427538" y="5084763"/>
            <a:ext cx="684212" cy="238125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7097E8-09FB-42B8-B0F5-DC7A278B9ECB}" type="slidenum">
              <a:rPr lang="pt-BR"/>
              <a:pPr>
                <a:defRPr/>
              </a:pPr>
              <a:t>66</a:t>
            </a:fld>
            <a:endParaRPr lang="pt-BR" dirty="0"/>
          </a:p>
        </p:txBody>
      </p:sp>
      <p:grpSp>
        <p:nvGrpSpPr>
          <p:cNvPr id="12" name="Grupo 11"/>
          <p:cNvGrpSpPr/>
          <p:nvPr/>
        </p:nvGrpSpPr>
        <p:grpSpPr>
          <a:xfrm>
            <a:off x="6128880" y="4855512"/>
            <a:ext cx="2537475" cy="523220"/>
            <a:chOff x="6358552" y="4042240"/>
            <a:chExt cx="2537475" cy="523220"/>
          </a:xfrm>
        </p:grpSpPr>
        <p:sp>
          <p:nvSpPr>
            <p:cNvPr id="13" name="Elipse 57"/>
            <p:cNvSpPr>
              <a:spLocks noChangeArrowheads="1"/>
            </p:cNvSpPr>
            <p:nvPr/>
          </p:nvSpPr>
          <p:spPr bwMode="auto">
            <a:xfrm>
              <a:off x="6358552" y="4086952"/>
              <a:ext cx="774195" cy="422168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" name="Retângulo 13"/>
            <p:cNvSpPr>
              <a:spLocks noChangeArrowheads="1"/>
            </p:cNvSpPr>
            <p:nvPr/>
          </p:nvSpPr>
          <p:spPr bwMode="auto">
            <a:xfrm>
              <a:off x="7125478" y="4042240"/>
              <a:ext cx="1770549" cy="5232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ambos significativos</a:t>
              </a:r>
            </a:p>
            <a:p>
              <a:pPr algn="ct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400" dirty="0">
                  <a:solidFill>
                    <a:srgbClr val="FF0000"/>
                  </a:solidFill>
                  <a:latin typeface="Tahoma" panose="020B0604030504040204" pitchFamily="34" charset="0"/>
                </a:rPr>
                <a:t>a 5%</a:t>
              </a:r>
            </a:p>
          </p:txBody>
        </p:sp>
      </p:grpSp>
      <p:grpSp>
        <p:nvGrpSpPr>
          <p:cNvPr id="6" name="Grupo 5"/>
          <p:cNvGrpSpPr/>
          <p:nvPr/>
        </p:nvGrpSpPr>
        <p:grpSpPr>
          <a:xfrm>
            <a:off x="6539547" y="1442170"/>
            <a:ext cx="2483358" cy="1811342"/>
            <a:chOff x="6539547" y="1442170"/>
            <a:chExt cx="2483358" cy="1811342"/>
          </a:xfrm>
        </p:grpSpPr>
        <p:pic>
          <p:nvPicPr>
            <p:cNvPr id="46487" name="Picture 407"/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9547" y="1442170"/>
              <a:ext cx="2353628" cy="181134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rgbClr val="FF0000"/>
                      </a:solidFill>
                      <a:latin typeface="Tahoma" panose="020B0604030504040204" pitchFamily="34" charset="0"/>
                    </a:rPr>
                    <a:t>Região A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rgbClr val="FF0000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rgbClr val="FF0000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+ 7,97</m:t>
                        </m:r>
                      </m:oMath>
                    </m:oMathPara>
                  </a14:m>
                  <a:endParaRPr lang="pt-BR" sz="1200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17447" y="1556829"/>
                  <a:ext cx="1324402" cy="48378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Retângulo 20"/>
                <p:cNvSpPr/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algn="ctr" fontAlgn="b"/>
                  <a:r>
                    <a:rPr lang="pt-BR" sz="1200" dirty="0">
                      <a:solidFill>
                        <a:schemeClr val="accent6"/>
                      </a:solidFill>
                      <a:latin typeface="Tahoma" panose="020B0604030504040204" pitchFamily="34" charset="0"/>
                    </a:rPr>
                    <a:t>Região B</a:t>
                  </a:r>
                </a:p>
                <a:p>
                  <a:pPr algn="ctr" fontAlgn="b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200" i="1" dirty="0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pt-BR" sz="1200" b="0" i="1" dirty="0" smtClean="0">
                                <a:solidFill>
                                  <a:schemeClr val="accent6"/>
                                </a:solidFill>
                                <a:latin typeface="Cambria Math"/>
                                <a:cs typeface="Times New Roman" panose="02020603050405020304" pitchFamily="18" charset="0"/>
                              </a:rPr>
                              <m:t>𝑌</m:t>
                            </m:r>
                          </m:e>
                        </m:acc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= 4,04</m:t>
                        </m:r>
                        <m:r>
                          <m:rPr>
                            <m:nor/>
                          </m:rPr>
                          <a:rPr lang="pt-BR" sz="1200" i="1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X</m:t>
                        </m:r>
                        <m:r>
                          <m:rPr>
                            <m:nor/>
                          </m:rPr>
                          <a:rPr lang="pt-BR" sz="1200" dirty="0">
                            <a:solidFill>
                              <a:schemeClr val="accent6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m:t> + 3,94</m:t>
                        </m:r>
                      </m:oMath>
                    </m:oMathPara>
                  </a14:m>
                  <a:endParaRPr lang="pt-BR" sz="1200" dirty="0">
                    <a:solidFill>
                      <a:schemeClr val="accent6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Retângulo 20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42811" y="2347841"/>
                  <a:ext cx="1280094" cy="466666"/>
                </a:xfrm>
                <a:prstGeom prst="rect">
                  <a:avLst/>
                </a:prstGeom>
                <a:blipFill>
                  <a:blip r:embed="rId6"/>
                  <a:stretch>
                    <a:fillRect b="-1299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34138"/>
            <a:ext cx="1905000" cy="457200"/>
          </a:xfrm>
        </p:spPr>
        <p:txBody>
          <a:bodyPr/>
          <a:lstStyle/>
          <a:p>
            <a:pPr>
              <a:defRPr/>
            </a:pPr>
            <a:fld id="{159EC266-2BE8-4058-AA87-83F72D27FD50}" type="slidenum">
              <a:rPr lang="pt-BR"/>
              <a:pPr>
                <a:defRPr/>
              </a:pPr>
              <a:t>67</a:t>
            </a:fld>
            <a:endParaRPr lang="pt-BR"/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96DF6D08-9579-168A-FE3A-F8007AEAED1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Variáveis Indicadoras – Mudanças estruturais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>
                <a:extLst>
                  <a:ext uri="{FF2B5EF4-FFF2-40B4-BE49-F238E27FC236}">
                    <a16:creationId xmlns:a16="http://schemas.microsoft.com/office/drawing/2014/main" id="{E3B3EC85-B1FA-A986-9DF7-036354E2207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7727327"/>
                  </p:ext>
                </p:extLst>
              </p:nvPr>
            </p:nvGraphicFramePr>
            <p:xfrm>
              <a:off x="395536" y="1556792"/>
              <a:ext cx="12192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151445281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65316452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t="-3226" r="-100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000" t="-3226" r="-1000" b="-226774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274304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104,93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0,75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761629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105,75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3,11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1282029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119,19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5,33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5979068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113,34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7,27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41308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125,02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8,12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352497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124,23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9,59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88786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132,58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198514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133,82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12,84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55602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143,09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16,49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0269367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152,37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18,21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3213645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138,34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824511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126,91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4919917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122,30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6533866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106,38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7843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112,40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677528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81,85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82558941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78,82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4718758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70,81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181625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61,85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1696301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45,15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650371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30,73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5752176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4,14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840011296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9" name="Imagem 8">
            <a:extLst>
              <a:ext uri="{FF2B5EF4-FFF2-40B4-BE49-F238E27FC236}">
                <a16:creationId xmlns:a16="http://schemas.microsoft.com/office/drawing/2014/main" id="{1141176F-6751-E989-32EE-25216B0F7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1921" y="1793148"/>
            <a:ext cx="3675108" cy="2211916"/>
          </a:xfrm>
          <a:prstGeom prst="rect">
            <a:avLst/>
          </a:prstGeom>
        </p:spPr>
      </p:pic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B0369D4E-6729-4524-CB35-A135D64F6B00}"/>
              </a:ext>
            </a:extLst>
          </p:cNvPr>
          <p:cNvCxnSpPr/>
          <p:nvPr/>
        </p:nvCxnSpPr>
        <p:spPr bwMode="auto">
          <a:xfrm flipV="1">
            <a:off x="4383072" y="1890912"/>
            <a:ext cx="1560602" cy="635801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8B0B1850-9897-B8AC-4CA7-E62830775997}"/>
              </a:ext>
            </a:extLst>
          </p:cNvPr>
          <p:cNvCxnSpPr>
            <a:cxnSpLocks/>
          </p:cNvCxnSpPr>
          <p:nvPr/>
        </p:nvCxnSpPr>
        <p:spPr bwMode="auto">
          <a:xfrm>
            <a:off x="5540622" y="1773070"/>
            <a:ext cx="1618402" cy="1791802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2950F74F-4BF5-72F5-8D00-7953FF582D45}"/>
              </a:ext>
            </a:extLst>
          </p:cNvPr>
          <p:cNvCxnSpPr/>
          <p:nvPr/>
        </p:nvCxnSpPr>
        <p:spPr bwMode="auto">
          <a:xfrm flipV="1">
            <a:off x="5858619" y="1800250"/>
            <a:ext cx="0" cy="172800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 panose="02020603050405020304" pitchFamily="18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1" name="Tabela 20">
                <a:extLst>
                  <a:ext uri="{FF2B5EF4-FFF2-40B4-BE49-F238E27FC236}">
                    <a16:creationId xmlns:a16="http://schemas.microsoft.com/office/drawing/2014/main" id="{F45789E5-8CE0-1281-4FE2-78F5A99220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96816758"/>
                  </p:ext>
                </p:extLst>
              </p:nvPr>
            </p:nvGraphicFramePr>
            <p:xfrm>
              <a:off x="1616972" y="1556792"/>
              <a:ext cx="1828800" cy="43815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168992459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3918009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3848327875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" t="-12903" r="-20100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0000" t="-12903" r="-99010" b="-22677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Trecho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0438875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7093954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16229744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0802211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2301746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865633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7603932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9002285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91156798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51735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&lt;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4332361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20,81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420006812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21,03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7545733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21,98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9894046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23,15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0450992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24,00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690653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26,45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1015707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27,52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50159599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27,80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8625859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28,97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347287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31,96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52753232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32,87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7864382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1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Times New Roman" panose="02020603050405020304" pitchFamily="18" charset="0"/>
                            </a:rPr>
                            <a:t>36,54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>
                          <a:noFill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Aptos Narrow" panose="020B0004020202020204" pitchFamily="34" charset="0"/>
                            </a:rPr>
                            <a:t>X &gt;= 20</a:t>
                          </a:r>
                        </a:p>
                      </a:txBody>
                      <a:tcPr marL="9525" marR="9525" marT="9525" marB="0" anchor="b">
                        <a:lnL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954482037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/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0" lang="pt-BR" sz="12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kumimoji="0" lang="pt-BR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22" name="CaixaDeTexto 21">
                <a:extLst>
                  <a:ext uri="{FF2B5EF4-FFF2-40B4-BE49-F238E27FC236}">
                    <a16:creationId xmlns:a16="http://schemas.microsoft.com/office/drawing/2014/main" id="{644484AE-3948-85F8-ED83-A11BBF03E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1920" y="1470695"/>
                <a:ext cx="2736304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3" name="Tabela 22">
            <a:extLst>
              <a:ext uri="{FF2B5EF4-FFF2-40B4-BE49-F238E27FC236}">
                <a16:creationId xmlns:a16="http://schemas.microsoft.com/office/drawing/2014/main" id="{B9AFC298-9074-82ED-035D-CAAB37B479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8634336"/>
              </p:ext>
            </p:extLst>
          </p:nvPr>
        </p:nvGraphicFramePr>
        <p:xfrm>
          <a:off x="3832548" y="4138757"/>
          <a:ext cx="3384376" cy="971550"/>
        </p:xfrm>
        <a:graphic>
          <a:graphicData uri="http://schemas.openxmlformats.org/drawingml/2006/table">
            <a:tbl>
              <a:tblPr/>
              <a:tblGrid>
                <a:gridCol w="624071">
                  <a:extLst>
                    <a:ext uri="{9D8B030D-6E8A-4147-A177-3AD203B41FA5}">
                      <a16:colId xmlns:a16="http://schemas.microsoft.com/office/drawing/2014/main" val="3303130169"/>
                    </a:ext>
                  </a:extLst>
                </a:gridCol>
                <a:gridCol w="475421">
                  <a:extLst>
                    <a:ext uri="{9D8B030D-6E8A-4147-A177-3AD203B41FA5}">
                      <a16:colId xmlns:a16="http://schemas.microsoft.com/office/drawing/2014/main" val="3095921303"/>
                    </a:ext>
                  </a:extLst>
                </a:gridCol>
                <a:gridCol w="628701">
                  <a:extLst>
                    <a:ext uri="{9D8B030D-6E8A-4147-A177-3AD203B41FA5}">
                      <a16:colId xmlns:a16="http://schemas.microsoft.com/office/drawing/2014/main" val="3713098706"/>
                    </a:ext>
                  </a:extLst>
                </a:gridCol>
                <a:gridCol w="595435">
                  <a:extLst>
                    <a:ext uri="{9D8B030D-6E8A-4147-A177-3AD203B41FA5}">
                      <a16:colId xmlns:a16="http://schemas.microsoft.com/office/drawing/2014/main" val="428978137"/>
                    </a:ext>
                  </a:extLst>
                </a:gridCol>
                <a:gridCol w="508687">
                  <a:extLst>
                    <a:ext uri="{9D8B030D-6E8A-4147-A177-3AD203B41FA5}">
                      <a16:colId xmlns:a16="http://schemas.microsoft.com/office/drawing/2014/main" val="3616670228"/>
                    </a:ext>
                  </a:extLst>
                </a:gridCol>
                <a:gridCol w="552061">
                  <a:extLst>
                    <a:ext uri="{9D8B030D-6E8A-4147-A177-3AD203B41FA5}">
                      <a16:colId xmlns:a16="http://schemas.microsoft.com/office/drawing/2014/main" val="2459258828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ANOVA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7388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gl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SQ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MQ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valor-P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93306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Regressão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31224,24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10408,08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600,75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3,17E-18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46840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Resíduo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311,85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17,32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Tahoma" panose="020B0604030504040204" pitchFamily="34" charset="0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6656900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l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Total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31536,09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ahoma" panose="020B0604030504040204" pitchFamily="34" charset="0"/>
                          <a:cs typeface="Calibri" panose="020F050202020403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131786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190500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oMath>
                            </m:oMathPara>
                          </a14:m>
                          <a:endParaRPr lang="pt-BR" sz="1100" b="0" i="0" u="none" strike="noStrike" baseline="-25000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kumimoji="0" lang="pt-BR" sz="11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𝑋𝑊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Calibri" panose="020F0502020204030204" pitchFamily="34" charset="0"/>
                            <a:cs typeface="Calibri" panose="020F0502020204030204" pitchFamily="34" charset="0"/>
                          </a:endParaRP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Tabela 23">
                <a:extLst>
                  <a:ext uri="{FF2B5EF4-FFF2-40B4-BE49-F238E27FC236}">
                    <a16:creationId xmlns:a16="http://schemas.microsoft.com/office/drawing/2014/main" id="{593F91A4-DA96-728E-716A-63DB30D5458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76275"/>
                  </p:ext>
                </p:extLst>
              </p:nvPr>
            </p:nvGraphicFramePr>
            <p:xfrm>
              <a:off x="3832548" y="5192990"/>
              <a:ext cx="3083496" cy="1116330"/>
            </p:xfrm>
            <a:graphic>
              <a:graphicData uri="http://schemas.openxmlformats.org/drawingml/2006/table">
                <a:tbl>
                  <a:tblPr/>
                  <a:tblGrid>
                    <a:gridCol w="645096">
                      <a:extLst>
                        <a:ext uri="{9D8B030D-6E8A-4147-A177-3AD203B41FA5}">
                          <a16:colId xmlns:a16="http://schemas.microsoft.com/office/drawing/2014/main" val="2812098504"/>
                        </a:ext>
                      </a:extLst>
                    </a:gridCol>
                    <a:gridCol w="705619">
                      <a:extLst>
                        <a:ext uri="{9D8B030D-6E8A-4147-A177-3AD203B41FA5}">
                          <a16:colId xmlns:a16="http://schemas.microsoft.com/office/drawing/2014/main" val="1135360606"/>
                        </a:ext>
                      </a:extLst>
                    </a:gridCol>
                    <a:gridCol w="513581">
                      <a:extLst>
                        <a:ext uri="{9D8B030D-6E8A-4147-A177-3AD203B41FA5}">
                          <a16:colId xmlns:a16="http://schemas.microsoft.com/office/drawing/2014/main" val="3349889245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42514837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891447214"/>
                        </a:ext>
                      </a:extLst>
                    </a:gridCol>
                  </a:tblGrid>
                  <a:tr h="34480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 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Coeficientes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Erro padrão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Stat t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valor-P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5022197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l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Interseção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100,28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2,66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37,67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1,41E-18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30917231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293750" r="-379245" b="-24375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2,70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0,25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10,87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2,43E-9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35012229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blipFill>
                          <a:blip r:embed="rId6"/>
                          <a:stretch>
                            <a:fillRect t="-406452" r="-379245" b="-1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202,24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7,33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27,60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3,49E-16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>
                          <a:noFill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660257649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6"/>
                          <a:stretch>
                            <a:fillRect t="-475758" r="-379245" b="-4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-10,90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0,35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-30,97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 panose="020F0502020204030204" pitchFamily="34" charset="0"/>
                              <a:cs typeface="Calibri" panose="020F0502020204030204" pitchFamily="34" charset="0"/>
                            </a:rPr>
                            <a:t>4,56E-17</a:t>
                          </a:r>
                        </a:p>
                      </a:txBody>
                      <a:tcPr marL="9525" marR="9525" marT="9525" marB="0" anchor="b">
                        <a:lnL>
                          <a:noFill/>
                        </a:lnL>
                        <a:lnR>
                          <a:noFill/>
                        </a:lnR>
                        <a:lnT>
                          <a:noFill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778475942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25" name="Grupo 15">
            <a:extLst>
              <a:ext uri="{FF2B5EF4-FFF2-40B4-BE49-F238E27FC236}">
                <a16:creationId xmlns:a16="http://schemas.microsoft.com/office/drawing/2014/main" id="{ABE9BB83-BA61-0BC3-66A1-B13F12561AA6}"/>
              </a:ext>
            </a:extLst>
          </p:cNvPr>
          <p:cNvGrpSpPr>
            <a:grpSpLocks/>
          </p:cNvGrpSpPr>
          <p:nvPr/>
        </p:nvGrpSpPr>
        <p:grpSpPr bwMode="auto">
          <a:xfrm>
            <a:off x="6588117" y="4530732"/>
            <a:ext cx="1295903" cy="626456"/>
            <a:chOff x="5426075" y="4724400"/>
            <a:chExt cx="1295348" cy="627172"/>
          </a:xfrm>
        </p:grpSpPr>
        <p:sp>
          <p:nvSpPr>
            <p:cNvPr id="26" name="Elipse 9">
              <a:extLst>
                <a:ext uri="{FF2B5EF4-FFF2-40B4-BE49-F238E27FC236}">
                  <a16:creationId xmlns:a16="http://schemas.microsoft.com/office/drawing/2014/main" id="{ACB28AA8-EEF8-4FF9-6925-6AC510320E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6075" y="4724400"/>
              <a:ext cx="684213" cy="238125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7" name="Retângulo 11">
              <a:extLst>
                <a:ext uri="{FF2B5EF4-FFF2-40B4-BE49-F238E27FC236}">
                  <a16:creationId xmlns:a16="http://schemas.microsoft.com/office/drawing/2014/main" id="{9BA6BFE0-E11C-0178-BDB3-1BBA9E22D7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0986" y="4920193"/>
              <a:ext cx="910437" cy="43137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altamente</a:t>
              </a:r>
            </a:p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100" dirty="0">
                  <a:solidFill>
                    <a:srgbClr val="FF0000"/>
                  </a:solidFill>
                  <a:latin typeface="Tahoma" panose="020B0604030504040204" pitchFamily="34" charset="0"/>
                </a:rPr>
                <a:t>significativo</a:t>
              </a:r>
            </a:p>
          </p:txBody>
        </p:sp>
      </p:grpSp>
      <p:sp>
        <p:nvSpPr>
          <p:cNvPr id="28" name="Elipse 9">
            <a:extLst>
              <a:ext uri="{FF2B5EF4-FFF2-40B4-BE49-F238E27FC236}">
                <a16:creationId xmlns:a16="http://schemas.microsoft.com/office/drawing/2014/main" id="{EE0C8DF6-E120-BB7C-D3AA-FEDCE3E9D8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1581" y="5519997"/>
            <a:ext cx="864096" cy="872006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6A4C2F01-8891-E190-9682-7E037446A7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51921" y="1793148"/>
            <a:ext cx="3675600" cy="22092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4A34607E-7139-4082-F91C-5BA4C50EC41D}"/>
                  </a:ext>
                </a:extLst>
              </p:cNvPr>
              <p:cNvSpPr/>
              <p:nvPr/>
            </p:nvSpPr>
            <p:spPr>
              <a:xfrm>
                <a:off x="4472634" y="2515416"/>
                <a:ext cx="1395510" cy="2820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fontAlgn="b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pt-BR" sz="1200" b="0" i="1" dirty="0" smtClean="0">
                              <a:solidFill>
                                <a:srgbClr val="FF0000"/>
                              </a:solidFill>
                              <a:latin typeface="Cambria Math"/>
                              <a:cs typeface="Times New Roman" panose="02020603050405020304" pitchFamily="18" charset="0"/>
                            </a:rPr>
                            <m:t>𝑌</m:t>
                          </m:r>
                        </m:e>
                      </m:acc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100,28+2,7</m:t>
                      </m:r>
                      <m:r>
                        <m:rPr>
                          <m:nor/>
                        </m:rPr>
                        <a:rPr lang="pt-BR" sz="1200" b="0" i="1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1200" i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" name="Retângulo 1">
                <a:extLst>
                  <a:ext uri="{FF2B5EF4-FFF2-40B4-BE49-F238E27FC236}">
                    <a16:creationId xmlns:a16="http://schemas.microsoft.com/office/drawing/2014/main" id="{4A34607E-7139-4082-F91C-5BA4C50EC4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634" y="2515416"/>
                <a:ext cx="1395510" cy="282000"/>
              </a:xfrm>
              <a:prstGeom prst="rect">
                <a:avLst/>
              </a:prstGeom>
              <a:blipFill>
                <a:blip r:embed="rId8"/>
                <a:stretch>
                  <a:fillRect b="-217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AE89BED-EC86-2609-9C2F-6FBC8F80A9DF}"/>
                  </a:ext>
                </a:extLst>
              </p:cNvPr>
              <p:cNvSpPr/>
              <p:nvPr/>
            </p:nvSpPr>
            <p:spPr>
              <a:xfrm>
                <a:off x="6230151" y="2282307"/>
                <a:ext cx="1360244" cy="28200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fontAlgn="b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sz="120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accPr>
                        <m:e>
                          <m:r>
                            <a:rPr lang="pt-BR" sz="1200" b="0" i="1" dirty="0" smtClean="0">
                              <a:solidFill>
                                <a:srgbClr val="FF0000"/>
                              </a:solidFill>
                              <a:latin typeface="Cambria Math"/>
                              <a:cs typeface="Times New Roman" panose="02020603050405020304" pitchFamily="18" charset="0"/>
                            </a:rPr>
                            <m:t>𝑌</m:t>
                          </m:r>
                        </m:e>
                      </m:acc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= 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3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0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2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m:rPr>
                          <m:nor/>
                        </m:rPr>
                        <a:rPr lang="pt-BR" sz="1200" b="0" i="0" dirty="0" smtClean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52−8,20</m:t>
                      </m:r>
                      <m:r>
                        <m:rPr>
                          <m:nor/>
                        </m:rPr>
                        <a:rPr lang="pt-BR" sz="1200" i="1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X</m:t>
                      </m:r>
                      <m:r>
                        <m:rPr>
                          <m:nor/>
                        </m:rPr>
                        <a:rPr lang="pt-BR" sz="1200" dirty="0"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 </m:t>
                      </m:r>
                    </m:oMath>
                  </m:oMathPara>
                </a14:m>
                <a:endParaRPr lang="pt-BR" sz="12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AE89BED-EC86-2609-9C2F-6FBC8F80A9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0151" y="2282307"/>
                <a:ext cx="1360244" cy="282000"/>
              </a:xfrm>
              <a:prstGeom prst="rect">
                <a:avLst/>
              </a:prstGeom>
              <a:blipFill>
                <a:blip r:embed="rId9"/>
                <a:stretch>
                  <a:fillRect b="-21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0881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8" grpId="0" animBg="1"/>
      <p:bldP spid="2" grpId="0"/>
      <p:bldP spid="4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1368425"/>
          </a:xfrm>
        </p:spPr>
        <p:txBody>
          <a:bodyPr/>
          <a:lstStyle/>
          <a:p>
            <a:pPr eaLnBrk="1" hangingPunct="1">
              <a:buFontTx/>
              <a:buNone/>
              <a:defRPr/>
            </a:pPr>
            <a:r>
              <a:rPr lang="pt-BR" altLang="pt-BR" sz="1600" dirty="0"/>
              <a:t>Muitas vezes, o coeficiente </a:t>
            </a:r>
            <a:r>
              <a:rPr lang="pt-BR" altLang="pt-BR" sz="1600" i="1" dirty="0">
                <a:sym typeface="Symbol"/>
              </a:rPr>
              <a:t></a:t>
            </a:r>
            <a:r>
              <a:rPr lang="pt-BR" altLang="pt-BR" sz="1400" i="1" kern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pode ser utilizado como uma medida do poder da variável independente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r>
              <a:rPr lang="pt-BR" altLang="pt-BR" sz="1600" dirty="0"/>
              <a:t> em “explicar” a variável dependente </a:t>
            </a:r>
            <a:r>
              <a:rPr lang="pt-BR" altLang="pt-BR" sz="1600" i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Y.</a:t>
            </a:r>
            <a:endParaRPr lang="pt-BR" altLang="pt-BR" sz="1600" dirty="0"/>
          </a:p>
          <a:p>
            <a:pPr eaLnBrk="1" hangingPunct="1">
              <a:buFontTx/>
              <a:buNone/>
              <a:defRPr/>
            </a:pPr>
            <a:endParaRPr lang="pt-BR" altLang="pt-BR" sz="900" dirty="0"/>
          </a:p>
          <a:p>
            <a:pPr eaLnBrk="1" hangingPunct="1">
              <a:buFontTx/>
              <a:buNone/>
              <a:defRPr/>
            </a:pPr>
            <a:r>
              <a:rPr lang="pt-BR" altLang="pt-BR" sz="1600" dirty="0"/>
              <a:t>Por exemplo:</a:t>
            </a:r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52912660"/>
              </p:ext>
            </p:extLst>
          </p:nvPr>
        </p:nvGraphicFramePr>
        <p:xfrm>
          <a:off x="1691680" y="2097919"/>
          <a:ext cx="2538413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88760" imgH="266400" progId="Equation.DSMT4">
                  <p:embed/>
                </p:oleObj>
              </mc:Choice>
              <mc:Fallback>
                <p:oleObj name="Equation" r:id="rId2" imgW="1688760" imgH="266400" progId="Equation.DSMT4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91680" y="2097919"/>
                        <a:ext cx="2538413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9"/>
          <p:cNvSpPr txBox="1">
            <a:spLocks noChangeArrowheads="1"/>
          </p:cNvSpPr>
          <p:nvPr/>
        </p:nvSpPr>
        <p:spPr bwMode="auto">
          <a:xfrm>
            <a:off x="352425" y="2708275"/>
            <a:ext cx="8540750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Observe que a variação em 1 unidade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em 5,9 unidades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, ao passo que a mesma variação em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gera uma mudança de apenas 0,4. Assim, conclui-se que a variável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é mais importante para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do que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. Será mesmo?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Isso é verdade quando todas as variáveis independentes possuem a mesma unidade de medida e quando possuem variâncias similares.</a:t>
            </a:r>
          </a:p>
          <a:p>
            <a:pPr eaLnBrk="1" hangingPunct="1">
              <a:buFontTx/>
              <a:buNone/>
              <a:defRPr/>
            </a:pPr>
            <a:endParaRPr lang="pt-BR" altLang="pt-BR" sz="9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No exemplo anterior, se as unidades das variáveis do modelo fossem: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kern="0" dirty="0">
                <a:latin typeface="Tahoma" panose="020B0604030504040204" pitchFamily="34" charset="0"/>
              </a:rPr>
              <a:t> em mm,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/ha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em 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kern="0" dirty="0">
                <a:latin typeface="Tahoma" panose="020B0604030504040204" pitchFamily="34" charset="0"/>
              </a:rPr>
              <a:t>, quais as unidades de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4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algn="ctr" eaLnBrk="1" hangingPunct="1">
              <a:buFontTx/>
              <a:buNone/>
              <a:defRPr/>
            </a:pP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mm.ha</a:t>
            </a:r>
            <a:r>
              <a:rPr lang="pt-BR" altLang="pt-BR" sz="1600" kern="0" dirty="0">
                <a:latin typeface="Tahoma" panose="020B0604030504040204" pitchFamily="34" charset="0"/>
              </a:rPr>
              <a:t>/</a:t>
            </a:r>
            <a:r>
              <a:rPr lang="pt-BR" altLang="pt-BR" sz="1600" kern="0" dirty="0" err="1">
                <a:latin typeface="Tahoma" panose="020B0604030504040204" pitchFamily="34" charset="0"/>
              </a:rPr>
              <a:t>ton</a:t>
            </a:r>
            <a:r>
              <a:rPr lang="pt-BR" altLang="pt-BR" sz="1600" kern="0" dirty="0">
                <a:latin typeface="Tahoma" panose="020B0604030504040204" pitchFamily="34" charset="0"/>
              </a:rPr>
              <a:t>             </a:t>
            </a:r>
            <a:r>
              <a:rPr lang="pt-BR" altLang="pt-BR" sz="1800" i="1" dirty="0">
                <a:latin typeface="Tahoma" panose="020B0604030504040204" pitchFamily="34" charset="0"/>
                <a:sym typeface="Symbol"/>
              </a:rPr>
              <a:t></a:t>
            </a:r>
            <a:r>
              <a:rPr lang="pt-BR" altLang="pt-BR" sz="16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pt-BR" altLang="pt-BR" sz="1600" kern="0" dirty="0">
                <a:latin typeface="Tahoma" panose="020B0604030504040204" pitchFamily="34" charset="0"/>
              </a:rPr>
              <a:t> </a:t>
            </a:r>
            <a:r>
              <a:rPr lang="pt-BR" altLang="pt-BR" sz="1600" kern="0" dirty="0">
                <a:latin typeface="Tahoma" panose="020B0604030504040204" pitchFamily="34" charset="0"/>
                <a:sym typeface="Symbol"/>
              </a:rPr>
              <a:t> </a:t>
            </a:r>
            <a:r>
              <a:rPr lang="pt-BR" altLang="pt-BR" sz="1600" kern="0" dirty="0">
                <a:latin typeface="Tahoma" panose="020B0604030504040204" pitchFamily="34" charset="0"/>
              </a:rPr>
              <a:t>mm/</a:t>
            </a:r>
            <a:r>
              <a:rPr lang="pt-BR" altLang="pt-BR" sz="1600" kern="0" baseline="30000" dirty="0" err="1">
                <a:latin typeface="Tahoma" panose="020B0604030504040204" pitchFamily="34" charset="0"/>
              </a:rPr>
              <a:t>o</a:t>
            </a:r>
            <a:r>
              <a:rPr lang="pt-BR" altLang="pt-BR" sz="1600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endParaRPr lang="pt-BR" altLang="pt-BR" sz="1600" kern="0" dirty="0">
              <a:latin typeface="Tahoma" panose="020B0604030504040204" pitchFamily="34" charset="0"/>
            </a:endParaRP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Como comparar estes parâmetros?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5377B30-DFA9-4480-A0CD-96168C57E525}" type="slidenum">
              <a:rPr lang="pt-BR"/>
              <a:pPr>
                <a:defRPr/>
              </a:pPr>
              <a:t>68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1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Regressão Padronizada</a:t>
            </a:r>
          </a:p>
        </p:txBody>
      </p:sp>
      <p:sp>
        <p:nvSpPr>
          <p:cNvPr id="48131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52425" y="1412875"/>
            <a:ext cx="8496300" cy="64770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Para obter um modelo cujos coeficientes sejam adimensionais, deve-se padronizar cada uma das variáveis dependente e independentes, ou seja:</a:t>
            </a:r>
          </a:p>
          <a:p>
            <a:pPr eaLnBrk="1" hangingPunct="1">
              <a:buFontTx/>
              <a:buNone/>
            </a:pPr>
            <a:endParaRPr lang="pt-BR" altLang="pt-BR" sz="900" dirty="0"/>
          </a:p>
        </p:txBody>
      </p:sp>
      <p:graphicFrame>
        <p:nvGraphicFramePr>
          <p:cNvPr id="2" name="Objeto 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40228127"/>
              </p:ext>
            </p:extLst>
          </p:nvPr>
        </p:nvGraphicFramePr>
        <p:xfrm>
          <a:off x="2471738" y="3848100"/>
          <a:ext cx="35067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2336800" imgH="266700" progId="Equation.3">
                  <p:embed/>
                </p:oleObj>
              </mc:Choice>
              <mc:Fallback>
                <p:oleObj name="Equação" r:id="rId2" imgW="2336800" imgH="266700" progId="Equation.3">
                  <p:embed/>
                  <p:pic>
                    <p:nvPicPr>
                      <p:cNvPr id="2" name="Objeto 1"/>
                      <p:cNvPicPr>
                        <a:picLocks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3848100"/>
                        <a:ext cx="350678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2"/>
          <p:cNvGrpSpPr>
            <a:grpSpLocks/>
          </p:cNvGrpSpPr>
          <p:nvPr/>
        </p:nvGrpSpPr>
        <p:grpSpPr bwMode="auto">
          <a:xfrm>
            <a:off x="2554288" y="2276475"/>
            <a:ext cx="3341687" cy="723900"/>
            <a:chOff x="2483768" y="2276872"/>
            <a:chExt cx="3343250" cy="723900"/>
          </a:xfrm>
        </p:grpSpPr>
        <p:graphicFrame>
          <p:nvGraphicFramePr>
            <p:cNvPr id="48140" name="Objeto 4"/>
            <p:cNvGraphicFramePr>
              <a:graphicFrameLocks/>
            </p:cNvGraphicFramePr>
            <p:nvPr/>
          </p:nvGraphicFramePr>
          <p:xfrm>
            <a:off x="2483768" y="2276872"/>
            <a:ext cx="1028700" cy="6667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4" imgW="685502" imgH="444307" progId="Equation.3">
                    <p:embed/>
                  </p:oleObj>
                </mc:Choice>
                <mc:Fallback>
                  <p:oleObj name="Equação" r:id="rId4" imgW="685502" imgH="444307" progId="Equation.3">
                    <p:embed/>
                    <p:pic>
                      <p:nvPicPr>
                        <p:cNvPr id="48140" name="Objeto 4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83768" y="2276872"/>
                          <a:ext cx="1028700" cy="66675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8141" name="Objeto 5"/>
            <p:cNvGraphicFramePr>
              <a:graphicFrameLocks/>
            </p:cNvGraphicFramePr>
            <p:nvPr/>
          </p:nvGraphicFramePr>
          <p:xfrm>
            <a:off x="4283968" y="2276872"/>
            <a:ext cx="1543050" cy="7239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6" imgW="1028254" imgH="482391" progId="Equation.3">
                    <p:embed/>
                  </p:oleObj>
                </mc:Choice>
                <mc:Fallback>
                  <p:oleObj name="Equação" r:id="rId6" imgW="1028254" imgH="482391" progId="Equation.3">
                    <p:embed/>
                    <p:pic>
                      <p:nvPicPr>
                        <p:cNvPr id="48141" name="Objeto 5"/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83968" y="2276872"/>
                          <a:ext cx="1543050" cy="7239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7" name="Rectangle 9"/>
          <p:cNvSpPr txBox="1">
            <a:spLocks noChangeArrowheads="1"/>
          </p:cNvSpPr>
          <p:nvPr/>
        </p:nvSpPr>
        <p:spPr bwMode="auto">
          <a:xfrm>
            <a:off x="323850" y="3216275"/>
            <a:ext cx="8496300" cy="415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Nesse caso, a reta de regressão estimada</a:t>
            </a:r>
          </a:p>
        </p:txBody>
      </p:sp>
      <p:sp>
        <p:nvSpPr>
          <p:cNvPr id="8" name="Rectangle 9"/>
          <p:cNvSpPr txBox="1">
            <a:spLocks noChangeArrowheads="1"/>
          </p:cNvSpPr>
          <p:nvPr/>
        </p:nvSpPr>
        <p:spPr bwMode="auto">
          <a:xfrm>
            <a:off x="323850" y="4464050"/>
            <a:ext cx="8496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torna-se</a:t>
            </a:r>
          </a:p>
        </p:txBody>
      </p:sp>
      <p:sp>
        <p:nvSpPr>
          <p:cNvPr id="13" name="Rectangle 9"/>
          <p:cNvSpPr txBox="1">
            <a:spLocks noChangeArrowheads="1"/>
          </p:cNvSpPr>
          <p:nvPr/>
        </p:nvSpPr>
        <p:spPr bwMode="auto">
          <a:xfrm>
            <a:off x="347663" y="5661025"/>
            <a:ext cx="8496300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Estes coeficientes podem então ser comparados entre si.</a:t>
            </a:r>
          </a:p>
          <a:p>
            <a:pPr eaLnBrk="1" hangingPunct="1">
              <a:buFontTx/>
              <a:buNone/>
              <a:defRPr/>
            </a:pPr>
            <a:r>
              <a:rPr lang="pt-BR" altLang="pt-BR" sz="1600" kern="0" dirty="0">
                <a:latin typeface="Tahoma" panose="020B0604030504040204" pitchFamily="34" charset="0"/>
              </a:rPr>
              <a:t>Em muitos pacotes estatísticos, estes coeficientes são conhecidos como “coeficientes beta”.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D498B8-91D2-40A1-A69F-0A365F4D2211}" type="slidenum">
              <a:rPr lang="pt-BR"/>
              <a:pPr>
                <a:defRPr/>
              </a:pPr>
              <a:t>69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1432670"/>
              </p:ext>
            </p:extLst>
          </p:nvPr>
        </p:nvGraphicFramePr>
        <p:xfrm>
          <a:off x="2471738" y="5045075"/>
          <a:ext cx="31067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2070100" imgH="266700" progId="Equation.3">
                  <p:embed/>
                </p:oleObj>
              </mc:Choice>
              <mc:Fallback>
                <p:oleObj name="Equação" r:id="rId8" imgW="2070100" imgH="266700" progId="Equation.3">
                  <p:embed/>
                  <p:pic>
                    <p:nvPicPr>
                      <p:cNvPr id="5" name="Objeto 4"/>
                      <p:cNvPicPr>
                        <a:picLocks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471738" y="5045075"/>
                        <a:ext cx="3106737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9754146"/>
              </p:ext>
            </p:extLst>
          </p:nvPr>
        </p:nvGraphicFramePr>
        <p:xfrm>
          <a:off x="5796136" y="4903788"/>
          <a:ext cx="1525587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1016000" imgH="457200" progId="Equation.3">
                  <p:embed/>
                </p:oleObj>
              </mc:Choice>
              <mc:Fallback>
                <p:oleObj name="Equação" r:id="rId10" imgW="1016000" imgH="4572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96136" y="4903788"/>
                        <a:ext cx="1525587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 build="p"/>
      <p:bldP spid="13" grpId="0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12875"/>
            <a:ext cx="8569325" cy="5111750"/>
          </a:xfrm>
          <a:noFill/>
        </p:spPr>
        <p:txBody>
          <a:bodyPr/>
          <a:lstStyle/>
          <a:p>
            <a:pPr eaLnBrk="1" hangingPunct="1">
              <a:buFontTx/>
              <a:buNone/>
            </a:pPr>
            <a:r>
              <a:rPr lang="pt-BR" altLang="pt-BR" sz="1600" dirty="0"/>
              <a:t>Em muitos casos, dispomos de muitas variáveis independentes que podem ou não estar relacionadas com a variável dependente. Em geral, o objetivo de um estudo de regressão é determinar quais dessas variáveis independentes disponíveis melhor explicam ou predizem a variável em estudo.</a:t>
            </a:r>
          </a:p>
          <a:p>
            <a:pPr eaLnBrk="1" hangingPunct="1">
              <a:buFontTx/>
              <a:buNone/>
            </a:pPr>
            <a:r>
              <a:rPr lang="pt-BR" altLang="pt-BR" sz="1600" dirty="0"/>
              <a:t>Pode-se imaginar que muitos modelos podem ser estimados. Nesse caso, deve-se buscar o melhor modelo que represente a relação entre as variáveis, ou seja, aquele que melhor se ajusta aos dados analisados.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</a:rPr>
              <a:t>Dicas: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quanto mais simples o modelo, melhor;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dê preferência por modelos lineares (ou linearizáveis);</a:t>
            </a:r>
          </a:p>
          <a:p>
            <a:pPr eaLnBrk="1" hangingPunct="1">
              <a:buFontTx/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utilize conhecimentos prévios para escolha do tipo de relação entre cada variável independente e a dependente (linear, polinomial, logarítmico, exponencial, potencial,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), construindo primeiramente um modelo conceitual ou analise modelos utilizados em trabalhos semelhantes;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evite métodos automáticos que “procuram” esta melhor relação. A escolha do tipo de relação deve ser fundamentada em conhecimentos prévios ou baseada em diagramas de dispersão. Na dúvida, utilize relações lineares;</a:t>
            </a:r>
          </a:p>
          <a:p>
            <a:pPr marL="355600" indent="-355600" eaLnBrk="1" hangingPunct="1">
              <a:buNone/>
            </a:pPr>
            <a:r>
              <a:rPr lang="pt-BR" altLang="pt-BR" sz="1600" dirty="0">
                <a:sym typeface="Symbol" pitchFamily="18" charset="2"/>
              </a:rPr>
              <a:t> </a:t>
            </a:r>
            <a:r>
              <a:rPr lang="pt-BR" altLang="pt-BR" sz="1600" dirty="0"/>
              <a:t>após a estimação dos parâmetros, faça a análise dos resíduos para detectar quaisquer anomalias (relação inadequada, </a:t>
            </a:r>
            <a:r>
              <a:rPr lang="pt-BR" altLang="pt-BR" sz="1600" i="1" dirty="0"/>
              <a:t>outliers</a:t>
            </a:r>
            <a:r>
              <a:rPr lang="pt-BR" altLang="pt-BR" sz="1600" dirty="0"/>
              <a:t>, não normalidade, não constância da variância, </a:t>
            </a:r>
            <a:r>
              <a:rPr lang="pt-BR" altLang="pt-BR" sz="1600" dirty="0" err="1"/>
              <a:t>etc</a:t>
            </a:r>
            <a:r>
              <a:rPr lang="pt-BR" altLang="pt-BR" sz="1600" dirty="0"/>
              <a:t>) e tente minimizá-las.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43BBFC-F7FD-4316-94E0-EF81C3180103}" type="slidenum">
              <a:rPr lang="pt-BR"/>
              <a:pPr>
                <a:defRPr/>
              </a:pPr>
              <a:t>70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760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3501008"/>
            <a:ext cx="3240000" cy="22133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151633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71</a:t>
            </a:fld>
            <a:endParaRPr lang="pt-BR" dirty="0"/>
          </a:p>
        </p:txBody>
      </p:sp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1963437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8" name="Tabela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6005536"/>
              </p:ext>
            </p:extLst>
          </p:nvPr>
        </p:nvGraphicFramePr>
        <p:xfrm>
          <a:off x="539552" y="3583216"/>
          <a:ext cx="18288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logX</a:t>
                      </a:r>
                      <a:r>
                        <a:rPr lang="pt-BR" sz="1100" b="0" i="0" u="none" strike="noStrike" baseline="-2500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52,31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1,55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4,53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67,16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7,05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71,69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22,24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75,59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43,40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77,17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55,43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80,02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116,31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2,07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88,78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964,13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2,98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92,32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2117,60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3,33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Objeto 5"/>
              <p:cNvSpPr txBox="1"/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>
                <a:normAutofit fontScale="85000" lnSpcReduction="10000"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𝑙𝑜𝑔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Objeto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703763" y="5808663"/>
                <a:ext cx="2039937" cy="36195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Conector reto 3"/>
          <p:cNvCxnSpPr/>
          <p:nvPr/>
        </p:nvCxnSpPr>
        <p:spPr bwMode="auto">
          <a:xfrm flipV="1">
            <a:off x="6214536" y="3842839"/>
            <a:ext cx="2122758" cy="13635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pSp>
        <p:nvGrpSpPr>
          <p:cNvPr id="9" name="Grupo 8"/>
          <p:cNvGrpSpPr/>
          <p:nvPr/>
        </p:nvGrpSpPr>
        <p:grpSpPr>
          <a:xfrm>
            <a:off x="1259632" y="3536264"/>
            <a:ext cx="432048" cy="2596808"/>
            <a:chOff x="1335832" y="3572688"/>
            <a:chExt cx="432048" cy="2596808"/>
          </a:xfrm>
        </p:grpSpPr>
        <p:cxnSp>
          <p:nvCxnSpPr>
            <p:cNvPr id="7" name="Conector reto 6"/>
            <p:cNvCxnSpPr/>
            <p:nvPr/>
          </p:nvCxnSpPr>
          <p:spPr bwMode="auto">
            <a:xfrm flipH="1"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3" name="Conector reto 12"/>
            <p:cNvCxnSpPr/>
            <p:nvPr/>
          </p:nvCxnSpPr>
          <p:spPr bwMode="auto">
            <a:xfrm>
              <a:off x="1335832" y="3572688"/>
              <a:ext cx="432048" cy="259680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rgbClr val="FF33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DD6F8BBF-88DE-B8B3-2B06-4A33B63DDAB2}"/>
              </a:ext>
            </a:extLst>
          </p:cNvPr>
          <p:cNvGrpSpPr/>
          <p:nvPr/>
        </p:nvGrpSpPr>
        <p:grpSpPr>
          <a:xfrm>
            <a:off x="2051720" y="6133072"/>
            <a:ext cx="3202260" cy="689829"/>
            <a:chOff x="2051720" y="6133072"/>
            <a:chExt cx="3202260" cy="689829"/>
          </a:xfrm>
        </p:grpSpPr>
        <p:sp>
          <p:nvSpPr>
            <p:cNvPr id="2" name="Rectangle 9">
              <a:extLst>
                <a:ext uri="{FF2B5EF4-FFF2-40B4-BE49-F238E27FC236}">
                  <a16:creationId xmlns:a16="http://schemas.microsoft.com/office/drawing/2014/main" id="{95B56C3A-B05A-1527-9AA7-1803D607337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29397" y="6295580"/>
              <a:ext cx="3024583" cy="52732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8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400">
                  <a:solidFill>
                    <a:schemeClr val="tx1"/>
                  </a:solidFill>
                  <a:latin typeface="+mn-lt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•"/>
                <a:defRPr sz="2000">
                  <a:solidFill>
                    <a:schemeClr val="tx1"/>
                  </a:solidFill>
                  <a:latin typeface="+mn-lt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–"/>
                <a:defRPr sz="2000">
                  <a:solidFill>
                    <a:schemeClr val="tx1"/>
                  </a:solidFill>
                  <a:latin typeface="+mn-lt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+mn-lt"/>
                </a:defRPr>
              </a:lvl5pPr>
              <a:lvl6pPr marL="25146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6pPr>
              <a:lvl7pPr marL="29718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7pPr>
              <a:lvl8pPr marL="34290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8pPr>
              <a:lvl9pPr marL="3886200" indent="-228600" algn="l" rtl="0" fontAlgn="base">
                <a:spcBef>
                  <a:spcPct val="20000"/>
                </a:spcBef>
                <a:spcAft>
                  <a:spcPct val="0"/>
                </a:spcAft>
                <a:buChar char="»"/>
                <a:defRPr>
                  <a:solidFill>
                    <a:schemeClr val="tx1"/>
                  </a:solidFill>
                  <a:latin typeface="+mn-lt"/>
                </a:defRPr>
              </a:lvl9pPr>
            </a:lstStyle>
            <a:p>
              <a:pPr marL="180975" indent="-180975" eaLnBrk="1" hangingPunct="1">
                <a:buFontTx/>
                <a:buNone/>
              </a:pPr>
              <a:r>
                <a:rPr lang="pt-BR" altLang="pt-BR" sz="1200" kern="0" dirty="0">
                  <a:latin typeface="Tahoma" panose="020B0604030504040204" pitchFamily="34" charset="0"/>
                </a:rPr>
                <a:t>Nesse caso, utiliza-se somente a variável transformada descartando-se a original</a:t>
              </a:r>
            </a:p>
          </p:txBody>
        </p:sp>
        <p:cxnSp>
          <p:nvCxnSpPr>
            <p:cNvPr id="15" name="Conector de Seta Reta 14">
              <a:extLst>
                <a:ext uri="{FF2B5EF4-FFF2-40B4-BE49-F238E27FC236}">
                  <a16:creationId xmlns:a16="http://schemas.microsoft.com/office/drawing/2014/main" id="{BA96984B-BA13-738A-0E4A-F93B51816B91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2051720" y="6133072"/>
              <a:ext cx="216024" cy="267728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ela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4708183"/>
              </p:ext>
            </p:extLst>
          </p:nvPr>
        </p:nvGraphicFramePr>
        <p:xfrm>
          <a:off x="539552" y="3583216"/>
          <a:ext cx="1219200" cy="25146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Y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36,5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60,7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51,0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66,9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80,8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74,2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56,1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85,2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43,8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17,9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609600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𝑋</m:t>
                                    </m:r>
                                  </m:e>
                                  <m:sub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b>
                                  <m:sup>
                                    <m:r>
                                      <a:rPr lang="pt-BR" sz="1100" b="0" i="1" u="none" strike="noStrike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/>
                                      </a:rPr>
                                      <m:t>2</m:t>
                                    </m:r>
                                  </m:sup>
                                </m:sSubSup>
                                <m:r>
                                  <a:rPr lang="pt-BR" sz="1100" b="0" i="1" u="none" strike="noStrike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/>
                                  </a:rPr>
                                  <m:t> </m:t>
                                </m:r>
                              </m:oMath>
                            </m:oMathPara>
                          </a14:m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5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6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7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8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9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0"/>
                      </a:ext>
                    </a:extLst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1"/>
                      </a:ext>
                    </a:extLst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" name="Tabela 7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90598456"/>
                  </p:ext>
                </p:extLst>
              </p:nvPr>
            </p:nvGraphicFramePr>
            <p:xfrm>
              <a:off x="539552" y="3583216"/>
              <a:ext cx="1828800" cy="2514600"/>
            </p:xfrm>
            <a:graphic>
              <a:graphicData uri="http://schemas.openxmlformats.org/drawingml/2006/table">
                <a:tbl>
                  <a:tblPr/>
                  <a:tblGrid>
                    <a:gridCol w="609600"/>
                    <a:gridCol w="609600"/>
                    <a:gridCol w="609600"/>
                  </a:tblGrid>
                  <a:tr h="219075"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Y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fontAlgn="b"/>
                          <a:r>
                            <a:rPr lang="pt-BR" sz="1100" b="0" i="1" u="none" strike="noStrike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X</a:t>
                          </a:r>
                          <a:r>
                            <a:rPr lang="pt-BR" sz="1100" b="0" i="0" u="none" strike="noStrike" baseline="-25000" dirty="0" smtClean="0">
                              <a:solidFill>
                                <a:srgbClr val="000000"/>
                              </a:solidFill>
                              <a:effectLst/>
                              <a:latin typeface="Times New Roman"/>
                            </a:rPr>
                            <a:t>2</a:t>
                          </a:r>
                          <a:endParaRPr lang="pt-BR" sz="1100" b="0" i="0" u="none" strike="noStrike" dirty="0">
                            <a:solidFill>
                              <a:srgbClr val="000000"/>
                            </a:solidFill>
                            <a:effectLst/>
                            <a:latin typeface="Times New Roman"/>
                          </a:endParaRP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 rotWithShape="1">
                          <a:blip r:embed="rId3"/>
                          <a:stretch>
                            <a:fillRect l="-201000" t="-2778" b="-1083333"/>
                          </a:stretch>
                        </a:blip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36,5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106,09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16,3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265,69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71,1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24,5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600,25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34,7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1204,09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1918,44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94,1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51,0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2601,00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59,2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3504,64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83,3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66,9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4475,61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80,8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74,2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5505,64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56,1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85,2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7259,04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190500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43,8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91,7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8408,89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  <a:tr h="200025"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17,9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100" b="0" i="0" u="none" strike="noStrike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98,6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r" fontAlgn="b"/>
                          <a:r>
                            <a:rPr lang="pt-BR" sz="1100" b="0" i="0" u="none" strike="noStrike" dirty="0">
                              <a:solidFill>
                                <a:srgbClr val="000000"/>
                              </a:solidFill>
                              <a:effectLst/>
                              <a:latin typeface="Calibri"/>
                            </a:rPr>
                            <a:t>9721,96</a:t>
                          </a:r>
                        </a:p>
                      </a:txBody>
                      <a:tcPr marL="9525" marR="9525" marT="9525" marB="0" anchor="b">
                        <a:lnL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635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rgbClr val="000000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2007617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Quando se trabalha com um grande número de variáveis independentes, muitas vezes o processo de escolha de quais deverão compor o modelo final é bastante dificultado, especialmente quando há colinearidade entre estas variáveis.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None/>
            </a:pPr>
            <a:r>
              <a:rPr lang="pt-BR" altLang="pt-BR" sz="1600" dirty="0"/>
              <a:t>De modo geral, o primeiro passo é verificar se a relação entre a variável dependente e cada uma das variáveis independentes é linear. No caso da relação não ser linear, procura-se transformações de modo a linearizá-la. Se não houver nenhuma evidência, deixe-a na sua forma original.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72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27319202"/>
              </p:ext>
            </p:extLst>
          </p:nvPr>
        </p:nvGraphicFramePr>
        <p:xfrm>
          <a:off x="4437063" y="5788824"/>
          <a:ext cx="2573337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14320" imgH="253800" progId="Equation.DSMT4">
                  <p:embed/>
                </p:oleObj>
              </mc:Choice>
              <mc:Fallback>
                <p:oleObj name="Equation" r:id="rId4" imgW="1714320" imgH="253800" progId="Equation.DSMT4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37063" y="5788824"/>
                        <a:ext cx="2573337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807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1760" y="3501008"/>
            <a:ext cx="3240000" cy="228654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8076" name="Picture 12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604084" y="3560520"/>
            <a:ext cx="2518612" cy="1646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Rectangle 9"/>
          <p:cNvSpPr txBox="1">
            <a:spLocks noChangeArrowheads="1"/>
          </p:cNvSpPr>
          <p:nvPr/>
        </p:nvSpPr>
        <p:spPr bwMode="auto">
          <a:xfrm>
            <a:off x="395288" y="6237312"/>
            <a:ext cx="8569325" cy="527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531813" indent="-531813" eaLnBrk="1" hangingPunct="1">
              <a:buFontTx/>
              <a:buNone/>
            </a:pP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kern="0" dirty="0">
                <a:latin typeface="Tahoma" panose="020B0604030504040204" pitchFamily="34" charset="0"/>
              </a:rPr>
              <a:t> no caso de adotar modelos polinomiais, considere, a princípio, todos os termos do polinômio! </a:t>
            </a:r>
          </a:p>
        </p:txBody>
      </p:sp>
    </p:spTree>
    <p:extLst>
      <p:ext uri="{BB962C8B-B14F-4D97-AF65-F5344CB8AC3E}">
        <p14:creationId xmlns:p14="http://schemas.microsoft.com/office/powerpoint/2010/main" val="1769088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0888F-3463-46EE-A566-8A998AEE1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1067CFE3-EEDA-7D9A-E31D-BA5B4CE21E5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95288" y="1565399"/>
                <a:ext cx="8569325" cy="4959945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Se for utilizar variáveis categóricas, todas devem ser convertidas para variáveis indicadoras e, se necessário, incluir também as interações com todas as outras variáveis independentes do modelo.</a:t>
                </a:r>
              </a:p>
              <a:p>
                <a:pPr marL="352425" indent="-352425" eaLnBrk="1" hangingPunct="1">
                  <a:buNone/>
                </a:pPr>
                <a:endParaRPr lang="pt-BR" sz="1600" dirty="0">
                  <a:solidFill>
                    <a:srgbClr val="000000"/>
                  </a:solidFill>
                </a:endParaRPr>
              </a:p>
              <a:p>
                <a:pPr marL="352425" indent="-352425" eaLnBrk="1" hangingPunct="1">
                  <a:buNone/>
                </a:pPr>
                <a:r>
                  <a:rPr lang="pt-BR" sz="1600" dirty="0">
                    <a:solidFill>
                      <a:srgbClr val="000000"/>
                    </a:solidFill>
                  </a:rPr>
                  <a:t>Por exemplo, se o modelo original for</a:t>
                </a:r>
              </a:p>
              <a:p>
                <a:pPr marL="352425" indent="-352425" eaLnBrk="1" hangingPunct="1">
                  <a:buNone/>
                </a:pPr>
                <a:endParaRPr lang="pt-BR" sz="1600" dirty="0">
                  <a:solidFill>
                    <a:srgbClr val="000000"/>
                  </a:solidFill>
                </a:endParaRPr>
              </a:p>
              <a:p>
                <a:pPr marL="352425" indent="-352425" eaLnBrk="1" hangingPunct="1">
                  <a:buNone/>
                </a:pPr>
                <a:r>
                  <a:rPr lang="pt-BR" sz="160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altLang="pt-BR" sz="1600" dirty="0"/>
                  <a:t> 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e desejar incluir uma variável indicadora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pt-BR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={0,1}</m:t>
                    </m:r>
                  </m:oMath>
                </a14:m>
                <a:r>
                  <a:rPr lang="pt-BR" altLang="pt-BR" sz="1600" dirty="0"/>
                  <a:t>, então o novo modelo será: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pt-BR" sz="1600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pt-BR" sz="1600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pt-BR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Nesse caso, a inclusão de apenas uma variável indicadora, resultou no aumento de 3 parâmetros no modelo.</a:t>
                </a:r>
              </a:p>
              <a:p>
                <a:pPr marL="352425" indent="-352425" eaLnBrk="1" hangingPunct="1"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None/>
                </a:pPr>
                <a:r>
                  <a:rPr lang="pt-BR" altLang="pt-BR" sz="1600" dirty="0"/>
                  <a:t>Então cuidado ao trabalhar com muitas variáveis indicadores em modelos múltiplos!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0B0C73B7-B87D-CA59-7D07-E3CEA4E9E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95288" y="1565399"/>
                <a:ext cx="8569325" cy="4959945"/>
              </a:xfrm>
              <a:blipFill>
                <a:blip r:embed="rId2"/>
                <a:stretch>
                  <a:fillRect l="-427" t="-36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1299080-6F13-65B9-8F34-F21BDD82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22133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Construção do Modelo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O processo de construção do modelo pode ser feito de várias maneiras distintas.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Pode ser feito manualmente, identificando-se a variável independente com maior poder de explicação (maior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altLang="pt-BR" sz="160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altLang="pt-BR" sz="1600" dirty="0"/>
                  <a:t> ou menor valor-P) e em seguida, acrescenta-se uma a uma, cada variável independente, testando-se a significância de cada variável independente. adicionada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27298" y="1355617"/>
                <a:ext cx="8569325" cy="2871044"/>
              </a:xfrm>
              <a:blipFill>
                <a:blip r:embed="rId2"/>
                <a:stretch>
                  <a:fillRect l="-427" t="-6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74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7298" y="5877272"/>
            <a:ext cx="8569325" cy="9361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processo não garante que o modelo final seja o melhor dentre todos os possíveis modelos. Esta seleção pode ser otimizada através de processos automáticos.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Os mais comuns são: </a:t>
            </a:r>
            <a:r>
              <a:rPr lang="pt-BR" altLang="pt-BR" sz="1600" kern="0" dirty="0">
                <a:solidFill>
                  <a:srgbClr val="FF0000"/>
                </a:solidFill>
                <a:latin typeface="Tahoma" panose="020B0604030504040204" pitchFamily="34" charset="0"/>
              </a:rPr>
              <a:t>busca exaustiva</a:t>
            </a:r>
            <a:r>
              <a:rPr lang="pt-BR" altLang="pt-BR" sz="1600" kern="0" dirty="0">
                <a:latin typeface="Tahoma" panose="020B0604030504040204" pitchFamily="34" charset="0"/>
              </a:rPr>
              <a:t> e </a:t>
            </a:r>
            <a:r>
              <a:rPr lang="pt-BR" altLang="pt-BR" sz="1600" i="1" kern="0" dirty="0" err="1">
                <a:solidFill>
                  <a:srgbClr val="FF0000"/>
                </a:solidFill>
                <a:latin typeface="Tahoma" panose="020B0604030504040204" pitchFamily="34" charset="0"/>
              </a:rPr>
              <a:t>stepwise</a:t>
            </a:r>
            <a:r>
              <a:rPr lang="pt-BR" altLang="pt-BR" sz="1600" i="1" kern="0" dirty="0">
                <a:latin typeface="Tahoma" panose="020B0604030504040204" pitchFamily="34" charset="0"/>
              </a:rPr>
              <a:t>.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95288" y="4115211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4" name="Grupo 3"/>
          <p:cNvGrpSpPr/>
          <p:nvPr/>
        </p:nvGrpSpPr>
        <p:grpSpPr>
          <a:xfrm>
            <a:off x="1043608" y="3215111"/>
            <a:ext cx="371187" cy="2171387"/>
            <a:chOff x="1043608" y="3356992"/>
            <a:chExt cx="371187" cy="2171387"/>
          </a:xfrm>
        </p:grpSpPr>
        <p:sp>
          <p:nvSpPr>
            <p:cNvPr id="7" name="Elipse 6"/>
            <p:cNvSpPr/>
            <p:nvPr/>
          </p:nvSpPr>
          <p:spPr bwMode="auto">
            <a:xfrm>
              <a:off x="1043608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8" name="Elipse 7"/>
            <p:cNvSpPr/>
            <p:nvPr/>
          </p:nvSpPr>
          <p:spPr bwMode="auto">
            <a:xfrm>
              <a:off x="1043608" y="38070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043608" y="42570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043608" y="470714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043608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cxnSp>
        <p:nvCxnSpPr>
          <p:cNvPr id="13" name="Conector de seta reta 12"/>
          <p:cNvCxnSpPr>
            <a:stCxn id="2" idx="6"/>
            <a:endCxn id="7" idx="2"/>
          </p:cNvCxnSpPr>
          <p:nvPr/>
        </p:nvCxnSpPr>
        <p:spPr bwMode="auto">
          <a:xfrm flipV="1">
            <a:off x="766475" y="34007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5" name="Conector de seta reta 14"/>
          <p:cNvCxnSpPr/>
          <p:nvPr/>
        </p:nvCxnSpPr>
        <p:spPr bwMode="auto">
          <a:xfrm flipV="1">
            <a:off x="766475" y="385075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7" name="Conector de seta reta 16"/>
          <p:cNvCxnSpPr>
            <a:stCxn id="2" idx="6"/>
            <a:endCxn id="9" idx="2"/>
          </p:cNvCxnSpPr>
          <p:nvPr/>
        </p:nvCxnSpPr>
        <p:spPr bwMode="auto">
          <a:xfrm>
            <a:off x="766475" y="4300805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19" name="Conector de seta reta 18"/>
          <p:cNvCxnSpPr>
            <a:stCxn id="2" idx="6"/>
            <a:endCxn id="10" idx="2"/>
          </p:cNvCxnSpPr>
          <p:nvPr/>
        </p:nvCxnSpPr>
        <p:spPr bwMode="auto">
          <a:xfrm>
            <a:off x="766475" y="4300805"/>
            <a:ext cx="277133" cy="45005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1" name="Conector de seta reta 20"/>
          <p:cNvCxnSpPr>
            <a:stCxn id="2" idx="6"/>
            <a:endCxn id="11" idx="2"/>
          </p:cNvCxnSpPr>
          <p:nvPr/>
        </p:nvCxnSpPr>
        <p:spPr bwMode="auto">
          <a:xfrm>
            <a:off x="766475" y="43008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23" name="Conector de seta reta 22"/>
          <p:cNvCxnSpPr/>
          <p:nvPr/>
        </p:nvCxnSpPr>
        <p:spPr bwMode="auto">
          <a:xfrm flipV="1">
            <a:off x="766475" y="3850755"/>
            <a:ext cx="277133" cy="4500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1" name="Conector de seta reta 30"/>
          <p:cNvCxnSpPr>
            <a:stCxn id="24" idx="6"/>
            <a:endCxn id="26" idx="2"/>
          </p:cNvCxnSpPr>
          <p:nvPr/>
        </p:nvCxnSpPr>
        <p:spPr bwMode="auto">
          <a:xfrm flipV="1">
            <a:off x="3802206" y="34007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3" name="Conector de seta reta 32"/>
          <p:cNvCxnSpPr>
            <a:stCxn id="24" idx="6"/>
            <a:endCxn id="28" idx="2"/>
          </p:cNvCxnSpPr>
          <p:nvPr/>
        </p:nvCxnSpPr>
        <p:spPr bwMode="auto">
          <a:xfrm flipV="1">
            <a:off x="3802206" y="4000772"/>
            <a:ext cx="277133" cy="30003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4" name="Conector de seta reta 33"/>
          <p:cNvCxnSpPr>
            <a:stCxn id="24" idx="6"/>
            <a:endCxn id="29" idx="2"/>
          </p:cNvCxnSpPr>
          <p:nvPr/>
        </p:nvCxnSpPr>
        <p:spPr bwMode="auto">
          <a:xfrm>
            <a:off x="3802206" y="4300805"/>
            <a:ext cx="277133" cy="300034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5" name="Conector de seta reta 34"/>
          <p:cNvCxnSpPr>
            <a:stCxn id="24" idx="6"/>
            <a:endCxn id="30" idx="2"/>
          </p:cNvCxnSpPr>
          <p:nvPr/>
        </p:nvCxnSpPr>
        <p:spPr bwMode="auto">
          <a:xfrm>
            <a:off x="3802206" y="4300805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36" name="Conector de seta reta 35"/>
          <p:cNvCxnSpPr>
            <a:stCxn id="24" idx="6"/>
            <a:endCxn id="29" idx="2"/>
          </p:cNvCxnSpPr>
          <p:nvPr/>
        </p:nvCxnSpPr>
        <p:spPr bwMode="auto">
          <a:xfrm>
            <a:off x="3802206" y="4300805"/>
            <a:ext cx="277133" cy="300034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42" name="Grupo 41"/>
          <p:cNvGrpSpPr/>
          <p:nvPr/>
        </p:nvGrpSpPr>
        <p:grpSpPr>
          <a:xfrm>
            <a:off x="3059832" y="3215111"/>
            <a:ext cx="1390694" cy="2171387"/>
            <a:chOff x="3397330" y="3356992"/>
            <a:chExt cx="1390694" cy="2171387"/>
          </a:xfrm>
        </p:grpSpPr>
        <p:sp>
          <p:nvSpPr>
            <p:cNvPr id="26" name="Elipse 25"/>
            <p:cNvSpPr/>
            <p:nvPr/>
          </p:nvSpPr>
          <p:spPr bwMode="auto">
            <a:xfrm>
              <a:off x="4416837" y="33569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4416837" y="395705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4416837" y="4557126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4416837" y="5157192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grpSp>
          <p:nvGrpSpPr>
            <p:cNvPr id="40" name="Grupo 39"/>
            <p:cNvGrpSpPr/>
            <p:nvPr/>
          </p:nvGrpSpPr>
          <p:grpSpPr>
            <a:xfrm>
              <a:off x="3397330" y="4257092"/>
              <a:ext cx="742374" cy="371187"/>
              <a:chOff x="3397330" y="4257092"/>
              <a:chExt cx="742374" cy="371187"/>
            </a:xfrm>
          </p:grpSpPr>
          <p:sp>
            <p:nvSpPr>
              <p:cNvPr id="24" name="Elipse 23"/>
              <p:cNvSpPr/>
              <p:nvPr/>
            </p:nvSpPr>
            <p:spPr bwMode="auto">
              <a:xfrm>
                <a:off x="3768517" y="4257092"/>
                <a:ext cx="371187" cy="371187"/>
              </a:xfrm>
              <a:prstGeom prst="ellipse">
                <a:avLst/>
              </a:prstGeom>
              <a:solidFill>
                <a:srgbClr val="FF5050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pt-BR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</a:t>
                </a:r>
                <a:r>
                  <a:rPr lang="pt-BR" baseline="-25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7" name="Elipse 36"/>
              <p:cNvSpPr/>
              <p:nvPr/>
            </p:nvSpPr>
            <p:spPr bwMode="auto">
              <a:xfrm>
                <a:off x="3397330" y="4257092"/>
                <a:ext cx="371187" cy="371187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ctr" anchorCtr="1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pt-BR" sz="16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</a:p>
            </p:txBody>
          </p:sp>
        </p:grpSp>
      </p:grpSp>
      <p:sp>
        <p:nvSpPr>
          <p:cNvPr id="39" name="CaixaDeTexto 38"/>
          <p:cNvSpPr txBox="1"/>
          <p:nvPr/>
        </p:nvSpPr>
        <p:spPr>
          <a:xfrm>
            <a:off x="1403648" y="3704645"/>
            <a:ext cx="87075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maior </a:t>
            </a:r>
            <a:r>
              <a:rPr lang="pt-BR" sz="11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1" name="CaixaDeTexto 40"/>
          <p:cNvSpPr txBox="1"/>
          <p:nvPr/>
        </p:nvSpPr>
        <p:spPr>
          <a:xfrm>
            <a:off x="4453652" y="4472506"/>
            <a:ext cx="163859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  <a:sym typeface="Symbol"/>
              </a:rPr>
              <a:t> </a:t>
            </a:r>
            <a:r>
              <a:rPr lang="pt-BR" sz="1100" dirty="0">
                <a:latin typeface="Tahoma" panose="020B0604030504040204" pitchFamily="34" charset="0"/>
              </a:rPr>
              <a:t>menor valor-P</a:t>
            </a:r>
          </a:p>
          <a:p>
            <a:r>
              <a:rPr lang="pt-BR" sz="1100" dirty="0">
                <a:latin typeface="Tahoma" panose="020B0604030504040204" pitchFamily="34" charset="0"/>
              </a:rPr>
              <a:t>     significativo (&lt; 5%)</a:t>
            </a:r>
            <a:endParaRPr lang="pt-BR" sz="1100" baseline="30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Conector de seta reta 43"/>
          <p:cNvCxnSpPr>
            <a:stCxn id="55" idx="6"/>
            <a:endCxn id="50" idx="2"/>
          </p:cNvCxnSpPr>
          <p:nvPr/>
        </p:nvCxnSpPr>
        <p:spPr bwMode="auto">
          <a:xfrm flipV="1">
            <a:off x="7046999" y="340070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5" name="Conector de seta reta 44"/>
          <p:cNvCxnSpPr>
            <a:stCxn id="55" idx="6"/>
            <a:endCxn id="51" idx="2"/>
          </p:cNvCxnSpPr>
          <p:nvPr/>
        </p:nvCxnSpPr>
        <p:spPr bwMode="auto">
          <a:xfrm>
            <a:off x="7046999" y="4300804"/>
            <a:ext cx="277133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cxnSp>
        <p:nvCxnSpPr>
          <p:cNvPr id="47" name="Conector de seta reta 46"/>
          <p:cNvCxnSpPr>
            <a:stCxn id="55" idx="6"/>
            <a:endCxn id="53" idx="2"/>
          </p:cNvCxnSpPr>
          <p:nvPr/>
        </p:nvCxnSpPr>
        <p:spPr bwMode="auto">
          <a:xfrm>
            <a:off x="7046999" y="4300804"/>
            <a:ext cx="277133" cy="9001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63" name="Grupo 62"/>
          <p:cNvGrpSpPr/>
          <p:nvPr/>
        </p:nvGrpSpPr>
        <p:grpSpPr>
          <a:xfrm>
            <a:off x="5933438" y="3215110"/>
            <a:ext cx="1761881" cy="2171387"/>
            <a:chOff x="5933438" y="3140968"/>
            <a:chExt cx="1761881" cy="2171387"/>
          </a:xfrm>
        </p:grpSpPr>
        <p:sp>
          <p:nvSpPr>
            <p:cNvPr id="50" name="Elipse 49"/>
            <p:cNvSpPr/>
            <p:nvPr/>
          </p:nvSpPr>
          <p:spPr bwMode="auto">
            <a:xfrm>
              <a:off x="7324132" y="31409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1" name="Elipse 50"/>
            <p:cNvSpPr/>
            <p:nvPr/>
          </p:nvSpPr>
          <p:spPr bwMode="auto">
            <a:xfrm>
              <a:off x="732413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5933438" y="4041068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7324132" y="49411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6675812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Elipse 55"/>
            <p:cNvSpPr/>
            <p:nvPr/>
          </p:nvSpPr>
          <p:spPr bwMode="auto">
            <a:xfrm>
              <a:off x="6304625" y="4041068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ot="0" spcFirstLastPara="0" vertOverflow="overflow" horzOverflow="overflow" vert="horz" wrap="square" lIns="0" tIns="0" rIns="0" bIns="0" numCol="1" spcCol="0" rtlCol="0" fromWordArt="0" anchor="ctr" anchorCtr="1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pt-BR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lang="pt-BR" baseline="-25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9696" name="Grupo 29695"/>
          <p:cNvGrpSpPr/>
          <p:nvPr/>
        </p:nvGrpSpPr>
        <p:grpSpPr>
          <a:xfrm>
            <a:off x="7812360" y="3400705"/>
            <a:ext cx="1344464" cy="1985792"/>
            <a:chOff x="7812360" y="3326563"/>
            <a:chExt cx="1344464" cy="1985792"/>
          </a:xfrm>
        </p:grpSpPr>
        <p:sp>
          <p:nvSpPr>
            <p:cNvPr id="57" name="CaixaDeTexto 56"/>
            <p:cNvSpPr txBox="1"/>
            <p:nvPr/>
          </p:nvSpPr>
          <p:spPr>
            <a:xfrm>
              <a:off x="7967075" y="4078234"/>
              <a:ext cx="1189749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100" dirty="0">
                  <a:latin typeface="Tahoma" panose="020B0604030504040204" pitchFamily="34" charset="0"/>
                  <a:sym typeface="Symbol"/>
                </a:rPr>
                <a:t>nenhum </a:t>
              </a:r>
              <a:r>
                <a:rPr lang="pt-BR" sz="1100" dirty="0">
                  <a:latin typeface="Tahoma" panose="020B0604030504040204" pitchFamily="34" charset="0"/>
                </a:rPr>
                <a:t>valor-P</a:t>
              </a:r>
            </a:p>
            <a:p>
              <a:r>
                <a:rPr lang="pt-BR" sz="1100" dirty="0">
                  <a:latin typeface="Tahoma" panose="020B0604030504040204" pitchFamily="34" charset="0"/>
                </a:rPr>
                <a:t>significativo</a:t>
              </a:r>
              <a:endParaRPr lang="pt-BR" sz="1100" baseline="30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Chave direita 61"/>
            <p:cNvSpPr/>
            <p:nvPr/>
          </p:nvSpPr>
          <p:spPr bwMode="auto">
            <a:xfrm>
              <a:off x="7812360" y="3326563"/>
              <a:ext cx="154715" cy="1985792"/>
            </a:xfrm>
            <a:prstGeom prst="rightBrac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9"/>
              <p:cNvSpPr txBox="1">
                <a:spLocks noChangeArrowheads="1"/>
              </p:cNvSpPr>
              <p:nvPr/>
            </p:nvSpPr>
            <p:spPr bwMode="auto">
              <a:xfrm>
                <a:off x="2234145" y="5508852"/>
                <a:ext cx="4442971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algn="ctr" eaLnBrk="1" hangingPunct="1">
                  <a:buFontTx/>
                  <a:buNone/>
                </a:pPr>
                <a:r>
                  <a:rPr lang="pt-BR" altLang="pt-BR" sz="1600" kern="0" dirty="0">
                    <a:latin typeface="Tahoma" panose="020B0604030504040204" pitchFamily="34" charset="0"/>
                  </a:rPr>
                  <a:t>Modelo Final: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𝑌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2,</m:t>
                        </m:r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kern="0" smtClean="0">
                            <a:latin typeface="Cambria Math"/>
                          </a:rPr>
                          <m:t>+</m:t>
                        </m:r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pt-BR" altLang="pt-BR" sz="1600" i="1" ker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4</m:t>
                        </m:r>
                        <m:r>
                          <a:rPr lang="pt-BR" altLang="pt-BR" sz="1600" i="1" ker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altLang="pt-BR" sz="1600" i="1" kern="0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pt-BR" altLang="pt-BR" sz="1600" b="0" i="1" kern="0" smtClean="0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pt-BR" altLang="pt-BR" sz="1600" b="0" i="1" kern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nor/>
                          </m:rPr>
                          <a:rPr lang="pt-BR" sz="1600" i="1" dirty="0">
                            <a:solidFill>
                              <a:srgbClr val="000000"/>
                            </a:solidFill>
                            <a:latin typeface="Times New Roman" pitchFamily="18" charset="0"/>
                            <a:cs typeface="Times New Roman" pitchFamily="18" charset="0"/>
                            <a:sym typeface="Symbol" pitchFamily="18" charset="2"/>
                          </a:rPr>
                          <m:t></m:t>
                        </m:r>
                      </m:e>
                      <m:sub>
                        <m:r>
                          <a:rPr lang="pt-BR" altLang="pt-BR" sz="1600" b="0" i="1" kern="0" smtClean="0">
                            <a:latin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altLang="pt-BR" sz="16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66" name="Rectangle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145" y="5508852"/>
                <a:ext cx="4442971" cy="370554"/>
              </a:xfrm>
              <a:prstGeom prst="rect">
                <a:avLst/>
              </a:prstGeom>
              <a:blipFill>
                <a:blip r:embed="rId3"/>
                <a:stretch>
                  <a:fillRect t="-6667" b="-11667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22366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" grpId="0" animBg="1"/>
      <p:bldP spid="39" grpId="0"/>
      <p:bldP spid="41" grpId="0"/>
      <p:bldP spid="6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– Busca Exaustiva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95288" y="1422052"/>
            <a:ext cx="8569325" cy="1574900"/>
          </a:xfrm>
          <a:noFill/>
        </p:spPr>
        <p:txBody>
          <a:bodyPr/>
          <a:lstStyle/>
          <a:p>
            <a:pPr marL="355600" indent="-355600" eaLnBrk="1" hangingPunct="1">
              <a:buNone/>
            </a:pPr>
            <a:r>
              <a:rPr lang="pt-BR" altLang="pt-BR" sz="1600" dirty="0"/>
              <a:t>Na busca exaustiva, escolhe-se o melhor modelo simples (1 variável independente)  e depois o melhor modelo com 2 variáveis (todos os pares são testados) e depois o modelo com 3 variáveis (todas as triplas são testadas), até que o modelo completo seja ajustado. Avalia-se os modelos obtidos (do mais simples ao mais completo) de forma a garantir que o acréscimo de variáveis independentes traga ganhos significativos.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75</a:t>
            </a:fld>
            <a:endParaRPr lang="pt-BR" dirty="0"/>
          </a:p>
        </p:txBody>
      </p:sp>
      <p:sp>
        <p:nvSpPr>
          <p:cNvPr id="5" name="Rectangle 9"/>
          <p:cNvSpPr txBox="1">
            <a:spLocks noChangeArrowheads="1"/>
          </p:cNvSpPr>
          <p:nvPr/>
        </p:nvSpPr>
        <p:spPr bwMode="auto">
          <a:xfrm>
            <a:off x="323528" y="5949280"/>
            <a:ext cx="8569325" cy="6480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5600" indent="-355600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Este método é muito oneroso e inviável quando se trabalha com muitas variáveis independentes. Se fossem 10 variáveis, haveriam 1024 modelos a serem testados!</a:t>
            </a:r>
          </a:p>
        </p:txBody>
      </p:sp>
      <p:sp>
        <p:nvSpPr>
          <p:cNvPr id="6" name="Elipse 5"/>
          <p:cNvSpPr/>
          <p:nvPr/>
        </p:nvSpPr>
        <p:spPr bwMode="auto">
          <a:xfrm>
            <a:off x="395288" y="4041069"/>
            <a:ext cx="371187" cy="371187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1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</a:p>
        </p:txBody>
      </p:sp>
      <p:grpSp>
        <p:nvGrpSpPr>
          <p:cNvPr id="2" name="Grupo 1"/>
          <p:cNvGrpSpPr/>
          <p:nvPr/>
        </p:nvGrpSpPr>
        <p:grpSpPr>
          <a:xfrm>
            <a:off x="1146834" y="3140969"/>
            <a:ext cx="742374" cy="2171387"/>
            <a:chOff x="1093322" y="3140969"/>
            <a:chExt cx="742374" cy="2171387"/>
          </a:xfrm>
        </p:grpSpPr>
        <p:sp>
          <p:nvSpPr>
            <p:cNvPr id="8" name="Elipse 7"/>
            <p:cNvSpPr/>
            <p:nvPr/>
          </p:nvSpPr>
          <p:spPr bwMode="auto">
            <a:xfrm>
              <a:off x="1464509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9" name="Elipse 8"/>
            <p:cNvSpPr/>
            <p:nvPr/>
          </p:nvSpPr>
          <p:spPr bwMode="auto">
            <a:xfrm>
              <a:off x="1464509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10" name="Elipse 9"/>
            <p:cNvSpPr/>
            <p:nvPr/>
          </p:nvSpPr>
          <p:spPr bwMode="auto">
            <a:xfrm>
              <a:off x="1464509" y="40410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11" name="Elipse 10"/>
            <p:cNvSpPr/>
            <p:nvPr/>
          </p:nvSpPr>
          <p:spPr bwMode="auto">
            <a:xfrm>
              <a:off x="1464509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13" name="Elipse 12"/>
            <p:cNvSpPr/>
            <p:nvPr/>
          </p:nvSpPr>
          <p:spPr bwMode="auto">
            <a:xfrm>
              <a:off x="1464509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14" name="Elipse 13"/>
            <p:cNvSpPr/>
            <p:nvPr/>
          </p:nvSpPr>
          <p:spPr bwMode="auto">
            <a:xfrm>
              <a:off x="1093322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5" name="Elipse 14"/>
            <p:cNvSpPr/>
            <p:nvPr/>
          </p:nvSpPr>
          <p:spPr bwMode="auto">
            <a:xfrm>
              <a:off x="1093322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6" name="Elipse 15"/>
            <p:cNvSpPr/>
            <p:nvPr/>
          </p:nvSpPr>
          <p:spPr bwMode="auto">
            <a:xfrm>
              <a:off x="1093322" y="40410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7" name="Elipse 16"/>
            <p:cNvSpPr/>
            <p:nvPr/>
          </p:nvSpPr>
          <p:spPr bwMode="auto">
            <a:xfrm>
              <a:off x="1093322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8" name="Elipse 17"/>
            <p:cNvSpPr/>
            <p:nvPr/>
          </p:nvSpPr>
          <p:spPr bwMode="auto">
            <a:xfrm>
              <a:off x="1093322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</p:grpSp>
      <p:grpSp>
        <p:nvGrpSpPr>
          <p:cNvPr id="35" name="Grupo 34"/>
          <p:cNvGrpSpPr/>
          <p:nvPr/>
        </p:nvGrpSpPr>
        <p:grpSpPr>
          <a:xfrm>
            <a:off x="2269567" y="3140969"/>
            <a:ext cx="1118563" cy="2171387"/>
            <a:chOff x="2112581" y="3140969"/>
            <a:chExt cx="1118563" cy="2171387"/>
          </a:xfrm>
        </p:grpSpPr>
        <p:sp>
          <p:nvSpPr>
            <p:cNvPr id="19" name="Elipse 18"/>
            <p:cNvSpPr/>
            <p:nvPr/>
          </p:nvSpPr>
          <p:spPr bwMode="auto">
            <a:xfrm>
              <a:off x="2483768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0" name="Elipse 19"/>
            <p:cNvSpPr/>
            <p:nvPr/>
          </p:nvSpPr>
          <p:spPr bwMode="auto">
            <a:xfrm>
              <a:off x="2483768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22" name="Elipse 21"/>
            <p:cNvSpPr/>
            <p:nvPr/>
          </p:nvSpPr>
          <p:spPr bwMode="auto">
            <a:xfrm>
              <a:off x="2483768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23" name="Elipse 22"/>
            <p:cNvSpPr/>
            <p:nvPr/>
          </p:nvSpPr>
          <p:spPr bwMode="auto">
            <a:xfrm>
              <a:off x="2483768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24" name="Elipse 23"/>
            <p:cNvSpPr/>
            <p:nvPr/>
          </p:nvSpPr>
          <p:spPr bwMode="auto">
            <a:xfrm>
              <a:off x="2112581" y="31409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5" name="Elipse 24"/>
            <p:cNvSpPr/>
            <p:nvPr/>
          </p:nvSpPr>
          <p:spPr bwMode="auto">
            <a:xfrm>
              <a:off x="2112581" y="35910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7" name="Elipse 26"/>
            <p:cNvSpPr/>
            <p:nvPr/>
          </p:nvSpPr>
          <p:spPr bwMode="auto">
            <a:xfrm>
              <a:off x="2112581" y="449111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8" name="Elipse 27"/>
            <p:cNvSpPr/>
            <p:nvPr/>
          </p:nvSpPr>
          <p:spPr bwMode="auto">
            <a:xfrm>
              <a:off x="2112581" y="4941169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9" name="Elipse 28"/>
            <p:cNvSpPr/>
            <p:nvPr/>
          </p:nvSpPr>
          <p:spPr bwMode="auto">
            <a:xfrm>
              <a:off x="2859957" y="31409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0" name="Elipse 29"/>
            <p:cNvSpPr/>
            <p:nvPr/>
          </p:nvSpPr>
          <p:spPr bwMode="auto">
            <a:xfrm>
              <a:off x="2859957" y="35910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32" name="Elipse 31"/>
            <p:cNvSpPr/>
            <p:nvPr/>
          </p:nvSpPr>
          <p:spPr bwMode="auto">
            <a:xfrm>
              <a:off x="2859957" y="449111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3" name="Elipse 32"/>
            <p:cNvSpPr/>
            <p:nvPr/>
          </p:nvSpPr>
          <p:spPr bwMode="auto">
            <a:xfrm>
              <a:off x="2859957" y="4941169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34" name="CaixaDeTexto 33"/>
            <p:cNvSpPr txBox="1"/>
            <p:nvPr/>
          </p:nvSpPr>
          <p:spPr>
            <a:xfrm rot="5400000">
              <a:off x="2543776" y="4058008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3768488" y="3141591"/>
            <a:ext cx="1503274" cy="2171387"/>
            <a:chOff x="3860814" y="3141591"/>
            <a:chExt cx="1503274" cy="2171387"/>
          </a:xfrm>
        </p:grpSpPr>
        <p:sp>
          <p:nvSpPr>
            <p:cNvPr id="36" name="Elipse 35"/>
            <p:cNvSpPr/>
            <p:nvPr/>
          </p:nvSpPr>
          <p:spPr bwMode="auto">
            <a:xfrm>
              <a:off x="42320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7" name="Elipse 36"/>
            <p:cNvSpPr/>
            <p:nvPr/>
          </p:nvSpPr>
          <p:spPr bwMode="auto">
            <a:xfrm>
              <a:off x="42320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38" name="Elipse 37"/>
            <p:cNvSpPr/>
            <p:nvPr/>
          </p:nvSpPr>
          <p:spPr bwMode="auto">
            <a:xfrm>
              <a:off x="42320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39" name="Elipse 38"/>
            <p:cNvSpPr/>
            <p:nvPr/>
          </p:nvSpPr>
          <p:spPr bwMode="auto">
            <a:xfrm>
              <a:off x="42320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40" name="Elipse 39"/>
            <p:cNvSpPr/>
            <p:nvPr/>
          </p:nvSpPr>
          <p:spPr bwMode="auto">
            <a:xfrm>
              <a:off x="3860814" y="31415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1" name="Elipse 40"/>
            <p:cNvSpPr/>
            <p:nvPr/>
          </p:nvSpPr>
          <p:spPr bwMode="auto">
            <a:xfrm>
              <a:off x="3860814" y="35916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2" name="Elipse 41"/>
            <p:cNvSpPr/>
            <p:nvPr/>
          </p:nvSpPr>
          <p:spPr bwMode="auto">
            <a:xfrm>
              <a:off x="3860814" y="449174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3" name="Elipse 42"/>
            <p:cNvSpPr/>
            <p:nvPr/>
          </p:nvSpPr>
          <p:spPr bwMode="auto">
            <a:xfrm>
              <a:off x="3860814" y="4941791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45" name="Elipse 44"/>
            <p:cNvSpPr/>
            <p:nvPr/>
          </p:nvSpPr>
          <p:spPr bwMode="auto">
            <a:xfrm>
              <a:off x="4608190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6" name="Elipse 45"/>
            <p:cNvSpPr/>
            <p:nvPr/>
          </p:nvSpPr>
          <p:spPr bwMode="auto">
            <a:xfrm>
              <a:off x="4608190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47" name="Elipse 46"/>
            <p:cNvSpPr/>
            <p:nvPr/>
          </p:nvSpPr>
          <p:spPr bwMode="auto">
            <a:xfrm>
              <a:off x="4608190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8" name="Elipse 47"/>
            <p:cNvSpPr/>
            <p:nvPr/>
          </p:nvSpPr>
          <p:spPr bwMode="auto">
            <a:xfrm>
              <a:off x="4608190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49" name="CaixaDeTexto 48"/>
            <p:cNvSpPr txBox="1"/>
            <p:nvPr/>
          </p:nvSpPr>
          <p:spPr>
            <a:xfrm rot="5400000">
              <a:off x="4495830" y="405863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2" name="Elipse 51"/>
            <p:cNvSpPr/>
            <p:nvPr/>
          </p:nvSpPr>
          <p:spPr bwMode="auto">
            <a:xfrm>
              <a:off x="4992901" y="31415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53" name="Elipse 52"/>
            <p:cNvSpPr/>
            <p:nvPr/>
          </p:nvSpPr>
          <p:spPr bwMode="auto">
            <a:xfrm>
              <a:off x="4992901" y="35916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54" name="Elipse 53"/>
            <p:cNvSpPr/>
            <p:nvPr/>
          </p:nvSpPr>
          <p:spPr bwMode="auto">
            <a:xfrm>
              <a:off x="4992901" y="449174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  <p:sp>
          <p:nvSpPr>
            <p:cNvPr id="55" name="Elipse 54"/>
            <p:cNvSpPr/>
            <p:nvPr/>
          </p:nvSpPr>
          <p:spPr bwMode="auto">
            <a:xfrm>
              <a:off x="4992901" y="4941791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p:grpSp>
        <p:nvGrpSpPr>
          <p:cNvPr id="61" name="Grupo 60"/>
          <p:cNvGrpSpPr/>
          <p:nvPr/>
        </p:nvGrpSpPr>
        <p:grpSpPr>
          <a:xfrm>
            <a:off x="5652120" y="4030745"/>
            <a:ext cx="2747451" cy="393078"/>
            <a:chOff x="5652120" y="4005064"/>
            <a:chExt cx="2747451" cy="393078"/>
          </a:xfrm>
        </p:grpSpPr>
        <p:sp>
          <p:nvSpPr>
            <p:cNvPr id="56" name="CaixaDeTexto 55"/>
            <p:cNvSpPr txBox="1"/>
            <p:nvPr/>
          </p:nvSpPr>
          <p:spPr>
            <a:xfrm>
              <a:off x="5652120" y="4005064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b="1" dirty="0">
                  <a:latin typeface="Tahoma" panose="020B0604030504040204" pitchFamily="34" charset="0"/>
                  <a:sym typeface="Symbol"/>
                </a:rPr>
                <a:t></a:t>
              </a:r>
              <a:endParaRPr lang="pt-BR" b="1" dirty="0">
                <a:latin typeface="Tahoma" panose="020B0604030504040204" pitchFamily="34" charset="0"/>
              </a:endParaRPr>
            </a:p>
          </p:txBody>
        </p:sp>
        <p:sp>
          <p:nvSpPr>
            <p:cNvPr id="57" name="Elipse 56"/>
            <p:cNvSpPr/>
            <p:nvPr/>
          </p:nvSpPr>
          <p:spPr bwMode="auto">
            <a:xfrm>
              <a:off x="65273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</a:p>
          </p:txBody>
        </p:sp>
        <p:sp>
          <p:nvSpPr>
            <p:cNvPr id="58" name="Elipse 57"/>
            <p:cNvSpPr/>
            <p:nvPr/>
          </p:nvSpPr>
          <p:spPr bwMode="auto">
            <a:xfrm>
              <a:off x="6156176" y="4026955"/>
              <a:ext cx="371187" cy="371187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59" name="Elipse 58"/>
            <p:cNvSpPr/>
            <p:nvPr/>
          </p:nvSpPr>
          <p:spPr bwMode="auto">
            <a:xfrm>
              <a:off x="6903552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</a:p>
          </p:txBody>
        </p:sp>
        <p:sp>
          <p:nvSpPr>
            <p:cNvPr id="60" name="Elipse 59"/>
            <p:cNvSpPr/>
            <p:nvPr/>
          </p:nvSpPr>
          <p:spPr bwMode="auto">
            <a:xfrm>
              <a:off x="7288263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</a:p>
          </p:txBody>
        </p:sp>
        <p:sp>
          <p:nvSpPr>
            <p:cNvPr id="62" name="Elipse 61"/>
            <p:cNvSpPr/>
            <p:nvPr/>
          </p:nvSpPr>
          <p:spPr bwMode="auto">
            <a:xfrm>
              <a:off x="7657197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4</a:t>
              </a:r>
            </a:p>
          </p:txBody>
        </p:sp>
        <p:sp>
          <p:nvSpPr>
            <p:cNvPr id="63" name="Elipse 62"/>
            <p:cNvSpPr/>
            <p:nvPr/>
          </p:nvSpPr>
          <p:spPr bwMode="auto">
            <a:xfrm>
              <a:off x="8028384" y="4026955"/>
              <a:ext cx="371187" cy="371187"/>
            </a:xfrm>
            <a:prstGeom prst="ellipse">
              <a:avLst/>
            </a:prstGeom>
            <a:solidFill>
              <a:srgbClr val="FF505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1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pt-BR" sz="1600" b="0" i="1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r>
                <a:rPr kumimoji="0" lang="pt-BR" sz="1600" b="0" u="none" strike="noStrike" cap="none" normalizeH="0" baseline="-2500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rPr>
                <a:t>5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696" name="CaixaDeTexto 29695"/>
              <p:cNvSpPr txBox="1"/>
              <p:nvPr/>
            </p:nvSpPr>
            <p:spPr>
              <a:xfrm>
                <a:off x="6234175" y="4770750"/>
                <a:ext cx="1991827" cy="103451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dirty="0">
                    <a:latin typeface="Tahoma" panose="020B0604030504040204" pitchFamily="34" charset="0"/>
                  </a:rPr>
                  <a:t>Total de modelos: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/>
                            </a:rPr>
                            <m:t>5</m:t>
                          </m:r>
                        </m:sup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b="0" i="1" smtClean="0">
                                        <a:latin typeface="Cambria Math"/>
                                      </a:rPr>
                                      <m:t>5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pt-BR" b="0" i="1" smtClean="0">
                                        <a:latin typeface="Cambria Math"/>
                                      </a:rPr>
                                      <m:t>𝑖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nary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0" smtClean="0">
                          <a:latin typeface="Cambria Math"/>
                        </a:rPr>
                        <m:t>32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9696" name="CaixaDeTexto 2969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4175" y="4770750"/>
                <a:ext cx="1991827" cy="1034514"/>
              </a:xfrm>
              <a:prstGeom prst="rect">
                <a:avLst/>
              </a:prstGeom>
              <a:blipFill>
                <a:blip r:embed="rId2"/>
                <a:stretch>
                  <a:fillRect l="-1840" t="-177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2549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29696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/>
              <p:cNvSpPr>
                <a:spLocks noGrp="1" noChangeArrowheads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noFill/>
            </p:spPr>
            <p:txBody>
              <a:bodyPr/>
              <a:lstStyle/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Há três maneiras de se aplicar o método </a:t>
                </a:r>
                <a:r>
                  <a:rPr lang="pt-BR" altLang="pt-BR" sz="1600" i="1" dirty="0" err="1"/>
                  <a:t>stepwise</a:t>
                </a:r>
                <a:r>
                  <a:rPr lang="pt-BR" altLang="pt-BR" sz="1600" dirty="0"/>
                  <a:t> (“passo a passo”):</a:t>
                </a:r>
                <a:br>
                  <a:rPr lang="pt-BR" altLang="pt-BR" sz="1600" dirty="0"/>
                </a:br>
                <a:r>
                  <a:rPr lang="pt-BR" altLang="pt-BR" sz="1600" dirty="0"/>
                  <a:t>crescente (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), decrescente (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) ou ambos (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).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forward</a:t>
                </a:r>
                <a:r>
                  <a:rPr lang="pt-BR" altLang="pt-BR" sz="1600" dirty="0"/>
                  <a:t>, o modelo é inicializado sem nenhuma variável independente (modelo nulo: </a:t>
                </a:r>
                <a14:m>
                  <m:oMath xmlns:m="http://schemas.openxmlformats.org/officeDocument/2006/math">
                    <m:r>
                      <a:rPr lang="pt-BR" altLang="pt-BR" sz="1600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pt-BR" altLang="pt-BR" sz="1600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altLang="pt-BR" sz="1600" b="0" i="1" smtClean="0">
                            <a:latin typeface="Cambria Math"/>
                            <a:ea typeface="Cambria Math"/>
                          </a:rPr>
                          <m:t>𝛽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altLang="pt-BR" sz="1600" dirty="0"/>
                  <a:t>) e, a cada passo, adiciona-se uma nova variável independente, testando-se o ganho no poder explicativo do novo modelo.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backward</a:t>
                </a:r>
                <a:r>
                  <a:rPr lang="pt-BR" altLang="pt-BR" sz="1600" dirty="0"/>
                  <a:t>, inicia-se o modelo com todas as variáveis independentes e, a cada passo, retira-se uma das variáveis do modelo, testando-se a perda no poder explicativo do novo modelo reduzido.</a:t>
                </a:r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No modo </a:t>
                </a:r>
                <a:r>
                  <a:rPr lang="pt-BR" altLang="pt-BR" sz="1600" i="1" dirty="0" err="1"/>
                  <a:t>both</a:t>
                </a:r>
                <a:r>
                  <a:rPr lang="pt-BR" altLang="pt-BR" sz="1600" dirty="0"/>
                  <a:t>, a cada passo testa-se a entrada e a retirada de cada variável independente.</a:t>
                </a:r>
              </a:p>
              <a:p>
                <a:pPr marL="352425" indent="-352425" eaLnBrk="1" hangingPunct="1">
                  <a:buFontTx/>
                  <a:buNone/>
                </a:pPr>
                <a:endParaRPr lang="pt-BR" altLang="pt-BR" sz="1600" dirty="0"/>
              </a:p>
              <a:p>
                <a:pPr marL="352425" indent="-352425" eaLnBrk="1" hangingPunct="1">
                  <a:buFontTx/>
                  <a:buNone/>
                </a:pPr>
                <a:r>
                  <a:rPr lang="pt-BR" altLang="pt-BR" sz="1600" dirty="0"/>
                  <a:t>O teste utilizado para medir o ganho ou a perda do poder explicativo pode variar mas, em geral, utiliza-se o teste F para comparar os modelos completo e reduzido, ou o teste t quando apenas um parâmetro é adicionado ou retirado.</a:t>
                </a:r>
              </a:p>
            </p:txBody>
          </p:sp>
        </mc:Choice>
        <mc:Fallback xmlns="">
          <p:sp>
            <p:nvSpPr>
              <p:cNvPr id="12" name="Rectangle 9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99752" y="1349375"/>
                <a:ext cx="8748712" cy="4167188"/>
              </a:xfrm>
              <a:blipFill>
                <a:blip r:embed="rId2"/>
                <a:stretch>
                  <a:fillRect l="-348" t="-43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76</a:t>
            </a:fld>
            <a:endParaRPr lang="pt-BR" dirty="0"/>
          </a:p>
        </p:txBody>
      </p:sp>
      <p:graphicFrame>
        <p:nvGraphicFramePr>
          <p:cNvPr id="6" name="Objeto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82702226"/>
              </p:ext>
            </p:extLst>
          </p:nvPr>
        </p:nvGraphicFramePr>
        <p:xfrm>
          <a:off x="2771775" y="5518150"/>
          <a:ext cx="3525838" cy="647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349500" imgH="431800" progId="Equation.3">
                  <p:embed/>
                </p:oleObj>
              </mc:Choice>
              <mc:Fallback>
                <p:oleObj name="Equação" r:id="rId3" imgW="2349500" imgH="431800" progId="Equation.3">
                  <p:embed/>
                  <p:pic>
                    <p:nvPicPr>
                      <p:cNvPr id="6" name="Objeto 5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775" y="5518150"/>
                        <a:ext cx="3525838" cy="647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60678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12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301450" y="1988840"/>
            <a:ext cx="8748712" cy="429187"/>
          </a:xfrm>
          <a:noFill/>
        </p:spPr>
        <p:txBody>
          <a:bodyPr/>
          <a:lstStyle/>
          <a:p>
            <a:pPr marL="177800" indent="-177800" eaLnBrk="1" hangingPunct="1"/>
            <a:r>
              <a:rPr lang="pt-BR" altLang="pt-BR" sz="1600" dirty="0"/>
              <a:t>Coeficiente de Determinação Múltiplo Ajustado</a:t>
            </a:r>
          </a:p>
        </p:txBody>
      </p:sp>
      <p:sp>
        <p:nvSpPr>
          <p:cNvPr id="4" name="Retângulo 3"/>
          <p:cNvSpPr>
            <a:spLocks noChangeArrowheads="1"/>
          </p:cNvSpPr>
          <p:nvPr/>
        </p:nvSpPr>
        <p:spPr bwMode="auto">
          <a:xfrm>
            <a:off x="706971" y="5661248"/>
            <a:ext cx="8257517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Observe que este índice é uma combinação entre uma medida de ajuste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SQE</a:t>
            </a:r>
            <a:r>
              <a:rPr lang="pt-BR" altLang="pt-BR" sz="1600" dirty="0">
                <a:latin typeface="Tahoma" panose="020B0604030504040204" pitchFamily="34" charset="0"/>
              </a:rPr>
              <a:t>) e uma medida de simplicidade do modelo (dado pelo número de parâmetros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). Quanto menor for o valor AIC, melhor o modelo.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Muitas variações deste índice podem ser encontradas na literatura.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77</a:t>
            </a:fld>
            <a:endParaRPr lang="pt-BR" dirty="0"/>
          </a:p>
        </p:txBody>
      </p:sp>
      <p:graphicFrame>
        <p:nvGraphicFramePr>
          <p:cNvPr id="7" name="Objeto 6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85849645"/>
              </p:ext>
            </p:extLst>
          </p:nvPr>
        </p:nvGraphicFramePr>
        <p:xfrm>
          <a:off x="778979" y="5284440"/>
          <a:ext cx="2478087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650960" imgH="203040" progId="Equation.DSMT4">
                  <p:embed/>
                </p:oleObj>
              </mc:Choice>
              <mc:Fallback>
                <p:oleObj name="Equation" r:id="rId2" imgW="1650960" imgH="203040" progId="Equation.DSMT4">
                  <p:embed/>
                  <p:pic>
                    <p:nvPicPr>
                      <p:cNvPr id="7" name="Objeto 6"/>
                      <p:cNvPicPr>
                        <a:picLocks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5284440"/>
                        <a:ext cx="2478087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210058" y="1412776"/>
            <a:ext cx="8748712" cy="576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indent="-352425" eaLnBrk="1" hangingPunct="1">
              <a:buFontTx/>
              <a:buNone/>
            </a:pPr>
            <a:r>
              <a:rPr lang="pt-BR" altLang="pt-BR" sz="1600" kern="0" dirty="0">
                <a:latin typeface="Tahoma" panose="020B0604030504040204" pitchFamily="34" charset="0"/>
              </a:rPr>
              <a:t>Além do teste F que avalia o ganho significativo de um modelo em relação a outro, pode-se também adotar outros critérios para decidir qual modelo utilizar:</a:t>
            </a:r>
          </a:p>
        </p:txBody>
      </p:sp>
      <p:graphicFrame>
        <p:nvGraphicFramePr>
          <p:cNvPr id="9" name="Objeto 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23482400"/>
              </p:ext>
            </p:extLst>
          </p:nvPr>
        </p:nvGraphicFramePr>
        <p:xfrm>
          <a:off x="778979" y="2346019"/>
          <a:ext cx="2078038" cy="654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1435100" imgH="457200" progId="Equation.3">
                  <p:embed/>
                </p:oleObj>
              </mc:Choice>
              <mc:Fallback>
                <p:oleObj name="Equação" r:id="rId4" imgW="1435100" imgH="457200" progId="Equation.3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2346019"/>
                        <a:ext cx="2078038" cy="654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7659229"/>
              </p:ext>
            </p:extLst>
          </p:nvPr>
        </p:nvGraphicFramePr>
        <p:xfrm>
          <a:off x="778979" y="3429000"/>
          <a:ext cx="2116138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1409400" imgH="457200" progId="Equation.DSMT4">
                  <p:embed/>
                </p:oleObj>
              </mc:Choice>
              <mc:Fallback>
                <p:oleObj name="Equation" r:id="rId6" imgW="1409400" imgH="457200" progId="Equation.DSMT4">
                  <p:embed/>
                  <p:pic>
                    <p:nvPicPr>
                      <p:cNvPr id="13" name="Objeto 12"/>
                      <p:cNvPicPr>
                        <a:picLocks noChangeArrowheads="1"/>
                      </p:cNvPicPr>
                      <p:nvPr/>
                    </p:nvPicPr>
                    <p:blipFill>
                      <a:blip r:embed="rId7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78979" y="3429000"/>
                        <a:ext cx="2116138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78293909"/>
              </p:ext>
            </p:extLst>
          </p:nvPr>
        </p:nvGraphicFramePr>
        <p:xfrm>
          <a:off x="3529013" y="3605969"/>
          <a:ext cx="70485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8" imgW="469800" imgH="241200" progId="Equation.DSMT4">
                  <p:embed/>
                </p:oleObj>
              </mc:Choice>
              <mc:Fallback>
                <p:oleObj name="Equation" r:id="rId8" imgW="469800" imgH="241200" progId="Equation.DSMT4">
                  <p:embed/>
                  <p:pic>
                    <p:nvPicPr>
                      <p:cNvPr id="15" name="Objeto 14"/>
                      <p:cNvPicPr>
                        <a:picLocks noChangeArrowheads="1"/>
                      </p:cNvPicPr>
                      <p:nvPr/>
                    </p:nvPicPr>
                    <p:blipFill>
                      <a:blip r:embed="rId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529013" y="3605969"/>
                        <a:ext cx="70485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9"/>
          <p:cNvSpPr txBox="1">
            <a:spLocks noChangeArrowheads="1"/>
          </p:cNvSpPr>
          <p:nvPr/>
        </p:nvSpPr>
        <p:spPr bwMode="auto">
          <a:xfrm>
            <a:off x="301450" y="3068960"/>
            <a:ext cx="8748712" cy="504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Critério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kern="0" dirty="0">
                <a:latin typeface="Tahoma" panose="020B0604030504040204" pitchFamily="34" charset="0"/>
              </a:rPr>
              <a:t> de </a:t>
            </a:r>
            <a:r>
              <a:rPr lang="pt-BR" altLang="pt-BR" sz="1600" kern="0" dirty="0" err="1">
                <a:latin typeface="Tahoma" panose="020B0604030504040204" pitchFamily="34" charset="0"/>
              </a:rPr>
              <a:t>Mallows</a:t>
            </a: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16" name="Rectangle 9"/>
          <p:cNvSpPr txBox="1">
            <a:spLocks noChangeArrowheads="1"/>
          </p:cNvSpPr>
          <p:nvPr/>
        </p:nvSpPr>
        <p:spPr bwMode="auto">
          <a:xfrm>
            <a:off x="301450" y="4797152"/>
            <a:ext cx="8748712" cy="504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177800" indent="-177800" eaLnBrk="1" hangingPunct="1"/>
            <a:r>
              <a:rPr lang="pt-BR" altLang="pt-BR" sz="1600" kern="0" dirty="0">
                <a:latin typeface="Tahoma" panose="020B0604030504040204" pitchFamily="34" charset="0"/>
              </a:rPr>
              <a:t>Índice AIC (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Akaike´s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Information</a:t>
            </a:r>
            <a:r>
              <a:rPr lang="pt-BR" altLang="pt-BR" sz="1600" i="1" kern="0" dirty="0">
                <a:latin typeface="Tahoma" panose="020B0604030504040204" pitchFamily="34" charset="0"/>
              </a:rPr>
              <a:t> </a:t>
            </a:r>
            <a:r>
              <a:rPr lang="pt-BR" altLang="pt-BR" sz="1600" i="1" kern="0" dirty="0" err="1">
                <a:latin typeface="Tahoma" panose="020B0604030504040204" pitchFamily="34" charset="0"/>
              </a:rPr>
              <a:t>Criterion</a:t>
            </a:r>
            <a:r>
              <a:rPr lang="pt-BR" altLang="pt-BR" sz="1600" kern="0" dirty="0">
                <a:latin typeface="Tahoma" panose="020B0604030504040204" pitchFamily="34" charset="0"/>
              </a:rPr>
              <a:t>):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tângulo 16"/>
              <p:cNvSpPr>
                <a:spLocks noChangeArrowheads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lvl1pPr marL="352425" indent="-352425"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dirty="0">
                    <a:latin typeface="Tahoma" panose="020B0604030504040204" pitchFamily="34" charset="0"/>
                  </a:rPr>
                  <a:t>Quanto maior for o valor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altLang="pt-BR" sz="16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altLang="pt-BR" sz="1600" b="0" i="1" smtClean="0">
                            <a:latin typeface="Cambria Math"/>
                          </a:rPr>
                          <m:t>𝑟</m:t>
                        </m:r>
                      </m:e>
                      <m:sub>
                        <m:r>
                          <a:rPr lang="pt-BR" altLang="pt-BR" sz="1600" b="0" i="1" smtClean="0">
                            <a:latin typeface="Cambria Math"/>
                          </a:rPr>
                          <m:t>𝑎</m:t>
                        </m:r>
                      </m:sub>
                      <m:sup>
                        <m:r>
                          <a:rPr lang="pt-BR" altLang="pt-BR" sz="1600" b="0" i="1" smtClean="0">
                            <a:latin typeface="Cambria Math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altLang="pt-BR" sz="1600" dirty="0">
                    <a:latin typeface="Tahoma" panose="020B0604030504040204" pitchFamily="34" charset="0"/>
                  </a:rPr>
                  <a:t>, melhor o modelo.</a:t>
                </a:r>
              </a:p>
            </p:txBody>
          </p:sp>
        </mc:Choice>
        <mc:Fallback xmlns="">
          <p:sp>
            <p:nvSpPr>
              <p:cNvPr id="17" name="Retângulo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419872" y="2481463"/>
                <a:ext cx="4668106" cy="338554"/>
              </a:xfrm>
              <a:prstGeom prst="rect">
                <a:avLst/>
              </a:prstGeom>
              <a:blipFill>
                <a:blip r:embed="rId10"/>
                <a:stretch>
                  <a:fillRect l="-653" t="-5357" b="-21429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tângulo 17"/>
          <p:cNvSpPr>
            <a:spLocks noChangeArrowheads="1"/>
          </p:cNvSpPr>
          <p:nvPr/>
        </p:nvSpPr>
        <p:spPr bwMode="auto">
          <a:xfrm>
            <a:off x="4499992" y="3621337"/>
            <a:ext cx="46681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Quanto mais próximo </a:t>
            </a:r>
            <a:r>
              <a:rPr lang="pt-BR" altLang="pt-BR" sz="1600" i="1" kern="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i="1" kern="0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de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, melhor o modelo.</a:t>
            </a:r>
          </a:p>
        </p:txBody>
      </p:sp>
      <p:sp>
        <p:nvSpPr>
          <p:cNvPr id="19" name="Retângulo 18"/>
          <p:cNvSpPr>
            <a:spLocks noChangeArrowheads="1"/>
          </p:cNvSpPr>
          <p:nvPr/>
        </p:nvSpPr>
        <p:spPr bwMode="auto">
          <a:xfrm>
            <a:off x="706971" y="4149080"/>
            <a:ext cx="825751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altLang="pt-BR" sz="1600" baseline="-25000" dirty="0">
                <a:latin typeface="Tahoma" panose="020B0604030504040204" pitchFamily="34" charset="0"/>
              </a:rPr>
              <a:t>(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baseline="-25000" dirty="0">
                <a:latin typeface="Tahoma" panose="020B0604030504040204" pitchFamily="34" charset="0"/>
              </a:rPr>
              <a:t>)</a:t>
            </a:r>
            <a:r>
              <a:rPr lang="pt-BR" altLang="pt-BR" sz="1600" dirty="0">
                <a:latin typeface="Tahoma" panose="020B0604030504040204" pitchFamily="34" charset="0"/>
              </a:rPr>
              <a:t> é a soma dos quadrados  do erro do modelo com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pt-BR" altLang="pt-BR" sz="1600" dirty="0">
                <a:latin typeface="Tahoma" panose="020B0604030504040204" pitchFamily="34" charset="0"/>
              </a:rPr>
              <a:t> parâmetros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QME</a:t>
            </a:r>
            <a:r>
              <a:rPr lang="pt-BR" altLang="pt-BR" sz="1600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altLang="pt-BR" sz="1600" dirty="0">
                <a:latin typeface="Tahoma" panose="020B0604030504040204" pitchFamily="34" charset="0"/>
              </a:rPr>
              <a:t> é o quadrado médio do modelo completo (com todas as variáveis).</a:t>
            </a:r>
          </a:p>
        </p:txBody>
      </p:sp>
    </p:spTree>
    <p:extLst>
      <p:ext uri="{BB962C8B-B14F-4D97-AF65-F5344CB8AC3E}">
        <p14:creationId xmlns:p14="http://schemas.microsoft.com/office/powerpoint/2010/main" val="423556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7" grpId="0"/>
      <p:bldP spid="18" grpId="0"/>
      <p:bldP spid="19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Seleção de Variáveis - </a:t>
            </a:r>
            <a:r>
              <a:rPr lang="pt-BR" i="1" dirty="0" err="1"/>
              <a:t>Stepwise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78</a:t>
            </a:fld>
            <a:endParaRPr lang="pt-BR" dirty="0"/>
          </a:p>
        </p:txBody>
      </p:sp>
      <p:sp>
        <p:nvSpPr>
          <p:cNvPr id="11" name="Rectangle 9"/>
          <p:cNvSpPr txBox="1">
            <a:spLocks noChangeArrowheads="1"/>
          </p:cNvSpPr>
          <p:nvPr/>
        </p:nvSpPr>
        <p:spPr bwMode="auto">
          <a:xfrm>
            <a:off x="395536" y="1412776"/>
            <a:ext cx="8424936" cy="3528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chemeClr val="tx1"/>
                </a:solidFill>
                <a:latin typeface="+mn-lt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chemeClr val="tx1"/>
                </a:solidFill>
                <a:latin typeface="+mn-lt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chemeClr val="tx1"/>
                </a:solidFill>
                <a:latin typeface="+mn-lt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+mn-lt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>
                <a:solidFill>
                  <a:schemeClr val="tx1"/>
                </a:solidFill>
                <a:latin typeface="+mn-lt"/>
              </a:defRPr>
            </a:lvl9pPr>
          </a:lstStyle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 método de seleção de variáveis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particularmente útil quando se tem um grande número de variáveis independentes candidatas a compor o modelo de regressão. Nesse caso, o método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backward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é recomendado pois, em geral, ocorre um “super ajuste” (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overfit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dos dados quando o número de parâmetros do modelo se aproxima ao tamanho da amostra.</a:t>
            </a:r>
          </a:p>
          <a:p>
            <a:pPr marL="352425" lvl="0" indent="-352425" eaLnBrk="1" hangingPunct="1">
              <a:lnSpc>
                <a:spcPct val="150000"/>
              </a:lnSpc>
              <a:buNone/>
            </a:pPr>
            <a:endParaRPr lang="pt-BR" sz="1600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352425" lvl="0" indent="-352425" eaLnBrk="1" hangingPunct="1">
              <a:lnSpc>
                <a:spcPct val="150000"/>
              </a:lnSpc>
              <a:buNone/>
            </a:pP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notar que o </a:t>
            </a:r>
            <a:r>
              <a:rPr lang="pt-BR" sz="1600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sz="16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não avalia a significância dos coeficientes do modelo final selecionado (quando usa o AIC, por exemplo) e nem a sua adequabilidade. Por essa razão, é imprescindível proceder à análise completa do modelo selecionado.</a:t>
            </a:r>
          </a:p>
          <a:p>
            <a:pPr marL="352425" indent="-352425" eaLnBrk="1" hangingPunct="1">
              <a:lnSpc>
                <a:spcPct val="150000"/>
              </a:lnSpc>
              <a:buFontTx/>
              <a:buNone/>
            </a:pPr>
            <a:endParaRPr lang="pt-BR" altLang="pt-BR" sz="1600" kern="0" dirty="0">
              <a:latin typeface="Tahoma" panose="020B0604030504040204" pitchFamily="34" charset="0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DF0147C-03AD-2265-2B66-3AD1A93EB780}"/>
              </a:ext>
            </a:extLst>
          </p:cNvPr>
          <p:cNvSpPr/>
          <p:nvPr/>
        </p:nvSpPr>
        <p:spPr bwMode="auto">
          <a:xfrm>
            <a:off x="2214033" y="5133200"/>
            <a:ext cx="1080000" cy="5400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Seleção</a:t>
            </a:r>
          </a:p>
        </p:txBody>
      </p:sp>
      <p:sp>
        <p:nvSpPr>
          <p:cNvPr id="5" name="Fluxograma: Documento 4">
            <a:extLst>
              <a:ext uri="{FF2B5EF4-FFF2-40B4-BE49-F238E27FC236}">
                <a16:creationId xmlns:a16="http://schemas.microsoft.com/office/drawing/2014/main" id="{FBE8DED6-D285-5833-0CDD-DDFB7F3F54CD}"/>
              </a:ext>
            </a:extLst>
          </p:cNvPr>
          <p:cNvSpPr/>
          <p:nvPr/>
        </p:nvSpPr>
        <p:spPr bwMode="auto">
          <a:xfrm>
            <a:off x="675002" y="5115200"/>
            <a:ext cx="1008000" cy="576000"/>
          </a:xfrm>
          <a:prstGeom prst="flowChartDocumen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</a:t>
            </a: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ariáveis</a:t>
            </a:r>
          </a:p>
        </p:txBody>
      </p:sp>
      <p:sp>
        <p:nvSpPr>
          <p:cNvPr id="7" name="Losango 6">
            <a:extLst>
              <a:ext uri="{FF2B5EF4-FFF2-40B4-BE49-F238E27FC236}">
                <a16:creationId xmlns:a16="http://schemas.microsoft.com/office/drawing/2014/main" id="{5CAD93D2-9B5A-80ED-7A35-066BED370801}"/>
              </a:ext>
            </a:extLst>
          </p:cNvPr>
          <p:cNvSpPr/>
          <p:nvPr/>
        </p:nvSpPr>
        <p:spPr bwMode="auto">
          <a:xfrm>
            <a:off x="5256016" y="5949280"/>
            <a:ext cx="1440160" cy="612000"/>
          </a:xfrm>
          <a:prstGeom prst="diamond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Adequado?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0412C32-D1D9-294E-0F0F-47440667588D}"/>
              </a:ext>
            </a:extLst>
          </p:cNvPr>
          <p:cNvSpPr/>
          <p:nvPr/>
        </p:nvSpPr>
        <p:spPr bwMode="auto">
          <a:xfrm>
            <a:off x="5436096" y="5133200"/>
            <a:ext cx="1080000" cy="54000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Análise</a:t>
            </a:r>
          </a:p>
        </p:txBody>
      </p:sp>
      <p:sp>
        <p:nvSpPr>
          <p:cNvPr id="13" name="Paralelogramo 12">
            <a:extLst>
              <a:ext uri="{FF2B5EF4-FFF2-40B4-BE49-F238E27FC236}">
                <a16:creationId xmlns:a16="http://schemas.microsoft.com/office/drawing/2014/main" id="{0050098C-29FC-D62A-9B79-106E2F5B1DD2}"/>
              </a:ext>
            </a:extLst>
          </p:cNvPr>
          <p:cNvSpPr/>
          <p:nvPr/>
        </p:nvSpPr>
        <p:spPr bwMode="auto">
          <a:xfrm>
            <a:off x="3825064" y="5097200"/>
            <a:ext cx="1080000" cy="612000"/>
          </a:xfrm>
          <a:prstGeom prst="parallelogram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Modelo</a:t>
            </a:r>
          </a:p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Ajustado</a:t>
            </a:r>
          </a:p>
        </p:txBody>
      </p:sp>
      <p:sp>
        <p:nvSpPr>
          <p:cNvPr id="14" name="Paralelogramo 13">
            <a:extLst>
              <a:ext uri="{FF2B5EF4-FFF2-40B4-BE49-F238E27FC236}">
                <a16:creationId xmlns:a16="http://schemas.microsoft.com/office/drawing/2014/main" id="{236E1CDD-06A0-9ABC-EF24-FF41E36EF64A}"/>
              </a:ext>
            </a:extLst>
          </p:cNvPr>
          <p:cNvSpPr/>
          <p:nvPr/>
        </p:nvSpPr>
        <p:spPr bwMode="auto">
          <a:xfrm>
            <a:off x="7092400" y="5949280"/>
            <a:ext cx="1080000" cy="612000"/>
          </a:xfrm>
          <a:prstGeom prst="parallelogram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Modelo</a:t>
            </a:r>
          </a:p>
          <a:p>
            <a:pPr algn="ctr"/>
            <a:r>
              <a:rPr lang="pt-B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Final</a:t>
            </a:r>
          </a:p>
        </p:txBody>
      </p: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53814C8A-7A6C-7952-DE34-118EDD335A51}"/>
              </a:ext>
            </a:extLst>
          </p:cNvPr>
          <p:cNvCxnSpPr>
            <a:stCxn id="5" idx="3"/>
            <a:endCxn id="4" idx="1"/>
          </p:cNvCxnSpPr>
          <p:nvPr/>
        </p:nvCxnSpPr>
        <p:spPr bwMode="auto">
          <a:xfrm>
            <a:off x="1683002" y="5403200"/>
            <a:ext cx="53103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E7B83C18-81CD-32A4-68C7-699B9AA353D4}"/>
              </a:ext>
            </a:extLst>
          </p:cNvPr>
          <p:cNvCxnSpPr>
            <a:stCxn id="4" idx="3"/>
            <a:endCxn id="13" idx="5"/>
          </p:cNvCxnSpPr>
          <p:nvPr/>
        </p:nvCxnSpPr>
        <p:spPr bwMode="auto">
          <a:xfrm>
            <a:off x="3294033" y="5403200"/>
            <a:ext cx="607531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2" name="Conector de Seta Reta 21">
            <a:extLst>
              <a:ext uri="{FF2B5EF4-FFF2-40B4-BE49-F238E27FC236}">
                <a16:creationId xmlns:a16="http://schemas.microsoft.com/office/drawing/2014/main" id="{40CD58D9-0B0B-4DDA-2F8F-1373508987AE}"/>
              </a:ext>
            </a:extLst>
          </p:cNvPr>
          <p:cNvCxnSpPr>
            <a:stCxn id="13" idx="2"/>
            <a:endCxn id="12" idx="1"/>
          </p:cNvCxnSpPr>
          <p:nvPr/>
        </p:nvCxnSpPr>
        <p:spPr bwMode="auto">
          <a:xfrm>
            <a:off x="4828564" y="5403200"/>
            <a:ext cx="607532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4" name="Conector de Seta Reta 23">
            <a:extLst>
              <a:ext uri="{FF2B5EF4-FFF2-40B4-BE49-F238E27FC236}">
                <a16:creationId xmlns:a16="http://schemas.microsoft.com/office/drawing/2014/main" id="{F5CECCFD-DE92-4BF9-833E-80E68307A2BC}"/>
              </a:ext>
            </a:extLst>
          </p:cNvPr>
          <p:cNvCxnSpPr>
            <a:stCxn id="12" idx="2"/>
            <a:endCxn id="7" idx="0"/>
          </p:cNvCxnSpPr>
          <p:nvPr/>
        </p:nvCxnSpPr>
        <p:spPr bwMode="auto">
          <a:xfrm>
            <a:off x="5976096" y="5673200"/>
            <a:ext cx="0" cy="2760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Conector de Seta Reta 25">
            <a:extLst>
              <a:ext uri="{FF2B5EF4-FFF2-40B4-BE49-F238E27FC236}">
                <a16:creationId xmlns:a16="http://schemas.microsoft.com/office/drawing/2014/main" id="{0F629932-3618-EA51-CE19-CE6F50F33622}"/>
              </a:ext>
            </a:extLst>
          </p:cNvPr>
          <p:cNvCxnSpPr>
            <a:stCxn id="7" idx="3"/>
            <a:endCxn id="14" idx="5"/>
          </p:cNvCxnSpPr>
          <p:nvPr/>
        </p:nvCxnSpPr>
        <p:spPr bwMode="auto">
          <a:xfrm>
            <a:off x="6696176" y="6255280"/>
            <a:ext cx="472724" cy="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8" name="Conector: Angulado 27">
            <a:extLst>
              <a:ext uri="{FF2B5EF4-FFF2-40B4-BE49-F238E27FC236}">
                <a16:creationId xmlns:a16="http://schemas.microsoft.com/office/drawing/2014/main" id="{22EB93EB-ABE6-E368-6172-20423AD7C208}"/>
              </a:ext>
            </a:extLst>
          </p:cNvPr>
          <p:cNvCxnSpPr>
            <a:cxnSpLocks/>
            <a:stCxn id="7" idx="1"/>
            <a:endCxn id="5" idx="2"/>
          </p:cNvCxnSpPr>
          <p:nvPr/>
        </p:nvCxnSpPr>
        <p:spPr bwMode="auto">
          <a:xfrm rot="10800000">
            <a:off x="1179002" y="5653120"/>
            <a:ext cx="4077014" cy="602160"/>
          </a:xfrm>
          <a:prstGeom prst="bentConnector2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1FFD8DD-8796-B0C7-2690-98BDFD14F9D2}"/>
              </a:ext>
            </a:extLst>
          </p:cNvPr>
          <p:cNvSpPr txBox="1"/>
          <p:nvPr/>
        </p:nvSpPr>
        <p:spPr>
          <a:xfrm>
            <a:off x="4738532" y="5956161"/>
            <a:ext cx="6255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</a:t>
            </a:r>
            <a:endParaRPr lang="pt-BR" sz="1400" dirty="0"/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58DCAE68-1DA5-1773-0CE4-AECC35E7FC99}"/>
              </a:ext>
            </a:extLst>
          </p:cNvPr>
          <p:cNvSpPr txBox="1"/>
          <p:nvPr/>
        </p:nvSpPr>
        <p:spPr>
          <a:xfrm>
            <a:off x="6581510" y="5956161"/>
            <a:ext cx="6255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4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sim</a:t>
            </a:r>
            <a:endParaRPr lang="pt-BR" sz="1400" dirty="0"/>
          </a:p>
        </p:txBody>
      </p:sp>
    </p:spTree>
    <p:extLst>
      <p:ext uri="{BB962C8B-B14F-4D97-AF65-F5344CB8AC3E}">
        <p14:creationId xmlns:p14="http://schemas.microsoft.com/office/powerpoint/2010/main" val="3035867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build="p"/>
      <p:bldP spid="4" grpId="0" animBg="1"/>
      <p:bldP spid="5" grpId="0" animBg="1"/>
      <p:bldP spid="7" grpId="0" animBg="1"/>
      <p:bldP spid="12" grpId="0" animBg="1"/>
      <p:bldP spid="13" grpId="0" animBg="1"/>
      <p:bldP spid="14" grpId="0" animBg="1"/>
      <p:bldP spid="33" grpId="0"/>
      <p:bldP spid="34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EB024-8DA6-926B-37E8-55533BC2F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Agrupar 19">
            <a:extLst>
              <a:ext uri="{FF2B5EF4-FFF2-40B4-BE49-F238E27FC236}">
                <a16:creationId xmlns:a16="http://schemas.microsoft.com/office/drawing/2014/main" id="{F5EB51D6-9A36-CD95-440C-A0E829883F57}"/>
              </a:ext>
            </a:extLst>
          </p:cNvPr>
          <p:cNvGrpSpPr/>
          <p:nvPr/>
        </p:nvGrpSpPr>
        <p:grpSpPr>
          <a:xfrm>
            <a:off x="5148064" y="5081635"/>
            <a:ext cx="1836000" cy="1633229"/>
            <a:chOff x="7128613" y="3418553"/>
            <a:chExt cx="1836000" cy="1633229"/>
          </a:xfrm>
        </p:grpSpPr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63452368-A09B-DFC0-B89B-C7ED39A475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128613" y="3418553"/>
              <a:ext cx="1836000" cy="163322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CD53E002-9D63-D8B5-73F2-34484CCB6571}"/>
                    </a:ext>
                  </a:extLst>
                </p:cNvPr>
                <p:cNvSpPr txBox="1"/>
                <p:nvPr/>
              </p:nvSpPr>
              <p:spPr>
                <a:xfrm>
                  <a:off x="8126437" y="4854045"/>
                  <a:ext cx="149056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alt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CaixaDeTexto 17">
                  <a:extLst>
                    <a:ext uri="{FF2B5EF4-FFF2-40B4-BE49-F238E27FC236}">
                      <a16:creationId xmlns:a16="http://schemas.microsoft.com/office/drawing/2014/main" id="{CD53E002-9D63-D8B5-73F2-34484CCB65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26437" y="4854045"/>
                  <a:ext cx="149056" cy="94898"/>
                </a:xfrm>
                <a:prstGeom prst="rect">
                  <a:avLst/>
                </a:prstGeom>
                <a:blipFill>
                  <a:blip r:embed="rId4"/>
                  <a:stretch>
                    <a:fillRect t="-31250" r="-56000" b="-125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3CF247DD-0AEA-6301-B8C1-F639E9878B0F}"/>
                    </a:ext>
                  </a:extLst>
                </p:cNvPr>
                <p:cNvSpPr txBox="1"/>
                <p:nvPr/>
              </p:nvSpPr>
              <p:spPr>
                <a:xfrm rot="16200000">
                  <a:off x="7201197" y="4094513"/>
                  <a:ext cx="148472" cy="9269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altLang="pt-BR" sz="600" b="0" i="1" kern="0" smtClean="0">
                            <a:latin typeface="Cambria Math"/>
                          </a:rPr>
                          <m:t>𝑌</m:t>
                        </m:r>
                      </m:oMath>
                    </m:oMathPara>
                  </a14:m>
                  <a:endParaRPr lang="pt-BR" sz="600" dirty="0"/>
                </a:p>
              </p:txBody>
            </p:sp>
          </mc:Choice>
          <mc:Fallback xmlns="">
            <p:sp>
              <p:nvSpPr>
                <p:cNvPr id="19" name="CaixaDeTexto 18">
                  <a:extLst>
                    <a:ext uri="{FF2B5EF4-FFF2-40B4-BE49-F238E27FC236}">
                      <a16:creationId xmlns:a16="http://schemas.microsoft.com/office/drawing/2014/main" id="{3CF247DD-0AEA-6301-B8C1-F639E9878B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201197" y="4094513"/>
                  <a:ext cx="148472" cy="92696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AE4CCA58-91C0-9335-56ED-6CF5BC1A55F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Análise de Resíduos</a:t>
            </a:r>
            <a:endParaRPr lang="pt-BR" i="1" dirty="0"/>
          </a:p>
        </p:txBody>
      </p:sp>
      <p:sp>
        <p:nvSpPr>
          <p:cNvPr id="12" name="Rectangle 9">
            <a:extLst>
              <a:ext uri="{FF2B5EF4-FFF2-40B4-BE49-F238E27FC236}">
                <a16:creationId xmlns:a16="http://schemas.microsoft.com/office/drawing/2014/main" id="{CCD5B76F-9D69-1AB5-2271-D757E372CD1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395288" y="1349375"/>
            <a:ext cx="8569325" cy="5051425"/>
          </a:xfrm>
          <a:noFill/>
        </p:spPr>
        <p:txBody>
          <a:bodyPr/>
          <a:lstStyle/>
          <a:p>
            <a:pPr marL="352425" indent="-352425" eaLnBrk="1" hangingPunct="1">
              <a:buNone/>
            </a:pPr>
            <a:r>
              <a:rPr lang="pt-BR" sz="1600" dirty="0">
                <a:solidFill>
                  <a:srgbClr val="000000"/>
                </a:solidFill>
                <a:cs typeface="Arial" panose="020B0604020202020204" pitchFamily="34" charset="0"/>
              </a:rPr>
              <a:t>É também bastante recomendável analisar os resíduos do modelo selecionado contra todas as variáveis que ficaram de fora para verificar se alguma dessas variáveis, após alguma transformação ou retirada de </a:t>
            </a:r>
            <a:r>
              <a:rPr lang="pt-BR" sz="1600" i="1" dirty="0">
                <a:solidFill>
                  <a:srgbClr val="000000"/>
                </a:solidFill>
                <a:cs typeface="Arial" panose="020B0604020202020204" pitchFamily="34" charset="0"/>
              </a:rPr>
              <a:t>outliers</a:t>
            </a:r>
            <a:r>
              <a:rPr lang="pt-BR" sz="1600" dirty="0">
                <a:solidFill>
                  <a:srgbClr val="000000"/>
                </a:solidFill>
                <a:cs typeface="Arial" panose="020B0604020202020204" pitchFamily="34" charset="0"/>
              </a:rPr>
              <a:t>, poderiam ser novamente avaliadas. Nesse caso, repete-se todo o processo.</a:t>
            </a:r>
          </a:p>
          <a:p>
            <a:pPr marL="352425" indent="-352425" eaLnBrk="1" hangingPunct="1">
              <a:buFontTx/>
              <a:buNone/>
            </a:pPr>
            <a:endParaRPr lang="pt-BR" altLang="pt-BR" sz="1600" dirty="0"/>
          </a:p>
          <a:p>
            <a:pPr marL="352425" indent="-352425" eaLnBrk="1" hangingPunct="1">
              <a:buFontTx/>
              <a:buNone/>
            </a:pPr>
            <a:r>
              <a:rPr lang="pt-BR" altLang="pt-BR" sz="1600" dirty="0"/>
              <a:t>Em algumas situações, pode-se verificar se a interação entre as variáveis independentes poderia melhorar o ajuste do modelo: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940BDA8-E310-4D7D-D637-A1123FF1C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79</a:t>
            </a:fld>
            <a:endParaRPr lang="pt-BR" dirty="0"/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A4E05C54-385A-508A-6887-200B21C2F9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7087466"/>
              </p:ext>
            </p:extLst>
          </p:nvPr>
        </p:nvGraphicFramePr>
        <p:xfrm>
          <a:off x="395288" y="3419872"/>
          <a:ext cx="1828800" cy="29781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79063767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6540263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97998798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60519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52,1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60411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229,9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54945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856442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190,1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924497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150,4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338111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133,7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07462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211,5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579647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192,3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07086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203,8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930158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162,0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3759348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175,8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55425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124,9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68538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35,5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9564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239,1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019134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82,0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3203586"/>
                  </a:ext>
                </a:extLst>
              </a:tr>
            </a:tbl>
          </a:graphicData>
        </a:graphic>
      </p:graphicFrame>
      <p:grpSp>
        <p:nvGrpSpPr>
          <p:cNvPr id="8" name="Agrupar 7">
            <a:extLst>
              <a:ext uri="{FF2B5EF4-FFF2-40B4-BE49-F238E27FC236}">
                <a16:creationId xmlns:a16="http://schemas.microsoft.com/office/drawing/2014/main" id="{0FBDBCA9-D0AC-4788-446B-82A62C117A94}"/>
              </a:ext>
            </a:extLst>
          </p:cNvPr>
          <p:cNvGrpSpPr/>
          <p:nvPr/>
        </p:nvGrpSpPr>
        <p:grpSpPr>
          <a:xfrm>
            <a:off x="5148064" y="3429000"/>
            <a:ext cx="1836000" cy="1670892"/>
            <a:chOff x="2339752" y="3429000"/>
            <a:chExt cx="1828801" cy="1670892"/>
          </a:xfrm>
        </p:grpSpPr>
        <p:pic>
          <p:nvPicPr>
            <p:cNvPr id="4" name="Imagem 3">
              <a:extLst>
                <a:ext uri="{FF2B5EF4-FFF2-40B4-BE49-F238E27FC236}">
                  <a16:creationId xmlns:a16="http://schemas.microsoft.com/office/drawing/2014/main" id="{3C235616-BDE6-2DAA-A1F7-9DBFC514DE6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339752" y="3429000"/>
              <a:ext cx="1828801" cy="167089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A79810F-1895-B2FE-DF1C-D44AAF622F3F}"/>
                    </a:ext>
                  </a:extLst>
                </p:cNvPr>
                <p:cNvSpPr txBox="1"/>
                <p:nvPr/>
              </p:nvSpPr>
              <p:spPr>
                <a:xfrm>
                  <a:off x="3333664" y="4918278"/>
                  <a:ext cx="148472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alt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altLang="pt-BR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6A79810F-1895-B2FE-DF1C-D44AAF622F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3664" y="4918278"/>
                  <a:ext cx="148472" cy="94898"/>
                </a:xfrm>
                <a:prstGeom prst="rect">
                  <a:avLst/>
                </a:prstGeom>
                <a:blipFill>
                  <a:blip r:embed="rId8"/>
                  <a:stretch>
                    <a:fillRect t="-40000" r="-58333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B29BA390-FBB0-537C-591B-EBCA9914B2FC}"/>
                    </a:ext>
                  </a:extLst>
                </p:cNvPr>
                <p:cNvSpPr txBox="1"/>
                <p:nvPr/>
              </p:nvSpPr>
              <p:spPr>
                <a:xfrm rot="16200000">
                  <a:off x="2411760" y="4105142"/>
                  <a:ext cx="148472" cy="92333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altLang="pt-BR" sz="600" b="0" i="1" kern="0" smtClean="0">
                            <a:latin typeface="Cambria Math"/>
                          </a:rPr>
                          <m:t>𝑌</m:t>
                        </m:r>
                      </m:oMath>
                    </m:oMathPara>
                  </a14:m>
                  <a:endParaRPr lang="pt-BR" sz="6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B29BA390-FBB0-537C-591B-EBCA9914B2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11760" y="4105142"/>
                  <a:ext cx="148472" cy="92333"/>
                </a:xfrm>
                <a:prstGeom prst="rect">
                  <a:avLst/>
                </a:prstGeom>
                <a:blipFill>
                  <a:blip r:embed="rId5"/>
                  <a:stretch>
                    <a:fillRect r="-1333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9" name="Tabela 8">
            <a:extLst>
              <a:ext uri="{FF2B5EF4-FFF2-40B4-BE49-F238E27FC236}">
                <a16:creationId xmlns:a16="http://schemas.microsoft.com/office/drawing/2014/main" id="{2F5C4A7E-1EBD-E53E-2B0B-FA579FD658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2849382"/>
              </p:ext>
            </p:extLst>
          </p:nvPr>
        </p:nvGraphicFramePr>
        <p:xfrm>
          <a:off x="2570335" y="3432315"/>
          <a:ext cx="1828800" cy="7429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8161647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1472120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72787414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coef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valor-P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5533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Interseção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-74,50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1,22E-06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6746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20,03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6,07E-11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58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23,80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1,25E-11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931399"/>
                  </a:ext>
                </a:extLst>
              </a:tr>
            </a:tbl>
          </a:graphicData>
        </a:graphic>
      </p:graphicFrame>
      <p:grpSp>
        <p:nvGrpSpPr>
          <p:cNvPr id="13" name="Agrupar 12">
            <a:extLst>
              <a:ext uri="{FF2B5EF4-FFF2-40B4-BE49-F238E27FC236}">
                <a16:creationId xmlns:a16="http://schemas.microsoft.com/office/drawing/2014/main" id="{347B2589-F7A9-D23D-2DAE-600ADFAE2377}"/>
              </a:ext>
            </a:extLst>
          </p:cNvPr>
          <p:cNvGrpSpPr/>
          <p:nvPr/>
        </p:nvGrpSpPr>
        <p:grpSpPr>
          <a:xfrm>
            <a:off x="7038564" y="3429000"/>
            <a:ext cx="1836000" cy="1681157"/>
            <a:chOff x="2339751" y="5013176"/>
            <a:chExt cx="1836000" cy="1681157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4240BB7B-A125-5922-21B0-7649D2FE502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339751" y="5013176"/>
              <a:ext cx="1836000" cy="168115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ED3061B2-FC59-4923-A67D-CFF9E77D1A69}"/>
                    </a:ext>
                  </a:extLst>
                </p:cNvPr>
                <p:cNvSpPr txBox="1"/>
                <p:nvPr/>
              </p:nvSpPr>
              <p:spPr>
                <a:xfrm>
                  <a:off x="3332886" y="6489583"/>
                  <a:ext cx="149056" cy="9489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>
                  <a:defPPr>
                    <a:defRPr lang="pt-BR"/>
                  </a:defPPr>
                  <a:lvl1pPr>
                    <a:defRPr sz="600" b="0" i="1" kern="0">
                      <a:latin typeface="Cambria Math"/>
                    </a:defRPr>
                  </a:lvl1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pt-BR" alt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1" name="CaixaDeTexto 10">
                  <a:extLst>
                    <a:ext uri="{FF2B5EF4-FFF2-40B4-BE49-F238E27FC236}">
                      <a16:creationId xmlns:a16="http://schemas.microsoft.com/office/drawing/2014/main" id="{ED3061B2-FC59-4923-A67D-CFF9E77D1A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2886" y="6489583"/>
                  <a:ext cx="149056" cy="94898"/>
                </a:xfrm>
                <a:prstGeom prst="rect">
                  <a:avLst/>
                </a:prstGeom>
                <a:blipFill>
                  <a:blip r:embed="rId11"/>
                  <a:stretch>
                    <a:fillRect l="-20000" r="-20000" b="-2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14" name="Tabela 13">
            <a:extLst>
              <a:ext uri="{FF2B5EF4-FFF2-40B4-BE49-F238E27FC236}">
                <a16:creationId xmlns:a16="http://schemas.microsoft.com/office/drawing/2014/main" id="{443A9154-7C0B-DDB3-15F4-7B6FABE20F7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1386497"/>
              </p:ext>
            </p:extLst>
          </p:nvPr>
        </p:nvGraphicFramePr>
        <p:xfrm>
          <a:off x="2570335" y="5081635"/>
          <a:ext cx="1828800" cy="93345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381616479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14721203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672787414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 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coef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valor-P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15533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Interseção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-57,06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5,55E-08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156746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15,89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1,63E-10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275889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18,56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2,09E-10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69313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X1X2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1,31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1,95E-05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341305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9">
                <a:extLst>
                  <a:ext uri="{FF2B5EF4-FFF2-40B4-BE49-F238E27FC236}">
                    <a16:creationId xmlns:a16="http://schemas.microsoft.com/office/drawing/2014/main" id="{4908B031-E716-5ACA-469A-AD08384AD07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83768" y="4269888"/>
                <a:ext cx="3122288" cy="35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algn="ctr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altLang="pt-BR" sz="1050" i="1" kern="0" smtClean="0">
                              <a:latin typeface="Cambria Math"/>
                            </a:rPr>
                            <m:t>𝑌</m:t>
                          </m:r>
                        </m:e>
                      </m:acc>
                      <m:r>
                        <a:rPr lang="pt-BR" altLang="pt-BR" sz="1050" b="0" i="1" kern="0" smtClean="0">
                          <a:latin typeface="Cambria Math"/>
                        </a:rPr>
                        <m:t>=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−74,50</m:t>
                      </m:r>
                      <m:r>
                        <a:rPr lang="pt-BR" altLang="pt-BR" sz="1050" i="1" kern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20,03</m:t>
                      </m:r>
                      <m:sSub>
                        <m:sSubPr>
                          <m:ctrlPr>
                            <a:rPr lang="pt-BR" altLang="pt-BR" sz="1050" b="0" i="1" kern="0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05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altLang="pt-BR" sz="1050" i="1" kern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altLang="pt-BR" sz="1050" b="0" i="1" kern="0" smtClean="0">
                          <a:latin typeface="Cambria Math" panose="02040503050406030204" pitchFamily="18" charset="0"/>
                        </a:rPr>
                        <m:t>23,80</m:t>
                      </m:r>
                      <m:sSub>
                        <m:sSubPr>
                          <m:ctrlPr>
                            <a:rPr lang="pt-BR" altLang="pt-BR" sz="1050" b="0" i="1" ker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altLang="pt-BR" sz="105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05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altLang="pt-BR" sz="105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Rectangle 9">
                <a:extLst>
                  <a:ext uri="{FF2B5EF4-FFF2-40B4-BE49-F238E27FC236}">
                    <a16:creationId xmlns:a16="http://schemas.microsoft.com/office/drawing/2014/main" id="{4908B031-E716-5ACA-469A-AD08384AD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3768" y="4269888"/>
                <a:ext cx="3122288" cy="359551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9">
                <a:extLst>
                  <a:ext uri="{FF2B5EF4-FFF2-40B4-BE49-F238E27FC236}">
                    <a16:creationId xmlns:a16="http://schemas.microsoft.com/office/drawing/2014/main" id="{A74615D5-4D5B-CEB8-8EC9-37359BE2542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83768" y="6106930"/>
                <a:ext cx="3122288" cy="35955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altLang="pt-BR" sz="1050" i="1" kern="0" smtClean="0">
                            <a:latin typeface="Cambria Math"/>
                          </a:rPr>
                          <m:t>𝑌</m:t>
                        </m:r>
                      </m:e>
                    </m:acc>
                    <m:r>
                      <a:rPr lang="pt-BR" altLang="pt-BR" sz="1050" b="0" i="1" kern="0" smtClean="0">
                        <a:latin typeface="Cambria Math"/>
                      </a:rPr>
                      <m:t>=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−57,06</m:t>
                    </m:r>
                    <m:r>
                      <a:rPr lang="pt-BR" altLang="pt-BR" sz="1050" i="1" kern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15,89</m:t>
                    </m:r>
                    <m:sSub>
                      <m:sSubPr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b="0" i="1" kern="0" smtClea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r>
                      <a:rPr lang="pt-BR" altLang="pt-BR" sz="1050" i="1" kern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altLang="pt-BR" sz="1050" b="0" i="1" kern="0" smtClean="0">
                        <a:latin typeface="Cambria Math" panose="02040503050406030204" pitchFamily="18" charset="0"/>
                      </a:rPr>
                      <m:t>18,56</m:t>
                    </m:r>
                    <m:sSub>
                      <m:sSubPr>
                        <m:ctrlPr>
                          <a:rPr lang="pt-BR" altLang="pt-BR" sz="1050" b="0" i="1" ker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altLang="pt-BR" sz="1050" kern="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+1,31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altLang="pt-BR" sz="1050" i="1" ker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i="1" kern="0">
                            <a:latin typeface="Cambria Math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i="1" kern="0">
                            <a:latin typeface="Cambria Math" panose="02040503050406030204" pitchFamily="18" charset="0"/>
                            <a:ea typeface="Cambria Math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𝑋</m:t>
                        </m:r>
                      </m:e>
                      <m:sub>
                        <m:r>
                          <a:rPr lang="pt-BR" altLang="pt-BR" sz="1050" b="0" i="1" kern="0" smtClean="0">
                            <a:latin typeface="Cambria Math" panose="02040503050406030204" pitchFamily="18" charset="0"/>
                            <a:ea typeface="Cambria Math"/>
                          </a:rPr>
                          <m:t>2</m:t>
                        </m:r>
                      </m:sub>
                    </m:sSub>
                  </m:oMath>
                </a14:m>
                <a:endParaRPr lang="pt-BR" altLang="pt-BR" sz="105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6" name="Rectangle 9">
                <a:extLst>
                  <a:ext uri="{FF2B5EF4-FFF2-40B4-BE49-F238E27FC236}">
                    <a16:creationId xmlns:a16="http://schemas.microsoft.com/office/drawing/2014/main" id="{A74615D5-4D5B-CEB8-8EC9-37359BE254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83768" y="6106930"/>
                <a:ext cx="3122288" cy="35955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Elipse 9">
            <a:extLst>
              <a:ext uri="{FF2B5EF4-FFF2-40B4-BE49-F238E27FC236}">
                <a16:creationId xmlns:a16="http://schemas.microsoft.com/office/drawing/2014/main" id="{58D960D3-64AB-F3D9-2D7F-EDFAE03114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09460" y="3573016"/>
            <a:ext cx="801780" cy="642897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21" name="Elipse 9">
            <a:extLst>
              <a:ext uri="{FF2B5EF4-FFF2-40B4-BE49-F238E27FC236}">
                <a16:creationId xmlns:a16="http://schemas.microsoft.com/office/drawing/2014/main" id="{D7B0B385-4060-B6B5-80FA-B7E5018C6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87049" y="5190677"/>
            <a:ext cx="801780" cy="878383"/>
          </a:xfrm>
          <a:prstGeom prst="ellips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250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6" grpId="0"/>
      <p:bldP spid="17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80</a:t>
            </a:fld>
            <a:endParaRPr lang="pt-BR" dirty="0"/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387106" y="1412776"/>
            <a:ext cx="856932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dados estão disponíveis em RegrDados.dat</a:t>
            </a:r>
          </a:p>
        </p:txBody>
      </p:sp>
      <p:graphicFrame>
        <p:nvGraphicFramePr>
          <p:cNvPr id="4" name="Tabe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046424"/>
              </p:ext>
            </p:extLst>
          </p:nvPr>
        </p:nvGraphicFramePr>
        <p:xfrm>
          <a:off x="539552" y="2348880"/>
          <a:ext cx="7772401" cy="3923577"/>
        </p:xfrm>
        <a:graphic>
          <a:graphicData uri="http://schemas.openxmlformats.org/drawingml/2006/table">
            <a:tbl>
              <a:tblPr/>
              <a:tblGrid>
                <a:gridCol w="5978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59787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Y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X5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100,9716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191,5408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0,035715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0,163621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108,1522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164,1165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0,01457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0,244236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109,308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112,1469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243,3895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0,106897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110,4889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103,6505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99,70563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275,3885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0,007832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0,262593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109,4251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104,326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111,5136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62,96696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0,132668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0,094935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110,9833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111,4834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106,1368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201,3384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1,696478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0,226717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110,2725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108,5016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96,00361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195,0345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0,050644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0,235669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109,6515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123,1041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95,47518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217,71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0,780169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0,199064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108,8689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96,11517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100,5438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71,00401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0,006774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0,274924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109,5986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100,5872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106,9972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268,7112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0,046441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0,243702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109,9278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106,3803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100,9839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277,3767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0,088838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110,0388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96,44818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117,2304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272,5158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0,027461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0,168976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92,81556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103,8784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243,5599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0,000303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0,160092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110,1938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105,4046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109,6684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247,6312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0,050508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0,195319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110,1356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113,3299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108,8013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221,162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0,935501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0,219022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110,8796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107,6394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102,7008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122,6451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0,093624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0,127112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109,5073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102,8919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212,9797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1,302829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0,316011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110,4447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119,6807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93,15921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179,5055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0,336576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0,188007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109,0429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114,0049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105,906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233,7622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0,299974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0,169543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109,7264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110,9345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94,74519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271,6365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0,096466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0,292361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109,4735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94,63697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107,5253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173,7078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0,021178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0,158086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104,8678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102,6694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282,3483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0,051442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0,080458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109,7799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111,4428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102,9983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216,4401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0,037315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0,135116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109,5703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105,8734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100,8227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109,4809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0,031293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0,175168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109,9754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105,0202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105,3302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163,8557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0,289124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0,163017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109,7318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95,95295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116,9337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219,9231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0,057211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0,207979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88,41419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114,4864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165,1862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0,008662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0,145228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111,219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125,1698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101,5443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409,9216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0,270551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0,003029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109,9989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99,81212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109,5304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121,4531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0,08814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0,25679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110,839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93,63811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111,3147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464,3571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0,05907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0,153045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110,6434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87,03449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108,7498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335,4734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0,002011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0,238312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109,9678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110,7853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98,80057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91,17997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0,158132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0,165678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106,95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102,1372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126,4867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0,08776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0,205099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109,607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108,5595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112,7691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259,943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0,557714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0,176864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110,8162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110,5253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109,228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322,801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0,082994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0,097948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113,2232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104,3571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191,8647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1,701136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0,270866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109,5895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83,67311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111,4563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137,3347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0,001553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0,267389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110,2006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99,92746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99,8217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237,0379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0,03948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0,323259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109,7102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6837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102,5173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109,5361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304,8186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0,023646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0,09666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110,5746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pt-BR" sz="11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110,344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103,6897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406,2605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0,069096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0,087841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110,2778</a:t>
                      </a:r>
                    </a:p>
                  </a:txBody>
                  <a:tcPr marL="9342" marR="9342" marT="9342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4128659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D72C3-17FB-BB16-7C23-8FBF893B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AF405F50-872E-041E-88E1-803C2152A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3928" y="1700808"/>
            <a:ext cx="3945654" cy="3872284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DDF38D7C-602E-43FC-AA53-EE7DAF8E6F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 em R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0FA7813-CF18-C944-E258-BF5A26DCF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81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6089D4CE-7666-2AD5-D487-67AC9B6A9C5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4"/>
            <a:ext cx="8929365" cy="5319985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Entrada dos dados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dados &lt;- read.csv("RegrDados.dat", header = TRUE,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sep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="\t",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".",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na.strings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NA)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# Plotando gráficos de dispersão e correlações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&lt;-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(x, y, ...)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par(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usr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c(0, 1, 0, 1))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(0.5, 0.5,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format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(cor(x, y),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digits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=2),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cex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1.5)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10D1345C-06B8-31F4-9228-2439303612AA}"/>
              </a:ext>
            </a:extLst>
          </p:cNvPr>
          <p:cNvSpPr/>
          <p:nvPr/>
        </p:nvSpPr>
        <p:spPr bwMode="auto">
          <a:xfrm>
            <a:off x="5906244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53C5D64E-C881-2192-2F08-74EDCC96BF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7" y="5517232"/>
            <a:ext cx="8569325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Qual são as melhores variáveis que explicam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	Se avaliarmos apenas a correlação: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,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alt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todas as relações das variáveis independentes com a </a:t>
            </a:r>
            <a:r>
              <a:rPr lang="pt-BR" altLang="pt-BR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 são lineares?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2F1A488-FC55-72E4-8676-DB2CCB055A71}"/>
              </a:ext>
            </a:extLst>
          </p:cNvPr>
          <p:cNvSpPr/>
          <p:nvPr/>
        </p:nvSpPr>
        <p:spPr bwMode="auto">
          <a:xfrm>
            <a:off x="4860032" y="2113806"/>
            <a:ext cx="504056" cy="504056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2468F44B-9B29-EB33-4EA6-A06FF49A3038}"/>
              </a:ext>
            </a:extLst>
          </p:cNvPr>
          <p:cNvSpPr/>
          <p:nvPr/>
        </p:nvSpPr>
        <p:spPr bwMode="auto">
          <a:xfrm>
            <a:off x="6938739" y="2113806"/>
            <a:ext cx="504000" cy="504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93685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E6DDF-F6C6-79AD-A5B4-8DA2F3A7E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Agrupar 18">
            <a:extLst>
              <a:ext uri="{FF2B5EF4-FFF2-40B4-BE49-F238E27FC236}">
                <a16:creationId xmlns:a16="http://schemas.microsoft.com/office/drawing/2014/main" id="{8B613DB3-4E83-9F09-7D6E-825EC0CB7ACA}"/>
              </a:ext>
            </a:extLst>
          </p:cNvPr>
          <p:cNvGrpSpPr/>
          <p:nvPr/>
        </p:nvGrpSpPr>
        <p:grpSpPr>
          <a:xfrm>
            <a:off x="251520" y="1412776"/>
            <a:ext cx="8681587" cy="5333988"/>
            <a:chOff x="369723" y="1525304"/>
            <a:chExt cx="8681587" cy="5333988"/>
          </a:xfrm>
        </p:grpSpPr>
        <p:pic>
          <p:nvPicPr>
            <p:cNvPr id="13" name="Imagem 12">
              <a:extLst>
                <a:ext uri="{FF2B5EF4-FFF2-40B4-BE49-F238E27FC236}">
                  <a16:creationId xmlns:a16="http://schemas.microsoft.com/office/drawing/2014/main" id="{5804376B-091C-7259-8368-586FA0C0978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808304" y="3978000"/>
              <a:ext cx="2934568" cy="2880000"/>
            </a:xfrm>
            <a:prstGeom prst="rect">
              <a:avLst/>
            </a:prstGeom>
          </p:spPr>
        </p:pic>
        <p:pic>
          <p:nvPicPr>
            <p:cNvPr id="12" name="Imagem 11">
              <a:extLst>
                <a:ext uri="{FF2B5EF4-FFF2-40B4-BE49-F238E27FC236}">
                  <a16:creationId xmlns:a16="http://schemas.microsoft.com/office/drawing/2014/main" id="{E1E86B90-8C99-FCA9-9681-B397DADC499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78159" y="3979292"/>
              <a:ext cx="2934569" cy="2880000"/>
            </a:xfrm>
            <a:prstGeom prst="rect">
              <a:avLst/>
            </a:prstGeom>
          </p:spPr>
        </p:pic>
        <p:pic>
          <p:nvPicPr>
            <p:cNvPr id="16" name="Imagem 15">
              <a:extLst>
                <a:ext uri="{FF2B5EF4-FFF2-40B4-BE49-F238E27FC236}">
                  <a16:creationId xmlns:a16="http://schemas.microsoft.com/office/drawing/2014/main" id="{575697AB-8B3B-81B0-AB02-6038DF7122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9723" y="1525304"/>
              <a:ext cx="2934568" cy="2880000"/>
            </a:xfrm>
            <a:prstGeom prst="rect">
              <a:avLst/>
            </a:prstGeom>
          </p:spPr>
        </p:pic>
        <p:pic>
          <p:nvPicPr>
            <p:cNvPr id="15" name="Imagem 14">
              <a:extLst>
                <a:ext uri="{FF2B5EF4-FFF2-40B4-BE49-F238E27FC236}">
                  <a16:creationId xmlns:a16="http://schemas.microsoft.com/office/drawing/2014/main" id="{2CAADF29-9123-6C18-E363-EAE0D64DB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3232" y="1525304"/>
              <a:ext cx="2934568" cy="2880000"/>
            </a:xfrm>
            <a:prstGeom prst="rect">
              <a:avLst/>
            </a:prstGeom>
          </p:spPr>
        </p:pic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6EFFC29B-1638-396D-6B68-8276064F8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16742" y="1525304"/>
              <a:ext cx="2934568" cy="28800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66203585-D53F-B0CD-B404-45701C5D9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219273E-FEEB-A964-459D-ECCA52CE4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82</a:t>
            </a:fld>
            <a:endParaRPr lang="pt-BR" dirty="0"/>
          </a:p>
        </p:txBody>
      </p:sp>
      <p:sp>
        <p:nvSpPr>
          <p:cNvPr id="8" name="Rectangle 9">
            <a:extLst>
              <a:ext uri="{FF2B5EF4-FFF2-40B4-BE49-F238E27FC236}">
                <a16:creationId xmlns:a16="http://schemas.microsoft.com/office/drawing/2014/main" id="{DAD5C389-C7B8-CC65-9F0F-8F1079CB6AF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279426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(Y~X1,data=dados)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(Y~X2,data=dados)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(Y~X4,data=dados)   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(Y~X5,data=dados)</a:t>
            </a:r>
          </a:p>
          <a:p>
            <a:pPr marL="352425" indent="-352425" eaLnBrk="1" hangingPunct="1">
              <a:buFontTx/>
              <a:buNone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22FE518-4FD8-5E70-5955-6E5060C276CD}"/>
              </a:ext>
            </a:extLst>
          </p:cNvPr>
          <p:cNvSpPr/>
          <p:nvPr/>
        </p:nvSpPr>
        <p:spPr bwMode="auto">
          <a:xfrm>
            <a:off x="5957914" y="1772816"/>
            <a:ext cx="2862557" cy="2232248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4372119-006A-DCB0-9CD3-BABEB1DAAD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35150" y="4063789"/>
            <a:ext cx="1775581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85725" indent="-85725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relação parece não ser linear</a:t>
            </a:r>
          </a:p>
        </p:txBody>
      </p:sp>
    </p:spTree>
    <p:extLst>
      <p:ext uri="{BB962C8B-B14F-4D97-AF65-F5344CB8AC3E}">
        <p14:creationId xmlns:p14="http://schemas.microsoft.com/office/powerpoint/2010/main" val="38804592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2" grpId="0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519720DB-4FED-6E54-0D16-818B2789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3129" y="2603112"/>
            <a:ext cx="3411605" cy="33481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E1AFDFC6-EA0B-3E17-4FA6-B5682F0E7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537" y="3565939"/>
            <a:ext cx="2567747" cy="2520000"/>
          </a:xfrm>
          <a:prstGeom prst="rect">
            <a:avLst/>
          </a:prstGeom>
        </p:spPr>
      </p:pic>
      <p:pic>
        <p:nvPicPr>
          <p:cNvPr id="2" name="Imagem 1">
            <a:extLst>
              <a:ext uri="{FF2B5EF4-FFF2-40B4-BE49-F238E27FC236}">
                <a16:creationId xmlns:a16="http://schemas.microsoft.com/office/drawing/2014/main" id="{FEAEE3AC-7AA1-7536-D7E0-0B3D64A472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537" y="1245179"/>
            <a:ext cx="2567748" cy="2520000"/>
          </a:xfrm>
          <a:prstGeom prst="rect">
            <a:avLst/>
          </a:prstGeom>
        </p:spPr>
      </p:pic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83</a:t>
            </a:fld>
            <a:endParaRPr lang="pt-BR" dirty="0"/>
          </a:p>
        </p:txBody>
      </p:sp>
      <p:sp>
        <p:nvSpPr>
          <p:cNvPr id="8" name="Rectangle 9"/>
          <p:cNvSpPr>
            <a:spLocks noGrp="1" noChangeArrowheads="1"/>
          </p:cNvSpPr>
          <p:nvPr>
            <p:ph type="body" idx="1"/>
          </p:nvPr>
        </p:nvSpPr>
        <p:spPr>
          <a:xfrm>
            <a:off x="107131" y="1349375"/>
            <a:ext cx="8929365" cy="351434"/>
          </a:xfrm>
          <a:noFill/>
        </p:spPr>
        <p:txBody>
          <a:bodyPr/>
          <a:lstStyle/>
          <a:p>
            <a:pPr marL="352425" indent="-352425" eaLnBrk="1" hangingPunct="1">
              <a:buFontTx/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(Y~X3,data=dados)</a:t>
            </a:r>
          </a:p>
        </p:txBody>
      </p:sp>
      <p:sp>
        <p:nvSpPr>
          <p:cNvPr id="4" name="Retângulo 3"/>
          <p:cNvSpPr/>
          <p:nvPr/>
        </p:nvSpPr>
        <p:spPr>
          <a:xfrm>
            <a:off x="153470" y="3645024"/>
            <a:ext cx="223811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(Y~log10(X3),data=dados)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Retângulo 12"/>
          <p:cNvSpPr/>
          <p:nvPr/>
        </p:nvSpPr>
        <p:spPr>
          <a:xfrm>
            <a:off x="3856974" y="1844824"/>
            <a:ext cx="2435282" cy="9417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#linearizando a variável X3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dados$X3 &lt;- log10(dados$X3)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(dados)[4]&lt;-"logX3"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dados,upper.panel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upanel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tângulo 13"/>
          <p:cNvSpPr/>
          <p:nvPr/>
        </p:nvSpPr>
        <p:spPr bwMode="auto">
          <a:xfrm>
            <a:off x="5308930" y="2959918"/>
            <a:ext cx="432000" cy="432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197798" y="6054387"/>
            <a:ext cx="8622674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2425" indent="-352425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531813" indent="-531813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</a:t>
            </a:r>
            <a:r>
              <a:rPr lang="pt-BR" altLang="pt-BR" sz="1600" dirty="0">
                <a:latin typeface="Tahoma" panose="020B0604030504040204" pitchFamily="34" charset="0"/>
              </a:rPr>
              <a:t>: se para linearização fosse necessária a transformação da variável </a:t>
            </a:r>
            <a:r>
              <a:rPr lang="pt-BR" altLang="pt-BR" sz="1600" i="1" dirty="0">
                <a:latin typeface="Cambria Math" panose="02040503050406030204" pitchFamily="18" charset="0"/>
                <a:ea typeface="Cambria Math" panose="02040503050406030204" pitchFamily="18" charset="0"/>
              </a:rPr>
              <a:t>Y</a:t>
            </a:r>
            <a:r>
              <a:rPr lang="pt-BR" altLang="pt-BR" sz="1600" dirty="0">
                <a:latin typeface="Tahoma" panose="020B0604030504040204" pitchFamily="34" charset="0"/>
              </a:rPr>
              <a:t>, esta mesma transformação deveria ser adequada para as demais variáveis independentes, caso contrário, não seria possível utilizar esta variável com as demais</a:t>
            </a:r>
          </a:p>
        </p:txBody>
      </p:sp>
    </p:spTree>
    <p:extLst>
      <p:ext uri="{BB962C8B-B14F-4D97-AF65-F5344CB8AC3E}">
        <p14:creationId xmlns:p14="http://schemas.microsoft.com/office/powerpoint/2010/main" val="24339459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3" grpId="0"/>
      <p:bldP spid="14" grpId="0" animBg="1"/>
      <p:bldP spid="11" grpId="0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84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650286"/>
            <a:ext cx="5616624" cy="19636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Calculando-se o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VIF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car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),digits=2)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X1	X2	logX3	X4	X5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fr-F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4.18	1.12	1.01	1.17	4.25 </a:t>
            </a: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Grupo 6"/>
          <p:cNvGrpSpPr/>
          <p:nvPr/>
        </p:nvGrpSpPr>
        <p:grpSpPr>
          <a:xfrm>
            <a:off x="4644008" y="3284984"/>
            <a:ext cx="2520280" cy="338554"/>
            <a:chOff x="2606600" y="3657381"/>
            <a:chExt cx="2520280" cy="338554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252649" y="3657381"/>
              <a:ext cx="187423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todos valores &lt; 10</a:t>
              </a:r>
            </a:p>
          </p:txBody>
        </p:sp>
      </p:grpSp>
      <p:sp>
        <p:nvSpPr>
          <p:cNvPr id="22" name="Retângulo 21"/>
          <p:cNvSpPr/>
          <p:nvPr/>
        </p:nvSpPr>
        <p:spPr>
          <a:xfrm>
            <a:off x="251520" y="4005064"/>
            <a:ext cx="561662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Conclusão: não há evidências de colinearidade</a:t>
            </a:r>
          </a:p>
        </p:txBody>
      </p:sp>
    </p:spTree>
    <p:extLst>
      <p:ext uri="{BB962C8B-B14F-4D97-AF65-F5344CB8AC3E}">
        <p14:creationId xmlns:p14="http://schemas.microsoft.com/office/powerpoint/2010/main" val="1450807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85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3960440" cy="36625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Aplicando-se o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...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library(MASS)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="both")</a:t>
            </a:r>
          </a:p>
          <a:p>
            <a:pPr marL="352425" lvl="0" indent="-352425">
              <a:spcBef>
                <a:spcPct val="20000"/>
              </a:spcBef>
            </a:pPr>
            <a:endParaRPr lang="en-US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Start:  AIC=105.36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 + X5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X5     1      5.30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 9.78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173.12  585.85 117.37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303.15  715.89 125.39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1447.39 1860.13 163.58</a:t>
            </a:r>
          </a:p>
        </p:txBody>
      </p:sp>
      <p:sp>
        <p:nvSpPr>
          <p:cNvPr id="12" name="Retângulo 11"/>
          <p:cNvSpPr/>
          <p:nvPr/>
        </p:nvSpPr>
        <p:spPr>
          <a:xfrm>
            <a:off x="4499992" y="1738018"/>
            <a:ext cx="3960440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X2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X2     1     10.27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5.30  412.74 105.36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298.44  716.48 123.42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923.03 1341.06 148.49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1443.42 1861.45 161.61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 AIC=102.84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 ~ X1 + logX3 + X4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pt-BR" alt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Sum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Sq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RSS    AIC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</a:t>
            </a:r>
            <a:r>
              <a:rPr lang="pt-BR" alt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none</a:t>
            </a: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                428.31 102.84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X2     1     10.27  418.04 103.87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X5     1      5.78  422.52 104.30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X4     1    368.85  797.16 125.69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X1     1    913.38 1341.69 146.51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alt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logX3  1   1440.77 1869.08 159.77</a:t>
            </a:r>
          </a:p>
        </p:txBody>
      </p:sp>
      <p:grpSp>
        <p:nvGrpSpPr>
          <p:cNvPr id="7" name="Grupo 6"/>
          <p:cNvGrpSpPr/>
          <p:nvPr/>
        </p:nvGrpSpPr>
        <p:grpSpPr>
          <a:xfrm>
            <a:off x="2750616" y="3657381"/>
            <a:ext cx="1430015" cy="276999"/>
            <a:chOff x="2606600" y="3657381"/>
            <a:chExt cx="1430015" cy="276999"/>
          </a:xfrm>
        </p:grpSpPr>
        <p:sp>
          <p:nvSpPr>
            <p:cNvPr id="5" name="Seta para a esquerda 4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6" name="CaixaDeTexto 5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6" name="Grupo 15"/>
          <p:cNvGrpSpPr/>
          <p:nvPr/>
        </p:nvGrpSpPr>
        <p:grpSpPr>
          <a:xfrm>
            <a:off x="7092280" y="2581029"/>
            <a:ext cx="1430015" cy="276999"/>
            <a:chOff x="2606600" y="3657381"/>
            <a:chExt cx="1430015" cy="276999"/>
          </a:xfrm>
        </p:grpSpPr>
        <p:sp>
          <p:nvSpPr>
            <p:cNvPr id="17" name="Seta para a esquerda 16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8" name="CaixaDeTexto 17"/>
            <p:cNvSpPr txBox="1"/>
            <p:nvPr/>
          </p:nvSpPr>
          <p:spPr>
            <a:xfrm>
              <a:off x="3066478" y="3657381"/>
              <a:ext cx="97013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diminui AIC</a:t>
              </a:r>
            </a:p>
          </p:txBody>
        </p:sp>
      </p:grpSp>
      <p:grpSp>
        <p:nvGrpSpPr>
          <p:cNvPr id="19" name="Grupo 18"/>
          <p:cNvGrpSpPr/>
          <p:nvPr/>
        </p:nvGrpSpPr>
        <p:grpSpPr>
          <a:xfrm>
            <a:off x="6268416" y="4324160"/>
            <a:ext cx="1860491" cy="338554"/>
            <a:chOff x="2606600" y="3645024"/>
            <a:chExt cx="1860491" cy="338554"/>
          </a:xfrm>
        </p:grpSpPr>
        <p:sp>
          <p:nvSpPr>
            <p:cNvPr id="20" name="Seta para a esquerda 19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21" name="CaixaDeTexto 20"/>
            <p:cNvSpPr txBox="1"/>
            <p:nvPr/>
          </p:nvSpPr>
          <p:spPr>
            <a:xfrm>
              <a:off x="3128263" y="3645024"/>
              <a:ext cx="13388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modelo final</a:t>
              </a:r>
            </a:p>
          </p:txBody>
        </p:sp>
      </p:grpSp>
      <p:sp>
        <p:nvSpPr>
          <p:cNvPr id="15" name="Retângulo 14"/>
          <p:cNvSpPr/>
          <p:nvPr/>
        </p:nvSpPr>
        <p:spPr>
          <a:xfrm>
            <a:off x="28913" y="6494067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868734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86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45489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Resumo do modelo selecionado: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-7.4194	-1.7517	0.1031	2.7467	5.3421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 207.82477   	10.09345  	20.590  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           -0.81676    	0.09322  	-8.762 	1.87e-10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         7.51212   	0.68264  	11.005 	4.53e-13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          -43.25904    	7.76925  	-5.568 	2.63e-06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3.449 on 36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0.8683,	Adjusted R-squared:  0.8573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79.1 on 3 and 36 DF,  p-value: 6.513e-16</a:t>
            </a:r>
          </a:p>
        </p:txBody>
      </p:sp>
      <p:grpSp>
        <p:nvGrpSpPr>
          <p:cNvPr id="5" name="Grupo 4"/>
          <p:cNvGrpSpPr/>
          <p:nvPr/>
        </p:nvGrpSpPr>
        <p:grpSpPr>
          <a:xfrm>
            <a:off x="5004048" y="3789040"/>
            <a:ext cx="2061599" cy="461665"/>
            <a:chOff x="2606600" y="3572576"/>
            <a:chExt cx="2061599" cy="461665"/>
          </a:xfrm>
        </p:grpSpPr>
        <p:sp>
          <p:nvSpPr>
            <p:cNvPr id="6" name="Seta para a esquerda 5"/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/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3779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A55DE-CD4C-0441-2CC2-A510655387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3A35053D-BBD5-54D1-7039-6F4A08C501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1644" cy="3230435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3BE94DF-F854-9472-E0D0-48FC9F06BD5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89A6693E-2D10-CA84-5C3B-BB6D7B2E4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87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6801CE6-46FE-8E56-3228-97A1D66EB99F}"/>
              </a:ext>
            </a:extLst>
          </p:cNvPr>
          <p:cNvSpPr/>
          <p:nvPr/>
        </p:nvSpPr>
        <p:spPr>
          <a:xfrm>
            <a:off x="251520" y="1412776"/>
            <a:ext cx="525658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0.96599, p-value = 0.2668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dados$Y,regsel$residuals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D7A84DB1-16EF-2A29-2048-590FC205FD9E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29BD595F-FEB2-C64A-23A8-4A124AAF1E79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BC87007C-306D-C241-FFA8-697AA74770C1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047A83A6-2181-99BF-02CC-D5FF6F79F7EF}"/>
              </a:ext>
            </a:extLst>
          </p:cNvPr>
          <p:cNvSpPr/>
          <p:nvPr/>
        </p:nvSpPr>
        <p:spPr>
          <a:xfrm>
            <a:off x="3419872" y="4557343"/>
            <a:ext cx="3456384" cy="137268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4D43462-DE84-9754-1EB5-56D932D8827D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4.3227,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0.2287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5D30856B-7D6C-F95F-D668-CC343F93C5B8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B0E4F8D3-BC3C-D3BD-254E-B6407FCF6CE4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05F5B7-FF92-5B6E-DF28-4DEA61CD0C72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81879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Agrupar 7">
            <a:extLst>
              <a:ext uri="{FF2B5EF4-FFF2-40B4-BE49-F238E27FC236}">
                <a16:creationId xmlns:a16="http://schemas.microsoft.com/office/drawing/2014/main" id="{B322592A-F3FA-A144-FC07-C4669E06AD6A}"/>
              </a:ext>
            </a:extLst>
          </p:cNvPr>
          <p:cNvGrpSpPr/>
          <p:nvPr/>
        </p:nvGrpSpPr>
        <p:grpSpPr>
          <a:xfrm>
            <a:off x="83408" y="2708920"/>
            <a:ext cx="8965136" cy="3533450"/>
            <a:chOff x="83408" y="3172150"/>
            <a:chExt cx="8965136" cy="353345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735C126-C2F2-83F5-36A0-DD9A07D6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666"/>
            <a:stretch/>
          </p:blipFill>
          <p:spPr>
            <a:xfrm>
              <a:off x="5724128" y="3172150"/>
              <a:ext cx="3324416" cy="3533450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4560D5AE-C87C-31A0-CE4F-0B850510A8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666"/>
            <a:stretch/>
          </p:blipFill>
          <p:spPr>
            <a:xfrm>
              <a:off x="2903768" y="3172150"/>
              <a:ext cx="3324416" cy="3533450"/>
            </a:xfrm>
            <a:prstGeom prst="rect">
              <a:avLst/>
            </a:prstGeom>
          </p:spPr>
        </p:pic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E70C059E-F5CF-C6C0-C5A9-20B04854B1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666"/>
            <a:stretch/>
          </p:blipFill>
          <p:spPr>
            <a:xfrm>
              <a:off x="83408" y="3172150"/>
              <a:ext cx="3324416" cy="3533450"/>
            </a:xfrm>
            <a:prstGeom prst="rect">
              <a:avLst/>
            </a:prstGeom>
          </p:spPr>
        </p:pic>
      </p:grpSp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88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8640960" cy="12249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plot(dados$X1,regsel$residuals/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plot(dados$logX3,regsel$residuals/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plot(dados$X4,regsel$residuals/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</p:txBody>
      </p:sp>
      <p:sp>
        <p:nvSpPr>
          <p:cNvPr id="2" name="Elipse 1"/>
          <p:cNvSpPr/>
          <p:nvPr/>
        </p:nvSpPr>
        <p:spPr bwMode="auto">
          <a:xfrm>
            <a:off x="3435233" y="3539762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6" name="Elipse 15"/>
          <p:cNvSpPr/>
          <p:nvPr/>
        </p:nvSpPr>
        <p:spPr bwMode="auto">
          <a:xfrm>
            <a:off x="6338625" y="3318241"/>
            <a:ext cx="432000" cy="4320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4" name="CaixaDeTexto 3"/>
          <p:cNvSpPr txBox="1"/>
          <p:nvPr/>
        </p:nvSpPr>
        <p:spPr>
          <a:xfrm>
            <a:off x="3517555" y="3657242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19" name="CaixaDeTexto 18"/>
          <p:cNvSpPr txBox="1"/>
          <p:nvPr/>
        </p:nvSpPr>
        <p:spPr>
          <a:xfrm>
            <a:off x="6363339" y="341914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52550CB-B836-3D59-2116-8E9B5AE91F09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selecionadas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66AEBDF-0F6C-C1C4-E340-9E38581E0B00}"/>
              </a:ext>
            </a:extLst>
          </p:cNvPr>
          <p:cNvSpPr/>
          <p:nvPr/>
        </p:nvSpPr>
        <p:spPr>
          <a:xfrm>
            <a:off x="251520" y="6157554"/>
            <a:ext cx="86409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Alguns pontos parecem estar isolados e com erros mais altos: vale a pena uma investigação se podem estar influenciando os resultados...</a:t>
            </a:r>
          </a:p>
        </p:txBody>
      </p:sp>
    </p:spTree>
    <p:extLst>
      <p:ext uri="{BB962C8B-B14F-4D97-AF65-F5344CB8AC3E}">
        <p14:creationId xmlns:p14="http://schemas.microsoft.com/office/powerpoint/2010/main" val="1211256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6" grpId="0" animBg="1"/>
      <p:bldP spid="4" grpId="0"/>
      <p:bldP spid="19" grpId="0"/>
      <p:bldP spid="9" grpId="0"/>
      <p:bldP spid="10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4C43D-087B-E2F8-8830-406E2A28B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Agrupar 11">
            <a:extLst>
              <a:ext uri="{FF2B5EF4-FFF2-40B4-BE49-F238E27FC236}">
                <a16:creationId xmlns:a16="http://schemas.microsoft.com/office/drawing/2014/main" id="{B354E9CE-E385-9BCA-09B3-CB50DD996C2B}"/>
              </a:ext>
            </a:extLst>
          </p:cNvPr>
          <p:cNvGrpSpPr/>
          <p:nvPr/>
        </p:nvGrpSpPr>
        <p:grpSpPr>
          <a:xfrm>
            <a:off x="1465070" y="2708920"/>
            <a:ext cx="6201813" cy="3535200"/>
            <a:chOff x="-2670591" y="-303768"/>
            <a:chExt cx="6201813" cy="3535200"/>
          </a:xfrm>
        </p:grpSpPr>
        <p:pic>
          <p:nvPicPr>
            <p:cNvPr id="10" name="Imagem 9">
              <a:extLst>
                <a:ext uri="{FF2B5EF4-FFF2-40B4-BE49-F238E27FC236}">
                  <a16:creationId xmlns:a16="http://schemas.microsoft.com/office/drawing/2014/main" id="{F4B504E6-6D2D-D93A-038A-3C342184A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r="7711"/>
            <a:stretch/>
          </p:blipFill>
          <p:spPr>
            <a:xfrm>
              <a:off x="206806" y="-303768"/>
              <a:ext cx="3324416" cy="3535200"/>
            </a:xfrm>
            <a:prstGeom prst="rect">
              <a:avLst/>
            </a:prstGeom>
          </p:spPr>
        </p:pic>
        <p:pic>
          <p:nvPicPr>
            <p:cNvPr id="11" name="Imagem 10">
              <a:extLst>
                <a:ext uri="{FF2B5EF4-FFF2-40B4-BE49-F238E27FC236}">
                  <a16:creationId xmlns:a16="http://schemas.microsoft.com/office/drawing/2014/main" id="{221CD1C4-21C3-C08A-0428-B7C980B6F20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711"/>
            <a:stretch/>
          </p:blipFill>
          <p:spPr>
            <a:xfrm>
              <a:off x="-2670591" y="-303768"/>
              <a:ext cx="3324416" cy="3535200"/>
            </a:xfrm>
            <a:prstGeom prst="rect">
              <a:avLst/>
            </a:prstGeom>
          </p:spPr>
        </p:pic>
      </p:grpSp>
      <p:sp>
        <p:nvSpPr>
          <p:cNvPr id="29698" name="Rectangle 2">
            <a:extLst>
              <a:ext uri="{FF2B5EF4-FFF2-40B4-BE49-F238E27FC236}">
                <a16:creationId xmlns:a16="http://schemas.microsoft.com/office/drawing/2014/main" id="{21ECD46A-5018-B7EF-7FAF-2B76C6C393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B4E08C6B-70E8-E558-49C9-4271E69BA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89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787A5FA-878D-D953-F9C3-CFD0B330970D}"/>
              </a:ext>
            </a:extLst>
          </p:cNvPr>
          <p:cNvSpPr/>
          <p:nvPr/>
        </p:nvSpPr>
        <p:spPr>
          <a:xfrm>
            <a:off x="251520" y="1412776"/>
            <a:ext cx="8640960" cy="10033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importante também avaliar os resíduos em relação às variáveis descartadas pela seleção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plot(dados$X2,regsel$residuals/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plot(dados$X5,regsel$residuals/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FCC9260-3D9A-B473-B0F1-EE4FD5D351EB}"/>
              </a:ext>
            </a:extLst>
          </p:cNvPr>
          <p:cNvSpPr/>
          <p:nvPr/>
        </p:nvSpPr>
        <p:spPr>
          <a:xfrm>
            <a:off x="2771800" y="2874422"/>
            <a:ext cx="4320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5CB2218-B5BD-F561-0B35-ABDD51D401F8}"/>
              </a:ext>
            </a:extLst>
          </p:cNvPr>
          <p:cNvSpPr/>
          <p:nvPr/>
        </p:nvSpPr>
        <p:spPr>
          <a:xfrm>
            <a:off x="251520" y="6157554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variável </a:t>
            </a:r>
            <a:r>
              <a:rPr lang="pt-BR" alt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parece ter alguma relação com o erro caso a amostra isolada fosse descartada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AD169937-979C-92B6-EE6A-CAD2E336F886}"/>
              </a:ext>
            </a:extLst>
          </p:cNvPr>
          <p:cNvSpPr/>
          <p:nvPr/>
        </p:nvSpPr>
        <p:spPr bwMode="auto">
          <a:xfrm>
            <a:off x="4342467" y="5149457"/>
            <a:ext cx="476412" cy="422498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1FF1067-7C0C-EEE1-85E1-DA728BF92B7D}"/>
              </a:ext>
            </a:extLst>
          </p:cNvPr>
          <p:cNvSpPr txBox="1"/>
          <p:nvPr/>
        </p:nvSpPr>
        <p:spPr>
          <a:xfrm>
            <a:off x="4329081" y="5185767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#35</a:t>
            </a:r>
          </a:p>
        </p:txBody>
      </p:sp>
    </p:spTree>
    <p:extLst>
      <p:ext uri="{BB962C8B-B14F-4D97-AF65-F5344CB8AC3E}">
        <p14:creationId xmlns:p14="http://schemas.microsoft.com/office/powerpoint/2010/main" val="21832979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  <p:bldP spid="15" grpId="0" animBg="1"/>
      <p:bldP spid="20" grpId="0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3A8A8-FF22-84C7-9A14-554EA55E3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133EAC4-7781-97F3-1727-8BA299B9BD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591D0C7-314D-B23B-B52F-D7CC68E3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90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947565-6564-15C3-80A7-CFBE65D5A79F}"/>
              </a:ext>
            </a:extLst>
          </p:cNvPr>
          <p:cNvSpPr/>
          <p:nvPr/>
        </p:nvSpPr>
        <p:spPr>
          <a:xfrm>
            <a:off x="251520" y="1412776"/>
            <a:ext cx="8280920" cy="2776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Eliminando-se cada uma das amostras e verificando o impacto no AIC e do modelo final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completos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reg&lt;-lm(Y ~ X1 + X2 + logX3 + X4 + X5, data=dados)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Completos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","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amostras</a:t>
            </a:r>
          </a:p>
          <a:p>
            <a:pPr marL="352425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 (i in c(7,34,35)) {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print(paste("Dados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amostra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,"  AIC:",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)," 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modelo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final:",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deparse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(formula(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))))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graphicFrame>
        <p:nvGraphicFramePr>
          <p:cNvPr id="2" name="Tabela 1">
            <a:extLst>
              <a:ext uri="{FF2B5EF4-FFF2-40B4-BE49-F238E27FC236}">
                <a16:creationId xmlns:a16="http://schemas.microsoft.com/office/drawing/2014/main" id="{3C0E796E-8597-953B-A5D2-89CC575FC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8211061"/>
              </p:ext>
            </p:extLst>
          </p:nvPr>
        </p:nvGraphicFramePr>
        <p:xfrm>
          <a:off x="611560" y="4496692"/>
          <a:ext cx="4176464" cy="17406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317">
                  <a:extLst>
                    <a:ext uri="{9D8B030D-6E8A-4147-A177-3AD203B41FA5}">
                      <a16:colId xmlns:a16="http://schemas.microsoft.com/office/drawing/2014/main" val="1825337360"/>
                    </a:ext>
                  </a:extLst>
                </a:gridCol>
                <a:gridCol w="702780">
                  <a:extLst>
                    <a:ext uri="{9D8B030D-6E8A-4147-A177-3AD203B41FA5}">
                      <a16:colId xmlns:a16="http://schemas.microsoft.com/office/drawing/2014/main" val="1915702599"/>
                    </a:ext>
                  </a:extLst>
                </a:gridCol>
                <a:gridCol w="2163367">
                  <a:extLst>
                    <a:ext uri="{9D8B030D-6E8A-4147-A177-3AD203B41FA5}">
                      <a16:colId xmlns:a16="http://schemas.microsoft.com/office/drawing/2014/main" val="199777687"/>
                    </a:ext>
                  </a:extLst>
                </a:gridCol>
              </a:tblGrid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Dados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AIC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Modelo final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5069205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Completo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102,84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676968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100,21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58237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98,79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0153104"/>
                  </a:ext>
                </a:extLst>
              </a:tr>
              <a:tr h="3481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sem #35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Tahoma" panose="020B0604030504040204" pitchFamily="34" charset="0"/>
                          <a:ea typeface="Tahoma" panose="020B0604030504040204" pitchFamily="34" charset="0"/>
                          <a:cs typeface="Tahoma" panose="020B0604030504040204" pitchFamily="34" charset="0"/>
                        </a:rPr>
                        <a:t>91,79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pt-BR" sz="12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Tahoma" panose="020B0604030504040204" pitchFamily="34" charset="0"/>
                          <a:cs typeface="Arial" panose="020B0604020202020204" pitchFamily="34" charset="0"/>
                        </a:rPr>
                        <a:t>Y ~ X1 + X2 + logX3 + X4</a:t>
                      </a:r>
                      <a:endParaRPr lang="pt-BR" sz="1200" b="0" dirty="0">
                        <a:solidFill>
                          <a:schemeClr val="tx1"/>
                        </a:solidFill>
                        <a:latin typeface="Tahoma" panose="020B0604030504040204" pitchFamily="34" charset="0"/>
                        <a:ea typeface="Tahoma" panose="020B0604030504040204" pitchFamily="34" charset="0"/>
                        <a:cs typeface="Tahoma" panose="020B0604030504040204" pitchFamily="34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174390"/>
                  </a:ext>
                </a:extLst>
              </a:tr>
            </a:tbl>
          </a:graphicData>
        </a:graphic>
      </p:graphicFrame>
      <p:grpSp>
        <p:nvGrpSpPr>
          <p:cNvPr id="4" name="Grupo 4">
            <a:extLst>
              <a:ext uri="{FF2B5EF4-FFF2-40B4-BE49-F238E27FC236}">
                <a16:creationId xmlns:a16="http://schemas.microsoft.com/office/drawing/2014/main" id="{44302E9E-8BD0-C674-07F8-52B3A2F37B4F}"/>
              </a:ext>
            </a:extLst>
          </p:cNvPr>
          <p:cNvGrpSpPr/>
          <p:nvPr/>
        </p:nvGrpSpPr>
        <p:grpSpPr>
          <a:xfrm>
            <a:off x="4874520" y="5805264"/>
            <a:ext cx="2462358" cy="461665"/>
            <a:chOff x="2606600" y="3572576"/>
            <a:chExt cx="2462358" cy="461665"/>
          </a:xfrm>
        </p:grpSpPr>
        <p:sp>
          <p:nvSpPr>
            <p:cNvPr id="8" name="Seta para a esquerda 5">
              <a:extLst>
                <a:ext uri="{FF2B5EF4-FFF2-40B4-BE49-F238E27FC236}">
                  <a16:creationId xmlns:a16="http://schemas.microsoft.com/office/drawing/2014/main" id="{5A7E99E2-3B97-891F-6608-3E6643012241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457EF28E-FDF1-6BAD-A3A8-C64B3E70584F}"/>
                </a:ext>
              </a:extLst>
            </p:cNvPr>
            <p:cNvSpPr txBox="1"/>
            <p:nvPr/>
          </p:nvSpPr>
          <p:spPr>
            <a:xfrm>
              <a:off x="3095053" y="3572576"/>
              <a:ext cx="197390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Além de diminuir o AIC, acrescentou a variável </a:t>
              </a:r>
              <a:r>
                <a:rPr lang="pt-BR" sz="1200" dirty="0">
                  <a:latin typeface="Arial" panose="020B0604020202020204" pitchFamily="34" charset="0"/>
                  <a:cs typeface="Arial" panose="020B0604020202020204" pitchFamily="34" charset="0"/>
                </a:rPr>
                <a:t>X2</a:t>
              </a:r>
            </a:p>
          </p:txBody>
        </p:sp>
      </p:grpSp>
      <p:sp>
        <p:nvSpPr>
          <p:cNvPr id="10" name="Retângulo 9">
            <a:extLst>
              <a:ext uri="{FF2B5EF4-FFF2-40B4-BE49-F238E27FC236}">
                <a16:creationId xmlns:a16="http://schemas.microsoft.com/office/drawing/2014/main" id="{5533E5E2-CA9A-0972-A599-03040C46DBE2}"/>
              </a:ext>
            </a:extLst>
          </p:cNvPr>
          <p:cNvSpPr/>
          <p:nvPr/>
        </p:nvSpPr>
        <p:spPr>
          <a:xfrm>
            <a:off x="5592341" y="4825741"/>
            <a:ext cx="25922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Repetir toda a análise sem a amostra 35!</a:t>
            </a:r>
          </a:p>
        </p:txBody>
      </p:sp>
    </p:spTree>
    <p:extLst>
      <p:ext uri="{BB962C8B-B14F-4D97-AF65-F5344CB8AC3E}">
        <p14:creationId xmlns:p14="http://schemas.microsoft.com/office/powerpoint/2010/main" val="2454846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21C51-F9C1-6812-0162-62217F7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632A2397-00E3-27CE-F33D-313C27D833E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41F92080-E19B-F4FC-152D-63FEB68C50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91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A1848FF-6E29-BDEF-F0BF-9A5BF4840DCE}"/>
              </a:ext>
            </a:extLst>
          </p:cNvPr>
          <p:cNvSpPr/>
          <p:nvPr/>
        </p:nvSpPr>
        <p:spPr>
          <a:xfrm>
            <a:off x="251520" y="1412776"/>
            <a:ext cx="5256584" cy="47089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lm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data=dados[-35,])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stepAIC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reg,direction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both",trace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=FALSE)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-6.5691	1.6460	0.3935	2.2728	4.4922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200.665796	9.189850	21.836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-0.786335	0.083630	-9.403	5.52e-11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0.015347	0.006468	2.373	0.0235 *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7.548661	0.604932	12.479	3.03e-14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-38.551520	7.273529	-5.300	7.00e-06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3.056 on 34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0.8983,	Adjusted R-squared:  0.8863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75.04 on 4 and 34 DF,  p-value: 2.2e-16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83B217E6-105F-3427-5FB0-B2D49AE5823C}"/>
              </a:ext>
            </a:extLst>
          </p:cNvPr>
          <p:cNvGrpSpPr/>
          <p:nvPr/>
        </p:nvGrpSpPr>
        <p:grpSpPr>
          <a:xfrm>
            <a:off x="4885595" y="3987522"/>
            <a:ext cx="2477017" cy="276999"/>
            <a:chOff x="2606600" y="3648776"/>
            <a:chExt cx="2477017" cy="276999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E6110B81-C161-525A-C7B9-291F44CFD34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7F90118-B067-AE67-4536-944758237546}"/>
                </a:ext>
              </a:extLst>
            </p:cNvPr>
            <p:cNvSpPr txBox="1"/>
            <p:nvPr/>
          </p:nvSpPr>
          <p:spPr>
            <a:xfrm>
              <a:off x="3114103" y="3648776"/>
              <a:ext cx="196951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significativo apenas a 5%!</a:t>
              </a:r>
            </a:p>
          </p:txBody>
        </p:sp>
      </p:grpSp>
      <p:grpSp>
        <p:nvGrpSpPr>
          <p:cNvPr id="2" name="Grupo 4">
            <a:extLst>
              <a:ext uri="{FF2B5EF4-FFF2-40B4-BE49-F238E27FC236}">
                <a16:creationId xmlns:a16="http://schemas.microsoft.com/office/drawing/2014/main" id="{A1B04F0A-4D1B-BECC-441B-8E3B9F970C60}"/>
              </a:ext>
            </a:extLst>
          </p:cNvPr>
          <p:cNvGrpSpPr/>
          <p:nvPr/>
        </p:nvGrpSpPr>
        <p:grpSpPr>
          <a:xfrm>
            <a:off x="4429679" y="1409700"/>
            <a:ext cx="1891979" cy="276999"/>
            <a:chOff x="2606600" y="3658301"/>
            <a:chExt cx="1891979" cy="276999"/>
          </a:xfrm>
        </p:grpSpPr>
        <p:sp>
          <p:nvSpPr>
            <p:cNvPr id="4" name="Seta para a esquerda 5">
              <a:extLst>
                <a:ext uri="{FF2B5EF4-FFF2-40B4-BE49-F238E27FC236}">
                  <a16:creationId xmlns:a16="http://schemas.microsoft.com/office/drawing/2014/main" id="{E8DBF2C3-FCA3-A127-B3F6-0DF9FC59403B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8" name="CaixaDeTexto 7">
              <a:extLst>
                <a:ext uri="{FF2B5EF4-FFF2-40B4-BE49-F238E27FC236}">
                  <a16:creationId xmlns:a16="http://schemas.microsoft.com/office/drawing/2014/main" id="{F185DC6B-446B-BC4D-F6AE-6A0CAAD799D8}"/>
                </a:ext>
              </a:extLst>
            </p:cNvPr>
            <p:cNvSpPr txBox="1"/>
            <p:nvPr/>
          </p:nvSpPr>
          <p:spPr>
            <a:xfrm>
              <a:off x="3095053" y="3658301"/>
              <a:ext cx="1403526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sem a amostra 35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46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BB517-77CF-F5C4-B3F6-7AAC5A8D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0B12599A-D784-0A9C-771A-D5BF135EB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FDFCA03C-D765-5A87-5465-B4446C0D355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58A1AAC3-94E3-3B9B-CF87-370B93F00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92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B3D4C9A-83FD-6DC6-803B-6E9A261E1760}"/>
              </a:ext>
            </a:extLst>
          </p:cNvPr>
          <p:cNvSpPr/>
          <p:nvPr/>
        </p:nvSpPr>
        <p:spPr>
          <a:xfrm>
            <a:off x="251520" y="1412776"/>
            <a:ext cx="5472608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0.95815, p-value = 0.1547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FBC750BE-6AF5-17FE-D01B-A54E78124E34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B4DE38A5-521F-AB80-3AC8-6B5F66B7EC8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7F209142-818F-CF31-FDC8-52099A204C77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A60BE3C0-2EDE-0BA7-84FC-AD6CFDFBDBC9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0A733B55-9242-A897-F60C-36E2F6E3993E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2.0092,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4, p-value = 0.7341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F10CBE33-9C1D-BB8A-68D6-7FE533FCC48E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31E4A6D9-0273-E6FC-CB73-DDC67A38AA8F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3D3755D2-1F7C-33E5-F3F6-5DC8D77B2E49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0516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62DD5-9F60-4163-118B-846F9C98E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m 26">
            <a:extLst>
              <a:ext uri="{FF2B5EF4-FFF2-40B4-BE49-F238E27FC236}">
                <a16:creationId xmlns:a16="http://schemas.microsoft.com/office/drawing/2014/main" id="{F908CE16-5099-D847-D1F4-99D6323B09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26"/>
          <a:stretch/>
        </p:blipFill>
        <p:spPr>
          <a:xfrm>
            <a:off x="5473254" y="2622977"/>
            <a:ext cx="2666429" cy="2498400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E6A45762-C1EA-6ADF-5C5E-E7EA384C87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666" b="4507"/>
          <a:stretch/>
        </p:blipFill>
        <p:spPr>
          <a:xfrm>
            <a:off x="2237317" y="4314108"/>
            <a:ext cx="2489034" cy="2499268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959973F-0646-48B0-9869-587CB71ED42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666" b="4507"/>
          <a:stretch/>
        </p:blipFill>
        <p:spPr>
          <a:xfrm>
            <a:off x="143913" y="4314108"/>
            <a:ext cx="2489034" cy="249926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381D8216-8447-2777-D807-334EE5EF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6665" b="4506"/>
          <a:stretch/>
        </p:blipFill>
        <p:spPr>
          <a:xfrm>
            <a:off x="2237317" y="2146022"/>
            <a:ext cx="2489035" cy="2499268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A821B81C-C74B-FE0B-28F3-16B4B27B99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7291" b="4506"/>
          <a:stretch/>
        </p:blipFill>
        <p:spPr>
          <a:xfrm>
            <a:off x="122917" y="2146023"/>
            <a:ext cx="2472368" cy="2499268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C5933C8F-210E-8F71-42E4-41AEA13BF97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5E82844-BA03-7A36-5DE5-4B677257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93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1F45150-BE27-F79F-D002-7630AAE2514B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plot(dados[-35,]$X5,regsel$residuals/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4A19069D-DB84-BB7C-1A29-17561B874064}"/>
              </a:ext>
            </a:extLst>
          </p:cNvPr>
          <p:cNvSpPr/>
          <p:nvPr/>
        </p:nvSpPr>
        <p:spPr bwMode="auto">
          <a:xfrm>
            <a:off x="2615843" y="4964385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C4FC2706-EA95-1660-8F2B-2CB3E4FCE66A}"/>
              </a:ext>
            </a:extLst>
          </p:cNvPr>
          <p:cNvSpPr/>
          <p:nvPr/>
        </p:nvSpPr>
        <p:spPr>
          <a:xfrm>
            <a:off x="5076056" y="5318643"/>
            <a:ext cx="3816424" cy="8802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 amostras 7 e 34 ainda continuam isoladas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Vale a pena descartá-las também?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17A37961-2C82-A856-8713-0429530FCAE5}"/>
              </a:ext>
            </a:extLst>
          </p:cNvPr>
          <p:cNvSpPr/>
          <p:nvPr/>
        </p:nvSpPr>
        <p:spPr bwMode="auto">
          <a:xfrm>
            <a:off x="522439" y="4916759"/>
            <a:ext cx="298607" cy="264815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FBF72E8-E476-14F6-384D-40C78C9949AE}"/>
              </a:ext>
            </a:extLst>
          </p:cNvPr>
          <p:cNvSpPr txBox="1"/>
          <p:nvPr/>
        </p:nvSpPr>
        <p:spPr>
          <a:xfrm>
            <a:off x="552743" y="5145514"/>
            <a:ext cx="364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#7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9ED11FE4-7A14-894E-0E8D-68D7A504E088}"/>
              </a:ext>
            </a:extLst>
          </p:cNvPr>
          <p:cNvSpPr txBox="1"/>
          <p:nvPr/>
        </p:nvSpPr>
        <p:spPr>
          <a:xfrm>
            <a:off x="2650788" y="5187838"/>
            <a:ext cx="4411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latin typeface="Tahoma" panose="020B0604030504040204" pitchFamily="34" charset="0"/>
              </a:rPr>
              <a:t>#34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3ACF7A5-0513-AA89-5E70-B38E6F8573BA}"/>
              </a:ext>
            </a:extLst>
          </p:cNvPr>
          <p:cNvSpPr/>
          <p:nvPr/>
        </p:nvSpPr>
        <p:spPr>
          <a:xfrm>
            <a:off x="5656541" y="270892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Variável não selecionada</a:t>
            </a:r>
          </a:p>
        </p:txBody>
      </p:sp>
    </p:spTree>
    <p:extLst>
      <p:ext uri="{BB962C8B-B14F-4D97-AF65-F5344CB8AC3E}">
        <p14:creationId xmlns:p14="http://schemas.microsoft.com/office/powerpoint/2010/main" val="279598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0" grpId="0"/>
      <p:bldP spid="20" grpId="0" animBg="1"/>
      <p:bldP spid="21" grpId="0"/>
      <p:bldP spid="22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68E69-00A1-94D2-76CA-B25FAB22C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4E29BF48-260F-64A7-DEF4-CA86B1A2E74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7A0AC3-CCEE-D386-3993-9FB3F242D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94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3CE55EE-E1A4-C513-5430-9DB576883828}"/>
              </a:ext>
            </a:extLst>
          </p:cNvPr>
          <p:cNvSpPr/>
          <p:nvPr/>
        </p:nvSpPr>
        <p:spPr>
          <a:xfrm>
            <a:off x="251520" y="1340768"/>
            <a:ext cx="8280920" cy="5459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Ao se eliminar as amostras 7, 34 e 35, verificou-se que o modelo selecionado pelo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incluiu a variável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mas a mesma não foi significativa a 5%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-5.8101	-1.9095	0.3236	1.7606	4.8961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198.295309	9.362345	21.180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 -0.763356	0.085146	-8.965	3.06e-10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	0.013021	0.006799	1.915	0.0645 .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7.819945	0.688386	11.360	9.17e-13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-35.337544	7.770705	-4.548	7.36e-05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3.051 on 32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0.884	Adjusted R-squared:  0.8695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60.95 on 4 and 32 DF,  p-value: 1.633e-14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F72868E4-4E30-102F-CC7F-5B86E85762AC}"/>
              </a:ext>
            </a:extLst>
          </p:cNvPr>
          <p:cNvGrpSpPr/>
          <p:nvPr/>
        </p:nvGrpSpPr>
        <p:grpSpPr>
          <a:xfrm>
            <a:off x="4860032" y="4672186"/>
            <a:ext cx="1824688" cy="276999"/>
            <a:chOff x="2606600" y="3663634"/>
            <a:chExt cx="1824688" cy="276999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1567DD31-948F-E6DB-9817-92CAA7D80C4A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5F317AC3-1258-8D97-86CF-ED7CA0EFA218}"/>
                </a:ext>
              </a:extLst>
            </p:cNvPr>
            <p:cNvSpPr txBox="1"/>
            <p:nvPr/>
          </p:nvSpPr>
          <p:spPr>
            <a:xfrm>
              <a:off x="3104578" y="3663634"/>
              <a:ext cx="132671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não significativo!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46392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AC42F-2EFB-AA2B-B95D-6EA2944BFD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877D7423-1B26-8613-DDC8-6A5EE1AA840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6C035961-483A-0A61-F86B-B8021CB85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95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D7F17B7-9BBB-5E76-956C-2E9CC1B25109}"/>
              </a:ext>
            </a:extLst>
          </p:cNvPr>
          <p:cNvSpPr/>
          <p:nvPr/>
        </p:nvSpPr>
        <p:spPr>
          <a:xfrm>
            <a:off x="251520" y="1340768"/>
            <a:ext cx="8280920" cy="49921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Assim, optou-se por ajustar o modelo apenas com as variáveis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</a:t>
            </a:r>
            <a:r>
              <a:rPr lang="pt-BR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#dados sem as amostras 7, 34 e 35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&lt;-lm(Y ~ X1 + logX3 + X4, data=dados[-c(7,34,35),])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Residuals: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	1Q	Median	3Q	Max </a:t>
            </a:r>
          </a:p>
          <a:p>
            <a:pPr marL="177800" lvl="0" indent="-177800" defTabSz="714375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-5.7769	-1.9588	-0.1146	1.8759	5.0786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Coefficients: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   Estimate 	Std. Error 	t value 	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(&gt;|t|)   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(Intercept)	200.32427	9.67089	20.714	&lt; 2e-16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	-0.75235	0.08832	-8.519	7.63e-10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logX3	7.77793	0.71531	10.874	1.91e-12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	-37.90940	7.95713	-4.764	3.69e-05 ***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---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Signif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codes:  0 ‘***’ 0.001 ‘**’ 0.01 ‘*’ 0.05 ‘.’ 0.1 ‘ ’ 1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Residual standard error: 3.172 on 33 degrees of freedom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Multiple R-squared:  0.8707	Adjusted R-squared:  0.8589 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F-statistic:  74.06 on 3 and 33 DF,  p-value: 9.663e-15</a:t>
            </a:r>
          </a:p>
        </p:txBody>
      </p:sp>
      <p:grpSp>
        <p:nvGrpSpPr>
          <p:cNvPr id="6" name="Grupo 4">
            <a:extLst>
              <a:ext uri="{FF2B5EF4-FFF2-40B4-BE49-F238E27FC236}">
                <a16:creationId xmlns:a16="http://schemas.microsoft.com/office/drawing/2014/main" id="{231235EE-D5F4-7F43-53B1-4B2AABFCF8E5}"/>
              </a:ext>
            </a:extLst>
          </p:cNvPr>
          <p:cNvGrpSpPr/>
          <p:nvPr/>
        </p:nvGrpSpPr>
        <p:grpSpPr>
          <a:xfrm>
            <a:off x="5004048" y="4221088"/>
            <a:ext cx="2061599" cy="461665"/>
            <a:chOff x="2606600" y="3572576"/>
            <a:chExt cx="2061599" cy="461665"/>
          </a:xfrm>
        </p:grpSpPr>
        <p:sp>
          <p:nvSpPr>
            <p:cNvPr id="7" name="Seta para a esquerda 5">
              <a:extLst>
                <a:ext uri="{FF2B5EF4-FFF2-40B4-BE49-F238E27FC236}">
                  <a16:creationId xmlns:a16="http://schemas.microsoft.com/office/drawing/2014/main" id="{48CB7C3E-3EE3-249F-7F8C-3BCB0616CD6E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1" name="CaixaDeTexto 10">
              <a:extLst>
                <a:ext uri="{FF2B5EF4-FFF2-40B4-BE49-F238E27FC236}">
                  <a16:creationId xmlns:a16="http://schemas.microsoft.com/office/drawing/2014/main" id="{1212E1C9-D3EE-AD9D-7477-F582CF8853C6}"/>
                </a:ext>
              </a:extLst>
            </p:cNvPr>
            <p:cNvSpPr txBox="1"/>
            <p:nvPr/>
          </p:nvSpPr>
          <p:spPr>
            <a:xfrm>
              <a:off x="3066478" y="3572576"/>
              <a:ext cx="16017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todos os coeficientes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são significativos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4391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F6772-E03D-982C-65D5-1311435CD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F6EF8A88-A56E-9D62-C26B-9C8E2328A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44" y="3614361"/>
            <a:ext cx="3290385" cy="32292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2FE10BD0-62EE-4DDF-AE82-06E74C00E6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1857DE80-21FE-4170-04AF-5BBE86B77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96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3EC6BB00-541B-7F68-D051-1818517324A3}"/>
              </a:ext>
            </a:extLst>
          </p:cNvPr>
          <p:cNvSpPr/>
          <p:nvPr/>
        </p:nvSpPr>
        <p:spPr>
          <a:xfrm>
            <a:off x="251520" y="1412776"/>
            <a:ext cx="5976664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marL="352425" lvl="0" indent="-352425">
              <a:spcBef>
                <a:spcPct val="20000"/>
              </a:spcBef>
            </a:pPr>
            <a:endParaRPr lang="pt-BR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shapiro.test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Shapiro-Wilk normality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regsel$residuals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 = 0.96652, p-value = 0.3222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&gt;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>
              <a:spcBef>
                <a:spcPct val="20000"/>
              </a:spcBef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&lt;- (summary(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))$sigma</a:t>
            </a:r>
          </a:p>
          <a:p>
            <a:pPr lvl="0">
              <a:spcBef>
                <a:spcPct val="20000"/>
              </a:spcBef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Y,regsel$residuals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="Y",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ylab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="standard error")</a:t>
            </a:r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3D97BC1C-D431-6326-AEDE-2C1C9778FC9C}"/>
              </a:ext>
            </a:extLst>
          </p:cNvPr>
          <p:cNvGrpSpPr/>
          <p:nvPr/>
        </p:nvGrpSpPr>
        <p:grpSpPr>
          <a:xfrm>
            <a:off x="2652498" y="2896808"/>
            <a:ext cx="2370979" cy="461665"/>
            <a:chOff x="2606600" y="3572576"/>
            <a:chExt cx="2370979" cy="461665"/>
          </a:xfrm>
        </p:grpSpPr>
        <p:sp>
          <p:nvSpPr>
            <p:cNvPr id="6" name="Seta para a esquerda 5">
              <a:extLst>
                <a:ext uri="{FF2B5EF4-FFF2-40B4-BE49-F238E27FC236}">
                  <a16:creationId xmlns:a16="http://schemas.microsoft.com/office/drawing/2014/main" id="{C8464138-D5D4-971C-0AE1-23F23C524B0F}"/>
                </a:ext>
              </a:extLst>
            </p:cNvPr>
            <p:cNvSpPr/>
            <p:nvPr/>
          </p:nvSpPr>
          <p:spPr bwMode="auto">
            <a:xfrm>
              <a:off x="2606600" y="3703384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415E6D6B-7C72-2A09-5045-3602DF897CD0}"/>
                </a:ext>
              </a:extLst>
            </p:cNvPr>
            <p:cNvSpPr txBox="1"/>
            <p:nvPr/>
          </p:nvSpPr>
          <p:spPr>
            <a:xfrm>
              <a:off x="3066478" y="3572576"/>
              <a:ext cx="191110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resíduos são</a:t>
              </a:r>
            </a:p>
            <a:p>
              <a:r>
                <a:rPr lang="pt-BR" sz="1200" dirty="0">
                  <a:latin typeface="Tahoma" panose="020B0604030504040204" pitchFamily="34" charset="0"/>
                </a:rPr>
                <a:t>normalmente distribuídos</a:t>
              </a:r>
            </a:p>
          </p:txBody>
        </p:sp>
      </p:grpSp>
      <p:sp>
        <p:nvSpPr>
          <p:cNvPr id="4" name="Retângulo 3">
            <a:extLst>
              <a:ext uri="{FF2B5EF4-FFF2-40B4-BE49-F238E27FC236}">
                <a16:creationId xmlns:a16="http://schemas.microsoft.com/office/drawing/2014/main" id="{31125EC4-5807-B642-23BF-58B4D2049586}"/>
              </a:ext>
            </a:extLst>
          </p:cNvPr>
          <p:cNvSpPr/>
          <p:nvPr/>
        </p:nvSpPr>
        <p:spPr>
          <a:xfrm>
            <a:off x="3419872" y="4557343"/>
            <a:ext cx="3456384" cy="16681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 mudou muito!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nenhum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(|erro padronizado| &gt; 2,5)</a:t>
            </a:r>
          </a:p>
          <a:p>
            <a:pPr marL="180975" lvl="0" indent="-18097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Valores de </a:t>
            </a:r>
            <a:r>
              <a:rPr lang="pt-BR" i="1" kern="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menores que 90 e maiores que 115 foram pouco amostrados!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D573DEB3-54BC-B5FC-3EFB-97DEA16A0BAB}"/>
              </a:ext>
            </a:extLst>
          </p:cNvPr>
          <p:cNvSpPr/>
          <p:nvPr/>
        </p:nvSpPr>
        <p:spPr>
          <a:xfrm>
            <a:off x="5292080" y="1910938"/>
            <a:ext cx="3600400" cy="16065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lmtest</a:t>
            </a:r>
            <a:r>
              <a:rPr 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bptest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r>
              <a:rPr lang="pt-BR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52425" lvl="0" indent="-352425">
              <a:spcBef>
                <a:spcPct val="20000"/>
              </a:spcBef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studentized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Breusch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-Pagan test</a:t>
            </a: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data: 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regsel</a:t>
            </a:r>
            <a:endParaRPr lang="en-US" sz="12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lvl="0" indent="-17780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 = 1.0795, </a:t>
            </a:r>
            <a:r>
              <a:rPr lang="en-US" sz="12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df</a:t>
            </a:r>
            <a:r>
              <a:rPr lang="en-US" sz="12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= 3, p-value = 0.782</a:t>
            </a:r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784EFE84-FA72-3CE3-CCD9-1DA050F04920}"/>
              </a:ext>
            </a:extLst>
          </p:cNvPr>
          <p:cNvGrpSpPr/>
          <p:nvPr/>
        </p:nvGrpSpPr>
        <p:grpSpPr>
          <a:xfrm>
            <a:off x="7020272" y="3463265"/>
            <a:ext cx="1621213" cy="829831"/>
            <a:chOff x="1454472" y="3908201"/>
            <a:chExt cx="1621213" cy="829831"/>
          </a:xfrm>
        </p:grpSpPr>
        <p:sp>
          <p:nvSpPr>
            <p:cNvPr id="15" name="Seta para a esquerda 14">
              <a:extLst>
                <a:ext uri="{FF2B5EF4-FFF2-40B4-BE49-F238E27FC236}">
                  <a16:creationId xmlns:a16="http://schemas.microsoft.com/office/drawing/2014/main" id="{F1A67039-A3A0-D341-3A7E-7A1B1BDC9FBD}"/>
                </a:ext>
              </a:extLst>
            </p:cNvPr>
            <p:cNvSpPr/>
            <p:nvPr/>
          </p:nvSpPr>
          <p:spPr bwMode="auto">
            <a:xfrm rot="5400000">
              <a:off x="2030536" y="4052217"/>
              <a:ext cx="504056" cy="216024"/>
            </a:xfrm>
            <a:prstGeom prst="leftArrow">
              <a:avLst/>
            </a:prstGeom>
            <a:solidFill>
              <a:srgbClr val="FF0000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endParaRPr>
            </a:p>
          </p:txBody>
        </p:sp>
        <p:sp>
          <p:nvSpPr>
            <p:cNvPr id="16" name="CaixaDeTexto 15">
              <a:extLst>
                <a:ext uri="{FF2B5EF4-FFF2-40B4-BE49-F238E27FC236}">
                  <a16:creationId xmlns:a16="http://schemas.microsoft.com/office/drawing/2014/main" id="{BC6DBAAE-82C9-5FED-4D7B-C59DB95DD088}"/>
                </a:ext>
              </a:extLst>
            </p:cNvPr>
            <p:cNvSpPr txBox="1"/>
            <p:nvPr/>
          </p:nvSpPr>
          <p:spPr>
            <a:xfrm>
              <a:off x="1454472" y="4461033"/>
              <a:ext cx="162121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1200" dirty="0">
                  <a:latin typeface="Tahoma" panose="020B0604030504040204" pitchFamily="34" charset="0"/>
                </a:rPr>
                <a:t>variância é constante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21510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12" grpId="0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3E6BE-48E4-386E-0B01-9C5409E141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m 17">
            <a:extLst>
              <a:ext uri="{FF2B5EF4-FFF2-40B4-BE49-F238E27FC236}">
                <a16:creationId xmlns:a16="http://schemas.microsoft.com/office/drawing/2014/main" id="{D03754DA-742E-0BAD-C9AF-5B9B291805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572"/>
          <a:stretch/>
        </p:blipFill>
        <p:spPr>
          <a:xfrm>
            <a:off x="5719872" y="4338000"/>
            <a:ext cx="2567747" cy="2429990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7A091FBE-0496-4B46-8EE0-4EC3235BD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592"/>
          <a:stretch/>
        </p:blipFill>
        <p:spPr>
          <a:xfrm>
            <a:off x="5719872" y="2304459"/>
            <a:ext cx="2567747" cy="2429466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68E2A7A6-01B8-DD3F-756E-6820F893427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655"/>
          <a:stretch/>
        </p:blipFill>
        <p:spPr>
          <a:xfrm>
            <a:off x="1187624" y="4372949"/>
            <a:ext cx="2567747" cy="2427901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D157CFB2-4515-CED5-EDBC-D0746D63091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253"/>
          <a:stretch/>
        </p:blipFill>
        <p:spPr>
          <a:xfrm>
            <a:off x="2237318" y="2204864"/>
            <a:ext cx="2432860" cy="25200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8C803EE6-B4D8-0304-9485-233FEADC120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253"/>
          <a:stretch/>
        </p:blipFill>
        <p:spPr>
          <a:xfrm>
            <a:off x="122917" y="2204864"/>
            <a:ext cx="2432859" cy="2520000"/>
          </a:xfrm>
          <a:prstGeom prst="rect">
            <a:avLst/>
          </a:prstGeom>
        </p:spPr>
      </p:pic>
      <p:sp>
        <p:nvSpPr>
          <p:cNvPr id="29698" name="Rectangle 2">
            <a:extLst>
              <a:ext uri="{FF2B5EF4-FFF2-40B4-BE49-F238E27FC236}">
                <a16:creationId xmlns:a16="http://schemas.microsoft.com/office/drawing/2014/main" id="{369CF55A-7271-564C-795E-DA8FC9C770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7B2F9E13-8709-81C1-C7FA-DF2A0E21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97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1A583AE0-64A5-22FC-E1B5-28763DEC7DBC}"/>
              </a:ext>
            </a:extLst>
          </p:cNvPr>
          <p:cNvSpPr/>
          <p:nvPr/>
        </p:nvSpPr>
        <p:spPr>
          <a:xfrm>
            <a:off x="251520" y="1268760"/>
            <a:ext cx="8640960" cy="13542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Avaliando a qualidade do modelo selecionado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plot(dados[-c(7,34,35),]$X1,regsel$residuals/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="X1",ylab="standard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plot(dados[-c(7,34,35),]$logX3,regsel$residuals/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="logX3",ylab="standard error")</a:t>
            </a:r>
          </a:p>
          <a:p>
            <a:pPr lvl="0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plot(dados[-c(7,34,35),]$X4,regsel$residuals/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="X4",ylab="standard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plot(dados[-c(7,34,35),]$X2,regsel$residuals/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="X2",ylab="standard error")</a:t>
            </a:r>
          </a:p>
          <a:p>
            <a:pPr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plot(dados[-c(7,34,35),]$X5,regsel$residuals/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erropadr,xlab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="X5",ylab="standard error")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28F85F78-0839-896D-34A9-3B96E857E2F6}"/>
              </a:ext>
            </a:extLst>
          </p:cNvPr>
          <p:cNvSpPr/>
          <p:nvPr/>
        </p:nvSpPr>
        <p:spPr>
          <a:xfrm>
            <a:off x="3897023" y="5178081"/>
            <a:ext cx="160016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Aparentemente tudo OK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FECD45DF-D8DA-CA77-3CA3-2A59D40FE145}"/>
              </a:ext>
            </a:extLst>
          </p:cNvPr>
          <p:cNvSpPr/>
          <p:nvPr/>
        </p:nvSpPr>
        <p:spPr>
          <a:xfrm>
            <a:off x="5924345" y="2394650"/>
            <a:ext cx="24890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 algn="ctr">
              <a:spcBef>
                <a:spcPct val="20000"/>
              </a:spcBef>
            </a:pPr>
            <a:r>
              <a:rPr lang="pt-BR" sz="1200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Variáveis não selecionadas</a:t>
            </a:r>
          </a:p>
        </p:txBody>
      </p:sp>
    </p:spTree>
    <p:extLst>
      <p:ext uri="{BB962C8B-B14F-4D97-AF65-F5344CB8AC3E}">
        <p14:creationId xmlns:p14="http://schemas.microsoft.com/office/powerpoint/2010/main" val="3051156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5E8C-7754-DB7B-1ABD-9F54BE9A2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FF392EC9-35D4-3972-F573-F8FE49BA6F4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EA28F7E5-F18E-B5E9-F41C-747AC0674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98</a:t>
            </a:fld>
            <a:endParaRPr lang="pt-BR" dirty="0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D96E2A6-E72E-9F4F-416C-A7F3E0A08888}"/>
              </a:ext>
            </a:extLst>
          </p:cNvPr>
          <p:cNvSpPr/>
          <p:nvPr/>
        </p:nvSpPr>
        <p:spPr>
          <a:xfrm>
            <a:off x="251520" y="1354703"/>
            <a:ext cx="864096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Afinal, qual modelo escolher?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sSubSup>
                                  <m:sSubSupPr>
                                    <m:ctrlP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𝑎</m:t>
                                    </m:r>
                                  </m:sub>
                                  <m:sup>
                                    <m:r>
                                      <a:rPr lang="pt-BR" sz="16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  <a:ea typeface="Tahoma" panose="020B0604030504040204" pitchFamily="34" charset="0"/>
                                        <a:cs typeface="Tahoma" panose="020B0604030504040204" pitchFamily="3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oMath>
                            </m:oMathPara>
                          </a14:m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ela 1">
                <a:extLst>
                  <a:ext uri="{FF2B5EF4-FFF2-40B4-BE49-F238E27FC236}">
                    <a16:creationId xmlns:a16="http://schemas.microsoft.com/office/drawing/2014/main" id="{ECCF0682-5E4F-1CC1-85B9-968BAB0442A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72601109"/>
                  </p:ext>
                </p:extLst>
              </p:nvPr>
            </p:nvGraphicFramePr>
            <p:xfrm>
              <a:off x="1331640" y="1782673"/>
              <a:ext cx="6023960" cy="333756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163960">
                      <a:extLst>
                        <a:ext uri="{9D8B030D-6E8A-4147-A177-3AD203B41FA5}">
                          <a16:colId xmlns:a16="http://schemas.microsoft.com/office/drawing/2014/main" val="1496291165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2569673287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77122109"/>
                        </a:ext>
                      </a:extLst>
                    </a:gridCol>
                    <a:gridCol w="1620000">
                      <a:extLst>
                        <a:ext uri="{9D8B030D-6E8A-4147-A177-3AD203B41FA5}">
                          <a16:colId xmlns:a16="http://schemas.microsoft.com/office/drawing/2014/main" val="11602232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Modelo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Y~X1+X2+logX3+X4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kumimoji="0" lang="pt-BR" sz="12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srgbClr val="000000"/>
                              </a:solidFill>
                              <a:effectLst/>
                              <a:uLnTx/>
                              <a:uFillTx/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Y~X1+logX3+X4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32410289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Dados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completo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sz="12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sem #7, #34 e #35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8459596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AIC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102,84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91,79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89,19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2454288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524" t="-304918" r="-418848" b="-5098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0,8573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0,8589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5716736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Intercepto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207,8248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200,6658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200,3243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18518005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X1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-0,8168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-0,7863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-0,7524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369732507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X2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0,0153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endParaRPr lang="pt-BR" sz="1600" b="0" dirty="0">
                            <a:solidFill>
                              <a:schemeClr val="tx1"/>
                            </a:solidFill>
                            <a:latin typeface="Tahoma" panose="020B0604030504040204" pitchFamily="34" charset="0"/>
                            <a:ea typeface="Tahoma" panose="020B0604030504040204" pitchFamily="34" charset="0"/>
                            <a:cs typeface="Tahoma" panose="020B0604030504040204" pitchFamily="34" charset="0"/>
                          </a:endParaRP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2508993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logX3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7,5121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7,5487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7,7779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407948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ea typeface="Tahoma" panose="020B0604030504040204" pitchFamily="34" charset="0"/>
                              <a:cs typeface="Arial" panose="020B0604020202020204" pitchFamily="34" charset="0"/>
                            </a:rPr>
                            <a:t>X4</a:t>
                          </a:r>
                        </a:p>
                      </a:txBody>
                      <a:tcPr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-43,2590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-38,5515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r"/>
                          <a:r>
                            <a:rPr lang="pt-BR" sz="1600" b="0" dirty="0">
                              <a:solidFill>
                                <a:schemeClr val="tx1"/>
                              </a:solidFill>
                              <a:latin typeface="Tahoma" panose="020B0604030504040204" pitchFamily="34" charset="0"/>
                              <a:ea typeface="Tahoma" panose="020B0604030504040204" pitchFamily="34" charset="0"/>
                              <a:cs typeface="Tahoma" panose="020B0604030504040204" pitchFamily="34" charset="0"/>
                            </a:rPr>
                            <a:t>-37,9094</a:t>
                          </a:r>
                        </a:p>
                      </a:txBody>
                      <a:tcPr marR="468000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74492960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/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Todos os modelos apresentaram desempenho semelhante com ligeira vantagem (maior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𝑎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Tahoma" panose="020B0604030504040204" pitchFamily="34" charset="0"/>
                            <a:cs typeface="Tahoma" panose="020B0604030504040204" pitchFamily="34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) do modelo com a variável </a:t>
                </a:r>
                <a:r>
                  <a:rPr lang="pt-BR" kern="0" dirty="0">
                    <a:solidFill>
                      <a:srgbClr val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X2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sem a amostra 35</a:t>
                </a:r>
              </a:p>
              <a:p>
                <a:pPr marL="352425" lvl="0" indent="-352425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 último modelo apresentou o menor AIC e a análise dos resíduos não indicou nenhum problema importante. No entanto, esse modelo só poderia ser adotado se a eliminação das 3 amostras fosse justificada</a:t>
                </a:r>
              </a:p>
            </p:txBody>
          </p:sp>
        </mc:Choice>
        <mc:Fallback xmlns="">
          <p:sp>
            <p:nvSpPr>
              <p:cNvPr id="4" name="Retângulo 3">
                <a:extLst>
                  <a:ext uri="{FF2B5EF4-FFF2-40B4-BE49-F238E27FC236}">
                    <a16:creationId xmlns:a16="http://schemas.microsoft.com/office/drawing/2014/main" id="{49541D6E-94DF-6496-FC3A-6EB4A4B8C0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258043"/>
                <a:ext cx="8640960" cy="1372683"/>
              </a:xfrm>
              <a:prstGeom prst="rect">
                <a:avLst/>
              </a:prstGeom>
              <a:blipFill>
                <a:blip r:embed="rId3"/>
                <a:stretch>
                  <a:fillRect l="-353" t="-1333" b="-4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02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0" y="592138"/>
            <a:ext cx="9144000" cy="703262"/>
          </a:xfrm>
        </p:spPr>
        <p:txBody>
          <a:bodyPr/>
          <a:lstStyle/>
          <a:p>
            <a:pPr eaLnBrk="1" hangingPunct="1">
              <a:defRPr/>
            </a:pPr>
            <a:r>
              <a:rPr lang="pt-BR" dirty="0"/>
              <a:t>Exemplo</a:t>
            </a:r>
            <a:endParaRPr lang="pt-BR" i="1" dirty="0"/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01A69C9-8429-4253-9570-435132449818}" type="slidenum">
              <a:rPr lang="pt-BR"/>
              <a:pPr>
                <a:defRPr/>
              </a:pPr>
              <a:t>99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251520" y="1412776"/>
            <a:ext cx="525658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Qual melhor modelo usando a busca exaustiva?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67586B6-19F7-0F75-D12E-4FA9CEBF0E5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846" t="16804" r="11156" b="6650"/>
          <a:stretch/>
        </p:blipFill>
        <p:spPr>
          <a:xfrm>
            <a:off x="245468" y="2636912"/>
            <a:ext cx="2616292" cy="3240000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B6650B8-4D29-6C72-24A6-9C3C2B9D6C1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6" t="16804" r="11156" b="6650"/>
          <a:stretch/>
        </p:blipFill>
        <p:spPr>
          <a:xfrm>
            <a:off x="4644008" y="2636912"/>
            <a:ext cx="2616292" cy="32400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006721B-3938-6A23-0F67-FA1B7056876E}"/>
              </a:ext>
            </a:extLst>
          </p:cNvPr>
          <p:cNvSpPr/>
          <p:nvPr/>
        </p:nvSpPr>
        <p:spPr>
          <a:xfrm>
            <a:off x="24546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dados,nbest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BFEF73B-7907-743E-A4D5-01F57BD2119B}"/>
              </a:ext>
            </a:extLst>
          </p:cNvPr>
          <p:cNvSpPr/>
          <p:nvPr/>
        </p:nvSpPr>
        <p:spPr>
          <a:xfrm>
            <a:off x="4644008" y="1757035"/>
            <a:ext cx="3458988" cy="8371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sz="1100" dirty="0" err="1">
                <a:latin typeface="Arial" panose="020B0604020202020204" pitchFamily="34" charset="0"/>
                <a:cs typeface="Arial" panose="020B0604020202020204" pitchFamily="34" charset="0"/>
              </a:rPr>
              <a:t>leaps</a:t>
            </a:r>
            <a:r>
              <a:rPr lang="pt-BR" sz="11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regsubsets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(Y ~ X1 + X2 + logX3 + X4 + X5, data=dados[-c(7,34,35),],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nbest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=6)</a:t>
            </a:r>
          </a:p>
          <a:p>
            <a:pPr marL="352425" lvl="0" indent="-352425">
              <a:spcBef>
                <a:spcPct val="20000"/>
              </a:spcBef>
            </a:pP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plot(</a:t>
            </a:r>
            <a:r>
              <a:rPr lang="en-US" sz="11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regsets,scale</a:t>
            </a:r>
            <a:r>
              <a:rPr lang="en-US" sz="11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="adjr2")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C7A18336-E3A9-8C38-9605-296FC9CE7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45468" y="5920786"/>
                <a:ext cx="2951026" cy="370554"/>
              </a:xfrm>
              <a:prstGeom prst="rect">
                <a:avLst/>
              </a:prstGeom>
              <a:blipFill>
                <a:blip r:embed="rId4"/>
                <a:stretch>
                  <a:fillRect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8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400">
                    <a:solidFill>
                      <a:schemeClr val="tx1"/>
                    </a:solidFill>
                    <a:latin typeface="+mn-lt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•"/>
                  <a:defRPr sz="2000">
                    <a:solidFill>
                      <a:schemeClr val="tx1"/>
                    </a:solidFill>
                    <a:latin typeface="+mn-lt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–"/>
                  <a:defRPr sz="2000">
                    <a:solidFill>
                      <a:schemeClr val="tx1"/>
                    </a:solidFill>
                    <a:latin typeface="+mn-lt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+mn-lt"/>
                  </a:defRPr>
                </a:lvl5pPr>
                <a:lvl6pPr marL="25146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6pPr>
                <a:lvl7pPr marL="29718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7pPr>
                <a:lvl8pPr marL="34290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8pPr>
                <a:lvl9pPr marL="3886200" indent="-228600" algn="l" rtl="0" fontAlgn="base">
                  <a:spcBef>
                    <a:spcPct val="20000"/>
                  </a:spcBef>
                  <a:spcAft>
                    <a:spcPct val="0"/>
                  </a:spcAft>
                  <a:buChar char="»"/>
                  <a:defRPr>
                    <a:solidFill>
                      <a:schemeClr val="tx1"/>
                    </a:solidFill>
                    <a:latin typeface="+mn-lt"/>
                  </a:defRPr>
                </a:lvl9pPr>
              </a:lstStyle>
              <a:p>
                <a:pPr marL="352425" indent="-352425" eaLnBrk="1" hangingPunct="1">
                  <a:buFontTx/>
                  <a:buNone/>
                </a:pPr>
                <a:r>
                  <a:rPr lang="pt-BR" altLang="pt-BR" sz="1200" kern="0" dirty="0">
                    <a:latin typeface="Tahoma" panose="020B0604030504040204" pitchFamily="34" charset="0"/>
                  </a:rPr>
                  <a:t>Melhor Modelo:</a:t>
                </a:r>
              </a:p>
              <a:p>
                <a:pPr marL="0" indent="0" eaLnBrk="1" hangingPunct="1">
                  <a:buFontTx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pt-BR" altLang="pt-BR" sz="1200" b="0" i="1" kern="0" smtClean="0">
                          <a:latin typeface="Cambria Math" panose="02040503050406030204" pitchFamily="18" charset="0"/>
                        </a:rPr>
                        <m:t>~ 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1,</m:t>
                          </m:r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 panose="02040503050406030204" pitchFamily="18" charset="0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𝑙𝑜𝑔</m:t>
                      </m:r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3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b="0" i="1" kern="0" smtClean="0">
                              <a:latin typeface="Cambria Math"/>
                            </a:rPr>
                            <m:t>+</m:t>
                          </m:r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altLang="pt-BR" sz="1200" i="1" ker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altLang="pt-BR" sz="1200" i="1" kern="0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4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,</m:t>
                          </m:r>
                          <m:r>
                            <a:rPr lang="pt-BR" altLang="pt-BR" sz="1200" i="1" ker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altLang="pt-BR" sz="1200" b="0" i="1" kern="0" smtClean="0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altLang="pt-BR" sz="1200" b="0" i="1" kern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pt-BR" sz="1200" i="1" dirty="0">
                              <a:solidFill>
                                <a:srgbClr val="000000"/>
                              </a:solidFill>
                              <a:latin typeface="Times New Roman" pitchFamily="18" charset="0"/>
                              <a:cs typeface="Times New Roman" pitchFamily="18" charset="0"/>
                              <a:sym typeface="Symbol" pitchFamily="18" charset="2"/>
                            </a:rPr>
                            <m:t></m:t>
                          </m:r>
                        </m:e>
                        <m:sub>
                          <m:r>
                            <a:rPr lang="pt-BR" altLang="pt-BR" sz="1200" b="0" i="1" kern="0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altLang="pt-BR" sz="1200" kern="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1" name="Rectangle 9">
                <a:extLst>
                  <a:ext uri="{FF2B5EF4-FFF2-40B4-BE49-F238E27FC236}">
                    <a16:creationId xmlns:a16="http://schemas.microsoft.com/office/drawing/2014/main" id="{5202DF44-1FA3-0026-D1F1-383CA9730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4644008" y="5920786"/>
                <a:ext cx="3458988" cy="370554"/>
              </a:xfrm>
              <a:prstGeom prst="rect">
                <a:avLst/>
              </a:prstGeom>
              <a:blipFill>
                <a:blip r:embed="rId5"/>
                <a:stretch>
                  <a:fillRect l="-176" b="-29508"/>
                </a:stretch>
              </a:blipFill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tângulo 11">
            <a:extLst>
              <a:ext uri="{FF2B5EF4-FFF2-40B4-BE49-F238E27FC236}">
                <a16:creationId xmlns:a16="http://schemas.microsoft.com/office/drawing/2014/main" id="{714E4B12-20D9-65A8-0D49-FAE966EED79B}"/>
              </a:ext>
            </a:extLst>
          </p:cNvPr>
          <p:cNvSpPr/>
          <p:nvPr/>
        </p:nvSpPr>
        <p:spPr>
          <a:xfrm>
            <a:off x="251520" y="6453336"/>
            <a:ext cx="594746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52425" lvl="0" indent="-352425">
              <a:spcBef>
                <a:spcPct val="20000"/>
              </a:spcBef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OBS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: Não avalia a significância dos coeficientes dos modelos!</a:t>
            </a:r>
          </a:p>
        </p:txBody>
      </p:sp>
    </p:spTree>
    <p:extLst>
      <p:ext uri="{BB962C8B-B14F-4D97-AF65-F5344CB8AC3E}">
        <p14:creationId xmlns:p14="http://schemas.microsoft.com/office/powerpoint/2010/main" val="2642643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0" grpId="0"/>
      <p:bldP spid="11" grpId="0"/>
      <p:bldP spid="12" grpId="0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/>
          <p:cNvSpPr/>
          <p:nvPr/>
        </p:nvSpPr>
        <p:spPr>
          <a:xfrm>
            <a:off x="251520" y="1412776"/>
            <a:ext cx="8496944" cy="472129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inicia-se pela avaliação dos diagramas de dispersão de cada variável independente versus dependente, buscando-se  anomalias (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e/ou falta de linearidade nas relações.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dos diagramas de dispersão entre variáveis independentes pode ser negligenciada mas pode indicar a presença de colinearidade. Neste caso, algumas variáveis já podem ser provisoriamente descartadas nesta fase. Ao final da construção do modelo, é sempre útil testar se essas variáveis descartadas realmente não contribuem na explicação da variável dependente.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Métodos automáticos de busca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stepwise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exaustivo) podem ser utilizados para encontrar o “melhor” modelo. Como estes métodos são “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”, diferentes métodos podem selecionar diferentes modelos.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 análise de resíduos para detecção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e não-linearidade, e testes formais de normalidade e homoscedasticidade dos resíduos devem ser feitos ao final do processo de busca do melhor modelo. Qualquer intervenção (retirada de 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outliers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, transformação de variáveis, inclusão de novas variáveis independentes, inclusão de interação entre variáveis,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etc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faz com que todo o processo tenha que ser refeito.</a:t>
            </a:r>
          </a:p>
          <a:p>
            <a:pPr marL="285750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NÃO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é necessário (</a:t>
            </a:r>
            <a:r>
              <a:rPr lang="pt-BR" kern="0" dirty="0">
                <a:solidFill>
                  <a:srgbClr val="FF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é irrelevante!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 testar a normalidade das variáveis dependente e independentes. Testes de normalidade são feitos sempre sobre os resíduos.</a:t>
            </a:r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Considerações Finais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7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100</a:t>
            </a:fld>
            <a:endParaRPr lang="pt-BR" dirty="0">
              <a:latin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90953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101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412776"/>
            <a:ext cx="8784976" cy="5115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linear tipo II (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Model</a:t>
            </a:r>
            <a:r>
              <a:rPr lang="pt-BR" i="1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II </a:t>
            </a:r>
            <a:r>
              <a:rPr lang="pt-BR" i="1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regression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)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tipo de regressão, considera-se que também as variáveis independentes sejam variáveis aleatórias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Nesse caso, os erros (ou desvios) podem ser medidos ao longo da perpendicular (ou normal) à linha de regressão. Dessa forma, os coeficientes são estimados minimizando-se a soma dos quadrados dos desvios normais</a:t>
            </a: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627063" lvl="2" indent="-169863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285750" lvl="1" indent="-285750">
              <a:spcBef>
                <a:spcPct val="20000"/>
              </a:spcBef>
              <a:buFont typeface="Arial" panose="020B0604020202020204" pitchFamily="34" charset="0"/>
              <a:buChar char="•"/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Regressão não linear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Nesse caso, a estimação dos coeficientes da regressão é feito por métodos de aproximações sucessivas, buscando-se minimizar alguma função de erro</a:t>
            </a:r>
          </a:p>
          <a:p>
            <a:pPr marL="627063" lvl="2" indent="-169863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	Diferentes métodos podem resultar em diferentes soluções e podem chegar a resultados </a:t>
            </a:r>
            <a:r>
              <a:rPr lang="pt-BR" kern="0" dirty="0" err="1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sub-ótimos</a:t>
            </a: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49" name="Grupo 48"/>
          <p:cNvGrpSpPr/>
          <p:nvPr/>
        </p:nvGrpSpPr>
        <p:grpSpPr>
          <a:xfrm>
            <a:off x="1197636" y="3243594"/>
            <a:ext cx="3374364" cy="1936603"/>
            <a:chOff x="1197636" y="3243594"/>
            <a:chExt cx="3374364" cy="1936603"/>
          </a:xfrm>
        </p:grpSpPr>
        <p:grpSp>
          <p:nvGrpSpPr>
            <p:cNvPr id="30" name="Grupo 29"/>
            <p:cNvGrpSpPr/>
            <p:nvPr/>
          </p:nvGrpSpPr>
          <p:grpSpPr>
            <a:xfrm>
              <a:off x="1197636" y="3243594"/>
              <a:ext cx="3374364" cy="1936603"/>
              <a:chOff x="1197636" y="3243594"/>
              <a:chExt cx="3374364" cy="1936603"/>
            </a:xfrm>
          </p:grpSpPr>
          <p:sp>
            <p:nvSpPr>
              <p:cNvPr id="10" name="Text Box 34"/>
              <p:cNvSpPr txBox="1">
                <a:spLocks noChangeArrowheads="1"/>
              </p:cNvSpPr>
              <p:nvPr/>
            </p:nvSpPr>
            <p:spPr bwMode="auto">
              <a:xfrm>
                <a:off x="4248150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11" name="Text Box 35"/>
              <p:cNvSpPr txBox="1">
                <a:spLocks noChangeArrowheads="1"/>
              </p:cNvSpPr>
              <p:nvPr/>
            </p:nvSpPr>
            <p:spPr bwMode="auto">
              <a:xfrm>
                <a:off x="1197636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12" name="Line 41"/>
              <p:cNvSpPr>
                <a:spLocks noChangeShapeType="1"/>
              </p:cNvSpPr>
              <p:nvPr/>
            </p:nvSpPr>
            <p:spPr bwMode="auto">
              <a:xfrm>
                <a:off x="1519898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Line 42"/>
              <p:cNvSpPr>
                <a:spLocks noChangeShapeType="1"/>
              </p:cNvSpPr>
              <p:nvPr/>
            </p:nvSpPr>
            <p:spPr bwMode="auto">
              <a:xfrm flipV="1">
                <a:off x="1519898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2" name="Grupo 1"/>
              <p:cNvGrpSpPr/>
              <p:nvPr/>
            </p:nvGrpSpPr>
            <p:grpSpPr>
              <a:xfrm>
                <a:off x="1519898" y="3426642"/>
                <a:ext cx="2745953" cy="1195686"/>
                <a:chOff x="5656521" y="2927016"/>
                <a:chExt cx="2745953" cy="1195686"/>
              </a:xfrm>
            </p:grpSpPr>
            <p:sp>
              <p:nvSpPr>
                <p:cNvPr id="6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7499203" y="2986140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grpSp>
              <p:nvGrpSpPr>
                <p:cNvPr id="7" name="Group 50"/>
                <p:cNvGrpSpPr>
                  <a:grpSpLocks/>
                </p:cNvGrpSpPr>
                <p:nvPr/>
              </p:nvGrpSpPr>
              <p:grpSpPr bwMode="auto">
                <a:xfrm>
                  <a:off x="7049927" y="2927016"/>
                  <a:ext cx="587375" cy="523877"/>
                  <a:chOff x="1603" y="1409"/>
                  <a:chExt cx="370" cy="330"/>
                </a:xfrm>
              </p:grpSpPr>
              <p:sp>
                <p:nvSpPr>
                  <p:cNvPr id="8" name="Line 30"/>
                  <p:cNvSpPr>
                    <a:spLocks noChangeShapeType="1"/>
                  </p:cNvSpPr>
                  <p:nvPr/>
                </p:nvSpPr>
                <p:spPr bwMode="auto">
                  <a:xfrm>
                    <a:off x="1916" y="1491"/>
                    <a:ext cx="0" cy="20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  <a:extLst>
                    <a:ext uri="{909E8E84-426E-40DD-AFC4-6F175D3DCCD1}">
                      <a14:hiddenFill xmlns:a14="http://schemas.microsoft.com/office/drawing/2010/main">
                        <a:noFill/>
                      </a14:hiddenFill>
                    </a:ext>
                  </a:extLst>
                </p:spPr>
                <p:txBody>
                  <a:bodyPr/>
                  <a:lstStyle/>
                  <a:p>
                    <a:endParaRPr lang="pt-BR" dirty="0">
                      <a:latin typeface="Tahoma" panose="020B0604030504040204" pitchFamily="34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" name="Text Box 32"/>
                      <p:cNvSpPr txBox="1">
                        <a:spLocks noChangeArrowheads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 wrap="none" anchor="ctr">
                        <a:spAutoFit/>
                      </a:bodyPr>
                      <a:lstStyle>
                        <a:lvl1pPr eaLnBrk="0" hangingPunct="0">
                          <a:spcBef>
                            <a:spcPct val="20000"/>
                          </a:spcBef>
                          <a:buChar char="•"/>
                          <a:defRPr sz="28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1pPr>
                        <a:lvl2pPr marL="742950" indent="-285750" eaLnBrk="0" hangingPunct="0">
                          <a:spcBef>
                            <a:spcPct val="20000"/>
                          </a:spcBef>
                          <a:buChar char="–"/>
                          <a:defRPr sz="24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2pPr>
                        <a:lvl3pPr marL="1143000" indent="-228600" eaLnBrk="0" hangingPunct="0">
                          <a:spcBef>
                            <a:spcPct val="20000"/>
                          </a:spcBef>
                          <a:buChar char="•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3pPr>
                        <a:lvl4pPr marL="1600200" indent="-228600" eaLnBrk="0" hangingPunct="0">
                          <a:spcBef>
                            <a:spcPct val="20000"/>
                          </a:spcBef>
                          <a:buChar char="–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4pPr>
                        <a:lvl5pPr marL="2057400" indent="-228600" eaLnBrk="0" hangingPunct="0">
                          <a:spcBef>
                            <a:spcPct val="20000"/>
                          </a:spcBef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5pPr>
                        <a:lvl6pPr marL="25146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6pPr>
                        <a:lvl7pPr marL="29718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7pPr>
                        <a:lvl8pPr marL="34290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8pPr>
                        <a:lvl9pPr marL="3886200" indent="-228600" eaLnBrk="0" fontAlgn="base" hangingPunct="0">
                          <a:spcBef>
                            <a:spcPct val="20000"/>
                          </a:spcBef>
                          <a:spcAft>
                            <a:spcPct val="0"/>
                          </a:spcAft>
                          <a:buChar char="»"/>
                          <a:defRPr sz="2000">
                            <a:solidFill>
                              <a:schemeClr val="tx1"/>
                            </a:solidFill>
                            <a:latin typeface="Comic Sans MS" pitchFamily="66" charset="0"/>
                          </a:defRPr>
                        </a:lvl9pPr>
                      </a:lstStyle>
                      <a:p>
                        <a:pPr eaLnBrk="1" hangingPunct="1">
                          <a:spcBef>
                            <a:spcPct val="0"/>
                          </a:spcBef>
                          <a:buFontTx/>
                          <a:buNone/>
                        </a:pPr>
                        <a:r>
                          <a:rPr lang="pt-BR" altLang="pt-BR" sz="1600" i="1" baseline="-25000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 </a:t>
                        </a:r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altLang="pt-BR" sz="1800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pt-BR" altLang="pt-BR" sz="1800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oMath>
                        </a14:m>
                        <a:r>
                          <a:rPr lang="pt-BR" altLang="pt-BR" dirty="0">
                            <a:latin typeface="Times New Roman" charset="0"/>
                            <a:cs typeface="Times New Roman" charset="0"/>
                            <a:sym typeface="Mathematica1" pitchFamily="2" charset="2"/>
                          </a:rPr>
                          <a:t>{</a:t>
                        </a:r>
                        <a:endParaRPr lang="pt-BR" altLang="pt-BR" sz="1600" baseline="-25000" dirty="0">
                          <a:latin typeface="Times New Roman" charset="0"/>
                          <a:cs typeface="Times New Roman" charset="0"/>
                          <a:sym typeface="Mathematica1" pitchFamily="2" charset="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312" name="Text Box 32"/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1603" y="1409"/>
                        <a:ext cx="370" cy="330"/>
                      </a:xfrm>
                      <a:prstGeom prst="rect">
                        <a:avLst/>
                      </a:prstGeom>
                      <a:blipFill rotWithShape="1">
                        <a:blip r:embed="rId2"/>
                        <a:stretch>
                          <a:fillRect t="-11628" r="-16495" b="-31395"/>
                        </a:stretch>
                      </a:blipFill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20" name="Line 39"/>
                <p:cNvSpPr>
                  <a:spLocks noChangeShapeType="1"/>
                </p:cNvSpPr>
                <p:nvPr/>
              </p:nvSpPr>
              <p:spPr bwMode="auto">
                <a:xfrm flipV="1">
                  <a:off x="5656521" y="3060356"/>
                  <a:ext cx="2745953" cy="1062346"/>
                </a:xfrm>
                <a:prstGeom prst="line">
                  <a:avLst/>
                </a:prstGeom>
                <a:noFill/>
                <a:ln w="28575">
                  <a:solidFill>
                    <a:srgbClr val="FF0000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p:grpSp>
        </p:grpSp>
        <p:sp>
          <p:nvSpPr>
            <p:cNvPr id="47" name="CaixaDeTexto 46"/>
            <p:cNvSpPr txBox="1"/>
            <p:nvPr/>
          </p:nvSpPr>
          <p:spPr>
            <a:xfrm>
              <a:off x="2483768" y="4437112"/>
              <a:ext cx="191924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ordinária</a:t>
              </a:r>
            </a:p>
          </p:txBody>
        </p:sp>
      </p:grpSp>
      <p:grpSp>
        <p:nvGrpSpPr>
          <p:cNvPr id="50" name="Grupo 49"/>
          <p:cNvGrpSpPr/>
          <p:nvPr/>
        </p:nvGrpSpPr>
        <p:grpSpPr>
          <a:xfrm>
            <a:off x="4788024" y="3243594"/>
            <a:ext cx="3374364" cy="1936603"/>
            <a:chOff x="4788024" y="3243594"/>
            <a:chExt cx="3374364" cy="1936603"/>
          </a:xfrm>
        </p:grpSpPr>
        <p:grpSp>
          <p:nvGrpSpPr>
            <p:cNvPr id="46" name="Grupo 45"/>
            <p:cNvGrpSpPr/>
            <p:nvPr/>
          </p:nvGrpSpPr>
          <p:grpSpPr>
            <a:xfrm>
              <a:off x="4788024" y="3243594"/>
              <a:ext cx="3374364" cy="1936603"/>
              <a:chOff x="4788024" y="3243594"/>
              <a:chExt cx="3374364" cy="1936603"/>
            </a:xfrm>
          </p:grpSpPr>
          <p:sp>
            <p:nvSpPr>
              <p:cNvPr id="32" name="Text Box 34"/>
              <p:cNvSpPr txBox="1">
                <a:spLocks noChangeArrowheads="1"/>
              </p:cNvSpPr>
              <p:nvPr/>
            </p:nvSpPr>
            <p:spPr bwMode="auto">
              <a:xfrm>
                <a:off x="7838538" y="4813485"/>
                <a:ext cx="3238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X</a:t>
                </a:r>
              </a:p>
            </p:txBody>
          </p:sp>
          <p:sp>
            <p:nvSpPr>
              <p:cNvPr id="33" name="Text Box 35"/>
              <p:cNvSpPr txBox="1">
                <a:spLocks noChangeArrowheads="1"/>
              </p:cNvSpPr>
              <p:nvPr/>
            </p:nvSpPr>
            <p:spPr bwMode="auto">
              <a:xfrm>
                <a:off x="4788024" y="3243594"/>
                <a:ext cx="311150" cy="36671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dirty="0">
                    <a:latin typeface="Times New Roman" charset="0"/>
                    <a:cs typeface="Times New Roman" charset="0"/>
                  </a:rPr>
                  <a:t>Y</a:t>
                </a:r>
              </a:p>
            </p:txBody>
          </p:sp>
          <p:sp>
            <p:nvSpPr>
              <p:cNvPr id="34" name="Line 41"/>
              <p:cNvSpPr>
                <a:spLocks noChangeShapeType="1"/>
              </p:cNvSpPr>
              <p:nvPr/>
            </p:nvSpPr>
            <p:spPr bwMode="auto">
              <a:xfrm>
                <a:off x="5110286" y="4813485"/>
                <a:ext cx="298800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5" name="Line 42"/>
              <p:cNvSpPr>
                <a:spLocks noChangeShapeType="1"/>
              </p:cNvSpPr>
              <p:nvPr/>
            </p:nvSpPr>
            <p:spPr bwMode="auto">
              <a:xfrm flipV="1">
                <a:off x="5110286" y="3337485"/>
                <a:ext cx="0" cy="147600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" name="Line 39"/>
              <p:cNvSpPr>
                <a:spLocks noChangeShapeType="1"/>
              </p:cNvSpPr>
              <p:nvPr/>
            </p:nvSpPr>
            <p:spPr bwMode="auto">
              <a:xfrm flipV="1">
                <a:off x="5110286" y="3559982"/>
                <a:ext cx="2745953" cy="1062346"/>
              </a:xfrm>
              <a:prstGeom prst="line">
                <a:avLst/>
              </a:prstGeom>
              <a:noFill/>
              <a:ln w="28575">
                <a:solidFill>
                  <a:srgbClr val="FF00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  <p:grpSp>
            <p:nvGrpSpPr>
              <p:cNvPr id="44" name="Grupo 43"/>
              <p:cNvGrpSpPr/>
              <p:nvPr/>
            </p:nvGrpSpPr>
            <p:grpSpPr>
              <a:xfrm>
                <a:off x="6952968" y="3485766"/>
                <a:ext cx="285635" cy="346102"/>
                <a:chOff x="6952968" y="3485766"/>
                <a:chExt cx="285635" cy="346102"/>
              </a:xfrm>
            </p:grpSpPr>
            <p:sp>
              <p:nvSpPr>
                <p:cNvPr id="37" name="AutoShape 28"/>
                <p:cNvSpPr>
                  <a:spLocks noChangeAspect="1" noChangeArrowheads="1"/>
                </p:cNvSpPr>
                <p:nvPr/>
              </p:nvSpPr>
              <p:spPr bwMode="auto">
                <a:xfrm>
                  <a:off x="6952968" y="3485766"/>
                  <a:ext cx="90488" cy="90488"/>
                </a:xfrm>
                <a:prstGeom prst="flowChartConnector">
                  <a:avLst/>
                </a:prstGeom>
                <a:solidFill>
                  <a:srgbClr val="FF9900"/>
                </a:solidFill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  <p:txBody>
                <a:bodyPr wrap="none" anchor="ctr"/>
                <a:lstStyle>
                  <a:lvl1pPr eaLnBrk="0" hangingPunct="0">
                    <a:spcBef>
                      <a:spcPct val="20000"/>
                    </a:spcBef>
                    <a:buChar char="•"/>
                    <a:defRPr sz="2800">
                      <a:solidFill>
                        <a:schemeClr val="tx1"/>
                      </a:solidFill>
                      <a:latin typeface="Comic Sans MS" pitchFamily="66" charset="0"/>
                    </a:defRPr>
                  </a:lvl1pPr>
                  <a:lvl2pPr marL="742950" indent="-285750" eaLnBrk="0" hangingPunct="0">
                    <a:spcBef>
                      <a:spcPct val="20000"/>
                    </a:spcBef>
                    <a:buChar char="–"/>
                    <a:defRPr sz="2400">
                      <a:solidFill>
                        <a:schemeClr val="tx1"/>
                      </a:solidFill>
                      <a:latin typeface="Comic Sans MS" pitchFamily="66" charset="0"/>
                    </a:defRPr>
                  </a:lvl2pPr>
                  <a:lvl3pPr marL="1143000" indent="-228600" eaLnBrk="0" hangingPunct="0">
                    <a:spcBef>
                      <a:spcPct val="20000"/>
                    </a:spcBef>
                    <a:buChar char="•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3pPr>
                  <a:lvl4pPr marL="1600200" indent="-228600" eaLnBrk="0" hangingPunct="0">
                    <a:spcBef>
                      <a:spcPct val="20000"/>
                    </a:spcBef>
                    <a:buChar char="–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4pPr>
                  <a:lvl5pPr marL="2057400" indent="-228600" eaLnBrk="0" hangingPunct="0">
                    <a:spcBef>
                      <a:spcPct val="20000"/>
                    </a:spcBef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5pPr>
                  <a:lvl6pPr marL="25146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6pPr>
                  <a:lvl7pPr marL="29718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7pPr>
                  <a:lvl8pPr marL="34290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8pPr>
                  <a:lvl9pPr marL="3886200" indent="-22860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har char="»"/>
                    <a:defRPr sz="2000">
                      <a:solidFill>
                        <a:schemeClr val="tx1"/>
                      </a:solidFill>
                      <a:latin typeface="Comic Sans MS" pitchFamily="66" charset="0"/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endParaRPr lang="pt-BR" altLang="pt-BR" sz="1600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0" name="Line 30"/>
                <p:cNvSpPr>
                  <a:spLocks noChangeShapeType="1"/>
                </p:cNvSpPr>
                <p:nvPr/>
              </p:nvSpPr>
              <p:spPr bwMode="auto">
                <a:xfrm>
                  <a:off x="7023631" y="3579868"/>
                  <a:ext cx="90487" cy="252000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  <p:txBody>
                <a:bodyPr/>
                <a:lstStyle/>
                <a:p>
                  <a:endParaRPr lang="pt-BR" dirty="0"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2" name="Retângulo 41"/>
                <p:cNvSpPr/>
                <p:nvPr/>
              </p:nvSpPr>
              <p:spPr bwMode="auto">
                <a:xfrm rot="-1140000">
                  <a:off x="7094587" y="3681018"/>
                  <a:ext cx="144016" cy="138874"/>
                </a:xfrm>
                <a:prstGeom prst="rect">
                  <a:avLst/>
                </a:prstGeom>
                <a:noFill/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  <p:sp>
              <p:nvSpPr>
                <p:cNvPr id="43" name="Elipse 42"/>
                <p:cNvSpPr/>
                <p:nvPr/>
              </p:nvSpPr>
              <p:spPr bwMode="auto">
                <a:xfrm>
                  <a:off x="7148595" y="3732455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 w="9525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indent="0" algn="ctr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pt-BR" sz="1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5" name="Text Box 32"/>
                  <p:cNvSpPr txBox="1">
                    <a:spLocks noChangeArrowheads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none" anchor="ctr">
                    <a:spAutoFit/>
                  </a:bodyPr>
                  <a:lstStyle>
                    <a:lvl1pPr eaLnBrk="0" hangingPunct="0">
                      <a:spcBef>
                        <a:spcPct val="20000"/>
                      </a:spcBef>
                      <a:buChar char="•"/>
                      <a:defRPr sz="28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1pPr>
                    <a:lvl2pPr marL="742950" indent="-285750" eaLnBrk="0" hangingPunct="0">
                      <a:spcBef>
                        <a:spcPct val="20000"/>
                      </a:spcBef>
                      <a:buChar char="–"/>
                      <a:defRPr sz="24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2pPr>
                    <a:lvl3pPr marL="1143000" indent="-228600" eaLnBrk="0" hangingPunct="0">
                      <a:spcBef>
                        <a:spcPct val="20000"/>
                      </a:spcBef>
                      <a:buChar char="•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3pPr>
                    <a:lvl4pPr marL="1600200" indent="-228600" eaLnBrk="0" hangingPunct="0">
                      <a:spcBef>
                        <a:spcPct val="20000"/>
                      </a:spcBef>
                      <a:buChar char="–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4pPr>
                    <a:lvl5pPr marL="2057400" indent="-228600" eaLnBrk="0" hangingPunct="0">
                      <a:spcBef>
                        <a:spcPct val="20000"/>
                      </a:spcBef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5pPr>
                    <a:lvl6pPr marL="25146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6pPr>
                    <a:lvl7pPr marL="29718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7pPr>
                    <a:lvl8pPr marL="34290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8pPr>
                    <a:lvl9pPr marL="3886200" indent="-228600" eaLnBrk="0" fontAlgn="base" hangingPunct="0">
                      <a:spcBef>
                        <a:spcPct val="20000"/>
                      </a:spcBef>
                      <a:spcAft>
                        <a:spcPct val="0"/>
                      </a:spcAft>
                      <a:buChar char="»"/>
                      <a:defRPr sz="2000">
                        <a:solidFill>
                          <a:schemeClr val="tx1"/>
                        </a:solidFill>
                        <a:latin typeface="Comic Sans MS" pitchFamily="66" charset="0"/>
                      </a:defRPr>
                    </a:lvl9pPr>
                  </a:lstStyle>
                  <a:p>
                    <a:pPr eaLnBrk="1" hangingPunct="1">
                      <a:spcBef>
                        <a:spcPct val="0"/>
                      </a:spcBef>
                      <a:buFontTx/>
                      <a:buNone/>
                    </a:pPr>
                    <a:r>
                      <a:rPr lang="pt-BR" altLang="pt-BR" sz="1600" i="1" baseline="-25000" dirty="0">
                        <a:latin typeface="Times New Roman" charset="0"/>
                        <a:cs typeface="Times New Roman" charset="0"/>
                        <a:sym typeface="Mathematica1" pitchFamily="2" charset="2"/>
                      </a:rPr>
                      <a:t>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pt-BR" altLang="pt-BR" sz="1800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𝜀</m:t>
                            </m:r>
                          </m:e>
                          <m:sub>
                            <m:r>
                              <a:rPr lang="pt-BR" altLang="pt-BR" sz="1800" i="1">
                                <a:latin typeface="Cambria Math"/>
                                <a:ea typeface="Cambria Math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</m:oMath>
                    </a14:m>
                    <a:endParaRPr lang="pt-BR" altLang="pt-BR" sz="1600" baseline="-25000" dirty="0">
                      <a:latin typeface="Times New Roman" charset="0"/>
                      <a:cs typeface="Times New Roman" charset="0"/>
                      <a:sym typeface="Mathematica1" pitchFamily="2" charset="2"/>
                    </a:endParaRPr>
                  </a:p>
                </p:txBody>
              </p:sp>
            </mc:Choice>
            <mc:Fallback xmlns="">
              <p:sp>
                <p:nvSpPr>
                  <p:cNvPr id="45" name="Text Box 3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6595908" y="3552055"/>
                    <a:ext cx="394723" cy="362984"/>
                  </a:xfrm>
                  <a:prstGeom prst="rect">
                    <a:avLst/>
                  </a:prstGeom>
                  <a:blipFill rotWithShape="1">
                    <a:blip r:embed="rId3"/>
                    <a:stretch>
                      <a:fillRect b="-5085"/>
                    </a:stretch>
                  </a:blipFill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1" name="Text Box 32"/>
              <p:cNvSpPr txBox="1">
                <a:spLocks noChangeArrowheads="1"/>
              </p:cNvSpPr>
              <p:nvPr/>
            </p:nvSpPr>
            <p:spPr bwMode="auto">
              <a:xfrm rot="20416215">
                <a:off x="6734915" y="3447303"/>
                <a:ext cx="391454" cy="52322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600" i="1" baseline="-25000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 </a:t>
                </a:r>
                <a:r>
                  <a:rPr lang="pt-BR" altLang="pt-BR" dirty="0">
                    <a:latin typeface="Times New Roman" charset="0"/>
                    <a:cs typeface="Times New Roman" charset="0"/>
                    <a:sym typeface="Mathematica1" pitchFamily="2" charset="2"/>
                  </a:rPr>
                  <a:t>{</a:t>
                </a:r>
                <a:endParaRPr lang="pt-BR" altLang="pt-BR" sz="1600" baseline="-25000" dirty="0">
                  <a:latin typeface="Times New Roman" charset="0"/>
                  <a:cs typeface="Times New Roman" charset="0"/>
                  <a:sym typeface="Mathematica1" pitchFamily="2" charset="2"/>
                </a:endParaRPr>
              </a:p>
            </p:txBody>
          </p:sp>
        </p:grpSp>
        <p:sp>
          <p:nvSpPr>
            <p:cNvPr id="48" name="CaixaDeTexto 47"/>
            <p:cNvSpPr txBox="1"/>
            <p:nvPr/>
          </p:nvSpPr>
          <p:spPr>
            <a:xfrm>
              <a:off x="6018175" y="4437112"/>
              <a:ext cx="16846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ahoma" panose="020B0604030504040204" pitchFamily="34" charset="0"/>
                </a:rPr>
                <a:t>regressão tipo II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6421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102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baseada no estimador de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Theil-Sen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* (método da mediana simples)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Nessa regressão,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calculado através da mediana dos coeficientes angulares de todos os pares de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Uma  vez calculado o coeficiente angular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, o coeficiente linear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é estimado através da mediana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pt-BR" b="0" i="1" kern="0" smtClean="0">
                                <a:solidFill>
                                  <a:srgbClr val="000000"/>
                                </a:solidFill>
                                <a:latin typeface="Cambria Math"/>
                                <a:cs typeface="Arial" panose="020B0604020202020204" pitchFamily="34" charset="0"/>
                              </a:rPr>
                              <m:t>𝑖</m:t>
                            </m:r>
                          </m:sub>
                        </m:s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−</m:t>
                        </m:r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𝑏</m:t>
                        </m:r>
                      </m:e>
                      <m:sub>
                        <m:r>
                          <a:rPr lang="pt-BR" i="1" ker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𝑋</m:t>
                        </m:r>
                      </m:e>
                      <m:sub>
                        <m:r>
                          <a:rPr lang="pt-BR" b="0" i="1" kern="0" smtClean="0">
                            <a:solidFill>
                              <a:srgbClr val="000000"/>
                            </a:solidFill>
                            <a:latin typeface="Cambria Math"/>
                            <a:cs typeface="Arial" panose="020B0604020202020204" pitchFamily="34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para todos os pontos da amostra</a:t>
                </a:r>
              </a:p>
              <a:p>
                <a:pPr marL="627063" lvl="2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Esse tipo de regressão é menos sensível a presença de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outliers</a:t>
                </a:r>
                <a:endParaRPr lang="pt-BR" i="1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2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784976" cy="2012859"/>
              </a:xfrm>
              <a:prstGeom prst="rect">
                <a:avLst/>
              </a:prstGeom>
              <a:blipFill>
                <a:blip r:embed="rId2"/>
                <a:stretch>
                  <a:fillRect l="-278" t="-909" r="-41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tângulo 35"/>
          <p:cNvSpPr/>
          <p:nvPr/>
        </p:nvSpPr>
        <p:spPr>
          <a:xfrm>
            <a:off x="336678" y="6536377"/>
            <a:ext cx="8784976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sz="1200" dirty="0">
                <a:latin typeface="Tahoma" panose="020B0604030504040204" pitchFamily="34" charset="0"/>
              </a:rPr>
              <a:t>* https://en.wikipedia.org/wiki/Theil%E2%80%93Sen_estimator</a:t>
            </a:r>
            <a:endParaRPr lang="pt-BR" sz="1200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</p:txBody>
      </p:sp>
      <p:grpSp>
        <p:nvGrpSpPr>
          <p:cNvPr id="18" name="Grupo 17"/>
          <p:cNvGrpSpPr/>
          <p:nvPr/>
        </p:nvGrpSpPr>
        <p:grpSpPr>
          <a:xfrm>
            <a:off x="2987824" y="3099444"/>
            <a:ext cx="5647688" cy="3202862"/>
            <a:chOff x="2987824" y="3099444"/>
            <a:chExt cx="5647688" cy="3202862"/>
          </a:xfrm>
        </p:grpSpPr>
        <p:pic>
          <p:nvPicPr>
            <p:cNvPr id="12185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87824" y="3284984"/>
              <a:ext cx="2881316" cy="301732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17" name="Grupo 16"/>
            <p:cNvGrpSpPr/>
            <p:nvPr/>
          </p:nvGrpSpPr>
          <p:grpSpPr>
            <a:xfrm>
              <a:off x="5984864" y="3376443"/>
              <a:ext cx="2650648" cy="461665"/>
              <a:chOff x="5984864" y="3376443"/>
              <a:chExt cx="2650648" cy="461665"/>
            </a:xfrm>
          </p:grpSpPr>
          <p:cxnSp>
            <p:nvCxnSpPr>
              <p:cNvPr id="15" name="Conector de seta reta 14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16" name="Retângulo 15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ajustada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(mediana)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1" name="Grupo 50"/>
            <p:cNvGrpSpPr/>
            <p:nvPr/>
          </p:nvGrpSpPr>
          <p:grpSpPr>
            <a:xfrm>
              <a:off x="5984864" y="3099444"/>
              <a:ext cx="2650648" cy="276999"/>
              <a:chOff x="5984864" y="3376443"/>
              <a:chExt cx="2650648" cy="276999"/>
            </a:xfrm>
          </p:grpSpPr>
          <p:cxnSp>
            <p:nvCxnSpPr>
              <p:cNvPr id="52" name="Conector de seta reta 51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3" name="Retângulo 52"/>
              <p:cNvSpPr/>
              <p:nvPr/>
            </p:nvSpPr>
            <p:spPr>
              <a:xfrm>
                <a:off x="6475272" y="3376443"/>
                <a:ext cx="2160240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verdadeira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55" name="Grupo 54"/>
            <p:cNvGrpSpPr/>
            <p:nvPr/>
          </p:nvGrpSpPr>
          <p:grpSpPr>
            <a:xfrm>
              <a:off x="5984864" y="4149080"/>
              <a:ext cx="2650648" cy="461665"/>
              <a:chOff x="5984864" y="3376443"/>
              <a:chExt cx="2650648" cy="461665"/>
            </a:xfrm>
          </p:grpSpPr>
          <p:cxnSp>
            <p:nvCxnSpPr>
              <p:cNvPr id="56" name="Conector de seta reta 55"/>
              <p:cNvCxnSpPr/>
              <p:nvPr/>
            </p:nvCxnSpPr>
            <p:spPr bwMode="auto">
              <a:xfrm>
                <a:off x="5984864" y="3518424"/>
                <a:ext cx="504056" cy="0"/>
              </a:xfrm>
              <a:prstGeom prst="straightConnector1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arrow"/>
              </a:ln>
              <a:effectLst/>
            </p:spPr>
          </p:cxnSp>
          <p:sp>
            <p:nvSpPr>
              <p:cNvPr id="57" name="Retângulo 56"/>
              <p:cNvSpPr/>
              <p:nvPr/>
            </p:nvSpPr>
            <p:spPr>
              <a:xfrm>
                <a:off x="6475272" y="3376443"/>
                <a:ext cx="2160240" cy="46166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ordinária</a:t>
                </a:r>
              </a:p>
              <a:p>
                <a:r>
                  <a:rPr lang="pt-BR" sz="1200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(mínimos quadrados)</a:t>
                </a:r>
                <a:endParaRPr lang="pt-BR" sz="1200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15147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binária: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~ Bernoulli,</a:t>
                </a:r>
                <a:r>
                  <a:rPr lang="pt-BR" dirty="0">
                    <a:latin typeface="Tahoma" panose="020B060403050404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/>
                      </a:rPr>
                      <m:t>𝑃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/>
                              </a:rPr>
                              <m:t>𝑌</m:t>
                            </m:r>
                          </m:e>
                          <m:sub>
                            <m:r>
                              <a:rPr lang="pt-BR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pt-BR" i="1">
                            <a:latin typeface="Cambria Math"/>
                          </a:rPr>
                          <m:t>=1</m:t>
                        </m:r>
                      </m:e>
                    </m:d>
                    <m:r>
                      <a:rPr lang="pt-BR" b="0" i="1" smtClean="0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𝜋</m:t>
                        </m:r>
                      </m:e>
                      <m:sub>
                        <m:r>
                          <a:rPr lang="pt-BR" b="0" i="1" smtClean="0">
                            <a:latin typeface="Cambria Math"/>
                            <a:ea typeface="Cambria Math"/>
                          </a:rPr>
                          <m:t>𝑖</m:t>
                        </m:r>
                      </m:sub>
                    </m:sSub>
                  </m:oMath>
                </a14:m>
                <a:endParaRPr lang="pt-BR" kern="0" dirty="0">
                  <a:solidFill>
                    <a:srgbClr val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Logística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412776"/>
                <a:ext cx="8496944" cy="634020"/>
              </a:xfrm>
              <a:prstGeom prst="rect">
                <a:avLst/>
              </a:prstGeom>
              <a:blipFill>
                <a:blip r:embed="rId2"/>
                <a:stretch>
                  <a:fillRect l="-287" t="-3846" b="-115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pic>
        <p:nvPicPr>
          <p:cNvPr id="10342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420888"/>
            <a:ext cx="4572000" cy="2743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/>
              <p:cNvSpPr txBox="1"/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𝐸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𝑌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  <m:r>
                        <a:rPr lang="pt-BR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r>
                            <a:rPr lang="pt-BR" b="0" i="1" smtClean="0">
                              <a:latin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/>
                                      <a:ea typeface="Cambria Math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/>
                                      <a:ea typeface="Cambria Math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den>
                      </m:f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5" name="CaixaDeTexto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5976" y="3179500"/>
                <a:ext cx="2069797" cy="60830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tângulo 8"/>
              <p:cNvSpPr/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Variável dependente que represente proporção </a:t>
                </a:r>
                <a:r>
                  <a:rPr lang="pt-BR" i="1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Y</a:t>
                </a:r>
                <a:r>
                  <a:rPr lang="pt-BR" i="1" kern="0" baseline="-2500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</a:t>
                </a:r>
                <a:r>
                  <a:rPr lang="pt-BR" i="1" kern="0" baseline="-25000" dirty="0" err="1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</a:t>
                </a:r>
                <a:r>
                  <a:rPr lang="pt-BR" kern="0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[0,1]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Beta</a:t>
                </a:r>
              </a:p>
              <a:p>
                <a:pPr lvl="1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funções de ligação </a:t>
                </a:r>
                <a14:m>
                  <m:oMath xmlns:m="http://schemas.openxmlformats.org/officeDocument/2006/math"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𝑔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𝐸</m:t>
                    </m:r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(</m:t>
                    </m:r>
                    <m:sSub>
                      <m:sSubPr>
                        <m:ctrlPr>
                          <a:rPr lang="pt-BR" altLang="pt-BR" i="1">
                            <a:latin typeface="Cambria Math" panose="02040503050406030204" pitchFamily="18" charset="0"/>
                            <a:ea typeface="Cambria Math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𝑌</m:t>
                        </m:r>
                      </m:e>
                      <m:sub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𝑖</m:t>
                        </m:r>
                      </m:sub>
                    </m:sSub>
                    <m:r>
                      <a:rPr lang="pt-BR" altLang="pt-BR" i="1">
                        <a:latin typeface="Cambria Math"/>
                        <a:ea typeface="Cambria Math"/>
                        <a:sym typeface="Symbol" pitchFamily="18" charset="2"/>
                      </a:rPr>
                      <m:t>))</m:t>
                    </m:r>
                  </m:oMath>
                </a14:m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: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logit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probit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Retângulo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5177368"/>
                <a:ext cx="8496944" cy="929485"/>
              </a:xfrm>
              <a:prstGeom prst="rect">
                <a:avLst/>
              </a:prstGeom>
              <a:blipFill>
                <a:blip r:embed="rId5"/>
                <a:stretch>
                  <a:fillRect l="-287" t="-2614" b="-71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/>
              <p:cNvSpPr txBox="1"/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𝑙𝑜𝑔𝑖𝑡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b="0" i="1" smtClean="0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</a:rPr>
                                        <m:t>𝑝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2" name="CaixaDeTexto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956" y="6118627"/>
                <a:ext cx="2385332" cy="64556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𝑝𝑟𝑜𝑏𝑖𝑡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/>
                            </a:rPr>
                            <m:t>𝐹</m:t>
                          </m:r>
                        </m:e>
                        <m:sup>
                          <m:r>
                            <a:rPr lang="pt-BR" b="0" i="1" smtClean="0">
                              <a:latin typeface="Cambria Math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      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𝑝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r>
                        <a:rPr lang="pt-BR" b="0" i="1" smtClean="0">
                          <a:latin typeface="Cambria Math"/>
                        </a:rPr>
                        <m:t>(</m:t>
                      </m:r>
                      <m:r>
                        <a:rPr lang="pt-BR" b="0" i="1" smtClean="0">
                          <a:latin typeface="Cambria Math"/>
                        </a:rPr>
                        <m:t>𝑍</m:t>
                      </m:r>
                      <m:r>
                        <a:rPr lang="pt-BR" b="0" i="1" smtClean="0">
                          <a:latin typeface="Cambria Math"/>
                        </a:rPr>
                        <m:t>&lt;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</a:rPr>
                        <m:t>)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0255" y="6272131"/>
                <a:ext cx="4254113" cy="338554"/>
              </a:xfrm>
              <a:prstGeom prst="rect">
                <a:avLst/>
              </a:prstGeom>
              <a:blipFill>
                <a:blip r:embed="rId7"/>
                <a:stretch>
                  <a:fillRect b="-145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103</a:t>
            </a:fld>
            <a:endParaRPr lang="pt-BR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aixaDeTexto 9"/>
              <p:cNvSpPr txBox="1"/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0" name="CaixaDeTexto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408" y="3357661"/>
                <a:ext cx="644856" cy="338554"/>
              </a:xfrm>
              <a:prstGeom prst="rect">
                <a:avLst/>
              </a:prstGeom>
              <a:blipFill>
                <a:blip r:embed="rId8"/>
                <a:stretch>
                  <a:fillRect b="-181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tângulo 1"/>
              <p:cNvSpPr/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pt-BR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pt-BR" i="1">
                                      <a:latin typeface="Cambria Math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/>
                                          <a:ea typeface="Cambria Math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/>
                                        </a:rPr>
                                        <m:t>𝑖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  <m:r>
                        <a:rPr lang="pt-BR" i="1">
                          <a:latin typeface="Cambria Math"/>
                        </a:rPr>
                        <m:t>=</m:t>
                      </m:r>
                      <m:r>
                        <a:rPr lang="pt-BR" i="1">
                          <a:latin typeface="Cambria Math"/>
                        </a:rPr>
                        <m:t>𝑙𝑜𝑔𝑖𝑡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pt-BR" i="1">
                                  <a:latin typeface="Cambria Math"/>
                                  <a:ea typeface="Cambria Math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i="1">
                          <a:latin typeface="Cambria Math"/>
                          <a:ea typeface="Cambria Math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𝛽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𝑋</m:t>
                          </m:r>
                        </m:e>
                        <m:sub>
                          <m:r>
                            <a:rPr lang="pt-BR" i="1">
                              <a:latin typeface="Cambria Math"/>
                              <a:ea typeface="Cambria Math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2" name="Retângulo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54296" y="3863559"/>
                <a:ext cx="3440557" cy="6455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514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2" grpId="0"/>
      <p:bldP spid="13" grpId="0"/>
      <p:bldP spid="10" grpId="0"/>
      <p:bldP spid="2" grpId="0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tângulo 2"/>
              <p:cNvSpPr/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Lineares Generalizados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É uma flexibilização da regressão linear ordinária para permitir que a variável dependente tenha resíduos com distribuição diferente da gaussiana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Inclui a Regressão Ordinária (clássica), Regressão Logística, Regressão Beta, Regressão de Poisson, Regressão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Multinomial</a:t>
                </a: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Também inclui Modelos Aditivos Generalizados (GAM) que permitem o uso de funções de suavização (p.ex. médias móveis)</a:t>
                </a:r>
              </a:p>
              <a:p>
                <a:pPr marL="627063" lvl="1" indent="-169863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627063" lvl="1" indent="-169863">
                  <a:spcBef>
                    <a:spcPct val="20000"/>
                  </a:spcBef>
                </a:pPr>
                <a:endParaRPr lang="pt-BR" altLang="pt-BR" i="1" dirty="0">
                  <a:latin typeface="Cambria Math"/>
                  <a:ea typeface="Cambria Math"/>
                  <a:sym typeface="Symbol" pitchFamily="18" charset="2"/>
                </a:endParaRPr>
              </a:p>
              <a:p>
                <a:pPr marL="450850" lvl="1" indent="6350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𝑔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𝐸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(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𝑌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))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=</m:t>
                          </m:r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𝛽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0</m:t>
                          </m:r>
                        </m:sub>
                      </m:sSub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b="0" i="1" smtClean="0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b="0" i="1" smtClean="0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b="0" i="1" smtClean="0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1</m:t>
                              </m:r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𝑓</m:t>
                      </m:r>
                      <m:d>
                        <m:d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altLang="pt-BR" i="1">
                                  <a:latin typeface="Cambria Math" panose="02040503050406030204" pitchFamily="18" charset="0"/>
                                  <a:ea typeface="Cambria Math"/>
                                  <a:sym typeface="Symbol" pitchFamily="18" charset="2"/>
                                </a:rPr>
                              </m:ctrlPr>
                            </m:sSubPr>
                            <m:e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altLang="pt-BR" b="0" i="1" smtClean="0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2</m:t>
                              </m:r>
                              <m:r>
                                <a:rPr lang="pt-BR" altLang="pt-BR" i="1">
                                  <a:latin typeface="Cambria Math"/>
                                  <a:ea typeface="Cambria Math"/>
                                  <a:sym typeface="Symbol" pitchFamily="18" charset="2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pt-BR" altLang="pt-BR" i="1">
                          <a:latin typeface="Cambria Math"/>
                          <a:ea typeface="Cambria Math"/>
                          <a:sym typeface="Symbol" pitchFamily="18" charset="2"/>
                        </a:rPr>
                        <m:t>+</m:t>
                      </m:r>
                      <m:sSub>
                        <m:sSubPr>
                          <m:ctrlPr>
                            <a:rPr lang="pt-BR" altLang="pt-BR" i="1">
                              <a:latin typeface="Cambria Math" panose="02040503050406030204" pitchFamily="18" charset="0"/>
                              <a:ea typeface="Cambria Math"/>
                              <a:sym typeface="Symbol" pitchFamily="18" charset="2"/>
                            </a:rPr>
                          </m:ctrlPr>
                        </m:sSubPr>
                        <m:e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𝜀</m:t>
                          </m:r>
                        </m:e>
                        <m:sub>
                          <m:r>
                            <a:rPr lang="pt-BR" altLang="pt-BR" i="1">
                              <a:latin typeface="Cambria Math"/>
                              <a:ea typeface="Cambria Math"/>
                              <a:sym typeface="Symbol" pitchFamily="18" charset="2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0" lvl="1">
                  <a:spcBef>
                    <a:spcPct val="20000"/>
                  </a:spcBef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Modelos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autoregressivos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com (ARMAX) ou sem variáveis exógenas (ARMA)</a:t>
                </a:r>
              </a:p>
              <a:p>
                <a:pPr marL="0" lvl="1">
                  <a:spcBef>
                    <a:spcPct val="20000"/>
                  </a:spcBef>
                </a:pPr>
                <a:endParaRPr lang="pt-BR" i="1" kern="0" dirty="0">
                  <a:solidFill>
                    <a:srgbClr val="000000"/>
                  </a:solidFill>
                  <a:latin typeface="Cambria Math"/>
                  <a:cs typeface="Arial" panose="020B0604020202020204" pitchFamily="34" charset="0"/>
                </a:endParaRPr>
              </a:p>
              <a:p>
                <a:pPr marL="457200" lvl="2">
                  <a:spcBef>
                    <a:spcPct val="2000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cs typeface="Arial" panose="020B0604020202020204" pitchFamily="34" charset="0"/>
                        </a:rPr>
                        <m:t>=</m:t>
                      </m:r>
                      <m:sSub>
                        <m:sSubPr>
                          <m:ctrlP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0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kern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−1</m:t>
                          </m:r>
                        </m:sub>
                      </m:sSub>
                      <m:r>
                        <a:rPr lang="pt-BR" i="1" ker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𝑌</m:t>
                          </m:r>
                        </m:e>
                        <m:sub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𝑡</m:t>
                          </m:r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−2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sSub>
                        <m:sSubPr>
                          <m:ctrlPr>
                            <a:rPr lang="pt-BR" i="1" ker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cs typeface="Arial" panose="020B0604020202020204" pitchFamily="34" charset="0"/>
                            </a:rPr>
                          </m:ctrlPr>
                        </m:sSubPr>
                        <m:e>
                          <m:r>
                            <a:rPr lang="pt-BR" i="1" kern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Arial" panose="020B0604020202020204" pitchFamily="34" charset="0"/>
                            </a:rPr>
                            <m:t>𝛽</m:t>
                          </m:r>
                        </m:e>
                        <m:sub>
                          <m:r>
                            <a:rPr lang="pt-BR" b="0" i="1" kern="0" smtClean="0">
                              <a:solidFill>
                                <a:srgbClr val="000000"/>
                              </a:solidFill>
                              <a:latin typeface="Cambria Math"/>
                              <a:cs typeface="Arial" panose="020B0604020202020204" pitchFamily="34" charset="0"/>
                            </a:rPr>
                            <m:t>3</m:t>
                          </m:r>
                        </m:sub>
                      </m:sSub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𝑋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cs typeface="Arial" panose="020B0604020202020204" pitchFamily="34" charset="0"/>
                        </a:rPr>
                        <m:t>+</m:t>
                      </m:r>
                      <m:r>
                        <a:rPr lang="pt-BR" b="0" i="1" kern="0" smtClean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Arial" panose="020B0604020202020204" pitchFamily="34" charset="0"/>
                        </a:rPr>
                        <m:t>𝜉</m:t>
                      </m:r>
                    </m:oMath>
                  </m:oMathPara>
                </a14:m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endParaRPr lang="pt-BR" kern="0" dirty="0">
                  <a:solidFill>
                    <a:srgbClr val="000000"/>
                  </a:solidFill>
                  <a:latin typeface="Tahoma" panose="020B0604030504040204" pitchFamily="34" charset="0"/>
                  <a:cs typeface="Arial" panose="020B0604020202020204" pitchFamily="34" charset="0"/>
                </a:endParaRPr>
              </a:p>
              <a:p>
                <a:pPr marL="285750" lvl="1" indent="-285750">
                  <a:spcBef>
                    <a:spcPct val="20000"/>
                  </a:spcBef>
                  <a:buFont typeface="Arial" panose="020B0604020202020204" pitchFamily="34" charset="0"/>
                  <a:buChar char="•"/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Regressão espacial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Lag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(SAR):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à variável dependente</a:t>
                </a:r>
              </a:p>
              <a:p>
                <a:pPr marL="457200" lvl="2" defTabSz="627063">
                  <a:spcBef>
                    <a:spcPct val="20000"/>
                  </a:spcBef>
                </a:pP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	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Spatial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Error</a:t>
                </a:r>
                <a:r>
                  <a:rPr lang="pt-BR" i="1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</a:t>
                </a:r>
                <a:r>
                  <a:rPr lang="pt-BR" i="1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Models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(CAR): atribuem a </a:t>
                </a:r>
                <a:r>
                  <a:rPr lang="pt-BR" kern="0" dirty="0" err="1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autocorrelação</a:t>
                </a:r>
                <a:r>
                  <a:rPr lang="pt-BR" kern="0" dirty="0">
                    <a:solidFill>
                      <a:srgbClr val="000000"/>
                    </a:solidFill>
                    <a:latin typeface="Tahoma" panose="020B0604030504040204" pitchFamily="34" charset="0"/>
                    <a:cs typeface="Arial" panose="020B0604020202020204" pitchFamily="34" charset="0"/>
                  </a:rPr>
                  <a:t> espacial ao erro</a:t>
                </a:r>
              </a:p>
            </p:txBody>
          </p:sp>
        </mc:Choice>
        <mc:Fallback xmlns="">
          <p:sp>
            <p:nvSpPr>
              <p:cNvPr id="3" name="Retângulo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520" y="1330656"/>
                <a:ext cx="8784976" cy="5410712"/>
              </a:xfrm>
              <a:prstGeom prst="rect">
                <a:avLst/>
              </a:prstGeom>
              <a:blipFill>
                <a:blip r:embed="rId2"/>
                <a:stretch>
                  <a:fillRect l="-278" t="-338" b="-45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Outras abordagens...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104</a:t>
            </a:fld>
            <a:endParaRPr lang="pt-BR" dirty="0">
              <a:latin typeface="Tahoma" panose="020B0604030504040204" pitchFamily="34" charset="0"/>
            </a:endParaRPr>
          </a:p>
        </p:txBody>
      </p:sp>
      <p:grpSp>
        <p:nvGrpSpPr>
          <p:cNvPr id="6" name="Grupo 5"/>
          <p:cNvGrpSpPr/>
          <p:nvPr/>
        </p:nvGrpSpPr>
        <p:grpSpPr>
          <a:xfrm>
            <a:off x="4271326" y="3212976"/>
            <a:ext cx="2160240" cy="1260000"/>
            <a:chOff x="3779912" y="3140968"/>
            <a:chExt cx="2160240" cy="1260000"/>
          </a:xfrm>
        </p:grpSpPr>
        <p:pic>
          <p:nvPicPr>
            <p:cNvPr id="110594" name="Picture 2"/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79912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tângulo 1"/>
                <p:cNvSpPr/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1</m:t>
                                </m:r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2" name="Retângulo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33649" y="3140968"/>
                  <a:ext cx="80650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" name="Grupo 6"/>
          <p:cNvGrpSpPr/>
          <p:nvPr/>
        </p:nvGrpSpPr>
        <p:grpSpPr>
          <a:xfrm>
            <a:off x="6575582" y="3212976"/>
            <a:ext cx="2100874" cy="1260000"/>
            <a:chOff x="6084168" y="3140968"/>
            <a:chExt cx="2100874" cy="1260000"/>
          </a:xfrm>
        </p:grpSpPr>
        <p:pic>
          <p:nvPicPr>
            <p:cNvPr id="110595" name="Picture 3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84168" y="3140968"/>
              <a:ext cx="2096129" cy="12600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tângulo 4"/>
                <p:cNvSpPr/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altLang="pt-BR" i="1" smtClean="0">
                            <a:latin typeface="Cambria Math"/>
                            <a:ea typeface="Cambria Math"/>
                            <a:sym typeface="Symbol" pitchFamily="18" charset="2"/>
                          </a:rPr>
                          <m:t>𝑓</m:t>
                        </m:r>
                        <m:d>
                          <m:dPr>
                            <m:ctrlPr>
                              <a:rPr lang="pt-BR" altLang="pt-BR" i="1">
                                <a:latin typeface="Cambria Math" panose="02040503050406030204" pitchFamily="18" charset="0"/>
                                <a:ea typeface="Cambria Math"/>
                                <a:sym typeface="Symbol" pitchFamily="18" charset="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</m:ctrlPr>
                              </m:sSubPr>
                              <m:e>
                                <m:r>
                                  <a:rPr lang="pt-BR" altLang="pt-BR" i="1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altLang="pt-BR" b="0" i="1" smtClean="0">
                                    <a:latin typeface="Cambria Math"/>
                                    <a:ea typeface="Cambria Math"/>
                                    <a:sym typeface="Symbol" pitchFamily="18" charset="2"/>
                                  </a:rPr>
                                  <m:t>2</m:t>
                                </m:r>
                                <m:r>
                                  <a:rPr lang="pt-BR" altLang="pt-BR" i="1">
                                    <a:latin typeface="Cambria Math" panose="02040503050406030204" pitchFamily="18" charset="0"/>
                                    <a:ea typeface="Cambria Math"/>
                                    <a:sym typeface="Symbol" pitchFamily="18" charset="2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pt-BR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5" name="Retângulo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3794" y="3882534"/>
                  <a:ext cx="811248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88733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0" y="592138"/>
            <a:ext cx="9144000" cy="703262"/>
          </a:xfrm>
          <a:prstGeom prst="rect">
            <a:avLst/>
          </a:prstGeom>
          <a:noFill/>
        </p:spPr>
        <p:txBody>
          <a:bodyPr/>
          <a:lstStyle>
            <a:lvl1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+mj-lt"/>
                <a:ea typeface="+mj-ea"/>
                <a:cs typeface="+mj-cs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mic Sans MS" pitchFamily="66" charset="0"/>
              </a:defRPr>
            </a:lvl9pPr>
          </a:lstStyle>
          <a:p>
            <a:pPr eaLnBrk="1" hangingPunct="1">
              <a:defRPr/>
            </a:pPr>
            <a:r>
              <a:rPr lang="pt-BR" kern="0" dirty="0">
                <a:latin typeface="Tahoma" panose="020B0604030504040204" pitchFamily="34" charset="0"/>
              </a:rPr>
              <a:t>Tamanho de amostra para Regressão</a:t>
            </a:r>
            <a:endParaRPr lang="pt-BR" i="1" kern="0" dirty="0">
              <a:latin typeface="Tahoma" panose="020B0604030504040204" pitchFamily="34" charset="0"/>
            </a:endParaRPr>
          </a:p>
        </p:txBody>
      </p:sp>
      <p:sp>
        <p:nvSpPr>
          <p:cNvPr id="13" name="Espaço Reservado para Número de Slide 2"/>
          <p:cNvSpPr>
            <a:spLocks noGrp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fld id="{C01A69C9-8429-4253-9570-435132449818}" type="slidenum">
              <a:rPr lang="pt-BR">
                <a:latin typeface="Tahoma" panose="020B0604030504040204" pitchFamily="34" charset="0"/>
              </a:rPr>
              <a:pPr/>
              <a:t>105</a:t>
            </a:fld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5" name="Retângulo 4"/>
          <p:cNvSpPr/>
          <p:nvPr/>
        </p:nvSpPr>
        <p:spPr>
          <a:xfrm>
            <a:off x="251520" y="1268760"/>
            <a:ext cx="8784976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altLang="pt-BR" dirty="0">
                <a:latin typeface="Tahoma" panose="020B0604030504040204" pitchFamily="34" charset="0"/>
              </a:rPr>
              <a:t>Assim como em outras análises, determinar o tamanho da amostra conveniente evita o desperdício de tempo, força de trabalho, custos, etc. no processo de coleta e análise de dados.</a:t>
            </a:r>
          </a:p>
          <a:p>
            <a:pPr marL="185738" indent="-185738"/>
            <a:endParaRPr lang="pt-BR" altLang="pt-BR" dirty="0">
              <a:latin typeface="Tahoma" panose="020B0604030504040204" pitchFamily="34" charset="0"/>
            </a:endParaRPr>
          </a:p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Se a amostra for muito pequena, pode-se chegar a resultados aparentemente muito bons (</a:t>
            </a:r>
            <a:r>
              <a:rPr lang="pt-BR" i="1" kern="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r</a:t>
            </a:r>
            <a:r>
              <a:rPr lang="pt-BR" kern="0" baseline="30000" dirty="0">
                <a:solidFill>
                  <a:srgbClr val="000000"/>
                </a:solidFill>
                <a:latin typeface="Cambria Math" panose="02040503050406030204" pitchFamily="18" charset="0"/>
                <a:ea typeface="Cambria Math" panose="02040503050406030204" pitchFamily="18" charset="0"/>
                <a:cs typeface="Arial" panose="020B0604020202020204" pitchFamily="34" charset="0"/>
              </a:rPr>
              <a:t>2</a:t>
            </a: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 muito altos) mas ainda assim não significativos, indicando que o modelo ajustado poderia ter sido obtido casualmente.</a:t>
            </a:r>
          </a:p>
        </p:txBody>
      </p:sp>
      <p:sp>
        <p:nvSpPr>
          <p:cNvPr id="22" name="Retângulo 21"/>
          <p:cNvSpPr/>
          <p:nvPr/>
        </p:nvSpPr>
        <p:spPr>
          <a:xfrm>
            <a:off x="251520" y="4509120"/>
            <a:ext cx="8784976" cy="2160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Apesar de não existir uma regra prática, muitos pesquisadores alegam que deve haver pelo menos 10 observações por variável independente. Por exemplo, se estivermos usando 4 variáveis ​​independentes, deveríamos ter um tamanho mínimo de amostra de 40.</a:t>
            </a:r>
          </a:p>
          <a:p>
            <a:pPr marL="177800" lvl="1" indent="-177800">
              <a:spcBef>
                <a:spcPct val="20000"/>
              </a:spcBef>
            </a:pPr>
            <a:endParaRPr lang="pt-BR" kern="0" dirty="0">
              <a:solidFill>
                <a:srgbClr val="000000"/>
              </a:solidFill>
              <a:latin typeface="Tahoma" panose="020B0604030504040204" pitchFamily="34" charset="0"/>
              <a:cs typeface="Arial" panose="020B0604020202020204" pitchFamily="34" charset="0"/>
            </a:endParaRPr>
          </a:p>
          <a:p>
            <a:pPr marL="177800" lvl="1" indent="-177800">
              <a:spcBef>
                <a:spcPct val="20000"/>
              </a:spcBef>
            </a:pPr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Pode-se encontrar na literatura diversos trabalhos que discutem o assunto, propondo fórmulas para o cálculo do tamanho da amostra mas o mais importante é concentrar-se em representar bem o fenômeno estudado e, caso os resultados não pareçam ser adequados, investigar se a causa não pode ser a amostragem insuficiente.</a:t>
            </a:r>
          </a:p>
        </p:txBody>
      </p:sp>
      <p:sp>
        <p:nvSpPr>
          <p:cNvPr id="23" name="Retângulo 22"/>
          <p:cNvSpPr/>
          <p:nvPr/>
        </p:nvSpPr>
        <p:spPr>
          <a:xfrm>
            <a:off x="251520" y="3258272"/>
            <a:ext cx="5832648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/>
            <a:r>
              <a:rPr lang="pt-BR" kern="0" dirty="0">
                <a:solidFill>
                  <a:srgbClr val="000000"/>
                </a:solidFill>
                <a:latin typeface="Tahoma" panose="020B0604030504040204" pitchFamily="34" charset="0"/>
                <a:cs typeface="Arial" panose="020B0604020202020204" pitchFamily="34" charset="0"/>
              </a:rPr>
              <a:t>Como vimos, tão importante como o tamanho da amostra, é sua distribuição com relação a cada variável analisada. A presença de “buracos” de observações podem prejudicar a análise dos resultados.</a:t>
            </a:r>
          </a:p>
        </p:txBody>
      </p:sp>
      <p:pic>
        <p:nvPicPr>
          <p:cNvPr id="1187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852936"/>
            <a:ext cx="2030413" cy="1835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00756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7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33592</TotalTime>
  <Words>13212</Words>
  <Application>Microsoft Office PowerPoint</Application>
  <PresentationFormat>Apresentação na tela (4:3)</PresentationFormat>
  <Paragraphs>4248</Paragraphs>
  <Slides>105</Slides>
  <Notes>0</Notes>
  <HiddenSlides>0</HiddenSlides>
  <MMClips>0</MMClips>
  <ScaleCrop>false</ScaleCrop>
  <HeadingPairs>
    <vt:vector size="8" baseType="variant">
      <vt:variant>
        <vt:lpstr>Fontes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3</vt:i4>
      </vt:variant>
      <vt:variant>
        <vt:lpstr>Títulos de slides</vt:lpstr>
      </vt:variant>
      <vt:variant>
        <vt:i4>105</vt:i4>
      </vt:variant>
    </vt:vector>
  </HeadingPairs>
  <TitlesOfParts>
    <vt:vector size="119" baseType="lpstr">
      <vt:lpstr>Arial Unicode MS</vt:lpstr>
      <vt:lpstr>Aptos Narrow</vt:lpstr>
      <vt:lpstr>Arial</vt:lpstr>
      <vt:lpstr>Calibri</vt:lpstr>
      <vt:lpstr>Cambria Math</vt:lpstr>
      <vt:lpstr>Comic Sans MS</vt:lpstr>
      <vt:lpstr>Mathematica1</vt:lpstr>
      <vt:lpstr>Symbol</vt:lpstr>
      <vt:lpstr>Tahoma</vt:lpstr>
      <vt:lpstr>Times New Roman</vt:lpstr>
      <vt:lpstr>Estrutura padrão</vt:lpstr>
      <vt:lpstr>Equation</vt:lpstr>
      <vt:lpstr>Equação</vt:lpstr>
      <vt:lpstr>Document</vt:lpstr>
      <vt:lpstr>Estatística: Aplicação ao Sensoriamento Remoto  SER 204  Análise de Regressão</vt:lpstr>
      <vt:lpstr>Relacionamento entre Variáveis</vt:lpstr>
      <vt:lpstr>Relacionamento entre Variáveis</vt:lpstr>
      <vt:lpstr>Relacionamento entre Variáveis</vt:lpstr>
      <vt:lpstr>Relação funcional x Relação estatística</vt:lpstr>
      <vt:lpstr>Relação funcional x Relação estatística</vt:lpstr>
      <vt:lpstr>Grau de Relacionamento</vt:lpstr>
      <vt:lpstr>Covariância</vt:lpstr>
      <vt:lpstr>Coeficiente de Correlação</vt:lpstr>
      <vt:lpstr>Coeficiente de Correlação</vt:lpstr>
      <vt:lpstr>Coeficiente de Correlação</vt:lpstr>
      <vt:lpstr>Coeficiente de Correlação</vt:lpstr>
      <vt:lpstr>Coeficiente de Correlação</vt:lpstr>
      <vt:lpstr>Análise de Regressão</vt:lpstr>
      <vt:lpstr>Análise de Regressão</vt:lpstr>
      <vt:lpstr>Análise de Regressão</vt:lpstr>
      <vt:lpstr>Modelo de Regressão Linear Simples</vt:lpstr>
      <vt:lpstr>Modelo de Regressão Linear Simples</vt:lpstr>
      <vt:lpstr>Apresentação do PowerPoint</vt:lpstr>
      <vt:lpstr>Apresentação do PowerPoint</vt:lpstr>
      <vt:lpstr>Estimação da Variância do Erro (2)</vt:lpstr>
      <vt:lpstr>Inferência em Análise de Regressão</vt:lpstr>
      <vt:lpstr>Teste de Hipótese para 1</vt:lpstr>
      <vt:lpstr>Teste de Hipótese para 0</vt:lpstr>
      <vt:lpstr>Inferências para E(Yh)</vt:lpstr>
      <vt:lpstr>Inferências para E(Yh)</vt:lpstr>
      <vt:lpstr>Particionamento do Erro</vt:lpstr>
      <vt:lpstr>Particionamento do Erro</vt:lpstr>
      <vt:lpstr>Apresentação do PowerPoint</vt:lpstr>
      <vt:lpstr>Coeficiente de Determinação</vt:lpstr>
      <vt:lpstr>Análise de Regressão no EXCEL</vt:lpstr>
      <vt:lpstr>Análise de Regressão no EXCEL</vt:lpstr>
      <vt:lpstr>Análise de Regressão no EXCEL</vt:lpstr>
      <vt:lpstr>Análise de Regressão no R</vt:lpstr>
      <vt:lpstr>Modelos Linearizáveis</vt:lpstr>
      <vt:lpstr>Modelos Linearizáveis</vt:lpstr>
      <vt:lpstr>Análise de Resíduos</vt:lpstr>
      <vt:lpstr>Análise de Resíduos</vt:lpstr>
      <vt:lpstr>Modelo de Regressão Linear Múltipla</vt:lpstr>
      <vt:lpstr>Casos Especiais</vt:lpstr>
      <vt:lpstr>Modelo de Regressão Linear Múltipla</vt:lpstr>
      <vt:lpstr>Modelo de Regressão Linear Múltipla</vt:lpstr>
      <vt:lpstr>Notação Matricial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Variáveis Indicadoras</vt:lpstr>
      <vt:lpstr>Variáveis Indicadoras – Variável Categórica</vt:lpstr>
      <vt:lpstr>Variáveis Indicadoras – Variável Categórica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Comparação de modelos</vt:lpstr>
      <vt:lpstr>Variáveis Indicadoras – Mudanças estruturais</vt:lpstr>
      <vt:lpstr>Regressão Padronizada</vt:lpstr>
      <vt:lpstr>Regressão Padronizada</vt:lpstr>
      <vt:lpstr>Construção do Modelo</vt:lpstr>
      <vt:lpstr>Construção do Modelo</vt:lpstr>
      <vt:lpstr>Construção do Modelo</vt:lpstr>
      <vt:lpstr>Construção do Modelo</vt:lpstr>
      <vt:lpstr>Construção do Modelo</vt:lpstr>
      <vt:lpstr>Seleção de Variáveis – Busca Exaustiva</vt:lpstr>
      <vt:lpstr>Seleção de Variáveis - Stepwise</vt:lpstr>
      <vt:lpstr>Seleção de Variáveis - Stepwise</vt:lpstr>
      <vt:lpstr>Seleção de Variáveis - Stepwise</vt:lpstr>
      <vt:lpstr>Análise de Resíduos</vt:lpstr>
      <vt:lpstr>Exemplo em R</vt:lpstr>
      <vt:lpstr>Exemplo em R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Teste de Hipótese</dc:title>
  <dc:creator>Camilo Daleles Rennó, DPI/INPE</dc:creator>
  <cp:lastModifiedBy>Camilo Daleles Rennó</cp:lastModifiedBy>
  <cp:revision>1278</cp:revision>
  <cp:lastPrinted>2016-04-28T12:00:01Z</cp:lastPrinted>
  <dcterms:created xsi:type="dcterms:W3CDTF">2003-03-18T00:57:51Z</dcterms:created>
  <dcterms:modified xsi:type="dcterms:W3CDTF">2026-05-18T17:19:19Z</dcterms:modified>
</cp:coreProperties>
</file>